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16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2011680" cy="63500"/>
          </a:xfrm>
          <a:prstGeom prst="rect">
            <a:avLst/>
          </a:prstGeom>
          <a:solidFill>
            <a:srgbClr val="D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 年新高考 I 卷 数学 第 18 题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9EC3E8"/>
                </a:solidFill>
                <a:latin typeface="微软雅黑"/>
                <a:ea typeface="微软雅黑"/>
                <a:cs typeface="微软雅黑"/>
              </a:rPr>
              <a:t>椭圆中的面积比与夹角最值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400"/>
              </a:spcAft>
            </a:pPr>
            <a:r>
              <a:rPr sz="19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从原题核实、严格推导，到数值验证的完整过程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7A889B"/>
                </a:solidFill>
                <a:latin typeface="微软雅黑"/>
                <a:ea typeface="微软雅黑"/>
                <a:cs typeface="微软雅黑"/>
              </a:rPr>
              <a:t>工具：DeepSeek Harness（DSH）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7A889B"/>
                </a:solidFill>
                <a:latin typeface="微软雅黑"/>
                <a:ea typeface="微软雅黑"/>
                <a:cs typeface="微软雅黑"/>
              </a:rPr>
              <a:t>提交人：63026322 胡景硕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7A889B"/>
                </a:solidFill>
                <a:latin typeface="微软雅黑"/>
                <a:ea typeface="微软雅黑"/>
                <a:cs typeface="微软雅黑"/>
              </a:rPr>
              <a:t>课程：人工智能导论 · 第二次 Demo 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29200"/>
            <a:ext cx="10561320" cy="100584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结论速览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5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（1）x²/4 + y²/3 = 1　　（2)(i)  l: y = (√5/2)(x+1)　　（2)(ii)  min tan∠PQR = 4√3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题目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原题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33856"/>
            <a:ext cx="1371600" cy="40640"/>
          </a:xfrm>
          <a:prstGeom prst="rect">
            <a:avLst/>
          </a:prstGeom>
          <a:solidFill>
            <a:srgbClr val="D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81328"/>
            <a:ext cx="10561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5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已知椭圆 C：x²/a² + y²/b² = 1（a &gt; b &gt; 0）的左焦点为 F(-1, 0)，离心率为 1/2。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5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（1）求 C 的方程；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5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（2）设 O 为坐标原点，过 F 且斜率大于 0 的动直线 l 与 C 交于 P、Q 两点，其中 Q 在第三象限，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5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　　　直线 PO 与 C 的另一个交点为 R。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613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（i）若 △PQR 的面积是 △PFO 的面积的 3 倍，求 l 的方程；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7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（ii）求 tan∠PQR 的最小值。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26280"/>
            <a:ext cx="10561320" cy="16002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题干要点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· 椭圆参数未知，但由「左焦点 F(-1, 0)」与「离心率 1/2」已完全确定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· 动直线 l 过焦点 F，斜率 k &gt; 0，与椭圆有两个交点 P、Q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· 关键构造：直线 PO 与椭圆的另一交点 R —— 即 P 关于中心的对称点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8251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人工智能导论 · 第二次 Demo 实践　|　63026322 胡景硕　|　2026 新高考 I 卷 数学第 18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82512"/>
            <a:ext cx="594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资料核实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题目来源与核对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33856"/>
            <a:ext cx="1371600" cy="40640"/>
          </a:xfrm>
          <a:prstGeom prst="rect">
            <a:avLst/>
          </a:prstGeom>
          <a:solidFill>
            <a:srgbClr val="D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17904"/>
          <a:ext cx="105613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360920"/>
              </a:tblGrid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</a:t>
                      </a:r>
                    </a:p>
                  </a:txBody>
                  <a:tcPr marL="109728" marR="91440" marT="36576" marB="36576" anchor="ctr">
                    <a:solidFill>
                      <a:srgbClr val="162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109728" marR="91440" marT="36576" marB="36576" anchor="ctr">
                    <a:solidFill>
                      <a:srgbClr val="162C4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良师宝 · 题库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本题面以此为准（公式完整可读）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 世纪教育网</a:t>
                      </a:r>
                    </a:p>
                  </a:txBody>
                  <a:tcPr marL="109728" marR="91440" marT="36576" marB="36576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佐证题号 18、分值 17 分与三问结构</a:t>
                      </a:r>
                    </a:p>
                  </a:txBody>
                  <a:tcPr marL="109728" marR="91440" marT="36576" marB="36576" anchor="ctr">
                    <a:solidFill>
                      <a:srgbClr val="EEF3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 世纪教育网 · 组卷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佐证该题属「2026 年新高考 I 卷数学试卷」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知乎 · 圆锥曲线真题 G001</a:t>
                      </a:r>
                    </a:p>
                  </a:txBody>
                  <a:tcPr marL="109728" marR="91440" marT="36576" marB="36576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佐证题型为圆锥曲线</a:t>
                      </a:r>
                    </a:p>
                  </a:txBody>
                  <a:tcPr marL="109728" marR="91440" marT="36576" marB="36576" anchor="ctr">
                    <a:solidFill>
                      <a:srgbClr val="EEF3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中国知网《中学数学》2026(07)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佐证该题确为 2026 新高考 I 卷第 18 题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3950208"/>
            <a:ext cx="10561320" cy="214884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核对中的两个关键点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① 公式来源：部分网站在未登录时会剥离公式，公开页面里公式位置为空，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　　故题面采自公式完整的良师宝，并与 21 世纪教育网的文字骨架逐字比对。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② 字母命名考据：不同网站用 M,N,P 或 P,Q,R，数学内容相同。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　　本文采用 P,Q,R —— 因为只有该解读下面积条件有解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　　（另一解读会导出 √(1+k²) = 3/14 &lt; 1 的矛盾）。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人工智能导论 · 第二次 Demo 实践　|　63026322 胡景硕　|　2026 新高考 I 卷 数学第 18 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82512"/>
            <a:ext cx="594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第（1）问　求 C 的方程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33856"/>
            <a:ext cx="1371600" cy="40640"/>
          </a:xfrm>
          <a:prstGeom prst="rect">
            <a:avLst/>
          </a:prstGeom>
          <a:solidFill>
            <a:srgbClr val="D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17904"/>
            <a:ext cx="105613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70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由左焦点 F(-1, 0) 得半焦距　c = |OF| = 1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70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由离心率　e = c / a = 1/2，得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2487168"/>
            <a:ext cx="74066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000" b="1">
                <a:solidFill>
                  <a:srgbClr val="162C4F"/>
                </a:solidFill>
                <a:latin typeface="Consolas"/>
                <a:ea typeface="Consolas"/>
                <a:cs typeface="Consolas"/>
              </a:rPr>
              <a:t>a = c / e = 1 / (1/2) =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01568"/>
            <a:ext cx="105613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70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于是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3803904"/>
            <a:ext cx="74066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000" b="1">
                <a:solidFill>
                  <a:srgbClr val="162C4F"/>
                </a:solidFill>
                <a:latin typeface="Consolas"/>
                <a:ea typeface="Consolas"/>
                <a:cs typeface="Consolas"/>
              </a:rPr>
              <a:t>b² = a² - c² = 4 - 1 =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92040"/>
            <a:ext cx="10561320" cy="105156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所以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400" b="1">
                <a:solidFill>
                  <a:srgbClr val="D96A1B"/>
                </a:solidFill>
                <a:latin typeface="Consolas"/>
                <a:ea typeface="Consolas"/>
                <a:cs typeface="Consolas"/>
              </a:rPr>
              <a:t>C: x²/4 + y²/3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8251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人工智能导论 · 第二次 Demo 实践　|　63026322 胡景硕　|　2026 新高考 I 卷 数学第 18 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382512"/>
            <a:ext cx="594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第（2）问 · 预备：直线与椭圆联立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33856"/>
            <a:ext cx="1371600" cy="40640"/>
          </a:xfrm>
          <a:prstGeom prst="rect">
            <a:avLst/>
          </a:prstGeom>
          <a:solidFill>
            <a:srgbClr val="D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17904"/>
            <a:ext cx="105613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70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设 l：y = k(x + 1)（k &gt; 0），即 kx - y + k = 0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70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代入椭圆方程 3x² + 4y² = 12：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487168"/>
            <a:ext cx="9601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162C4F"/>
                </a:solidFill>
                <a:latin typeface="Consolas"/>
                <a:ea typeface="Consolas"/>
                <a:cs typeface="Consolas"/>
              </a:rPr>
              <a:t>3x² + 4k²(x + 1)² = 12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>
                <a:solidFill>
                  <a:srgbClr val="162C4F"/>
                </a:solidFill>
                <a:latin typeface="Consolas"/>
                <a:ea typeface="Consolas"/>
                <a:cs typeface="Consolas"/>
              </a:rPr>
              <a:t>  →  (3 + 4k²)x² + 8k²x + (4k² - 12)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5613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70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判别式与韦达定理：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4370832"/>
            <a:ext cx="9601200" cy="1572768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50" b="1">
                <a:solidFill>
                  <a:srgbClr val="444A52"/>
                </a:solidFill>
                <a:latin typeface="Consolas"/>
                <a:ea typeface="Consolas"/>
                <a:cs typeface="Consolas"/>
              </a:rPr>
              <a:t>Δ = (8k²)² - 4(3 + 4k²)(4k² - 12) = 144(k² + 1) &gt; 0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444A52"/>
                </a:solidFill>
                <a:latin typeface="Consolas"/>
                <a:ea typeface="Consolas"/>
                <a:cs typeface="Consolas"/>
              </a:rPr>
              <a:t>故 l 与 C 恒有两交点。设 P(x₁, y₁)、Q(x₂, y₂)，由韦达定理：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50" b="1">
                <a:solidFill>
                  <a:srgbClr val="444A52"/>
                </a:solidFill>
                <a:latin typeface="Consolas"/>
                <a:ea typeface="Consolas"/>
                <a:cs typeface="Consolas"/>
              </a:rPr>
              <a:t>x₁ + x₂ = -8k² / (3 + 4k²)      x₁·x₂ = (4k² - 12) / (3 + 4k²)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人工智能导论 · 第二次 Demo 实践　|　63026322 胡景硕　|　2026 新高考 I 卷 数学第 18 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382512"/>
            <a:ext cx="594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解答 · 核心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两个关键几何事实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33856"/>
            <a:ext cx="1371600" cy="40640"/>
          </a:xfrm>
          <a:prstGeom prst="rect">
            <a:avLst/>
          </a:prstGeom>
          <a:solidFill>
            <a:srgbClr val="D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0749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事实 ①　R 是 P 关于原点的对称点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椭圆中心为原点，直线 PO 过中心，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故它与椭圆的另一交点 R 必满足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162C4F"/>
                </a:solidFill>
                <a:latin typeface="Consolas"/>
                <a:ea typeface="Consolas"/>
                <a:cs typeface="Consolas"/>
              </a:rPr>
              <a:t>R = -P = (-x₁, -y₁)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事实 ②　d(R, l) = 2·d(O, l)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由 F ∈ l，得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162C4F"/>
                </a:solidFill>
                <a:latin typeface="Consolas"/>
                <a:ea typeface="Consolas"/>
                <a:cs typeface="Consolas"/>
              </a:rPr>
              <a:t>d(O, l) = k / √(k² + 1)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12080" cy="416052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事实 ② 的推导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Consolas"/>
                <a:ea typeface="Consolas"/>
                <a:cs typeface="Consolas"/>
              </a:rPr>
              <a:t>代入 R = -P 且 y₁ = k(x₁ + 1)：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444A52"/>
                </a:solidFill>
                <a:latin typeface="Consolas"/>
                <a:ea typeface="Consolas"/>
                <a:cs typeface="Consolas"/>
              </a:rPr>
              <a:t>d(R, l) = |k(-x₁) - (-y₁) + k| / √(k²+1)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444A52"/>
                </a:solidFill>
                <a:latin typeface="Consolas"/>
                <a:ea typeface="Consolas"/>
                <a:cs typeface="Consolas"/>
              </a:rPr>
              <a:t>         = |-k·x₁ + k(x₁+1) + k| / √(k²+1)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444A52"/>
                </a:solidFill>
                <a:latin typeface="Consolas"/>
                <a:ea typeface="Consolas"/>
                <a:cs typeface="Consolas"/>
              </a:rPr>
              <a:t>         = 2k / √(k² + 1)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D96A1B"/>
                </a:solidFill>
                <a:latin typeface="Consolas"/>
                <a:ea typeface="Consolas"/>
                <a:cs typeface="Consolas"/>
              </a:rPr>
              <a:t>         = 2·d(O, l)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这两个事实把面积问题转化成「同底比高」，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是整道题的枢纽。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人工智能导论 · 第二次 Demo 实践　|　63026322 胡景硕　|　2026 新高考 I 卷 数学第 18 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82512"/>
            <a:ext cx="594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第（2)(i) 问 · 面积比转化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33856"/>
            <a:ext cx="1371600" cy="40640"/>
          </a:xfrm>
          <a:prstGeom prst="rect">
            <a:avLst/>
          </a:prstGeom>
          <a:solidFill>
            <a:srgbClr val="D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0663" y="1883758"/>
            <a:ext cx="4096512" cy="3547683"/>
          </a:xfrm>
          <a:prstGeom prst="ellipse">
            <a:avLst/>
          </a:prstGeom>
          <a:noFill/>
          <a:ln w="2540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79806" y="3657600"/>
            <a:ext cx="5018227" cy="0"/>
          </a:xfrm>
          <a:prstGeom prst="line">
            <a:avLst/>
          </a:prstGeom>
          <a:ln w="12700">
            <a:solidFill>
              <a:srgbClr val="B6C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788920" y="1558137"/>
            <a:ext cx="0" cy="4198925"/>
          </a:xfrm>
          <a:prstGeom prst="line">
            <a:avLst/>
          </a:prstGeom>
          <a:ln w="12700">
            <a:solidFill>
              <a:srgbClr val="B6C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996695" y="1940085"/>
            <a:ext cx="2304289" cy="3435029"/>
          </a:xfrm>
          <a:custGeom>
            <a:avLst/>
            <a:gdLst/>
            <a:ahLst/>
            <a:cxnLst/>
            <a:rect l="l" t="t" r="r" b="b"/>
            <a:pathLst>
              <a:path w="2304289" h="3435029">
                <a:moveTo>
                  <a:pt x="2304289" y="0"/>
                </a:moveTo>
                <a:lnTo>
                  <a:pt x="0" y="2576272"/>
                </a:lnTo>
                <a:lnTo>
                  <a:pt x="1280161" y="3435029"/>
                </a:lnTo>
                <a:close/>
              </a:path>
            </a:pathLst>
          </a:custGeom>
          <a:solidFill>
            <a:srgbClr val="FDEEDD"/>
          </a:solidFill>
          <a:ln w="15875">
            <a:solidFill>
              <a:srgbClr val="D9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587044" y="1539331"/>
            <a:ext cx="3072384" cy="3435030"/>
          </a:xfrm>
          <a:prstGeom prst="line">
            <a:avLst/>
          </a:prstGeom>
          <a:ln w="22225">
            <a:solidFill>
              <a:srgbClr val="D96A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219053" y="1858154"/>
            <a:ext cx="163860" cy="1638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693197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P</a:t>
            </a:r>
          </a:p>
        </p:txBody>
      </p:sp>
      <p:sp>
        <p:nvSpPr>
          <p:cNvPr id="12" name="Oval 11"/>
          <p:cNvSpPr/>
          <p:nvPr/>
        </p:nvSpPr>
        <p:spPr>
          <a:xfrm>
            <a:off x="914765" y="4434427"/>
            <a:ext cx="163860" cy="1638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7" y="4360909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Oval 13"/>
          <p:cNvSpPr/>
          <p:nvPr/>
        </p:nvSpPr>
        <p:spPr>
          <a:xfrm>
            <a:off x="2194925" y="5293184"/>
            <a:ext cx="163860" cy="1638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542997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F6FB2"/>
                </a:solidFill>
                <a:latin typeface="微软雅黑"/>
                <a:ea typeface="微软雅黑"/>
                <a:cs typeface="微软雅黑"/>
              </a:rPr>
              <a:t>R</a:t>
            </a:r>
          </a:p>
        </p:txBody>
      </p:sp>
      <p:sp>
        <p:nvSpPr>
          <p:cNvPr id="16" name="Oval 15"/>
          <p:cNvSpPr/>
          <p:nvPr/>
        </p:nvSpPr>
        <p:spPr>
          <a:xfrm>
            <a:off x="2706989" y="3575669"/>
            <a:ext cx="163860" cy="163860"/>
          </a:xfrm>
          <a:prstGeom prst="ellipse">
            <a:avLst/>
          </a:prstGeom>
          <a:solidFill>
            <a:srgbClr val="44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2887" y="368503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O</a:t>
            </a:r>
          </a:p>
        </p:txBody>
      </p:sp>
      <p:sp>
        <p:nvSpPr>
          <p:cNvPr id="18" name="Oval 17"/>
          <p:cNvSpPr/>
          <p:nvPr/>
        </p:nvSpPr>
        <p:spPr>
          <a:xfrm>
            <a:off x="1682861" y="3575669"/>
            <a:ext cx="163860" cy="163860"/>
          </a:xfrm>
          <a:prstGeom prst="ellipse">
            <a:avLst/>
          </a:prstGeom>
          <a:solidFill>
            <a:srgbClr val="D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0783" y="3749039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38680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7A889B"/>
                </a:solidFill>
                <a:latin typeface="微软雅黑"/>
                <a:ea typeface="微软雅黑"/>
                <a:cs typeface="微软雅黑"/>
              </a:rPr>
              <a:t>以 (i) 的解 k = √5/2 作图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7A889B"/>
                </a:solidFill>
                <a:latin typeface="Consolas"/>
                <a:ea typeface="Consolas"/>
                <a:cs typeface="Consolas"/>
              </a:rPr>
              <a:t>Q(-1.75, -0.839)  P(0.5, 1.677)  R(-0.5, -1.677)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1536192"/>
            <a:ext cx="59436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△PQR 与 △PFO 都以 l 上的线段作底边：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0680" y="1956816"/>
            <a:ext cx="59436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1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S(△PQR) = (1/2)·|PQ|·d(R, l)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1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S(△PFO) = (1/2)·|PF|·d(O, 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3218688"/>
            <a:ext cx="59436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两式相除，代入 d(R, l) = 2·d(O, l) 及面积比为 3：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40680" y="3822191"/>
            <a:ext cx="5943600" cy="132588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444A52"/>
                </a:solidFill>
                <a:latin typeface="Consolas"/>
                <a:ea typeface="Consolas"/>
                <a:cs typeface="Consolas"/>
              </a:rPr>
              <a:t>3 = (|PQ| / |PF|) · 2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D96A1B"/>
                </a:solidFill>
                <a:latin typeface="Consolas"/>
                <a:ea typeface="Consolas"/>
                <a:cs typeface="Consolas"/>
              </a:rPr>
              <a:t>  →  |PQ| / |PF| = 3/2      …… (*)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5285232"/>
            <a:ext cx="5943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7A889B"/>
                </a:solidFill>
                <a:latin typeface="微软雅黑"/>
                <a:ea typeface="微软雅黑"/>
                <a:cs typeface="微软雅黑"/>
              </a:rPr>
              <a:t>共底在两直线 l 上时，面积比 = 底边比 × 高的比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8251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人工智能导论 · 第二次 Demo 实践　|　63026322 胡景硕　|　2026 新高考 I 卷 数学第 18 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382512"/>
            <a:ext cx="594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第（2)(i) 问 · 求解斜率 k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33856"/>
            <a:ext cx="1371600" cy="40640"/>
          </a:xfrm>
          <a:prstGeom prst="rect">
            <a:avLst/>
          </a:prstGeom>
          <a:solidFill>
            <a:srgbClr val="D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17904"/>
            <a:ext cx="105613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5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直线 l 上的长度 = 横坐标之差 × 弧长因子 √(1 + k²)：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920240"/>
            <a:ext cx="9601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50" b="1">
                <a:solidFill>
                  <a:srgbClr val="444A52"/>
                </a:solidFill>
                <a:latin typeface="Consolas"/>
                <a:ea typeface="Consolas"/>
                <a:cs typeface="Consolas"/>
              </a:rPr>
              <a:t>|PQ| = √(1+k²)·(x₁ - x₂)      |PF| = √(1+k²)·(x₁ + 1)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99232"/>
            <a:ext cx="105613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5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由求根公式：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401568"/>
            <a:ext cx="96012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1">
                <a:solidFill>
                  <a:srgbClr val="444A52"/>
                </a:solidFill>
                <a:latin typeface="Consolas"/>
                <a:ea typeface="Consolas"/>
                <a:cs typeface="Consolas"/>
              </a:rPr>
              <a:t>x₁ - x₂ = √Δ / (3+4k²) = 12√(k²+1) / (3+4k²)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1">
                <a:solidFill>
                  <a:srgbClr val="444A52"/>
                </a:solidFill>
                <a:latin typeface="Consolas"/>
                <a:ea typeface="Consolas"/>
                <a:cs typeface="Consolas"/>
              </a:rPr>
              <a:t>x₁ + 1 = (3 + 6√(k²+1)) / (3+4k²)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5613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5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代入 (*)：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5248656"/>
            <a:ext cx="9601200" cy="932688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50" b="1">
                <a:solidFill>
                  <a:srgbClr val="D96A1B"/>
                </a:solidFill>
                <a:latin typeface="Consolas"/>
                <a:ea typeface="Consolas"/>
                <a:cs typeface="Consolas"/>
              </a:rPr>
              <a:t>12√(k²+1) / (3 + 6√(k²+1)) = 3/2   →   √(k²+1) = 3/2   →   k = √5/2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8251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人工智能导论 · 第二次 Demo 实践　|　63026322 胡景硕　|　2026 新高考 I 卷 数学第 18 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382512"/>
            <a:ext cx="594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第（2)(i) 问 · 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33856"/>
            <a:ext cx="1371600" cy="40640"/>
          </a:xfrm>
          <a:prstGeom prst="rect">
            <a:avLst/>
          </a:prstGeom>
          <a:solidFill>
            <a:srgbClr val="D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27632"/>
            <a:ext cx="10561320" cy="137160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k² + 1 = 9/4   →   k² = 5/4，因 k &gt; 0 得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600" b="1">
                <a:solidFill>
                  <a:srgbClr val="D96A1B"/>
                </a:solidFill>
                <a:latin typeface="Consolas"/>
                <a:ea typeface="Consolas"/>
                <a:cs typeface="Consolas"/>
              </a:rPr>
              <a:t>k = √5 /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18688"/>
            <a:ext cx="10561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1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所以直线 l 的方程为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100" b="1">
                <a:solidFill>
                  <a:srgbClr val="162C4F"/>
                </a:solidFill>
                <a:latin typeface="Consolas"/>
                <a:ea typeface="Consolas"/>
                <a:cs typeface="Consolas"/>
              </a:rPr>
              <a:t>y = (√5/2)(x + 1)     即    √5·x - 2y + √5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17720"/>
            <a:ext cx="105613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几何核对（代入 k = √5/2）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Q(-1.75, -0.839) 在第三象限 √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|PQ| / |PF| = 3/2 √　　d(R,l) / d(O,l) = 2 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8251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人工智能导论 · 第二次 Demo 实践　|　63026322 胡景硕　|　2026 新高考 I 卷 数学第 18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82512"/>
            <a:ext cx="594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第（2)(ii) 问 · 求 QR 的斜率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33856"/>
            <a:ext cx="1371600" cy="40640"/>
          </a:xfrm>
          <a:prstGeom prst="rect">
            <a:avLst/>
          </a:prstGeom>
          <a:solidFill>
            <a:srgbClr val="D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17904"/>
            <a:ext cx="105613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∠PQR 的顶点为 Q，两射线为 QP 与 QR。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其中 QP 就是直线 l，斜率 k(QP) = k。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78608"/>
            <a:ext cx="105613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求 k(QR)：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999232"/>
            <a:ext cx="960120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444A52"/>
                </a:solidFill>
                <a:latin typeface="Consolas"/>
                <a:ea typeface="Consolas"/>
                <a:cs typeface="Consolas"/>
              </a:rPr>
              <a:t>k(QR) = (y_R - y_Q) / (x_R - x_Q) = (-y₁ - y₂) / (-x₁ - x₂)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444A52"/>
                </a:solidFill>
                <a:latin typeface="Consolas"/>
                <a:ea typeface="Consolas"/>
                <a:cs typeface="Consolas"/>
              </a:rPr>
              <a:t>      = (y₁ + y₂) / (x₁ + x₂)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62272"/>
            <a:ext cx="105613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444A52"/>
                </a:solidFill>
                <a:latin typeface="Consolas"/>
                <a:ea typeface="Consolas"/>
                <a:cs typeface="Consolas"/>
              </a:rPr>
              <a:t>由 y = k(x + 1) 得 y₁ + y₂ = k(x₁ + x₂) + 2k = 6k / (3 + 4k²)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4919472"/>
            <a:ext cx="9601200" cy="96012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D96A1B"/>
                </a:solidFill>
                <a:latin typeface="Consolas"/>
                <a:ea typeface="Consolas"/>
                <a:cs typeface="Consolas"/>
              </a:rPr>
              <a:t>k(QR) = [6k / (3+4k²)] ÷ [-8k² / (3+4k²)] = -3 / (4k)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8251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人工智能导论 · 第二次 Demo 实践　|　63026322 胡景硕　|　2026 新高考 I 卷 数学第 18 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382512"/>
            <a:ext cx="594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第（2)(ii) 问 · 夹角公式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33856"/>
            <a:ext cx="1371600" cy="40640"/>
          </a:xfrm>
          <a:prstGeom prst="rect">
            <a:avLst/>
          </a:prstGeom>
          <a:solidFill>
            <a:srgbClr val="D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61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50" b="1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k(QP)·k(QR) = k·(-3/(4k)) = -3/4 ≠ -1   →   两直线不垂直，∠PQR ≠ 90°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613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由两直线夹角的正切公式：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999232"/>
            <a:ext cx="9966960" cy="146304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50" b="1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tan∠PQR = | (k(QR) - k(QP)) / (1 + k(QP)·k(QR)) |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50" b="1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= | (-3/(4k) - k) / (1 - 3/4) | = 4·| 3/(4k) + k 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105613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60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由 k &gt; 0 得 3/(4k) + k &gt; 0，去掉绝对值：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029200"/>
            <a:ext cx="99669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2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tan∠PQR = 4·(3/(4k) + k) = 3/k + 4k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8251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人工智能导论 · 第二次 Demo 实践　|　63026322 胡景硕　|　2026 新高考 I 卷 数学第 18 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382512"/>
            <a:ext cx="594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第（2)(ii) 问 · 基本不等式求最值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33856"/>
            <a:ext cx="1371600" cy="40640"/>
          </a:xfrm>
          <a:prstGeom prst="rect">
            <a:avLst/>
          </a:prstGeom>
          <a:solidFill>
            <a:srgbClr val="D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613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因 k &gt; 0，由基本不等式（AM-GM）：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1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tan∠PQR = 3/k + 4k ≥ 2·√( (3/k)·4k ) = 2√12 = 4√3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10561320" cy="118872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等号成立当且仅当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D96A1B"/>
                </a:solidFill>
                <a:latin typeface="Consolas"/>
                <a:ea typeface="Consolas"/>
                <a:cs typeface="Consolas"/>
              </a:rPr>
              <a:t>3/k = 4k   →   k² = 3/4   →   k = √3/2   (&gt; 0，符合题设)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54880"/>
            <a:ext cx="10561320" cy="118872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所以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10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tan∠PQR 的最小值为 4√3　（此时 l 的斜率 k = √3/2）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8251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人工智能导论 · 第二次 Demo 实践　|　63026322 胡景硕　|　2026 新高考 I 卷 数学第 18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82512"/>
            <a:ext cx="594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独立复核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数值验证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33856"/>
            <a:ext cx="1371600" cy="40640"/>
          </a:xfrm>
          <a:prstGeom prst="rect">
            <a:avLst/>
          </a:prstGeom>
          <a:solidFill>
            <a:srgbClr val="D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17904"/>
            <a:ext cx="105613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用 Python 3 标准库独立复核（二分法求根 + 20 万点扫描 + 三分法求极值）：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21408"/>
          <a:ext cx="10561319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017520"/>
                <a:gridCol w="1737360"/>
                <a:gridCol w="1874519"/>
              </a:tblGrid>
              <a:tr h="468629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核验项</a:t>
                      </a:r>
                    </a:p>
                  </a:txBody>
                  <a:tcPr marL="109728" marR="91440" marT="36576" marB="36576" anchor="ctr">
                    <a:solidFill>
                      <a:srgbClr val="162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数值结果</a:t>
                      </a:r>
                    </a:p>
                  </a:txBody>
                  <a:tcPr marL="109728" marR="91440" marT="36576" marB="36576" anchor="ctr">
                    <a:solidFill>
                      <a:srgbClr val="162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解析值</a:t>
                      </a:r>
                    </a:p>
                  </a:txBody>
                  <a:tcPr marL="109728" marR="91440" marT="36576" marB="36576" anchor="ctr">
                    <a:solidFill>
                      <a:srgbClr val="162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偏差（科学计数法）</a:t>
                      </a:r>
                    </a:p>
                  </a:txBody>
                  <a:tcPr marL="109728" marR="91440" marT="36576" marB="36576" anchor="ctr">
                    <a:solidFill>
                      <a:srgbClr val="162C4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(2)(i) 面积比为 3 时的 k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1.118033988750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√5/2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4.4e-16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解析式 tan∠PQR = 4k + 3/k</a:t>
                      </a:r>
                    </a:p>
                  </a:txBody>
                  <a:tcPr marL="109728" marR="91440" marT="36576" marB="36576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个取样点比对</a:t>
                      </a:r>
                    </a:p>
                  </a:txBody>
                  <a:tcPr marL="109728" marR="91440" marT="36576" marB="36576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109728" marR="91440" marT="36576" marB="36576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最大 3.7e-14</a:t>
                      </a:r>
                    </a:p>
                  </a:txBody>
                  <a:tcPr marL="109728" marR="91440" marT="36576" marB="36576" anchor="ctr">
                    <a:solidFill>
                      <a:srgbClr val="EEF3F9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(2)(ii) tan∠PQR 的最小值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6.928203230275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4√3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9.8e-15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251960"/>
            <a:ext cx="10561320" cy="173736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复核要点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· |PQ|/|PF| = 3/2 与 d(R,l)/d(O,l) = 2 均精确成立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· 解析式在 8 个取样点上与数值结果的最大偏差仅 3.7e-14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· 数值实验只作佐证，严格结论仍以上述解析证明为准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8251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人工智能导论 · 第二次 Demo 实践　|　63026322 胡景硕　|　2026 新高考 I 卷 数学第 18 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82512"/>
            <a:ext cx="594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8521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62C4F"/>
                </a:solidFill>
                <a:latin typeface="微软雅黑"/>
                <a:ea typeface="微软雅黑"/>
                <a:cs typeface="微软雅黑"/>
              </a:rPr>
              <a:t>答案汇总与考点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33856"/>
            <a:ext cx="1371600" cy="40640"/>
          </a:xfrm>
          <a:prstGeom prst="rect">
            <a:avLst/>
          </a:prstGeom>
          <a:solidFill>
            <a:srgbClr val="D96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36192"/>
          <a:ext cx="10561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5496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小问</a:t>
                      </a:r>
                    </a:p>
                  </a:txBody>
                  <a:tcPr marL="109728" marR="91440" marT="36576" marB="36576" anchor="ctr">
                    <a:solidFill>
                      <a:srgbClr val="162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marL="109728" marR="91440" marT="36576" marB="36576" anchor="ctr">
                    <a:solidFill>
                      <a:srgbClr val="162C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（1）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C：x²/4 + y²/3 = 1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（2)(i)</a:t>
                      </a:r>
                    </a:p>
                  </a:txBody>
                  <a:tcPr marL="109728" marR="91440" marT="36576" marB="36576" anchor="ctr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l：y = (√5/2)(x + 1)，即 √5·x - 2y + √5 = 0</a:t>
                      </a:r>
                    </a:p>
                  </a:txBody>
                  <a:tcPr marL="109728" marR="91440" marT="36576" marB="36576" anchor="ctr"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（2)(ii)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A5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tan∠PQR 的最小值为 4√3（k = √3/2 时取得）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3611880"/>
            <a:ext cx="10561320" cy="2331720"/>
          </a:xfrm>
          <a:prstGeom prst="roundRect">
            <a:avLst>
              <a:gd name="adj" fmla="val 6000"/>
            </a:avLst>
          </a:prstGeom>
          <a:solidFill>
            <a:srgbClr val="EEF3F9"/>
          </a:solidFill>
          <a:ln w="12700">
            <a:solidFill>
              <a:srgbClr val="C3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128016" bIns="128016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>
                <a:solidFill>
                  <a:srgbClr val="D96A1B"/>
                </a:solidFill>
                <a:latin typeface="微软雅黑"/>
                <a:ea typeface="微软雅黑"/>
                <a:cs typeface="微软雅黑"/>
              </a:rPr>
              <a:t>考点与方法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① 椭圆标准方程与几何性质：由焦点、离心率反解 a、b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② 直线与椭圆联立：判别式判断交点个数，韦达定理沟通坐标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③ 面积转化的核心技巧：两三角形共底在 l 上时，面积比 = 底边比 × 高的比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④ 中心对称的妙用：R 是 P 的对径点，使 d(R,l) = 2·d(O,l)，一步消去复杂坐标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444A52"/>
                </a:solidFill>
                <a:latin typeface="微软雅黑"/>
                <a:ea typeface="微软雅黑"/>
                <a:cs typeface="微软雅黑"/>
              </a:rPr>
              <a:t>⑤ 夹角公式 + 基本不等式：化为 3/k + 4k 的 AM-GM，等号条件顺带给出取到最值的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8251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人工智能导论 · 第二次 Demo 实践　|　63026322 胡景硕　|　2026 新高考 I 卷 数学第 18 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82512"/>
            <a:ext cx="594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9CAABC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