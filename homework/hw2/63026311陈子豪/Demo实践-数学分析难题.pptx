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2.xml" ContentType="application/vnd.openxmlformats-officedocument.them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notesMaster" Target="notesMasters/notesMaster1.xml" 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8" Type="http://schemas.openxmlformats.org/officeDocument/2006/relationships/slide" Target="slides/slide8.xml" /><Relationship Id="rId14" Type="http://schemas.openxmlformats.org/officeDocument/2006/relationships/viewProps" Target="viewProps.xml" /><Relationship Id="rId6" Type="http://schemas.openxmlformats.org/officeDocument/2006/relationships/slide" Target="slides/slide6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5.svg" /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2000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2000250"/>
            <a:ext cx="12192000" cy="57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762000" y="9239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009650" y="876300"/>
            <a:ext cx="2409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FFFFFF"/>
                </a:solidFill>
                <a:latin typeface="Microsoft YaHei"/>
                <a:ea typeface="Microsoft YaHei"/>
              </a:rPr>
              <a:t>实践题</a:t>
            </a:r>
            <a:r>
              <a:rPr lang="en-US" sz="1350" spc="15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350" spc="150">
                <a:solidFill>
                  <a:srgbClr val="FFFFFF"/>
                </a:solidFill>
                <a:latin typeface="Microsoft YaHei"/>
                <a:ea typeface="Microsoft YaHei"/>
              </a:rPr>
              <a:t>第一次</a:t>
            </a:r>
            <a:r>
              <a:rPr lang="en-US" sz="1350" spc="150">
                <a:solidFill>
                  <a:srgbClr val="FFFFFF"/>
                </a:solidFill>
                <a:latin typeface="Microsoft YaHei"/>
                <a:ea typeface="Microsoft YaHei"/>
              </a:rPr>
              <a:t> Demo </a:t>
            </a:r>
            <a:r>
              <a:rPr lang="zh-CN" sz="1350" spc="150">
                <a:solidFill>
                  <a:srgbClr val="FFFFFF"/>
                </a:solidFill>
                <a:latin typeface="Microsoft YaHei"/>
                <a:ea typeface="Microsoft YaHei"/>
              </a:rPr>
              <a:t>实践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1428750"/>
            <a:ext cx="104394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用</a:t>
            </a: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> DeepSeek Harness </a:t>
            </a: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做一道数学分析难题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2857500"/>
            <a:ext cx="106680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选题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:IMC 2005(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国际大学生数学竞赛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)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第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 2 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题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一道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条件很弱、结论很强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的微分不等式题。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我们把完整解题流程交给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 dsh: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设计提示词、生成证明、再逐步人工核验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,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最终得到一个严格成立的解答。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762000" y="4095750"/>
            <a:ext cx="6096000" cy="1323975"/>
          </a:xfrm>
          <a:prstGeom prst="roundRect">
            <a:avLst>
              <a:gd name="adj" fmla="val 575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90600" y="42862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题目条件</a:t>
            </a:r>
            <a:endParaRPr/>
          </a:p>
        </p:txBody>
      </p:sp>
      <p:pic>
        <p:nvPicPr>
          <p:cNvPr id="11" name="" descr="f:\mathbb{R}\to\mathbb{R}\ \text{可微},\quad f(0)=0,\quad |f'(x)|\le |f(x)|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90600" y="4629150"/>
            <a:ext cx="5334000" cy="295275"/>
          </a:xfrm>
          <a:prstGeom prst="rect"/>
          <a:ln/>
        </p:spPr>
      </p:pic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990600" y="5019675"/>
            <a:ext cx="5638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求证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:f ≡ 0(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在整个实数轴上恒等于零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62000" y="5600700"/>
            <a:ext cx="2847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汇报人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:___________</a:t>
            </a: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>(</a:t>
            </a: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学号</a:t>
            </a: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姓名</a:t>
            </a: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762000" y="590550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2026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10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7620000" y="4095750"/>
            <a:ext cx="3810000" cy="1714500"/>
          </a:xfrm>
          <a:prstGeom prst="roundRect">
            <a:avLst>
              <a:gd name="adj" fmla="val 444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7848600" y="4210050"/>
            <a:ext cx="335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本次实践的三个环节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7848600" y="4514850"/>
            <a:ext cx="33528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1.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设计结构化提示词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,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约束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的输出形式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848600" y="4943475"/>
            <a:ext cx="33528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2.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用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dsh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得到完整证明初稿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848600" y="5372100"/>
            <a:ext cx="33528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3.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逐步核验依据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,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补严一处论证缺口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762000" y="590550"/>
            <a:ext cx="762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990600" y="571500"/>
            <a:ext cx="685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762000" y="1333500"/>
            <a:ext cx="800100" cy="1009650"/>
          </a:xfrm>
          <a:prstGeom prst="roundRect">
            <a:avLst>
              <a:gd name="adj" fmla="val 7143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000125" y="1666875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1752600" y="1333500"/>
            <a:ext cx="9677400" cy="1009650"/>
          </a:xfrm>
          <a:prstGeom prst="roundRect">
            <a:avLst>
              <a:gd name="adj" fmla="val 566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981200" y="1504950"/>
            <a:ext cx="922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选题与题目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981200" y="1838325"/>
            <a:ext cx="92202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为什么选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IMC 2005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第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2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题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;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题目条件与三条难点分析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762000" y="2552700"/>
            <a:ext cx="800100" cy="1009650"/>
          </a:xfrm>
          <a:prstGeom prst="roundRect">
            <a:avLst>
              <a:gd name="adj" fmla="val 7143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000125" y="2886075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1752600" y="2552700"/>
            <a:ext cx="9677400" cy="1009650"/>
          </a:xfrm>
          <a:prstGeom prst="roundRect">
            <a:avLst>
              <a:gd name="adj" fmla="val 566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981200" y="2724150"/>
            <a:ext cx="922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用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dsh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解题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981200" y="3057525"/>
            <a:ext cx="92202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提示词设计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思路分析与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Gronwall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引理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完整证明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人工核验与延伸讨论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62000" y="601980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Demo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实践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辅助数学解题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1020425" y="6019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02 / 10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54" name="" descr="&lt;Slide style={{ width: '1280px', height: '720px', background: '#FFFFFF', position: 'relative' }}&gt;&#10;  &lt;Box style={{ position: 'absolute', top: 0, left: 0, width: '1280px', height: '8px', background: '#1E4FA8' }} /&gt;&#10;  &lt;Box style={{ position: 'absolute', top: 150, left: 90, flexDirection: 'row', alignItems: 'flex-start', gap: 40 }}&gt;&#10;    &lt;Text style={{ fontSize: 200, fontWeight: 'bold', color: '#E8EFF8', lineHeight: 1 }}&gt;01&lt;/Text&gt;&#10;    &lt;Box style={{ paddingTop: 30, flexDirection: 'column', gap: 18, width: 720 }}&gt;&#10;      &lt;Text style={{ fontSize: 44, fontWeight: 'bold', color: '#0E3F8C' }}&gt;选题与题目&lt;/Text&gt;&#10;      &lt;Text style={{ fontSize: 22, color: '#4A5568', lineHeight: 1.7 }}&gt;&#10;        这道题出自 2005 年国际大学生数学竞赛(IMC)第 2 题。它只给了一个微分不等式,&#10;        却要证明函数在整条实数轴上恒为零——条件弱、结论强,是训练&quot;从局部不等式推出全局结论&quot;的典型素材,&#10;        也是检验 AI 解题严谨程度的好例子。&#10;      &lt;/Text&gt;&#10;      &lt;Box style={{ flexDirection: 'row', gap: 14, marginTop: 10 }}&gt;&#10;        &lt;Box style={{ background: '#E8EFF8', borderRadius: 16, padding: '6px 18px' }}&gt;&#10;          &lt;Text style={{ fontSize: 17, color: '#1E4FA8' }}&gt;数学分析 · 实分析&lt;/Text&gt;&#10;        &lt;/Box&gt;&#10;        &lt;Box style={{ background: '#E8EFF8', borderRadius: 16, padding: '6px 18px' }}&gt;&#10;          &lt;Text style={{ fontSize: 17, color: '#1E4FA8' }}&gt;IMC 2005 Problem 2&lt;/Text&gt;&#10;        &lt;/Box&gt;&#10;        &lt;Box style={{ background: '#E8EFF8', borderRadius: 16, padding: '6px 18px' }}&gt;&#10;          &lt;Text style={{ fontSize: 17, color: '#1E4FA8' }}&gt;Gronwall 思想&lt;/Text&gt;&#10;        &lt;/Box&gt;&#10;      &lt;/Box&gt;&#10;    &lt;/Box&gt;&#10;  &lt;/Box&gt;&#10;  &lt;Box style={{ position: 'absolute', bottom: 60, left: 90, width: 1100, height: 1, background: '#D6DCE5' }} /&gt;&#10;  &lt;Box style={{ position: 'absolute', bottom: 24, left: 90, flexDirection: 'row', alignItems: 'center', justifyContent: 'space-between', width: 1100 }}&gt;&#10;    &lt;Text style={{ fontSize: 14, color: '#8B97A8' }}&gt;Demo 实践 · AI 辅助数学解题&lt;/Text&gt;&#10;    &lt;Text style={{ fontSize: 14, color: '#1E4FA8' }}&gt;03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57250" y="1428750"/>
            <a:ext cx="21240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E8EFF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3362325" y="1714500"/>
            <a:ext cx="68580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Microsoft YaHei"/>
                <a:ea typeface="Microsoft YaHei"/>
              </a:rPr>
              <a:t>选题与题目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3362325" y="2390775"/>
            <a:ext cx="6858000" cy="1714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这道题出自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2005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年国际大学生数学竞赛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(IMC)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第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2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题。它只给了一个微分不等式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,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却要证明函数在整条实数轴上恒为零——条件弱、结论强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,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是训练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从局部不等式推出全局结论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的典型素材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,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也是检验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解题严谨程度的好例子。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3362325" y="4371975"/>
            <a:ext cx="1628775" cy="314325"/>
          </a:xfrm>
          <a:prstGeom prst="roundRect">
            <a:avLst>
              <a:gd name="adj" fmla="val 48485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533775" y="4429125"/>
            <a:ext cx="1285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E4FA8"/>
                </a:solidFill>
                <a:latin typeface="Microsoft YaHei"/>
                <a:ea typeface="Microsoft YaHei"/>
              </a:rPr>
              <a:t>数学分析</a:t>
            </a:r>
            <a:r>
              <a:rPr lang="en-US" sz="1275">
                <a:solidFill>
                  <a:srgbClr val="1E4F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1E4FA8"/>
                </a:solidFill>
                <a:latin typeface="Microsoft YaHei"/>
                <a:ea typeface="Microsoft YaHei"/>
              </a:rPr>
              <a:t>实分析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5124450" y="4371975"/>
            <a:ext cx="1828800" cy="314325"/>
          </a:xfrm>
          <a:prstGeom prst="roundRect">
            <a:avLst>
              <a:gd name="adj" fmla="val 48485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295900" y="4429125"/>
            <a:ext cx="1485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E4FA8"/>
                </a:solidFill>
                <a:latin typeface="Microsoft YaHei"/>
                <a:ea typeface="Microsoft YaHei"/>
              </a:rPr>
              <a:t>IMC 2005 Problem 2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7086600" y="4371975"/>
            <a:ext cx="1352550" cy="314325"/>
          </a:xfrm>
          <a:prstGeom prst="roundRect">
            <a:avLst>
              <a:gd name="adj" fmla="val 48485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258050" y="4429125"/>
            <a:ext cx="1009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E4FA8"/>
                </a:solidFill>
                <a:latin typeface="Microsoft YaHei"/>
                <a:ea typeface="Microsoft YaHei"/>
              </a:rPr>
              <a:t>Gronwall </a:t>
            </a:r>
            <a:r>
              <a:rPr lang="zh-CN" sz="1275">
                <a:solidFill>
                  <a:srgbClr val="1E4FA8"/>
                </a:solidFill>
                <a:latin typeface="Microsoft YaHei"/>
                <a:ea typeface="Microsoft YaHei"/>
              </a:rPr>
              <a:t>思想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857250" y="6276975"/>
            <a:ext cx="104775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57250" y="64674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Demo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实践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辅助数学解题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0925175" y="64674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03 / 10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9" name="" descr="&lt;Slide style={{ width: '1280px', height: '720px', background: '#FFFFFF', position: 'relative', flexDirection: 'column', padding: '48px 80px 0 80px' }}&gt;&#10;  &lt;Box style={{ flexDirection: 'row', alignItems: 'center', gap: 14, marginBottom: 20 }}&gt;&#10;    &lt;Box style={{ width: 8, height: 34, background: '#1E4FA8' }} /&gt;&#10;    &lt;Text style={{ fontSize: 30, fontWeight: 'bold', color: '#0E3F8C' }}&gt;原题与难点:条件很弱,结论很强&lt;/Text&gt;&#10;  &lt;/Box&gt;&#10;  &lt;Box style={{ flexDirection: 'row', gap: 24, flex: 1 }}&gt;&#10;    &lt;Box style={{ flex: 65, background: '#F7F9FC', border: '1px solid #D6DCE5', borderRadius: 8, padding: '22px 26px', flexDirection: 'column' }}&gt;&#10;      &lt;Box style={{ background: '#1E4FA8', borderRadius: 4, padding: '6px 16px', alignSelf: 'flex-start' }}&gt;&#10;        &lt;Text style={{ fontSize: 18, fontWeight: 'bold', color: '#FFFFFF' }}&gt;原题 · IMC 2005 Problem 2&lt;/Text&gt;&#10;      &lt;/Box&gt;&#10;      &lt;Text style={{ fontSize: 22, color: '#1A2230', lineHeight: 1.8, marginTop: 16 }}&gt;&#10;        设函数 f: R → R 可微,满足 f(0) = 0,且对一切实数 x 都有:&#10;      &lt;/Text&gt;&#10;      &lt;Box style={{ alignItems: 'center', marginTop: 14, marginBottom: 14 }}&gt;&#10;        &lt;Math latex=&quot;|f'(x)| \\leq |f(x)| \\quad (\\forall x \\in \\mathbb{R})&quot; width={420} color=&quot;#0E3F8C&quot; display={true} /&gt;&#10;      &lt;/Box&gt;&#10;      &lt;Text style={{ fontSize: 22, color: '#1A2230', lineHeight: 1.8 }}&gt;证明:f ≡ 0,即 f 在整个实数轴上恒等于零。&lt;/Text&gt;&#10;      &lt;Box style={{ marginTop: 'auto', background: '#E8EFF8', borderRadius: 6, padding: '12px 18px' }}&gt;&#10;        &lt;Text style={{ fontSize: 18, color: '#1E4FA8', lineHeight: 1.6 }}&gt;&#10;          我的判断:这个条件只约束&quot;变化的快慢&quot;,连等式都不是,却能锁死整个函数——这正是本题值得做的原因。&#10;        &lt;/Text&gt;&#10;      &lt;/Box&gt;&#10;    &lt;/Box&gt;&#10;    &lt;Box style={{ flex: 35, flexDirection: 'column', gap: 14 }}&gt;&#10;      &lt;Box style={{ background: '#FFFFFF', border: '1px solid #D6DCE5', borderLeft: '4px solid #D9534F', borderRadius: 6, padding: '14px 18px', flex: 1, justifyContent: 'center' }}&gt;&#10;        &lt;Text style={{ fontSize: 19, fontWeight: 'bold', color: '#1A2230' }}&gt;难点一:不等式不是方程&lt;/Text&gt;&#10;        &lt;Text style={{ fontSize: 17, color: '#4A5568', lineHeight: 1.6, marginTop: 6 }}&gt;无法像 f′ = f 那样&quot;解出&quot;f 的表达式。&lt;/Text&gt;&#10;      &lt;/Box&gt;&#10;      &lt;Box style={{ background: '#FFFFFF', border: '1px solid #D6DCE5', borderLeft: '4px solid #D9534F', borderRadius: 6, padding: '14px 18px', flex: 1, justifyContent: 'center' }}&gt;&#10;        &lt;Text style={{ fontSize: 19, fontWeight: 'bold', color: '#1A2230' }}&gt;难点二:f′ 未必连续&lt;/Text&gt;&#10;        &lt;Text style={{ fontSize: 17, color: '#4A5568', lineHeight: 1.6, marginTop: 6 }}&gt;题目只设 f 可微,对不等式两边求导的路走不通。&lt;/Text&gt;&#10;      &lt;/Box&gt;&#10;      &lt;Box style={{ background: '#FFFFFF', border: '1px solid #D6DCE5', borderLeft: '4px solid #D9534F', borderRadius: 6, padding: '14px 18px', flex: 1, justifyContent: 'center' }}&gt;&#10;        &lt;Text style={{ fontSize: 19, fontWeight: 'bold', color: '#1A2230' }}&gt;难点三:直觉会误导&lt;/Text&gt;&#10;        &lt;Text style={{ fontSize: 17, color: '#4A5568', lineHeight: 1.6, marginTop: 6 }}&gt;乍看 f 似乎可以&quot;长起来&quot;,结论并不显然。&lt;/Text&gt;&#10;      &lt;/Box&gt;&#10;    &lt;/Box&gt;&#10;  &lt;/Box&gt;&#10;  &lt;Box style={{ height: 52, flexDirection: 'row', alignItems: 'center', justifyContent: 'space-between' }}&gt;&#10;    &lt;Text style={{ fontSize: 14, color: '#8B97A8' }}&gt;Demo 实践 · AI 辅助数学解题&lt;/Text&gt;&#10;    &lt;Text style={{ fontSize: 14, color: '#1E4FA8' }}&gt;04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762000" y="466725"/>
            <a:ext cx="7620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971550" y="457200"/>
            <a:ext cx="38957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E3F8C"/>
                </a:solidFill>
                <a:latin typeface="Microsoft YaHei"/>
                <a:ea typeface="Microsoft YaHei"/>
              </a:rPr>
              <a:t>原题与难点</a:t>
            </a: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:</a:t>
            </a:r>
            <a:r>
              <a:rPr lang="zh-CN" sz="2250" b="1">
                <a:solidFill>
                  <a:srgbClr val="0E3F8C"/>
                </a:solidFill>
                <a:latin typeface="Microsoft YaHei"/>
                <a:ea typeface="Microsoft YaHei"/>
              </a:rPr>
              <a:t>条件很弱</a:t>
            </a: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,</a:t>
            </a:r>
            <a:r>
              <a:rPr lang="zh-CN" sz="2250" b="1">
                <a:solidFill>
                  <a:srgbClr val="0E3F8C"/>
                </a:solidFill>
                <a:latin typeface="Microsoft YaHei"/>
                <a:ea typeface="Microsoft YaHei"/>
              </a:rPr>
              <a:t>结论很强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762000" y="990600"/>
            <a:ext cx="6781800" cy="5372100"/>
          </a:xfrm>
          <a:prstGeom prst="roundRect">
            <a:avLst>
              <a:gd name="adj" fmla="val 141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1009650" y="1200150"/>
            <a:ext cx="2428875" cy="323850"/>
          </a:xfrm>
          <a:prstGeom prst="roundRect">
            <a:avLst>
              <a:gd name="adj" fmla="val 1176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162050" y="1257300"/>
            <a:ext cx="2124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原题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 · IMC 2005 Problem 2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009650" y="1676400"/>
            <a:ext cx="6286500" cy="4572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设函数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f: R → R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可微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,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满足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f(0) = 0,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且对一切实数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x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都有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:</a:t>
            </a:r>
            <a:endParaRPr/>
          </a:p>
        </p:txBody>
      </p:sp>
      <p:pic>
        <p:nvPicPr>
          <p:cNvPr id="77" name="" descr="|f'(x)| \\leq |f(x)| \\quad (\\forall x \\in \\mathbb{R}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152650" y="2266950"/>
            <a:ext cx="4000500" cy="247650"/>
          </a:xfrm>
          <a:prstGeom prst="rect"/>
          <a:ln/>
        </p:spPr>
      </p:pic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009650" y="2647950"/>
            <a:ext cx="6286500" cy="4572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证明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:f ≡ 0,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即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f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在整个实数轴上恒等于零。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1009650" y="5257800"/>
            <a:ext cx="6286500" cy="895350"/>
          </a:xfrm>
          <a:prstGeom prst="roundRect">
            <a:avLst>
              <a:gd name="adj" fmla="val 6383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81100" y="5372100"/>
            <a:ext cx="59436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我的判断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:</a:t>
            </a: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这个条件只约束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变化的快慢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",</a:t>
            </a: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连等式都不是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,</a:t>
            </a: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却能锁死整个函数——这正是本题值得做的原因。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7810500" y="990600"/>
            <a:ext cx="36576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7810500" y="990600"/>
            <a:ext cx="3657600" cy="1600200"/>
          </a:xfrm>
          <a:custGeom>
            <a:pathLst>
              <a:path w="384" h="168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66"/>
                </a:lnTo>
                <a:cubicBezTo>
                  <a:pt x="4" y="167"/>
                  <a:pt x="5" y="168"/>
                  <a:pt x="6" y="168"/>
                </a:cubicBezTo>
                <a:cubicBezTo>
                  <a:pt x="3" y="168"/>
                  <a:pt x="0" y="165"/>
                  <a:pt x="0" y="16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981950" y="1495425"/>
            <a:ext cx="3276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难点一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: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不等式不是方程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981950" y="1771650"/>
            <a:ext cx="32766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无法像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f′ = f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那样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解出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"f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的表达式。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7810500" y="2724150"/>
            <a:ext cx="3657600" cy="1905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7810500" y="2724150"/>
            <a:ext cx="3657600" cy="1905000"/>
          </a:xfrm>
          <a:custGeom>
            <a:pathLst>
              <a:path w="384" h="200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98"/>
                </a:lnTo>
                <a:cubicBezTo>
                  <a:pt x="4" y="199"/>
                  <a:pt x="5" y="200"/>
                  <a:pt x="6" y="200"/>
                </a:cubicBezTo>
                <a:cubicBezTo>
                  <a:pt x="3" y="200"/>
                  <a:pt x="0" y="197"/>
                  <a:pt x="0" y="19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981950" y="3228975"/>
            <a:ext cx="3276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难点二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:f′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未必连续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981950" y="3505200"/>
            <a:ext cx="3276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题目只设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f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可微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,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对不等式两边求导的路走不通。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7810500" y="4762500"/>
            <a:ext cx="36576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7810500" y="4762500"/>
            <a:ext cx="3657600" cy="1600200"/>
          </a:xfrm>
          <a:custGeom>
            <a:pathLst>
              <a:path w="384" h="168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66"/>
                </a:lnTo>
                <a:cubicBezTo>
                  <a:pt x="4" y="167"/>
                  <a:pt x="5" y="168"/>
                  <a:pt x="6" y="168"/>
                </a:cubicBezTo>
                <a:cubicBezTo>
                  <a:pt x="3" y="168"/>
                  <a:pt x="0" y="165"/>
                  <a:pt x="0" y="16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981950" y="5267325"/>
            <a:ext cx="3276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难点三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: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直觉会误导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981950" y="5543550"/>
            <a:ext cx="32766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乍看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f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似乎可以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长起来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",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结论并不显然。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62000" y="653415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Demo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实践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辅助数学解题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020425" y="65341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04 / 10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95" name="" descr="&lt;Slide style={{ width: '1280px', height: '720px', background: '#FFFFFF', position: 'relative' }}&gt;&#10;  &lt;Box style={{ position: 'absolute', top: 0, left: 0, width: '1280px', height: '8px', background: '#1E4FA8' }} /&gt;&#10;  &lt;Box style={{ position: 'absolute', top: 150, left: 90, flexDirection: 'row', alignItems: 'flex-start', gap: 40 }}&gt;&#10;    &lt;Text style={{ fontSize: 200, fontWeight: 'bold', color: '#E8EFF8', lineHeight: 1 }}&gt;02&lt;/Text&gt;&#10;    &lt;Box style={{ paddingTop: 30, flexDirection: 'column', gap: 18, width: 720 }}&gt;&#10;      &lt;Text style={{ fontSize: 44, fontWeight: 'bold', color: '#0E3F8C' }}&gt;用 dsh 解题&lt;/Text&gt;&#10;      &lt;Text style={{ fontSize: 22, color: '#4A5568', lineHeight: 1.7 }}&gt;&#10;        把解题交给 DeepSeek Harness:先设计一份结构化的提示词,让 AI 的输出&quot;可核验&quot;;&#10;        再对照它的解答逐步检查依据,补上它遗漏的严格化细节。这一章按实际操作顺序展开。&#10;      &lt;/Text&gt;&#10;      &lt;Box style={{ flexDirection: 'row', gap: 14, marginTop: 10, alignItems: 'center' }}&gt;&#10;        &lt;Box style={{ background: '#1E4FA8', borderRadius: 4, padding: '8px 16px' }}&gt;&lt;Text style={{ fontSize: 16, color: '#FFFFFF' }}&gt;1 提示词设计&lt;/Text&gt;&lt;/Box&gt;&#10;        &lt;Text style={{ fontSize: 18, color: '#8B97A8' }}&gt;→&lt;/Text&gt;&#10;        &lt;Box style={{ background: '#1E4FA8', borderRadius: 4, padding: '8px 16px' }}&gt;&lt;Text style={{ fontSize: 16, color: '#FFFFFF' }}&gt;2 思路与引理&lt;/Text&gt;&lt;/Box&gt;&#10;        &lt;Text style={{ fontSize: 18, color: '#8B97A8' }}&gt;→&lt;/Text&gt;&#10;        &lt;Box style={{ background: '#1E4FA8', borderRadius: 4, padding: '8px 16px' }}&gt;&lt;Text style={{ fontSize: 16, color: '#FFFFFF' }}&gt;3 完整证明&lt;/Text&gt;&lt;/Box&gt;&#10;        &lt;Text style={{ fontSize: 18, color: '#8B97A8' }}&gt;→&lt;/Text&gt;&#10;        &lt;Box style={{ background: '#1E4FA8', borderRadius: 4, padding: '8px 16px' }}&gt;&lt;Text style={{ fontSize: 16, color: '#FFFFFF' }}&gt;4 核验与延伸&lt;/Text&gt;&lt;/Box&gt;&#10;      &lt;/Box&gt;&#10;    &lt;/Box&gt;&#10;  &lt;/Box&gt;&#10;  &lt;Box style={{ position: 'absolute', bottom: 60, left: 90, width: 1100, height: 1, background: '#D6DCE5' }} /&gt;&#10;  &lt;Box style={{ position: 'absolute', bottom: 24, left: 90, flexDirection: 'row', alignItems: 'center', justifyContent: 'space-between', width: 1100 }}&gt;&#10;    &lt;Text style={{ fontSize: 14, color: '#8B97A8' }}&gt;Demo 实践 · AI 辅助数学解题&lt;/Text&gt;&#10;    &lt;Text style={{ fontSize: 14, color: '#1E4FA8' }}&gt;05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57250" y="1428750"/>
            <a:ext cx="21240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E8EFF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3362325" y="1714500"/>
            <a:ext cx="68580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Microsoft YaHei"/>
                <a:ea typeface="Microsoft YaHei"/>
              </a:rPr>
              <a:t>用</a:t>
            </a:r>
            <a:r>
              <a:rPr lang="en-US" sz="3300" b="1">
                <a:solidFill>
                  <a:srgbClr val="0E3F8C"/>
                </a:solidFill>
                <a:latin typeface="Microsoft YaHei"/>
                <a:ea typeface="Microsoft YaHei"/>
              </a:rPr>
              <a:t> dsh </a:t>
            </a:r>
            <a:r>
              <a:rPr lang="zh-CN" sz="3300" b="1">
                <a:solidFill>
                  <a:srgbClr val="0E3F8C"/>
                </a:solidFill>
                <a:latin typeface="Microsoft YaHei"/>
                <a:ea typeface="Microsoft YaHei"/>
              </a:rPr>
              <a:t>解题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3362325" y="2390775"/>
            <a:ext cx="6858000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把解题交给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DeepSeek Harness: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先设计一份结构化的提示词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,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让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的输出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可核验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";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再对照它的解答逐步检查依据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,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补上它遗漏的严格化细节。这一章按实际操作顺序展开。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3362325" y="3943350"/>
            <a:ext cx="1200150" cy="342900"/>
          </a:xfrm>
          <a:prstGeom prst="roundRect">
            <a:avLst>
              <a:gd name="adj" fmla="val 1111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514725" y="4019550"/>
            <a:ext cx="895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1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提示词设计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695825" y="40100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8B97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5000625" y="3943350"/>
            <a:ext cx="1200150" cy="342900"/>
          </a:xfrm>
          <a:prstGeom prst="roundRect">
            <a:avLst>
              <a:gd name="adj" fmla="val 1111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153025" y="4019550"/>
            <a:ext cx="895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2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思路与引理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334125" y="40100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8B97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638925" y="3943350"/>
            <a:ext cx="1047750" cy="342900"/>
          </a:xfrm>
          <a:prstGeom prst="roundRect">
            <a:avLst>
              <a:gd name="adj" fmla="val 1111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791325" y="4019550"/>
            <a:ext cx="742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3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完整证明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820025" y="40100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8B97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8124825" y="3943350"/>
            <a:ext cx="1200150" cy="342900"/>
          </a:xfrm>
          <a:prstGeom prst="roundRect">
            <a:avLst>
              <a:gd name="adj" fmla="val 1111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277225" y="4019550"/>
            <a:ext cx="895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4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核验与延伸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857250" y="6276975"/>
            <a:ext cx="104775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57250" y="64674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Demo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实践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辅助数学解题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0925175" y="64674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05 / 10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15" name="" descr="&lt;Slide style={{ width: '1280px', height: '720px', background: '#FFFFFF', position: 'relative', flexDirection: 'row' }}&gt;&#10;  &lt;Box style={{ width: 340, background: '#0E3F8C', padding: '60px 36px', flexDirection: 'column' }}&gt;&#10;    &lt;Text style={{ fontSize: 30, fontWeight: 'bold', color: '#FFFFFF', lineHeight: 1.4 }}&gt;提示词设计&lt;/Text&gt;&#10;    &lt;Box style={{ width: 60, height: 4, background: '#FFFFFF', marginTop: 18, marginBottom: 24 }} /&gt;&#10;    &lt;Text style={{ fontSize: 19, color: '#DCE6F5', lineHeight: 1.9 }}&gt;&#10;      我没有把题目一甩了之,而是先写了一份&quot;角色 + 任务 + 分步要求&quot;的结构化提示词。&#10;      目的很实际:让 AI 的输出自带分析、依据和引理,方便我逐步核对,而不是给一个无法检验的答案。&#10;    &lt;/Text&gt;&#10;    &lt;Box style={{ marginTop: 'auto', background: 'rgba(255,255,255,0.12)', borderRadius: 6, padding: '14px 16px' }}&gt;&#10;      &lt;Text style={{ fontSize: 17, color: '#FFFFFF', lineHeight: 1.7 }}&gt;五条要求缺一不可,其中&quot;不允许默认 f′ 连续&quot;是针对本题埋的陷阱。&lt;/Text&gt;&#10;    &lt;/Box&gt;&#10;  &lt;/Box&gt;&#10;  &lt;Box style={{ flex: 1, background: '#F7F9FC', padding: '40px 40px 24px 40px', flexDirection: 'column' }}&gt;&#10;    &lt;Box style={{ background: '#FFFFFF', border: '1px solid #D6DCE5', borderRadius: 8, padding: '22px 26px', flex: 1, flexDirection: 'column' }}&gt;&#10;      &lt;Text style={{ fontSize: 20, fontWeight: 'bold', color: '#1E4FA8' }}&gt;给 DeepSeek 的提示词(节选)&lt;/Text&gt;&#10;      &lt;Box style={{ marginTop: 14, flexDirection: 'column', gap: 12 }}&gt;&#10;        &lt;Box style={{ flexDirection: 'row', gap: 12 }}&gt;&#10;          &lt;Box style={{ width: 30, height: 30, borderRadius: 15, background: '#1E4FA8', alignItems: 'center', justifyContent: 'center' }}&gt;&lt;Text style={{ fontSize: 15, fontWeight: 'bold', color: '#FFFFFF' }}&gt;1&lt;/Text&gt;&lt;/Box&gt;&#10;          &lt;Text style={{ fontSize: 18, color: '#1A2230', lineHeight: 1.6, flex: 1 }}&gt;&lt;span style={{ fontWeight: 'bold' }}&gt;角色设定&lt;/span&gt;:&quot;你是一位经验丰富的数学分析竞赛教练&quot;——约束语言风格与严谨度。&lt;/Text&gt;&#10;        &lt;/Box&gt;&#10;        &lt;Box style={{ flexDirection: 'row', gap: 12 }}&gt;&#10;          &lt;Box style={{ width: 30, height: 30, borderRadius: 15, background: '#1E4FA8', alignItems: 'center', justifyContent: 'center' }}&gt;&lt;Text style={{ fontSize: 15, fontWeight: 'bold', color: '#FFFFFF' }}&gt;2&lt;/Text&gt;&lt;/Box&gt;&#10;          &lt;Text style={{ fontSize: 18, color: '#1A2230', lineHeight: 1.6, flex: 1 }}&gt;&lt;span style={{ fontWeight: 'bold' }}&gt;先做思路分析&lt;/span&gt;:要求指出&quot;当方程解&quot;&quot;两边求导&quot;两类常规做法为何行不通。&lt;/Text&gt;&#10;        &lt;/Box&gt;&#10;        &lt;Box style={{ flexDirection: 'row', gap: 12 }}&gt;&#10;          &lt;Box style={{ width: 30, height: 30, borderRadius: 15, background: '#1E4FA8', alignItems: 'center', justifyContent: 'center' }}&gt;&lt;Text style={{ fontSize: 15, fontWeight: 'bold', color: '#FFFFFF' }}&gt;3&lt;/Text&gt;&lt;/Box&gt;&#10;          &lt;Text style={{ fontSize: 18, color: '#1A2230', lineHeight: 1.6, flex: 1 }}&gt;&lt;span style={{ fontWeight: 'bold' }}&gt;严格证明&lt;/span&gt;:每步写明依据,不允许跳步,&lt;span style={{ color: '#D9534F' }}&gt;不允许默认 f′ 连续&lt;/span&gt;。&lt;/Text&gt;&#10;        &lt;/Box&gt;&#10;        &lt;Box style={{ flexDirection: 'row', gap: 12 }}&gt;&#10;          &lt;Box style={{ width: 30, height: 30, borderRadius: 15, background: '#1E4FA8', alignItems: 'center', justifyContent: 'center' }}&gt;&lt;Text style={{ fontSize: 15, fontWeight: 'bold', color: '#FFFFFF' }}&gt;4&lt;/Text&gt;&lt;/Box&gt;&#10;          &lt;Text style={{ fontSize: 18, color: '#1A2230', lineHeight: 1.6, flex: 1 }}&gt;&lt;span style={{ fontWeight: 'bold' }}&gt;单独陈述引理&lt;/span&gt;:若用到 Gronwall 不等式等工具,先陈述再证明。&lt;/Text&gt;&#10;        &lt;/Box&gt;&#10;        &lt;Box style={{ flexDirection: 'row', gap: 12 }}&gt;&#10;          &lt;Box style={{ width: 30, height: 30, borderRadius: 15, background: '#1E4FA8', alignItems: 'center', justifyContent: 'center' }}&gt;&lt;Text style={{ fontSize: 15, fontWeight: 'bold', color: '#FFFFFF' }}&gt;5&lt;/Text&gt;&lt;/Box&gt;&#10;          &lt;Text style={{ fontSize: 18, color: '#1A2230', lineHeight: 1.6, flex: 1 }}&gt;&lt;span style={{ fontWeight: 'bold' }}&gt;讨论条件强弱&lt;/span&gt;:条件能否放宽?结论在更一般假设下是否成立?&lt;/Text&gt;&#10;        &lt;/Box&gt;&#10;      &lt;/Box&gt;&#10;    &lt;/Box&gt;&#10;    &lt;Box style={{ height: 48, flexDirection: 'row', alignItems: 'center', justifyContent: 'space-between' }}&gt;&#10;      &lt;Text style={{ fontSize: 14, color: '#8B97A8' }}&gt;Demo 实践 · AI 辅助数学解题&lt;/Text&gt;&#10;      &lt;Text style={{ fontSize: 14, color: '#1E4FA8' }}&gt;06 / 1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0" y="0"/>
            <a:ext cx="3238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342900" y="571500"/>
            <a:ext cx="25527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提示词设计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342900" y="1228725"/>
            <a:ext cx="571500" cy="38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42900" y="1495425"/>
            <a:ext cx="2552700" cy="2476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我没有把题目一甩了之</a:t>
            </a:r>
            <a:r>
              <a:rPr lang="en-US" sz="1425">
                <a:solidFill>
                  <a:srgbClr val="DCE6F5"/>
                </a:solidFill>
                <a:latin typeface="Microsoft YaHei"/>
                <a:ea typeface="Microsoft YaHei"/>
              </a:rPr>
              <a:t>,</a:t>
            </a: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而是先写了一份</a:t>
            </a:r>
            <a:r>
              <a:rPr lang="en-US" sz="1425">
                <a:solidFill>
                  <a:srgbClr val="DCE6F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角色</a:t>
            </a:r>
            <a:r>
              <a:rPr lang="en-US" sz="1425">
                <a:solidFill>
                  <a:srgbClr val="DCE6F5"/>
                </a:solidFill>
                <a:latin typeface="Microsoft YaHei"/>
                <a:ea typeface="Microsoft YaHei"/>
              </a:rPr>
              <a:t> + </a:t>
            </a: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任务</a:t>
            </a:r>
            <a:r>
              <a:rPr lang="en-US" sz="1425">
                <a:solidFill>
                  <a:srgbClr val="DCE6F5"/>
                </a:solidFill>
                <a:latin typeface="Microsoft YaHei"/>
                <a:ea typeface="Microsoft YaHei"/>
              </a:rPr>
              <a:t> + </a:t>
            </a: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分步要求</a:t>
            </a:r>
            <a:r>
              <a:rPr lang="en-US" sz="1425">
                <a:solidFill>
                  <a:srgbClr val="DCE6F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的结构化提示词。</a:t>
            </a:r>
            <a:r>
              <a:rPr lang="en-US" sz="1425">
                <a:solidFill>
                  <a:srgbClr val="DCE6F5"/>
                </a:solidFill>
                <a:latin typeface="Microsoft YaHei"/>
                <a:ea typeface="Microsoft YaHei"/>
              </a:rPr>
              <a:t> </a:t>
            </a: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目的很实际</a:t>
            </a:r>
            <a:r>
              <a:rPr lang="en-US" sz="1425">
                <a:solidFill>
                  <a:srgbClr val="DCE6F5"/>
                </a:solidFill>
                <a:latin typeface="Microsoft YaHei"/>
                <a:ea typeface="Microsoft YaHei"/>
              </a:rPr>
              <a:t>:</a:t>
            </a: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让</a:t>
            </a:r>
            <a:r>
              <a:rPr lang="en-US" sz="1425">
                <a:solidFill>
                  <a:srgbClr val="DCE6F5"/>
                </a:solidFill>
                <a:latin typeface="Microsoft YaHei"/>
                <a:ea typeface="Microsoft YaHei"/>
              </a:rPr>
              <a:t> AI </a:t>
            </a: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的输出自带分析、依据和引理</a:t>
            </a:r>
            <a:r>
              <a:rPr lang="en-US" sz="1425">
                <a:solidFill>
                  <a:srgbClr val="DCE6F5"/>
                </a:solidFill>
                <a:latin typeface="Microsoft YaHei"/>
                <a:ea typeface="Microsoft YaHei"/>
              </a:rPr>
              <a:t>,</a:t>
            </a: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方便我逐步核对</a:t>
            </a:r>
            <a:r>
              <a:rPr lang="en-US" sz="1425">
                <a:solidFill>
                  <a:srgbClr val="DCE6F5"/>
                </a:solidFill>
                <a:latin typeface="Microsoft YaHei"/>
                <a:ea typeface="Microsoft YaHei"/>
              </a:rPr>
              <a:t>,</a:t>
            </a: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而不是给一个无法检验的答案。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342900" y="5019675"/>
            <a:ext cx="2552700" cy="1266825"/>
          </a:xfrm>
          <a:prstGeom prst="roundRect">
            <a:avLst>
              <a:gd name="adj" fmla="val 4511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95300" y="5153025"/>
            <a:ext cx="22479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五条要求缺一不可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,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其中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不允许默认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 f′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连续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是针对本题埋的陷阱。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3238500" y="0"/>
            <a:ext cx="89535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3619500" y="381000"/>
            <a:ext cx="8191500" cy="579120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3867150" y="590550"/>
            <a:ext cx="7696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给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DeepSeek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的提示词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(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节选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3867150" y="9525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3971925" y="1009650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4267200" y="952500"/>
            <a:ext cx="72961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角色设定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:"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你是一位经验丰富的数学分析竞赛教练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"——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约束语言风格与严谨度。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3867150" y="14001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971925" y="145732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4267200" y="1400175"/>
            <a:ext cx="72961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先做思路分析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: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要求指出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当方程解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""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两边求导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两类常规做法为何行不通。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3867150" y="18478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3971925" y="1905000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267200" y="1847850"/>
            <a:ext cx="72961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严格证明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: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每步写明依据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,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不允许跳步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,</a:t>
            </a:r>
            <a:r>
              <a:rPr lang="zh-CN" sz="1350">
                <a:solidFill>
                  <a:srgbClr val="D9534F"/>
                </a:solidFill>
                <a:latin typeface="Microsoft YaHei"/>
                <a:ea typeface="Microsoft YaHei"/>
              </a:rPr>
              <a:t>不允许默认</a:t>
            </a:r>
            <a:r>
              <a:rPr lang="en-US" sz="1350">
                <a:solidFill>
                  <a:srgbClr val="D9534F"/>
                </a:solidFill>
                <a:latin typeface="Microsoft YaHei"/>
                <a:ea typeface="Microsoft YaHei"/>
              </a:rPr>
              <a:t> f′ </a:t>
            </a:r>
            <a:r>
              <a:rPr lang="zh-CN" sz="1350">
                <a:solidFill>
                  <a:srgbClr val="D9534F"/>
                </a:solidFill>
                <a:latin typeface="Microsoft YaHei"/>
                <a:ea typeface="Microsoft YaHei"/>
              </a:rPr>
              <a:t>连续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3867150" y="22955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3971925" y="235267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267200" y="2295525"/>
            <a:ext cx="72961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单独陈述引理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: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若用到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Gronwall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不等式等工具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,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先陈述再证明。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3867150" y="27432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971925" y="2800350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267200" y="2743200"/>
            <a:ext cx="72961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讨论条件强弱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: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条件能否放宽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?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结论在更一般假设下是否成立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?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3619500" y="632460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Demo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实践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辅助数学解题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401425" y="63246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06 / 10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43" name="" descr="&lt;Slide style={{ width: '1280px', height: '720px', background: '#FFFFFF', position: 'relative', flexDirection: 'column', padding: '48px 80px 0 80px' }}&gt;&#10;  &lt;Box style={{ flexDirection: 'row', alignItems: 'center', gap: 14, marginBottom: 20 }}&gt;&#10;    &lt;Box style={{ width: 8, height: 34, background: '#1E4FA8' }} /&gt;&#10;    &lt;Text style={{ fontSize: 30, fontWeight: 'bold', color: '#0E3F8C' }}&gt;思路分析:先排除死路,再找对工具&lt;/Text&gt;&#10;  &lt;/Box&gt;&#10;  &lt;Box style={{ flexDirection: 'row', gap: 24, flex: 1 }}&gt;&#10;    &lt;Box style={{ flex: 60, flexDirection: 'column', gap: 14 }}&gt;&#10;      &lt;Box style={{ background: '#FFFFFF', border: '1px solid #D6DCE5', borderRadius: 8, padding: '16px 20px', flexDirection: 'row', gap: 14, alignItems: 'center' }}&gt;&#10;        &lt;Box style={{ width: 46, height: 46, borderRadius: 23, background: '#F0F0F0', alignItems: 'center', justifyContent: 'center' }}&gt;&lt;Text style={{ fontSize: 22, color: '#8B97A8' }}&gt;✕&lt;/Text&gt;&lt;/Box&gt;&#10;        &lt;Box style={{ flex: 1 }}&gt;&#10;          &lt;Text style={{ fontSize: 19, fontWeight: 'bold', color: '#1A2230' }}&gt;当微分方程解?不行&lt;/Text&gt;&#10;          &lt;Text style={{ fontSize: 17, color: '#4A5568', lineHeight: 1.5, marginTop: 4 }}&gt;|f′| ≤ |f| 是不等式,解不出显式表达式;通解 Ce&lt;sup&gt;x&lt;/sup&gt; 只是理想情形。&lt;/Text&gt;&#10;        &lt;/Box&gt;&#10;      &lt;/Box&gt;&#10;      &lt;Box style={{ background: '#FFFFFF', border: '1px solid #D6DCE5', borderRadius: 8, padding: '16px 20px', flexDirection: 'row', gap: 14, alignItems: 'center' }}&gt;&#10;        &lt;Box style={{ width: 46, height: 46, borderRadius: 23, background: '#F0F0F0', alignItems: 'center', justifyContent: 'center' }}&gt;&lt;Text style={{ fontSize: 22, color: '#8B97A8' }}&gt;✕&lt;/Text&gt;&lt;/Box&gt;&#10;        &lt;Box style={{ flex: 1 }}&gt;&#10;          &lt;Text style={{ fontSize: 19, fontWeight: 'bold', color: '#1A2230' }}&gt;两边求导?也不行&lt;/Text&gt;&#10;          &lt;Text style={{ fontSize: 17, color: '#4A5568', lineHeight: 1.5, marginTop: 4 }}&gt;f 只假设可微,f′ 未必可导甚至不连续,这一步没有依据。&lt;/Text&gt;&#10;        &lt;/Box&gt;&#10;      &lt;/Box&gt;&#10;      &lt;Box style={{ background: '#E8EFF8', borderRadius: 8, padding: '16px 20px', flexDirection: 'row', gap: 14, alignItems: 'center', flex: 1 }}&gt;&#10;        &lt;Box style={{ width: 46, height: 46, borderRadius: 23, background: '#1E4FA8', alignItems: 'center', justifyContent: 'center' }}&gt;&lt;Text style={{ fontSize: 22, fontWeight: 'bold', color: '#FFFFFF' }}&gt;✓&lt;/Text&gt;&lt;/Box&gt;&#10;        &lt;Box style={{ flex: 1 }}&gt;&#10;          &lt;Text style={{ fontSize: 19, fontWeight: 'bold', color: '#0E3F8C' }}&gt;正确方向:微分化为积分&lt;/Text&gt;&#10;          &lt;Text style={{ fontSize: 17, color: '#1A2230', lineHeight: 1.6, marginTop: 4 }}&gt;&#10;            由微积分基本定理把 f′ &quot;积回去&quot;,得到积分不等式;再用&quot;零初值 + 增长率受控&quot;逼出零解。&#10;            这套手法的系统化版本就是 Gronwall 比较原理(见丁同仁、李承治《常微分方程教程》第四章)。&#10;          &lt;/Text&gt;&#10;        &lt;/Box&gt;&#10;      &lt;/Box&gt;&#10;    &lt;/Box&gt;&#10;    &lt;Box style={{ flex: 40, background: '#F7F9FC', border: '1px solid #D6DCE5', borderRadius: 8, padding: '20px 22px', flexDirection: 'column' }}&gt;&#10;      &lt;Box style={{ background: '#0E3F8C', borderRadius: 4, padding: '6px 14px', alignSelf: 'flex-start' }}&gt;&#10;        &lt;Text style={{ fontSize: 17, fontWeight: 'bold', color: '#FFFFFF' }}&gt;关键引理(比较原理)&lt;/Text&gt;&#10;      &lt;/Box&gt;&#10;      &lt;Text style={{ fontSize: 18, color: '#1A2230', lineHeight: 1.7, marginTop: 14 }}&gt;&#10;        设 F 在 [0,+∞) 连续可导,F(0)=0 且 F′(x) ≤ F(x),则 F ≡ 0。&#10;      &lt;/Text&gt;&#10;      &lt;Box style={{ marginTop: 12, alignItems: 'flex-start' }}&gt;&#10;        &lt;Math latex=&quot;g(x)=e^{-x}F(x),\\quad g'(x)=e^{-x}\\big(F'(x)-F(x)\\big)\\le 0&quot; width={360} color=&quot;#1A2230&quot; display={true} /&gt;&#10;      &lt;/Box&gt;&#10;      &lt;Text style={{ fontSize: 17, color: '#4A5568', lineHeight: 1.7, marginTop: 10 }}&gt;&#10;        辅助函数 g 单调不增;配合 ε-技术(考察 F+ε 再令 ε→0⁺)可绕开&quot;F 是否非负&quot;的循环论证,严格推出 F ≡ 0。&#10;      &lt;/Text&gt;&#10;      &lt;Box style={{ marginTop: 'auto', border: '1px dashed #D9534F', borderRadius: 6, padding: '10px 14px' }}&gt;&#10;        &lt;Text style={{ fontSize: 16, color: '#D9534F', lineHeight: 1.6 }}&gt;dsh 初稿默认了 F ≥ 0,这一步不严格——我在核验时用 ε-技术补上了。&lt;/Text&gt;&#10;      &lt;/Box&gt;&#10;    &lt;/Box&gt;&#10;  &lt;/Box&gt;&#10;  &lt;Box style={{ height: 52, flexDirection: 'row', alignItems: 'center', justifyContent: 'space-between' }}&gt;&#10;    &lt;Text style={{ fontSize: 14, color: '#8B97A8' }}&gt;Demo 实践 · AI 辅助数学解题&lt;/Text&gt;&#10;    &lt;Text style={{ fontSize: 14, color: '#1E4FA8' }}&gt;07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762000" y="466725"/>
            <a:ext cx="7620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971550" y="457200"/>
            <a:ext cx="41814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E3F8C"/>
                </a:solidFill>
                <a:latin typeface="Microsoft YaHei"/>
                <a:ea typeface="Microsoft YaHei"/>
              </a:rPr>
              <a:t>思路分析</a:t>
            </a: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:</a:t>
            </a:r>
            <a:r>
              <a:rPr lang="zh-CN" sz="2250" b="1">
                <a:solidFill>
                  <a:srgbClr val="0E3F8C"/>
                </a:solidFill>
                <a:latin typeface="Microsoft YaHei"/>
                <a:ea typeface="Microsoft YaHei"/>
              </a:rPr>
              <a:t>先排除死路</a:t>
            </a: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,</a:t>
            </a:r>
            <a:r>
              <a:rPr lang="zh-CN" sz="2250" b="1">
                <a:solidFill>
                  <a:srgbClr val="0E3F8C"/>
                </a:solidFill>
                <a:latin typeface="Microsoft YaHei"/>
                <a:ea typeface="Microsoft YaHei"/>
              </a:rPr>
              <a:t>再找对工具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762000" y="990600"/>
            <a:ext cx="626745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952500" y="12001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085850" y="1295400"/>
            <a:ext cx="180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8B97A8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524000" y="1143000"/>
            <a:ext cx="531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当微分方程解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?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不行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524000" y="1400175"/>
            <a:ext cx="53149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|f′| ≤ |f|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是不等式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,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解不出显式表达式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;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通解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Ce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x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只是理想情形。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762000" y="1981200"/>
            <a:ext cx="626745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952500" y="21907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085850" y="2286000"/>
            <a:ext cx="180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8B97A8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524000" y="2133600"/>
            <a:ext cx="531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两边求导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?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也不行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524000" y="2390775"/>
            <a:ext cx="53149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f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只假设可微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,f′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未必可导甚至不连续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,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这一步没有依据。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762000" y="2971800"/>
            <a:ext cx="6267450" cy="3390900"/>
          </a:xfrm>
          <a:prstGeom prst="roundRect">
            <a:avLst>
              <a:gd name="adj" fmla="val 224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952500" y="444817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085850" y="4543425"/>
            <a:ext cx="180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524000" y="4076700"/>
            <a:ext cx="531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正确方向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: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微分化为积分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524000" y="4333875"/>
            <a:ext cx="53149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由微积分基本定理把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f′ 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积回去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",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得到积分不等式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;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再用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零初值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增长率受控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逼出零解。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这套手法的系统化版本就是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Gronwall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比较原理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(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见丁同仁、李承治《常微分方程教程》第四章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)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7258050" y="990600"/>
            <a:ext cx="4171950" cy="5372100"/>
          </a:xfrm>
          <a:prstGeom prst="roundRect">
            <a:avLst>
              <a:gd name="adj" fmla="val 182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7467600" y="1181100"/>
            <a:ext cx="1676400" cy="314325"/>
          </a:xfrm>
          <a:prstGeom prst="roundRect">
            <a:avLst>
              <a:gd name="adj" fmla="val 1212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7600950" y="1238250"/>
            <a:ext cx="1409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关键引理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(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比较原理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7467600" y="1628775"/>
            <a:ext cx="37528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设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F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在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[0,+∞)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连续可导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,F(0)=0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且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F′(x) ≤ F(x),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则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F ≡ 0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pic>
        <p:nvPicPr>
          <p:cNvPr id="166" name="" descr="g(x)=e^{-x}F(x),\\quad g'(x)=e^{-x}\\big(F'(x)-F(x)\\big)\\l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67600" y="2447925"/>
            <a:ext cx="3429000" cy="152400"/>
          </a:xfrm>
          <a:prstGeom prst="rect"/>
          <a:ln/>
        </p:spPr>
      </p:pic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467600" y="2695575"/>
            <a:ext cx="375285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辅助函数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g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单调不增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;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配合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ε-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技术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(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考察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F+ε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再令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ε→0⁺)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可绕开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"F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是否非负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的循环论证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,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严格推出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F ≡ 0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7467600" y="5391150"/>
            <a:ext cx="3752850" cy="781050"/>
          </a:xfrm>
          <a:prstGeom prst="roundRect">
            <a:avLst>
              <a:gd name="adj" fmla="val 7317"/>
            </a:avLst>
          </a:prstGeom>
          <a:ln w="12700">
            <a:solidFill>
              <a:srgbClr val="D9534F"/>
            </a:solidFill>
            <a:prstDash val="dash"/>
          </a:ln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600950" y="5486400"/>
            <a:ext cx="34861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D9534F"/>
                </a:solidFill>
                <a:latin typeface="Microsoft YaHei"/>
                <a:ea typeface="Microsoft YaHei"/>
              </a:rPr>
              <a:t>dsh </a:t>
            </a:r>
            <a:r>
              <a:rPr lang="zh-CN" sz="1200">
                <a:solidFill>
                  <a:srgbClr val="D9534F"/>
                </a:solidFill>
                <a:latin typeface="Microsoft YaHei"/>
                <a:ea typeface="Microsoft YaHei"/>
              </a:rPr>
              <a:t>初稿默认了</a:t>
            </a:r>
            <a:r>
              <a:rPr lang="en-US" sz="1200">
                <a:solidFill>
                  <a:srgbClr val="D9534F"/>
                </a:solidFill>
                <a:latin typeface="Microsoft YaHei"/>
                <a:ea typeface="Microsoft YaHei"/>
              </a:rPr>
              <a:t> F ≥ 0,</a:t>
            </a:r>
            <a:r>
              <a:rPr lang="zh-CN" sz="1200">
                <a:solidFill>
                  <a:srgbClr val="D9534F"/>
                </a:solidFill>
                <a:latin typeface="Microsoft YaHei"/>
                <a:ea typeface="Microsoft YaHei"/>
              </a:rPr>
              <a:t>这一步不严格——我在核验时用</a:t>
            </a:r>
            <a:r>
              <a:rPr lang="en-US" sz="1200">
                <a:solidFill>
                  <a:srgbClr val="D9534F"/>
                </a:solidFill>
                <a:latin typeface="Microsoft YaHei"/>
                <a:ea typeface="Microsoft YaHei"/>
              </a:rPr>
              <a:t> ε-</a:t>
            </a:r>
            <a:r>
              <a:rPr lang="zh-CN" sz="1200">
                <a:solidFill>
                  <a:srgbClr val="D9534F"/>
                </a:solidFill>
                <a:latin typeface="Microsoft YaHei"/>
                <a:ea typeface="Microsoft YaHei"/>
              </a:rPr>
              <a:t>技术补上了。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62000" y="653415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Demo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实践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辅助数学解题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020425" y="65341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07 / 10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72" name="" descr="&lt;Slide style={{ width: '1280px', height: '720px', background: '#FFFFFF', position: 'relative', flexDirection: 'column', padding: '44px 80px 0 80px' }}&gt;&#10;  &lt;Box style={{ flexDirection: 'row', alignItems: 'center', justifyContent: 'space-between', marginBottom: 18 }}&gt;&#10;    &lt;Box style={{ flexDirection: 'row', alignItems: 'center', gap: 14 }}&gt;&#10;      &lt;Box style={{ width: 8, height: 34, background: '#1E4FA8' }} /&gt;&#10;      &lt;Text style={{ fontSize: 30, fontWeight: 'bold', color: '#0E3F8C' }}&gt;完整证明:五步主线&lt;/Text&gt;&#10;    &lt;/Box&gt;&#10;    &lt;Box style={{ background: '#E8EFF8', borderRadius: 16, padding: '6px 18px' }}&gt;&#10;      &lt;Text style={{ fontSize: 16, color: '#1E4FA8' }}&gt;核验状态:逐步核对通过&lt;/Text&gt;&#10;    &lt;/Box&gt;&#10;  &lt;/Box&gt;&#10;  &lt;Box style={{ flexDirection: 'row', gap: 12, marginBottom: 18 }}&gt;&#10;    {['化微分为积分', '构造受控函数 F', '应用引理(ε-技术)', '右半轴 f ≡ 0', '反射处理左半轴'].map((t, i) =&gt; (&#10;      &lt;Box key={i} style={{ flex: 1, flexDirection: 'column', alignItems: 'center' }}&gt;&#10;        &lt;Box style={{ width: 52, height: 52, borderRadius: 26, background: '#1E4FA8', alignItems: 'center', justifyContent: 'center' }}&gt;&#10;          &lt;Text style={{ fontSize: 22, fontWeight: 'bold', color: '#FFFFFF' }}&gt;{i + 1}&lt;/Text&gt;&#10;        &lt;/Box&gt;&#10;        &lt;Text style={{ fontSize: 16, color: '#1A2230', textAlign: 'center', marginTop: 8, lineHeight: 1.4 }}&gt;{t}&lt;/Text&gt;&#10;        {i &lt; 4 &amp;&amp; &lt;Box style={{ position: 'absolute' }} /&gt;}&#10;      &lt;/Box&gt;&#10;    ))}&#10;  &lt;/Box&gt;&#10;  &lt;Box style={{ flex: 1, flexDirection: 'row', gap: 24 }}&gt;&#10;    &lt;Box style={{ flex: 58, background: '#F7F9FC', border: '1px solid #D6DCE5', borderRadius: 8, padding: '18px 24px', flexDirection: 'column', justifyContent: 'center', gap: 8 }}&gt;&#10;      &lt;Box style={{ flexDirection: 'row', alignItems: 'center', gap: 14 }}&gt;&#10;        &lt;Text style={{ fontSize: 19, fontWeight: 'bold', color: '#0E3F8C' }}&gt;第 1-2 步:把条件&quot;积回去&quot;&lt;/Text&gt;&#10;      &lt;/Box&gt;&#10;      &lt;Math latex=&quot;|f(x)| \\le \\int_0^x |f'(t)|\\,dt \\le \\int_0^x |f(t)|\\,dt = F(x)&quot; width={560} color=&quot;#1A2230&quot; display={true} /&gt;&#10;      &lt;Text style={{ fontSize: 18, color: '#4A5568', lineHeight: 1.6 }}&gt;于是 F′(x) = |f(x)| ≤ F(x),F(0) = 0 —— 引理的条件全部凑齐。&lt;/Text&gt;&#10;      &lt;Box style={{ flexDirection: 'row', alignItems: 'center', gap: 14, marginTop: 8 }}&gt;&#10;        &lt;Text style={{ fontSize: 19, fontWeight: 'bold', color: '#0E3F8C' }}&gt;第 3-5 步:零点&quot;封冻&quot;整条数轴&lt;/Text&gt;&#10;      &lt;/Box&gt;&#10;      &lt;Math latex=&quot;F \\equiv 0 \\;\\Rightarrow\\; |f(x)| = 0 \\;(x \\ge 0);\\quad x \\mapsto -x \\text{ 同理} \\;\\Rightarrow\\; f \\equiv 0&quot; width={560} color=&quot;#1A2230&quot; display={true} /&gt;&#10;    &lt;/Box&gt;&#10;    &lt;Box style={{ flex: 42, background: '#0E3F8C', borderRadius: 8, padding: '26px 28px', flexDirection: 'column', justifyContent: 'center', gap: 16 }}&gt;&#10;      &lt;Text style={{ fontSize: 20, fontWeight: 'bold', color: '#FFFFFF' }}&gt;核心洞察&lt;/Text&gt;&#10;      &lt;Text style={{ fontSize: 24, fontWeight: 'bold', color: '#FFFFFF', lineHeight: 1.6 }}&gt;零初值 + 增长率受控 ⇒ 函数恒为零&lt;/Text&gt;&#10;      &lt;Box style={{ height: 1, background: 'rgba(255,255,255,0.3)' }} /&gt;&#10;      &lt;Text style={{ fontSize: 18, color: '#DCE6F5', lineHeight: 1.8 }}&gt;&#10;        直观地说:f 想从 0 &quot;长&quot;出来,必须先有增长,而增长速度被自身大小封死——起点是零,就永远长不出来。&#10;      &lt;/Text&gt;&#10;      &lt;Text style={{ fontSize: 16, color: '#9DB4DD' }}&gt;条件缺一不可:去掉 f(0)=0,则 f ≡ Ce&lt;sup&gt;x&lt;/sup&gt; 就是反例。&lt;/Text&gt;&#10;    &lt;/Box&gt;&#10;  &lt;/Box&gt;&#10;  &lt;Box style={{ height: 52, flexDirection: 'row', alignItems: 'center', justifyContent: 'space-between' }}&gt;&#10;    &lt;Text style={{ fontSize: 14, color: '#8B97A8' }}&gt;Demo 实践 · AI 辅助数学解题&lt;/Text&gt;&#10;    &lt;Text style={{ fontSize: 14, color: '#1E4FA8' }}&gt;08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762000" y="428625"/>
            <a:ext cx="7620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971550" y="419100"/>
            <a:ext cx="2381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E3F8C"/>
                </a:solidFill>
                <a:latin typeface="Microsoft YaHei"/>
                <a:ea typeface="Microsoft YaHei"/>
              </a:rPr>
              <a:t>完整证明</a:t>
            </a: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:</a:t>
            </a:r>
            <a:r>
              <a:rPr lang="zh-CN" sz="2250" b="1">
                <a:solidFill>
                  <a:srgbClr val="0E3F8C"/>
                </a:solidFill>
                <a:latin typeface="Microsoft YaHei"/>
                <a:ea typeface="Microsoft YaHei"/>
              </a:rPr>
              <a:t>五步主线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9515475" y="438150"/>
            <a:ext cx="1914525" cy="3048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9686925" y="495300"/>
            <a:ext cx="1571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4FA8"/>
                </a:solidFill>
                <a:latin typeface="Microsoft YaHei"/>
                <a:ea typeface="Microsoft YaHei"/>
              </a:rPr>
              <a:t>核验状态</a:t>
            </a: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:</a:t>
            </a:r>
            <a:r>
              <a:rPr lang="zh-CN" sz="1200">
                <a:solidFill>
                  <a:srgbClr val="1E4FA8"/>
                </a:solidFill>
                <a:latin typeface="Microsoft YaHei"/>
                <a:ea typeface="Microsoft YaHei"/>
              </a:rPr>
              <a:t>逐步核对通过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1533525" y="9334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724025" y="10572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323975" y="1504950"/>
            <a:ext cx="9144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化微分为积分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3695700" y="9334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3886200" y="10572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3409950" y="1504950"/>
            <a:ext cx="1057275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构造受控函数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F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5848350" y="9334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038850" y="10572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524500" y="1504950"/>
            <a:ext cx="11430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应用引理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(ε-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技术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8010525" y="9334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201025" y="10572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7848600" y="1504950"/>
            <a:ext cx="809625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右半轴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f ≡ 0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10163175" y="9334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0353675" y="10572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9877425" y="1504950"/>
            <a:ext cx="10668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反射处理左半轴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762000" y="1933575"/>
            <a:ext cx="6057900" cy="4429125"/>
          </a:xfrm>
          <a:prstGeom prst="roundRect">
            <a:avLst>
              <a:gd name="adj" fmla="val 172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990600" y="3343275"/>
            <a:ext cx="2047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第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 1-2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步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: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把条件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积回去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pic>
        <p:nvPicPr>
          <p:cNvPr id="195" name="" descr="|f(x)| \\le \\int_0^x |f'(t)|\\,dt \\le \\int_0^x |f(t)|\\,dt = F(x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90600" y="3638550"/>
            <a:ext cx="5334000" cy="314325"/>
          </a:xfrm>
          <a:prstGeom prst="rect"/>
          <a:ln/>
        </p:spPr>
      </p:pic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990600" y="4029075"/>
            <a:ext cx="56007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于是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F′(x) = |f(x)| ≤ F(x),F(0) = 0 ——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引理的条件全部凑齐。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990600" y="4514850"/>
            <a:ext cx="2409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第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 3-5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步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: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零点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封冻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整条数轴</a:t>
            </a:r>
            <a:endParaRPr/>
          </a:p>
        </p:txBody>
      </p:sp>
      <p:pic>
        <p:nvPicPr>
          <p:cNvPr id="198" name="" descr="F \\equiv 0 \\;\\Rightarrow\\; |f(x)| = 0 \\;(x \\ge 0);\\quad x \\mapsto -x \\text{ 同理} \\;\\Rightarrow\\; f \\equiv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90600" y="4810125"/>
            <a:ext cx="5334000" cy="142875"/>
          </a:xfrm>
          <a:prstGeom prst="rect"/>
          <a:ln/>
        </p:spPr>
      </p:pic>
      <p:sp>
        <p:nvSpPr>
          <p:cNvPr id="199" name=""/>
          <p:cNvSpPr/>
          <p:nvPr/>
        </p:nvSpPr>
        <p:spPr>
          <a:xfrm rot="0" flipH="0" flipV="0">
            <a:off x="7048500" y="1933575"/>
            <a:ext cx="4381500" cy="4429125"/>
          </a:xfrm>
          <a:prstGeom prst="roundRect">
            <a:avLst>
              <a:gd name="adj" fmla="val 173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315200" y="3038475"/>
            <a:ext cx="3848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核心洞察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315200" y="3419475"/>
            <a:ext cx="384810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零初值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增长率受控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 ⇒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函数恒为零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7315200" y="4019550"/>
            <a:ext cx="38481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315200" y="4181475"/>
            <a:ext cx="38481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350">
                <a:solidFill>
                  <a:srgbClr val="DCE6F5"/>
                </a:solidFill>
                <a:latin typeface="Microsoft YaHei"/>
                <a:ea typeface="Microsoft YaHei"/>
              </a:rPr>
              <a:t>直观地说</a:t>
            </a:r>
            <a:r>
              <a:rPr lang="en-US" sz="1350">
                <a:solidFill>
                  <a:srgbClr val="DCE6F5"/>
                </a:solidFill>
                <a:latin typeface="Microsoft YaHei"/>
                <a:ea typeface="Microsoft YaHei"/>
              </a:rPr>
              <a:t>:f </a:t>
            </a:r>
            <a:r>
              <a:rPr lang="zh-CN" sz="1350">
                <a:solidFill>
                  <a:srgbClr val="DCE6F5"/>
                </a:solidFill>
                <a:latin typeface="Microsoft YaHei"/>
                <a:ea typeface="Microsoft YaHei"/>
              </a:rPr>
              <a:t>想从</a:t>
            </a:r>
            <a:r>
              <a:rPr lang="en-US" sz="1350">
                <a:solidFill>
                  <a:srgbClr val="DCE6F5"/>
                </a:solidFill>
                <a:latin typeface="Microsoft YaHei"/>
                <a:ea typeface="Microsoft YaHei"/>
              </a:rPr>
              <a:t> 0 "</a:t>
            </a:r>
            <a:r>
              <a:rPr lang="zh-CN" sz="1350">
                <a:solidFill>
                  <a:srgbClr val="DCE6F5"/>
                </a:solidFill>
                <a:latin typeface="Microsoft YaHei"/>
                <a:ea typeface="Microsoft YaHei"/>
              </a:rPr>
              <a:t>长</a:t>
            </a:r>
            <a:r>
              <a:rPr lang="en-US" sz="1350">
                <a:solidFill>
                  <a:srgbClr val="DCE6F5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DCE6F5"/>
                </a:solidFill>
                <a:latin typeface="Microsoft YaHei"/>
                <a:ea typeface="Microsoft YaHei"/>
              </a:rPr>
              <a:t>出来</a:t>
            </a:r>
            <a:r>
              <a:rPr lang="en-US" sz="1350">
                <a:solidFill>
                  <a:srgbClr val="DCE6F5"/>
                </a:solidFill>
                <a:latin typeface="Microsoft YaHei"/>
                <a:ea typeface="Microsoft YaHei"/>
              </a:rPr>
              <a:t>,</a:t>
            </a:r>
            <a:r>
              <a:rPr lang="zh-CN" sz="1350">
                <a:solidFill>
                  <a:srgbClr val="DCE6F5"/>
                </a:solidFill>
                <a:latin typeface="Microsoft YaHei"/>
                <a:ea typeface="Microsoft YaHei"/>
              </a:rPr>
              <a:t>必须先有增长</a:t>
            </a:r>
            <a:r>
              <a:rPr lang="en-US" sz="1350">
                <a:solidFill>
                  <a:srgbClr val="DCE6F5"/>
                </a:solidFill>
                <a:latin typeface="Microsoft YaHei"/>
                <a:ea typeface="Microsoft YaHei"/>
              </a:rPr>
              <a:t>,</a:t>
            </a:r>
            <a:r>
              <a:rPr lang="zh-CN" sz="1350">
                <a:solidFill>
                  <a:srgbClr val="DCE6F5"/>
                </a:solidFill>
                <a:latin typeface="Microsoft YaHei"/>
                <a:ea typeface="Microsoft YaHei"/>
              </a:rPr>
              <a:t>而增长速度被自身大小封死——起点是零</a:t>
            </a:r>
            <a:r>
              <a:rPr lang="en-US" sz="1350">
                <a:solidFill>
                  <a:srgbClr val="DCE6F5"/>
                </a:solidFill>
                <a:latin typeface="Microsoft YaHei"/>
                <a:ea typeface="Microsoft YaHei"/>
              </a:rPr>
              <a:t>,</a:t>
            </a:r>
            <a:r>
              <a:rPr lang="zh-CN" sz="1350">
                <a:solidFill>
                  <a:srgbClr val="DCE6F5"/>
                </a:solidFill>
                <a:latin typeface="Microsoft YaHei"/>
                <a:ea typeface="Microsoft YaHei"/>
              </a:rPr>
              <a:t>就永远长不出来。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315200" y="5076825"/>
            <a:ext cx="3848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DB4DD"/>
                </a:solidFill>
                <a:latin typeface="Microsoft YaHei"/>
                <a:ea typeface="Microsoft YaHei"/>
              </a:rPr>
              <a:t>条件缺一不可</a:t>
            </a:r>
            <a:r>
              <a:rPr lang="en-US" sz="1200">
                <a:solidFill>
                  <a:srgbClr val="9DB4DD"/>
                </a:solidFill>
                <a:latin typeface="Microsoft YaHei"/>
                <a:ea typeface="Microsoft YaHei"/>
              </a:rPr>
              <a:t>:</a:t>
            </a:r>
            <a:r>
              <a:rPr lang="zh-CN" sz="1200">
                <a:solidFill>
                  <a:srgbClr val="9DB4DD"/>
                </a:solidFill>
                <a:latin typeface="Microsoft YaHei"/>
                <a:ea typeface="Microsoft YaHei"/>
              </a:rPr>
              <a:t>去掉</a:t>
            </a:r>
            <a:r>
              <a:rPr lang="en-US" sz="1200">
                <a:solidFill>
                  <a:srgbClr val="9DB4DD"/>
                </a:solidFill>
                <a:latin typeface="Microsoft YaHei"/>
                <a:ea typeface="Microsoft YaHei"/>
              </a:rPr>
              <a:t> f(0)=0,</a:t>
            </a:r>
            <a:r>
              <a:rPr lang="zh-CN" sz="1200">
                <a:solidFill>
                  <a:srgbClr val="9DB4DD"/>
                </a:solidFill>
                <a:latin typeface="Microsoft YaHei"/>
                <a:ea typeface="Microsoft YaHei"/>
              </a:rPr>
              <a:t>则</a:t>
            </a:r>
            <a:r>
              <a:rPr lang="en-US" sz="1200">
                <a:solidFill>
                  <a:srgbClr val="9DB4DD"/>
                </a:solidFill>
                <a:latin typeface="Microsoft YaHei"/>
                <a:ea typeface="Microsoft YaHei"/>
              </a:rPr>
              <a:t> f ≡ Ce</a:t>
            </a:r>
            <a:r>
              <a:rPr lang="en-US" sz="1200">
                <a:solidFill>
                  <a:srgbClr val="9DB4DD"/>
                </a:solidFill>
                <a:latin typeface="Microsoft YaHei"/>
                <a:ea typeface="Microsoft YaHei"/>
              </a:rPr>
              <a:t>x</a:t>
            </a:r>
            <a:r>
              <a:rPr lang="en-US" sz="1200">
                <a:solidFill>
                  <a:srgbClr val="9DB4DD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9DB4DD"/>
                </a:solidFill>
                <a:latin typeface="Microsoft YaHei"/>
                <a:ea typeface="Microsoft YaHei"/>
              </a:rPr>
              <a:t>就是反例。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62000" y="653415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Demo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实践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辅助数学解题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1020425" y="65341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08 / 10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07" name="" descr="&lt;Slide style={{ width: '1280px', height: '720px', background: '#FFFFFF', position: 'relative', flexDirection: 'column', padding: '48px 80px 0 80px' }}&gt;&#10;  &lt;Box style={{ flexDirection: 'row', alignItems: 'center', gap: 14, marginBottom: 20 }}&gt;&#10;    &lt;Box style={{ width: 8, height: 34, background: '#1E4FA8' }} /&gt;&#10;    &lt;Text style={{ fontSize: 30, fontWeight: 'bold', color: '#0E3F8C' }}&gt;人工核验与延伸讨论&lt;/Text&gt;&#10;  &lt;/Box&gt;&#10;  &lt;Box style={{ background: '#F7F9FC', border: '1px solid #D6DCE5', borderRadius: 8, padding: '16px 22px', flexDirection: 'row', alignItems: 'center', gap: 20, marginBottom: 18 }}&gt;&#10;    &lt;Text style={{ fontSize: 18, fontWeight: 'bold', color: '#0E3F8C' }}&gt;核验清单&lt;/Text&gt;&#10;    &lt;Box style={{ flex: 1, flexDirection: 'row', gap: 16 }}&gt;&#10;      &lt;Text style={{ fontSize: 17, color: '#1A2230' }}&gt;① 每步依据是否写明&lt;/Text&gt;&#10;      &lt;Text style={{ fontSize: 18, color: '#8B97A8' }}&gt;→&lt;/Text&gt;&#10;      &lt;Text style={{ fontSize: 17, color: '#1A2230' }}&gt;② 是否偷用 f′ 连续&lt;/Text&gt;&#10;      &lt;Text style={{ fontSize: 18, color: '#8B97A8' }}&gt;→&lt;/Text&gt;&#10;      &lt;Text style={{ fontSize: 17, color: '#1A2230' }}&gt;③ 引理的严格化&lt;/Text&gt;&#10;      &lt;Text style={{ fontSize: 18, color: '#8B97A8' }}&gt;→&lt;/Text&gt;&#10;      &lt;Text style={{ fontSize: 17, color: '#1A2230' }}&gt;④ 条件是否都用上&lt;/Text&gt;&#10;    &lt;/Box&gt;&#10;    &lt;Box style={{ background: '#E8EFF8', borderRadius: 14, padding: '4px 14px' }}&gt;&lt;Text style={{ fontSize: 15, color: '#1E4FA8' }}&gt;发现并修复 1 处缺口&lt;/Text&gt;&lt;/Box&gt;&#10;  &lt;/Box&gt;&#10;  &lt;Box style={{ flexDirection: 'row', gap: 24, flex: 1 }}&gt;&#10;    &lt;Box style={{ flex: 1, background: '#FFFFFF', border: '1px solid #D6DCE5', borderTop: '4px solid #1E4FA8', borderRadius: 8, padding: '20px 24px', flexDirection: 'column' }}&gt;&#10;      &lt;Text style={{ fontSize: 22, fontWeight: 'bold', color: '#1A2230' }}&gt;延伸一:条件可以放宽&lt;/Text&gt;&#10;      &lt;Box style={{ marginTop: 14 }}&gt;&#10;        &lt;Math latex=&quot;|f'(x)| \\le C\\,|f(x)|\\;(C&gt;0) \\;\\Rightarrow\\; f \\equiv 0&quot; width={420} color=&quot;#0E3F8C&quot; display={true} /&gt;&#10;      &lt;/Box&gt;&#10;      &lt;Text style={{ fontSize: 18, color: '#4A5568', lineHeight: 1.75, marginTop: 12 }}&gt;&#10;        只要把辅助函数换成 e&lt;sup&gt;−Cx&lt;/sup&gt;F(x),整套证明原封不动。这说明结论不依赖&quot;增长率恰好为 1&quot;,&#10;        只依赖&quot;增长率有界&quot;——Gronwall 不等式的最简形式。&#10;      &lt;/Text&gt;&#10;      &lt;Box style={{ marginTop: 'auto', background: '#F0F5FC', borderRadius: 6, padding: '10px 14px' }}&gt;&#10;        &lt;Text style={{ fontSize: 16, color: '#1E4FA8' }}&gt;我的体会:引理记住&quot;结构&quot;,不记&quot;常数&quot;,才算真懂。&lt;/Text&gt;&#10;      &lt;/Box&gt;&#10;    &lt;/Box&gt;&#10;    &lt;Box style={{ flex: 1, background: '#FFFFFF', border: '1px solid #D6DCE5', borderTop: '4px solid #1E4FA8', borderRadius: 8, padding: '20px 24px', flexDirection: 'column' }}&gt;&#10;      &lt;Text style={{ fontSize: 22, fontWeight: 'bold', color: '#1A2230' }}&gt;延伸二:与解唯一性的联系&lt;/Text&gt;&#10;      &lt;Text style={{ fontSize: 18, color: '#4A5568', lineHeight: 1.75, marginTop: 14 }}&gt;&#10;        本题其实是常微分方程&quot;解对初值唯一性&quot;的特例:对 f′ = g(x, f),若 g 关于 f 满足&#10;        Lipschitz 条件(本题相当于常数 1),则初值问题解唯一。零初值的唯一解就是零函数。&#10;      &lt;/Text&gt;&#10;      &lt;Box style={{ background: '#F0F5FC', borderRadius: 6, padding: '12px 16px', marginTop: 12 }}&gt;&#10;        &lt;Text style={{ fontSize: 17, color: '#0E3F8C', lineHeight: 1.7 }}&gt;零初值 + Lipschitz 控制 ⇒ 零解唯一。竞赛题背后是教科书的标准定理。&lt;/Text&gt;&#10;      &lt;/Box&gt;&#10;      &lt;Box style={{ marginTop: 'auto', border: '1px dashed #D6DCE5', borderRadius: 6, padding: '10px 14px' }}&gt;&#10;        &lt;Text style={{ fontSize: 16, color: '#4A5568' }}&gt;出处:丁同仁、李承治《常微分方程教程》解的存在唯一性一章。&lt;/Text&gt;&#10;      &lt;/Box&gt;&#10;    &lt;/Box&gt;&#10;  &lt;/Box&gt;&#10;  &lt;Box style={{ height: 52, flexDirection: 'row', alignItems: 'center', justifyContent: 'space-between' }}&gt;&#10;    &lt;Text style={{ fontSize: 14, color: '#8B97A8' }}&gt;Demo 实践 · AI 辅助数学解题&lt;/Text&gt;&#10;    &lt;Text style={{ fontSize: 14, color: '#1E4FA8' }}&gt;09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762000" y="466725"/>
            <a:ext cx="7620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971550" y="45720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E3F8C"/>
                </a:solidFill>
                <a:latin typeface="Microsoft YaHei"/>
                <a:ea typeface="Microsoft YaHei"/>
              </a:rPr>
              <a:t>人工核验与延伸讨论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762000" y="990600"/>
            <a:ext cx="10668000" cy="552450"/>
          </a:xfrm>
          <a:prstGeom prst="roundRect">
            <a:avLst>
              <a:gd name="adj" fmla="val 1379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971550" y="11620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核验清单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847850" y="1162050"/>
            <a:ext cx="148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每步依据是否写明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3486150" y="116205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8B97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3810000" y="1162050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②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是否偷用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f′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连续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295900" y="116205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8B97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619750" y="1162050"/>
            <a:ext cx="116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③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引理的严格化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934200" y="116205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8B97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258050" y="1162050"/>
            <a:ext cx="1323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④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条件是否都用上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9648825" y="1143000"/>
            <a:ext cx="1571625" cy="247650"/>
          </a:xfrm>
          <a:prstGeom prst="roundRect">
            <a:avLst>
              <a:gd name="adj" fmla="val 5384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9782175" y="1181100"/>
            <a:ext cx="1304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发现并修复</a:t>
            </a: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 1 </a:t>
            </a: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处缺口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762000" y="1752600"/>
            <a:ext cx="5219700" cy="464820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762000" y="1752600"/>
            <a:ext cx="5219700" cy="4648200"/>
          </a:xfrm>
          <a:custGeom>
            <a:pathLst>
              <a:path w="548" h="488">
                <a:moveTo>
                  <a:pt x="540" y="0"/>
                </a:moveTo>
                <a:cubicBezTo>
                  <a:pt x="544" y="0"/>
                  <a:pt x="547" y="3"/>
                  <a:pt x="548" y="7"/>
                </a:cubicBezTo>
                <a:cubicBezTo>
                  <a:pt x="547" y="5"/>
                  <a:pt x="546" y="4"/>
                  <a:pt x="544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540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990600" y="1943100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延伸一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: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条件可以放宽</a:t>
            </a:r>
            <a:endParaRPr/>
          </a:p>
        </p:txBody>
      </p:sp>
      <p:pic>
        <p:nvPicPr>
          <p:cNvPr id="225" name="" descr="|f'(x)| \\le C\\,|f(x)|\\;(C&gt;0) \\;\\Rightarrow\\; f \\equiv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90600" y="2333625"/>
            <a:ext cx="4000500" cy="209550"/>
          </a:xfrm>
          <a:prstGeom prst="rect"/>
          <a:ln/>
        </p:spPr>
      </p:pic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990600" y="2657475"/>
            <a:ext cx="4762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只要把辅助函数换成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e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−Cx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F(x),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整套证明原封不动。这说明结论不依赖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增长率恰好为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1",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只依赖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增长率有界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"——Gronwall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不等式的最简形式。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990600" y="5791200"/>
            <a:ext cx="4762500" cy="381000"/>
          </a:xfrm>
          <a:prstGeom prst="roundRect">
            <a:avLst>
              <a:gd name="adj" fmla="val 1500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23950" y="5886450"/>
            <a:ext cx="4495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4FA8"/>
                </a:solidFill>
                <a:latin typeface="Microsoft YaHei"/>
                <a:ea typeface="Microsoft YaHei"/>
              </a:rPr>
              <a:t>我的体会</a:t>
            </a: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:</a:t>
            </a:r>
            <a:r>
              <a:rPr lang="zh-CN" sz="1200">
                <a:solidFill>
                  <a:srgbClr val="1E4FA8"/>
                </a:solidFill>
                <a:latin typeface="Microsoft YaHei"/>
                <a:ea typeface="Microsoft YaHei"/>
              </a:rPr>
              <a:t>引理记住</a:t>
            </a: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E4FA8"/>
                </a:solidFill>
                <a:latin typeface="Microsoft YaHei"/>
                <a:ea typeface="Microsoft YaHei"/>
              </a:rPr>
              <a:t>结构</a:t>
            </a: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",</a:t>
            </a:r>
            <a:r>
              <a:rPr lang="zh-CN" sz="1200">
                <a:solidFill>
                  <a:srgbClr val="1E4FA8"/>
                </a:solidFill>
                <a:latin typeface="Microsoft YaHei"/>
                <a:ea typeface="Microsoft YaHei"/>
              </a:rPr>
              <a:t>不记</a:t>
            </a: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E4FA8"/>
                </a:solidFill>
                <a:latin typeface="Microsoft YaHei"/>
                <a:ea typeface="Microsoft YaHei"/>
              </a:rPr>
              <a:t>常数</a:t>
            </a: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",</a:t>
            </a:r>
            <a:r>
              <a:rPr lang="zh-CN" sz="1200">
                <a:solidFill>
                  <a:srgbClr val="1E4FA8"/>
                </a:solidFill>
                <a:latin typeface="Microsoft YaHei"/>
                <a:ea typeface="Microsoft YaHei"/>
              </a:rPr>
              <a:t>才算真懂。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210300" y="1752600"/>
            <a:ext cx="5219700" cy="464820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0" name=""/>
          <p:cNvSpPr/>
          <p:nvPr/>
        </p:nvSpPr>
        <p:spPr>
          <a:xfrm rot="0" flipH="0" flipV="0">
            <a:off x="6210300" y="1752600"/>
            <a:ext cx="5219700" cy="4648200"/>
          </a:xfrm>
          <a:custGeom>
            <a:pathLst>
              <a:path w="548" h="488">
                <a:moveTo>
                  <a:pt x="540" y="0"/>
                </a:moveTo>
                <a:cubicBezTo>
                  <a:pt x="544" y="0"/>
                  <a:pt x="547" y="3"/>
                  <a:pt x="548" y="7"/>
                </a:cubicBezTo>
                <a:cubicBezTo>
                  <a:pt x="547" y="5"/>
                  <a:pt x="546" y="4"/>
                  <a:pt x="544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540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438900" y="1943100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延伸二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: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与解唯一性的联系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438900" y="2333625"/>
            <a:ext cx="4762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本题其实是常微分方程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解对初值唯一性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的特例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: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对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f′ = g(x, f),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若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g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关于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f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满足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Lipschitz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条件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(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本题相当于常数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1),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则初值问题解唯一。零初值的唯一解就是零函数。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438900" y="3533775"/>
            <a:ext cx="4762500" cy="895350"/>
          </a:xfrm>
          <a:prstGeom prst="roundRect">
            <a:avLst>
              <a:gd name="adj" fmla="val 638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591300" y="3648075"/>
            <a:ext cx="44577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零初值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> + Lipschitz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控制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> ⇒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零解唯一。竞赛题背后是教科书的标准定理。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438900" y="5791200"/>
            <a:ext cx="4762500" cy="381000"/>
          </a:xfrm>
          <a:prstGeom prst="roundRect">
            <a:avLst>
              <a:gd name="adj" fmla="val 15000"/>
            </a:avLst>
          </a:prstGeom>
          <a:ln w="12700">
            <a:solidFill>
              <a:srgbClr val="D6DCE5"/>
            </a:solidFill>
            <a:prstDash val="dash"/>
          </a:ln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572250" y="5886450"/>
            <a:ext cx="4495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出处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: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丁同仁、李承治《常微分方程教程》解的存在唯一性一章。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62000" y="653415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Demo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实践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辅助数学解题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1020425" y="65341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09 / 10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20" name="" descr="&lt;Slide style={{ width: '1280px', height: '720px', background: '#0E3F8C', position: 'relative', flexDirection: 'column', alignItems: 'center', justifyContent: 'center', padding: '60px 120px' }}&gt;&#10;  &lt;Box style={{ position: 'absolute', top: 0, left: 0, width: '1280px', height: '8px', background: '#1E4FA8' }} /&gt;&#10;  &lt;Text style={{ fontSize: 20, color: '#9DB4DD', letterSpacing: 4 }}&gt;总结与收获&lt;/Text&gt;&#10;  &lt;Text style={{ fontSize: 40, fontWeight: 'bold', color: '#FFFFFF', lineHeight: 1.6, textAlign: 'center', marginTop: 24 }}&gt;&#10;    AI 给思路,人把严格性的关卡&#10;  &lt;/Text&gt;&#10;  &lt;Box style={{ width: 80, height: 4, background: '#FFFFFF', marginTop: 28, marginBottom: 36 }} /&gt;&#10;  &lt;Box style={{ flexDirection: 'row', gap: 28, width: '100%' }}&gt;&#10;    &lt;Box style={{ flex: 1, background: 'rgba(255,255,255,0.08)', border: '1px solid rgba(255,255,255,0.25)', borderRadius: 8, padding: '20px 22px' }}&gt;&#10;      &lt;Text style={{ fontSize: 19, fontWeight: 'bold', color: '#FFFFFF' }}&gt;关于方法&lt;/Text&gt;&#10;      &lt;Text style={{ fontSize: 17, color: '#DCE6F5', lineHeight: 1.7, marginTop: 10 }}&gt;结构化提示词决定了解答质量:要求写依据、单列引理,输出才可核验。&lt;/Text&gt;&#10;    &lt;/Box&gt;&#10;    &lt;Box style={{ flex: 1, background: 'rgba(255,255,255,0.08)', border: '1px solid rgba(255,255,255,0.25)', borderRadius: 8, padding: '20px 22px' }}&gt;&#10;      &lt;Text style={{ fontSize: 19, fontWeight: 'bold', color: '#FFFFFF' }}&gt;关于这道题&lt;/Text&gt;&#10;      &lt;Text style={{ fontSize: 17, color: '#DCE6F5', lineHeight: 1.7, marginTop: 10 }}&gt;微分不等式 → 积分不等式 → 比较原理,这条路线在后续课程里会反复出现。&lt;/Text&gt;&#10;    &lt;/Box&gt;&#10;    &lt;Box style={{ flex: 1, background: 'rgba(255,255,255,0.08)', border: '1px solid rgba(255,255,255,0.25)', borderRadius: 8, padding: '20px 22px' }}&gt;&#10;      &lt;Text style={{ fontSize: 19, fontWeight: 'bold', color: '#FFFFFF' }}&gt;关于分工&lt;/Text&gt;&#10;      &lt;Text style={{ fontSize: 17, color: '#DCE6F5', lineHeight: 1.7, marginTop: 10 }}&gt;dsh 很快指出了正确方向,但 F ≥ 0 那一步要靠人补严——核验环节不可省。&lt;/Text&gt;&#10;    &lt;/Box&gt;&#10;  &lt;/Box&gt;&#10;  &lt;Text style={{ fontSize: 18, color: '#9DB4DD', marginTop: 44 }}&gt;谢谢观看 · 欢迎提问&lt;/Text&gt;&#10;  &lt;Box style={{ position: 'absolute', bottom: 24, flexDirection: 'row', alignItems: 'center', justifyContent: 'space-between', width: 1100 }}&gt;&#10;    &lt;Text style={{ fontSize: 14, color: '#7C93BF' }}&gt;Demo 实践 · AI 辅助数学解题&lt;/Text&gt;&#10;    &lt;Text style={{ fontSize: 14, color: '#DCE6F5' }}&gt;10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524500" y="135255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300">
                <a:solidFill>
                  <a:srgbClr val="9DB4DD"/>
                </a:solidFill>
                <a:latin typeface="Microsoft YaHei"/>
                <a:ea typeface="Microsoft YaHei"/>
              </a:rPr>
              <a:t>总结与收获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3705225" y="1809750"/>
            <a:ext cx="4791075" cy="7334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给思路</a:t>
            </a: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>,</a:t>
            </a: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人把严格性的关卡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5715000" y="2809875"/>
            <a:ext cx="762000" cy="38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1143000" y="3190875"/>
            <a:ext cx="3124200" cy="1695450"/>
          </a:xfrm>
          <a:prstGeom prst="roundRect">
            <a:avLst>
              <a:gd name="adj" fmla="val 449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352550" y="3381375"/>
            <a:ext cx="2705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关于方法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352550" y="3695700"/>
            <a:ext cx="27051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DCE6F5"/>
                </a:solidFill>
                <a:latin typeface="Microsoft YaHei"/>
                <a:ea typeface="Microsoft YaHei"/>
              </a:rPr>
              <a:t>结构化提示词决定了解答质量</a:t>
            </a:r>
            <a:r>
              <a:rPr lang="en-US" sz="1275">
                <a:solidFill>
                  <a:srgbClr val="DCE6F5"/>
                </a:solidFill>
                <a:latin typeface="Microsoft YaHei"/>
                <a:ea typeface="Microsoft YaHei"/>
              </a:rPr>
              <a:t>:</a:t>
            </a:r>
            <a:r>
              <a:rPr lang="zh-CN" sz="1275">
                <a:solidFill>
                  <a:srgbClr val="DCE6F5"/>
                </a:solidFill>
                <a:latin typeface="Microsoft YaHei"/>
                <a:ea typeface="Microsoft YaHei"/>
              </a:rPr>
              <a:t>要求写依据、单列引理</a:t>
            </a:r>
            <a:r>
              <a:rPr lang="en-US" sz="1275">
                <a:solidFill>
                  <a:srgbClr val="DCE6F5"/>
                </a:solidFill>
                <a:latin typeface="Microsoft YaHei"/>
                <a:ea typeface="Microsoft YaHei"/>
              </a:rPr>
              <a:t>,</a:t>
            </a:r>
            <a:r>
              <a:rPr lang="zh-CN" sz="1275">
                <a:solidFill>
                  <a:srgbClr val="DCE6F5"/>
                </a:solidFill>
                <a:latin typeface="Microsoft YaHei"/>
                <a:ea typeface="Microsoft YaHei"/>
              </a:rPr>
              <a:t>输出才可核验。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4533900" y="3190875"/>
            <a:ext cx="3124200" cy="1695450"/>
          </a:xfrm>
          <a:prstGeom prst="roundRect">
            <a:avLst>
              <a:gd name="adj" fmla="val 449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743450" y="3381375"/>
            <a:ext cx="2705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关于这道题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743450" y="3695700"/>
            <a:ext cx="27051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DCE6F5"/>
                </a:solidFill>
                <a:latin typeface="Microsoft YaHei"/>
                <a:ea typeface="Microsoft YaHei"/>
              </a:rPr>
              <a:t>微分不等式</a:t>
            </a:r>
            <a:r>
              <a:rPr lang="en-US" sz="1275">
                <a:solidFill>
                  <a:srgbClr val="DCE6F5"/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DCE6F5"/>
                </a:solidFill>
                <a:latin typeface="Microsoft YaHei"/>
                <a:ea typeface="Microsoft YaHei"/>
              </a:rPr>
              <a:t>积分不等式</a:t>
            </a:r>
            <a:r>
              <a:rPr lang="en-US" sz="1275">
                <a:solidFill>
                  <a:srgbClr val="DCE6F5"/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DCE6F5"/>
                </a:solidFill>
                <a:latin typeface="Microsoft YaHei"/>
                <a:ea typeface="Microsoft YaHei"/>
              </a:rPr>
              <a:t>比较原理</a:t>
            </a:r>
            <a:r>
              <a:rPr lang="en-US" sz="1275">
                <a:solidFill>
                  <a:srgbClr val="DCE6F5"/>
                </a:solidFill>
                <a:latin typeface="Microsoft YaHei"/>
                <a:ea typeface="Microsoft YaHei"/>
              </a:rPr>
              <a:t>,</a:t>
            </a:r>
            <a:r>
              <a:rPr lang="zh-CN" sz="1275">
                <a:solidFill>
                  <a:srgbClr val="DCE6F5"/>
                </a:solidFill>
                <a:latin typeface="Microsoft YaHei"/>
                <a:ea typeface="Microsoft YaHei"/>
              </a:rPr>
              <a:t>这条路线在后续课程里会反复出现。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7924800" y="3190875"/>
            <a:ext cx="3124200" cy="1695450"/>
          </a:xfrm>
          <a:prstGeom prst="roundRect">
            <a:avLst>
              <a:gd name="adj" fmla="val 449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134350" y="3381375"/>
            <a:ext cx="2705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关于分工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134350" y="3695700"/>
            <a:ext cx="27051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75">
                <a:solidFill>
                  <a:srgbClr val="DCE6F5"/>
                </a:solidFill>
                <a:latin typeface="Microsoft YaHei"/>
                <a:ea typeface="Microsoft YaHei"/>
              </a:rPr>
              <a:t>dsh </a:t>
            </a:r>
            <a:r>
              <a:rPr lang="zh-CN" sz="1275">
                <a:solidFill>
                  <a:srgbClr val="DCE6F5"/>
                </a:solidFill>
                <a:latin typeface="Microsoft YaHei"/>
                <a:ea typeface="Microsoft YaHei"/>
              </a:rPr>
              <a:t>很快指出了正确方向</a:t>
            </a:r>
            <a:r>
              <a:rPr lang="en-US" sz="1275">
                <a:solidFill>
                  <a:srgbClr val="DCE6F5"/>
                </a:solidFill>
                <a:latin typeface="Microsoft YaHei"/>
                <a:ea typeface="Microsoft YaHei"/>
              </a:rPr>
              <a:t>,</a:t>
            </a:r>
            <a:r>
              <a:rPr lang="zh-CN" sz="1275">
                <a:solidFill>
                  <a:srgbClr val="DCE6F5"/>
                </a:solidFill>
                <a:latin typeface="Microsoft YaHei"/>
                <a:ea typeface="Microsoft YaHei"/>
              </a:rPr>
              <a:t>但</a:t>
            </a:r>
            <a:r>
              <a:rPr lang="en-US" sz="1275">
                <a:solidFill>
                  <a:srgbClr val="DCE6F5"/>
                </a:solidFill>
                <a:latin typeface="Microsoft YaHei"/>
                <a:ea typeface="Microsoft YaHei"/>
              </a:rPr>
              <a:t> F ≥ 0 </a:t>
            </a:r>
            <a:r>
              <a:rPr lang="zh-CN" sz="1275">
                <a:solidFill>
                  <a:srgbClr val="DCE6F5"/>
                </a:solidFill>
                <a:latin typeface="Microsoft YaHei"/>
                <a:ea typeface="Microsoft YaHei"/>
              </a:rPr>
              <a:t>那一步要靠人补严——核验环节不可省。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334000" y="5305425"/>
            <a:ext cx="152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9DB4DD"/>
                </a:solidFill>
                <a:latin typeface="Microsoft YaHei"/>
                <a:ea typeface="Microsoft YaHei"/>
              </a:rPr>
              <a:t>谢谢观看</a:t>
            </a:r>
            <a:r>
              <a:rPr lang="en-US" sz="1350">
                <a:solidFill>
                  <a:srgbClr val="9DB4DD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9DB4DD"/>
                </a:solidFill>
                <a:latin typeface="Microsoft YaHei"/>
                <a:ea typeface="Microsoft YaHei"/>
              </a:rPr>
              <a:t>欢迎提问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57250" y="64674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93BF"/>
                </a:solidFill>
                <a:latin typeface="Microsoft YaHei"/>
                <a:ea typeface="Microsoft YaHei"/>
              </a:rPr>
              <a:t>Demo </a:t>
            </a:r>
            <a:r>
              <a:rPr lang="zh-CN" sz="1050">
                <a:solidFill>
                  <a:srgbClr val="7C93BF"/>
                </a:solidFill>
                <a:latin typeface="Microsoft YaHei"/>
                <a:ea typeface="Microsoft YaHei"/>
              </a:rPr>
              <a:t>实践</a:t>
            </a:r>
            <a:r>
              <a:rPr lang="en-US" sz="1050">
                <a:solidFill>
                  <a:srgbClr val="7C93BF"/>
                </a:solidFill>
                <a:latin typeface="Microsoft YaHei"/>
                <a:ea typeface="Microsoft YaHei"/>
              </a:rPr>
              <a:t> · AI </a:t>
            </a:r>
            <a:r>
              <a:rPr lang="zh-CN" sz="1050">
                <a:solidFill>
                  <a:srgbClr val="7C93BF"/>
                </a:solidFill>
                <a:latin typeface="Microsoft YaHei"/>
                <a:ea typeface="Microsoft YaHei"/>
              </a:rPr>
              <a:t>辅助数学解题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0925175" y="64674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CE6F5"/>
                </a:solidFill>
                <a:latin typeface="Microsoft YaHei"/>
                <a:ea typeface="Microsoft YaHei"/>
              </a:rPr>
              <a:t>10 / 10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="http://purl.org/dc/elements/1.1/" xmlns:dcterms="http://purl.org/dc/terms/" xmlns:cp="http://schemas.openxmlformats.org/package/2006/metadata/core-properties">
  <dcterms:created xsi:type="dcterms:W3CDTF">2026-10-18T00:20:44Z</dcterms:created>
  <dcterms:modified xsi:type="dcterms:W3CDTF">2026-10-18T00:20:44Z</dcterms:modified>
</cp:coreProperties>
</file>