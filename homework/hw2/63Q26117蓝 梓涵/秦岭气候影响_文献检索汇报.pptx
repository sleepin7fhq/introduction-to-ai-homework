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63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03704"/>
            <a:ext cx="12191695" cy="41148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274320" y="2240280"/>
            <a:ext cx="457200" cy="1234440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2240280"/>
            <a:ext cx="457200" cy="669174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457200" cy="810490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2240280"/>
            <a:ext cx="457200" cy="1093123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37360" y="2240280"/>
            <a:ext cx="457200" cy="527858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80" y="2240280"/>
            <a:ext cx="457200" cy="951807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2240280"/>
            <a:ext cx="457200" cy="951807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2240280"/>
            <a:ext cx="457200" cy="527858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40" y="2240280"/>
            <a:ext cx="457200" cy="1093123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2240280"/>
            <a:ext cx="457200" cy="810490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2240280"/>
            <a:ext cx="457200" cy="669174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57800" y="2240280"/>
            <a:ext cx="457200" cy="1234440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2240280"/>
            <a:ext cx="457200" cy="669174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240280"/>
            <a:ext cx="457200" cy="810490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2240280"/>
            <a:ext cx="457200" cy="1093123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80" y="2240280"/>
            <a:ext cx="457200" cy="527858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2240280"/>
            <a:ext cx="457200" cy="951807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2240280"/>
            <a:ext cx="457200" cy="951807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0" y="2240280"/>
            <a:ext cx="457200" cy="527858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2240280"/>
            <a:ext cx="457200" cy="1093123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2240280"/>
            <a:ext cx="457200" cy="810490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87000" y="2240280"/>
            <a:ext cx="457200" cy="669174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0" y="2240280"/>
            <a:ext cx="457200" cy="1234440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292840" y="2240280"/>
            <a:ext cx="457200" cy="669174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795760" y="2240280"/>
            <a:ext cx="457200" cy="810490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298680" y="2240280"/>
            <a:ext cx="457200" cy="1093123"/>
          </a:xfrm>
          <a:prstGeom prst="rect">
            <a:avLst/>
          </a:prstGeom>
          <a:solidFill>
            <a:srgbClr val="1D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2203704"/>
            <a:ext cx="12191695" cy="2743200"/>
          </a:xfrm>
          <a:prstGeom prst="rect">
            <a:avLst/>
          </a:prstGeom>
          <a:solidFill>
            <a:srgbClr val="10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5836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8FD4B8"/>
                </a:solidFill>
                <a:latin typeface="微软雅黑" panose="020B0503020204020204" charset="-122"/>
              </a:rPr>
              <a:t>文献检索汇报 ｜ 科研检索智能体（Research Agent）</a:t>
            </a:r>
            <a:endParaRPr sz="1300" b="1" i="0">
              <a:solidFill>
                <a:srgbClr val="8FD4B8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微软雅黑" panose="020B0503020204020204" charset="-122"/>
              </a:rPr>
              <a:t>秦岭如何影响南北气候？</a:t>
            </a:r>
            <a:endParaRPr sz="40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3063240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 i="0">
                <a:solidFill>
                  <a:srgbClr val="CFE6E0"/>
                </a:solidFill>
                <a:latin typeface="微软雅黑" panose="020B0503020204020204" charset="-122"/>
              </a:rPr>
              <a:t>近几十年气候变化背景下，秦岭南北两侧的气候变化响应</a:t>
            </a:r>
            <a:endParaRPr sz="2200" b="0" i="0">
              <a:solidFill>
                <a:srgbClr val="CFE6E0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22960" y="4526280"/>
            <a:ext cx="2606040" cy="960120"/>
          </a:xfrm>
          <a:prstGeom prst="rect">
            <a:avLst/>
          </a:prstGeom>
          <a:solidFill>
            <a:srgbClr val="173B37"/>
          </a:solidFill>
          <a:ln w="12700">
            <a:solidFill>
              <a:srgbClr val="2C5B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817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86C6AE"/>
                </a:solidFill>
                <a:latin typeface="微软雅黑" panose="020B0503020204020204" charset="-122"/>
              </a:rPr>
              <a:t>检索时间范围</a:t>
            </a:r>
            <a:endParaRPr sz="1100" b="1" i="0">
              <a:solidFill>
                <a:srgbClr val="86C6AE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24128" y="49560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</a:rPr>
              <a:t>2024-01-01 至今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657600" y="4526280"/>
            <a:ext cx="2606040" cy="960120"/>
          </a:xfrm>
          <a:prstGeom prst="rect">
            <a:avLst/>
          </a:prstGeom>
          <a:solidFill>
            <a:srgbClr val="173B37"/>
          </a:solidFill>
          <a:ln w="12700">
            <a:solidFill>
              <a:srgbClr val="2C5B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8768" y="46817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86C6AE"/>
                </a:solidFill>
                <a:latin typeface="微软雅黑" panose="020B0503020204020204" charset="-122"/>
              </a:rPr>
              <a:t>候选文献</a:t>
            </a:r>
            <a:endParaRPr sz="1100" b="1" i="0">
              <a:solidFill>
                <a:srgbClr val="86C6AE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858768" y="49560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</a:rPr>
              <a:t>648 篇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492240" y="4526280"/>
            <a:ext cx="2606040" cy="960120"/>
          </a:xfrm>
          <a:prstGeom prst="rect">
            <a:avLst/>
          </a:prstGeom>
          <a:solidFill>
            <a:srgbClr val="173B37"/>
          </a:solidFill>
          <a:ln w="12700">
            <a:solidFill>
              <a:srgbClr val="2C5B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3407" y="46817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86C6AE"/>
                </a:solidFill>
                <a:latin typeface="微软雅黑" panose="020B0503020204020204" charset="-122"/>
              </a:rPr>
              <a:t>最终保留</a:t>
            </a:r>
            <a:endParaRPr sz="1100" b="1" i="0">
              <a:solidFill>
                <a:srgbClr val="86C6AE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693407" y="49560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</a:rPr>
              <a:t>24 篇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326880" y="4526280"/>
            <a:ext cx="2606040" cy="960120"/>
          </a:xfrm>
          <a:prstGeom prst="rect">
            <a:avLst/>
          </a:prstGeom>
          <a:solidFill>
            <a:srgbClr val="173B37"/>
          </a:solidFill>
          <a:ln w="12700">
            <a:solidFill>
              <a:srgbClr val="2C5B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28048" y="46817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86C6AE"/>
                </a:solidFill>
                <a:latin typeface="微软雅黑" panose="020B0503020204020204" charset="-122"/>
              </a:rPr>
              <a:t>数据来源</a:t>
            </a:r>
            <a:endParaRPr sz="1100" b="1" i="0">
              <a:solidFill>
                <a:srgbClr val="86C6AE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528048" y="49560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</a:rPr>
              <a:t>OpenAlex + Crossref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22960" y="59436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7FA89E"/>
                </a:solidFill>
                <a:latin typeface="微软雅黑" panose="020B0503020204020204" charset="-122"/>
              </a:rPr>
              <a:t>说明：本页为文献检索结果的科普化汇报，不含全文下载与文献综述；数据经 OpenAlex 与 Crossref 双源核验。</a:t>
            </a:r>
            <a:endParaRPr sz="1150" b="0" i="0">
              <a:solidFill>
                <a:srgbClr val="7FA89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F6F54"/>
                </a:solidFill>
                <a:latin typeface="微软雅黑" panose="020B0503020204020204" charset="-122"/>
              </a:rPr>
              <a:t>研究背景</a:t>
            </a:r>
            <a:endParaRPr sz="125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为什么秦岭是中国气候的“分界线”？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5A6B7C"/>
                </a:solidFill>
                <a:latin typeface="微软雅黑" panose="020B0503020204020204" charset="-122"/>
              </a:rPr>
              <a:t>秦岭—淮河一线是中国公认的南北地理分界。秦岭像一道横亘东西的“墙”，改变了水汽与热量的南北输送。</a:t>
            </a:r>
            <a:endParaRPr sz="15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2212848"/>
            <a:ext cx="3529584" cy="306324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3529584" cy="68580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3230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C5B8F"/>
                </a:solidFill>
                <a:latin typeface="微软雅黑" panose="020B0503020204020204" charset="-122"/>
              </a:rPr>
              <a:t>南侧 · 湿润</a:t>
            </a:r>
            <a:endParaRPr sz="170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907792"/>
            <a:ext cx="3035808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>
                <a:solidFill>
                  <a:srgbClr val="1C5B8F"/>
                </a:solidFill>
                <a:latin typeface="微软雅黑" panose="020B0503020204020204" charset="-122"/>
              </a:rPr>
              <a:t>▍ </a:t>
            </a:r>
            <a:r>
              <a:rPr sz="1350" b="0">
                <a:solidFill>
                  <a:srgbClr val="1B2A3A"/>
                </a:solidFill>
                <a:latin typeface="微软雅黑" panose="020B0503020204020204" charset="-122"/>
              </a:rPr>
              <a:t>属北亚热带，气候湿润</a:t>
            </a:r>
            <a:endParaRPr sz="135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>
                <a:solidFill>
                  <a:srgbClr val="1C5B8F"/>
                </a:solidFill>
                <a:latin typeface="微软雅黑" panose="020B0503020204020204" charset="-122"/>
              </a:rPr>
              <a:t>▍ </a:t>
            </a:r>
            <a:r>
              <a:rPr sz="1350" b="0">
                <a:solidFill>
                  <a:srgbClr val="1B2A3A"/>
                </a:solidFill>
                <a:latin typeface="微软雅黑" panose="020B0503020204020204" charset="-122"/>
              </a:rPr>
              <a:t>年降水量大，水热条件好</a:t>
            </a:r>
            <a:endParaRPr sz="135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>
                <a:solidFill>
                  <a:srgbClr val="1C5B8F"/>
                </a:solidFill>
                <a:latin typeface="微软雅黑" panose="020B0503020204020204" charset="-122"/>
              </a:rPr>
              <a:t>▍ </a:t>
            </a:r>
            <a:r>
              <a:rPr sz="1350" b="0">
                <a:solidFill>
                  <a:srgbClr val="1B2A3A"/>
                </a:solidFill>
                <a:latin typeface="微软雅黑" panose="020B0503020204020204" charset="-122"/>
              </a:rPr>
              <a:t>植被以常绿/落叶阔叶林为主</a:t>
            </a:r>
            <a:endParaRPr sz="135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>
                <a:solidFill>
                  <a:srgbClr val="1C5B8F"/>
                </a:solidFill>
                <a:latin typeface="微软雅黑" panose="020B0503020204020204" charset="-122"/>
              </a:rPr>
              <a:t>▍ </a:t>
            </a:r>
            <a:r>
              <a:rPr sz="1350" b="0">
                <a:solidFill>
                  <a:srgbClr val="1B2A3A"/>
                </a:solidFill>
                <a:latin typeface="微软雅黑" panose="020B0503020204020204" charset="-122"/>
              </a:rPr>
              <a:t>是长江流域重要水源涵养区</a:t>
            </a:r>
            <a:endParaRPr sz="1350" b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34256" y="2212848"/>
            <a:ext cx="3529584" cy="306324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2212848"/>
            <a:ext cx="3529584" cy="68580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43230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F6F54"/>
                </a:solidFill>
                <a:latin typeface="微软雅黑" panose="020B0503020204020204" charset="-122"/>
              </a:rPr>
              <a:t>山体 · 屏障</a:t>
            </a:r>
            <a:endParaRPr sz="17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0288" y="2907792"/>
            <a:ext cx="3035808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>
                <a:solidFill>
                  <a:srgbClr val="1F6F54"/>
                </a:solidFill>
                <a:latin typeface="微软雅黑" panose="020B0503020204020204" charset="-122"/>
              </a:rPr>
              <a:t>▍ </a:t>
            </a:r>
            <a:r>
              <a:rPr sz="1350" b="0">
                <a:solidFill>
                  <a:srgbClr val="1B2A3A"/>
                </a:solidFill>
                <a:latin typeface="微软雅黑" panose="020B0503020204020204" charset="-122"/>
              </a:rPr>
              <a:t>东西走向，海拔 2000–3700 m</a:t>
            </a:r>
            <a:endParaRPr sz="135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>
                <a:solidFill>
                  <a:srgbClr val="1F6F54"/>
                </a:solidFill>
                <a:latin typeface="微软雅黑" panose="020B0503020204020204" charset="-122"/>
              </a:rPr>
              <a:t>▍ </a:t>
            </a:r>
            <a:r>
              <a:rPr sz="1350" b="0">
                <a:solidFill>
                  <a:srgbClr val="1B2A3A"/>
                </a:solidFill>
                <a:latin typeface="微软雅黑" panose="020B0503020204020204" charset="-122"/>
              </a:rPr>
              <a:t>拦截东南季风北上的水汽</a:t>
            </a:r>
            <a:endParaRPr sz="135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>
                <a:solidFill>
                  <a:srgbClr val="1F6F54"/>
                </a:solidFill>
                <a:latin typeface="微软雅黑" panose="020B0503020204020204" charset="-122"/>
              </a:rPr>
              <a:t>▍ </a:t>
            </a:r>
            <a:r>
              <a:rPr sz="1350" b="0">
                <a:solidFill>
                  <a:srgbClr val="1B2A3A"/>
                </a:solidFill>
                <a:latin typeface="微软雅黑" panose="020B0503020204020204" charset="-122"/>
              </a:rPr>
              <a:t>迎风坡抬升致雨，背风坡偏干</a:t>
            </a:r>
            <a:endParaRPr sz="135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>
                <a:solidFill>
                  <a:srgbClr val="1F6F54"/>
                </a:solidFill>
                <a:latin typeface="微软雅黑" panose="020B0503020204020204" charset="-122"/>
              </a:rPr>
              <a:t>▍ </a:t>
            </a:r>
            <a:r>
              <a:rPr sz="1350" b="0">
                <a:solidFill>
                  <a:srgbClr val="1B2A3A"/>
                </a:solidFill>
                <a:latin typeface="微软雅黑" panose="020B0503020204020204" charset="-122"/>
              </a:rPr>
              <a:t>形成气温、降水的垂直梯度</a:t>
            </a:r>
            <a:endParaRPr sz="1350" b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01583" y="2212848"/>
            <a:ext cx="3529584" cy="306324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2212848"/>
            <a:ext cx="3529584" cy="68580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5" y="243230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B56A14"/>
                </a:solidFill>
                <a:latin typeface="微软雅黑" panose="020B0503020204020204" charset="-122"/>
              </a:rPr>
              <a:t>北侧 · 偏干</a:t>
            </a:r>
            <a:endParaRPr sz="170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57615" y="2907792"/>
            <a:ext cx="3035808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>
                <a:solidFill>
                  <a:srgbClr val="B56A14"/>
                </a:solidFill>
                <a:latin typeface="微软雅黑" panose="020B0503020204020204" charset="-122"/>
              </a:rPr>
              <a:t>▍ </a:t>
            </a:r>
            <a:r>
              <a:rPr sz="1350" b="0">
                <a:solidFill>
                  <a:srgbClr val="1B2A3A"/>
                </a:solidFill>
                <a:latin typeface="微软雅黑" panose="020B0503020204020204" charset="-122"/>
              </a:rPr>
              <a:t>属暖温带半湿润/半干旱</a:t>
            </a:r>
            <a:endParaRPr sz="135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>
                <a:solidFill>
                  <a:srgbClr val="B56A14"/>
                </a:solidFill>
                <a:latin typeface="微软雅黑" panose="020B0503020204020204" charset="-122"/>
              </a:rPr>
              <a:t>▍ </a:t>
            </a:r>
            <a:r>
              <a:rPr sz="1350" b="0">
                <a:solidFill>
                  <a:srgbClr val="1B2A3A"/>
                </a:solidFill>
                <a:latin typeface="微软雅黑" panose="020B0503020204020204" charset="-122"/>
              </a:rPr>
              <a:t>降水明显少于南侧</a:t>
            </a:r>
            <a:endParaRPr sz="135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>
                <a:solidFill>
                  <a:srgbClr val="B56A14"/>
                </a:solidFill>
                <a:latin typeface="微软雅黑" panose="020B0503020204020204" charset="-122"/>
              </a:rPr>
              <a:t>▍ </a:t>
            </a:r>
            <a:r>
              <a:rPr sz="1350" b="0">
                <a:solidFill>
                  <a:srgbClr val="1B2A3A"/>
                </a:solidFill>
                <a:latin typeface="微软雅黑" panose="020B0503020204020204" charset="-122"/>
              </a:rPr>
              <a:t>黄土高原与关中平原区</a:t>
            </a:r>
            <a:endParaRPr sz="135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>
                <a:solidFill>
                  <a:srgbClr val="B56A14"/>
                </a:solidFill>
                <a:latin typeface="微软雅黑" panose="020B0503020204020204" charset="-122"/>
              </a:rPr>
              <a:t>▍ </a:t>
            </a:r>
            <a:r>
              <a:rPr sz="1350" b="0">
                <a:solidFill>
                  <a:srgbClr val="1B2A3A"/>
                </a:solidFill>
                <a:latin typeface="微软雅黑" panose="020B0503020204020204" charset="-122"/>
              </a:rPr>
              <a:t>对干旱与极端降水更敏感</a:t>
            </a:r>
            <a:endParaRPr sz="1350" b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" y="5440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B2A3A"/>
                </a:solidFill>
                <a:latin typeface="微软雅黑" panose="020B0503020204020204" charset="-122"/>
              </a:rPr>
              <a:t>关键点：</a:t>
            </a:r>
            <a:r>
              <a:rPr sz="1400" b="0" i="0">
                <a:solidFill>
                  <a:srgbClr val="1B2A3A"/>
                </a:solidFill>
                <a:latin typeface="微软雅黑" panose="020B0503020204020204" charset="-122"/>
              </a:rPr>
              <a:t>秦岭的屏障效应不是“全有或全无”，而是随海拔、坡向和季节不断变化的连续梯度——这正是本次文献检索最想搞清楚的问题。</a:t>
            </a:r>
            <a:endParaRPr sz="14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02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F6F54"/>
                </a:solidFill>
                <a:latin typeface="微软雅黑" panose="020B0503020204020204" charset="-122"/>
              </a:rPr>
              <a:t>研究背景 · 地图</a:t>
            </a:r>
            <a:endParaRPr sz="125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秦岭—淮河：一条线划开两种气候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_div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27632"/>
            <a:ext cx="6903720" cy="41785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26679" y="1627632"/>
            <a:ext cx="3913632" cy="1481328"/>
          </a:xfrm>
          <a:prstGeom prst="rect">
            <a:avLst/>
          </a:prstGeom>
          <a:solidFill>
            <a:srgbClr val="FDF6EA"/>
          </a:solidFill>
          <a:ln w="12700">
            <a:solidFill>
              <a:srgbClr val="E8C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46136" y="1773936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B56A14"/>
                </a:solidFill>
                <a:latin typeface="微软雅黑" panose="020B0503020204020204" charset="-122"/>
              </a:rPr>
              <a:t>北侧 · 暖温带</a:t>
            </a:r>
            <a:endParaRPr sz="150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46136" y="2139696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半湿润到半干旱；关中平原、黄土高原。冬季受冷空气影响更直接。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6679" y="3218688"/>
            <a:ext cx="3913632" cy="1481328"/>
          </a:xfrm>
          <a:prstGeom prst="rect">
            <a:avLst/>
          </a:prstGeom>
          <a:solidFill>
            <a:srgbClr val="EEF6FC"/>
          </a:solidFill>
          <a:ln w="12700">
            <a:solidFill>
              <a:srgbClr val="AEC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46136" y="3364992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C5B8F"/>
                </a:solidFill>
                <a:latin typeface="微软雅黑" panose="020B0503020204020204" charset="-122"/>
              </a:rPr>
              <a:t>南侧 · 亚热带</a:t>
            </a:r>
            <a:endParaRPr sz="150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46136" y="3730752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湿润；四川盆地、江汉平原。热量与水汽条件明显优于北侧。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26679" y="4809744"/>
            <a:ext cx="3913632" cy="1298448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46136" y="4956048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B2A3A"/>
                </a:solidFill>
                <a:latin typeface="微软雅黑" panose="020B0503020204020204" charset="-122"/>
              </a:rPr>
              <a:t>图注</a:t>
            </a:r>
            <a:endParaRPr sz="13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46136" y="5266944"/>
            <a:ext cx="3520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微软雅黑" panose="020B0503020204020204" charset="-122"/>
              </a:rPr>
              <a:t>底图为真实省界（全国省级行政区）。绿色三角为秦岭主脊示意，红线为秦岭—淮河线。</a:t>
            </a:r>
            <a:endParaRPr sz="11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03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C5B8F"/>
                </a:solidFill>
                <a:latin typeface="微软雅黑" panose="020B0503020204020204" charset="-122"/>
              </a:rPr>
              <a:t>研究问题</a:t>
            </a:r>
            <a:endParaRPr sz="125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我们要检索什么？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91640"/>
            <a:ext cx="5394960" cy="356616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68580" cy="3566160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C5B8F"/>
                </a:solidFill>
                <a:latin typeface="微软雅黑" panose="020B0503020204020204" charset="-122"/>
              </a:rPr>
              <a:t>问题一：空间影响</a:t>
            </a:r>
            <a:endParaRPr sz="190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463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1B2A3A"/>
                </a:solidFill>
                <a:latin typeface="微软雅黑" panose="020B0503020204020204" charset="-122"/>
              </a:rPr>
              <a:t>秦岭山体本身，如何改变其</a:t>
            </a:r>
            <a:r>
              <a:rPr sz="1400" b="1" i="0">
                <a:solidFill>
                  <a:srgbClr val="1B2A3A"/>
                </a:solidFill>
                <a:latin typeface="微软雅黑" panose="020B0503020204020204" charset="-122"/>
              </a:rPr>
              <a:t>南北两侧</a:t>
            </a:r>
            <a:r>
              <a:rPr sz="1400" b="0" i="0">
                <a:solidFill>
                  <a:srgbClr val="1B2A3A"/>
                </a:solidFill>
                <a:latin typeface="微软雅黑" panose="020B0503020204020204" charset="-122"/>
              </a:rPr>
              <a:t>的气温、降水与季风水汽输送？</a:t>
            </a:r>
            <a:endParaRPr sz="140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1B2A3A"/>
                </a:solidFill>
                <a:latin typeface="微软雅黑" panose="020B0503020204020204" charset="-122"/>
              </a:rPr>
              <a:t>关键词方向：</a:t>
            </a:r>
            <a:endParaRPr sz="140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1B2A3A"/>
                </a:solidFill>
                <a:latin typeface="微软雅黑" panose="020B0503020204020204" charset="-122"/>
              </a:rPr>
              <a:t>· 屏障效应 / barrier effect</a:t>
            </a:r>
            <a:endParaRPr sz="140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1B2A3A"/>
                </a:solidFill>
                <a:latin typeface="微软雅黑" panose="020B0503020204020204" charset="-122"/>
              </a:rPr>
              <a:t>· 南北过渡带 / north-south transition zone</a:t>
            </a:r>
            <a:endParaRPr sz="140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1B2A3A"/>
                </a:solidFill>
                <a:latin typeface="微软雅黑" panose="020B0503020204020204" charset="-122"/>
              </a:rPr>
              <a:t>· 地形强迫 / orographic forcing</a:t>
            </a:r>
            <a:endParaRPr sz="14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6208" y="1691640"/>
            <a:ext cx="5394960" cy="356616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691640"/>
            <a:ext cx="68580" cy="3566160"/>
          </a:xfrm>
          <a:prstGeom prst="rect">
            <a:avLst/>
          </a:prstGeom>
          <a:solidFill>
            <a:srgbClr val="A6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202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A6322A"/>
                </a:solidFill>
                <a:latin typeface="微软雅黑" panose="020B0503020204020204" charset="-122"/>
              </a:rPr>
              <a:t>问题二：时间变化</a:t>
            </a:r>
            <a:endParaRPr sz="1900" b="1" i="0">
              <a:solidFill>
                <a:srgbClr val="A6322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7960" y="2395728"/>
            <a:ext cx="48463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1B2A3A"/>
                </a:solidFill>
                <a:latin typeface="微软雅黑" panose="020B0503020204020204" charset="-122"/>
              </a:rPr>
              <a:t>在近几十年全球变暖背景下，南北两侧的气候变化</a:t>
            </a:r>
            <a:r>
              <a:rPr sz="1400" b="1" i="0">
                <a:solidFill>
                  <a:srgbClr val="1B2A3A"/>
                </a:solidFill>
                <a:latin typeface="微软雅黑" panose="020B0503020204020204" charset="-122"/>
              </a:rPr>
              <a:t>各自如何演进</a:t>
            </a:r>
            <a:r>
              <a:rPr sz="1400" b="0" i="0">
                <a:solidFill>
                  <a:srgbClr val="1B2A3A"/>
                </a:solidFill>
                <a:latin typeface="微软雅黑" panose="020B0503020204020204" charset="-122"/>
              </a:rPr>
              <a:t>？差异是扩大还是缩小？</a:t>
            </a:r>
            <a:endParaRPr sz="140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1B2A3A"/>
                </a:solidFill>
                <a:latin typeface="微软雅黑" panose="020B0503020204020204" charset="-122"/>
              </a:rPr>
              <a:t>关键词方向：</a:t>
            </a:r>
            <a:endParaRPr sz="140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1B2A3A"/>
                </a:solidFill>
                <a:latin typeface="微软雅黑" panose="020B0503020204020204" charset="-122"/>
              </a:rPr>
              <a:t>· 海拔依赖性增温 / elevation-dependent warming</a:t>
            </a:r>
            <a:endParaRPr sz="140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1B2A3A"/>
                </a:solidFill>
                <a:latin typeface="微软雅黑" panose="020B0503020204020204" charset="-122"/>
              </a:rPr>
              <a:t>· 极端气候 / climate extremes</a:t>
            </a:r>
            <a:endParaRPr sz="140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1B2A3A"/>
                </a:solidFill>
                <a:latin typeface="微软雅黑" panose="020B0503020204020204" charset="-122"/>
              </a:rPr>
              <a:t>· 植被与水资源响应 / vegetation &amp; water</a:t>
            </a:r>
            <a:endParaRPr sz="14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55046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5A6B7C"/>
                </a:solidFill>
                <a:latin typeface="微软雅黑" panose="020B0503020204020204" charset="-122"/>
              </a:rPr>
              <a:t>检索限定：</a:t>
            </a:r>
            <a:r>
              <a:rPr sz="1350" b="1" i="0">
                <a:solidFill>
                  <a:srgbClr val="5A6B7C"/>
                </a:solidFill>
                <a:latin typeface="微软雅黑" panose="020B0503020204020204" charset="-122"/>
              </a:rPr>
              <a:t>2024 年 1 月 1 日至今</a:t>
            </a:r>
            <a:r>
              <a:rPr sz="1350" b="0" i="0">
                <a:solidFill>
                  <a:srgbClr val="5A6B7C"/>
                </a:solidFill>
                <a:latin typeface="微软雅黑" panose="020B0503020204020204" charset="-122"/>
              </a:rPr>
              <a:t>；更早的经典工作仅在必要时作为 Background 单列，不计入数量。</a:t>
            </a:r>
            <a:endParaRPr sz="13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04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B56A14"/>
                </a:solidFill>
                <a:latin typeface="微软雅黑" panose="020B0503020204020204" charset="-122"/>
              </a:rPr>
              <a:t>第一步 · 查询扩展</a:t>
            </a:r>
            <a:endParaRPr sz="125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使用的英文检索式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A6B7C"/>
                </a:solidFill>
                <a:latin typeface="微软雅黑" panose="020B0503020204020204" charset="-122"/>
              </a:rPr>
              <a:t>共设计 17 条检索式（含补充检索），覆盖核心词、同义词、子方向与方法词。以下是 8 条主检索式：</a:t>
            </a:r>
            <a:endParaRPr sz="14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2029968"/>
            <a:ext cx="11064240" cy="45720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029968"/>
            <a:ext cx="50292" cy="457200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305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B56A14"/>
                </a:solidFill>
                <a:latin typeface="微软雅黑" panose="020B0503020204020204" charset="-122"/>
              </a:rPr>
              <a:t>Q1</a:t>
            </a:r>
            <a:endParaRPr sz="130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2121408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B2A3A"/>
                </a:solidFill>
                <a:latin typeface="微软雅黑" panose="020B0503020204020204" charset="-122"/>
              </a:rPr>
              <a:t>Qinling Mountains climate effects north south China</a:t>
            </a:r>
            <a:endParaRPr sz="13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35440" y="21396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微软雅黑" panose="020B0503020204020204" charset="-122"/>
              </a:rPr>
              <a:t>核心：秦岭 + 南北气候效应</a:t>
            </a:r>
            <a:endParaRPr sz="11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6928" y="2528316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528316"/>
            <a:ext cx="50292" cy="457200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6289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B56A14"/>
                </a:solidFill>
                <a:latin typeface="微软雅黑" panose="020B0503020204020204" charset="-122"/>
              </a:rPr>
              <a:t>Q2</a:t>
            </a:r>
            <a:endParaRPr sz="130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261975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B2A3A"/>
                </a:solidFill>
                <a:latin typeface="微软雅黑" panose="020B0503020204020204" charset="-122"/>
              </a:rPr>
              <a:t>Qinling barrier topographic effect precipitation temperature</a:t>
            </a:r>
            <a:endParaRPr sz="13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35440" y="263804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微软雅黑" panose="020B0503020204020204" charset="-122"/>
              </a:rPr>
              <a:t>同义：屏障 / 地形效应</a:t>
            </a:r>
            <a:endParaRPr sz="11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" y="3026664"/>
            <a:ext cx="11064240" cy="45720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026664"/>
            <a:ext cx="50292" cy="457200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12724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B56A14"/>
                </a:solidFill>
                <a:latin typeface="微软雅黑" panose="020B0503020204020204" charset="-122"/>
              </a:rPr>
              <a:t>Q3</a:t>
            </a:r>
            <a:endParaRPr sz="130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71600" y="3118104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B2A3A"/>
                </a:solidFill>
                <a:latin typeface="微软雅黑" panose="020B0503020204020204" charset="-122"/>
              </a:rPr>
              <a:t>Qinling-Daba Mountains climate divide ecological transition zone</a:t>
            </a:r>
            <a:endParaRPr sz="13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35440" y="31363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微软雅黑" panose="020B0503020204020204" charset="-122"/>
              </a:rPr>
              <a:t>子方向：气候分界与过渡带</a:t>
            </a:r>
            <a:endParaRPr sz="11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66928" y="3525012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525012"/>
            <a:ext cx="50292" cy="457200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62559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B56A14"/>
                </a:solidFill>
                <a:latin typeface="微软雅黑" panose="020B0503020204020204" charset="-122"/>
              </a:rPr>
              <a:t>Q4</a:t>
            </a:r>
            <a:endParaRPr sz="130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71600" y="3616452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B2A3A"/>
                </a:solidFill>
                <a:latin typeface="微软雅黑" panose="020B0503020204020204" charset="-122"/>
              </a:rPr>
              <a:t>Qinling Mountains vegetation phenology climate change trend</a:t>
            </a:r>
            <a:endParaRPr sz="13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35440" y="36347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微软雅黑" panose="020B0503020204020204" charset="-122"/>
              </a:rPr>
              <a:t>子方向：植被物候趋势</a:t>
            </a:r>
            <a:endParaRPr sz="11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66928" y="4023360"/>
            <a:ext cx="11064240" cy="45720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023360"/>
            <a:ext cx="50292" cy="457200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12394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B56A14"/>
                </a:solidFill>
                <a:latin typeface="微软雅黑" panose="020B0503020204020204" charset="-122"/>
              </a:rPr>
              <a:t>Q5</a:t>
            </a:r>
            <a:endParaRPr sz="130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71600" y="411480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B2A3A"/>
                </a:solidFill>
                <a:latin typeface="微软雅黑" panose="020B0503020204020204" charset="-122"/>
              </a:rPr>
              <a:t>Qinling Mountains warming trends temperature extremes observed</a:t>
            </a:r>
            <a:endParaRPr sz="13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35440" y="41330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微软雅黑" panose="020B0503020204020204" charset="-122"/>
              </a:rPr>
              <a:t>子方向：观测变暖与极端温度</a:t>
            </a:r>
            <a:endParaRPr sz="11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66928" y="4521708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521708"/>
            <a:ext cx="50292" cy="457200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62229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B56A14"/>
                </a:solidFill>
                <a:latin typeface="微软雅黑" panose="020B0503020204020204" charset="-122"/>
              </a:rPr>
              <a:t>Q6</a:t>
            </a:r>
            <a:endParaRPr sz="130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71600" y="4613148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B2A3A"/>
                </a:solidFill>
                <a:latin typeface="微软雅黑" panose="020B0503020204020204" charset="-122"/>
              </a:rPr>
              <a:t>Qinling orographic precipitation oxygen isotope paleoclimate record</a:t>
            </a:r>
            <a:endParaRPr sz="13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235440" y="46314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微软雅黑" panose="020B0503020204020204" charset="-122"/>
              </a:rPr>
              <a:t>方法：同位素古气候记录</a:t>
            </a:r>
            <a:endParaRPr sz="11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6928" y="5020056"/>
            <a:ext cx="11064240" cy="45720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5020056"/>
            <a:ext cx="50292" cy="457200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51206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B56A14"/>
                </a:solidFill>
                <a:latin typeface="微软雅黑" panose="020B0503020204020204" charset="-122"/>
              </a:rPr>
              <a:t>Q7</a:t>
            </a:r>
            <a:endParaRPr sz="130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371600" y="511149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B2A3A"/>
                </a:solidFill>
                <a:latin typeface="微软雅黑" panose="020B0503020204020204" charset="-122"/>
              </a:rPr>
              <a:t>Qinling Mountains regional climate model downscaling simulation</a:t>
            </a:r>
            <a:endParaRPr sz="13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35440" y="512978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微软雅黑" panose="020B0503020204020204" charset="-122"/>
              </a:rPr>
              <a:t>方法：区域气候模式降尺度</a:t>
            </a:r>
            <a:endParaRPr sz="11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66928" y="5518404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5518404"/>
            <a:ext cx="50292" cy="457200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56189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B56A14"/>
                </a:solidFill>
                <a:latin typeface="微软雅黑" panose="020B0503020204020204" charset="-122"/>
              </a:rPr>
              <a:t>Q8</a:t>
            </a:r>
            <a:endParaRPr sz="130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71600" y="5609844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B2A3A"/>
                </a:solidFill>
                <a:latin typeface="微软雅黑" panose="020B0503020204020204" charset="-122"/>
              </a:rPr>
              <a:t>Qinling Mountains land use land cover evapotranspiration water cycle</a:t>
            </a:r>
            <a:endParaRPr sz="13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35440" y="56281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微软雅黑" panose="020B0503020204020204" charset="-122"/>
              </a:rPr>
              <a:t>子方向：陆面与水文循环</a:t>
            </a:r>
            <a:endParaRPr sz="11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66928" y="60533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补充检索式示例：Qinling Huaihe line north south climate boundary shift ｜ mountain barrier effect blocking monsoon moisture transport ｜ Wei River vs Han River basin comparison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05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C5B8F"/>
                </a:solidFill>
                <a:latin typeface="微软雅黑" panose="020B0503020204020204" charset="-122"/>
              </a:rPr>
              <a:t>第二步 · 检索策略</a:t>
            </a:r>
            <a:endParaRPr sz="125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用了哪些数据库？怎么筛选？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64208"/>
            <a:ext cx="5394960" cy="196596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68580" cy="1965960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F6F54"/>
                </a:solidFill>
                <a:latin typeface="微软雅黑" panose="020B0503020204020204" charset="-122"/>
              </a:rPr>
              <a:t>OpenAlex ｜ 主检索源</a:t>
            </a:r>
            <a:endParaRPr sz="17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1F6F54"/>
                </a:solidFill>
                <a:latin typeface="微软雅黑" panose="020B0503020204020204" charset="-122"/>
              </a:rPr>
              <a:t>▍ </a:t>
            </a:r>
            <a:r>
              <a:rPr sz="1300" b="0">
                <a:solidFill>
                  <a:srgbClr val="1B2A3A"/>
                </a:solidFill>
                <a:latin typeface="微软雅黑" panose="020B0503020204020204" charset="-122"/>
              </a:rPr>
              <a:t>17 条检索式全部执行</a:t>
            </a:r>
            <a:endParaRPr sz="130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1F6F54"/>
                </a:solidFill>
                <a:latin typeface="微软雅黑" panose="020B0503020204020204" charset="-122"/>
              </a:rPr>
              <a:t>▍ </a:t>
            </a:r>
            <a:r>
              <a:rPr sz="1300" b="0">
                <a:solidFill>
                  <a:srgbClr val="1B2A3A"/>
                </a:solidFill>
                <a:latin typeface="微软雅黑" panose="020B0503020204020204" charset="-122"/>
              </a:rPr>
              <a:t>过滤条件：from_publication_date = 2024-01-01</a:t>
            </a:r>
            <a:endParaRPr sz="130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1F6F54"/>
                </a:solidFill>
                <a:latin typeface="微软雅黑" panose="020B0503020204020204" charset="-122"/>
              </a:rPr>
              <a:t>▍ </a:t>
            </a:r>
            <a:r>
              <a:rPr sz="1300" b="0">
                <a:solidFill>
                  <a:srgbClr val="1B2A3A"/>
                </a:solidFill>
                <a:latin typeface="微软雅黑" panose="020B0503020204020204" charset="-122"/>
              </a:rPr>
              <a:t>按 relevance / 出版日期 / 被引 排序</a:t>
            </a:r>
            <a:endParaRPr sz="1300" b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3767328"/>
            <a:ext cx="5394960" cy="196596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767328"/>
            <a:ext cx="68580" cy="1965960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5020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C5B8F"/>
                </a:solidFill>
                <a:latin typeface="微软雅黑" panose="020B0503020204020204" charset="-122"/>
              </a:rPr>
              <a:t>Crossref ｜ 核验源</a:t>
            </a:r>
            <a:endParaRPr sz="170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4407408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1C5B8F"/>
                </a:solidFill>
                <a:latin typeface="微软雅黑" panose="020B0503020204020204" charset="-122"/>
              </a:rPr>
              <a:t>▍ </a:t>
            </a:r>
            <a:r>
              <a:rPr sz="1300" b="0">
                <a:solidFill>
                  <a:srgbClr val="1B2A3A"/>
                </a:solidFill>
                <a:latin typeface="微软雅黑" panose="020B0503020204020204" charset="-122"/>
              </a:rPr>
              <a:t>对 24 篇最终论文逐一按 DOI 核对</a:t>
            </a:r>
            <a:endParaRPr sz="130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1C5B8F"/>
                </a:solidFill>
                <a:latin typeface="微软雅黑" panose="020B0503020204020204" charset="-122"/>
              </a:rPr>
              <a:t>▍ </a:t>
            </a:r>
            <a:r>
              <a:rPr sz="1300" b="0">
                <a:solidFill>
                  <a:srgbClr val="1B2A3A"/>
                </a:solidFill>
                <a:latin typeface="微软雅黑" panose="020B0503020204020204" charset="-122"/>
              </a:rPr>
              <a:t>核验标题、作者、年份、Venue</a:t>
            </a:r>
            <a:endParaRPr sz="130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1C5B8F"/>
                </a:solidFill>
                <a:latin typeface="微软雅黑" panose="020B0503020204020204" charset="-122"/>
              </a:rPr>
              <a:t>▍ </a:t>
            </a:r>
            <a:r>
              <a:rPr sz="1300" b="0">
                <a:solidFill>
                  <a:srgbClr val="1B2A3A"/>
                </a:solidFill>
                <a:latin typeface="微软雅黑" panose="020B0503020204020204" charset="-122"/>
              </a:rPr>
              <a:t>另有 1 篇中文刊经 DOI 内容协商核验</a:t>
            </a:r>
            <a:endParaRPr sz="1300" b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66420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2A3A"/>
                </a:solidFill>
                <a:latin typeface="微软雅黑" panose="020B0503020204020204" charset="-122"/>
              </a:rPr>
              <a:t>筛选漏斗</a:t>
            </a:r>
            <a:endParaRPr sz="1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55080" y="2148840"/>
            <a:ext cx="5303520" cy="658368"/>
          </a:xfrm>
          <a:prstGeom prst="rect">
            <a:avLst/>
          </a:prstGeom>
          <a:solidFill>
            <a:srgbClr val="E7EEF3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276856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2A3A"/>
                </a:solidFill>
                <a:latin typeface="微软雅黑" panose="020B0503020204020204" charset="-122"/>
              </a:rPr>
              <a:t>648</a:t>
            </a:r>
            <a:endParaRPr sz="22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0" y="2368296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5A6B7C"/>
                </a:solidFill>
                <a:latin typeface="微软雅黑" panose="020B0503020204020204" charset="-122"/>
              </a:rPr>
              <a:t>初始候选（去重后）</a:t>
            </a:r>
            <a:endParaRPr sz="12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55080" y="2907792"/>
            <a:ext cx="4572000" cy="658368"/>
          </a:xfrm>
          <a:prstGeom prst="rect">
            <a:avLst/>
          </a:prstGeom>
          <a:solidFill>
            <a:srgbClr val="E7EEF3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03580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2A3A"/>
                </a:solidFill>
                <a:latin typeface="微软雅黑" panose="020B0503020204020204" charset="-122"/>
              </a:rPr>
              <a:t>70</a:t>
            </a:r>
            <a:endParaRPr sz="22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0" y="312724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5A6B7C"/>
                </a:solidFill>
                <a:latin typeface="微软雅黑" panose="020B0503020204020204" charset="-122"/>
              </a:rPr>
              <a:t>重点分层筛选</a:t>
            </a:r>
            <a:endParaRPr sz="12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55080" y="3666744"/>
            <a:ext cx="3840480" cy="658368"/>
          </a:xfrm>
          <a:prstGeom prst="rect">
            <a:avLst/>
          </a:prstGeom>
          <a:solidFill>
            <a:srgbClr val="E7EEF3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794759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2A3A"/>
                </a:solidFill>
                <a:latin typeface="微软雅黑" panose="020B0503020204020204" charset="-122"/>
              </a:rPr>
              <a:t>46</a:t>
            </a:r>
            <a:endParaRPr sz="22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0" y="38862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5A6B7C"/>
                </a:solidFill>
                <a:latin typeface="微软雅黑" panose="020B0503020204020204" charset="-122"/>
              </a:rPr>
              <a:t>进入相关性分级（A/B 级）</a:t>
            </a:r>
            <a:endParaRPr sz="12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55080" y="4425696"/>
            <a:ext cx="3200400" cy="658368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4553712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</a:rPr>
              <a:t>24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0" y="464515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微软雅黑" panose="020B0503020204020204" charset="-122"/>
              </a:rPr>
              <a:t>最终保留（全部双源核验）</a:t>
            </a:r>
            <a:endParaRPr sz="1250" b="0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55080" y="5486400"/>
            <a:ext cx="5303520" cy="566928"/>
          </a:xfrm>
          <a:prstGeom prst="rect">
            <a:avLst/>
          </a:prstGeom>
          <a:solidFill>
            <a:srgbClr val="FDF3E3"/>
          </a:solidFill>
          <a:ln w="12700">
            <a:solidFill>
              <a:srgbClr val="E8C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559612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B56A14"/>
                </a:solidFill>
                <a:latin typeface="微软雅黑" panose="020B0503020204020204" charset="-122"/>
              </a:rPr>
              <a:t>未收入：地质/矿床/生物地理等无关文献，以及未经同行评审的预印本。</a:t>
            </a:r>
            <a:endParaRPr sz="1150" b="0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06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F6F54"/>
                </a:solidFill>
                <a:latin typeface="微软雅黑" panose="020B0503020204020204" charset="-122"/>
              </a:rPr>
              <a:t>第三步 · 主题分布</a:t>
            </a:r>
            <a:endParaRPr sz="125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24 篇文献覆盖 6 个方向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3529584" cy="192024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3529584" cy="68580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C5B8F"/>
                </a:solidFill>
                <a:latin typeface="微软雅黑" panose="020B0503020204020204" charset="-122"/>
              </a:rPr>
              <a:t>3 篇</a:t>
            </a:r>
            <a:endParaRPr sz="150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3591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2A3A"/>
                </a:solidFill>
                <a:latin typeface="微软雅黑" panose="020B0503020204020204" charset="-122"/>
              </a:rPr>
              <a:t>屏障/分界机理</a:t>
            </a:r>
            <a:endParaRPr sz="1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834639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5A6B7C"/>
                </a:solidFill>
                <a:latin typeface="微软雅黑" panose="020B0503020204020204" charset="-122"/>
              </a:rPr>
              <a:t>山体如何改变南北水汽与热量</a:t>
            </a:r>
            <a:endParaRPr sz="12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34256" y="1737360"/>
            <a:ext cx="3529584" cy="192024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737360"/>
            <a:ext cx="3529584" cy="68580"/>
          </a:xfrm>
          <a:prstGeom prst="rect">
            <a:avLst/>
          </a:prstGeom>
          <a:solidFill>
            <a:srgbClr val="A6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7510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A6322A"/>
                </a:solidFill>
                <a:latin typeface="微软雅黑" panose="020B0503020204020204" charset="-122"/>
              </a:rPr>
              <a:t>4 篇</a:t>
            </a:r>
            <a:endParaRPr sz="1500" b="1" i="0">
              <a:solidFill>
                <a:srgbClr val="A6322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0288" y="23591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2A3A"/>
                </a:solidFill>
                <a:latin typeface="微软雅黑" panose="020B0503020204020204" charset="-122"/>
              </a:rPr>
              <a:t>观测变暖与极端</a:t>
            </a:r>
            <a:endParaRPr sz="1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90288" y="2834639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5A6B7C"/>
                </a:solidFill>
                <a:latin typeface="微软雅黑" panose="020B0503020204020204" charset="-122"/>
              </a:rPr>
              <a:t>近几十年增温、变率与极端事件</a:t>
            </a:r>
            <a:endParaRPr sz="12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01583" y="1737360"/>
            <a:ext cx="3529584" cy="192024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737360"/>
            <a:ext cx="3529584" cy="68580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197510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F6F54"/>
                </a:solidFill>
                <a:latin typeface="微软雅黑" panose="020B0503020204020204" charset="-122"/>
              </a:rPr>
              <a:t>3 篇</a:t>
            </a:r>
            <a:endParaRPr sz="15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57615" y="23591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2A3A"/>
                </a:solidFill>
                <a:latin typeface="微软雅黑" panose="020B0503020204020204" charset="-122"/>
              </a:rPr>
              <a:t>长期代用记录</a:t>
            </a:r>
            <a:endParaRPr sz="1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57615" y="2834639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5A6B7C"/>
                </a:solidFill>
                <a:latin typeface="微软雅黑" panose="020B0503020204020204" charset="-122"/>
              </a:rPr>
              <a:t>树轮、黄土重建过去气候变化</a:t>
            </a:r>
            <a:endParaRPr sz="12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6928" y="3886200"/>
            <a:ext cx="3529584" cy="192024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886200"/>
            <a:ext cx="3529584" cy="68580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2394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B56A14"/>
                </a:solidFill>
                <a:latin typeface="微软雅黑" panose="020B0503020204020204" charset="-122"/>
              </a:rPr>
              <a:t>2 篇</a:t>
            </a:r>
            <a:endParaRPr sz="150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" y="45079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2A3A"/>
                </a:solidFill>
                <a:latin typeface="微软雅黑" panose="020B0503020204020204" charset="-122"/>
              </a:rPr>
              <a:t>模式与未来预估</a:t>
            </a:r>
            <a:endParaRPr sz="1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49834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5A6B7C"/>
                </a:solidFill>
                <a:latin typeface="微软雅黑" panose="020B0503020204020204" charset="-122"/>
              </a:rPr>
              <a:t>CMIP6 降尺度、洪水风险预估</a:t>
            </a:r>
            <a:endParaRPr sz="12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34256" y="3886200"/>
            <a:ext cx="3529584" cy="192024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4256" y="3886200"/>
            <a:ext cx="3529584" cy="68580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8" y="412394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F6F54"/>
                </a:solidFill>
                <a:latin typeface="微软雅黑" panose="020B0503020204020204" charset="-122"/>
              </a:rPr>
              <a:t>8 篇</a:t>
            </a:r>
            <a:endParaRPr sz="15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90288" y="45079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2A3A"/>
                </a:solidFill>
                <a:latin typeface="微软雅黑" panose="020B0503020204020204" charset="-122"/>
              </a:rPr>
              <a:t>植被与生态响应</a:t>
            </a:r>
            <a:endParaRPr sz="1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90288" y="49834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5A6B7C"/>
                </a:solidFill>
                <a:latin typeface="微软雅黑" panose="020B0503020204020204" charset="-122"/>
              </a:rPr>
              <a:t>NPP、物候、植被覆盖变化</a:t>
            </a:r>
            <a:endParaRPr sz="12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101583" y="3886200"/>
            <a:ext cx="3529584" cy="192024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01583" y="3886200"/>
            <a:ext cx="3529584" cy="68580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5" y="412394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C5B8F"/>
                </a:solidFill>
                <a:latin typeface="微软雅黑" panose="020B0503020204020204" charset="-122"/>
              </a:rPr>
              <a:t>4 篇</a:t>
            </a:r>
            <a:endParaRPr sz="150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57615" y="45079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2A3A"/>
                </a:solidFill>
                <a:latin typeface="微软雅黑" panose="020B0503020204020204" charset="-122"/>
              </a:rPr>
              <a:t>水资源与碳水通量</a:t>
            </a:r>
            <a:endParaRPr sz="1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57615" y="49834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5A6B7C"/>
                </a:solidFill>
                <a:latin typeface="微软雅黑" panose="020B0503020204020204" charset="-122"/>
              </a:rPr>
              <a:t>产水、水源涵养、碳水平衡</a:t>
            </a:r>
            <a:endParaRPr sz="12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928" y="60533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A6322A"/>
                </a:solidFill>
                <a:latin typeface="微软雅黑" panose="020B0503020204020204" charset="-122"/>
              </a:rPr>
              <a:t>注意：</a:t>
            </a:r>
            <a:r>
              <a:rPr sz="1250" b="1" i="0">
                <a:solidFill>
                  <a:srgbClr val="A6322A"/>
                </a:solidFill>
                <a:latin typeface="微软雅黑" panose="020B0503020204020204" charset="-122"/>
              </a:rPr>
              <a:t>机理类文献偏少</a:t>
            </a:r>
            <a:r>
              <a:rPr sz="1250" b="0" i="0">
                <a:solidFill>
                  <a:srgbClr val="A6322A"/>
                </a:solidFill>
                <a:latin typeface="微软雅黑" panose="020B0503020204020204" charset="-122"/>
              </a:rPr>
              <a:t>——真正正面研究“山体屏障效应”的仅 3 篇，多数研究是在秦岭地区做气候变化影响评估。</a:t>
            </a:r>
            <a:endParaRPr sz="1250" b="0" i="0">
              <a:solidFill>
                <a:srgbClr val="A6322A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07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F6F54"/>
                </a:solidFill>
                <a:latin typeface="微软雅黑" panose="020B0503020204020204" charset="-122"/>
              </a:rPr>
              <a:t>第三步 · 主题分布（图表）</a:t>
            </a:r>
            <a:endParaRPr sz="125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24 篇文献的结构：方向与年份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B2A3A"/>
                </a:solidFill>
                <a:latin typeface="微软雅黑" panose="020B0503020204020204" charset="-122"/>
              </a:rPr>
              <a:t>按研究方向</a:t>
            </a:r>
            <a:endParaRPr sz="14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pic>
        <p:nvPicPr>
          <p:cNvPr id="7" name="Picture 6" descr="chart_topic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38528"/>
            <a:ext cx="54864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157276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B2A3A"/>
                </a:solidFill>
                <a:latin typeface="微软雅黑" panose="020B0503020204020204" charset="-122"/>
              </a:rPr>
              <a:t>按发表年份</a:t>
            </a:r>
            <a:endParaRPr sz="14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pic>
        <p:nvPicPr>
          <p:cNvPr id="9" name="Picture 8" descr="chart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709160" cy="24330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5074920"/>
            <a:ext cx="11064240" cy="1143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074920"/>
            <a:ext cx="68580" cy="1143000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3036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 i="0">
                <a:solidFill>
                  <a:srgbClr val="1B2A3A"/>
                </a:solidFill>
                <a:latin typeface="微软雅黑" panose="020B0503020204020204" charset="-122"/>
              </a:rPr>
              <a:t>读图</a:t>
            </a: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：植被/生态响应类最多（8 篇），说明“气候变化影响评估”是当前秦岭研究的主流；而直接研究屏障机理的只有 3 篇，且年份分布均匀（2024–2026 每年 7–10 篇），说明这是一个持续活跃、但机理层面仍待补的方向。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08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F6F54"/>
                </a:solidFill>
                <a:latin typeface="微软雅黑" panose="020B0503020204020204" charset="-122"/>
              </a:rPr>
              <a:t>第三步 · 覆盖度矩阵</a:t>
            </a:r>
            <a:endParaRPr sz="125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哪个区域被研究得最多？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hea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27632"/>
            <a:ext cx="7223760" cy="34990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92440" y="1627632"/>
            <a:ext cx="3566160" cy="214884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1627632"/>
            <a:ext cx="54864" cy="2148840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830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B56A14"/>
                </a:solidFill>
                <a:latin typeface="微软雅黑" panose="020B0503020204020204" charset="-122"/>
              </a:rPr>
              <a:t>秦岭山区本身研究最密集</a:t>
            </a:r>
            <a:endParaRPr sz="135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240280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1B2A3A"/>
                </a:solidFill>
                <a:latin typeface="微软雅黑" panose="020B0503020204020204" charset="-122"/>
              </a:rPr>
              <a:t>主脊一带在屏障机理、长期记录、变暖趋势上都是最多的。北麓的植被（4）与水资源（3）研究也相对集中。</a:t>
            </a:r>
            <a:endParaRPr sz="12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92440" y="3886200"/>
            <a:ext cx="3566160" cy="2148840"/>
          </a:xfrm>
          <a:prstGeom prst="rect">
            <a:avLst/>
          </a:prstGeom>
          <a:solidFill>
            <a:srgbClr val="FDEFEE"/>
          </a:solidFill>
          <a:ln w="12700">
            <a:solidFill>
              <a:srgbClr val="E8B4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3886200"/>
            <a:ext cx="54864" cy="2148840"/>
          </a:xfrm>
          <a:prstGeom prst="rect">
            <a:avLst/>
          </a:prstGeom>
          <a:solidFill>
            <a:srgbClr val="A6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04164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A6322A"/>
                </a:solidFill>
                <a:latin typeface="微软雅黑" panose="020B0503020204020204" charset="-122"/>
              </a:rPr>
              <a:t>南侧/南坡明显偏少</a:t>
            </a:r>
            <a:endParaRPr sz="1350" b="1" i="0">
              <a:solidFill>
                <a:srgbClr val="A6322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0" y="4434840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1B2A3A"/>
                </a:solidFill>
                <a:latin typeface="微软雅黑" panose="020B0503020204020204" charset="-122"/>
              </a:rPr>
              <a:t>只有植被与水资源两类各 1–2 篇，屏障机理、长期记录、模式预估在南侧均为空白。</a:t>
            </a:r>
            <a:endParaRPr sz="12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09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C5B8F"/>
                </a:solidFill>
                <a:latin typeface="微软雅黑" panose="020B0503020204020204" charset="-122"/>
              </a:rPr>
              <a:t>核心发现 ① · 地图</a:t>
            </a:r>
            <a:endParaRPr sz="125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屏障效应：水汽从东南来，被山地抬升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_barri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7086600" cy="428925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09560" y="1627632"/>
            <a:ext cx="3703320" cy="1207008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627632"/>
            <a:ext cx="54864" cy="1207008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9016" y="1755648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1C5B8F"/>
                </a:solidFill>
                <a:latin typeface="微软雅黑" panose="020B0503020204020204" charset="-122"/>
              </a:rPr>
              <a:t>① 东南季风携带水汽</a:t>
            </a:r>
            <a:endParaRPr sz="135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29016" y="2139696"/>
            <a:ext cx="3383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1B2A3A"/>
                </a:solidFill>
                <a:latin typeface="微软雅黑" panose="020B0503020204020204" charset="-122"/>
              </a:rPr>
              <a:t>自东南沿海向西北推进，是秦岭南北对流层低层水汽的主要来源。</a:t>
            </a:r>
            <a:endParaRPr sz="11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909560" y="2962656"/>
            <a:ext cx="3703320" cy="1207008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2962656"/>
            <a:ext cx="54864" cy="1207008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3090672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1F6F54"/>
                </a:solidFill>
                <a:latin typeface="微软雅黑" panose="020B0503020204020204" charset="-122"/>
              </a:rPr>
              <a:t>② 迎风坡抬升致雨</a:t>
            </a:r>
            <a:endParaRPr sz="135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29016" y="3474720"/>
            <a:ext cx="3383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1B2A3A"/>
                </a:solidFill>
                <a:latin typeface="微软雅黑" panose="020B0503020204020204" charset="-122"/>
              </a:rPr>
              <a:t>南坡气流被迫抬升，形成强降水，是汉江等流域的水汽来源。</a:t>
            </a:r>
            <a:endParaRPr sz="11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909560" y="4297680"/>
            <a:ext cx="3703320" cy="1207008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4297680"/>
            <a:ext cx="54864" cy="1207008"/>
          </a:xfrm>
          <a:prstGeom prst="rect">
            <a:avLst/>
          </a:prstGeom>
          <a:solidFill>
            <a:srgbClr val="A6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9016" y="4425696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A6322A"/>
                </a:solidFill>
                <a:latin typeface="微软雅黑" panose="020B0503020204020204" charset="-122"/>
              </a:rPr>
              <a:t>③ 背风侧下沉偏干</a:t>
            </a:r>
            <a:endParaRPr sz="1350" b="1" i="0">
              <a:solidFill>
                <a:srgbClr val="A6322A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29016" y="4809744"/>
            <a:ext cx="3383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1B2A3A"/>
                </a:solidFill>
                <a:latin typeface="微软雅黑" panose="020B0503020204020204" charset="-122"/>
              </a:rPr>
              <a:t>越过主脊后气流下沉增温，北侧（关中、黄土高原）降水显著减少。</a:t>
            </a:r>
            <a:endParaRPr sz="11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909560" y="5650992"/>
            <a:ext cx="3703320" cy="566928"/>
          </a:xfrm>
          <a:prstGeom prst="rect">
            <a:avLst/>
          </a:prstGeom>
          <a:solidFill>
            <a:srgbClr val="FDF3E3"/>
          </a:solidFill>
          <a:ln w="12700">
            <a:solidFill>
              <a:srgbClr val="E8C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5742432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B56A14"/>
                </a:solidFill>
                <a:latin typeface="微软雅黑" panose="020B0503020204020204" charset="-122"/>
              </a:rPr>
              <a:t>箭头为示意，非定量通量。</a:t>
            </a:r>
            <a:endParaRPr sz="1050" b="0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10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C5B8F"/>
                </a:solidFill>
                <a:latin typeface="微软雅黑" panose="020B0503020204020204" charset="-122"/>
              </a:rPr>
              <a:t>核心发现 ① · 剖面</a:t>
            </a:r>
            <a:endParaRPr sz="125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换一个视角：南北坡的剖面示意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_xsec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72768"/>
            <a:ext cx="9326880" cy="38289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5440680"/>
            <a:ext cx="5394960" cy="86868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B2A3A"/>
                </a:solidFill>
                <a:latin typeface="微软雅黑" panose="020B0503020204020204" charset="-122"/>
              </a:rPr>
              <a:t>同一座山，两侧气候不同</a:t>
            </a:r>
            <a:r>
              <a:rPr sz="1300" b="0" i="0">
                <a:solidFill>
                  <a:srgbClr val="1B2A3A"/>
                </a:solidFill>
                <a:latin typeface="微软雅黑" panose="020B0503020204020204" charset="-122"/>
              </a:rPr>
              <a:t>：迎风侧降水多、湿度高；背风侧降水少、更易干旱。</a:t>
            </a:r>
            <a:endParaRPr sz="13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36208" y="5440680"/>
            <a:ext cx="5394960" cy="868680"/>
          </a:xfrm>
          <a:prstGeom prst="rect">
            <a:avLst/>
          </a:prstGeom>
          <a:solidFill>
            <a:srgbClr val="FDF3E3"/>
          </a:solidFill>
          <a:ln w="12700">
            <a:solidFill>
              <a:srgbClr val="E8C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557784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B56A14"/>
                </a:solidFill>
                <a:latin typeface="微软雅黑" panose="020B0503020204020204" charset="-122"/>
              </a:rPr>
              <a:t>注意</a:t>
            </a:r>
            <a:r>
              <a:rPr sz="1200" b="0" i="0">
                <a:solidFill>
                  <a:srgbClr val="B56A14"/>
                </a:solidFill>
                <a:latin typeface="微软雅黑" panose="020B0503020204020204" charset="-122"/>
              </a:rPr>
              <a:t>：剖面为示意，高度已放大，不代表真实水平距离比例。</a:t>
            </a:r>
            <a:endParaRPr sz="1200" b="0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11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C5B8F"/>
                </a:solidFill>
                <a:latin typeface="微软雅黑" panose="020B0503020204020204" charset="-122"/>
              </a:rPr>
              <a:t>核心发现 ①</a:t>
            </a:r>
            <a:endParaRPr sz="125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山体屏障：夏季降水被“重新分配”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64208"/>
            <a:ext cx="11064240" cy="118872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68580" cy="1188720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1" i="0">
                <a:solidFill>
                  <a:srgbClr val="1B2A3A"/>
                </a:solidFill>
                <a:latin typeface="微软雅黑" panose="020B0503020204020204" charset="-122"/>
              </a:rPr>
              <a:t>Wang et al. (2025)</a:t>
            </a:r>
            <a:r>
              <a:rPr sz="1450" b="0" i="0">
                <a:solidFill>
                  <a:srgbClr val="1B2A3A"/>
                </a:solidFill>
                <a:latin typeface="微软雅黑" panose="020B0503020204020204" charset="-122"/>
              </a:rPr>
              <a:t> 用 WRF 区域气候模式做敏感性试验，直接模拟秦巴山地地形对南北过渡带夏季降水的强迫作用——这是本次检索中</a:t>
            </a:r>
            <a:r>
              <a:rPr sz="1450" b="1" i="0">
                <a:solidFill>
                  <a:srgbClr val="1B2A3A"/>
                </a:solidFill>
                <a:latin typeface="微软雅黑" panose="020B0503020204020204" charset="-122"/>
              </a:rPr>
              <a:t>最直接</a:t>
            </a:r>
            <a:r>
              <a:rPr sz="1450" b="0" i="0">
                <a:solidFill>
                  <a:srgbClr val="1B2A3A"/>
                </a:solidFill>
                <a:latin typeface="微软雅黑" panose="020B0503020204020204" charset="-122"/>
              </a:rPr>
              <a:t>回答“山体如何影响南北气候”的研究。</a:t>
            </a:r>
            <a:endParaRPr sz="14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312724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2A3A"/>
                </a:solidFill>
                <a:latin typeface="微软雅黑" panose="020B0503020204020204" charset="-122"/>
              </a:rPr>
              <a:t>相关支撑文献</a:t>
            </a:r>
            <a:endParaRPr sz="15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3602736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602736"/>
            <a:ext cx="50292" cy="713232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70332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C5B8F"/>
                </a:solidFill>
                <a:latin typeface="微软雅黑" panose="020B0503020204020204" charset="-122"/>
              </a:rPr>
              <a:t>Takahashi et al. (2026) · Adv. Atmos. Sci.</a:t>
            </a:r>
            <a:endParaRPr sz="130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20640" y="3703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5A6B7C"/>
                </a:solidFill>
                <a:latin typeface="微软雅黑" panose="020B0503020204020204" charset="-122"/>
              </a:rPr>
              <a:t>综述陆面与地形如何影响亚洲季风区降水，提供“地形—季风”机理框架</a:t>
            </a:r>
            <a:endParaRPr sz="12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4407408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407408"/>
            <a:ext cx="50292" cy="713232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50799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F6F54"/>
                </a:solidFill>
                <a:latin typeface="微软雅黑" panose="020B0503020204020204" charset="-122"/>
              </a:rPr>
              <a:t>Chen et al. (2025) · J. Earth Sci.</a:t>
            </a:r>
            <a:endParaRPr sz="13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20640" y="4507992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5A6B7C"/>
                </a:solidFill>
                <a:latin typeface="微软雅黑" panose="020B0503020204020204" charset="-122"/>
              </a:rPr>
              <a:t>系统论述秦岭作为中央水塔与南北分界的地理意义</a:t>
            </a:r>
            <a:endParaRPr sz="12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5212080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212080"/>
            <a:ext cx="50292" cy="713232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312664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B56A14"/>
                </a:solidFill>
                <a:latin typeface="微软雅黑" panose="020B0503020204020204" charset="-122"/>
              </a:rPr>
              <a:t>Zhang et al. (2025) · Commun. Earth Environ.</a:t>
            </a:r>
            <a:endParaRPr sz="130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20640" y="5312664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5A6B7C"/>
                </a:solidFill>
                <a:latin typeface="微软雅黑" panose="020B0503020204020204" charset="-122"/>
              </a:rPr>
              <a:t>用地球系统模式考察气候变化下中国南北分界的水文响应分歧</a:t>
            </a:r>
            <a:endParaRPr sz="12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928" y="619963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5A6B7C"/>
                </a:solidFill>
                <a:latin typeface="微软雅黑" panose="020B0503020204020204" charset="-122"/>
              </a:rPr>
              <a:t>这一组回答了问题一：秦岭并非简单“挡住”水汽，而是通过抬升与绕流，重塑了南北两侧的降水格局。</a:t>
            </a:r>
            <a:endParaRPr sz="12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12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A6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A6322A"/>
                </a:solidFill>
                <a:latin typeface="微软雅黑" panose="020B0503020204020204" charset="-122"/>
              </a:rPr>
              <a:t>核心发现 ②</a:t>
            </a:r>
            <a:endParaRPr sz="1250" b="1" i="0">
              <a:solidFill>
                <a:srgbClr val="A6322A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变暖不是均匀的：海拔越高，响应越特殊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91640"/>
            <a:ext cx="3529584" cy="269748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3529584" cy="68580"/>
          </a:xfrm>
          <a:prstGeom prst="rect">
            <a:avLst/>
          </a:prstGeom>
          <a:solidFill>
            <a:srgbClr val="A6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30540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A6322A"/>
                </a:solidFill>
                <a:latin typeface="微软雅黑" panose="020B0503020204020204" charset="-122"/>
              </a:rPr>
              <a:t>Li et al. (2025)</a:t>
            </a:r>
            <a:endParaRPr sz="1450" b="1" i="0">
              <a:solidFill>
                <a:srgbClr val="A6322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2" y="2212848"/>
            <a:ext cx="3054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1">
                <a:solidFill>
                  <a:srgbClr val="5A6B7C"/>
                </a:solidFill>
                <a:latin typeface="微软雅黑" panose="020B0503020204020204" charset="-122"/>
              </a:rPr>
              <a:t>J. Environ. Manage.</a:t>
            </a:r>
            <a:endParaRPr sz="1150" b="0" i="1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2633472"/>
            <a:ext cx="305409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1B2A3A"/>
                </a:solidFill>
                <a:latin typeface="微软雅黑" panose="020B0503020204020204" charset="-122"/>
              </a:rPr>
              <a:t>极端温度的海拔依赖性增温（EDW）：不同海拔的极端温度变化幅度不一致，并与区域整体变暖相互关联。</a:t>
            </a:r>
            <a:endParaRPr sz="13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34256" y="1691640"/>
            <a:ext cx="3529584" cy="269748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691640"/>
            <a:ext cx="3529584" cy="68580"/>
          </a:xfrm>
          <a:prstGeom prst="rect">
            <a:avLst/>
          </a:prstGeom>
          <a:solidFill>
            <a:srgbClr val="A6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01952"/>
            <a:ext cx="30540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A6322A"/>
                </a:solidFill>
                <a:latin typeface="微软雅黑" panose="020B0503020204020204" charset="-122"/>
              </a:rPr>
              <a:t>Lian et al. (2024)</a:t>
            </a:r>
            <a:endParaRPr sz="1450" b="1" i="0">
              <a:solidFill>
                <a:srgbClr val="A6322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2212848"/>
            <a:ext cx="3054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1">
                <a:solidFill>
                  <a:srgbClr val="5A6B7C"/>
                </a:solidFill>
                <a:latin typeface="微软雅黑" panose="020B0503020204020204" charset="-122"/>
              </a:rPr>
              <a:t>Scientific Reports</a:t>
            </a:r>
            <a:endParaRPr sz="1150" b="0" i="1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2633472"/>
            <a:ext cx="305409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1B2A3A"/>
                </a:solidFill>
                <a:latin typeface="微软雅黑" panose="020B0503020204020204" charset="-122"/>
              </a:rPr>
              <a:t>用 2001–2021 年地表反照率与气溶胶光学厚度数据，解释 EDW 的物理机制——下垫面与气溶胶共同调制高海拔增温。</a:t>
            </a:r>
            <a:endParaRPr sz="13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01583" y="1691640"/>
            <a:ext cx="3529584" cy="269748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691640"/>
            <a:ext cx="3529584" cy="68580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901952"/>
            <a:ext cx="30540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B56A14"/>
                </a:solidFill>
                <a:latin typeface="微软雅黑" panose="020B0503020204020204" charset="-122"/>
              </a:rPr>
              <a:t>Hao &amp; He (2024)</a:t>
            </a:r>
            <a:endParaRPr sz="145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39327" y="2212848"/>
            <a:ext cx="3054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1">
                <a:solidFill>
                  <a:srgbClr val="5A6B7C"/>
                </a:solidFill>
                <a:latin typeface="微软雅黑" panose="020B0503020204020204" charset="-122"/>
              </a:rPr>
              <a:t>Sustainability</a:t>
            </a:r>
            <a:endParaRPr sz="1150" b="0" i="1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39327" y="2633472"/>
            <a:ext cx="305409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1B2A3A"/>
                </a:solidFill>
                <a:latin typeface="微软雅黑" panose="020B0503020204020204" charset="-122"/>
              </a:rPr>
              <a:t>1971–2022 年秦岭气温变率的时空对比，给出近几十年变率的长期背景。</a:t>
            </a:r>
            <a:endParaRPr sz="130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6928" y="4681728"/>
            <a:ext cx="11064240" cy="1051560"/>
          </a:xfrm>
          <a:prstGeom prst="rect">
            <a:avLst/>
          </a:prstGeom>
          <a:solidFill>
            <a:srgbClr val="FDEFEE"/>
          </a:solidFill>
          <a:ln w="12700">
            <a:solidFill>
              <a:srgbClr val="E8B4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4632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 i="0">
                <a:solidFill>
                  <a:srgbClr val="A6322A"/>
                </a:solidFill>
                <a:latin typeface="微软雅黑" panose="020B0503020204020204" charset="-122"/>
              </a:rPr>
              <a:t>与主题的关联：</a:t>
            </a:r>
            <a:r>
              <a:rPr sz="1350" b="0" i="0">
                <a:solidFill>
                  <a:srgbClr val="A6322A"/>
                </a:solidFill>
                <a:latin typeface="微软雅黑" panose="020B0503020204020204" charset="-122"/>
              </a:rPr>
              <a:t>南北两侧的增温幅度并不同步。海拔依赖性增温意味着山区内部的差异，可能比南北坡之间的差异更值得关注。</a:t>
            </a:r>
            <a:endParaRPr sz="1350" b="0" i="0">
              <a:solidFill>
                <a:srgbClr val="A6322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13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F6F54"/>
                </a:solidFill>
                <a:latin typeface="微软雅黑" panose="020B0503020204020204" charset="-122"/>
              </a:rPr>
              <a:t>核心发现 ③</a:t>
            </a:r>
            <a:endParaRPr sz="125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长期记录：近几十年变暖“前所未有”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91640"/>
            <a:ext cx="11064240" cy="1207008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68580" cy="1207008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F6F54"/>
                </a:solidFill>
                <a:latin typeface="微软雅黑" panose="020B0503020204020204" charset="-122"/>
              </a:rPr>
              <a:t>Yuan et al. (2024)</a:t>
            </a:r>
            <a:endParaRPr sz="15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225856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1">
                <a:solidFill>
                  <a:srgbClr val="5A6B7C"/>
                </a:solidFill>
                <a:latin typeface="微软雅黑" panose="020B0503020204020204" charset="-122"/>
              </a:rPr>
              <a:t>Palaeogeogr. Palaeoclimatol. Palaeoecol.</a:t>
            </a:r>
            <a:endParaRPr sz="1150" b="0" i="1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4960" y="1984248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1B2A3A"/>
                </a:solidFill>
                <a:latin typeface="微软雅黑" panose="020B0503020204020204" charset="-122"/>
              </a:rPr>
              <a:t>西秦岭树轮重建显示近期变暖在过去数百年中前所未有</a:t>
            </a:r>
            <a:endParaRPr sz="13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3063240"/>
            <a:ext cx="11064240" cy="1207008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063240"/>
            <a:ext cx="68580" cy="1207008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461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F6F54"/>
                </a:solidFill>
                <a:latin typeface="微软雅黑" panose="020B0503020204020204" charset="-122"/>
              </a:rPr>
              <a:t>Cai et al. (2024)</a:t>
            </a:r>
            <a:endParaRPr sz="15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" y="363016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1">
                <a:solidFill>
                  <a:srgbClr val="5A6B7C"/>
                </a:solidFill>
                <a:latin typeface="微软雅黑" panose="020B0503020204020204" charset="-122"/>
              </a:rPr>
              <a:t>Palaeogeogr. Palaeoclimatol. Palaeoecol.</a:t>
            </a:r>
            <a:endParaRPr sz="1150" b="0" i="1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94960" y="3355848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1B2A3A"/>
                </a:solidFill>
                <a:latin typeface="微软雅黑" panose="020B0503020204020204" charset="-122"/>
              </a:rPr>
              <a:t>250 年树轮记录揭示北大西洋海温（AMO）对秦岭—巴山气候的遥相关</a:t>
            </a:r>
            <a:endParaRPr sz="13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6928" y="4434840"/>
            <a:ext cx="11064240" cy="1207008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434840"/>
            <a:ext cx="68580" cy="1207008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6177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C5B8F"/>
                </a:solidFill>
                <a:latin typeface="微软雅黑" panose="020B0503020204020204" charset="-122"/>
              </a:rPr>
              <a:t>Li et al. (2025)</a:t>
            </a:r>
            <a:endParaRPr sz="150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6112" y="500176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1">
                <a:solidFill>
                  <a:srgbClr val="5A6B7C"/>
                </a:solidFill>
                <a:latin typeface="微软雅黑" panose="020B0503020204020204" charset="-122"/>
              </a:rPr>
              <a:t>Int. J. Climatol.</a:t>
            </a:r>
            <a:endParaRPr sz="1150" b="0" i="1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94960" y="4727448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1B2A3A"/>
                </a:solidFill>
                <a:latin typeface="微软雅黑" panose="020B0503020204020204" charset="-122"/>
              </a:rPr>
              <a:t>联合橡树与松树树轮，改进东秦岭季风降水重建</a:t>
            </a:r>
            <a:endParaRPr sz="13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" y="58978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5A6B7C"/>
                </a:solidFill>
                <a:latin typeface="微软雅黑" panose="020B0503020204020204" charset="-122"/>
              </a:rPr>
              <a:t>意义：</a:t>
            </a:r>
            <a:r>
              <a:rPr sz="1300" b="0" i="0">
                <a:solidFill>
                  <a:srgbClr val="5A6B7C"/>
                </a:solidFill>
                <a:latin typeface="微软雅黑" panose="020B0503020204020204" charset="-122"/>
              </a:rPr>
              <a:t>代用资料把“近几十年”放进几百年的背景里，才能判断当前变暖究竟是自然波动还是异常信号——这是回答主题第二问的关键证据链。</a:t>
            </a:r>
            <a:endParaRPr sz="13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14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B56A14"/>
                </a:solidFill>
                <a:latin typeface="微软雅黑" panose="020B0503020204020204" charset="-122"/>
              </a:rPr>
              <a:t>第四步 · 研究区域地图</a:t>
            </a:r>
            <a:endParaRPr sz="125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24 篇论文都在研究秦岭的哪里？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_sit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7223760" cy="43722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92440" y="1627632"/>
            <a:ext cx="3566160" cy="105156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1627632"/>
            <a:ext cx="54864" cy="1051560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46504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B56A14"/>
                </a:solidFill>
                <a:latin typeface="微软雅黑" panose="020B0503020204020204" charset="-122"/>
              </a:rPr>
              <a:t>北侧 / 北麓（关中）</a:t>
            </a:r>
            <a:endParaRPr sz="125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59" y="1746504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B56A14"/>
                </a:solidFill>
                <a:latin typeface="微软雅黑" panose="020B0503020204020204" charset="-122"/>
              </a:rPr>
              <a:t>6 篇</a:t>
            </a:r>
            <a:endParaRPr sz="130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213969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微软雅黑" panose="020B0503020204020204" charset="-122"/>
              </a:rPr>
              <a:t>西安、关中平原一带最集中</a:t>
            </a:r>
            <a:endParaRPr sz="11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92440" y="2788920"/>
            <a:ext cx="3566160" cy="105156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2788920"/>
            <a:ext cx="54864" cy="1051560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907791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F6F54"/>
                </a:solidFill>
                <a:latin typeface="微软雅黑" panose="020B0503020204020204" charset="-122"/>
              </a:rPr>
              <a:t>秦岭山区（主脊）</a:t>
            </a:r>
            <a:endParaRPr sz="125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59" y="2907791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F6F54"/>
                </a:solidFill>
                <a:latin typeface="微软雅黑" panose="020B0503020204020204" charset="-122"/>
              </a:rPr>
              <a:t>7 篇</a:t>
            </a:r>
            <a:endParaRPr sz="13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330098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微软雅黑" panose="020B0503020204020204" charset="-122"/>
              </a:rPr>
              <a:t>东西秦岭、中秦岭主脊</a:t>
            </a:r>
            <a:endParaRPr sz="11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92440" y="3950208"/>
            <a:ext cx="3566160" cy="1051560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3950208"/>
            <a:ext cx="54864" cy="1051560"/>
          </a:xfrm>
          <a:prstGeom prst="rect">
            <a:avLst/>
          </a:prstGeom>
          <a:solidFill>
            <a:srgbClr val="1C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06908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C5B8F"/>
                </a:solidFill>
                <a:latin typeface="微软雅黑" panose="020B0503020204020204" charset="-122"/>
              </a:rPr>
              <a:t>南侧 / 南坡（汉中）</a:t>
            </a:r>
            <a:endParaRPr sz="125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881359" y="4069080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C5B8F"/>
                </a:solidFill>
                <a:latin typeface="微软雅黑" panose="020B0503020204020204" charset="-122"/>
              </a:rPr>
              <a:t>4 篇</a:t>
            </a:r>
            <a:endParaRPr sz="1300" b="1" i="0">
              <a:solidFill>
                <a:srgbClr val="1C5B8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21040" y="446227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微软雅黑" panose="020B0503020204020204" charset="-122"/>
              </a:rPr>
              <a:t>汉中盆地与秦巴山地</a:t>
            </a:r>
            <a:endParaRPr sz="110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92440" y="5120640"/>
            <a:ext cx="3566160" cy="960120"/>
          </a:xfrm>
          <a:prstGeom prst="rect">
            <a:avLst/>
          </a:prstGeom>
          <a:solidFill>
            <a:srgbClr val="FDEFEE"/>
          </a:solidFill>
          <a:ln w="12700">
            <a:solidFill>
              <a:srgbClr val="E8B4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5230368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A6322A"/>
                </a:solidFill>
                <a:latin typeface="微软雅黑" panose="020B0503020204020204" charset="-122"/>
              </a:rPr>
              <a:t>同一篇论文可能覆盖多个区域，故分区之和 &gt; 24。</a:t>
            </a:r>
            <a:endParaRPr sz="1100" b="0" i="0">
              <a:solidFill>
                <a:srgbClr val="A6322A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15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F6F54"/>
                </a:solidFill>
                <a:latin typeface="微软雅黑" panose="020B0503020204020204" charset="-122"/>
              </a:rPr>
              <a:t>第四步 · 文献总表（一）</a:t>
            </a:r>
            <a:endParaRPr sz="125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相关性最高的 1–8 篇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11055096" cy="384048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#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" y="1691640"/>
            <a:ext cx="37856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Title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74336" y="1691640"/>
            <a:ext cx="10424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Authors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81344" y="1691640"/>
            <a:ext cx="329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Year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1691640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Venue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0" y="1691640"/>
            <a:ext cx="16367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DOI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48088" y="1691640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Topic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1984248"/>
            <a:ext cx="11055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34540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1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4128" y="2034540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Influence of Qinba Mountains on summer precipitation in the North-South transition zone based on WRF simulation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74336" y="2034540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Wang B. 等 10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81344" y="2034540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2025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5120" y="2034540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Environ. Res. Commun.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46720" y="2034540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10.1088/2515-7620/addbab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848088" y="2034540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WRF 模拟地形对夏季降水强迫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66928" y="2459736"/>
            <a:ext cx="11055096" cy="475488"/>
          </a:xfrm>
          <a:prstGeom prst="rect">
            <a:avLst/>
          </a:prstGeom>
          <a:solidFill>
            <a:srgbClr val="F2F6F8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510028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2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4128" y="2510028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Land-Surface Influences on Precipitation Characteristics in the Wet Asian Monsoon Regions: A Review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74336" y="2510028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Takahashi H.G. 等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81344" y="2510028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2026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75120" y="2510028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Adv. Atmos. Sci.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6720" y="2510028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10.1007/s00376-026-5209-3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48088" y="2510028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综述：地形对季风区降水影响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66928" y="2935224"/>
            <a:ext cx="11055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985516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3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24128" y="2985516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Why are the Qinling Mountains Significant to China?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74336" y="2985516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Chen X. 等 6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81344" y="2985516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2025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75120" y="2985516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J. Earth Sci.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46720" y="2985516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10.1007/s12583-024-0140-y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848088" y="2985516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秦岭作为南北分界的意义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66928" y="3410712"/>
            <a:ext cx="11055096" cy="475488"/>
          </a:xfrm>
          <a:prstGeom prst="rect">
            <a:avLst/>
          </a:prstGeom>
          <a:solidFill>
            <a:srgbClr val="F2F6F8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61004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4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24128" y="3461004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Divergent impacts of climate interventions on China's north-south water divide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974336" y="3461004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Zhang X. 等 5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81344" y="3461004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2025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675120" y="3461004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Commun. Earth Environ.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046720" y="3461004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10.1038/s43247-025-02708-0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848088" y="3461004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地球系统模式：分界水文响应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66928" y="3886200"/>
            <a:ext cx="11055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936491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5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24128" y="3936491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Spatiotemporal distribution variation of extreme temperatures under elevation-dependent warming … Qinling-Daba Mountains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974336" y="3936491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Li Y. 等 6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181344" y="3936491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2025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675120" y="3936491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J. Environ. Manage.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046720" y="3936491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10.1016/j.jenvman.2025.127067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848088" y="3936491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极端温度的海拔依赖性增温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66928" y="4361688"/>
            <a:ext cx="11055096" cy="475488"/>
          </a:xfrm>
          <a:prstGeom prst="rect">
            <a:avLst/>
          </a:prstGeom>
          <a:solidFill>
            <a:srgbClr val="F2F6F8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411979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6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24128" y="4411979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Assessment of the elevation-dependent warming in the Qinling-Daba Mountains … albedo and aerosol optical depth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974336" y="4411979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Lian Y. 等 7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81344" y="4411979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2024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675120" y="4411979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Scientific Reports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046720" y="4411979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10.1038/s41598-024-75835-x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848088" y="4411979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EDW 机制：反照率与气溶胶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66928" y="4837175"/>
            <a:ext cx="11055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4887467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7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24128" y="4887467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The Spatiotemporal Dynamics of Temperature Variability Across Mts. Qinling: 1971–2022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974336" y="4887467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Hao C., He S.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181344" y="4887467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2024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675120" y="4887467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Sustainability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046720" y="4887467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10.3390/su16219327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848088" y="4887467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1971–2022 气温变率对比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66928" y="5312663"/>
            <a:ext cx="11055096" cy="475488"/>
          </a:xfrm>
          <a:prstGeom prst="rect">
            <a:avLst/>
          </a:prstGeom>
          <a:solidFill>
            <a:srgbClr val="F2F6F8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5362955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8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24128" y="5362955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Unprecedented recent warming as recorded by tree-ring in the western Qinling Mountains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74336" y="5362955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Yuan Y. 等 6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181344" y="5362955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2024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675120" y="5362955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Palaeogeogr. Palaeoclimatol. Palaeoecol.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046720" y="5362955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10.1016/j.palaeo.2024.112202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848088" y="5362955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树轮记录近期异常变暖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16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F6F54"/>
                </a:solidFill>
                <a:latin typeface="微软雅黑" panose="020B0503020204020204" charset="-122"/>
              </a:rPr>
              <a:t>第四步 · 文献总表（二）</a:t>
            </a:r>
            <a:endParaRPr sz="125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第 9–16 篇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11055096" cy="384048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#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" y="1691640"/>
            <a:ext cx="37856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Title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74336" y="1691640"/>
            <a:ext cx="10424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Authors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81344" y="1691640"/>
            <a:ext cx="329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Year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1691640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Venue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0" y="1691640"/>
            <a:ext cx="16367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DOI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48088" y="1691640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Topic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1984248"/>
            <a:ext cx="11055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34540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9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4128" y="2034540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The influence of North Atlantic SST fluctuations on the climate of the Qinling-Bashan Mountains (250-yr tree-ring)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74336" y="2034540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Cai Q. 等 9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81344" y="2034540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2024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5120" y="2034540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Palaeogeogr. Palaeoclimatol. Palaeoecol.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46720" y="2034540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10.1016/j.palaeo.2024.112320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848088" y="2034540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250 年树轮：AMO 遥相关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66928" y="2459736"/>
            <a:ext cx="11055096" cy="475488"/>
          </a:xfrm>
          <a:prstGeom prst="rect">
            <a:avLst/>
          </a:prstGeom>
          <a:solidFill>
            <a:srgbClr val="F2F6F8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510028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10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4128" y="2510028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An Attempt of Combining Oak and Pine Trees to Enhance Monsoonal Precipitation Reconstruction in the East Qinling Mountains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74336" y="2510028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Li Q. 等 10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81344" y="2510028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2025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75120" y="2510028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Int. J. Climatol.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6720" y="2510028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10.1002/joc.8779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48088" y="2510028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季风降水重建（双树种）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66928" y="2935224"/>
            <a:ext cx="11055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985516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11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24128" y="2985516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Assessment and Projection of NEX-GDDP-CMIP6 Downscale Data in Air Temperature Changes over the Qinling Mountains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74336" y="2985516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户元涛 等 8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81344" y="2985516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2026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75120" y="2985516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高原气象 (Plateau Meteorology)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46720" y="2985516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10.7522/j.issn.1000-0534.2025.00073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848088" y="2985516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CMIP6 降尺度与未来预估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66928" y="3410712"/>
            <a:ext cx="11055096" cy="475488"/>
          </a:xfrm>
          <a:prstGeom prst="rect">
            <a:avLst/>
          </a:prstGeom>
          <a:solidFill>
            <a:srgbClr val="F2F6F8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61004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12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24128" y="3461004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Assessment of flood risk based on CMIP6 for the Northern foothills of Qinling mountain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974336" y="3461004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Ahmed A. 等 7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81344" y="3461004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2025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675120" y="3461004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Theor. Appl. Climatol.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046720" y="3461004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10.1007/s00704-025-05464-5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848088" y="3461004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北麓 CMIP6 洪水风险预估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66928" y="3886200"/>
            <a:ext cx="11055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936491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13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24128" y="3936491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Response of Vegetation NPP to Extreme Climate in a Climate Transition Zone: Evidence from the Qinling Mountains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974336" y="3936491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Zeng Q., Hao C.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181344" y="3936491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2025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675120" y="3936491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Atmosphere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046720" y="3936491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10.3390/atmos16101208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848088" y="3936491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过渡带 NPP 对极端气候响应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66928" y="4361688"/>
            <a:ext cx="11055096" cy="475488"/>
          </a:xfrm>
          <a:prstGeom prst="rect">
            <a:avLst/>
          </a:prstGeom>
          <a:solidFill>
            <a:srgbClr val="F2F6F8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411979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14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24128" y="4411979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Spatio-temporal response of vegetation coverage at multiple time scales to extreme climate in the Qinling mountains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974336" y="4411979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Meng Q. 等 3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81344" y="4411979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2024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675120" y="4411979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Res. Cold Arid Reg.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046720" y="4411979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10.1016/j.rcar.2024.11.005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848088" y="4411979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多尺度植被对极端气候响应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66928" y="4837175"/>
            <a:ext cx="11055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4887467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15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24128" y="4887467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Vegetation greening decrease water yield during the growing season over the Qinling-Daba Mountains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974336" y="4887467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Li Z. 等 5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181344" y="4887467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2025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675120" y="4887467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J. Hydrol. Reg. Stud.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046720" y="4887467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10.1016/j.ejrh.2025.102852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848088" y="4887467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绿化削减生长季产水量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66928" y="5312663"/>
            <a:ext cx="11055096" cy="475488"/>
          </a:xfrm>
          <a:prstGeom prst="rect">
            <a:avLst/>
          </a:prstGeom>
          <a:solidFill>
            <a:srgbClr val="F2F6F8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5362955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16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24128" y="5362955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Influences of climate change on carbon and water fluxes of the ecosystem in the Qinling Mountains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74336" y="5362955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Gong K. 等 9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181344" y="5362955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2024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675120" y="5362955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Ecol. Indic.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046720" y="5362955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10.1016/j.ecolind.2024.112504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848088" y="5362955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气候变化对碳水通量影响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17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F6F54"/>
                </a:solidFill>
                <a:latin typeface="微软雅黑" panose="020B0503020204020204" charset="-122"/>
              </a:rPr>
              <a:t>第四步 · 文献总表（三）</a:t>
            </a:r>
            <a:endParaRPr sz="125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第 17–24 篇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11055096" cy="384048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#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" y="1691640"/>
            <a:ext cx="37856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Title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74336" y="1691640"/>
            <a:ext cx="10424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Authors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81344" y="1691640"/>
            <a:ext cx="329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Year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1691640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Venue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0" y="1691640"/>
            <a:ext cx="16367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DOI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48088" y="1691640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Topic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1984248"/>
            <a:ext cx="11055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34540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17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4128" y="2034540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Spatio-temporal evolution of vegetation NPP and its response to climate change in the Qinling-Tongbai-Dabie Mountain region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74336" y="2034540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Yao C. 等 7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81344" y="2034540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2026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5120" y="2034540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Front. Ecol. Evol.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46720" y="2034540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10.3389/fevo.2026.1761470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848088" y="2034540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跨山系 NPP 气候响应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66928" y="2459736"/>
            <a:ext cx="11055096" cy="475488"/>
          </a:xfrm>
          <a:prstGeom prst="rect">
            <a:avLst/>
          </a:prstGeom>
          <a:solidFill>
            <a:srgbClr val="F2F6F8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510028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18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4128" y="2510028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Spatiotemporal Variations in Vegetation Phenology in the Qinling Mountains and Their Responses to Climate Variability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74336" y="2510028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Li H. 等 6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81344" y="2510028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2025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75120" y="2510028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Remote Sensing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6720" y="2510028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10.3390/rs17244051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48088" y="2510028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物候对气候变率的响应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66928" y="2935224"/>
            <a:ext cx="11055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985516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19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24128" y="2985516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Differential Responses of Radial Growth Between Abies fargesii and Quercus mongolica … Warming-Induced Aridification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74336" y="2985516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Li Q. 等 10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81344" y="2985516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2026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75120" y="2985516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Int. J. Climatol.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46720" y="2985516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10.1002/joc.70423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848088" y="2985516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变暖致干化下树种分异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66928" y="3410712"/>
            <a:ext cx="11055096" cy="475488"/>
          </a:xfrm>
          <a:prstGeom prst="rect">
            <a:avLst/>
          </a:prstGeom>
          <a:solidFill>
            <a:srgbClr val="F2F6F8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61004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20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24128" y="3461004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Assessing climatic response and drought resilience … on the southern slope of the Qinling Mountains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974336" y="3461004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Xie M. 等 7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81344" y="3461004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2024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675120" y="3461004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Glob. Ecol. Conserv.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046720" y="3461004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10.1016/j.gecco.2024.e02999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848088" y="3461004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南坡树木干旱恢复力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66928" y="3886200"/>
            <a:ext cx="11055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936491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21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24128" y="3936491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Assessment of water retention dynamic in water resource formation area: northern slope of the Qinling Mountains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974336" y="3936491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Wang F. 等 4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181344" y="3936491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2024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675120" y="3936491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J. Hydrol. Reg. Stud.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046720" y="3936491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10.1016/j.ejrh.2024.102063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848088" y="3936491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北坡水源涵养评估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66928" y="4361688"/>
            <a:ext cx="11055096" cy="475488"/>
          </a:xfrm>
          <a:prstGeom prst="rect">
            <a:avLst/>
          </a:prstGeom>
          <a:solidFill>
            <a:srgbClr val="F2F6F8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411979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22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24128" y="4411979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Spatiotemporal Climate–Vegetation Dynamics and Vegetation Ecological Quality-Based Zoning Under Climate Change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974336" y="4411979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Xu Y. 等 8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81344" y="4411979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2026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675120" y="4411979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Land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046720" y="4411979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10.3390/land15050694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848088" y="4411979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气候—植被动态与分区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66928" y="4837175"/>
            <a:ext cx="11055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4887467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23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24128" y="4887467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The spatio–temporal variation characteristics and attributions of vegetation NPP in the Qinling Mountains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974336" y="4887467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Meng Q. 等 6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181344" y="4887467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2026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675120" y="4887467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Open Geosciences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046720" y="4887467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10.1515/geo-2025-0934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848088" y="4887467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NPP 归因（气候 vs 人类）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66928" y="5312663"/>
            <a:ext cx="11055096" cy="475488"/>
          </a:xfrm>
          <a:prstGeom prst="rect">
            <a:avLst/>
          </a:prstGeom>
          <a:solidFill>
            <a:srgbClr val="F2F6F8"/>
          </a:solidFill>
          <a:ln w="635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5362955"/>
            <a:ext cx="237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F6F54"/>
                </a:solidFill>
                <a:latin typeface="微软雅黑" panose="020B0503020204020204" charset="-122"/>
              </a:rPr>
              <a:t>24</a:t>
            </a:r>
            <a:endParaRPr sz="12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24128" y="5362955"/>
            <a:ext cx="37856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微软雅黑" panose="020B0503020204020204" charset="-122"/>
              </a:rPr>
              <a:t>Spatiotemporal changes of vegetation in the northern foothills of Qinling Mountains based on kNDVI …</a:t>
            </a:r>
            <a:endParaRPr sz="9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74336" y="5362955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Chen L. 等 7 人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181344" y="5362955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2025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675120" y="5362955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Environ. Res.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046720" y="5362955"/>
            <a:ext cx="1636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微软雅黑" panose="020B0503020204020204" charset="-122"/>
              </a:rPr>
              <a:t>10.1016/j.envres.2025.120959</a:t>
            </a:r>
            <a:endParaRPr sz="8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848088" y="5362955"/>
            <a:ext cx="17007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微软雅黑" panose="020B0503020204020204" charset="-122"/>
              </a:rPr>
              <a:t>北麓 kNDVI 时滞效应</a:t>
            </a:r>
            <a:endParaRPr sz="9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18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B56A14"/>
                </a:solidFill>
                <a:latin typeface="微软雅黑" panose="020B0503020204020204" charset="-122"/>
              </a:rPr>
              <a:t>第五步 · 核验与说明</a:t>
            </a:r>
            <a:endParaRPr sz="125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哪些结论可以放心用？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64208"/>
            <a:ext cx="5394960" cy="2286000"/>
          </a:xfrm>
          <a:prstGeom prst="rect">
            <a:avLst/>
          </a:prstGeom>
          <a:solidFill>
            <a:srgbClr val="ECF6F0"/>
          </a:solidFill>
          <a:ln w="12700">
            <a:solidFill>
              <a:srgbClr val="BFDE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68580" cy="2286000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F6F54"/>
                </a:solidFill>
                <a:latin typeface="微软雅黑" panose="020B0503020204020204" charset="-122"/>
              </a:rPr>
              <a:t>已完成核验</a:t>
            </a:r>
            <a:endParaRPr sz="18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50" b="1">
                <a:solidFill>
                  <a:srgbClr val="1F6F54"/>
                </a:solidFill>
                <a:latin typeface="微软雅黑" panose="020B0503020204020204" charset="-122"/>
              </a:rPr>
              <a:t>▍ </a:t>
            </a:r>
            <a:r>
              <a:rPr sz="1250" b="0">
                <a:solidFill>
                  <a:srgbClr val="1B2A3A"/>
                </a:solidFill>
                <a:latin typeface="微软雅黑" panose="020B0503020204020204" charset="-122"/>
              </a:rPr>
              <a:t>23/24 篇 OpenAlex 与 Crossref 信息完全一致</a:t>
            </a:r>
            <a:endParaRPr sz="125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50" b="1">
                <a:solidFill>
                  <a:srgbClr val="1F6F54"/>
                </a:solidFill>
                <a:latin typeface="微软雅黑" panose="020B0503020204020204" charset="-122"/>
              </a:rPr>
              <a:t>▍ </a:t>
            </a:r>
            <a:r>
              <a:rPr sz="1250" b="0">
                <a:solidFill>
                  <a:srgbClr val="1B2A3A"/>
                </a:solidFill>
                <a:latin typeface="微软雅黑" panose="020B0503020204020204" charset="-122"/>
              </a:rPr>
              <a:t>1 篇中文刊（高原气象）经 DOI 内容协商核验</a:t>
            </a:r>
            <a:endParaRPr sz="125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50" b="1">
                <a:solidFill>
                  <a:srgbClr val="1F6F54"/>
                </a:solidFill>
                <a:latin typeface="微软雅黑" panose="020B0503020204020204" charset="-122"/>
              </a:rPr>
              <a:t>▍ </a:t>
            </a:r>
            <a:r>
              <a:rPr sz="1250" b="0">
                <a:solidFill>
                  <a:srgbClr val="1B2A3A"/>
                </a:solidFill>
                <a:latin typeface="微软雅黑" panose="020B0503020204020204" charset="-122"/>
              </a:rPr>
              <a:t>全部 24 篇均为已发表期刊论文</a:t>
            </a:r>
            <a:endParaRPr sz="1250" b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4114800"/>
            <a:ext cx="5394960" cy="2011680"/>
          </a:xfrm>
          <a:prstGeom prst="rect">
            <a:avLst/>
          </a:prstGeom>
          <a:solidFill>
            <a:srgbClr val="FDF3E3"/>
          </a:solidFill>
          <a:ln w="12700">
            <a:solidFill>
              <a:srgbClr val="E8C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114800"/>
            <a:ext cx="68580" cy="2011680"/>
          </a:xfrm>
          <a:prstGeom prst="rect">
            <a:avLst/>
          </a:prstGeom>
          <a:solidFill>
            <a:srgbClr val="B5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B56A14"/>
                </a:solidFill>
                <a:latin typeface="微软雅黑" panose="020B0503020204020204" charset="-122"/>
              </a:rPr>
              <a:t>! 需要注意</a:t>
            </a:r>
            <a:endParaRPr sz="1800" b="1" i="0">
              <a:solidFill>
                <a:srgbClr val="B56A14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4773168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50" b="1">
                <a:solidFill>
                  <a:srgbClr val="B56A14"/>
                </a:solidFill>
                <a:latin typeface="微软雅黑" panose="020B0503020204020204" charset="-122"/>
              </a:rPr>
              <a:t>▍ </a:t>
            </a:r>
            <a:r>
              <a:rPr sz="1250" b="0">
                <a:solidFill>
                  <a:srgbClr val="1B2A3A"/>
                </a:solidFill>
                <a:latin typeface="微软雅黑" panose="020B0503020204020204" charset="-122"/>
              </a:rPr>
              <a:t>已剔除 1 组重复记录（会议摘要 vs 期刊论文）</a:t>
            </a:r>
            <a:endParaRPr sz="125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50" b="1">
                <a:solidFill>
                  <a:srgbClr val="B56A14"/>
                </a:solidFill>
                <a:latin typeface="微软雅黑" panose="020B0503020204020204" charset="-122"/>
              </a:rPr>
              <a:t>▍ </a:t>
            </a:r>
            <a:r>
              <a:rPr sz="1250" b="0">
                <a:solidFill>
                  <a:srgbClr val="1B2A3A"/>
                </a:solidFill>
                <a:latin typeface="微软雅黑" panose="020B0503020204020204" charset="-122"/>
              </a:rPr>
              <a:t>未收入预印本（Preprints.org / Research Square 等）</a:t>
            </a:r>
            <a:endParaRPr sz="1250" b="0">
              <a:solidFill>
                <a:srgbClr val="1B2A3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250" b="1">
                <a:solidFill>
                  <a:srgbClr val="B56A14"/>
                </a:solidFill>
                <a:latin typeface="微软雅黑" panose="020B0503020204020204" charset="-122"/>
              </a:rPr>
              <a:t>▍ </a:t>
            </a:r>
            <a:r>
              <a:rPr sz="1250" b="0">
                <a:solidFill>
                  <a:srgbClr val="1B2A3A"/>
                </a:solidFill>
                <a:latin typeface="微软雅黑" panose="020B0503020204020204" charset="-122"/>
              </a:rPr>
              <a:t>Background 条目未做 DOI 核验，勿直接引用</a:t>
            </a:r>
            <a:endParaRPr sz="1250" b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36208" y="1664208"/>
            <a:ext cx="5394960" cy="4462272"/>
          </a:xfrm>
          <a:prstGeom prst="rect">
            <a:avLst/>
          </a:prstGeom>
          <a:solidFill>
            <a:srgbClr val="FDEFEE"/>
          </a:solidFill>
          <a:ln w="12700">
            <a:solidFill>
              <a:srgbClr val="E8B4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664208"/>
            <a:ext cx="68580" cy="4462272"/>
          </a:xfrm>
          <a:prstGeom prst="rect">
            <a:avLst/>
          </a:prstGeom>
          <a:solidFill>
            <a:srgbClr val="A6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874519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A6322A"/>
                </a:solidFill>
                <a:latin typeface="微软雅黑" panose="020B0503020204020204" charset="-122"/>
              </a:rPr>
              <a:t>检索发现的真实缺口</a:t>
            </a:r>
            <a:endParaRPr sz="1800" b="1" i="0">
              <a:solidFill>
                <a:srgbClr val="A6322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37960" y="2395728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正面研究“秦岭屏障效应”的论文数量本身偏少。24 篇中仅第 1、2、4 篇直接处理该机理，其余多为在秦岭地区开展的气候变化影响评估（植被、水文、生态）。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 i="0">
                <a:solidFill>
                  <a:srgbClr val="1B2A3A"/>
                </a:solidFill>
                <a:latin typeface="微软雅黑" panose="020B0503020204020204" charset="-122"/>
              </a:rPr>
              <a:t>这意味着：</a:t>
            </a: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如果汇报重点在“山体如何影响南北气候”这一机理问题上，建议后续专门检索大气动力学与古气候方向期刊，例如：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· Journal of Climate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· Climate Dynamics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· Journal of Geophysical Research: Atmospheres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而不是从植被/生态类论文中凑数——本表没有为了凑数而收录弱相关文献。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19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8FD4B8"/>
                </a:solidFill>
                <a:latin typeface="微软雅黑" panose="020B0503020204020204" charset="-122"/>
              </a:rPr>
              <a:t>汇报小结</a:t>
            </a:r>
            <a:endParaRPr sz="1400" b="1" i="0">
              <a:solidFill>
                <a:srgbClr val="8FD4B8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</a:rPr>
              <a:t>检索流程与结果一览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2057400"/>
            <a:ext cx="2606040" cy="1463040"/>
          </a:xfrm>
          <a:prstGeom prst="rect">
            <a:avLst/>
          </a:prstGeom>
          <a:solidFill>
            <a:srgbClr val="173B37"/>
          </a:solidFill>
          <a:ln w="12700">
            <a:solidFill>
              <a:srgbClr val="2C5B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1284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8FD4B8"/>
                </a:solidFill>
                <a:latin typeface="微软雅黑" panose="020B0503020204020204" charset="-122"/>
              </a:rPr>
              <a:t>17</a:t>
            </a:r>
            <a:endParaRPr sz="3000" b="1" i="0">
              <a:solidFill>
                <a:srgbClr val="8FD4B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条检索式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31089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7FA89E"/>
                </a:solidFill>
                <a:latin typeface="微软雅黑" panose="020B0503020204020204" charset="-122"/>
              </a:rPr>
              <a:t>8 条主检索 + 9 条补充</a:t>
            </a:r>
            <a:endParaRPr sz="1050" b="0" i="0">
              <a:solidFill>
                <a:srgbClr val="7FA89E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0" y="2057400"/>
            <a:ext cx="2606040" cy="1463040"/>
          </a:xfrm>
          <a:prstGeom prst="rect">
            <a:avLst/>
          </a:prstGeom>
          <a:solidFill>
            <a:srgbClr val="173B37"/>
          </a:solidFill>
          <a:ln w="12700">
            <a:solidFill>
              <a:srgbClr val="2C5B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21284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8FD4B8"/>
                </a:solidFill>
                <a:latin typeface="微软雅黑" panose="020B0503020204020204" charset="-122"/>
              </a:rPr>
              <a:t>648</a:t>
            </a:r>
            <a:endParaRPr sz="3000" b="1" i="0">
              <a:solidFill>
                <a:srgbClr val="8FD4B8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86200" y="27889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篇初始候选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86200" y="31089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7FA89E"/>
                </a:solidFill>
                <a:latin typeface="微软雅黑" panose="020B0503020204020204" charset="-122"/>
              </a:rPr>
              <a:t>13 条检索式去重后</a:t>
            </a:r>
            <a:endParaRPr sz="1050" b="0" i="0">
              <a:solidFill>
                <a:srgbClr val="7FA89E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92240" y="2057400"/>
            <a:ext cx="2606040" cy="1463040"/>
          </a:xfrm>
          <a:prstGeom prst="rect">
            <a:avLst/>
          </a:prstGeom>
          <a:solidFill>
            <a:srgbClr val="173B37"/>
          </a:solidFill>
          <a:ln w="12700">
            <a:solidFill>
              <a:srgbClr val="2C5B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21284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8FD4B8"/>
                </a:solidFill>
                <a:latin typeface="微软雅黑" panose="020B0503020204020204" charset="-122"/>
              </a:rPr>
              <a:t>24</a:t>
            </a:r>
            <a:endParaRPr sz="3000" b="1" i="0">
              <a:solidFill>
                <a:srgbClr val="8FD4B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20840" y="27889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篇最终保留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20840" y="31089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7FA89E"/>
                </a:solidFill>
                <a:latin typeface="微软雅黑" panose="020B0503020204020204" charset="-122"/>
              </a:rPr>
              <a:t>全部 2024 年后发表</a:t>
            </a:r>
            <a:endParaRPr sz="1050" b="0" i="0">
              <a:solidFill>
                <a:srgbClr val="7FA89E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326880" y="2057400"/>
            <a:ext cx="2606040" cy="1463040"/>
          </a:xfrm>
          <a:prstGeom prst="rect">
            <a:avLst/>
          </a:prstGeom>
          <a:solidFill>
            <a:srgbClr val="173B37"/>
          </a:solidFill>
          <a:ln w="12700">
            <a:solidFill>
              <a:srgbClr val="2C5B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221284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8FD4B8"/>
                </a:solidFill>
                <a:latin typeface="微软雅黑" panose="020B0503020204020204" charset="-122"/>
              </a:rPr>
              <a:t>2</a:t>
            </a:r>
            <a:endParaRPr sz="3000" b="1" i="0">
              <a:solidFill>
                <a:srgbClr val="8FD4B8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55480" y="27889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个数据库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555480" y="31089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7FA89E"/>
                </a:solidFill>
                <a:latin typeface="微软雅黑" panose="020B0503020204020204" charset="-122"/>
              </a:rPr>
              <a:t>OpenAlex 检索 + Crossref 核验</a:t>
            </a:r>
            <a:endParaRPr sz="1050" b="0" i="0">
              <a:solidFill>
                <a:srgbClr val="7FA89E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3931920"/>
            <a:ext cx="106070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1" i="0">
                <a:solidFill>
                  <a:srgbClr val="DCECE8"/>
                </a:solidFill>
                <a:latin typeface="微软雅黑" panose="020B0503020204020204" charset="-122"/>
              </a:rPr>
              <a:t>主题结论：</a:t>
            </a:r>
            <a:endParaRPr sz="1400" b="1" i="0">
              <a:solidFill>
                <a:srgbClr val="DCECE8"/>
              </a:solidFill>
              <a:latin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 i="0">
                <a:solidFill>
                  <a:srgbClr val="DCECE8"/>
                </a:solidFill>
                <a:latin typeface="微软雅黑" panose="020B0503020204020204" charset="-122"/>
              </a:rPr>
              <a:t>① 秦岭通过抬升与绕流重塑南北降水格局，并非简单“阻挡”水汽；</a:t>
            </a:r>
            <a:endParaRPr sz="1400" b="0" i="0">
              <a:solidFill>
                <a:srgbClr val="DCECE8"/>
              </a:solidFill>
              <a:latin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 i="0">
                <a:solidFill>
                  <a:srgbClr val="DCECE8"/>
                </a:solidFill>
                <a:latin typeface="微软雅黑" panose="020B0503020204020204" charset="-122"/>
              </a:rPr>
              <a:t>② 近几十年变暖在山区内部呈海拔依赖性差异，南北侧响应并不同步；</a:t>
            </a:r>
            <a:endParaRPr sz="1400" b="0" i="0">
              <a:solidFill>
                <a:srgbClr val="DCECE8"/>
              </a:solidFill>
              <a:latin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 i="0">
                <a:solidFill>
                  <a:srgbClr val="DCECE8"/>
                </a:solidFill>
                <a:latin typeface="微软雅黑" panose="020B0503020204020204" charset="-122"/>
              </a:rPr>
              <a:t>③ 树轮等长期记录显示近期变暖在过去数百年中异常突出；</a:t>
            </a:r>
            <a:endParaRPr sz="1400" b="0" i="0">
              <a:solidFill>
                <a:srgbClr val="DCECE8"/>
              </a:solidFill>
              <a:latin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 i="0">
                <a:solidFill>
                  <a:srgbClr val="DCECE8"/>
                </a:solidFill>
                <a:latin typeface="微软雅黑" panose="020B0503020204020204" charset="-122"/>
              </a:rPr>
              <a:t>④ 气候变化已明显传导至南北两侧的植被、水资源与碳水循环。</a:t>
            </a:r>
            <a:endParaRPr sz="1400" b="0" i="0">
              <a:solidFill>
                <a:srgbClr val="DCECE8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587044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7FA89E"/>
                </a:solidFill>
                <a:latin typeface="微软雅黑" panose="020B0503020204020204" charset="-122"/>
              </a:rPr>
              <a:t>数据来源：OpenAlex（主检索）+ Crossref（DOI 核验）｜ 检索截止范围：2024-01-01 至今</a:t>
            </a:r>
            <a:endParaRPr sz="1100" b="0" i="0">
              <a:solidFill>
                <a:srgbClr val="7FA89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68580" cy="310896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1F6F54"/>
                </a:solidFill>
                <a:latin typeface="微软雅黑" panose="020B0503020204020204" charset="-122"/>
              </a:rPr>
              <a:t>可视化总结</a:t>
            </a:r>
            <a:endParaRPr sz="125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3A"/>
                </a:solidFill>
                <a:latin typeface="微软雅黑" panose="020B0503020204020204" charset="-122"/>
              </a:rPr>
              <a:t>从 648 篇到 24 篇：筛选过程一览</a:t>
            </a:r>
            <a:endParaRPr sz="2700" b="1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18288"/>
          </a:xfrm>
          <a:prstGeom prst="rect">
            <a:avLst/>
          </a:prstGeom>
          <a:solidFill>
            <a:srgbClr val="D3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funne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4114800" cy="2468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1600200"/>
            <a:ext cx="6583680" cy="1874519"/>
          </a:xfrm>
          <a:prstGeom prst="rect">
            <a:avLst/>
          </a:prstGeom>
          <a:solidFill>
            <a:srgbClr val="F2F6F8"/>
          </a:solidFill>
          <a:ln w="12700">
            <a:solidFill>
              <a:srgbClr val="D3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1600200"/>
            <a:ext cx="64008" cy="1874519"/>
          </a:xfrm>
          <a:prstGeom prst="rect">
            <a:avLst/>
          </a:prstGeom>
          <a:solidFill>
            <a:srgbClr val="1F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755648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F6F54"/>
                </a:solidFill>
                <a:latin typeface="微软雅黑" panose="020B0503020204020204" charset="-122"/>
              </a:rPr>
              <a:t>空间维度：山体如何塑造南北差异</a:t>
            </a:r>
            <a:endParaRPr sz="1500" b="1" i="0">
              <a:solidFill>
                <a:srgbClr val="1F6F54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0" y="2139696"/>
            <a:ext cx="60350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· 秦岭—淮河线是南北气候的物理分界（地图页）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· 东南季风水汽被山地抬升，南坡降水多、北坡偏干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· 用 WRF 做的敏感性试验是目前最直接的证据（Wang et al. 2025）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0" y="3639312"/>
            <a:ext cx="6583680" cy="1874519"/>
          </a:xfrm>
          <a:prstGeom prst="rect">
            <a:avLst/>
          </a:prstGeom>
          <a:solidFill>
            <a:srgbClr val="FDEFEE"/>
          </a:solidFill>
          <a:ln w="12700">
            <a:solidFill>
              <a:srgbClr val="E8B4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639312"/>
            <a:ext cx="64008" cy="1874519"/>
          </a:xfrm>
          <a:prstGeom prst="rect">
            <a:avLst/>
          </a:prstGeom>
          <a:solidFill>
            <a:srgbClr val="A6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379476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A6322A"/>
                </a:solidFill>
                <a:latin typeface="微软雅黑" panose="020B0503020204020204" charset="-122"/>
              </a:rPr>
              <a:t>时间维度：近几十年的变化</a:t>
            </a:r>
            <a:endParaRPr sz="1500" b="1" i="0">
              <a:solidFill>
                <a:srgbClr val="A6322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0" y="4178808"/>
            <a:ext cx="60350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· 变暖呈海拔依赖性，山区内部差异显著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· 树轮等长期记录显示近期变暖在过去数百年中异常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1B2A3A"/>
                </a:solidFill>
                <a:latin typeface="微软雅黑" panose="020B0503020204020204" charset="-122"/>
              </a:rPr>
              <a:t>· 气候影响已传导至植被、水资源与碳水循环</a:t>
            </a:r>
            <a:endParaRPr sz="1250" b="0" i="0">
              <a:solidFill>
                <a:srgbClr val="1B2A3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5A6B7C"/>
                </a:solidFill>
                <a:latin typeface="微软雅黑" panose="020B0503020204020204" charset="-122"/>
              </a:rPr>
              <a:t>21</a:t>
            </a:r>
            <a:endParaRPr sz="1050" b="0" i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9387</Words>
  <Application>WPS 演示</Application>
  <PresentationFormat>On-screen Show (4:3)</PresentationFormat>
  <Paragraphs>877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碧海蓝天1416707858</cp:lastModifiedBy>
  <cp:revision>2</cp:revision>
  <dcterms:created xsi:type="dcterms:W3CDTF">2013-01-27T09:14:00Z</dcterms:created>
  <dcterms:modified xsi:type="dcterms:W3CDTF">2026-10-24T06:47:05Z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3F2C00F05ABF4773B1FE43EF8D2544ED_13</vt:lpwstr>
  </property>
  <property fmtid="{D5CDD505-2E9C-101B-9397-08002B2CF9AE}" pid="3" name="KSOProductBuildVer">
    <vt:lpwstr>2052-12.1.0.29161</vt:lpwstr>
  </property>
</Properties>
</file>