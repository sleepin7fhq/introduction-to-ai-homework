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自设研究问题。本文独立推导，不以已知悬链线公式作为证明。数值结果由 research.py 实际运行生成。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解析主线：物理模型，势能与固定长度，等式约束变分，Euler–Lagrange方程，普通微分方程求解，边界与长度。验证支线：弧长受力平衡，正张力全局证明，射击法与离散优化。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设 A=(x1,y1), B=(x2,y2)，D=x2-x1&gt;0。以从A到B的弧长s定向，内力向量Q=T t。支持力作用在整根绳索上分别为-Q(0)和Q(L)，重力向下。最低点x0不一定处于两端之间。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取AC单位速率曲线作为全局比较类，光滑图像用于E-L推导。要求L大于端点直线距离且D&gt;0。不能用本结论直接描述可伸长电缆、刚性梁、接地绳、非均匀质量分布或按水平长度施加的均匀载荷。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y的零点可以任意选定。固定L时，平移高度零点使所有可行曲线的能量同增w b L，不改变极小曲线。</a:t>
            </a:r>
          </a:p>
          <a:p>
            <a:endParaRPr/>
          </a:p>
          <a:p>
            <a:r>
              <a:t>公式 LaTeX 源：</a:t>
            </a:r>
          </a:p>
          <a:p>
            <a:r>
              <a:t>dm=\rho\,ds,\qquad dU=g\,y\,dm=w\,y\,ds</a:t>
            </a:r>
          </a:p>
          <a:p>
            <a:r>
              <a:t>U[\mathbf r]=w\int_0^L y(s)\,ds</a:t>
            </a:r>
          </a:p>
          <a:p>
            <a:r>
              <a:t>ds=\sqrt{1+y^{\prime 2}}\,dx,\qquad U[y]=w\int_{x_1}^{x_2}y\sqrt{1+y^{\prime 2}}\,dx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图像类仅用于导出候选解。最后的全局证明在所有AC单位速率二维曲线中比较，覆盖回折曲线。可行性要求L≥d=|B-A|。本项目主体取L&gt;d。</a:t>
            </a:r>
          </a:p>
          <a:p>
            <a:endParaRPr/>
          </a:p>
          <a:p>
            <a:r>
              <a:t>公式 LaTeX 源：</a:t>
            </a:r>
          </a:p>
          <a:p>
            <a:r>
              <a:t>S[y]=\int_{x_1}^{x_2}\sqrt{1+y^{\prime 2}}\,dx=L</a:t>
            </a:r>
          </a:p>
          <a:p>
            <a:r>
              <a:t>y(x_1)=y_1,\qquad y(x_2)=y_2</a:t>
            </a:r>
          </a:p>
          <a:p>
            <a:r>
              <a:t>\min_{y\in\mathcal A_L}\ U[y]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小势能原理适用于稳定平衡，但一般静力学驻值也可能不稳定。本文不假设所有平衡都最小，而是在求得正张力候选曲线后证明全局最小性。没有阻尼的理想绳索不会自动从任意初态停止，静态解不等价于动力学收敛。</a:t>
            </a:r>
          </a:p>
          <a:p>
            <a:endParaRPr/>
          </a:p>
          <a:p>
            <a:r>
              <a:t>公式 LaTeX 源：</a:t>
            </a:r>
          </a:p>
          <a:p>
            <a:r>
              <a:t>\delta U=0\quad\hbox{on admissible variations}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若δS[η]=0对所有端点为零的η成立，分部积分给出d/dx(y′/sqrt(1+y′²))=0，故y′恒定，曲线为直线且S=d。L&gt;d时约束正则，标准等周问题乘子法可用。</a:t>
            </a:r>
          </a:p>
          <a:p>
            <a:endParaRPr/>
          </a:p>
          <a:p>
            <a:r>
              <a:t>公式 LaTeX 源：</a:t>
            </a:r>
          </a:p>
          <a:p>
            <a:r>
              <a:t>J_\lambda[y]=\int_{x_1}^{x_2}(wy+\lambda)\sqrt{1+y^{\prime 2}}\,dx-\lambda L</a:t>
            </a:r>
          </a:p>
          <a:p>
            <a:r>
              <a:t>\delta S[\eta]=\int_{x_1}^{x_2}\frac{y^\prime\eta^\prime}{\sqrt{1+y^{\prime 2}}}\,dx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展开d[(wy+λ)p/q]/dx=w p²/q+(wy+λ)y″/q³。wq-wp²/q=w/q，乘q³得到最终方程。这里仅获得驻值的必要条件。</a:t>
            </a:r>
          </a:p>
          <a:p>
            <a:endParaRPr/>
          </a:p>
          <a:p>
            <a:r>
              <a:t>公式 LaTeX 源：</a:t>
            </a:r>
          </a:p>
          <a:p>
            <a:r>
              <a:t>\delta J_\lambda=\int_{x_1}^{x_2}\left[wq\eta+(wy+\lambda)\frac{p}{q}\eta^\prime\right]dx</a:t>
            </a:r>
          </a:p>
          <a:p>
            <a:r>
              <a:t>wq-\frac{d}{dx}\left[(wy+\lambda)\frac{p}{q}\right]=0</a:t>
            </a:r>
          </a:p>
          <a:p>
            <a:r>
              <a:t>(wy+\lambda)y^{\prime\prime}=w(1+y^{\prime 2})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从z p dp/dz=1+p²积分得到1+p²=K z²。K&gt;0，定义a=1/sqrt(K)。物理解要求正张力，稍后独立力学验证T=wz&gt;0。E-L另有z&lt;0的倒悬分支，应结合稳定性与只能承受拉力的绳索排除。</a:t>
            </a:r>
          </a:p>
          <a:p>
            <a:endParaRPr/>
          </a:p>
          <a:p>
            <a:r>
              <a:t>公式 LaTeX 源：</a:t>
            </a:r>
          </a:p>
          <a:p>
            <a:r>
              <a:t>zz^{\prime\prime}=1+z^{\prime 2}</a:t>
            </a:r>
          </a:p>
          <a:p>
            <a:r>
              <a:t>p=z^\prime,\qquad z p\frac{dp}{dz}=1+p^2</a:t>
            </a:r>
          </a:p>
          <a:p>
            <a:r>
              <a:t>\frac12\ln(1+p^2)=\ln z+C</a:t>
            </a:r>
          </a:p>
          <a:p>
            <a:r>
              <a:t>1+z^{\prime 2}=\frac{z^2}{a^2},\qquad a&gt;0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因为AB=a²/4且z在区间为正，A,B必须为正。由A/B定义x0，得到双曲余弦。通过线性方程求解避免在最低点分离变量时符号选择不连续。</a:t>
            </a:r>
          </a:p>
          <a:p>
            <a:endParaRPr/>
          </a:p>
          <a:p>
            <a:r>
              <a:t>公式 LaTeX 源：</a:t>
            </a:r>
          </a:p>
          <a:p>
            <a:r>
              <a:t>z^{\prime\prime}=z/a^2,\qquad z=Ae^{x/a}+Be^{-x/a}</a:t>
            </a:r>
          </a:p>
          <a:p>
            <a:r>
              <a:t>z^2-a^2z^{\prime 2}=4AB=a^2</a:t>
            </a:r>
          </a:p>
          <a:p>
            <a:r>
              <a:t>A=\frac a2 e^{-x_0/a},\qquad B=\frac a2 e^{x_0/a}</a:t>
            </a:r>
          </a:p>
          <a:p>
            <a:r>
              <a:t>\boxed{y(x)=a\cosh\!\left(\frac{x-x_0}{a}\right)+c},\qquad c=-\lambda/w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u,v定义使端点无量纲坐标分别为v-u和v+u。使用cosh(v+u)-cosh(v-u)=2sinh(v)sinh(u)，以及sinh(v+u)-sinh(v-u)=2cosh(v)sinh(u)。</a:t>
            </a:r>
          </a:p>
          <a:p>
            <a:endParaRPr/>
          </a:p>
          <a:p>
            <a:r>
              <a:t>公式 LaTeX 源：</a:t>
            </a:r>
          </a:p>
          <a:p>
            <a:r>
              <a:t>u=\frac{D}{2a},\qquad v=\frac{x_m-x_0}{a}</a:t>
            </a:r>
          </a:p>
          <a:p>
            <a:r>
              <a:t>\Delta=2a\sinh u\sinh v,\qquad L=2a\sinh u\cosh v</a:t>
            </a:r>
          </a:p>
          <a:p>
            <a:r>
              <a:t>\tanh v=\Delta/L,\qquad \sqrt{L^2-\Delta^2}=2a\sinh\!\left(\frac D{2a}\right)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导数分子h(u)=u cosh u-sinh u满足h(0)=0,h′(u)=u sinh u&gt;0。D=0的竖直退化情形不属于此图像推导。对Δ≠0且绳长接近d，x0可能在区间外，不能默认最低点位于跨度内。</a:t>
            </a:r>
          </a:p>
          <a:p>
            <a:endParaRPr/>
          </a:p>
          <a:p>
            <a:r>
              <a:t>公式 LaTeX 源：</a:t>
            </a:r>
          </a:p>
          <a:p>
            <a:r>
              <a:t>\frac{\sinh u}{u}=\frac{\sqrt{L^2-\Delta^2}}D&gt;1,\qquad u&gt;0</a:t>
            </a:r>
          </a:p>
          <a:p>
            <a:r>
              <a:t>\frac d{du}\frac{\sinh u}{u}=\frac{u\cosh u-\sinh u}{u^2}&gt;0</a:t>
            </a:r>
          </a:p>
          <a:p>
            <a:r>
              <a:t>x_0=x_m-a\operatorname{artanh}(\Delta/L),\quad c=y_1-a\cosh\!\left(\frac{x_1-x_0}{a}\right)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微元左端受-Q(s)，右端受Q(s+ds)，重力为(0,-w ds)，平衡给出Q′=(0,w)。切向约束Q=Tt给出V=H y′。对p积分：dp/sqrt(1+p²)=dx/a，故asinh p=(x-x0)/a；p=sinh，积分得到y=a cosh+c。此推导不使用能量泛函。</a:t>
            </a:r>
          </a:p>
          <a:p>
            <a:endParaRPr/>
          </a:p>
          <a:p>
            <a:r>
              <a:t>公式 LaTeX 源：</a:t>
            </a:r>
          </a:p>
          <a:p>
            <a:r>
              <a:t>\frac{d\mathbf Q}{ds}=(0,w),\qquad H=\mathrm{const}&gt;0</a:t>
            </a:r>
          </a:p>
          <a:p>
            <a:r>
              <a:t>V=Hy^\prime,\qquad \frac{dV}{dx}=w\frac{ds}{dx}</a:t>
            </a:r>
          </a:p>
          <a:p>
            <a:r>
              <a:t>Hy^{\prime\prime}=w\sqrt{1+y^{\prime 2}},\qquad a=H/w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λ具有力的量纲，但数值依赖势能零点，不应无条件称为水平张力。此处y1=0使λ=T(A)，这是当前零点造成的数值等式。包络结论在固定端点及当前势能零点下成立。</a:t>
            </a:r>
          </a:p>
          <a:p>
            <a:endParaRPr/>
          </a:p>
          <a:p>
            <a:r>
              <a:t>公式 LaTeX 源：</a:t>
            </a:r>
          </a:p>
          <a:p>
            <a:r>
              <a:t>H=wa,\qquad V(x)=wa\sinh\!\left(\frac{x-x_0}{a}\right)</a:t>
            </a:r>
          </a:p>
          <a:p>
            <a:r>
              <a:t>T(x)=H\sqrt{1+y^{\prime 2}}=wa\cosh\!\left(\frac{x-x_0}{a}\right)=wy+\lambda</a:t>
            </a:r>
          </a:p>
          <a:p>
            <a:r>
              <a:t>\lambda=-wc,\qquad \frac{dU_*(L)}{dL}=-\lambda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证明比较类包括非图像、回折以及自交曲线。因T*&gt;0，积分等号要求t*·r′=1，而单位向量的点积达到1仅当相同。甚至在放宽约束|r′|≤1的凸类上同一证明也成立。因此此候选是原可行类的唯一全局极小曲线，不依赖E-L条件的充分性猜测。</a:t>
            </a:r>
          </a:p>
          <a:p>
            <a:endParaRPr/>
          </a:p>
          <a:p>
            <a:r>
              <a:t>公式 LaTeX 源：</a:t>
            </a:r>
          </a:p>
          <a:p>
            <a:r>
              <a:t>\mathbf Q_*(s)=T_*(s)\mathbf t_*(s),\qquad \mathbf Q_*^\prime=(0,w)</a:t>
            </a:r>
          </a:p>
          <a:p>
            <a:r>
              <a:t>U[\mathbf r]-U[\mathbf r_*]=\int_0^L\mathbf Q_*^\prime\cdot(\mathbf r-\mathbf r_*)\,ds</a:t>
            </a:r>
          </a:p>
          <a:p>
            <a:r>
              <a:t>=\int_0^L T_*(s)\left[1-\mathbf t_*(s)\cdot\mathbf r^\prime(s)\right]ds\ \geq\ 0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由于两个单位向量之间有1-t*·rε′=|rε′-t*|²/2，这是精确恒等式。将rε′-t*=εh′+O(ε²)代入全局证书即可。h在端点为零，若h′=0则h=0。</a:t>
            </a:r>
          </a:p>
          <a:p>
            <a:endParaRPr/>
          </a:p>
          <a:p>
            <a:r>
              <a:t>公式 LaTeX 源：</a:t>
            </a:r>
          </a:p>
          <a:p>
            <a:r>
              <a:t>\mathbf r_\varepsilon=\mathbf r_*+\varepsilon\mathbf h+O(\varepsilon^2),\qquad \mathbf t_*\cdot\mathbf h^\prime=0</a:t>
            </a:r>
          </a:p>
          <a:p>
            <a:r>
              <a:t>U[\mathbf r_\varepsilon]-U[\mathbf r_*]=\frac{\varepsilon^2}{2}\int_0^L T_*|\mathbf h^\prime|^2\,ds+o(\varepsilon^2)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沿E-L解，d(F-pF_p)/dx=F_x+p(F_y-dF_p/dx)=F_x。F_x=0只指显式偏导。这里把Beltrami作为已完成普通微分方程推导后的结构性复核。</a:t>
            </a:r>
          </a:p>
          <a:p>
            <a:endParaRPr/>
          </a:p>
          <a:p>
            <a:r>
              <a:t>公式 LaTeX 源：</a:t>
            </a:r>
          </a:p>
          <a:p>
            <a:r>
              <a:t>\frac d{dx}(F-y^\prime F_{y^\prime})=F_x=0</a:t>
            </a:r>
          </a:p>
          <a:p>
            <a:r>
              <a:t>F-y^\prime F_{y^\prime}=\frac{wy+\lambda}{\sqrt{1+y^{\prime 2}}}=C</a:t>
            </a:r>
          </a:p>
          <a:p>
            <a:r>
              <a:t>C=wa=H,\qquad y+\lambda/w=a\sqrt{1+y^{\prime 2}}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完整实现及版本号见research.py与results.json。布伦特法xtol=5e-15，初始正根区间[1e-7,15]。射击法初值H=40N,V0=-40N，使用log H保证H&gt;0。所有图像来自实际程序输出，未使用生成式图像代替计算。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射击法未知量H,V0满足r′=(H,V0+ws)/sqrt(H²+(V0+ws)²)，以两端坐标闭合。结果H=38.41375670498078N,V0=-36.90214798543809N。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A端支持力=(-H,-V0)，B端支持力=(H,V0+wL)。水平合力为0，竖直支持力和为wL。V是沿A到B方向定义的有符号内力分量。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显示0仅表示当前双精度运算返回0，不意味着可无限精度认证。E-L残差采用(wy+λ)y″-w(1+y′²)，量纲N/m。解析和射击曲线的差不是实验测量误差。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变量是内部节点二维坐标。每个相邻节点距离等于L/N。目标w(L/N)[(y0+yN)/2+sum内部y]。初始曲线在连续解上加入0.15sin(πs/L)的竖直扰动，避免把解析节点当成最终优化结果。优化分别迭代26、46、164次，均成功。最大节点误差按相同材料弧长节点比较，不是垂直误差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KKT无穷范数残差分别约9.59e-7、2.16e-6、3.69e-7，受优化停止准则和线性最小二乘影响。三组网格观察到二阶趋势，但不能据此宣称已证明任意网格的理论收敛阶。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取L从d+0.02到16m共100组真实求根结果。因为sinh(u)/u单调，L增大导致u增大、a减小。近d时L²-d²≈D⁴/(12a²)，故a≈D²/sqrt[12(L²-d²)]。ρ,g为正且均匀时仅影响势能和张力量级。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相对下垂误差定义为[cosh(z)-1-z²/2]/[cosh(z)-1]。数值由程序计算。实际绳索自重按ds均匀，而不是按dx均匀，因而荷载密度对x是w sqrt(1+y′²)。</a:t>
            </a:r>
          </a:p>
          <a:p>
            <a:endParaRPr/>
          </a:p>
          <a:p>
            <a:r>
              <a:t>公式 LaTeX 源：</a:t>
            </a:r>
          </a:p>
          <a:p>
            <a:r>
              <a:t>y-y_{\min}=a\left[\cosh\!\left(\frac{x-x_0}{a}\right)-1\right]</a:t>
            </a:r>
          </a:p>
          <a:p>
            <a:r>
              <a:t>=\frac{(x-x_0)^2}{2a}+\frac{(x-x_0)^4}{24a^3}+O\!\left(\frac{(x-x_0)^6}{a^5}\right)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正文、示意图、流程图和表格是可编辑对象。复杂数学公式及科学图表为程序生成的独立高清图，可用随附源代码和LaTeX重新生成。未使用Microsoft PowerPoint桌面实测，不将渲染检查等同于所有Office版本兼容验证。</a:t>
            </a:r>
          </a:p>
          <a:p>
            <a:endParaRPr/>
          </a:p>
          <a:p>
            <a:r>
              <a:t>公式 LaTeX 源：</a:t>
            </a:r>
          </a:p>
          <a:p>
            <a:endParaRPr/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运行方式：python research.py，需numpy scipy matplotlib。构建PPTX使用当前Artifact Tool运行环境。为便于审查，所有图表及公式均保留为独立资源。</a:t>
            </a:r>
          </a:p>
          <a:p>
            <a:endParaRPr/>
          </a:p>
          <a:p>
            <a:r>
              <a:t>公式 LaTeX 源：</a:t>
            </a:r>
          </a:p>
          <a:p>
            <a:r>
              <a:t>u=\operatorname{root}\!\left(\sinh(u)/u-\sqrt{L^2-\Delta^2}/D\right)</a:t>
            </a:r>
          </a:p>
          <a:p>
            <a:r>
              <a:t>\mathbf r^\prime(s)=\frac{(H,V_0+ws)}{\sqrt{H^2+(V_0+ws)^2}}</a:t>
            </a:r>
          </a:p>
          <a:p>
            <a:endParaRPr/>
          </a:p>
          <a:p>
            <a:r>
              <a:t>所有数值来源：本项目 research.py 的实际运行结果，见 results.json。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21F37B0-3015-4B50-81CD-2EC0F227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BEA328A-A0C0-46E3-945A-3180A03FD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B9090F3-29CA-4B6F-9B28-63AF816F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C4D0F5B-2CF7-4DB1-B994-0A2F59434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095D469-8609-43CC-8583-CE8E3E181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7FC81E3-9549-4313-BE16-FAACAEFE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776FF6-0B84-432A-92C7-186A13B87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B3EEB20-2538-493E-899A-9880246223D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DF091D-E016-4D07-8831-98A57C910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1F99ECA-DCF2-48B2-8A84-7746FA412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3D51AF8-F02F-48A1-8361-39C6F1D0C198}"/>
              </a:ext>
            </a:extLst>
          </p:cNvPr>
          <p:cNvSpPr>
            <a:spLocks noGrp="1"/>
          </p:cNvSpPr>
          <p:nvPr/>
        </p:nvSpPr>
        <p:spPr>
          <a:xfrm>
            <a:off x="286602" y="-38100"/>
            <a:ext cx="12192000" cy="6858000"/>
          </a:xfrm>
          <a:prstGeom prst="rect">
            <a:avLst/>
          </a:prstGeom>
          <a:solidFill>
            <a:srgbClr val="F5F8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FD53C3-BF7F-4098-9B69-C01F31420223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66675" cy="87630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B4778C-2448-498C-8D0D-2B5FB7A121EA}"/>
              </a:ext>
            </a:extLst>
          </p:cNvPr>
          <p:cNvSpPr>
            <a:spLocks noGrp="1"/>
          </p:cNvSpPr>
          <p:nvPr/>
        </p:nvSpPr>
        <p:spPr>
          <a:xfrm>
            <a:off x="952499" y="1333500"/>
            <a:ext cx="5076823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48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48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 dirty="0" err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悬链线</a:t>
            </a:r>
            <a:r>
              <a:rPr lang="zh-CN" altLang="en-US" sz="4800" b="1" dirty="0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的数学推导</a:t>
            </a:r>
            <a:endParaRPr sz="4800" b="1" dirty="0">
              <a:solidFill>
                <a:srgbClr val="17345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E2232A-FF9F-41F1-B896-F3C4C0DAFB4B}"/>
              </a:ext>
            </a:extLst>
          </p:cNvPr>
          <p:cNvSpPr>
            <a:spLocks noGrp="1"/>
          </p:cNvSpPr>
          <p:nvPr/>
        </p:nvSpPr>
        <p:spPr>
          <a:xfrm>
            <a:off x="952500" y="2390775"/>
            <a:ext cx="4953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775" b="0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775" b="0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0" dirty="0" err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从约束能量到静力学平衡</a:t>
            </a:r>
            <a:endParaRPr sz="2775" b="0" dirty="0">
              <a:solidFill>
                <a:srgbClr val="17345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215CB4-215E-440A-8B39-95BCED3EB89C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466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1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解析推导、全局最小性</a:t>
            </a:r>
          </a:p>
          <a:p>
            <a:pPr>
              <a:defRPr sz="21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与数值验证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F2A9DE2-00CA-436F-B921-39BFA22C04C8}"/>
              </a:ext>
            </a:extLst>
          </p:cNvPr>
          <p:cNvSpPr>
            <a:spLocks noGrp="1"/>
          </p:cNvSpPr>
          <p:nvPr/>
        </p:nvSpPr>
        <p:spPr>
          <a:xfrm>
            <a:off x="6238875" y="2905125"/>
            <a:ext cx="5048250" cy="1853838"/>
          </a:xfrm>
          <a:custGeom>
            <a:avLst/>
            <a:gdLst/>
            <a:ahLst/>
            <a:cxnLst/>
            <a:rect l="0" t="0" r="0" b="0"/>
            <a:pathLst>
              <a:path w="5048250" h="1853838">
                <a:moveTo>
                  <a:pt x="0" y="952500"/>
                </a:moveTo>
                <a:lnTo>
                  <a:pt x="50482" y="997579"/>
                </a:lnTo>
                <a:lnTo>
                  <a:pt x="100965" y="1041329"/>
                </a:lnTo>
                <a:lnTo>
                  <a:pt x="151447" y="1083765"/>
                </a:lnTo>
                <a:lnTo>
                  <a:pt x="201930" y="1124908"/>
                </a:lnTo>
                <a:lnTo>
                  <a:pt x="252413" y="1164773"/>
                </a:lnTo>
                <a:lnTo>
                  <a:pt x="302895" y="1203377"/>
                </a:lnTo>
                <a:lnTo>
                  <a:pt x="353378" y="1240737"/>
                </a:lnTo>
                <a:lnTo>
                  <a:pt x="403860" y="1276868"/>
                </a:lnTo>
                <a:lnTo>
                  <a:pt x="454343" y="1311785"/>
                </a:lnTo>
                <a:lnTo>
                  <a:pt x="504825" y="1345503"/>
                </a:lnTo>
                <a:lnTo>
                  <a:pt x="555307" y="1378036"/>
                </a:lnTo>
                <a:lnTo>
                  <a:pt x="605790" y="1409397"/>
                </a:lnTo>
                <a:lnTo>
                  <a:pt x="656272" y="1439599"/>
                </a:lnTo>
                <a:lnTo>
                  <a:pt x="706755" y="1468656"/>
                </a:lnTo>
                <a:lnTo>
                  <a:pt x="757238" y="1496578"/>
                </a:lnTo>
                <a:lnTo>
                  <a:pt x="807720" y="1523379"/>
                </a:lnTo>
                <a:lnTo>
                  <a:pt x="858203" y="1549068"/>
                </a:lnTo>
                <a:lnTo>
                  <a:pt x="908685" y="1573658"/>
                </a:lnTo>
                <a:lnTo>
                  <a:pt x="959168" y="1597157"/>
                </a:lnTo>
                <a:lnTo>
                  <a:pt x="1009650" y="1619576"/>
                </a:lnTo>
                <a:lnTo>
                  <a:pt x="1060132" y="1640924"/>
                </a:lnTo>
                <a:lnTo>
                  <a:pt x="1110615" y="1661211"/>
                </a:lnTo>
                <a:lnTo>
                  <a:pt x="1161097" y="1680444"/>
                </a:lnTo>
                <a:lnTo>
                  <a:pt x="1211580" y="1698631"/>
                </a:lnTo>
                <a:lnTo>
                  <a:pt x="1262063" y="1715781"/>
                </a:lnTo>
                <a:lnTo>
                  <a:pt x="1312545" y="1731900"/>
                </a:lnTo>
                <a:lnTo>
                  <a:pt x="1363028" y="1746995"/>
                </a:lnTo>
                <a:lnTo>
                  <a:pt x="1413510" y="1761073"/>
                </a:lnTo>
                <a:lnTo>
                  <a:pt x="1463993" y="1774139"/>
                </a:lnTo>
                <a:lnTo>
                  <a:pt x="1514475" y="1786198"/>
                </a:lnTo>
                <a:lnTo>
                  <a:pt x="1564957" y="1797256"/>
                </a:lnTo>
                <a:lnTo>
                  <a:pt x="1615440" y="1807318"/>
                </a:lnTo>
                <a:lnTo>
                  <a:pt x="1665922" y="1816387"/>
                </a:lnTo>
                <a:lnTo>
                  <a:pt x="1716405" y="1824468"/>
                </a:lnTo>
                <a:lnTo>
                  <a:pt x="1766888" y="1831563"/>
                </a:lnTo>
                <a:lnTo>
                  <a:pt x="1817370" y="1837676"/>
                </a:lnTo>
                <a:lnTo>
                  <a:pt x="1867853" y="1842809"/>
                </a:lnTo>
                <a:lnTo>
                  <a:pt x="1918335" y="1846964"/>
                </a:lnTo>
                <a:lnTo>
                  <a:pt x="1968818" y="1850144"/>
                </a:lnTo>
                <a:lnTo>
                  <a:pt x="2019300" y="1852349"/>
                </a:lnTo>
                <a:lnTo>
                  <a:pt x="2069782" y="1853580"/>
                </a:lnTo>
                <a:lnTo>
                  <a:pt x="2120265" y="1853838"/>
                </a:lnTo>
                <a:lnTo>
                  <a:pt x="2170748" y="1853123"/>
                </a:lnTo>
                <a:lnTo>
                  <a:pt x="2221230" y="1851435"/>
                </a:lnTo>
                <a:lnTo>
                  <a:pt x="2271713" y="1848773"/>
                </a:lnTo>
                <a:lnTo>
                  <a:pt x="2322195" y="1845135"/>
                </a:lnTo>
                <a:lnTo>
                  <a:pt x="2372678" y="1840521"/>
                </a:lnTo>
                <a:lnTo>
                  <a:pt x="2423160" y="1834929"/>
                </a:lnTo>
                <a:lnTo>
                  <a:pt x="2473643" y="1828355"/>
                </a:lnTo>
                <a:lnTo>
                  <a:pt x="2524125" y="1820798"/>
                </a:lnTo>
                <a:lnTo>
                  <a:pt x="2574607" y="1812254"/>
                </a:lnTo>
                <a:lnTo>
                  <a:pt x="2625090" y="1802719"/>
                </a:lnTo>
                <a:lnTo>
                  <a:pt x="2675573" y="1792190"/>
                </a:lnTo>
                <a:lnTo>
                  <a:pt x="2726055" y="1780663"/>
                </a:lnTo>
                <a:lnTo>
                  <a:pt x="2776538" y="1768132"/>
                </a:lnTo>
                <a:lnTo>
                  <a:pt x="2827020" y="1754592"/>
                </a:lnTo>
                <a:lnTo>
                  <a:pt x="2877503" y="1740037"/>
                </a:lnTo>
                <a:lnTo>
                  <a:pt x="2927985" y="1724462"/>
                </a:lnTo>
                <a:lnTo>
                  <a:pt x="2978468" y="1707860"/>
                </a:lnTo>
                <a:lnTo>
                  <a:pt x="3028950" y="1690224"/>
                </a:lnTo>
                <a:lnTo>
                  <a:pt x="3079432" y="1671547"/>
                </a:lnTo>
                <a:lnTo>
                  <a:pt x="3129915" y="1651821"/>
                </a:lnTo>
                <a:lnTo>
                  <a:pt x="3180398" y="1631037"/>
                </a:lnTo>
                <a:lnTo>
                  <a:pt x="3230880" y="1609187"/>
                </a:lnTo>
                <a:lnTo>
                  <a:pt x="3281363" y="1586262"/>
                </a:lnTo>
                <a:lnTo>
                  <a:pt x="3331845" y="1562252"/>
                </a:lnTo>
                <a:lnTo>
                  <a:pt x="3382328" y="1537148"/>
                </a:lnTo>
                <a:lnTo>
                  <a:pt x="3432810" y="1510938"/>
                </a:lnTo>
                <a:lnTo>
                  <a:pt x="3483293" y="1483613"/>
                </a:lnTo>
                <a:lnTo>
                  <a:pt x="3533775" y="1455159"/>
                </a:lnTo>
                <a:lnTo>
                  <a:pt x="3584257" y="1425566"/>
                </a:lnTo>
                <a:lnTo>
                  <a:pt x="3634740" y="1394822"/>
                </a:lnTo>
                <a:lnTo>
                  <a:pt x="3685223" y="1362913"/>
                </a:lnTo>
                <a:lnTo>
                  <a:pt x="3735705" y="1329825"/>
                </a:lnTo>
                <a:lnTo>
                  <a:pt x="3786188" y="1295546"/>
                </a:lnTo>
                <a:lnTo>
                  <a:pt x="3836670" y="1260061"/>
                </a:lnTo>
                <a:lnTo>
                  <a:pt x="3887152" y="1223356"/>
                </a:lnTo>
                <a:lnTo>
                  <a:pt x="3937635" y="1185413"/>
                </a:lnTo>
                <a:lnTo>
                  <a:pt x="3988118" y="1146219"/>
                </a:lnTo>
                <a:lnTo>
                  <a:pt x="4038600" y="1105757"/>
                </a:lnTo>
                <a:lnTo>
                  <a:pt x="4089082" y="1064009"/>
                </a:lnTo>
                <a:lnTo>
                  <a:pt x="4139565" y="1020958"/>
                </a:lnTo>
                <a:lnTo>
                  <a:pt x="4190048" y="976587"/>
                </a:lnTo>
                <a:lnTo>
                  <a:pt x="4240530" y="930877"/>
                </a:lnTo>
                <a:lnTo>
                  <a:pt x="4291013" y="883808"/>
                </a:lnTo>
                <a:lnTo>
                  <a:pt x="4341495" y="835362"/>
                </a:lnTo>
                <a:lnTo>
                  <a:pt x="4391977" y="785517"/>
                </a:lnTo>
                <a:lnTo>
                  <a:pt x="4442460" y="734253"/>
                </a:lnTo>
                <a:lnTo>
                  <a:pt x="4492943" y="681549"/>
                </a:lnTo>
                <a:lnTo>
                  <a:pt x="4543425" y="627383"/>
                </a:lnTo>
                <a:lnTo>
                  <a:pt x="4593908" y="571731"/>
                </a:lnTo>
                <a:lnTo>
                  <a:pt x="4644390" y="514572"/>
                </a:lnTo>
                <a:lnTo>
                  <a:pt x="4694873" y="455880"/>
                </a:lnTo>
                <a:lnTo>
                  <a:pt x="4745355" y="395632"/>
                </a:lnTo>
                <a:lnTo>
                  <a:pt x="4795838" y="333802"/>
                </a:lnTo>
                <a:lnTo>
                  <a:pt x="4846320" y="270365"/>
                </a:lnTo>
                <a:lnTo>
                  <a:pt x="4896802" y="205293"/>
                </a:lnTo>
                <a:lnTo>
                  <a:pt x="4947285" y="138561"/>
                </a:lnTo>
                <a:lnTo>
                  <a:pt x="4997768" y="70139"/>
                </a:lnTo>
                <a:lnTo>
                  <a:pt x="5048250" y="0"/>
                </a:lnTo>
              </a:path>
            </a:pathLst>
          </a:custGeom>
          <a:noFill/>
          <a:ln w="4762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BCA27D5-D0E3-4453-AEE6-CC9888219109}"/>
              </a:ext>
            </a:extLst>
          </p:cNvPr>
          <p:cNvSpPr>
            <a:spLocks noGrp="1"/>
          </p:cNvSpPr>
          <p:nvPr/>
        </p:nvSpPr>
        <p:spPr>
          <a:xfrm>
            <a:off x="6162675" y="3781425"/>
            <a:ext cx="152400" cy="152400"/>
          </a:xfrm>
          <a:prstGeom prst="ellipse">
            <a:avLst/>
          </a:prstGeom>
          <a:solidFill>
            <a:srgbClr val="17345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E96C6F3-C261-44CC-97CC-875DC53528BF}"/>
              </a:ext>
            </a:extLst>
          </p:cNvPr>
          <p:cNvSpPr>
            <a:spLocks noGrp="1"/>
          </p:cNvSpPr>
          <p:nvPr/>
        </p:nvSpPr>
        <p:spPr>
          <a:xfrm>
            <a:off x="11210925" y="2828925"/>
            <a:ext cx="152400" cy="152400"/>
          </a:xfrm>
          <a:prstGeom prst="ellipse">
            <a:avLst/>
          </a:prstGeom>
          <a:solidFill>
            <a:srgbClr val="17345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866C24-BF55-4C42-8D9D-8E148598B5D4}"/>
              </a:ext>
            </a:extLst>
          </p:cNvPr>
          <p:cNvSpPr>
            <a:spLocks noGrp="1"/>
          </p:cNvSpPr>
          <p:nvPr/>
        </p:nvSpPr>
        <p:spPr>
          <a:xfrm>
            <a:off x="952500" y="5857875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008B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1">
                <a:solidFill>
                  <a:srgbClr val="008B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1">
                <a:solidFill>
                  <a:srgbClr val="008B8B"/>
                </a:solidFill>
                <a:latin typeface="Noto Sans CJK SC"/>
                <a:ea typeface="Noto Sans CJK SC"/>
                <a:cs typeface="Noto Sans CJK SC"/>
              </a:rPr>
              <a:t>数学研究</a:t>
            </a:r>
            <a:endParaRPr sz="1800" b="1" dirty="0">
              <a:solidFill>
                <a:srgbClr val="008B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1C7776-4F5C-410E-8092-7A319421B11E}"/>
              </a:ext>
            </a:extLst>
          </p:cNvPr>
          <p:cNvSpPr>
            <a:spLocks noGrp="1"/>
          </p:cNvSpPr>
          <p:nvPr/>
        </p:nvSpPr>
        <p:spPr>
          <a:xfrm>
            <a:off x="9810750" y="59245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65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742939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919F4C9-6F01-47DC-80EF-DFDA701A865C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研究逻辑与验证路径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8B65CF-106F-49D3-A484-B3FE60FB55D2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从物理假设出发，分别检查必要条件、充分条件与计算误差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E79960-AC9A-46A5-94F4-596B2F89032F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9FCE2D-298D-47E6-8794-4D19E53512D2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315B80-B782-4063-AD04-E1F752F960C5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2238375" cy="828675"/>
          </a:xfrm>
          <a:prstGeom prst="rect">
            <a:avLst/>
          </a:prstGeom>
          <a:solidFill>
            <a:srgbClr val="17345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E6DD05-1AE2-49DB-A9C5-F760DE145AFC}"/>
              </a:ext>
            </a:extLst>
          </p:cNvPr>
          <p:cNvSpPr>
            <a:spLocks noGrp="1"/>
          </p:cNvSpPr>
          <p:nvPr/>
        </p:nvSpPr>
        <p:spPr>
          <a:xfrm>
            <a:off x="809625" y="2571750"/>
            <a:ext cx="1981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物理模型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7D08D0-4E1F-4563-B2B4-6D7912C3D7E6}"/>
              </a:ext>
            </a:extLst>
          </p:cNvPr>
          <p:cNvSpPr>
            <a:spLocks noGrp="1"/>
          </p:cNvSpPr>
          <p:nvPr/>
        </p:nvSpPr>
        <p:spPr>
          <a:xfrm>
            <a:off x="3419475" y="2352675"/>
            <a:ext cx="2238375" cy="828675"/>
          </a:xfrm>
          <a:prstGeom prst="rect">
            <a:avLst/>
          </a:prstGeom>
          <a:solidFill>
            <a:srgbClr val="E8F3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9A1521-4333-4A37-8C73-47D812DB8FC7}"/>
              </a:ext>
            </a:extLst>
          </p:cNvPr>
          <p:cNvSpPr>
            <a:spLocks noGrp="1"/>
          </p:cNvSpPr>
          <p:nvPr/>
        </p:nvSpPr>
        <p:spPr>
          <a:xfrm>
            <a:off x="3543300" y="2571750"/>
            <a:ext cx="1981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1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能量与长度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246ABB-AC24-47D5-B3AF-F7D77FCFBE98}"/>
              </a:ext>
            </a:extLst>
          </p:cNvPr>
          <p:cNvSpPr>
            <a:spLocks noGrp="1"/>
          </p:cNvSpPr>
          <p:nvPr/>
        </p:nvSpPr>
        <p:spPr>
          <a:xfrm>
            <a:off x="6153150" y="2352675"/>
            <a:ext cx="2238375" cy="828675"/>
          </a:xfrm>
          <a:prstGeom prst="rect">
            <a:avLst/>
          </a:prstGeom>
          <a:solidFill>
            <a:srgbClr val="E8F3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6242A8-C305-4B5A-A422-24B57FE36E60}"/>
              </a:ext>
            </a:extLst>
          </p:cNvPr>
          <p:cNvSpPr>
            <a:spLocks noGrp="1"/>
          </p:cNvSpPr>
          <p:nvPr/>
        </p:nvSpPr>
        <p:spPr>
          <a:xfrm>
            <a:off x="6276975" y="2571750"/>
            <a:ext cx="1981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1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约束变分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ED6C34-3225-4932-8C0C-16A41B4F3B92}"/>
              </a:ext>
            </a:extLst>
          </p:cNvPr>
          <p:cNvSpPr>
            <a:spLocks noGrp="1"/>
          </p:cNvSpPr>
          <p:nvPr/>
        </p:nvSpPr>
        <p:spPr>
          <a:xfrm>
            <a:off x="8886825" y="2352675"/>
            <a:ext cx="2238375" cy="828675"/>
          </a:xfrm>
          <a:prstGeom prst="rect">
            <a:avLst/>
          </a:prstGeom>
          <a:solidFill>
            <a:srgbClr val="E8F3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016267-6600-4B35-A303-DA3157FD5E91}"/>
              </a:ext>
            </a:extLst>
          </p:cNvPr>
          <p:cNvSpPr>
            <a:spLocks noGrp="1"/>
          </p:cNvSpPr>
          <p:nvPr/>
        </p:nvSpPr>
        <p:spPr>
          <a:xfrm>
            <a:off x="9010650" y="2571750"/>
            <a:ext cx="1981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1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解析曲线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00E3E7F0-AAC9-4A12-9F13-B077B5C69C12}"/>
              </a:ext>
            </a:extLst>
          </p:cNvPr>
          <p:cNvSpPr>
            <a:spLocks noGrp="1"/>
          </p:cNvSpPr>
          <p:nvPr/>
        </p:nvSpPr>
        <p:spPr>
          <a:xfrm>
            <a:off x="2952750" y="2771775"/>
            <a:ext cx="381000" cy="9525"/>
          </a:xfrm>
          <a:custGeom>
            <a:avLst/>
            <a:gdLst/>
            <a:ahLst/>
            <a:cxnLst/>
            <a:rect l="0" t="0" r="0" b="0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6403AE4-91AE-4D39-AAE7-F8A1580AEAA7}"/>
              </a:ext>
            </a:extLst>
          </p:cNvPr>
          <p:cNvSpPr>
            <a:spLocks noGrp="1"/>
          </p:cNvSpPr>
          <p:nvPr/>
        </p:nvSpPr>
        <p:spPr>
          <a:xfrm>
            <a:off x="3209925" y="2714625"/>
            <a:ext cx="123825" cy="114300"/>
          </a:xfrm>
          <a:custGeom>
            <a:avLst/>
            <a:gdLst/>
            <a:ahLst/>
            <a:cxnLst/>
            <a:rect l="0" t="0" r="0" b="0"/>
            <a:pathLst>
              <a:path w="123825" h="114300">
                <a:moveTo>
                  <a:pt x="0" y="0"/>
                </a:moveTo>
                <a:lnTo>
                  <a:pt x="123825" y="57150"/>
                </a:lnTo>
                <a:lnTo>
                  <a:pt x="0" y="114300"/>
                </a:lnTo>
              </a:path>
            </a:pathLst>
          </a:custGeom>
          <a:noFill/>
          <a:ln w="285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9F22FB8-5C61-47D3-A09E-420ED8A118F9}"/>
              </a:ext>
            </a:extLst>
          </p:cNvPr>
          <p:cNvSpPr>
            <a:spLocks noGrp="1"/>
          </p:cNvSpPr>
          <p:nvPr/>
        </p:nvSpPr>
        <p:spPr>
          <a:xfrm>
            <a:off x="5686425" y="2771775"/>
            <a:ext cx="381000" cy="9525"/>
          </a:xfrm>
          <a:custGeom>
            <a:avLst/>
            <a:gdLst/>
            <a:ahLst/>
            <a:cxnLst/>
            <a:rect l="0" t="0" r="0" b="0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A41A2DC7-DB29-418B-A744-E9989AA1DB7E}"/>
              </a:ext>
            </a:extLst>
          </p:cNvPr>
          <p:cNvSpPr>
            <a:spLocks noGrp="1"/>
          </p:cNvSpPr>
          <p:nvPr/>
        </p:nvSpPr>
        <p:spPr>
          <a:xfrm>
            <a:off x="5943600" y="2714625"/>
            <a:ext cx="123825" cy="114300"/>
          </a:xfrm>
          <a:custGeom>
            <a:avLst/>
            <a:gdLst/>
            <a:ahLst/>
            <a:cxnLst/>
            <a:rect l="0" t="0" r="0" b="0"/>
            <a:pathLst>
              <a:path w="123825" h="114300">
                <a:moveTo>
                  <a:pt x="0" y="0"/>
                </a:moveTo>
                <a:lnTo>
                  <a:pt x="123825" y="57150"/>
                </a:lnTo>
                <a:lnTo>
                  <a:pt x="0" y="114300"/>
                </a:lnTo>
              </a:path>
            </a:pathLst>
          </a:custGeom>
          <a:noFill/>
          <a:ln w="285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1C273E2-5623-44B8-A90C-D043CBA4E344}"/>
              </a:ext>
            </a:extLst>
          </p:cNvPr>
          <p:cNvSpPr>
            <a:spLocks noGrp="1"/>
          </p:cNvSpPr>
          <p:nvPr/>
        </p:nvSpPr>
        <p:spPr>
          <a:xfrm>
            <a:off x="8420100" y="2771775"/>
            <a:ext cx="381000" cy="9525"/>
          </a:xfrm>
          <a:custGeom>
            <a:avLst/>
            <a:gdLst/>
            <a:ahLst/>
            <a:cxnLst/>
            <a:rect l="0" t="0" r="0" b="0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730E4459-25DA-44D8-9A11-30A6FBE2D405}"/>
              </a:ext>
            </a:extLst>
          </p:cNvPr>
          <p:cNvSpPr>
            <a:spLocks noGrp="1"/>
          </p:cNvSpPr>
          <p:nvPr/>
        </p:nvSpPr>
        <p:spPr>
          <a:xfrm>
            <a:off x="8677275" y="2714625"/>
            <a:ext cx="123825" cy="114300"/>
          </a:xfrm>
          <a:custGeom>
            <a:avLst/>
            <a:gdLst/>
            <a:ahLst/>
            <a:cxnLst/>
            <a:rect l="0" t="0" r="0" b="0"/>
            <a:pathLst>
              <a:path w="123825" h="114300">
                <a:moveTo>
                  <a:pt x="0" y="0"/>
                </a:moveTo>
                <a:lnTo>
                  <a:pt x="123825" y="57150"/>
                </a:lnTo>
                <a:lnTo>
                  <a:pt x="0" y="114300"/>
                </a:lnTo>
              </a:path>
            </a:pathLst>
          </a:custGeom>
          <a:noFill/>
          <a:ln w="285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02F6EA-C018-417E-97F9-DCF597C2CE5E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3209925" cy="904875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B4F2A7-D037-4CA2-829C-DDCE7995C922}"/>
              </a:ext>
            </a:extLst>
          </p:cNvPr>
          <p:cNvSpPr>
            <a:spLocks noGrp="1"/>
          </p:cNvSpPr>
          <p:nvPr/>
        </p:nvSpPr>
        <p:spPr>
          <a:xfrm>
            <a:off x="876300" y="4619625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受力平衡独立验证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27E67A-5F69-4477-B7C3-278B7471E5ED}"/>
              </a:ext>
            </a:extLst>
          </p:cNvPr>
          <p:cNvSpPr>
            <a:spLocks noGrp="1"/>
          </p:cNvSpPr>
          <p:nvPr/>
        </p:nvSpPr>
        <p:spPr>
          <a:xfrm>
            <a:off x="4333875" y="4362450"/>
            <a:ext cx="3209925" cy="904875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A4ACAB-2964-46C0-B9F5-19530AD8F75A}"/>
              </a:ext>
            </a:extLst>
          </p:cNvPr>
          <p:cNvSpPr>
            <a:spLocks noGrp="1"/>
          </p:cNvSpPr>
          <p:nvPr/>
        </p:nvSpPr>
        <p:spPr>
          <a:xfrm>
            <a:off x="4524375" y="4619625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全局最小性证明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3E8350-D2CA-4812-8804-27CFADD7A125}"/>
              </a:ext>
            </a:extLst>
          </p:cNvPr>
          <p:cNvSpPr>
            <a:spLocks noGrp="1"/>
          </p:cNvSpPr>
          <p:nvPr/>
        </p:nvSpPr>
        <p:spPr>
          <a:xfrm>
            <a:off x="7981950" y="4362450"/>
            <a:ext cx="3209925" cy="904875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476A3E-C528-4D56-9564-8B237F62DB42}"/>
              </a:ext>
            </a:extLst>
          </p:cNvPr>
          <p:cNvSpPr>
            <a:spLocks noGrp="1"/>
          </p:cNvSpPr>
          <p:nvPr/>
        </p:nvSpPr>
        <p:spPr>
          <a:xfrm>
            <a:off x="8172450" y="4619625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数值实验与误差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12B1BFD-42C4-423D-A325-2B55B8F8712A}"/>
              </a:ext>
            </a:extLst>
          </p:cNvPr>
          <p:cNvSpPr>
            <a:spLocks noGrp="1"/>
          </p:cNvSpPr>
          <p:nvPr/>
        </p:nvSpPr>
        <p:spPr>
          <a:xfrm>
            <a:off x="10001250" y="3219450"/>
            <a:ext cx="9525" cy="828675"/>
          </a:xfrm>
          <a:custGeom>
            <a:avLst/>
            <a:gdLst/>
            <a:ahLst/>
            <a:cxnLst/>
            <a:rect l="0" t="0" r="0" b="0"/>
            <a:pathLst>
              <a:path w="9525" h="828675">
                <a:moveTo>
                  <a:pt x="0" y="0"/>
                </a:moveTo>
                <a:lnTo>
                  <a:pt x="0" y="828675"/>
                </a:lnTo>
              </a:path>
            </a:pathLst>
          </a:custGeom>
          <a:noFill/>
          <a:ln w="285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07FA1D9B-71EF-4588-9481-5FCB522163F0}"/>
              </a:ext>
            </a:extLst>
          </p:cNvPr>
          <p:cNvSpPr>
            <a:spLocks noGrp="1"/>
          </p:cNvSpPr>
          <p:nvPr/>
        </p:nvSpPr>
        <p:spPr>
          <a:xfrm>
            <a:off x="9944100" y="3924300"/>
            <a:ext cx="114300" cy="123825"/>
          </a:xfrm>
          <a:custGeom>
            <a:avLst/>
            <a:gdLst/>
            <a:ahLst/>
            <a:cxnLst/>
            <a:rect l="0" t="0" r="0" b="0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52382AAE-6133-4380-BABE-F9C14B5FBCC9}"/>
              </a:ext>
            </a:extLst>
          </p:cNvPr>
          <p:cNvSpPr>
            <a:spLocks noGrp="1"/>
          </p:cNvSpPr>
          <p:nvPr/>
        </p:nvSpPr>
        <p:spPr>
          <a:xfrm>
            <a:off x="2286000" y="4048125"/>
            <a:ext cx="7715250" cy="9525"/>
          </a:xfrm>
          <a:custGeom>
            <a:avLst/>
            <a:gdLst/>
            <a:ahLst/>
            <a:cxnLst/>
            <a:rect l="0" t="0" r="0" b="0"/>
            <a:pathLst>
              <a:path w="7715250" h="9525">
                <a:moveTo>
                  <a:pt x="77152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1C47F53-87A2-40C1-916F-3535BC689D00}"/>
              </a:ext>
            </a:extLst>
          </p:cNvPr>
          <p:cNvSpPr>
            <a:spLocks noGrp="1"/>
          </p:cNvSpPr>
          <p:nvPr/>
        </p:nvSpPr>
        <p:spPr>
          <a:xfrm>
            <a:off x="2286000" y="4048125"/>
            <a:ext cx="9525" cy="257175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C4DCF04-388C-4508-A45F-38AB6716457B}"/>
              </a:ext>
            </a:extLst>
          </p:cNvPr>
          <p:cNvSpPr>
            <a:spLocks noGrp="1"/>
          </p:cNvSpPr>
          <p:nvPr/>
        </p:nvSpPr>
        <p:spPr>
          <a:xfrm>
            <a:off x="2228850" y="4181475"/>
            <a:ext cx="114300" cy="123825"/>
          </a:xfrm>
          <a:custGeom>
            <a:avLst/>
            <a:gdLst/>
            <a:ahLst/>
            <a:cxnLst/>
            <a:rect l="0" t="0" r="0" b="0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796C9D7B-6D06-48E0-A35C-57C3B2BBDE34}"/>
              </a:ext>
            </a:extLst>
          </p:cNvPr>
          <p:cNvSpPr>
            <a:spLocks noGrp="1"/>
          </p:cNvSpPr>
          <p:nvPr/>
        </p:nvSpPr>
        <p:spPr>
          <a:xfrm>
            <a:off x="5857875" y="4048125"/>
            <a:ext cx="9525" cy="257175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F688322A-1AC9-4434-80E4-9B0092662EC3}"/>
              </a:ext>
            </a:extLst>
          </p:cNvPr>
          <p:cNvSpPr>
            <a:spLocks noGrp="1"/>
          </p:cNvSpPr>
          <p:nvPr/>
        </p:nvSpPr>
        <p:spPr>
          <a:xfrm>
            <a:off x="5800725" y="4181475"/>
            <a:ext cx="114300" cy="123825"/>
          </a:xfrm>
          <a:custGeom>
            <a:avLst/>
            <a:gdLst/>
            <a:ahLst/>
            <a:cxnLst/>
            <a:rect l="0" t="0" r="0" b="0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409F7759-5F72-42AE-B1DD-5EC64069FD5A}"/>
              </a:ext>
            </a:extLst>
          </p:cNvPr>
          <p:cNvSpPr>
            <a:spLocks noGrp="1"/>
          </p:cNvSpPr>
          <p:nvPr/>
        </p:nvSpPr>
        <p:spPr>
          <a:xfrm>
            <a:off x="9525000" y="4048125"/>
            <a:ext cx="9525" cy="257175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4D9827ED-7EF6-4F4E-A16F-5568AEAB807E}"/>
              </a:ext>
            </a:extLst>
          </p:cNvPr>
          <p:cNvSpPr>
            <a:spLocks noGrp="1"/>
          </p:cNvSpPr>
          <p:nvPr/>
        </p:nvSpPr>
        <p:spPr>
          <a:xfrm>
            <a:off x="9467850" y="4181475"/>
            <a:ext cx="114300" cy="123825"/>
          </a:xfrm>
          <a:custGeom>
            <a:avLst/>
            <a:gdLst/>
            <a:ahLst/>
            <a:cxnLst/>
            <a:rect l="0" t="0" r="0" b="0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7F95C7-7868-4D00-93B5-51989497E00E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820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必要条件与充分条件分别检验，计算结果由实际程序生成</a:t>
            </a:r>
          </a:p>
        </p:txBody>
      </p:sp>
    </p:spTree>
    <p:extLst>
      <p:ext uri="{BB962C8B-B14F-4D97-AF65-F5344CB8AC3E}">
        <p14:creationId xmlns:p14="http://schemas.microsoft.com/office/powerpoint/2010/main" val="91026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DF09C419-C1B8-4707-BBBB-A94E062CB2C3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二维悬挂绳索与端点受力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708DAD-934C-442B-95D1-A23DCFE398B2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x 轴水平向右，y 轴竖直向上，势能零点取左端点高度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27B825-89B5-4F88-912B-F526C1006BCA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9CD04A-FFF8-4026-A35A-0B45C1F68631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B67A429C-EDAD-44A5-8820-2D9AF4D41009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7429500" cy="2076299"/>
          </a:xfrm>
          <a:custGeom>
            <a:avLst/>
            <a:gdLst/>
            <a:ahLst/>
            <a:cxnLst/>
            <a:rect l="0" t="0" r="0" b="0"/>
            <a:pathLst>
              <a:path w="7429500" h="2076299">
                <a:moveTo>
                  <a:pt x="0" y="1066800"/>
                </a:moveTo>
                <a:lnTo>
                  <a:pt x="74295" y="1117289"/>
                </a:lnTo>
                <a:lnTo>
                  <a:pt x="148590" y="1166288"/>
                </a:lnTo>
                <a:lnTo>
                  <a:pt x="222885" y="1213817"/>
                </a:lnTo>
                <a:lnTo>
                  <a:pt x="297180" y="1259897"/>
                </a:lnTo>
                <a:lnTo>
                  <a:pt x="371475" y="1304546"/>
                </a:lnTo>
                <a:lnTo>
                  <a:pt x="445770" y="1347783"/>
                </a:lnTo>
                <a:lnTo>
                  <a:pt x="520065" y="1389626"/>
                </a:lnTo>
                <a:lnTo>
                  <a:pt x="594360" y="1430092"/>
                </a:lnTo>
                <a:lnTo>
                  <a:pt x="668655" y="1469199"/>
                </a:lnTo>
                <a:lnTo>
                  <a:pt x="742950" y="1506963"/>
                </a:lnTo>
                <a:lnTo>
                  <a:pt x="817245" y="1543400"/>
                </a:lnTo>
                <a:lnTo>
                  <a:pt x="891540" y="1578524"/>
                </a:lnTo>
                <a:lnTo>
                  <a:pt x="965835" y="1612351"/>
                </a:lnTo>
                <a:lnTo>
                  <a:pt x="1040130" y="1644894"/>
                </a:lnTo>
                <a:lnTo>
                  <a:pt x="1114425" y="1676168"/>
                </a:lnTo>
                <a:lnTo>
                  <a:pt x="1188720" y="1706184"/>
                </a:lnTo>
                <a:lnTo>
                  <a:pt x="1263015" y="1734956"/>
                </a:lnTo>
                <a:lnTo>
                  <a:pt x="1337310" y="1762496"/>
                </a:lnTo>
                <a:lnTo>
                  <a:pt x="1411605" y="1788816"/>
                </a:lnTo>
                <a:lnTo>
                  <a:pt x="1485900" y="1813925"/>
                </a:lnTo>
                <a:lnTo>
                  <a:pt x="1560195" y="1837835"/>
                </a:lnTo>
                <a:lnTo>
                  <a:pt x="1634490" y="1860556"/>
                </a:lnTo>
                <a:lnTo>
                  <a:pt x="1708785" y="1882097"/>
                </a:lnTo>
                <a:lnTo>
                  <a:pt x="1783080" y="1902467"/>
                </a:lnTo>
                <a:lnTo>
                  <a:pt x="1857375" y="1921675"/>
                </a:lnTo>
                <a:lnTo>
                  <a:pt x="1931670" y="1939728"/>
                </a:lnTo>
                <a:lnTo>
                  <a:pt x="2005965" y="1956635"/>
                </a:lnTo>
                <a:lnTo>
                  <a:pt x="2080260" y="1972402"/>
                </a:lnTo>
                <a:lnTo>
                  <a:pt x="2154555" y="1987035"/>
                </a:lnTo>
                <a:lnTo>
                  <a:pt x="2228850" y="2000542"/>
                </a:lnTo>
                <a:lnTo>
                  <a:pt x="2303145" y="2012927"/>
                </a:lnTo>
                <a:lnTo>
                  <a:pt x="2377440" y="2024196"/>
                </a:lnTo>
                <a:lnTo>
                  <a:pt x="2451735" y="2034354"/>
                </a:lnTo>
                <a:lnTo>
                  <a:pt x="2526030" y="2043404"/>
                </a:lnTo>
                <a:lnTo>
                  <a:pt x="2600325" y="2051350"/>
                </a:lnTo>
                <a:lnTo>
                  <a:pt x="2674620" y="2058197"/>
                </a:lnTo>
                <a:lnTo>
                  <a:pt x="2748915" y="2063946"/>
                </a:lnTo>
                <a:lnTo>
                  <a:pt x="2823210" y="2068600"/>
                </a:lnTo>
                <a:lnTo>
                  <a:pt x="2897505" y="2072161"/>
                </a:lnTo>
                <a:lnTo>
                  <a:pt x="2971800" y="2074630"/>
                </a:lnTo>
                <a:lnTo>
                  <a:pt x="3046095" y="2076009"/>
                </a:lnTo>
                <a:lnTo>
                  <a:pt x="3120390" y="2076299"/>
                </a:lnTo>
                <a:lnTo>
                  <a:pt x="3194685" y="2075498"/>
                </a:lnTo>
                <a:lnTo>
                  <a:pt x="3268980" y="2073607"/>
                </a:lnTo>
                <a:lnTo>
                  <a:pt x="3343275" y="2070625"/>
                </a:lnTo>
                <a:lnTo>
                  <a:pt x="3417570" y="2066551"/>
                </a:lnTo>
                <a:lnTo>
                  <a:pt x="3491865" y="2061384"/>
                </a:lnTo>
                <a:lnTo>
                  <a:pt x="3566160" y="2055120"/>
                </a:lnTo>
                <a:lnTo>
                  <a:pt x="3640455" y="2047758"/>
                </a:lnTo>
                <a:lnTo>
                  <a:pt x="3714750" y="2039293"/>
                </a:lnTo>
                <a:lnTo>
                  <a:pt x="3789045" y="2029724"/>
                </a:lnTo>
                <a:lnTo>
                  <a:pt x="3863340" y="2019045"/>
                </a:lnTo>
                <a:lnTo>
                  <a:pt x="3937635" y="2007253"/>
                </a:lnTo>
                <a:lnTo>
                  <a:pt x="4011930" y="1994342"/>
                </a:lnTo>
                <a:lnTo>
                  <a:pt x="4086225" y="1980307"/>
                </a:lnTo>
                <a:lnTo>
                  <a:pt x="4160520" y="1965143"/>
                </a:lnTo>
                <a:lnTo>
                  <a:pt x="4234815" y="1948842"/>
                </a:lnTo>
                <a:lnTo>
                  <a:pt x="4309110" y="1931398"/>
                </a:lnTo>
                <a:lnTo>
                  <a:pt x="4383405" y="1912803"/>
                </a:lnTo>
                <a:lnTo>
                  <a:pt x="4457700" y="1893051"/>
                </a:lnTo>
                <a:lnTo>
                  <a:pt x="4531995" y="1872133"/>
                </a:lnTo>
                <a:lnTo>
                  <a:pt x="4606290" y="1850039"/>
                </a:lnTo>
                <a:lnTo>
                  <a:pt x="4680585" y="1826761"/>
                </a:lnTo>
                <a:lnTo>
                  <a:pt x="4754880" y="1802289"/>
                </a:lnTo>
                <a:lnTo>
                  <a:pt x="4829175" y="1776613"/>
                </a:lnTo>
                <a:lnTo>
                  <a:pt x="4903470" y="1749723"/>
                </a:lnTo>
                <a:lnTo>
                  <a:pt x="4977765" y="1721606"/>
                </a:lnTo>
                <a:lnTo>
                  <a:pt x="5052060" y="1692251"/>
                </a:lnTo>
                <a:lnTo>
                  <a:pt x="5126355" y="1661646"/>
                </a:lnTo>
                <a:lnTo>
                  <a:pt x="5200650" y="1629778"/>
                </a:lnTo>
                <a:lnTo>
                  <a:pt x="5274945" y="1596634"/>
                </a:lnTo>
                <a:lnTo>
                  <a:pt x="5349240" y="1562200"/>
                </a:lnTo>
                <a:lnTo>
                  <a:pt x="5423535" y="1526462"/>
                </a:lnTo>
                <a:lnTo>
                  <a:pt x="5497830" y="1489404"/>
                </a:lnTo>
                <a:lnTo>
                  <a:pt x="5572125" y="1451012"/>
                </a:lnTo>
                <a:lnTo>
                  <a:pt x="5646420" y="1411269"/>
                </a:lnTo>
                <a:lnTo>
                  <a:pt x="5720715" y="1370158"/>
                </a:lnTo>
                <a:lnTo>
                  <a:pt x="5795010" y="1327663"/>
                </a:lnTo>
                <a:lnTo>
                  <a:pt x="5869305" y="1283766"/>
                </a:lnTo>
                <a:lnTo>
                  <a:pt x="5943600" y="1238448"/>
                </a:lnTo>
                <a:lnTo>
                  <a:pt x="6017895" y="1191690"/>
                </a:lnTo>
                <a:lnTo>
                  <a:pt x="6092190" y="1143473"/>
                </a:lnTo>
                <a:lnTo>
                  <a:pt x="6166485" y="1093778"/>
                </a:lnTo>
                <a:lnTo>
                  <a:pt x="6240780" y="1042582"/>
                </a:lnTo>
                <a:lnTo>
                  <a:pt x="6315075" y="989865"/>
                </a:lnTo>
                <a:lnTo>
                  <a:pt x="6389370" y="935605"/>
                </a:lnTo>
                <a:lnTo>
                  <a:pt x="6463665" y="879779"/>
                </a:lnTo>
                <a:lnTo>
                  <a:pt x="6537960" y="822363"/>
                </a:lnTo>
                <a:lnTo>
                  <a:pt x="6612255" y="763335"/>
                </a:lnTo>
                <a:lnTo>
                  <a:pt x="6686550" y="702668"/>
                </a:lnTo>
                <a:lnTo>
                  <a:pt x="6760845" y="640339"/>
                </a:lnTo>
                <a:lnTo>
                  <a:pt x="6835140" y="576320"/>
                </a:lnTo>
                <a:lnTo>
                  <a:pt x="6909435" y="510586"/>
                </a:lnTo>
                <a:lnTo>
                  <a:pt x="6983730" y="443108"/>
                </a:lnTo>
                <a:lnTo>
                  <a:pt x="7058025" y="373858"/>
                </a:lnTo>
                <a:lnTo>
                  <a:pt x="7132320" y="302808"/>
                </a:lnTo>
                <a:lnTo>
                  <a:pt x="7206615" y="229928"/>
                </a:lnTo>
                <a:lnTo>
                  <a:pt x="7280910" y="155188"/>
                </a:lnTo>
                <a:lnTo>
                  <a:pt x="7355205" y="78556"/>
                </a:lnTo>
                <a:lnTo>
                  <a:pt x="7429500" y="0"/>
                </a:lnTo>
              </a:path>
            </a:pathLst>
          </a:custGeom>
          <a:noFill/>
          <a:ln w="4762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33E0AEB-F10A-45E9-BFA0-D3CC6F297102}"/>
              </a:ext>
            </a:extLst>
          </p:cNvPr>
          <p:cNvSpPr>
            <a:spLocks noGrp="1"/>
          </p:cNvSpPr>
          <p:nvPr/>
        </p:nvSpPr>
        <p:spPr>
          <a:xfrm>
            <a:off x="1447800" y="3638550"/>
            <a:ext cx="152400" cy="152400"/>
          </a:xfrm>
          <a:prstGeom prst="ellipse">
            <a:avLst/>
          </a:prstGeom>
          <a:solidFill>
            <a:srgbClr val="17345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4EC0889-4D14-40A5-BA73-FEDC34E58422}"/>
              </a:ext>
            </a:extLst>
          </p:cNvPr>
          <p:cNvSpPr>
            <a:spLocks noGrp="1"/>
          </p:cNvSpPr>
          <p:nvPr/>
        </p:nvSpPr>
        <p:spPr>
          <a:xfrm>
            <a:off x="8877300" y="2571750"/>
            <a:ext cx="152400" cy="152400"/>
          </a:xfrm>
          <a:prstGeom prst="ellipse">
            <a:avLst/>
          </a:prstGeom>
          <a:solidFill>
            <a:srgbClr val="17345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0C52B01-67E2-476F-847F-1AED107F1DA6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7429500" cy="1066800"/>
          </a:xfrm>
          <a:custGeom>
            <a:avLst/>
            <a:gdLst/>
            <a:ahLst/>
            <a:cxnLst/>
            <a:rect l="0" t="0" r="0" b="0"/>
            <a:pathLst>
              <a:path w="7429500" h="1066800">
                <a:moveTo>
                  <a:pt x="0" y="1066800"/>
                </a:moveTo>
                <a:lnTo>
                  <a:pt x="7429500" y="0"/>
                </a:lnTo>
              </a:path>
            </a:pathLst>
          </a:custGeom>
          <a:noFill/>
          <a:ln w="19050">
            <a:solidFill>
              <a:srgbClr val="DCE4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983A11-E7C0-4DE3-B8C8-52E89649B1E8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A(x₁,y₁)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45579F-2075-496F-ABB8-B75E8862FDFC}"/>
              </a:ext>
            </a:extLst>
          </p:cNvPr>
          <p:cNvSpPr>
            <a:spLocks noGrp="1"/>
          </p:cNvSpPr>
          <p:nvPr/>
        </p:nvSpPr>
        <p:spPr>
          <a:xfrm>
            <a:off x="7858125" y="21526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B(x₂,y₂)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6638AF9-AEF3-452B-87A4-A9F38E098EAE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857250" cy="857250"/>
          </a:xfrm>
          <a:custGeom>
            <a:avLst/>
            <a:gdLst/>
            <a:ahLst/>
            <a:cxnLst/>
            <a:rect l="0" t="0" r="0" b="0"/>
            <a:pathLst>
              <a:path w="857250" h="857250">
                <a:moveTo>
                  <a:pt x="857250" y="8572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734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ADBADE-EABB-4C2B-A17B-3A99E4A790DD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27969" cy="127969"/>
          </a:xfrm>
          <a:custGeom>
            <a:avLst/>
            <a:gdLst/>
            <a:ahLst/>
            <a:cxnLst/>
            <a:rect l="0" t="0" r="0" b="0"/>
            <a:pathLst>
              <a:path w="127969" h="127969">
                <a:moveTo>
                  <a:pt x="47146" y="127969"/>
                </a:moveTo>
                <a:lnTo>
                  <a:pt x="0" y="0"/>
                </a:lnTo>
                <a:lnTo>
                  <a:pt x="127969" y="47146"/>
                </a:lnTo>
              </a:path>
            </a:pathLst>
          </a:custGeom>
          <a:noFill/>
          <a:ln w="28575">
            <a:solidFill>
              <a:srgbClr val="1734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EF5EC4-E517-4C0D-A7D6-A85FBEE9EE15}"/>
              </a:ext>
            </a:extLst>
          </p:cNvPr>
          <p:cNvSpPr>
            <a:spLocks noGrp="1"/>
          </p:cNvSpPr>
          <p:nvPr/>
        </p:nvSpPr>
        <p:spPr>
          <a:xfrm>
            <a:off x="238125" y="2409825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−Q(0)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4C2D44E-7349-4E7F-8DEB-C7A0FB11A157}"/>
              </a:ext>
            </a:extLst>
          </p:cNvPr>
          <p:cNvSpPr>
            <a:spLocks noGrp="1"/>
          </p:cNvSpPr>
          <p:nvPr/>
        </p:nvSpPr>
        <p:spPr>
          <a:xfrm>
            <a:off x="8953500" y="1933575"/>
            <a:ext cx="619125" cy="714375"/>
          </a:xfrm>
          <a:custGeom>
            <a:avLst/>
            <a:gdLst/>
            <a:ahLst/>
            <a:cxnLst/>
            <a:rect l="0" t="0" r="0" b="0"/>
            <a:pathLst>
              <a:path w="619125" h="714375">
                <a:moveTo>
                  <a:pt x="0" y="714375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1734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C43852A-397F-46CF-8BF1-9B79B58A85B4}"/>
              </a:ext>
            </a:extLst>
          </p:cNvPr>
          <p:cNvSpPr>
            <a:spLocks noGrp="1"/>
          </p:cNvSpPr>
          <p:nvPr/>
        </p:nvSpPr>
        <p:spPr>
          <a:xfrm>
            <a:off x="9448341" y="1933575"/>
            <a:ext cx="124284" cy="131002"/>
          </a:xfrm>
          <a:custGeom>
            <a:avLst/>
            <a:gdLst/>
            <a:ahLst/>
            <a:cxnLst/>
            <a:rect l="0" t="0" r="0" b="0"/>
            <a:pathLst>
              <a:path w="124284" h="131002">
                <a:moveTo>
                  <a:pt x="0" y="56144"/>
                </a:moveTo>
                <a:lnTo>
                  <a:pt x="124284" y="0"/>
                </a:lnTo>
                <a:lnTo>
                  <a:pt x="86375" y="131002"/>
                </a:lnTo>
              </a:path>
            </a:pathLst>
          </a:custGeom>
          <a:noFill/>
          <a:ln w="28575">
            <a:solidFill>
              <a:srgbClr val="1734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839D1C-F571-42C0-9A91-2A5C8D987760}"/>
              </a:ext>
            </a:extLst>
          </p:cNvPr>
          <p:cNvSpPr>
            <a:spLocks noGrp="1"/>
          </p:cNvSpPr>
          <p:nvPr/>
        </p:nvSpPr>
        <p:spPr>
          <a:xfrm>
            <a:off x="9696450" y="193357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Q(L)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F074D76-2E94-443F-9E1C-CA0CF9C88DC8}"/>
              </a:ext>
            </a:extLst>
          </p:cNvPr>
          <p:cNvSpPr>
            <a:spLocks noGrp="1"/>
          </p:cNvSpPr>
          <p:nvPr/>
        </p:nvSpPr>
        <p:spPr>
          <a:xfrm>
            <a:off x="4626954" y="4724279"/>
            <a:ext cx="9525" cy="685800"/>
          </a:xfrm>
          <a:custGeom>
            <a:avLst/>
            <a:gdLst/>
            <a:ahLst/>
            <a:cxnLst/>
            <a:rect l="0" t="0" r="0" b="0"/>
            <a:pathLst>
              <a:path w="952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28575">
            <a:solidFill>
              <a:srgbClr val="DE86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47156FA-029D-4DE8-8549-0FC1D032C321}"/>
              </a:ext>
            </a:extLst>
          </p:cNvPr>
          <p:cNvSpPr>
            <a:spLocks noGrp="1"/>
          </p:cNvSpPr>
          <p:nvPr/>
        </p:nvSpPr>
        <p:spPr>
          <a:xfrm>
            <a:off x="4569804" y="5286254"/>
            <a:ext cx="114300" cy="123825"/>
          </a:xfrm>
          <a:custGeom>
            <a:avLst/>
            <a:gdLst/>
            <a:ahLst/>
            <a:cxnLst/>
            <a:rect l="0" t="0" r="0" b="0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E86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054B25B-3309-4243-B3D3-107FA93F929E}"/>
              </a:ext>
            </a:extLst>
          </p:cNvPr>
          <p:cNvSpPr>
            <a:spLocks noGrp="1"/>
          </p:cNvSpPr>
          <p:nvPr/>
        </p:nvSpPr>
        <p:spPr>
          <a:xfrm>
            <a:off x="4836504" y="5076704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DE863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DE863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DE8634"/>
                </a:solidFill>
                <a:latin typeface="Noto Sans CJK SC"/>
                <a:ea typeface="Noto Sans CJK SC"/>
                <a:cs typeface="Noto Sans CJK SC"/>
              </a:rPr>
              <a:t>重力向下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018F26B-7EDD-4A7E-896F-76A18EFBC4D9}"/>
              </a:ext>
            </a:extLst>
          </p:cNvPr>
          <p:cNvSpPr>
            <a:spLocks noGrp="1"/>
          </p:cNvSpPr>
          <p:nvPr/>
        </p:nvSpPr>
        <p:spPr>
          <a:xfrm>
            <a:off x="9715500" y="5334000"/>
            <a:ext cx="1238250" cy="9525"/>
          </a:xfrm>
          <a:custGeom>
            <a:avLst/>
            <a:gdLst/>
            <a:ahLst/>
            <a:cxnLst/>
            <a:rect l="0" t="0" r="0" b="0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687C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75C3BA53-9EBF-40E3-AD41-FEE87D1E59B7}"/>
              </a:ext>
            </a:extLst>
          </p:cNvPr>
          <p:cNvSpPr>
            <a:spLocks noGrp="1"/>
          </p:cNvSpPr>
          <p:nvPr/>
        </p:nvSpPr>
        <p:spPr>
          <a:xfrm>
            <a:off x="10829925" y="5276850"/>
            <a:ext cx="123825" cy="114300"/>
          </a:xfrm>
          <a:custGeom>
            <a:avLst/>
            <a:gdLst/>
            <a:ahLst/>
            <a:cxnLst/>
            <a:rect l="0" t="0" r="0" b="0"/>
            <a:pathLst>
              <a:path w="123825" h="114300">
                <a:moveTo>
                  <a:pt x="0" y="0"/>
                </a:moveTo>
                <a:lnTo>
                  <a:pt x="123825" y="57150"/>
                </a:lnTo>
                <a:lnTo>
                  <a:pt x="0" y="114300"/>
                </a:lnTo>
              </a:path>
            </a:pathLst>
          </a:custGeom>
          <a:noFill/>
          <a:ln w="19050">
            <a:solidFill>
              <a:srgbClr val="687C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8FC0D672-488D-4AEC-9223-4CB620F10D1E}"/>
              </a:ext>
            </a:extLst>
          </p:cNvPr>
          <p:cNvSpPr>
            <a:spLocks noGrp="1"/>
          </p:cNvSpPr>
          <p:nvPr/>
        </p:nvSpPr>
        <p:spPr>
          <a:xfrm>
            <a:off x="9715500" y="4191000"/>
            <a:ext cx="9525" cy="1143000"/>
          </a:xfrm>
          <a:custGeom>
            <a:avLst/>
            <a:gdLst/>
            <a:ahLst/>
            <a:cxnLst/>
            <a:rect l="0" t="0" r="0" b="0"/>
            <a:pathLst>
              <a:path w="9525" h="1143000">
                <a:moveTo>
                  <a:pt x="0" y="11430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87C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DDBE037-E145-4B28-B05A-F4EE8899A943}"/>
              </a:ext>
            </a:extLst>
          </p:cNvPr>
          <p:cNvSpPr>
            <a:spLocks noGrp="1"/>
          </p:cNvSpPr>
          <p:nvPr/>
        </p:nvSpPr>
        <p:spPr>
          <a:xfrm>
            <a:off x="9658350" y="4191000"/>
            <a:ext cx="114300" cy="123825"/>
          </a:xfrm>
          <a:custGeom>
            <a:avLst/>
            <a:gdLst/>
            <a:ahLst/>
            <a:cxnLst/>
            <a:rect l="0" t="0" r="0" b="0"/>
            <a:pathLst>
              <a:path w="114300" h="123825">
                <a:moveTo>
                  <a:pt x="0" y="123825"/>
                </a:moveTo>
                <a:lnTo>
                  <a:pt x="57150" y="0"/>
                </a:lnTo>
                <a:lnTo>
                  <a:pt x="114300" y="123825"/>
                </a:lnTo>
              </a:path>
            </a:pathLst>
          </a:custGeom>
          <a:noFill/>
          <a:ln w="19050">
            <a:solidFill>
              <a:srgbClr val="687C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C11ADBB-1B0B-46EA-A131-4126A6A4DB4A}"/>
              </a:ext>
            </a:extLst>
          </p:cNvPr>
          <p:cNvSpPr>
            <a:spLocks noGrp="1"/>
          </p:cNvSpPr>
          <p:nvPr/>
        </p:nvSpPr>
        <p:spPr>
          <a:xfrm>
            <a:off x="10991850" y="5172075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5AE736-7BA5-4170-AD46-C9FE55A7918C}"/>
              </a:ext>
            </a:extLst>
          </p:cNvPr>
          <p:cNvSpPr>
            <a:spLocks noGrp="1"/>
          </p:cNvSpPr>
          <p:nvPr/>
        </p:nvSpPr>
        <p:spPr>
          <a:xfrm>
            <a:off x="9601200" y="386715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y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CE71F5-8014-498A-B472-D27FDE01AB81}"/>
              </a:ext>
            </a:extLst>
          </p:cNvPr>
          <p:cNvSpPr>
            <a:spLocks noGrp="1"/>
          </p:cNvSpPr>
          <p:nvPr/>
        </p:nvSpPr>
        <p:spPr>
          <a:xfrm>
            <a:off x="2095500" y="596265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固定端点，固定长度 L，均匀线密度 ρ</a:t>
            </a:r>
          </a:p>
        </p:txBody>
      </p:sp>
    </p:spTree>
    <p:extLst>
      <p:ext uri="{BB962C8B-B14F-4D97-AF65-F5344CB8AC3E}">
        <p14:creationId xmlns:p14="http://schemas.microsoft.com/office/powerpoint/2010/main" val="110774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44D333D-BFF4-41CB-BCD4-EFDD9D7257BC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物理量与几何量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090171-7EBD-4F2B-9C48-FC7A578FF7DD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线密度按实际绳长定义，张力沿绳索切线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028A28-F94C-4404-ADB2-03FDAC3161DF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891634-9DBA-4304-B5E5-9C0A25F4D96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ECF63C8-372B-4381-B503-2D77C2D61241}"/>
              </a:ext>
            </a:extLst>
          </p:cNvPr>
          <p:cNvGraphicFramePr/>
          <p:nvPr/>
        </p:nvGraphicFramePr>
        <p:xfrm>
          <a:off x="685800" y="1952625"/>
          <a:ext cx="10820400" cy="3943352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3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符号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定义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量纲 / 条件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A、B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固定端点 (x₁,y₁)、(x₂,y₂)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m，x₂&gt;x₁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L、ρ、g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绳长、均匀线密度、重力加速度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m，kg/m，m/s²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w=ρg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单位实际弧长的重量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N/m，w&gt;0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s、r(s)、t(s)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材料弧长、位置、单位切向量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0≤s≤L，t=r′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T(s)、H、V(s)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张力大小、水平及竖直分量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N，T&gt;0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a、x₀、c、λ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尺度、最低点位置、偏移、乘子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a,x₀,c：m，λ：N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076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D9E3B21-0611-436F-8DF4-2915C9CBC82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理想化假设与成立范围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231E2-7A7A-4487-95DF-16A8EA82BEC9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只研究重力与端点约束作用下的静态平衡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5357B5-F447-48C7-8A16-BEC10C26C1D1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169E8D-5B7A-4A6B-BA7F-3A2CF2A0F61D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620889-E6DF-44FB-98EB-096409CA10B7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1CFB8B-5BE0-4D7E-ABC5-A7F7AB846558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106299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均匀且不可伸长：dm=ρ ds，材料弧长保持不变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331CC5-0BF1-4FA4-977A-3126950B1D2B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03D182-F579-4481-9923-4012E3663A03}"/>
              </a:ext>
            </a:extLst>
          </p:cNvPr>
          <p:cNvSpPr>
            <a:spLocks noGrp="1"/>
          </p:cNvSpPr>
          <p:nvPr/>
        </p:nvSpPr>
        <p:spPr>
          <a:xfrm>
            <a:off x="876300" y="3019425"/>
            <a:ext cx="106299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完全柔软：忽略抗弯刚度，内力只能沿切线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B90847-C1DA-4E58-A7E6-F45505EE906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4DFE39-3183-48FB-A668-E807FFBDFD11}"/>
              </a:ext>
            </a:extLst>
          </p:cNvPr>
          <p:cNvSpPr>
            <a:spLocks noGrp="1"/>
          </p:cNvSpPr>
          <p:nvPr/>
        </p:nvSpPr>
        <p:spPr>
          <a:xfrm>
            <a:off x="876300" y="3895725"/>
            <a:ext cx="106299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固定端点、均匀重力、无地面接触及其他分布载荷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0ABA82-61EA-4834-B5FF-12EEEF8827AB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CC4F9A-9F2E-4D34-9ED5-CD0D2B38D775}"/>
              </a:ext>
            </a:extLst>
          </p:cNvPr>
          <p:cNvSpPr>
            <a:spLocks noGrp="1"/>
          </p:cNvSpPr>
          <p:nvPr/>
        </p:nvSpPr>
        <p:spPr>
          <a:xfrm>
            <a:off x="876300" y="4772025"/>
            <a:ext cx="106299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允许曲线在二维平面内自由变化，不加入摩擦与弹性能</a:t>
            </a:r>
          </a:p>
        </p:txBody>
      </p:sp>
    </p:spTree>
    <p:extLst>
      <p:ext uri="{BB962C8B-B14F-4D97-AF65-F5344CB8AC3E}">
        <p14:creationId xmlns:p14="http://schemas.microsoft.com/office/powerpoint/2010/main" val="1600181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207CB11-AEB5-48A4-B62F-A2EE9B782E4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总重力势能由质量元直接积分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3AB79E-1D26-4A67-8D12-836AADBE9A6E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y 向上，因此重力势能为正的 w∫y ds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C8A741-F42D-4ADF-91E5-1C9CF0D47F1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DC98A5-4BC4-48EA-A8E5-DD6198614D79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EC954AA-B942-4714-891B-7D285BBAF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7768673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36BE396-D9E5-46BA-827C-58D9266B8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2354600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FECB8E-10FD-4185-9CB2-E2A5234E2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6075164" cy="6191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026BA4-BDA2-4C84-A6FC-B9FB519615F0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0378AB-4D8F-4988-96F1-CFAF4882E26A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在弧长参数下，密度与积分区间均固定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50CEEB-B292-401D-9F63-6B5DE3A01C69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547F48-DE8C-4A86-866A-0048C6A3FBE6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图像参数下，弧长因子随形状改变，不能忽略</a:t>
            </a:r>
          </a:p>
        </p:txBody>
      </p:sp>
    </p:spTree>
    <p:extLst>
      <p:ext uri="{BB962C8B-B14F-4D97-AF65-F5344CB8AC3E}">
        <p14:creationId xmlns:p14="http://schemas.microsoft.com/office/powerpoint/2010/main" val="1243038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F7D5686-E925-4E15-B235-33CE83FB87AF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固定绳长给出等式约束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984C16-93E8-46D9-914B-8A49358145CF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边界固定与弧长固定必须同时满足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EC3D91-3200-4855-A303-F6E6D26E6AB2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8CC59C-9C54-4290-B55F-3BCA880DC2AE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AE2CE7-6C25-4C63-A863-20946DE2A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3347145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1B3CFF-B9EC-4E71-BF2E-2081B04C2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5437533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0F4664-CED7-4D0A-8E01-A086C8C48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1464397" cy="6191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13AC236-CB93-4F25-B12C-0F58C40DD042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6E76D9-4F4A-4F9F-9AF1-F58B0C67EA14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图像可行集 𝒜L：满足端点条件和 S[y]=L 的正则曲线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F3B5C9-B43C-4F77-BE10-37E4B1440082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A52CEA-C102-40C9-9302-5826E346BEBC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弧长可行类：r(0)=A，r(L)=B，|r′(s)|=1 几乎处处</a:t>
            </a:r>
          </a:p>
        </p:txBody>
      </p:sp>
    </p:spTree>
    <p:extLst>
      <p:ext uri="{BB962C8B-B14F-4D97-AF65-F5344CB8AC3E}">
        <p14:creationId xmlns:p14="http://schemas.microsoft.com/office/powerpoint/2010/main" val="100764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63A1509-F65E-4DD5-883E-EBC48EB92B0B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最小势能原理与驻值条件的区别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53D31E-CDF3-4441-9A36-40891052DAD8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稳定的保守系统平衡对应可行扰动下的势能极小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AE5ADC-D1F8-4625-B141-1FC85A38FA76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04F1EF-E130-4E25-AF70-C1A261D30D62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2E6906-E502-48F7-98F9-B3CACD8C0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9223289" cy="7429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11145AD-683D-42C9-BF1C-8127B44B7B5F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A90780-D1A3-45CD-972A-719DDE5557DC}"/>
              </a:ext>
            </a:extLst>
          </p:cNvPr>
          <p:cNvSpPr>
            <a:spLocks noGrp="1"/>
          </p:cNvSpPr>
          <p:nvPr/>
        </p:nvSpPr>
        <p:spPr>
          <a:xfrm>
            <a:off x="876300" y="30575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重力是保守力，固定端点不做虚功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1C940A-5EF7-4422-B897-ECACADDFAA09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0CE209-01B0-4E34-B602-DF5020307509}"/>
              </a:ext>
            </a:extLst>
          </p:cNvPr>
          <p:cNvSpPr>
            <a:spLocks noGrp="1"/>
          </p:cNvSpPr>
          <p:nvPr/>
        </p:nvSpPr>
        <p:spPr>
          <a:xfrm>
            <a:off x="876300" y="35718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理想不可伸长约束不做允许虚位移的功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E9F64D-B31D-4194-9C5A-13FED1BD1FF1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508FB2-86F4-46DB-8C79-A0B4890DA7A3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一阶变分为零给出平衡的必要条件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C6321E-3A15-463C-BC72-446C9C255710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F7322C-9AFA-459D-8EDC-3F3DE7FDD361}"/>
              </a:ext>
            </a:extLst>
          </p:cNvPr>
          <p:cNvSpPr>
            <a:spLocks noGrp="1"/>
          </p:cNvSpPr>
          <p:nvPr/>
        </p:nvSpPr>
        <p:spPr>
          <a:xfrm>
            <a:off x="876300" y="46005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本文另证全局能量不等式，因此不把驻值直接当作最小值</a:t>
            </a:r>
          </a:p>
        </p:txBody>
      </p:sp>
    </p:spTree>
    <p:extLst>
      <p:ext uri="{BB962C8B-B14F-4D97-AF65-F5344CB8AC3E}">
        <p14:creationId xmlns:p14="http://schemas.microsoft.com/office/powerpoint/2010/main" val="146722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DB96B0D-9859-4202-B660-7D0383C8B89A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常数乘子与约束正则性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C0A375-FCF8-4D15-8006-BF400F83F8AD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采用 Jλ=U+λ(S−L) 的符号约定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3B2A7F-77BD-4B0D-A51D-849F1CF47CE3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A2511F-F5AE-4FAE-B99D-A0BBFB521B27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546C9D-4EE9-408B-A16A-C405FA0A5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5572125" cy="742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4CD9FC7-B8F2-46AE-85DB-B0F8CE52C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962275"/>
            <a:ext cx="2985752" cy="7429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34DBB6B-F04C-4127-8C64-489FE48947BF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35EAC2-B420-49B7-94EC-5FA7CF108239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λ 为单个全局长度约束的常数乘子，量纲为 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D33DA0-9456-45E9-9206-499290397BF4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5A4B76-F7DD-47B9-941E-7D78F8BE6BB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η 在两端为零，乘子法允许暂时考虑任意此类 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D377D5-2BEE-40B8-B0D4-133928913007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559084-5E91-4864-9883-DFA017A3269B}"/>
              </a:ext>
            </a:extLst>
          </p:cNvPr>
          <p:cNvSpPr>
            <a:spLocks noGrp="1"/>
          </p:cNvSpPr>
          <p:nvPr/>
        </p:nvSpPr>
        <p:spPr>
          <a:xfrm>
            <a:off x="876300" y="50387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L&gt;d 排除直线，使约束导数不恒为零</a:t>
            </a:r>
          </a:p>
        </p:txBody>
      </p:sp>
    </p:spTree>
    <p:extLst>
      <p:ext uri="{BB962C8B-B14F-4D97-AF65-F5344CB8AC3E}">
        <p14:creationId xmlns:p14="http://schemas.microsoft.com/office/powerpoint/2010/main" val="1196443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7EAF20E-57C6-4198-8140-E3556B31E48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完整一阶变分与 Euler–Lagrange 方程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D1EB8C-2382-421E-8C31-46891C7447FB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令 p=y′，q=√(1+p²)，对端点为零的 η 分部积分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2F9020-57EE-49A3-A1EF-D59CCED77F57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75F337-3330-44D8-B5EC-2920EF69AD78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EC3CBA-68E6-4F7A-9EDD-77A297A79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4115552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E375B2-3F8D-4961-B599-B569A3731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3739189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53E505-2364-495A-A18D-F4AF45EEA4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4567875" cy="6191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EA1F016-F788-4332-9E3B-7501B657E618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60B678-51AC-44B2-B5E8-3097C4F5E571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边界项因 η(x₁)=η(x₂)=0 消失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2B59A8-8630-4B47-A8E1-AABA2FCAD590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001C80-0832-4C33-8AED-4A8B55F58B9B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关键化简：d(p/q)/dx=y″/q³</a:t>
            </a:r>
          </a:p>
        </p:txBody>
      </p:sp>
    </p:spTree>
    <p:extLst>
      <p:ext uri="{BB962C8B-B14F-4D97-AF65-F5344CB8AC3E}">
        <p14:creationId xmlns:p14="http://schemas.microsoft.com/office/powerpoint/2010/main" val="1563184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B8E50F4-124F-4275-9032-FEE1FD14E4B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普通微分方程方法：先降低阶数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119758-5552-46AE-8F2A-40A787A23F44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设 z=y+λ/w，在张力为正的物理解分支上 z&gt;0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544C55-B323-4C14-9988-99E5D77813B1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E9F881-1760-4725-8283-9A4034B2128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0ECDCE-1605-4364-A3CA-57AEE1540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2822318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5C2DCF3-8ABD-46F5-ADF6-2E7A673A7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3730037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11BB5F3-402F-40EE-8428-47A9DE970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3622092" cy="6191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5A4EF5B-759A-4AA8-BB4F-3611B0ED7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5800" y="4352925"/>
            <a:ext cx="3214260" cy="6191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630863F-B192-4A04-9739-3C8EE22AED6C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70903E-D027-4D35-A038-89941A14E302}"/>
              </a:ext>
            </a:extLst>
          </p:cNvPr>
          <p:cNvSpPr>
            <a:spLocks noGrp="1"/>
          </p:cNvSpPr>
          <p:nvPr/>
        </p:nvSpPr>
        <p:spPr>
          <a:xfrm>
            <a:off x="876300" y="52292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在 p≠0 的单调区间使用 p(z)，积分常数可连续延拓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9B1792-8124-4899-B9AB-921B07C8C5C1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60BED1-3A6F-4C1D-9ED9-06A1E9656530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最低点处 p=0，由原方程保持光滑</a:t>
            </a:r>
          </a:p>
        </p:txBody>
      </p:sp>
    </p:spTree>
    <p:extLst>
      <p:ext uri="{BB962C8B-B14F-4D97-AF65-F5344CB8AC3E}">
        <p14:creationId xmlns:p14="http://schemas.microsoft.com/office/powerpoint/2010/main" val="1714446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CAA6E45-54F0-4A33-A0FB-F395875CC40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线性化求解得到双曲余弦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D0FFD8-8772-46F9-AA3F-6EA13ED5EBE5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代回原方程得到 z″=z/a²，无需直接引用已知曲线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285238-874B-44B3-8C93-91363FC44E9E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F6A68A-27DC-47D2-A4EE-4E2A8FDC69A1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0C84AB-782E-4824-A0F0-8D92F3A77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6583363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D78DF8A-D919-4FEB-8125-260ECEC0F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4847024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D911AC-EE33-4F49-9D41-533B180B5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4462859" cy="6191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67D94B-D680-458D-AC0A-9CEC82BD56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5800" y="4352925"/>
            <a:ext cx="6787779" cy="6191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2136101-DA82-44D7-838A-40C04D74303B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656628-6D4A-4011-AE89-2481F682443A}"/>
              </a:ext>
            </a:extLst>
          </p:cNvPr>
          <p:cNvSpPr>
            <a:spLocks noGrp="1"/>
          </p:cNvSpPr>
          <p:nvPr/>
        </p:nvSpPr>
        <p:spPr>
          <a:xfrm>
            <a:off x="876300" y="52292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z&gt;0 使 A、B 均为正，最低点横坐标为 x₀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9CE20F-B773-4FAA-96F2-0A9BAACF3A81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1A7F37-582F-4950-A24C-16C522837679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a 控制弯曲尺度，c 是高度偏移</a:t>
            </a:r>
          </a:p>
        </p:txBody>
      </p:sp>
    </p:spTree>
    <p:extLst>
      <p:ext uri="{BB962C8B-B14F-4D97-AF65-F5344CB8AC3E}">
        <p14:creationId xmlns:p14="http://schemas.microsoft.com/office/powerpoint/2010/main" val="1175635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0142C88-D0A7-4F31-9D04-1E4BDE86CD68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一般端点条件归约为一个标量方程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1A2FFB-8964-4C4E-9826-71D39927EE83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令 D=x₂−x₁，Δ=y₂−y₁，xm=(x₁+x₂)/2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4E8911-865A-470E-8351-6E6085EE81E7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8B6826-7621-4AFF-8854-C1E019CDE2F6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394652-3A3E-4286-8EDC-1419E413C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3467937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B5EAA81-CF79-4974-BE72-0F839812C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9515561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2DAE37A-C845-4137-850A-220FCD37B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5707336" cy="6191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3926CDB-3EAE-4FD4-9AD1-1EF0884DD755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CB9469-F3DB-4007-A49B-6D3034133303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差高来自两端 y 值之差，长度来自 ∫cosh((x−x₀)/a)dx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73559A-79CD-42DC-A419-DDC4BA10FC07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E954C6-FF55-4B9F-A685-F2D8E1D544A8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先解 a，再求 x₀ 与 c</a:t>
            </a:r>
          </a:p>
        </p:txBody>
      </p:sp>
    </p:spTree>
    <p:extLst>
      <p:ext uri="{BB962C8B-B14F-4D97-AF65-F5344CB8AC3E}">
        <p14:creationId xmlns:p14="http://schemas.microsoft.com/office/powerpoint/2010/main" val="946331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F2A246D-01E1-4A5E-A274-0324E7CDFEA3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存在唯一性与退化边界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2A6C2-539E-4684-A800-A3C423DB9ADE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在 D&gt;0、w&gt;0、L&gt;√(D²+Δ²) 时，正张力解唯一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520BAC-F2CD-48BE-97D3-161C566B73E1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5C9B3F-E56F-4E75-A334-77645D1FAFC1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A2041E-1256-4F91-A4B3-080C94116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3985617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8B485C-58ED-42A1-8060-3872C27E6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3885009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9F5D34F-92B9-4540-BC38-105F59382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8672269" cy="6191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C4C14FA-C2B0-49E6-9637-286F649BCB56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B54E1A-FA89-45FD-B6C8-DF1C68A4F22E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sinh(u)/u 从 1 严格增加到无穷，故唯一正根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C1D032-B988-4609-901B-EC025BF7491D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07BE78-4B4A-4A94-A0C2-AD518468E423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L&lt;端点距离：无可行曲线。L=端点距离：仅有直线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D31286-F0CF-4902-80C7-CC01BD151B19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652019-3318-437B-9F5C-46A8FB7D94F3}"/>
              </a:ext>
            </a:extLst>
          </p:cNvPr>
          <p:cNvSpPr>
            <a:spLocks noGrp="1"/>
          </p:cNvSpPr>
          <p:nvPr/>
        </p:nvSpPr>
        <p:spPr>
          <a:xfrm>
            <a:off x="876300" y="54768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直线情形约束退化，在非零重力下不具有限张力的柔绳平衡</a:t>
            </a:r>
          </a:p>
        </p:txBody>
      </p:sp>
    </p:spTree>
    <p:extLst>
      <p:ext uri="{BB962C8B-B14F-4D97-AF65-F5344CB8AC3E}">
        <p14:creationId xmlns:p14="http://schemas.microsoft.com/office/powerpoint/2010/main" val="1291639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36B6E6BD-0AC3-413E-937F-C83A17F8EADA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独立物理推导：绳索微元受力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062B8C-3B1A-4AC4-9CE7-446BC7B08799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令 Q=Tt=(H,V)，按 A 到 B 的方向取弧长 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10A6D1-CA83-4483-B07D-37AD99BCD403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793637-49DF-48BF-8CB0-027420593EEB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148B7D84-632D-4E2C-892D-2B5D4E261E57}"/>
              </a:ext>
            </a:extLst>
          </p:cNvPr>
          <p:cNvSpPr>
            <a:spLocks noGrp="1"/>
          </p:cNvSpPr>
          <p:nvPr/>
        </p:nvSpPr>
        <p:spPr>
          <a:xfrm>
            <a:off x="8572500" y="3095625"/>
            <a:ext cx="1543050" cy="704850"/>
          </a:xfrm>
          <a:custGeom>
            <a:avLst/>
            <a:gdLst/>
            <a:ahLst/>
            <a:cxnLst/>
            <a:rect l="0" t="0" r="0" b="0"/>
            <a:pathLst>
              <a:path w="1543050" h="704850">
                <a:moveTo>
                  <a:pt x="0" y="704850"/>
                </a:moveTo>
                <a:lnTo>
                  <a:pt x="790575" y="428625"/>
                </a:lnTo>
                <a:lnTo>
                  <a:pt x="1543050" y="0"/>
                </a:lnTo>
              </a:path>
            </a:pathLst>
          </a:custGeom>
          <a:noFill/>
          <a:ln w="571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B16139E-6652-41FB-865D-5808C9481868}"/>
              </a:ext>
            </a:extLst>
          </p:cNvPr>
          <p:cNvSpPr>
            <a:spLocks noGrp="1"/>
          </p:cNvSpPr>
          <p:nvPr/>
        </p:nvSpPr>
        <p:spPr>
          <a:xfrm>
            <a:off x="7905750" y="3800475"/>
            <a:ext cx="666750" cy="285750"/>
          </a:xfrm>
          <a:custGeom>
            <a:avLst/>
            <a:gdLst/>
            <a:ahLst/>
            <a:cxnLst/>
            <a:rect l="0" t="0" r="0" b="0"/>
            <a:pathLst>
              <a:path w="666750" h="285750">
                <a:moveTo>
                  <a:pt x="66675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1734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61E64725-B35D-434F-A3D7-9B6ABA4327D3}"/>
              </a:ext>
            </a:extLst>
          </p:cNvPr>
          <p:cNvSpPr>
            <a:spLocks noGrp="1"/>
          </p:cNvSpPr>
          <p:nvPr/>
        </p:nvSpPr>
        <p:spPr>
          <a:xfrm>
            <a:off x="7905750" y="3984919"/>
            <a:ext cx="136326" cy="105058"/>
          </a:xfrm>
          <a:custGeom>
            <a:avLst/>
            <a:gdLst/>
            <a:ahLst/>
            <a:cxnLst/>
            <a:rect l="0" t="0" r="0" b="0"/>
            <a:pathLst>
              <a:path w="136326" h="105058">
                <a:moveTo>
                  <a:pt x="136326" y="105058"/>
                </a:moveTo>
                <a:lnTo>
                  <a:pt x="0" y="101306"/>
                </a:lnTo>
                <a:lnTo>
                  <a:pt x="91301" y="0"/>
                </a:lnTo>
              </a:path>
            </a:pathLst>
          </a:custGeom>
          <a:noFill/>
          <a:ln w="28575">
            <a:solidFill>
              <a:srgbClr val="1734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267C001-AC4A-458C-8BB9-36A075EB2012}"/>
              </a:ext>
            </a:extLst>
          </p:cNvPr>
          <p:cNvSpPr>
            <a:spLocks noGrp="1"/>
          </p:cNvSpPr>
          <p:nvPr/>
        </p:nvSpPr>
        <p:spPr>
          <a:xfrm>
            <a:off x="10115550" y="2667000"/>
            <a:ext cx="704850" cy="428625"/>
          </a:xfrm>
          <a:custGeom>
            <a:avLst/>
            <a:gdLst/>
            <a:ahLst/>
            <a:cxnLst/>
            <a:rect l="0" t="0" r="0" b="0"/>
            <a:pathLst>
              <a:path w="704850" h="428625">
                <a:moveTo>
                  <a:pt x="0" y="428625"/>
                </a:moveTo>
                <a:lnTo>
                  <a:pt x="704850" y="0"/>
                </a:lnTo>
              </a:path>
            </a:pathLst>
          </a:custGeom>
          <a:noFill/>
          <a:ln w="28575">
            <a:solidFill>
              <a:srgbClr val="1734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B1B5C57-0106-41D9-B31F-EDC298C7B693}"/>
              </a:ext>
            </a:extLst>
          </p:cNvPr>
          <p:cNvSpPr>
            <a:spLocks noGrp="1"/>
          </p:cNvSpPr>
          <p:nvPr/>
        </p:nvSpPr>
        <p:spPr>
          <a:xfrm>
            <a:off x="10684907" y="2667000"/>
            <a:ext cx="135493" cy="113167"/>
          </a:xfrm>
          <a:custGeom>
            <a:avLst/>
            <a:gdLst/>
            <a:ahLst/>
            <a:cxnLst/>
            <a:rect l="0" t="0" r="0" b="0"/>
            <a:pathLst>
              <a:path w="135493" h="113167">
                <a:moveTo>
                  <a:pt x="0" y="15507"/>
                </a:moveTo>
                <a:lnTo>
                  <a:pt x="135493" y="0"/>
                </a:lnTo>
                <a:lnTo>
                  <a:pt x="59388" y="113167"/>
                </a:lnTo>
              </a:path>
            </a:pathLst>
          </a:custGeom>
          <a:noFill/>
          <a:ln w="28575">
            <a:solidFill>
              <a:srgbClr val="1734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1BA37EB-A786-4469-B92C-C1C1E69A812A}"/>
              </a:ext>
            </a:extLst>
          </p:cNvPr>
          <p:cNvSpPr>
            <a:spLocks noGrp="1"/>
          </p:cNvSpPr>
          <p:nvPr/>
        </p:nvSpPr>
        <p:spPr>
          <a:xfrm>
            <a:off x="9353550" y="3486150"/>
            <a:ext cx="9525" cy="1143000"/>
          </a:xfrm>
          <a:custGeom>
            <a:avLst/>
            <a:gdLst/>
            <a:ahLst/>
            <a:cxnLst/>
            <a:rect l="0" t="0" r="0" b="0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/>
          <a:ln w="28575">
            <a:solidFill>
              <a:srgbClr val="DE86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7D22C26D-367C-485A-A073-FE0DA319A41C}"/>
              </a:ext>
            </a:extLst>
          </p:cNvPr>
          <p:cNvSpPr>
            <a:spLocks noGrp="1"/>
          </p:cNvSpPr>
          <p:nvPr/>
        </p:nvSpPr>
        <p:spPr>
          <a:xfrm>
            <a:off x="9296400" y="4505325"/>
            <a:ext cx="114300" cy="123825"/>
          </a:xfrm>
          <a:custGeom>
            <a:avLst/>
            <a:gdLst/>
            <a:ahLst/>
            <a:cxnLst/>
            <a:rect l="0" t="0" r="0" b="0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E86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6E7C70-F94D-44EE-B43C-2883B32D1FE3}"/>
              </a:ext>
            </a:extLst>
          </p:cNvPr>
          <p:cNvSpPr>
            <a:spLocks noGrp="1"/>
          </p:cNvSpPr>
          <p:nvPr/>
        </p:nvSpPr>
        <p:spPr>
          <a:xfrm>
            <a:off x="7524750" y="4191000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−Q(s)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47AF3F-1216-4F28-ABCB-AE36E7AA95FB}"/>
              </a:ext>
            </a:extLst>
          </p:cNvPr>
          <p:cNvSpPr>
            <a:spLocks noGrp="1"/>
          </p:cNvSpPr>
          <p:nvPr/>
        </p:nvSpPr>
        <p:spPr>
          <a:xfrm>
            <a:off x="9944100" y="2200275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Q(s+ds)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B49D60-5DC5-4B72-8A0E-EFB7D78953AF}"/>
              </a:ext>
            </a:extLst>
          </p:cNvPr>
          <p:cNvSpPr>
            <a:spLocks noGrp="1"/>
          </p:cNvSpPr>
          <p:nvPr/>
        </p:nvSpPr>
        <p:spPr>
          <a:xfrm>
            <a:off x="9525000" y="433387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DE863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DE863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DE8634"/>
                </a:solidFill>
                <a:latin typeface="Noto Sans CJK SC"/>
                <a:ea typeface="Noto Sans CJK SC"/>
                <a:cs typeface="Noto Sans CJK SC"/>
              </a:rPr>
              <a:t>w ds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6984C4F-5FF5-40C2-B1B8-991ED868D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43125"/>
            <a:ext cx="5686425" cy="762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480C1D5-05B6-4BDB-91BF-ED0CAC17D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3200400"/>
            <a:ext cx="4304543" cy="762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6729203-6EDD-4788-812F-169FD0751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4257675"/>
            <a:ext cx="5915269" cy="76200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2CD167F3-706A-47D0-881B-49F88AD1FA15}"/>
              </a:ext>
            </a:extLst>
          </p:cNvPr>
          <p:cNvSpPr>
            <a:spLocks noGrp="1"/>
          </p:cNvSpPr>
          <p:nvPr/>
        </p:nvSpPr>
        <p:spPr>
          <a:xfrm>
            <a:off x="7620000" y="5353050"/>
            <a:ext cx="3886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两端张力与微元重力平衡</a:t>
            </a:r>
          </a:p>
        </p:txBody>
      </p:sp>
    </p:spTree>
    <p:extLst>
      <p:ext uri="{BB962C8B-B14F-4D97-AF65-F5344CB8AC3E}">
        <p14:creationId xmlns:p14="http://schemas.microsoft.com/office/powerpoint/2010/main" val="1465570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AEAFA09-A09E-4CB1-8077-CD202147D21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张力解释与乘子符号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80D2D8-030F-4539-9A65-3F9051E0BB88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Beltrami 常量等于水平张力，增广权重等于张力大小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9A8C53-D97F-434F-AEAD-59DD97B23549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024F7E-40E5-4E3D-9C09-E1B8B49622E1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82B746-FF9C-4845-B23E-DDD33E768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5956254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88D77A-A5E2-4BC0-B60C-0BA2EE3BE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6574880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B4FBA9-8459-467F-A81E-9C5F5BE80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3815358" cy="6191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67E19FB-D392-4CA8-AB9A-091A8EE6F3D4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183F3E-01E0-493A-9632-050484E4A551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本符号约定 U+λ(S−L)：λ 是长度价值函数的负导数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5EBF23-171C-4F9C-A6F7-0B4A97967DB1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F540B6-9414-447D-A8BF-A51A51194711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若采用 U−μ(S−L)，则 μ=−λ，且 T=wy−μ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7245CB-11BA-4890-A65D-563387E59952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7CA2D7-C8B7-4050-AF6F-C9F54859D456}"/>
              </a:ext>
            </a:extLst>
          </p:cNvPr>
          <p:cNvSpPr>
            <a:spLocks noGrp="1"/>
          </p:cNvSpPr>
          <p:nvPr/>
        </p:nvSpPr>
        <p:spPr>
          <a:xfrm>
            <a:off x="876300" y="54768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高度坐标改为 y+b 时，λ 改为 λ−wb，T 与 H 不变</a:t>
            </a:r>
          </a:p>
        </p:txBody>
      </p:sp>
    </p:spTree>
    <p:extLst>
      <p:ext uri="{BB962C8B-B14F-4D97-AF65-F5344CB8AC3E}">
        <p14:creationId xmlns:p14="http://schemas.microsoft.com/office/powerpoint/2010/main" val="2125904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A30C87D-ED59-4A48-987C-866051CC2F4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全局最小性：弧长坐标中的能量证书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078413-5ECB-43E4-A340-BC247B48653A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与任意满足同端点、同长度的 AC 单位速率曲线 r 比较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707685-21A1-4749-8ED0-C9F08CE5CC7B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2421B6-E76D-442F-97DC-47184FFE3B73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AC3514-86F7-4E64-9724-7423AFEA5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7959382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9BDDFD3-08C4-4BD9-9979-95A6385CD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4221598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41C11A0-98B7-4C7B-94A7-952199F9F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4462191" cy="6191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70001A7-442D-47A8-93AC-C30C0CF5A824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385A13-C5C6-47B6-A2EA-12AC30576D98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dirty="0" err="1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分部积分的端点项为零</a:t>
            </a:r>
            <a:r>
              <a:rPr sz="1950" b="0" dirty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，|t*|=|r′|=1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E2CF84-966E-4B82-925B-F5119289FC20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BA51BB-B6C1-487F-9EB6-D02B9280FDEC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T*&gt;0 与 Cauchy–Schwarz 不等式给出全局下界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33FE2A-96AD-42AE-BA63-8873CB0FC842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EB8FC9-9F52-45BD-A249-A49D4AF62DCD}"/>
              </a:ext>
            </a:extLst>
          </p:cNvPr>
          <p:cNvSpPr>
            <a:spLocks noGrp="1"/>
          </p:cNvSpPr>
          <p:nvPr/>
        </p:nvSpPr>
        <p:spPr>
          <a:xfrm>
            <a:off x="876300" y="54768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等号迫使 r′=t* 几乎处处，同端点使 r=r*</a:t>
            </a:r>
          </a:p>
        </p:txBody>
      </p:sp>
    </p:spTree>
    <p:extLst>
      <p:ext uri="{BB962C8B-B14F-4D97-AF65-F5344CB8AC3E}">
        <p14:creationId xmlns:p14="http://schemas.microsoft.com/office/powerpoint/2010/main" val="136009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67B1180-F847-4686-8959-0B798E07F12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局部稳定性也可由能量证书读出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B1AD81-CE62-44E8-A24B-CBD771B59896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取任意光滑、严格保持长度和端点的曲线族 rε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1C022C-7DF2-42B5-A1FC-56209071756B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103404-F098-40B2-9C52-F469E1F73F79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E1356F-9E11-480A-9484-660D690E5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8368589" cy="742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4F25686-FAD7-40C9-A854-CC787D54A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962275"/>
            <a:ext cx="5820417" cy="7429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ACFAF5B-3899-4E88-93C4-42411BB91AA6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00D4AB-095D-489B-8B33-D1D5D842E598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非零端点固定扰动 h 使二阶项严格为正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DD1CBC-A489-425C-A8E9-41765B21F1D3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B168A6-71EC-46C0-AD9B-5BC69A4BA6EA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这一结论针对可行曲线族，不能任意丢弃约束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B09EEB-445C-45BF-9750-996AA77A70E2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314AAF-ED0B-4B50-9796-F401CBF4E430}"/>
              </a:ext>
            </a:extLst>
          </p:cNvPr>
          <p:cNvSpPr>
            <a:spLocks noGrp="1"/>
          </p:cNvSpPr>
          <p:nvPr/>
        </p:nvSpPr>
        <p:spPr>
          <a:xfrm>
            <a:off x="876300" y="50387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它证明静态稳定性，动力学松弛还需要耗散机制</a:t>
            </a:r>
          </a:p>
        </p:txBody>
      </p:sp>
    </p:spTree>
    <p:extLst>
      <p:ext uri="{BB962C8B-B14F-4D97-AF65-F5344CB8AC3E}">
        <p14:creationId xmlns:p14="http://schemas.microsoft.com/office/powerpoint/2010/main" val="808279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0C062C2-5E8B-4F78-8BA8-EE2A3B46D8C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Beltrami identity 简化了什么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2A8EC2-6B64-4988-BBF8-19597AF2921E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被积函数 F=(wy+λ)√(1+y′²) 不显含 x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E3CFED-7812-4DDB-9EBF-169A22DD530C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BE3A91-4A5A-4F22-A216-709ED066F8BB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221256-1DF5-4D99-9B14-94FCA2C5E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3403137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7BABB2B-C64C-4DBD-B7FE-7EC085AA7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90825"/>
            <a:ext cx="2641193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07729C-2385-46A1-AF34-FBE5BAD24B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3571875"/>
            <a:ext cx="5838031" cy="6191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C012CB9-9BF8-401F-98E9-23E1E9AC9CD0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AEACF5-9A45-4690-92B3-353652992156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直接得到一阶积分，与普通降阶法一致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750114-AC02-43F2-8F12-A672EBDD1A1C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94CA2A-9E3E-4BC5-93E7-021F454E7B4E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该常量来自 x 平移不显含性，可解释为水平内力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6345F5-F4D4-47F7-8B10-4D4F9C525F36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E23A9C-530B-43D8-A146-6DFC753E9461}"/>
              </a:ext>
            </a:extLst>
          </p:cNvPr>
          <p:cNvSpPr>
            <a:spLocks noGrp="1"/>
          </p:cNvSpPr>
          <p:nvPr/>
        </p:nvSpPr>
        <p:spPr>
          <a:xfrm>
            <a:off x="876300" y="54768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F 显含 y，因此 Fᵧ′ 不是常量</a:t>
            </a:r>
          </a:p>
        </p:txBody>
      </p:sp>
    </p:spTree>
    <p:extLst>
      <p:ext uri="{BB962C8B-B14F-4D97-AF65-F5344CB8AC3E}">
        <p14:creationId xmlns:p14="http://schemas.microsoft.com/office/powerpoint/2010/main" val="439491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D56C677-0E1A-48A1-AD54-806A9AE3BEF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数值实验参数与算法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7BC329-1664-4C79-9C3F-87284FAB1ACF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一根跨越 10 m、高差 2 m 的 12 m 均匀重绳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F7C313-34FF-47CE-9D7B-B95E67D36EB7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7881F3-B974-4851-8BAC-6AF6CDB4C92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7297A5E-FF02-4414-BFC0-F4B19DBF12D5}"/>
              </a:ext>
            </a:extLst>
          </p:cNvPr>
          <p:cNvGraphicFramePr/>
          <p:nvPr/>
        </p:nvGraphicFramePr>
        <p:xfrm>
          <a:off x="685800" y="1952625"/>
          <a:ext cx="10820400" cy="3943350"/>
        </p:xfrm>
        <a:graphic>
          <a:graphicData uri="http://schemas.openxmlformats.org/drawingml/2006/table">
            <a:tbl>
              <a:tblPr/>
              <a:tblGrid>
                <a:gridCol w="3005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91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参数 / 算法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采用值 / 设置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1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端点 A、B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(0,0) m、(10,2) m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1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L、ρ、g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 m、0.8 kg/m、9.81 m/s²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1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几何可行性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端点距离 10.198039 m &lt; L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91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解析常数求解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Brent 法，解 sinh(u)/u=√(L²−Δ²)/D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91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独立受力射击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solve_ivp + root，rtol=2×10⁻¹²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91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离散能量最小化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SLSQP，20 / 40 / 80 等长链节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91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图表生成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Python 3.12、NumPy、SciPy、Matplotlib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986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8B10EC7-F3DA-4C08-A433-33B6A953C5FF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解析曲线与独立射击解重合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65A195-2BEB-4CE5-98DE-1F9E7E770F56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最低点位于 x=4.176531 m，y=−1.892629 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6401C7-36FF-4679-ACBA-4B961BD616DB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8A34D2-A5BD-49C2-94AF-C630944B0D91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2FFF4F-5BCA-4A9E-93F9-08ED73640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990725"/>
            <a:ext cx="7162800" cy="40290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1A863D4-C091-4294-BC39-BB775680AD66}"/>
              </a:ext>
            </a:extLst>
          </p:cNvPr>
          <p:cNvSpPr>
            <a:spLocks noGrp="1"/>
          </p:cNvSpPr>
          <p:nvPr/>
        </p:nvSpPr>
        <p:spPr>
          <a:xfrm>
            <a:off x="9048750" y="23431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F5E7D7-3905-4268-896E-C7D254212233}"/>
              </a:ext>
            </a:extLst>
          </p:cNvPr>
          <p:cNvSpPr>
            <a:spLocks noGrp="1"/>
          </p:cNvSpPr>
          <p:nvPr/>
        </p:nvSpPr>
        <p:spPr>
          <a:xfrm>
            <a:off x="9239250" y="2238375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a=4.894719 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6628CC-C6EE-42EE-981B-D552C46956D9}"/>
              </a:ext>
            </a:extLst>
          </p:cNvPr>
          <p:cNvSpPr>
            <a:spLocks noGrp="1"/>
          </p:cNvSpPr>
          <p:nvPr/>
        </p:nvSpPr>
        <p:spPr>
          <a:xfrm>
            <a:off x="9048750" y="3190875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337D77-57D6-4420-A0DB-FBAE158C37C6}"/>
              </a:ext>
            </a:extLst>
          </p:cNvPr>
          <p:cNvSpPr>
            <a:spLocks noGrp="1"/>
          </p:cNvSpPr>
          <p:nvPr/>
        </p:nvSpPr>
        <p:spPr>
          <a:xfrm>
            <a:off x="9239250" y="3086100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c=−6.787349 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C9AC10-01EF-4F9E-B2EF-7E5C6AF9F412}"/>
              </a:ext>
            </a:extLst>
          </p:cNvPr>
          <p:cNvSpPr>
            <a:spLocks noGrp="1"/>
          </p:cNvSpPr>
          <p:nvPr/>
        </p:nvSpPr>
        <p:spPr>
          <a:xfrm>
            <a:off x="9048750" y="40386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3C0FE5-D910-4EF1-A46F-485413974AC9}"/>
              </a:ext>
            </a:extLst>
          </p:cNvPr>
          <p:cNvSpPr>
            <a:spLocks noGrp="1"/>
          </p:cNvSpPr>
          <p:nvPr/>
        </p:nvSpPr>
        <p:spPr>
          <a:xfrm>
            <a:off x="9239250" y="3933825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H=38.413757 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19511B-20E5-45F7-9F02-EC6BDF4A9833}"/>
              </a:ext>
            </a:extLst>
          </p:cNvPr>
          <p:cNvSpPr>
            <a:spLocks noGrp="1"/>
          </p:cNvSpPr>
          <p:nvPr/>
        </p:nvSpPr>
        <p:spPr>
          <a:xfrm>
            <a:off x="9048750" y="4886325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AC0A79-278A-4E24-8FF9-1E485AEB72B7}"/>
              </a:ext>
            </a:extLst>
          </p:cNvPr>
          <p:cNvSpPr>
            <a:spLocks noGrp="1"/>
          </p:cNvSpPr>
          <p:nvPr/>
        </p:nvSpPr>
        <p:spPr>
          <a:xfrm>
            <a:off x="9239250" y="4781550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两种方法最大位置差 5.69×10⁻¹¹ m</a:t>
            </a:r>
          </a:p>
        </p:txBody>
      </p:sp>
    </p:spTree>
    <p:extLst>
      <p:ext uri="{BB962C8B-B14F-4D97-AF65-F5344CB8AC3E}">
        <p14:creationId xmlns:p14="http://schemas.microsoft.com/office/powerpoint/2010/main" val="919859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E19FA1B-4DB0-4514-8178-442A081820CB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水平张力恒定，总张力随高度增加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7987B3-C45F-48AD-B84C-9F5EC9235660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最低点处总张力最小，两端支持力共同平衡整绳重量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78BEAB-08FD-400B-8833-DC6835DA0619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573BF4-7A03-443A-83A5-B5C5F982CECB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580C3F-B647-4989-ADB6-D6B5821EC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990725"/>
            <a:ext cx="7674429" cy="40290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CD83D63-8463-4AD0-AC52-593E57F3B915}"/>
              </a:ext>
            </a:extLst>
          </p:cNvPr>
          <p:cNvSpPr>
            <a:spLocks noGrp="1"/>
          </p:cNvSpPr>
          <p:nvPr/>
        </p:nvSpPr>
        <p:spPr>
          <a:xfrm>
            <a:off x="9048750" y="23431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E50FCB-D28B-4D3D-A6B9-D351BA635753}"/>
              </a:ext>
            </a:extLst>
          </p:cNvPr>
          <p:cNvSpPr>
            <a:spLocks noGrp="1"/>
          </p:cNvSpPr>
          <p:nvPr/>
        </p:nvSpPr>
        <p:spPr>
          <a:xfrm>
            <a:off x="9239250" y="2238375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T(A)=53.267112 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8A440D-E8A1-4BE8-BE6D-AF8947404B82}"/>
              </a:ext>
            </a:extLst>
          </p:cNvPr>
          <p:cNvSpPr>
            <a:spLocks noGrp="1"/>
          </p:cNvSpPr>
          <p:nvPr/>
        </p:nvSpPr>
        <p:spPr>
          <a:xfrm>
            <a:off x="9048750" y="3190875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A24C1A-27FA-4379-B838-2F98EC6FC1A8}"/>
              </a:ext>
            </a:extLst>
          </p:cNvPr>
          <p:cNvSpPr>
            <a:spLocks noGrp="1"/>
          </p:cNvSpPr>
          <p:nvPr/>
        </p:nvSpPr>
        <p:spPr>
          <a:xfrm>
            <a:off x="9239250" y="3086100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T(B)=68.963112 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0FE406-FE77-4D5D-BD50-8A30DD697B65}"/>
              </a:ext>
            </a:extLst>
          </p:cNvPr>
          <p:cNvSpPr>
            <a:spLocks noGrp="1"/>
          </p:cNvSpPr>
          <p:nvPr/>
        </p:nvSpPr>
        <p:spPr>
          <a:xfrm>
            <a:off x="9048750" y="40386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B68D06-554F-45A4-B2A8-457BD9D98F7C}"/>
              </a:ext>
            </a:extLst>
          </p:cNvPr>
          <p:cNvSpPr>
            <a:spLocks noGrp="1"/>
          </p:cNvSpPr>
          <p:nvPr/>
        </p:nvSpPr>
        <p:spPr>
          <a:xfrm>
            <a:off x="9239250" y="3933825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V(B)−V(A)=94.176 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4CA6AC-8892-4965-B54D-3EA9E7FB4D5E}"/>
              </a:ext>
            </a:extLst>
          </p:cNvPr>
          <p:cNvSpPr>
            <a:spLocks noGrp="1"/>
          </p:cNvSpPr>
          <p:nvPr/>
        </p:nvSpPr>
        <p:spPr>
          <a:xfrm>
            <a:off x="9048750" y="4886325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F8BF3F-BC8F-4210-93C9-B3437198D540}"/>
              </a:ext>
            </a:extLst>
          </p:cNvPr>
          <p:cNvSpPr>
            <a:spLocks noGrp="1"/>
          </p:cNvSpPr>
          <p:nvPr/>
        </p:nvSpPr>
        <p:spPr>
          <a:xfrm>
            <a:off x="9239250" y="4781550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整绳重量 wL=94.176 N</a:t>
            </a:r>
          </a:p>
        </p:txBody>
      </p:sp>
    </p:spTree>
    <p:extLst>
      <p:ext uri="{BB962C8B-B14F-4D97-AF65-F5344CB8AC3E}">
        <p14:creationId xmlns:p14="http://schemas.microsoft.com/office/powerpoint/2010/main" val="1253775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4378E32-4AF6-47C9-9909-73941263FF92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数值残差与独立验证结果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F35E20-1326-45DD-9AA3-6734E0C8F2F4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解析代回、数值积分和受力射击分别检验不同环节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1961B6-D200-42A4-8B93-4F441E91ED38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D0DF22-4B92-415E-9D77-62297FB0683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62D3851-A9E9-4803-B0A6-1C919B112A96}"/>
              </a:ext>
            </a:extLst>
          </p:cNvPr>
          <p:cNvGraphicFramePr/>
          <p:nvPr/>
        </p:nvGraphicFramePr>
        <p:xfrm>
          <a:off x="685800" y="1952625"/>
          <a:ext cx="10820400" cy="394335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3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检查量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实际结果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说明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端点最大残差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 m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双精度下抵消为零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弧长积分残差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 m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自适应数值积分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Euler–Lagrange 残差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1.07×10⁻¹⁴ N/m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801 个采样点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射击终点最大残差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5.33×10⁻¹⁵ m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由受力 ODE 独立求解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射击曲线最大位置差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5.69×10⁻¹¹ m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501 个弧长采样点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总势能 U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−70.260037 J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零点设在左端高度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73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74ECB36-E9F7-4D71-8730-6B0E8A4187C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离散绳链能量优化与网格收敛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A1B9E3-72CA-4FD6-96B5-B3061AF8548F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每个链节严格固定长度，势能用均匀直链节的精确积分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082DDA-8C2F-4139-93D9-DC67BB2644DA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CA37E6-9DE3-4CF5-82FB-6D20A0EDAE83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5084C9-1A72-42A7-AFD3-CF0AE7BCE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2195513"/>
            <a:ext cx="8143875" cy="3619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0ACD934-967B-447B-A229-90D137783F76}"/>
              </a:ext>
            </a:extLst>
          </p:cNvPr>
          <p:cNvSpPr>
            <a:spLocks noGrp="1"/>
          </p:cNvSpPr>
          <p:nvPr/>
        </p:nvSpPr>
        <p:spPr>
          <a:xfrm>
            <a:off x="9048750" y="23431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86F781-71AB-423F-ABA5-67DA135FFE2B}"/>
              </a:ext>
            </a:extLst>
          </p:cNvPr>
          <p:cNvSpPr>
            <a:spLocks noGrp="1"/>
          </p:cNvSpPr>
          <p:nvPr/>
        </p:nvSpPr>
        <p:spPr>
          <a:xfrm>
            <a:off x="9239250" y="2238375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20 段：位置误差 3.635 mm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72B5BD-141C-428B-ACAC-3C88566BD554}"/>
              </a:ext>
            </a:extLst>
          </p:cNvPr>
          <p:cNvSpPr>
            <a:spLocks noGrp="1"/>
          </p:cNvSpPr>
          <p:nvPr/>
        </p:nvSpPr>
        <p:spPr>
          <a:xfrm>
            <a:off x="9048750" y="3190875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906888-5624-4157-9A54-DA279C5572FB}"/>
              </a:ext>
            </a:extLst>
          </p:cNvPr>
          <p:cNvSpPr>
            <a:spLocks noGrp="1"/>
          </p:cNvSpPr>
          <p:nvPr/>
        </p:nvSpPr>
        <p:spPr>
          <a:xfrm>
            <a:off x="9239250" y="3086100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40 段：位置误差 0.909 mm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F9F1F7-84D2-4238-B1FD-DE15C0E49F56}"/>
              </a:ext>
            </a:extLst>
          </p:cNvPr>
          <p:cNvSpPr>
            <a:spLocks noGrp="1"/>
          </p:cNvSpPr>
          <p:nvPr/>
        </p:nvSpPr>
        <p:spPr>
          <a:xfrm>
            <a:off x="9048750" y="40386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7D42A9-464A-45DB-AED6-3CC70A13407D}"/>
              </a:ext>
            </a:extLst>
          </p:cNvPr>
          <p:cNvSpPr>
            <a:spLocks noGrp="1"/>
          </p:cNvSpPr>
          <p:nvPr/>
        </p:nvSpPr>
        <p:spPr>
          <a:xfrm>
            <a:off x="9239250" y="3933825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80 段：位置误差 0.227 mm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4D4A65-5AA2-4FA7-8B8E-1E1624A35ECC}"/>
              </a:ext>
            </a:extLst>
          </p:cNvPr>
          <p:cNvSpPr>
            <a:spLocks noGrp="1"/>
          </p:cNvSpPr>
          <p:nvPr/>
        </p:nvSpPr>
        <p:spPr>
          <a:xfrm>
            <a:off x="9048750" y="4886325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AEDC-746F-42DC-ACB1-7A220E7A93AB}"/>
              </a:ext>
            </a:extLst>
          </p:cNvPr>
          <p:cNvSpPr>
            <a:spLocks noGrp="1"/>
          </p:cNvSpPr>
          <p:nvPr/>
        </p:nvSpPr>
        <p:spPr>
          <a:xfrm>
            <a:off x="9239250" y="4781550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误差比例约 4，观察到二阶收敛</a:t>
            </a:r>
          </a:p>
        </p:txBody>
      </p:sp>
    </p:spTree>
    <p:extLst>
      <p:ext uri="{BB962C8B-B14F-4D97-AF65-F5344CB8AC3E}">
        <p14:creationId xmlns:p14="http://schemas.microsoft.com/office/powerpoint/2010/main" val="1332979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BC89584-43E4-4E4C-96F8-88A4E4A6AB6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离散计算的可复核记录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FCDD30-E3FF-41A2-9550-3DBB86170062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约束残差与能量误差同时检查，收敛结论保持有限样本边界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A86D9C-EE02-4CDA-B3E7-C4DA6A97C426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399E4A-D2A5-432F-B443-DC34D7B58AED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FA4D8F8-FB97-4AF4-B77F-3C183EC73144}"/>
              </a:ext>
            </a:extLst>
          </p:cNvPr>
          <p:cNvGraphicFramePr/>
          <p:nvPr/>
        </p:nvGraphicFramePr>
        <p:xfrm>
          <a:off x="685800" y="1952625"/>
          <a:ext cx="10820400" cy="2809875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246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链节数 N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最大位置误差 / m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势能误差 / J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链长最大残差 / m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173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3.635×10⁻³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1.794×10⁻¹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6.16×10⁻¹³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9.093×10⁻⁴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4.483×10⁻²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3.25×10⁻¹⁴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80</a:t>
                      </a:r>
                    </a:p>
                  </a:txBody>
                  <a:tcPr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2.273×10⁻⁴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1.121×10⁻²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4.08×10⁻¹⁴</a:t>
                      </a:r>
                    </a:p>
                  </a:txBody>
                  <a:tcPr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BA0EB2B-E28A-44F4-98CB-62A8FF36E556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1F0114-CDD2-4EED-A972-E4866C3ECC3B}"/>
              </a:ext>
            </a:extLst>
          </p:cNvPr>
          <p:cNvSpPr>
            <a:spLocks noGrp="1"/>
          </p:cNvSpPr>
          <p:nvPr/>
        </p:nvSpPr>
        <p:spPr>
          <a:xfrm>
            <a:off x="876300" y="5210175"/>
            <a:ext cx="1062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离散势能从上方趋近连续势能 −70.260037 J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87364D-6D9E-4E27-8A0B-C8047EF80C61}"/>
              </a:ext>
            </a:extLst>
          </p:cNvPr>
          <p:cNvSpPr>
            <a:spLocks noGrp="1"/>
          </p:cNvSpPr>
          <p:nvPr/>
        </p:nvSpPr>
        <p:spPr>
          <a:xfrm>
            <a:off x="685800" y="5838825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7CD288-BB20-4039-9832-78B8DACEF596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1062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SLSQP 数值收敛是计算证据，全局最小性仍由解析证书保证</a:t>
            </a:r>
          </a:p>
        </p:txBody>
      </p:sp>
    </p:spTree>
    <p:extLst>
      <p:ext uri="{BB962C8B-B14F-4D97-AF65-F5344CB8AC3E}">
        <p14:creationId xmlns:p14="http://schemas.microsoft.com/office/powerpoint/2010/main" val="848699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692CDC-E140-4E25-AC1B-C281FD7CD05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长度敏感性与近直线极限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B39E14-C588-40F4-8301-F6E8A6AC9C2E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固定两端时，绳长越接近直线距离，水平张力越大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36212B-25BE-4390-B373-9FD9DFB1B482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30ADCF-DC48-4C7A-848C-85BA3911F6E8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26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9F0B9D-54EF-4FD0-A8B9-B2C38EF61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2195513"/>
            <a:ext cx="8143875" cy="3619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08F0D5E-4D0D-49DB-9197-0720F4BE9D2D}"/>
              </a:ext>
            </a:extLst>
          </p:cNvPr>
          <p:cNvSpPr>
            <a:spLocks noGrp="1"/>
          </p:cNvSpPr>
          <p:nvPr/>
        </p:nvSpPr>
        <p:spPr>
          <a:xfrm>
            <a:off x="9048750" y="23431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9AEF05-D641-488F-A40D-7C0A827C8AFB}"/>
              </a:ext>
            </a:extLst>
          </p:cNvPr>
          <p:cNvSpPr>
            <a:spLocks noGrp="1"/>
          </p:cNvSpPr>
          <p:nvPr/>
        </p:nvSpPr>
        <p:spPr>
          <a:xfrm>
            <a:off x="9239250" y="2238375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L 接近端点距离时，H 趋于无穷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D0E201-923F-42D5-8502-9654084A32DA}"/>
              </a:ext>
            </a:extLst>
          </p:cNvPr>
          <p:cNvSpPr>
            <a:spLocks noGrp="1"/>
          </p:cNvSpPr>
          <p:nvPr/>
        </p:nvSpPr>
        <p:spPr>
          <a:xfrm>
            <a:off x="9048750" y="3190875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D5D955-5602-4321-9482-4AA1ED3BF4F8}"/>
              </a:ext>
            </a:extLst>
          </p:cNvPr>
          <p:cNvSpPr>
            <a:spLocks noGrp="1"/>
          </p:cNvSpPr>
          <p:nvPr/>
        </p:nvSpPr>
        <p:spPr>
          <a:xfrm>
            <a:off x="9239250" y="3086100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增加绳长使下垂增加，水平张力减小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C92B80-D6BE-4ED2-99BD-9BBC9F3B7218}"/>
              </a:ext>
            </a:extLst>
          </p:cNvPr>
          <p:cNvSpPr>
            <a:spLocks noGrp="1"/>
          </p:cNvSpPr>
          <p:nvPr/>
        </p:nvSpPr>
        <p:spPr>
          <a:xfrm>
            <a:off x="9048750" y="40386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2CBE3D-36E2-4D13-AC7B-82152DCC2C96}"/>
              </a:ext>
            </a:extLst>
          </p:cNvPr>
          <p:cNvSpPr>
            <a:spLocks noGrp="1"/>
          </p:cNvSpPr>
          <p:nvPr/>
        </p:nvSpPr>
        <p:spPr>
          <a:xfrm>
            <a:off x="9239250" y="3933825"/>
            <a:ext cx="2343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ρ 或 g 仅按比例改变张力，几何形状由端点和 L 决定</a:t>
            </a:r>
          </a:p>
        </p:txBody>
      </p:sp>
    </p:spTree>
    <p:extLst>
      <p:ext uri="{BB962C8B-B14F-4D97-AF65-F5344CB8AC3E}">
        <p14:creationId xmlns:p14="http://schemas.microsoft.com/office/powerpoint/2010/main" val="1924669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492CFEA-C90E-4D94-9CC8-1BF9492AACE3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为什么常见的抛物线只是近似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C9A31B-B761-4F49-A58F-20E29488F338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双曲余弦在最低点附近的 Taylor 展开给出局部抛物线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5AEB40-C035-4BCF-A826-4DF84E03819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F4B9A3-4C28-40EC-8BBD-7047B2FD86C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6F30AA-0DD0-4418-92FB-585CD487F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6198481" cy="742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2CEC7E1-49B2-4CE4-8B56-7173FF36E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962275"/>
            <a:ext cx="5083781" cy="7429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6A3D0CA-6EA0-4D67-B797-078E49DF20BD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DC95C2-4A42-4439-AED7-6483076011BA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需要 |x−x₀|/a≪1，不能只凭外观判断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3E7DA6-D6C2-4EDD-BFF9-1FC2945ACDE1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C2BD8-6795-444A-A6CC-DF701FEABA88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无量纲偏移 0.5：相对下垂误差约 2.06%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2D446B-6E5A-47EE-9FC7-BDAD032F3C59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7B7987-368A-4EAA-B61D-725E4358C5BA}"/>
              </a:ext>
            </a:extLst>
          </p:cNvPr>
          <p:cNvSpPr>
            <a:spLocks noGrp="1"/>
          </p:cNvSpPr>
          <p:nvPr/>
        </p:nvSpPr>
        <p:spPr>
          <a:xfrm>
            <a:off x="876300" y="50387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无量纲偏移 1.0：相对下垂误差约 7.93%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E84A90-09C9-4979-87C5-18CA939FE581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CA5136-67F3-4BE5-AE13-0AC9F5A8DA1B}"/>
              </a:ext>
            </a:extLst>
          </p:cNvPr>
          <p:cNvSpPr>
            <a:spLocks noGrp="1"/>
          </p:cNvSpPr>
          <p:nvPr/>
        </p:nvSpPr>
        <p:spPr>
          <a:xfrm>
            <a:off x="876300" y="55530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按水平距离均匀加载的柔索满足 Hy″=常量，才精确为抛物线</a:t>
            </a:r>
          </a:p>
        </p:txBody>
      </p:sp>
    </p:spTree>
    <p:extLst>
      <p:ext uri="{BB962C8B-B14F-4D97-AF65-F5344CB8AC3E}">
        <p14:creationId xmlns:p14="http://schemas.microsoft.com/office/powerpoint/2010/main" val="363198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EAC8AD4-727A-4029-A8F2-FCF5A0CCB37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研究结论与交付边界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4DD1A9-CE6E-449B-843E-B5E597077B15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解析、物理与数值结果在同一组边界条件下相互吻合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9765E8-2CB5-4A87-86B1-D66FEF7296A9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77B04C-D3E2-4315-B129-A96293AD768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834742-EB36-4D7D-9A15-166983C74B7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B0A01B-0AF2-4518-B236-1C0679A35C11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106299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严格推出 y=a cosh((x−x₀)/a)+c，给出一般端点定常数方法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21FEF2-0CBF-41A6-AB62-43BDAD806C2A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913B59-2FC2-4F65-8B02-B7CE51396991}"/>
              </a:ext>
            </a:extLst>
          </p:cNvPr>
          <p:cNvSpPr>
            <a:spLocks noGrp="1"/>
          </p:cNvSpPr>
          <p:nvPr/>
        </p:nvSpPr>
        <p:spPr>
          <a:xfrm>
            <a:off x="876300" y="3019425"/>
            <a:ext cx="106299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证明 L&gt;d 时正张力解存在唯一，并给出全局势能最小证书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F69F96-7C35-45D0-9495-1474287538AF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005328-AA21-457A-86C0-4CD8317F02A6}"/>
              </a:ext>
            </a:extLst>
          </p:cNvPr>
          <p:cNvSpPr>
            <a:spLocks noGrp="1"/>
          </p:cNvSpPr>
          <p:nvPr/>
        </p:nvSpPr>
        <p:spPr>
          <a:xfrm>
            <a:off x="876300" y="3895725"/>
            <a:ext cx="106299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独立受力射击误差约 5.69×10⁻¹¹ m，离散绳链呈约二阶收敛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31E25F-98B6-466E-89D2-85157D250933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38B0F1-17A1-4C1B-9569-B4B0A4606C4F}"/>
              </a:ext>
            </a:extLst>
          </p:cNvPr>
          <p:cNvSpPr>
            <a:spLocks noGrp="1"/>
          </p:cNvSpPr>
          <p:nvPr/>
        </p:nvSpPr>
        <p:spPr>
          <a:xfrm>
            <a:off x="876300" y="4772025"/>
            <a:ext cx="106299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计算适用于理想均匀柔绳，不包含伸长、弯曲刚度、接触或动态松弛</a:t>
            </a:r>
          </a:p>
        </p:txBody>
      </p:sp>
    </p:spTree>
    <p:extLst>
      <p:ext uri="{BB962C8B-B14F-4D97-AF65-F5344CB8AC3E}">
        <p14:creationId xmlns:p14="http://schemas.microsoft.com/office/powerpoint/2010/main" val="77788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F88A1E5-7647-4BD6-B021-AD7543BBB80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453"/>
                </a:solidFill>
                <a:latin typeface="Noto Sans CJK SC"/>
                <a:ea typeface="Noto Sans CJK SC"/>
                <a:cs typeface="Noto Sans CJK SC"/>
              </a:rPr>
              <a:t>复现入口与核心算法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7A9EAD-3D30-4C03-9AE4-BFF0F2B6E5F0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输入、完整代码、原始数据和误差记录一并保留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9B0F74-9B6E-4A96-9B15-B453C36D308A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CE4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C3CC4C-B4C7-4888-B776-367FEC3CAC0E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C90"/>
                </a:solidFill>
                <a:latin typeface="Noto Sans CJK SC"/>
                <a:ea typeface="Noto Sans CJK SC"/>
                <a:cs typeface="Noto Sans CJK SC"/>
              </a:rPr>
              <a:t>29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7C275E-B16F-48A2-8E06-4FA19BAD9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09775"/>
            <a:ext cx="6641674" cy="742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DD4F97E-A705-4F68-9C9C-DA08A3495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962275"/>
            <a:ext cx="2953226" cy="7429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5DBBDDB-96D6-4C23-B02D-4FCE39BE75B2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F646DA-A4F1-42AD-AF93-E345294EE70B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research.py：求根、受力射击、等长链节优化与绘图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0D5EEA-9523-4030-873F-8219A73D5BEE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956BCC-9EE9-476A-BAF8-F7F8C19E0D44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 err="1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results.json</a:t>
            </a:r>
            <a:r>
              <a:rPr sz="1875" b="0" dirty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 / </a:t>
            </a:r>
            <a:r>
              <a:rPr sz="1875" b="0" dirty="0" err="1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curve.csv：完整精度结果与曲线采样</a:t>
            </a:r>
            <a:endParaRPr sz="1875" b="0" dirty="0">
              <a:solidFill>
                <a:srgbClr val="2437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94BB96-DEDB-49F3-B9A5-3729E77BB1F2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B4D5EF-A4E3-47CE-ADC4-2AA3A93F901A}"/>
              </a:ext>
            </a:extLst>
          </p:cNvPr>
          <p:cNvSpPr>
            <a:spLocks noGrp="1"/>
          </p:cNvSpPr>
          <p:nvPr/>
        </p:nvSpPr>
        <p:spPr>
          <a:xfrm>
            <a:off x="876300" y="503872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content.py / deck.mjs：中文内容、公式源与 PPTX 制作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52D0A8-3462-422A-9AED-592F9817A4E9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47625" cy="171450"/>
          </a:xfrm>
          <a:prstGeom prst="rect">
            <a:avLst/>
          </a:prstGeom>
          <a:solidFill>
            <a:srgbClr val="008B8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754C54-87C1-4279-9C4F-7EFAC8ACF42E}"/>
              </a:ext>
            </a:extLst>
          </p:cNvPr>
          <p:cNvSpPr>
            <a:spLocks noGrp="1"/>
          </p:cNvSpPr>
          <p:nvPr/>
        </p:nvSpPr>
        <p:spPr>
          <a:xfrm>
            <a:off x="876300" y="5553075"/>
            <a:ext cx="10629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74B"/>
                </a:solidFill>
                <a:latin typeface="Noto Sans CJK SC"/>
                <a:ea typeface="Noto Sans CJK SC"/>
                <a:cs typeface="Noto Sans CJK SC"/>
              </a:rPr>
              <a:t>README.md：物理假设、证明及一条命令的复现方式</a:t>
            </a:r>
          </a:p>
        </p:txBody>
      </p:sp>
    </p:spTree>
    <p:extLst>
      <p:ext uri="{BB962C8B-B14F-4D97-AF65-F5344CB8AC3E}">
        <p14:creationId xmlns:p14="http://schemas.microsoft.com/office/powerpoint/2010/main" val="1096399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3724</Words>
  <Application>Microsoft Office PowerPoint</Application>
  <DocSecurity>0</DocSecurity>
  <PresentationFormat>宽屏</PresentationFormat>
  <Paragraphs>453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2" baseType="lpstr">
      <vt:lpstr>Noto Sans CJK SC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也钦 季</cp:lastModifiedBy>
  <cp:revision>1</cp:revision>
  <dcterms:created xsi:type="dcterms:W3CDTF">2026-10-13T04:45:27Z</dcterms:created>
  <dcterms:modified xsi:type="dcterms:W3CDTF">2026-10-13T04:55:50Z</dcterms:modified>
</cp:coreProperties>
</file>