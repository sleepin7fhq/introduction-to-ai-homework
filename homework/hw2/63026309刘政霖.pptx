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g-de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74320"/>
            <a:ext cx="6309360" cy="6309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51560" y="1847088"/>
            <a:ext cx="50292" cy="23957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7556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3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CALCULUS  ·  定积分专题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084831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一个瑕积分的三种解法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01752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I = ∫</a:t>
            </a:r>
            <a:r>
              <a:rPr sz="2016" b="0" i="0" baseline="-2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2016" b="0" i="0" baseline="3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28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 ln(sin x)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822191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ln(sin x) 在 x → 0 处为瑕点，且没有初等原函数。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于是从对称换元切入，最终得到闭式解。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5138928"/>
            <a:ext cx="2834640" cy="10972"/>
          </a:xfrm>
          <a:prstGeom prst="rect">
            <a:avLst/>
          </a:prstGeom>
          <a:solidFill>
            <a:srgbClr val="2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5321808"/>
            <a:ext cx="5669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 spc="10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思路  ·  四步推导  ·  两种验证  ·  易错点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01  /  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768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三条可走的路，为什么选对称换元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241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目标是绕开「ln(sin x) 没有初等原函数」这一障碍。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4069080" cy="3785615"/>
          </a:xfrm>
          <a:prstGeom prst="rect">
            <a:avLst/>
          </a:prstGeom>
          <a:solidFill>
            <a:srgbClr val="131D33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031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先看清三个障碍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54203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52374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它是瑕积分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834639"/>
            <a:ext cx="3063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x → 0⁺ 时 ln(sin x) → −∞，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必须先说明积分收敛。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210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6027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没有初等原函数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913632"/>
            <a:ext cx="3063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无法「求出原函数再代上下限」，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只能去找等式。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70001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6817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必须化归成方程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992624"/>
            <a:ext cx="3063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把未知量 I 写进等式里，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再解出来。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1874519"/>
            <a:ext cx="5989320" cy="1152144"/>
          </a:xfrm>
          <a:prstGeom prst="rect">
            <a:avLst/>
          </a:prstGeom>
          <a:solidFill>
            <a:srgbClr val="16203A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874519"/>
            <a:ext cx="32004" cy="115214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3248" y="205740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04825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对称换元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2093976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2459736"/>
            <a:ext cx="50292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用 x → π/2 − x 造出关于 ln(cos x) 的等式，两式相加后用 sin 2x 化归。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3136391"/>
            <a:ext cx="5989320" cy="1152144"/>
          </a:xfrm>
          <a:prstGeom prst="rect">
            <a:avLst/>
          </a:prstGeom>
          <a:solidFill>
            <a:srgbClr val="16203A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3136391"/>
            <a:ext cx="32004" cy="1152144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3248" y="331927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3310127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Beta 函数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3355848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00">
                <a:solidFill>
                  <a:srgbClr val="818CF8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3721607"/>
            <a:ext cx="50292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F(a) = ∫ sin</a:t>
            </a:r>
            <a:r>
              <a:rPr sz="756" b="0" i="0" baseline="3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x dx 对 a 求导取 a = 0，借 Γ 与 ψ 得到同一结果。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60" y="4398264"/>
            <a:ext cx="5989320" cy="1152144"/>
          </a:xfrm>
          <a:prstGeom prst="rect">
            <a:avLst/>
          </a:prstGeom>
          <a:solidFill>
            <a:srgbClr val="16203A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66360" y="4398264"/>
            <a:ext cx="32004" cy="1152144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3248" y="458114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457200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Fourier 级数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461772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00">
                <a:solidFill>
                  <a:srgbClr val="818CF8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0448" y="4983479"/>
            <a:ext cx="50292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ln(2 sin x) = −Σ cos 2nx / n，逐项积分后每项都含 sin nπ = 0。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815584"/>
            <a:ext cx="10561320" cy="402336"/>
          </a:xfrm>
          <a:prstGeom prst="rect">
            <a:avLst/>
          </a:prstGeom>
          <a:solidFill>
            <a:srgbClr val="12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5815584"/>
            <a:ext cx="36576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" y="587502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关键恒等式　ln(sin x · cos x) = ln(sin 2x) − ln 2　——　步骤 2 全靠它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24304F"/>
                </a:solidFill>
                <a:latin typeface="微软雅黑"/>
                <a:ea typeface="微软雅黑"/>
                <a:cs typeface="微软雅黑"/>
              </a:rPr>
              <a:t>定积分 · ln(sin 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02  /  步骤 0–1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768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先确认收敛，再用换元造出第二个等式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13916"/>
            <a:ext cx="45720" cy="1828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5727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2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STEP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2495" y="15636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收敛性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892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x → 0⁺ 时 sin x ~ x，故 ln(sin x) = ln x + o(1)；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而 ∫ ln x dx 在 (0, π/2] 上收敛，所以 I 是有限的瑕积分。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48940"/>
            <a:ext cx="45720" cy="1828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9077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2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5" y="2898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对称换元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18688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令 t = π/2 − x，则 sin x = cos t，可得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02736"/>
            <a:ext cx="4892040" cy="841248"/>
          </a:xfrm>
          <a:prstGeom prst="rect">
            <a:avLst/>
          </a:prstGeom>
          <a:solidFill>
            <a:srgbClr val="16203A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602736"/>
            <a:ext cx="32004" cy="8412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822191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I = ∫</a:t>
            </a:r>
            <a:r>
              <a:rPr sz="1512" b="0" i="0" baseline="-2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512" b="0" i="0" baseline="3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21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 ln(cos x) dx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26864"/>
            <a:ext cx="4892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这是全题的枢纽：同一区间上，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sin 与 cos 的对数积分完全相等。</a:t>
            </a:r>
          </a:p>
        </p:txBody>
      </p:sp>
      <p:pic>
        <p:nvPicPr>
          <p:cNvPr id="17" name="Picture 16" descr="fig-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27632"/>
            <a:ext cx="5257800" cy="3154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63640" y="482803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两条曲线互为镜像：左侧阴影与右侧阴影「面积」相同，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这正是两个积分相等（即 I 的两种写法）的几何含义。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24304F"/>
                </a:solidFill>
                <a:latin typeface="微软雅黑"/>
                <a:ea typeface="微软雅黑"/>
                <a:cs typeface="微软雅黑"/>
              </a:rPr>
              <a:t>定积分 · ln(sin 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03  /  步骤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768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两式相加，用二倍角把两个对数合成一个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6903720" cy="3529584"/>
          </a:xfrm>
          <a:prstGeom prst="rect">
            <a:avLst/>
          </a:prstGeom>
          <a:solidFill>
            <a:srgbClr val="131D33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975104"/>
            <a:ext cx="6309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2I = ∫</a:t>
            </a:r>
            <a:r>
              <a:rPr sz="1296" b="0" i="0" baseline="-2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296" b="0" i="0" baseline="3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18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 [ ln(sin x) + ln(cos x) ] dx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670048"/>
            <a:ext cx="6309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　  = ∫</a:t>
            </a:r>
            <a:r>
              <a:rPr sz="1296" b="0" i="0" baseline="-2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296" b="0" i="0" baseline="3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18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 ln(sin x · cos x)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364991"/>
            <a:ext cx="6309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　  = ∫</a:t>
            </a:r>
            <a:r>
              <a:rPr sz="1296" b="0" i="0" baseline="-2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296" b="0" i="0" baseline="3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18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 ln( sin 2x / 2 ) 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4059935"/>
            <a:ext cx="6309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　  = J − (π/2) · ln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3856" y="4718304"/>
            <a:ext cx="5943600" cy="12801"/>
          </a:xfrm>
          <a:prstGeom prst="rect">
            <a:avLst/>
          </a:prstGeom>
          <a:solidFill>
            <a:srgbClr val="2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8463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其中 J 是 ∫ ln(sin 2x) dx 在 [0, π/2] 上的值，下一步把它化回 I。</a:t>
            </a:r>
          </a:p>
        </p:txBody>
      </p:sp>
      <p:pic>
        <p:nvPicPr>
          <p:cNvPr id="12" name="Picture 11" descr="fig-pr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700784"/>
            <a:ext cx="3977639" cy="2295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1000" y="4078224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二倍角把曲线横向压缩一半：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ln(sin 2x) 在 [0, π/2] 上恰好走完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sin 在 [0, π] 上的整段弧。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68112"/>
            <a:ext cx="11155680" cy="512064"/>
          </a:xfrm>
          <a:prstGeom prst="rect">
            <a:avLst/>
          </a:prstGeom>
          <a:solidFill>
            <a:srgbClr val="2A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468112"/>
            <a:ext cx="36576" cy="51206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559612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CE7E7"/>
                </a:solidFill>
                <a:latin typeface="微软雅黑"/>
                <a:ea typeface="微软雅黑"/>
                <a:cs typeface="微软雅黑"/>
              </a:rPr>
              <a:t>易错提醒：拆开对数必须减去 ln 2。丢掉 (π/2)·ln 2 会得到 I = 0 这个错误答案。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24304F"/>
                </a:solidFill>
                <a:latin typeface="微软雅黑"/>
                <a:ea typeface="微软雅黑"/>
                <a:cs typeface="微软雅黑"/>
              </a:rPr>
              <a:t>定积分 · ln(sin 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04  /  步骤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768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证明 J = I：把 [0, π] 上的积分折成两半</a:t>
            </a:r>
          </a:p>
        </p:txBody>
      </p:sp>
      <p:pic>
        <p:nvPicPr>
          <p:cNvPr id="5" name="Picture 4" descr="fig-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00784"/>
            <a:ext cx="534924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0118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sin u 关于 u = π/2 轴对称，因此左半段与右半段的积分值都等于 I。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642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换元 u = 2x，先摊开区间：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75104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J = (1/2) ∫</a:t>
            </a:r>
            <a:r>
              <a:rPr sz="1368" b="0" i="0" baseline="-2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368" b="0" i="0" baseline="3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π</a:t>
            </a:r>
            <a:r>
              <a:rPr sz="19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 ln(sin u) 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23744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再把它拆成两段，对第二段取 u = π − v：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926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∫</a:t>
            </a:r>
            <a:r>
              <a:rPr sz="1080" b="0" i="0" baseline="-2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1080" b="0" i="0" baseline="3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π</a:t>
            </a:r>
            <a:r>
              <a:rPr sz="15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 ln(sin u) du = ∫</a:t>
            </a:r>
            <a:r>
              <a:rPr sz="1080" b="0" i="0" baseline="-2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080" b="0" i="0" baseline="320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15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 ln(sin v) dv = 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529584"/>
            <a:ext cx="4983480" cy="786384"/>
          </a:xfrm>
          <a:prstGeom prst="rect">
            <a:avLst/>
          </a:prstGeom>
          <a:solidFill>
            <a:srgbClr val="16203A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3749039"/>
            <a:ext cx="45720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J = (1/2)(I + I) =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517136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于是未知量只剩一个：把 J = I 代回步骤 2 的等式，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就得到关于 I 的一元一次方程。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24304F"/>
                </a:solidFill>
                <a:latin typeface="微软雅黑"/>
                <a:ea typeface="微软雅黑"/>
                <a:cs typeface="微软雅黑"/>
              </a:rPr>
              <a:t>定积分 · ln(sin 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05  /  步骤 4 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768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解方程，得到闭式解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把 J = I 代回步骤 2 得到的等式：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2I = I − (π/2) · ln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614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两边同减 I：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72384"/>
            <a:ext cx="5440680" cy="822960"/>
          </a:xfrm>
          <a:prstGeom prst="rect">
            <a:avLst/>
          </a:prstGeom>
          <a:solidFill>
            <a:srgbClr val="131D33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072384"/>
            <a:ext cx="36576" cy="8229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29184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I = −(π/2) · ln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7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为什么是负数：0 &lt; sin x &lt; 1 时 ln(sin x) &lt; 0，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整条曲线都在 x 轴下方，积分自然是「负面积」。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755648"/>
            <a:ext cx="4526280" cy="2706624"/>
          </a:xfrm>
          <a:prstGeom prst="rect">
            <a:avLst/>
          </a:prstGeom>
          <a:solidFill>
            <a:srgbClr val="16203A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1755648"/>
            <a:ext cx="4526280" cy="411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02996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359152"/>
            <a:ext cx="4023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I = −(π/2) ln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3529584"/>
            <a:ext cx="1737360" cy="10972"/>
          </a:xfrm>
          <a:prstGeom prst="rect">
            <a:avLst/>
          </a:prstGeom>
          <a:solidFill>
            <a:srgbClr val="2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3703320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≈ −1.5708 × 0.6931 = −1.0888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069080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与数值积分 −1.08879… 一致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138928"/>
            <a:ext cx="11155680" cy="18288"/>
          </a:xfrm>
          <a:prstGeom prst="rect">
            <a:avLst/>
          </a:prstGeom>
          <a:solidFill>
            <a:srgbClr val="2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21808"/>
            <a:ext cx="11155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至此完成推导：一个无法直接积分的瑕积分，被两条等式夹成了初等闭式。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24304F"/>
                </a:solidFill>
                <a:latin typeface="微软雅黑"/>
                <a:ea typeface="微软雅黑"/>
                <a:cs typeface="微软雅黑"/>
              </a:rPr>
              <a:t>定积分 · ln(sin 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06  /  验证与推论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768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两条独立路径的交叉验证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5120640" cy="1481328"/>
          </a:xfrm>
          <a:prstGeom prst="rect">
            <a:avLst/>
          </a:prstGeom>
          <a:solidFill>
            <a:srgbClr val="131D33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6537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验证 A　Beta 函数与 digamma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194560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F(a) = ∫</a:t>
            </a:r>
            <a:r>
              <a:rPr sz="827" b="0" i="0" baseline="-2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827" b="0" i="0" baseline="3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sin</a:t>
            </a:r>
            <a:r>
              <a:rPr sz="827" b="0" i="0" baseline="3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x dx = (√π/2) · Γ((a+1)/2)/Γ((a+2)/2)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I = F′(0) = (π/4)[ψ(1/2) − ψ(1)] = (π/4)(−2 ln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46704"/>
            <a:ext cx="5120640" cy="1444752"/>
          </a:xfrm>
          <a:prstGeom prst="rect">
            <a:avLst/>
          </a:prstGeom>
          <a:solidFill>
            <a:srgbClr val="131D33"/>
          </a:solidFill>
          <a:ln w="9525">
            <a:solidFill>
              <a:srgbClr val="24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1129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验证 B　Fourier 级数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840480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ln(sin x) = −ln 2 − Σ</a:t>
            </a:r>
            <a:r>
              <a:rPr sz="827" b="0" i="0" baseline="-2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n≥1</a:t>
            </a: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cos(2nx)/n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逐项积分：∫</a:t>
            </a:r>
            <a:r>
              <a:rPr sz="827" b="0" i="0" baseline="-2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827" b="0" i="0" baseline="3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cos(2nx) dx = sin(nπ)/(2n)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0078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同一套方法得到的推论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∫</a:t>
            </a:r>
            <a:r>
              <a:rPr sz="827" b="0" i="0" baseline="-2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827" b="0" i="0" baseline="3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ln(cos x) dx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103120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−(π/2) ln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615184"/>
            <a:ext cx="4983480" cy="9144"/>
          </a:xfrm>
          <a:prstGeom prst="rect">
            <a:avLst/>
          </a:prstGeom>
          <a:solidFill>
            <a:srgbClr val="2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724912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∫</a:t>
            </a:r>
            <a:r>
              <a:rPr sz="827" b="0" i="0" baseline="-2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827" b="0" i="0" baseline="3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ln(tan x) dx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724912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236976"/>
            <a:ext cx="4983480" cy="9144"/>
          </a:xfrm>
          <a:prstGeom prst="rect">
            <a:avLst/>
          </a:prstGeom>
          <a:solidFill>
            <a:srgbClr val="2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346704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∫</a:t>
            </a:r>
            <a:r>
              <a:rPr sz="827" b="0" i="0" baseline="-2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827" b="0" i="0" baseline="3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π</a:t>
            </a: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ln(sin x) dx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346704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−π ln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858768"/>
            <a:ext cx="4983480" cy="9144"/>
          </a:xfrm>
          <a:prstGeom prst="rect">
            <a:avLst/>
          </a:prstGeom>
          <a:solidFill>
            <a:srgbClr val="2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68496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∫</a:t>
            </a:r>
            <a:r>
              <a:rPr sz="827" b="0" i="0" baseline="-2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827" b="0" i="0" baseline="320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π/2</a:t>
            </a:r>
            <a:r>
              <a:rPr sz="11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ln(sin x)·ln(cos x) dx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968496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(π/2) ln²2 − π³/48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705856"/>
            <a:ext cx="11155680" cy="457200"/>
          </a:xfrm>
          <a:prstGeom prst="rect">
            <a:avLst/>
          </a:prstGeom>
          <a:solidFill>
            <a:srgbClr val="2A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705856"/>
            <a:ext cx="36576" cy="4572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81101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CE7E7"/>
                </a:solidFill>
                <a:latin typeface="微软雅黑"/>
                <a:ea typeface="微软雅黑"/>
                <a:cs typeface="微软雅黑"/>
              </a:rPr>
              <a:t>易错 1：漏掉 −ln 2　·　易错 2：跳过 J = I 的折半论证　·　易错 3：未说明 x = 0 处的收敛性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24304F"/>
                </a:solidFill>
                <a:latin typeface="微软雅黑"/>
                <a:ea typeface="微软雅黑"/>
                <a:cs typeface="微软雅黑"/>
              </a:rPr>
              <a:t>定积分 · ln(sin 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0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