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64000" y="1062000"/>
            <a:ext cx="936000" cy="0"/>
          </a:xfrm>
          <a:prstGeom prst="line">
            <a:avLst/>
          </a:prstGeom>
          <a:ln w="20320">
            <a:solidFill>
              <a:srgbClr val="9B2C2C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864000" y="1206000"/>
            <a:ext cx="10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2026 年普通高等学校招生全国统一考试（新高考Ⅰ卷）数学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1548000"/>
            <a:ext cx="1044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1B1B1B"/>
                </a:solidFill>
                <a:latin typeface="Times New Roman"/>
                <a:ea typeface="宋体"/>
              </a:rPr>
              <a:t>第 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2718000"/>
            <a:ext cx="79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数列的“三项一组”与等比子列的公比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3311999"/>
            <a:ext cx="86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A8782"/>
                </a:solidFill>
                <a:latin typeface="Times New Roman"/>
                <a:ea typeface="宋体"/>
              </a:rPr>
              <a:t>分组结构 · 分类讨论 · 取等构造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4086000"/>
            <a:ext cx="97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9 项 = 3 组 × 3 项。窗口里含几个整段，决定能列出几个关于 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q</a:t>
            </a: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³ 的等式；三种起点里，只有两种可行。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4000" y="50760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64000" y="5202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填空题最后一题 · 5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5472000"/>
            <a:ext cx="79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1B1B"/>
                </a:solidFill>
                <a:latin typeface="Times New Roman"/>
                <a:ea typeface="宋体"/>
              </a:rPr>
              <a:t>答案　</a:t>
            </a:r>
            <a:r>
              <a:rPr sz="15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00" b="0" i="0">
                <a:solidFill>
                  <a:srgbClr val="1B1B1B"/>
                </a:solidFill>
                <a:latin typeface="Times New Roman"/>
                <a:ea typeface="宋体"/>
              </a:rPr>
              <a:t> 的最大值为 ∛(3/2) = ∛12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一 · 原题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题目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1404000"/>
            <a:ext cx="10440000" cy="297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0C6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000" y="1548000"/>
            <a:ext cx="9792000" cy="26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设实数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满足：存在数列 {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}，使得对于任意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∈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020" b="0" i="0" baseline="30000">
                <a:solidFill>
                  <a:srgbClr val="1B1B1B"/>
                </a:solidFill>
                <a:latin typeface="Times New Roman"/>
                <a:ea typeface="宋体"/>
              </a:rPr>
              <a:t>*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，均有</a:t>
            </a: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0" baseline="-25000">
                <a:solidFill>
                  <a:srgbClr val="1B1B1B"/>
                </a:solidFill>
                <a:latin typeface="Times New Roman"/>
                <a:ea typeface="宋体"/>
              </a:rPr>
              <a:t>1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0" baseline="-25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+ ⋯ +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2020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020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，</a:t>
            </a: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且 {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} 中有某连续 9 项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1" baseline="-25000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,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1" baseline="-25000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2020" b="0" i="0" baseline="-25000">
                <a:solidFill>
                  <a:srgbClr val="1B1B1B"/>
                </a:solidFill>
                <a:latin typeface="Times New Roman"/>
                <a:ea typeface="宋体"/>
              </a:rPr>
              <a:t>+1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, ⋯,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020" b="0" i="1" baseline="-25000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2020" b="0" i="0" baseline="-25000">
                <a:solidFill>
                  <a:srgbClr val="1B1B1B"/>
                </a:solidFill>
                <a:latin typeface="Times New Roman"/>
                <a:ea typeface="宋体"/>
              </a:rPr>
              <a:t>+8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是公比为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的等比数列，</a:t>
            </a: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则 </a:t>
            </a:r>
            <a:r>
              <a:rPr sz="21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2150" b="0" i="0">
                <a:solidFill>
                  <a:srgbClr val="1B1B1B"/>
                </a:solidFill>
                <a:latin typeface="Times New Roman"/>
                <a:ea typeface="宋体"/>
              </a:rPr>
              <a:t> 的最大值为 ＿＿＿＿＿＿＿＿．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4536000"/>
            <a:ext cx="10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三、填空题（第 12—14 题，每小题 5 分，共 15 分）· 本题为第 14 题，也是全卷填空题的最后一题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4806000"/>
            <a:ext cx="10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题面只给两条信息：每连续三项之和；某连续 9 项成等比。两条信息之间，隔着一个“分组”的动作。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二 · 读题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条件其实只约束“三项之和”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422000"/>
            <a:ext cx="5400000" cy="44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1B1B1B"/>
                </a:solidFill>
                <a:latin typeface="Times New Roman"/>
                <a:ea typeface="宋体"/>
              </a:rPr>
              <a:t>题设对每一项 </a:t>
            </a:r>
            <a:r>
              <a:rPr sz="19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832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950" b="0" i="0">
                <a:solidFill>
                  <a:srgbClr val="1B1B1B"/>
                </a:solidFill>
                <a:latin typeface="Times New Roman"/>
                <a:ea typeface="宋体"/>
              </a:rPr>
              <a:t> 本身不作要求，可以任意取值；被锁定的只是每连续三项的和。</a:t>
            </a:r>
          </a:p>
          <a:p>
            <a:pPr algn="l">
              <a:lnSpc>
                <a:spcPct val="195000"/>
              </a:lnSpc>
              <a:spcBef>
                <a:spcPts val="1600"/>
              </a:spcBef>
              <a:spcAft>
                <a:spcPts val="0"/>
              </a:spcAft>
            </a:pPr>
            <a:r>
              <a:rPr sz="1950" b="0" i="0">
                <a:solidFill>
                  <a:srgbClr val="1B1B1B"/>
                </a:solidFill>
                <a:latin typeface="Times New Roman"/>
                <a:ea typeface="宋体"/>
              </a:rPr>
              <a:t>于是把数列按每三项一段切开，记第 </a:t>
            </a:r>
            <a:r>
              <a:rPr sz="195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950" b="0" i="0">
                <a:solidFill>
                  <a:srgbClr val="1B1B1B"/>
                </a:solidFill>
                <a:latin typeface="Times New Roman"/>
                <a:ea typeface="宋体"/>
              </a:rPr>
              <a:t> 段之和为 </a:t>
            </a:r>
            <a:r>
              <a:rPr sz="195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832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950" b="0" i="0">
                <a:solidFill>
                  <a:srgbClr val="1B1B1B"/>
                </a:solidFill>
                <a:latin typeface="Times New Roman"/>
                <a:ea typeface="宋体"/>
              </a:rPr>
              <a:t>。</a:t>
            </a:r>
          </a:p>
          <a:p>
            <a:pPr algn="l">
              <a:lnSpc>
                <a:spcPct val="195000"/>
              </a:lnSpc>
              <a:spcBef>
                <a:spcPts val="1600"/>
              </a:spcBef>
              <a:spcAft>
                <a:spcPts val="0"/>
              </a:spcAft>
            </a:pPr>
            <a:r>
              <a:rPr sz="1950" b="0" i="0">
                <a:solidFill>
                  <a:srgbClr val="1B1B1B"/>
                </a:solidFill>
                <a:latin typeface="Times New Roman"/>
                <a:ea typeface="宋体"/>
              </a:rPr>
              <a:t>第二个条件给的是 9 个连续项。9 = 3 × 3，这段窗口与“三段”的分块必然咬合得很紧——这正是后面要分三种情况的原因。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8000" y="1422000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第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段，和记作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B</a:t>
            </a:r>
            <a:r>
              <a:rPr sz="1080" b="0" i="1" baseline="-25000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28000" y="1843200"/>
            <a:ext cx="2642400" cy="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7128000" y="1764000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9770400" y="1764000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7128000" y="2044800"/>
            <a:ext cx="871200" cy="43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8000" y="2109600"/>
            <a:ext cx="8712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269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269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269" b="0" i="0" baseline="-25000">
                <a:solidFill>
                  <a:srgbClr val="1B1B1B"/>
                </a:solidFill>
                <a:latin typeface="Times New Roman"/>
                <a:ea typeface="宋体"/>
              </a:rPr>
              <a:t>−2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000" y="2044800"/>
            <a:ext cx="871200" cy="43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000" y="2109600"/>
            <a:ext cx="8712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269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269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269" b="0" i="0" baseline="-25000">
                <a:solidFill>
                  <a:srgbClr val="1B1B1B"/>
                </a:solidFill>
                <a:latin typeface="Times New Roman"/>
                <a:ea typeface="宋体"/>
              </a:rPr>
              <a:t>−1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8000" y="2044800"/>
            <a:ext cx="871200" cy="43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28000" y="2109600"/>
            <a:ext cx="8712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269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269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28000" y="2718000"/>
            <a:ext cx="26424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128000" y="2808000"/>
            <a:ext cx="396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1B1B"/>
                </a:solidFill>
                <a:latin typeface="Times New Roman"/>
                <a:ea typeface="宋体"/>
              </a:rPr>
              <a:t>9 项窗口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8000" y="3096000"/>
            <a:ext cx="4031999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  <a:ea typeface="宋体"/>
              </a:rPr>
              <a:t>跨越 2 个或 3 个整段；整段数由 </a:t>
            </a:r>
            <a:r>
              <a:rPr sz="1200" b="0" i="1">
                <a:solidFill>
                  <a:srgbClr val="555555"/>
                </a:solidFill>
                <a:latin typeface="Times New Roman"/>
                <a:ea typeface="宋体"/>
              </a:rPr>
              <a:t>k</a:t>
            </a:r>
            <a:r>
              <a:rPr sz="1200" b="0" i="0">
                <a:solidFill>
                  <a:srgbClr val="555555"/>
                </a:solidFill>
                <a:latin typeface="Times New Roman"/>
                <a:ea typeface="宋体"/>
              </a:rPr>
              <a:t> 除以 3 的余数决定。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8000" y="3581999"/>
            <a:ext cx="39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B2C2C"/>
                </a:solidFill>
                <a:latin typeface="Times New Roman"/>
                <a:ea typeface="宋体"/>
              </a:rPr>
              <a:t>段和之比，才是可用的信息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三 · 转化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把条件化成“段和”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350000"/>
            <a:ext cx="7200000" cy="6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2161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2161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−2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2161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−1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2161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908000"/>
            <a:ext cx="7200000" cy="6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= 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S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2161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− 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S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2161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61" b="0" i="0" baseline="-25000">
                <a:solidFill>
                  <a:srgbClr val="1B1B1B"/>
                </a:solidFill>
                <a:latin typeface="Times New Roman"/>
                <a:ea typeface="宋体"/>
              </a:rPr>
              <a:t>−3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2466000"/>
            <a:ext cx="7200000" cy="6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= (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161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) − [(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− 1)</a:t>
            </a:r>
            <a:r>
              <a:rPr sz="2161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+ (</a:t>
            </a:r>
            <a:r>
              <a:rPr sz="23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2300" b="0" i="0">
                <a:solidFill>
                  <a:srgbClr val="1B1B1B"/>
                </a:solidFill>
                <a:latin typeface="Times New Roman"/>
                <a:ea typeface="宋体"/>
              </a:rPr>
              <a:t> − 1)]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3024000"/>
            <a:ext cx="7200000" cy="6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9B2C2C"/>
                </a:solidFill>
                <a:latin typeface="Times New Roman"/>
                <a:ea typeface="宋体"/>
              </a:rPr>
              <a:t>= 2</a:t>
            </a:r>
            <a:r>
              <a:rPr sz="2300" b="1" i="1">
                <a:solidFill>
                  <a:srgbClr val="9B2C2C"/>
                </a:solidFill>
                <a:latin typeface="Times New Roman"/>
                <a:ea typeface="宋体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3438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这里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S</a:t>
            </a:r>
            <a:r>
              <a:rPr sz="1080" b="0" i="1" baseline="-25000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表示前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项和，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S</a:t>
            </a:r>
            <a:r>
              <a:rPr sz="1080" b="0" i="0" baseline="-25000">
                <a:solidFill>
                  <a:srgbClr val="555555"/>
                </a:solidFill>
                <a:latin typeface="Times New Roman"/>
                <a:ea typeface="宋体"/>
              </a:rPr>
              <a:t>0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= 0；上式对一切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≥ 1 成立。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6000" y="1386000"/>
            <a:ext cx="3527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Times New Roman"/>
                <a:ea typeface="宋体"/>
              </a:rPr>
              <a:t>所以段和依次是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000" y="1620000"/>
            <a:ext cx="3527999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B1B1B"/>
                </a:solidFill>
                <a:latin typeface="Times New Roman"/>
                <a:ea typeface="宋体"/>
              </a:rPr>
              <a:t>2, 4, 6, 8, 10, 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6000" y="2034000"/>
            <a:ext cx="3527999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公差为 2 的等差数列，
且恒为正。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000" y="405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1160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3680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74000" y="445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000" y="3769200"/>
            <a:ext cx="936000" cy="2519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B</a:t>
            </a:r>
            <a:r>
              <a:rPr sz="1080" b="0" i="0" baseline="-25000">
                <a:solidFill>
                  <a:srgbClr val="8A8782"/>
                </a:solidFill>
                <a:latin typeface="Times New Roman"/>
                <a:ea typeface="宋体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9200" y="405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9512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22032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1609200" y="445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200" y="3769200"/>
            <a:ext cx="936000" cy="2519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B</a:t>
            </a:r>
            <a:r>
              <a:rPr sz="1080" b="0" i="0" baseline="-2500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34400" y="405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7864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30384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2444400" y="445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4400" y="3769200"/>
            <a:ext cx="936000" cy="2519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B</a:t>
            </a:r>
            <a:r>
              <a:rPr sz="1080" b="0" i="0" baseline="-25000">
                <a:solidFill>
                  <a:srgbClr val="8A8782"/>
                </a:solidFill>
                <a:latin typeface="Times New Roman"/>
                <a:ea typeface="宋体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9600" y="405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216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38736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279600" y="445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9600" y="3769200"/>
            <a:ext cx="936000" cy="2519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B</a:t>
            </a:r>
            <a:r>
              <a:rPr sz="1080" b="0" i="0" baseline="-25000">
                <a:solidFill>
                  <a:srgbClr val="8A8782"/>
                </a:solidFill>
                <a:latin typeface="Times New Roman"/>
                <a:ea typeface="宋体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4800" y="405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4568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4708800" y="410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4114800" y="445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769200"/>
            <a:ext cx="936000" cy="251999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B</a:t>
            </a:r>
            <a:r>
              <a:rPr sz="1080" b="0" i="0" baseline="-25000">
                <a:solidFill>
                  <a:srgbClr val="8A8782"/>
                </a:solidFill>
                <a:latin typeface="Times New Roman"/>
                <a:ea typeface="宋体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000" y="4824000"/>
            <a:ext cx="1044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Times New Roman"/>
                <a:ea typeface="宋体"/>
              </a:rPr>
              <a:t>这一步把“和”的信息榨干了：无论 </a:t>
            </a:r>
            <a:r>
              <a:rPr sz="1300" b="0" i="1">
                <a:solidFill>
                  <a:srgbClr val="555555"/>
                </a:solidFill>
                <a:latin typeface="Times New Roman"/>
                <a:ea typeface="宋体"/>
              </a:rPr>
              <a:t>a</a:t>
            </a:r>
            <a:r>
              <a:rPr sz="1222" b="0" i="1" baseline="-25000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300" b="0" i="0">
                <a:solidFill>
                  <a:srgbClr val="555555"/>
                </a:solidFill>
                <a:latin typeface="Times New Roman"/>
                <a:ea typeface="宋体"/>
              </a:rPr>
              <a:t> 怎么取，段和只能是 2</a:t>
            </a:r>
            <a:r>
              <a:rPr sz="1300" b="0" i="1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300" b="0" i="0">
                <a:solidFill>
                  <a:srgbClr val="555555"/>
                </a:solidFill>
                <a:latin typeface="Times New Roman"/>
                <a:ea typeface="宋体"/>
              </a:rPr>
              <a:t>。段和恒正，最后定 </a:t>
            </a:r>
            <a:r>
              <a:rPr sz="130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300" b="0" i="0">
                <a:solidFill>
                  <a:srgbClr val="555555"/>
                </a:solidFill>
                <a:latin typeface="Times New Roman"/>
                <a:ea typeface="宋体"/>
              </a:rPr>
              <a:t> 的符号时还要用它。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三 · 转化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相隔三段，段和之比就是 </a:t>
            </a:r>
            <a:r>
              <a:rPr sz="2800" b="1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 的三次方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314000"/>
            <a:ext cx="104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把连续三项看作一段。整段后移 3 个位置，段内每一项都乘以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97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，于是段和也乘以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97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000" y="2520000"/>
            <a:ext cx="885600" cy="45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2606400"/>
            <a:ext cx="8856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1999" y="2520000"/>
            <a:ext cx="885600" cy="45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1999" y="2606400"/>
            <a:ext cx="8856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xq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2520000"/>
            <a:ext cx="885600" cy="45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0000" y="2606400"/>
            <a:ext cx="8856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xq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3016799"/>
            <a:ext cx="284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段和　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x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(1 + 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 + 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175" b="0" i="0" baseline="30000">
                <a:solidFill>
                  <a:srgbClr val="555555"/>
                </a:solidFill>
                <a:latin typeface="Times New Roman"/>
                <a:ea typeface="宋体"/>
              </a:rPr>
              <a:t>2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6000" y="2757600"/>
            <a:ext cx="1512000" cy="0"/>
          </a:xfrm>
          <a:prstGeom prst="line">
            <a:avLst/>
          </a:prstGeom>
          <a:ln w="15240">
            <a:solidFill>
              <a:srgbClr val="9B2C2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816000" y="2368800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9B2C2C"/>
                </a:solidFill>
                <a:latin typeface="Times New Roman"/>
                <a:ea typeface="宋体"/>
              </a:rPr>
              <a:t>× </a:t>
            </a:r>
            <a:r>
              <a:rPr sz="1550" b="1" i="1">
                <a:solidFill>
                  <a:srgbClr val="9B2C2C"/>
                </a:solidFill>
                <a:latin typeface="Times New Roman"/>
                <a:ea typeface="宋体"/>
              </a:rPr>
              <a:t>q</a:t>
            </a:r>
            <a:r>
              <a:rPr sz="1456" b="1" i="0" baseline="30000">
                <a:solidFill>
                  <a:srgbClr val="9B2C2C"/>
                </a:solidFill>
                <a:latin typeface="Times New Roman"/>
                <a:ea typeface="宋体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2000" y="2520000"/>
            <a:ext cx="885600" cy="453600"/>
          </a:xfrm>
          <a:prstGeom prst="rect">
            <a:avLst/>
          </a:prstGeom>
          <a:solidFill>
            <a:srgbClr val="F3EFE5"/>
          </a:solidFill>
          <a:ln w="1397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2000" y="2606400"/>
            <a:ext cx="8856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xq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0000" y="2520000"/>
            <a:ext cx="885600" cy="453600"/>
          </a:xfrm>
          <a:prstGeom prst="rect">
            <a:avLst/>
          </a:prstGeom>
          <a:solidFill>
            <a:srgbClr val="F3EFE5"/>
          </a:solidFill>
          <a:ln w="1397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0000" y="2606400"/>
            <a:ext cx="8856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xq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88000" y="2520000"/>
            <a:ext cx="885600" cy="453600"/>
          </a:xfrm>
          <a:prstGeom prst="rect">
            <a:avLst/>
          </a:prstGeom>
          <a:solidFill>
            <a:srgbClr val="F3EFE5"/>
          </a:solidFill>
          <a:ln w="1397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000" y="2606400"/>
            <a:ext cx="8856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xq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2000" y="3016799"/>
            <a:ext cx="291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段和　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xq</a:t>
            </a:r>
            <a:r>
              <a:rPr sz="1175" b="0" i="0" baseline="30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(1 + 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 + 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175" b="0" i="0" baseline="30000">
                <a:solidFill>
                  <a:srgbClr val="555555"/>
                </a:solidFill>
                <a:latin typeface="Times New Roman"/>
                <a:ea typeface="宋体"/>
              </a:rPr>
              <a:t>2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000" y="40680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864000" y="4212000"/>
            <a:ext cx="10440000" cy="15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窗口里含两个整段 → 得到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后一段段和 ÷ 前一段段和；</a:t>
            </a: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窗口里含三个整段 → 相邻两段之比都要等于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。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  <a:ea typeface="宋体"/>
              </a:rPr>
              <a:t>前者给上界，后者往往直接矛盾：这就是全题的开关。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四 · 分类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0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1B1B"/>
                </a:solidFill>
                <a:latin typeface="Times New Roman"/>
                <a:ea typeface="宋体"/>
              </a:rPr>
              <a:t>起点不同，窗口装下的整段数不同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971999" y="1854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24000" y="1911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1475999" y="1911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81999" y="225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7199" y="1854000"/>
            <a:ext cx="756000" cy="360000"/>
          </a:xfrm>
          <a:prstGeom prst="rect">
            <a:avLst/>
          </a:prstGeom>
          <a:solidFill>
            <a:srgbClr val="F3EFE5"/>
          </a:solidFill>
          <a:ln w="1905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059200" y="1911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311200" y="1911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1717199" y="225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+2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42400" y="1854000"/>
            <a:ext cx="756000" cy="360000"/>
          </a:xfrm>
          <a:prstGeom prst="rect">
            <a:avLst/>
          </a:prstGeom>
          <a:solidFill>
            <a:srgbClr val="F3EFE5"/>
          </a:solidFill>
          <a:ln w="1905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2894399" y="1911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146400" y="1911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2552400" y="225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+4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7600" y="1854000"/>
            <a:ext cx="756000" cy="360000"/>
          </a:xfrm>
          <a:prstGeom prst="rect">
            <a:avLst/>
          </a:prstGeom>
          <a:solidFill>
            <a:srgbClr val="F3EFE5"/>
          </a:solidFill>
          <a:ln w="1905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729600" y="1911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3981600" y="1911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3387600" y="225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+6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2800" y="1854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564800" y="1911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4816800" y="1911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4222800" y="225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+8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07199" y="1767600"/>
            <a:ext cx="2426401" cy="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1807199" y="1688400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4233600" y="1688400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1807199" y="1476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782"/>
                </a:solidFill>
                <a:latin typeface="Times New Roman"/>
                <a:ea typeface="宋体"/>
              </a:rPr>
              <a:t>9 项窗口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1999" y="3311999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224000" y="3369600"/>
            <a:ext cx="0" cy="244799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475999" y="3369600"/>
            <a:ext cx="0" cy="244799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881999" y="3715199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07199" y="3311999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059200" y="3369600"/>
            <a:ext cx="0" cy="244799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2311200" y="3369600"/>
            <a:ext cx="0" cy="244799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1717199" y="3715199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+2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42400" y="3311999"/>
            <a:ext cx="756000" cy="360000"/>
          </a:xfrm>
          <a:prstGeom prst="rect">
            <a:avLst/>
          </a:prstGeom>
          <a:solidFill>
            <a:srgbClr val="F3EFE5"/>
          </a:solidFill>
          <a:ln w="1905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94399" y="3369600"/>
            <a:ext cx="0" cy="244799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146400" y="3369600"/>
            <a:ext cx="0" cy="244799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2552400" y="3715199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+4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7600" y="3311999"/>
            <a:ext cx="756000" cy="360000"/>
          </a:xfrm>
          <a:prstGeom prst="rect">
            <a:avLst/>
          </a:prstGeom>
          <a:solidFill>
            <a:srgbClr val="F3EFE5"/>
          </a:solidFill>
          <a:ln w="1905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729600" y="3369600"/>
            <a:ext cx="0" cy="244799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3981600" y="3369600"/>
            <a:ext cx="0" cy="244799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3387600" y="3715199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+6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2800" y="3311999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564800" y="3369600"/>
            <a:ext cx="0" cy="244799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4816800" y="3369600"/>
            <a:ext cx="0" cy="244799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4222800" y="3715199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+8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59200" y="3225599"/>
            <a:ext cx="3261600" cy="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52" name="Connector 51"/>
          <p:cNvCxnSpPr/>
          <p:nvPr/>
        </p:nvCxnSpPr>
        <p:spPr>
          <a:xfrm flipV="1">
            <a:off x="2059200" y="3146399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53" name="Connector 52"/>
          <p:cNvCxnSpPr/>
          <p:nvPr/>
        </p:nvCxnSpPr>
        <p:spPr>
          <a:xfrm flipV="1">
            <a:off x="5320800" y="3146399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2059200" y="2933999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782"/>
                </a:solidFill>
                <a:latin typeface="Times New Roman"/>
                <a:ea typeface="宋体"/>
              </a:rPr>
              <a:t>9 项窗口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1999" y="477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24000" y="482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1475999" y="482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881999" y="517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07199" y="4770000"/>
            <a:ext cx="756000" cy="360000"/>
          </a:xfrm>
          <a:prstGeom prst="rect">
            <a:avLst/>
          </a:prstGeom>
          <a:solidFill>
            <a:srgbClr val="F3EFE5"/>
          </a:solidFill>
          <a:ln w="1905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2059200" y="4827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cxnSp>
        <p:nvCxnSpPr>
          <p:cNvPr id="61" name="Connector 60"/>
          <p:cNvCxnSpPr/>
          <p:nvPr/>
        </p:nvCxnSpPr>
        <p:spPr>
          <a:xfrm>
            <a:off x="2311200" y="4827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1717199" y="517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+2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42400" y="4770000"/>
            <a:ext cx="756000" cy="360000"/>
          </a:xfrm>
          <a:prstGeom prst="rect">
            <a:avLst/>
          </a:prstGeom>
          <a:solidFill>
            <a:srgbClr val="F3EFE5"/>
          </a:solidFill>
          <a:ln w="19050">
            <a:solidFill>
              <a:srgbClr val="1B1B1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894399" y="4827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cxnSp>
        <p:nvCxnSpPr>
          <p:cNvPr id="65" name="Connector 64"/>
          <p:cNvCxnSpPr/>
          <p:nvPr/>
        </p:nvCxnSpPr>
        <p:spPr>
          <a:xfrm>
            <a:off x="3146400" y="4827600"/>
            <a:ext cx="0" cy="244800"/>
          </a:xfrm>
          <a:prstGeom prst="line">
            <a:avLst/>
          </a:prstGeom>
          <a:ln w="7620">
            <a:solidFill>
              <a:srgbClr val="8E8A80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2552400" y="517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1B1B1B"/>
                </a:solidFill>
                <a:latin typeface="Times New Roman"/>
                <a:ea typeface="宋体"/>
              </a:rPr>
              <a:t>+4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7600" y="477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3729600" y="482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69" name="Connector 68"/>
          <p:cNvCxnSpPr/>
          <p:nvPr/>
        </p:nvCxnSpPr>
        <p:spPr>
          <a:xfrm>
            <a:off x="3981600" y="482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3387600" y="517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+6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12800" y="4770000"/>
            <a:ext cx="756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2BEB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4564800" y="482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cxnSp>
        <p:nvCxnSpPr>
          <p:cNvPr id="73" name="Connector 72"/>
          <p:cNvCxnSpPr/>
          <p:nvPr/>
        </p:nvCxnSpPr>
        <p:spPr>
          <a:xfrm>
            <a:off x="4816800" y="4827600"/>
            <a:ext cx="0" cy="244800"/>
          </a:xfrm>
          <a:prstGeom prst="line">
            <a:avLst/>
          </a:prstGeom>
          <a:ln w="7620">
            <a:solidFill>
              <a:srgbClr val="DEDAD1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4222800" y="5173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250" b="0" i="1">
                <a:solidFill>
                  <a:srgbClr val="8A8782"/>
                </a:solidFill>
                <a:latin typeface="Times New Roman"/>
                <a:ea typeface="宋体"/>
              </a:rPr>
              <a:t>m</a:t>
            </a:r>
            <a:r>
              <a:rPr sz="1250" b="0" i="0">
                <a:solidFill>
                  <a:srgbClr val="8A8782"/>
                </a:solidFill>
                <a:latin typeface="Times New Roman"/>
                <a:ea typeface="宋体"/>
              </a:rPr>
              <a:t>+8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475999" y="4683600"/>
            <a:ext cx="3261601" cy="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76" name="Connector 75"/>
          <p:cNvCxnSpPr/>
          <p:nvPr/>
        </p:nvCxnSpPr>
        <p:spPr>
          <a:xfrm flipV="1">
            <a:off x="1475999" y="4604400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cxnSp>
        <p:nvCxnSpPr>
          <p:cNvPr id="77" name="Connector 76"/>
          <p:cNvCxnSpPr/>
          <p:nvPr/>
        </p:nvCxnSpPr>
        <p:spPr>
          <a:xfrm flipV="1">
            <a:off x="4737600" y="4604400"/>
            <a:ext cx="0" cy="79200"/>
          </a:xfrm>
          <a:prstGeom prst="line">
            <a:avLst/>
          </a:prstGeom>
          <a:ln w="12700">
            <a:solidFill>
              <a:srgbClr val="1B1B1B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1475999" y="43920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782"/>
                </a:solidFill>
                <a:latin typeface="Times New Roman"/>
                <a:ea typeface="宋体"/>
              </a:rPr>
              <a:t>9 项窗口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64000" y="1810800"/>
            <a:ext cx="59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350" b="1" i="0">
                <a:solidFill>
                  <a:srgbClr val="1B1B1B"/>
                </a:solidFill>
                <a:latin typeface="Times New Roman"/>
                <a:ea typeface="宋体"/>
              </a:rPr>
              <a:t> = 3</a:t>
            </a:r>
            <a:r>
              <a:rPr sz="1350" b="1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350" b="1" i="0">
                <a:solidFill>
                  <a:srgbClr val="1B1B1B"/>
                </a:solidFill>
                <a:latin typeface="Times New Roman"/>
                <a:ea typeface="宋体"/>
              </a:rPr>
              <a:t> + 1　起点在段首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64000" y="2106000"/>
            <a:ext cx="59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三段都完整：2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+2、2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+4、2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+6 须成等比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64000" y="2412000"/>
            <a:ext cx="59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B2C2C"/>
                </a:solidFill>
                <a:latin typeface="Times New Roman"/>
                <a:ea typeface="宋体"/>
              </a:rPr>
              <a:t>矛盾，不成立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64000" y="3268800"/>
            <a:ext cx="59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350" b="1" i="0">
                <a:solidFill>
                  <a:srgbClr val="1B1B1B"/>
                </a:solidFill>
                <a:latin typeface="Times New Roman"/>
                <a:ea typeface="宋体"/>
              </a:rPr>
              <a:t> = 3</a:t>
            </a:r>
            <a:r>
              <a:rPr sz="1350" b="1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350" b="1" i="0">
                <a:solidFill>
                  <a:srgbClr val="1B1B1B"/>
                </a:solidFill>
                <a:latin typeface="Times New Roman"/>
                <a:ea typeface="宋体"/>
              </a:rPr>
              <a:t> + 2　起点偏 1 项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64000" y="3563999"/>
            <a:ext cx="59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两段完整：2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+4、2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+6，比值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080" b="0" i="0" baseline="30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= (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+3)/(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64000" y="3870000"/>
            <a:ext cx="59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080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150" b="0" i="0">
                <a:solidFill>
                  <a:srgbClr val="1B1B1B"/>
                </a:solidFill>
                <a:latin typeface="Times New Roman"/>
                <a:ea typeface="宋体"/>
              </a:rPr>
              <a:t> ≤ 3/2，等号于 </a:t>
            </a:r>
            <a:r>
              <a:rPr sz="11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1B1B1B"/>
                </a:solidFill>
                <a:latin typeface="Times New Roman"/>
                <a:ea typeface="宋体"/>
              </a:rPr>
              <a:t> = 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64000" y="4726800"/>
            <a:ext cx="59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350" b="1" i="0">
                <a:solidFill>
                  <a:srgbClr val="1B1B1B"/>
                </a:solidFill>
                <a:latin typeface="Times New Roman"/>
                <a:ea typeface="宋体"/>
              </a:rPr>
              <a:t> = 3</a:t>
            </a:r>
            <a:r>
              <a:rPr sz="1350" b="1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350" b="1" i="0">
                <a:solidFill>
                  <a:srgbClr val="1B1B1B"/>
                </a:solidFill>
                <a:latin typeface="Times New Roman"/>
                <a:ea typeface="宋体"/>
              </a:rPr>
              <a:t>　起点偏 2 项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64000" y="5022000"/>
            <a:ext cx="59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两段完整：2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+2、2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+4，比值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080" b="0" i="0" baseline="30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= (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+2)/(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+1)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64000" y="5328000"/>
            <a:ext cx="59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080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150" b="0" i="0">
                <a:solidFill>
                  <a:srgbClr val="1B1B1B"/>
                </a:solidFill>
                <a:latin typeface="Times New Roman"/>
                <a:ea typeface="宋体"/>
              </a:rPr>
              <a:t> ≤ 3/2，等号于 </a:t>
            </a:r>
            <a:r>
              <a:rPr sz="115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150" b="0" i="0">
                <a:solidFill>
                  <a:srgbClr val="1B1B1B"/>
                </a:solidFill>
                <a:latin typeface="Times New Roman"/>
                <a:ea typeface="宋体"/>
              </a:rPr>
              <a:t> 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四 · 分类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起点在段首：三段要同时成等比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296000"/>
            <a:ext cx="104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9 项恰好是三个整段，段和依次为 2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+2、2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+4、2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+6。三数成等比，要求相邻比值相等：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999" y="1854000"/>
            <a:ext cx="8640000" cy="59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(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+ 2) / (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+ 1) = (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+ 3) / (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999" y="2437200"/>
            <a:ext cx="8640000" cy="59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⇔　(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+ 2)</a:t>
            </a:r>
            <a:r>
              <a:rPr sz="2068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= (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+ 1)(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999" y="3020400"/>
            <a:ext cx="8640000" cy="59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⇔　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068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+ 4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+ 4 = 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068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+ 4</a:t>
            </a:r>
            <a:r>
              <a:rPr sz="2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2200" b="0" i="0">
                <a:solidFill>
                  <a:srgbClr val="1B1B1B"/>
                </a:solidFill>
                <a:latin typeface="Times New Roman"/>
                <a:ea typeface="宋体"/>
              </a:rPr>
              <a:t> + 3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999" y="3603600"/>
            <a:ext cx="8640000" cy="59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B2C2C"/>
                </a:solidFill>
                <a:latin typeface="Times New Roman"/>
                <a:ea typeface="宋体"/>
              </a:rPr>
              <a:t>⇔　4 =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000" y="42840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64000" y="4428000"/>
            <a:ext cx="10440000" cy="15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两边永远差 1，与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无关。起点在段首的窗口不存在。</a:t>
            </a:r>
          </a:p>
          <a:p>
            <a:pPr algn="l">
              <a:lnSpc>
                <a:spcPct val="16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Times New Roman"/>
                <a:ea typeface="宋体"/>
              </a:rPr>
              <a:t>顺带说明：若只要求连续 8 项，段首起点的窗口里只有两个整段，可以取到 </a:t>
            </a:r>
            <a:r>
              <a:rPr sz="120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128" b="0" i="0" baseline="30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200" b="0" i="0">
                <a:solidFill>
                  <a:srgbClr val="555555"/>
                </a:solidFill>
                <a:latin typeface="Times New Roman"/>
                <a:ea typeface="宋体"/>
              </a:rPr>
              <a:t> = 2；正是“9”多塞进一个整段，才把这个取法堵死。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四 · 分类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46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B1B"/>
                </a:solidFill>
                <a:latin typeface="Times New Roman"/>
                <a:ea typeface="宋体"/>
              </a:rPr>
              <a:t>剩下两种起点：</a:t>
            </a:r>
            <a:r>
              <a:rPr sz="2700" b="1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2700" b="1" i="0">
                <a:solidFill>
                  <a:srgbClr val="1B1B1B"/>
                </a:solidFill>
                <a:latin typeface="Times New Roman"/>
                <a:ea typeface="宋体"/>
              </a:rPr>
              <a:t>³ 都不超过 3/2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296000"/>
            <a:ext cx="104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1B1B"/>
                </a:solidFill>
                <a:latin typeface="Times New Roman"/>
                <a:ea typeface="宋体"/>
              </a:rPr>
              <a:t>情形二　</a:t>
            </a:r>
            <a:r>
              <a:rPr sz="1400" b="1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400" b="1" i="0">
                <a:solidFill>
                  <a:srgbClr val="1B1B1B"/>
                </a:solidFill>
                <a:latin typeface="Times New Roman"/>
                <a:ea typeface="宋体"/>
              </a:rPr>
              <a:t> = 3</a:t>
            </a:r>
            <a:r>
              <a:rPr sz="1400" b="1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400" b="1" i="0">
                <a:solidFill>
                  <a:srgbClr val="1B1B1B"/>
                </a:solidFill>
                <a:latin typeface="Times New Roman"/>
                <a:ea typeface="宋体"/>
              </a:rPr>
              <a:t> + 2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602000"/>
            <a:ext cx="104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97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+3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/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+2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(2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+ 6) / (2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+ 4) = 1 + 1/(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+ 2) ≤ 3/2，等号于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0（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2286000"/>
            <a:ext cx="104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1B1B"/>
                </a:solidFill>
                <a:latin typeface="Times New Roman"/>
                <a:ea typeface="宋体"/>
              </a:rPr>
              <a:t>情形三　</a:t>
            </a:r>
            <a:r>
              <a:rPr sz="1400" b="1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400" b="1" i="0">
                <a:solidFill>
                  <a:srgbClr val="1B1B1B"/>
                </a:solidFill>
                <a:latin typeface="Times New Roman"/>
                <a:ea typeface="宋体"/>
              </a:rPr>
              <a:t> = 3</a:t>
            </a:r>
            <a:r>
              <a:rPr sz="1400" b="1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2538000"/>
            <a:ext cx="104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97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+2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/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+1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(2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+ 4) / (2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+ 2) = 1 + 1/(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+ 1) ≤ 3/2，等号于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1（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3）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000" y="31860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4000" y="3311999"/>
            <a:ext cx="1044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Times New Roman"/>
                <a:ea typeface="宋体"/>
              </a:rPr>
              <a:t>两个比值其实出自同一串数：3/2, 4/3, 5/4, 6/5, ⋯（递减，趋于 1）；</a:t>
            </a:r>
          </a:p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Times New Roman"/>
                <a:ea typeface="宋体"/>
              </a:rPr>
              <a:t>情形二从 </a:t>
            </a:r>
            <a:r>
              <a:rPr sz="140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400" b="0" i="0">
                <a:solidFill>
                  <a:srgbClr val="555555"/>
                </a:solidFill>
                <a:latin typeface="Times New Roman"/>
                <a:ea typeface="宋体"/>
              </a:rPr>
              <a:t> = 0 起、情形三从 </a:t>
            </a:r>
            <a:r>
              <a:rPr sz="1400" b="0" i="1">
                <a:solidFill>
                  <a:srgbClr val="555555"/>
                </a:solidFill>
                <a:latin typeface="Times New Roman"/>
                <a:ea typeface="宋体"/>
              </a:rPr>
              <a:t>m</a:t>
            </a:r>
            <a:r>
              <a:rPr sz="1400" b="0" i="0">
                <a:solidFill>
                  <a:srgbClr val="555555"/>
                </a:solidFill>
                <a:latin typeface="Times New Roman"/>
                <a:ea typeface="宋体"/>
              </a:rPr>
              <a:t> = 1 起，所以最大值只能落在 3/2。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4320000"/>
            <a:ext cx="10440000" cy="165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B1B1B"/>
                </a:solidFill>
                <a:latin typeface="Times New Roman"/>
                <a:ea typeface="宋体"/>
              </a:rPr>
              <a:t>段和为正 ⇒ </a:t>
            </a:r>
            <a:r>
              <a:rPr sz="20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879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2000" b="0" i="0">
                <a:solidFill>
                  <a:srgbClr val="1B1B1B"/>
                </a:solidFill>
                <a:latin typeface="Times New Roman"/>
                <a:ea typeface="宋体"/>
              </a:rPr>
              <a:t> &gt; 0 ⇒ </a:t>
            </a:r>
            <a:r>
              <a:rPr sz="20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2000" b="0" i="0">
                <a:solidFill>
                  <a:srgbClr val="1B1B1B"/>
                </a:solidFill>
                <a:latin typeface="Times New Roman"/>
                <a:ea typeface="宋体"/>
              </a:rPr>
              <a:t> &gt; 0，于是　</a:t>
            </a:r>
            <a:r>
              <a:rPr sz="20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2000" b="0" i="0">
                <a:solidFill>
                  <a:srgbClr val="1B1B1B"/>
                </a:solidFill>
                <a:latin typeface="Times New Roman"/>
                <a:ea typeface="宋体"/>
              </a:rPr>
              <a:t> ≤ ∛(3/2)。</a:t>
            </a:r>
          </a:p>
          <a:p>
            <a:pPr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sz="1200" b="0" i="0">
                <a:solidFill>
                  <a:srgbClr val="8A8782"/>
                </a:solidFill>
                <a:latin typeface="Times New Roman"/>
                <a:ea typeface="宋体"/>
              </a:rPr>
              <a:t>上界到手，还差一步：等号能不能取到。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五 · 取等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把等号兑现：构造一条合乎条件的数列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386000"/>
            <a:ext cx="104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取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k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2（分类中情形二的等号），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∛(3/2)，令首项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x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4 / [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(1 +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)] ≈ 0.8835。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1998000"/>
            <a:ext cx="9864000" cy="48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i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x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·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97" b="0" i="0" baseline="30000">
                <a:solidFill>
                  <a:srgbClr val="1B1B1B"/>
                </a:solidFill>
                <a:latin typeface="Times New Roman"/>
                <a:ea typeface="宋体"/>
              </a:rPr>
              <a:t> </a:t>
            </a:r>
            <a:r>
              <a:rPr sz="1597" b="0" i="1" baseline="30000">
                <a:solidFill>
                  <a:srgbClr val="1B1B1B"/>
                </a:solidFill>
                <a:latin typeface="Times New Roman"/>
                <a:ea typeface="宋体"/>
              </a:rPr>
              <a:t>i</a:t>
            </a:r>
            <a:r>
              <a:rPr sz="1597" b="0" i="0" baseline="30000">
                <a:solidFill>
                  <a:srgbClr val="1B1B1B"/>
                </a:solidFill>
                <a:latin typeface="Times New Roman"/>
                <a:ea typeface="宋体"/>
              </a:rPr>
              <a:t>−2 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　（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i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2, 3, ⋯, 10）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2501999"/>
            <a:ext cx="9864000" cy="48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1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2 −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−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，　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11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12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8 −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3006000"/>
            <a:ext cx="9864000" cy="48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≥ 5 时，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−2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2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，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−1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7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97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597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700" b="0" i="0">
                <a:solidFill>
                  <a:srgbClr val="1B1B1B"/>
                </a:solidFill>
                <a:latin typeface="Times New Roman"/>
                <a:ea typeface="宋体"/>
              </a:rPr>
              <a:t> = 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000" y="3581999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4000" y="3708000"/>
            <a:ext cx="10440000" cy="18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逐段核对：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1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2，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xq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(1+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+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) = 4，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6，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4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8，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≥ 5 时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504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2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。</a:t>
            </a:r>
          </a:p>
          <a:p>
            <a:pPr algn="l">
              <a:lnSpc>
                <a:spcPct val="175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于是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S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504" b="0" i="1" baseline="-25000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= 2(1 + 2 + ⋯ +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) =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(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+ 1) =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504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n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，且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, ⋯,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504" b="0" i="0" baseline="-25000">
                <a:solidFill>
                  <a:srgbClr val="1B1B1B"/>
                </a:solidFill>
                <a:latin typeface="Times New Roman"/>
                <a:ea typeface="宋体"/>
              </a:rPr>
              <a:t>10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是公比为 </a:t>
            </a:r>
            <a:r>
              <a:rPr sz="160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600" b="0" i="0">
                <a:solidFill>
                  <a:srgbClr val="1B1B1B"/>
                </a:solidFill>
                <a:latin typeface="Times New Roman"/>
                <a:ea typeface="宋体"/>
              </a:rPr>
              <a:t> 的等比数列。条件全部满足。</a:t>
            </a:r>
          </a:p>
          <a:p>
            <a:pPr algn="l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</a:pP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x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 不是凑出来的：由 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B</a:t>
            </a:r>
            <a:r>
              <a:rPr sz="1080" b="0" i="0" baseline="-2500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 = 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xq</a:t>
            </a:r>
            <a:r>
              <a:rPr sz="1080" b="0" i="0" baseline="3000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(1+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q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+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q</a:t>
            </a:r>
            <a:r>
              <a:rPr sz="1080" b="0" i="0" baseline="30000">
                <a:solidFill>
                  <a:srgbClr val="8A8782"/>
                </a:solidFill>
                <a:latin typeface="Times New Roman"/>
                <a:ea typeface="宋体"/>
              </a:rPr>
              <a:t>2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) = 4 直接解出。　（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k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 = 3 亦可，情形三的等号由它兑现。）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六 · 答案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368000"/>
            <a:ext cx="10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A8782"/>
                </a:solidFill>
                <a:latin typeface="Times New Roman"/>
                <a:ea typeface="宋体"/>
              </a:rPr>
              <a:t>q</a:t>
            </a:r>
            <a:r>
              <a:rPr sz="1300" b="0" i="0">
                <a:solidFill>
                  <a:srgbClr val="8A8782"/>
                </a:solidFill>
                <a:latin typeface="Times New Roman"/>
                <a:ea typeface="宋体"/>
              </a:rPr>
              <a:t> 的最大值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620000"/>
            <a:ext cx="1044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>
                <a:solidFill>
                  <a:srgbClr val="1B1B1B"/>
                </a:solidFill>
                <a:latin typeface="Times New Roman"/>
                <a:ea typeface="宋体"/>
              </a:rPr>
              <a:t>∛(3/2)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2628000"/>
            <a:ext cx="104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Times New Roman"/>
                <a:ea typeface="宋体"/>
              </a:rPr>
              <a:t>= ∛12 / 2 ≈ 1.1447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4000" y="34200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64000" y="3546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782"/>
                </a:solidFill>
                <a:latin typeface="Times New Roman"/>
                <a:ea typeface="宋体"/>
              </a:rPr>
              <a:t>检验对象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2000" y="3546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782"/>
                </a:solidFill>
                <a:latin typeface="Times New Roman"/>
                <a:ea typeface="宋体"/>
              </a:rPr>
              <a:t>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0" y="3546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782"/>
                </a:solidFill>
                <a:latin typeface="Times New Roman"/>
                <a:ea typeface="宋体"/>
              </a:rPr>
              <a:t>数值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4000" y="3780000"/>
            <a:ext cx="10440000" cy="0"/>
          </a:xfrm>
          <a:prstGeom prst="line">
            <a:avLst/>
          </a:prstGeom>
          <a:ln w="9525">
            <a:solidFill>
              <a:srgbClr val="BFBBB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64000" y="3851999"/>
            <a:ext cx="410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2000" y="3851999"/>
            <a:ext cx="30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3/2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000" y="3851999"/>
            <a:ext cx="3023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1.5000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" y="4320000"/>
            <a:ext cx="410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4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5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2000" y="4320000"/>
            <a:ext cx="30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xq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(1 +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000" y="4320000"/>
            <a:ext cx="3023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4.0000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000" y="4788000"/>
            <a:ext cx="410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 =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7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8</a:t>
            </a: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 + 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a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2000" y="4788000"/>
            <a:ext cx="30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363" b="0" i="0" baseline="30000">
                <a:solidFill>
                  <a:srgbClr val="1B1B1B"/>
                </a:solidFill>
                <a:latin typeface="Times New Roman"/>
                <a:ea typeface="宋体"/>
              </a:rPr>
              <a:t>3</a:t>
            </a:r>
            <a:r>
              <a:rPr sz="1450" b="0" i="1">
                <a:solidFill>
                  <a:srgbClr val="1B1B1B"/>
                </a:solidFill>
                <a:latin typeface="Times New Roman"/>
                <a:ea typeface="宋体"/>
              </a:rPr>
              <a:t>B</a:t>
            </a:r>
            <a:r>
              <a:rPr sz="1363" b="0" i="0" baseline="-25000">
                <a:solidFill>
                  <a:srgbClr val="1B1B1B"/>
                </a:solidFill>
                <a:latin typeface="Times New Roman"/>
                <a:ea typeface="宋体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000" y="4788000"/>
            <a:ext cx="3023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1B1B"/>
                </a:solidFill>
                <a:latin typeface="Times New Roman"/>
                <a:ea typeface="宋体"/>
              </a:rPr>
              <a:t>6.0000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000" y="5346000"/>
            <a:ext cx="10440000" cy="0"/>
          </a:xfrm>
          <a:prstGeom prst="line">
            <a:avLst/>
          </a:prstGeom>
          <a:ln w="9525">
            <a:solidFill>
              <a:srgbClr val="BFBBB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864000" y="5472000"/>
            <a:ext cx="10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取 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q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 = ∛(3/2) 与相应的 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x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 代入，段和与 2</a:t>
            </a:r>
            <a:r>
              <a:rPr sz="1150" b="0" i="1">
                <a:solidFill>
                  <a:srgbClr val="8A8782"/>
                </a:solidFill>
                <a:latin typeface="Times New Roman"/>
                <a:ea typeface="宋体"/>
              </a:rPr>
              <a:t>n</a:t>
            </a: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 完全吻合。填空题只写结果。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七 · 拓展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2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1B1B"/>
                </a:solidFill>
                <a:latin typeface="Times New Roman"/>
                <a:ea typeface="宋体"/>
              </a:rPr>
              <a:t>为什么是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260000"/>
            <a:ext cx="10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1B1B"/>
                </a:solidFill>
                <a:latin typeface="Times New Roman"/>
                <a:ea typeface="宋体"/>
              </a:rPr>
              <a:t>把“连续 9 项”换成“连续 </a:t>
            </a:r>
            <a:r>
              <a:rPr sz="1400" b="0" i="1">
                <a:solidFill>
                  <a:srgbClr val="1B1B1B"/>
                </a:solidFill>
                <a:latin typeface="Times New Roman"/>
                <a:ea typeface="宋体"/>
              </a:rPr>
              <a:t>L</a:t>
            </a:r>
            <a:r>
              <a:rPr sz="1400" b="0" i="0">
                <a:solidFill>
                  <a:srgbClr val="1B1B1B"/>
                </a:solidFill>
                <a:latin typeface="Times New Roman"/>
                <a:ea typeface="宋体"/>
              </a:rPr>
              <a:t> 项”，结论随 </a:t>
            </a:r>
            <a:r>
              <a:rPr sz="1400" b="0" i="1">
                <a:solidFill>
                  <a:srgbClr val="1B1B1B"/>
                </a:solidFill>
                <a:latin typeface="Times New Roman"/>
                <a:ea typeface="宋体"/>
              </a:rPr>
              <a:t>L</a:t>
            </a:r>
            <a:r>
              <a:rPr sz="1400" b="0" i="0">
                <a:solidFill>
                  <a:srgbClr val="1B1B1B"/>
                </a:solidFill>
                <a:latin typeface="Times New Roman"/>
                <a:ea typeface="宋体"/>
              </a:rPr>
              <a:t> 变化：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782000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1B1B1B"/>
                </a:solidFill>
                <a:latin typeface="Times New Roman"/>
                <a:ea typeface="宋体"/>
              </a:rPr>
              <a:t>L</a:t>
            </a:r>
            <a:r>
              <a:rPr sz="1600" b="1" i="0">
                <a:solidFill>
                  <a:srgbClr val="1B1B1B"/>
                </a:solidFill>
                <a:latin typeface="Times New Roman"/>
                <a:ea typeface="宋体"/>
              </a:rPr>
              <a:t> ≤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000" y="1800000"/>
            <a:ext cx="61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起点偏 1 项或偏 2 项时，窗口只含 1 个整段，一个方程管不住 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782000"/>
            <a:ext cx="25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350" b="0" i="0">
                <a:solidFill>
                  <a:srgbClr val="1B1B1B"/>
                </a:solidFill>
                <a:latin typeface="Times New Roman"/>
                <a:ea typeface="宋体"/>
              </a:rPr>
              <a:t> 无上界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000" y="23220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4000" y="2473200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1B1B1B"/>
                </a:solidFill>
                <a:latin typeface="Times New Roman"/>
                <a:ea typeface="宋体"/>
              </a:rPr>
              <a:t>L</a:t>
            </a:r>
            <a:r>
              <a:rPr sz="1600" b="1" i="0">
                <a:solidFill>
                  <a:srgbClr val="1B1B1B"/>
                </a:solidFill>
                <a:latin typeface="Times New Roman"/>
                <a:ea typeface="宋体"/>
              </a:rPr>
              <a:t> =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2491200"/>
            <a:ext cx="61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段首起点恰含 2 个整段，</a:t>
            </a:r>
            <a:r>
              <a:rPr sz="11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080" b="0" i="0" baseline="30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 = 4/2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4000" y="2473200"/>
            <a:ext cx="25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Times New Roman"/>
                <a:ea typeface="宋体"/>
              </a:rPr>
              <a:t>最大值 ∛2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4000" y="30132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64000" y="3164399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1B1B1B"/>
                </a:solidFill>
                <a:latin typeface="Times New Roman"/>
                <a:ea typeface="宋体"/>
              </a:rPr>
              <a:t>L</a:t>
            </a:r>
            <a:r>
              <a:rPr sz="1600" b="1" i="0">
                <a:solidFill>
                  <a:srgbClr val="1B1B1B"/>
                </a:solidFill>
                <a:latin typeface="Times New Roman"/>
                <a:ea typeface="宋体"/>
              </a:rPr>
              <a:t> = 9、10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000" y="3182400"/>
            <a:ext cx="61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段首起点含 3 个整段而矛盾，只剩偏 1 项、偏 2 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4000" y="3164399"/>
            <a:ext cx="25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B2C2C"/>
                </a:solidFill>
                <a:latin typeface="Times New Roman"/>
                <a:ea typeface="宋体"/>
              </a:rPr>
              <a:t>最大值 ∛(3/2)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000" y="3704399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64000" y="3855600"/>
            <a:ext cx="151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1B1B1B"/>
                </a:solidFill>
                <a:latin typeface="Times New Roman"/>
                <a:ea typeface="宋体"/>
              </a:rPr>
              <a:t>L</a:t>
            </a:r>
            <a:r>
              <a:rPr sz="1600" b="1" i="0">
                <a:solidFill>
                  <a:srgbClr val="1B1B1B"/>
                </a:solidFill>
                <a:latin typeface="Times New Roman"/>
                <a:ea typeface="宋体"/>
              </a:rPr>
              <a:t> ≥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00" y="3873600"/>
            <a:ext cx="61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555"/>
                </a:solidFill>
                <a:latin typeface="Times New Roman"/>
                <a:ea typeface="宋体"/>
              </a:rPr>
              <a:t>任何起点都含至少 3 个整段，比值无法同时成立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4000" y="3855600"/>
            <a:ext cx="25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B1B"/>
                </a:solidFill>
                <a:latin typeface="Times New Roman"/>
                <a:ea typeface="宋体"/>
              </a:rPr>
              <a:t>不存在这样的 </a:t>
            </a:r>
            <a:r>
              <a:rPr sz="1350" b="0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000" y="4752000"/>
            <a:ext cx="1044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Times New Roman"/>
                <a:ea typeface="宋体"/>
              </a:rPr>
              <a:t>关键只在一处：</a:t>
            </a:r>
            <a:r>
              <a:rPr sz="1200" b="0" i="1">
                <a:solidFill>
                  <a:srgbClr val="1B1B1B"/>
                </a:solidFill>
                <a:latin typeface="Times New Roman"/>
                <a:ea typeface="宋体"/>
              </a:rPr>
              <a:t>L</a:t>
            </a:r>
            <a:r>
              <a:rPr sz="1200" b="0" i="0">
                <a:solidFill>
                  <a:srgbClr val="1B1B1B"/>
                </a:solidFill>
                <a:latin typeface="Times New Roman"/>
                <a:ea typeface="宋体"/>
              </a:rPr>
              <a:t> = 9 时，段首起点的窗口恰好放下三个整段，2</a:t>
            </a:r>
            <a:r>
              <a:rPr sz="1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00" b="0" i="0">
                <a:solidFill>
                  <a:srgbClr val="1B1B1B"/>
                </a:solidFill>
                <a:latin typeface="Times New Roman"/>
                <a:ea typeface="宋体"/>
              </a:rPr>
              <a:t>+2 与 2</a:t>
            </a:r>
            <a:r>
              <a:rPr sz="1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00" b="0" i="0">
                <a:solidFill>
                  <a:srgbClr val="1B1B1B"/>
                </a:solidFill>
                <a:latin typeface="Times New Roman"/>
                <a:ea typeface="宋体"/>
              </a:rPr>
              <a:t>+4 的比、2</a:t>
            </a:r>
            <a:r>
              <a:rPr sz="1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00" b="0" i="0">
                <a:solidFill>
                  <a:srgbClr val="1B1B1B"/>
                </a:solidFill>
                <a:latin typeface="Times New Roman"/>
                <a:ea typeface="宋体"/>
              </a:rPr>
              <a:t>+4 与 2</a:t>
            </a:r>
            <a:r>
              <a:rPr sz="1200" b="0" i="1">
                <a:solidFill>
                  <a:srgbClr val="1B1B1B"/>
                </a:solidFill>
                <a:latin typeface="Times New Roman"/>
                <a:ea typeface="宋体"/>
              </a:rPr>
              <a:t>m</a:t>
            </a:r>
            <a:r>
              <a:rPr sz="1200" b="0" i="0">
                <a:solidFill>
                  <a:srgbClr val="1B1B1B"/>
                </a:solidFill>
                <a:latin typeface="Times New Roman"/>
                <a:ea typeface="宋体"/>
              </a:rPr>
              <a:t>+6 的比不可能相等，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Times New Roman"/>
                <a:ea typeface="宋体"/>
              </a:rPr>
              <a:t>“取到 ∛2”的路被堵上，最大值才落到 ∛(3/2)。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4000" y="32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2026 年新高考Ⅰ卷 · 数学 第 14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324000"/>
            <a:ext cx="48239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八 · 回顾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4000" y="633600"/>
            <a:ext cx="10440000" cy="0"/>
          </a:xfrm>
          <a:prstGeom prst="line">
            <a:avLst/>
          </a:prstGeom>
          <a:ln w="9525">
            <a:solidFill>
              <a:srgbClr val="D4D0C6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10584000" y="6263999"/>
            <a:ext cx="7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782"/>
                </a:solidFill>
                <a:latin typeface="Times New Roman"/>
                <a:ea typeface="宋体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720000"/>
            <a:ext cx="10440000" cy="76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1B1B"/>
                </a:solidFill>
                <a:latin typeface="Times New Roman"/>
                <a:ea typeface="宋体"/>
              </a:rPr>
              <a:t>整道题只有三步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1342800"/>
            <a:ext cx="108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CD7CB"/>
                </a:solidFill>
                <a:latin typeface="Times New Roman"/>
                <a:ea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5999" y="1494000"/>
            <a:ext cx="90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B1B1B"/>
                </a:solidFill>
                <a:latin typeface="Times New Roman"/>
                <a:ea typeface="宋体"/>
              </a:rPr>
              <a:t>条件只看段和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5999" y="1836000"/>
            <a:ext cx="90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B</a:t>
            </a:r>
            <a:r>
              <a:rPr sz="1175" b="0" i="1" baseline="-25000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 = 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S</a:t>
            </a:r>
            <a:r>
              <a:rPr sz="1175" b="0" i="0" baseline="-25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175" b="0" i="1" baseline="-25000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 − 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S</a:t>
            </a:r>
            <a:r>
              <a:rPr sz="1175" b="0" i="0" baseline="-25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175" b="0" i="1" baseline="-25000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175" b="0" i="0" baseline="-25000">
                <a:solidFill>
                  <a:srgbClr val="555555"/>
                </a:solidFill>
                <a:latin typeface="Times New Roman"/>
                <a:ea typeface="宋体"/>
              </a:rPr>
              <a:t>−3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 = 2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n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；段和是首项 2、公差 2 的等差数列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2476800"/>
            <a:ext cx="108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CD7CB"/>
                </a:solidFill>
                <a:latin typeface="Times New Roman"/>
                <a:ea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5999" y="2628000"/>
            <a:ext cx="90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B1B1B"/>
                </a:solidFill>
                <a:latin typeface="Times New Roman"/>
                <a:ea typeface="宋体"/>
              </a:rPr>
              <a:t>相隔三段，比值定型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5999" y="2970000"/>
            <a:ext cx="90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段和之比 = 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175" b="0" i="0" baseline="30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；窗口含几个整段，就决定能列出几个这样的比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3610800"/>
            <a:ext cx="108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CD7CB"/>
                </a:solidFill>
                <a:latin typeface="Times New Roman"/>
                <a:ea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5999" y="3762000"/>
            <a:ext cx="90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B1B1B"/>
                </a:solidFill>
                <a:latin typeface="Times New Roman"/>
                <a:ea typeface="宋体"/>
              </a:rPr>
              <a:t>分类、上界、取等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999" y="4104000"/>
            <a:ext cx="90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三种起点只剩两种，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q</a:t>
            </a:r>
            <a:r>
              <a:rPr sz="1175" b="0" i="0" baseline="30000">
                <a:solidFill>
                  <a:srgbClr val="555555"/>
                </a:solidFill>
                <a:latin typeface="Times New Roman"/>
                <a:ea typeface="宋体"/>
              </a:rPr>
              <a:t>3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 ≤ 3/2；</a:t>
            </a:r>
            <a:r>
              <a:rPr sz="1250" b="0" i="1">
                <a:solidFill>
                  <a:srgbClr val="555555"/>
                </a:solidFill>
                <a:latin typeface="Times New Roman"/>
                <a:ea typeface="宋体"/>
              </a:rPr>
              <a:t>k</a:t>
            </a:r>
            <a:r>
              <a:rPr sz="1250" b="0" i="0">
                <a:solidFill>
                  <a:srgbClr val="555555"/>
                </a:solidFill>
                <a:latin typeface="Times New Roman"/>
                <a:ea typeface="宋体"/>
              </a:rPr>
              <a:t> = 2 时等号确实成立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4000" y="4986000"/>
            <a:ext cx="10440000" cy="0"/>
          </a:xfrm>
          <a:prstGeom prst="line">
            <a:avLst/>
          </a:prstGeom>
          <a:ln w="9525">
            <a:solidFill>
              <a:srgbClr val="E7E3D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64000" y="5130000"/>
            <a:ext cx="1044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1B1B"/>
                </a:solidFill>
                <a:latin typeface="Times New Roman"/>
                <a:ea typeface="宋体"/>
              </a:rPr>
              <a:t>答案　</a:t>
            </a:r>
            <a:r>
              <a:rPr sz="1700" b="1" i="1">
                <a:solidFill>
                  <a:srgbClr val="1B1B1B"/>
                </a:solidFill>
                <a:latin typeface="Times New Roman"/>
                <a:ea typeface="宋体"/>
              </a:rPr>
              <a:t>q</a:t>
            </a:r>
            <a:r>
              <a:rPr sz="1700" b="1" i="0">
                <a:solidFill>
                  <a:srgbClr val="1B1B1B"/>
                </a:solidFill>
                <a:latin typeface="Times New Roman"/>
                <a:ea typeface="宋体"/>
              </a:rPr>
              <a:t> 的最大值为 ∛(3/2) = ∛12 / 2 ≈ 1.1447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" y="5544000"/>
            <a:ext cx="10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782"/>
                </a:solidFill>
                <a:latin typeface="Times New Roman"/>
                <a:ea typeface="宋体"/>
              </a:rPr>
              <a:t>看结构，不看项：先分块，再比块。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