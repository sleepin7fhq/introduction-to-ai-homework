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324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052560" y="4297680"/>
            <a:ext cx="4023360" cy="2834640"/>
          </a:xfrm>
          <a:prstGeom prst="ellipse">
            <a:avLst/>
          </a:prstGeom>
          <a:solidFill>
            <a:srgbClr val="1A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5303520"/>
            <a:ext cx="2743200" cy="1920240"/>
          </a:xfrm>
          <a:prstGeom prst="ellipse">
            <a:avLst/>
          </a:prstGeom>
          <a:solidFill>
            <a:srgbClr val="22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BBFC4"/>
                </a:solidFill>
                <a:latin typeface="Microsoft YaHei"/>
                <a:ea typeface="Microsoft YaHei"/>
                <a:cs typeface="Microsoft YaHei"/>
              </a:rPr>
              <a:t>线性代数 · 矩阵乘法入门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5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计算 AA</a:t>
            </a:r>
            <a:r>
              <a:rPr sz="3600" b="1" baseline="30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5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与 A</a:t>
            </a:r>
            <a:r>
              <a:rPr sz="3600" b="1" baseline="30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5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2944368"/>
            <a:ext cx="1371600" cy="64008"/>
          </a:xfrm>
          <a:prstGeom prst="rect">
            <a:avLst/>
          </a:prstGeom>
          <a:solidFill>
            <a:srgbClr val="F29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31012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100" b="0">
                <a:solidFill>
                  <a:srgbClr val="C9D6EC"/>
                </a:solidFill>
                <a:latin typeface="Microsoft YaHei"/>
                <a:ea typeface="Microsoft YaHei"/>
                <a:cs typeface="Microsoft YaHei"/>
              </a:rPr>
              <a:t>已知 A 是 2×3 矩阵：为什么两个乘积的阶数不一样？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4023360"/>
            <a:ext cx="525780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5628" y="4023360"/>
            <a:ext cx="525780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4389120"/>
            <a:ext cx="525780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5628" y="4389120"/>
            <a:ext cx="525780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4023360"/>
            <a:ext cx="1905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60120" y="4023360"/>
            <a:ext cx="9144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0120" y="4735830"/>
            <a:ext cx="9144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121408" y="4023360"/>
            <a:ext cx="1905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049018" y="4023360"/>
            <a:ext cx="9144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49018" y="4735830"/>
            <a:ext cx="9144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79776" y="4023360"/>
            <a:ext cx="525780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05556" y="4023360"/>
            <a:ext cx="525780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1336" y="4023360"/>
            <a:ext cx="525780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9776" y="4389120"/>
            <a:ext cx="525780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05556" y="4389120"/>
            <a:ext cx="525780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31336" y="4389120"/>
            <a:ext cx="525780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9776" y="4754880"/>
            <a:ext cx="525780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05556" y="4754880"/>
            <a:ext cx="525780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31336" y="4754880"/>
            <a:ext cx="525780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70048" y="4023360"/>
            <a:ext cx="1905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670048" y="4023360"/>
            <a:ext cx="9144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670048" y="5101590"/>
            <a:ext cx="9144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57115" y="4023360"/>
            <a:ext cx="1905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84725" y="4023360"/>
            <a:ext cx="9144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84725" y="5101590"/>
            <a:ext cx="9144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31136" y="4315968"/>
            <a:ext cx="384048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2600" b="1">
                <a:solidFill>
                  <a:srgbClr val="F29D38"/>
                </a:solidFill>
                <a:latin typeface="Microsoft YaHei"/>
                <a:ea typeface="Microsoft YaHei"/>
                <a:cs typeface="Microsoft YaHei"/>
              </a:rPr>
              <a:t>=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102352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BBFC4"/>
                </a:solidFill>
                <a:latin typeface="Microsoft YaHei"/>
                <a:ea typeface="Microsoft YaHei"/>
                <a:cs typeface="Microsoft YaHei"/>
              </a:rPr>
              <a:t>AA</a:t>
            </a:r>
            <a:r>
              <a:rPr sz="1080" b="1" baseline="30000">
                <a:solidFill>
                  <a:srgbClr val="1BBFC4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500" b="1">
                <a:solidFill>
                  <a:srgbClr val="1BBFC4"/>
                </a:solidFill>
                <a:latin typeface="Microsoft YaHei"/>
                <a:ea typeface="Microsoft YaHei"/>
                <a:cs typeface="Microsoft YaHei"/>
              </a:rPr>
              <a:t> = I₂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70048" y="510235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BBFC4"/>
                </a:solidFill>
                <a:latin typeface="Microsoft YaHei"/>
                <a:ea typeface="Microsoft YaHei"/>
                <a:cs typeface="Microsoft YaHei"/>
              </a:rPr>
              <a:t>A</a:t>
            </a:r>
            <a:r>
              <a:rPr sz="1080" b="1" baseline="30000">
                <a:solidFill>
                  <a:srgbClr val="1BBFC4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500" b="1">
                <a:solidFill>
                  <a:srgbClr val="1BBFC4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4315968"/>
            <a:ext cx="310896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1">
                <a:solidFill>
                  <a:srgbClr val="8FA6C9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0">
                <a:solidFill>
                  <a:srgbClr val="C9D6EC"/>
                </a:solidFill>
                <a:latin typeface="Microsoft YaHei"/>
                <a:ea typeface="Microsoft YaHei"/>
                <a:cs typeface="Microsoft YaHei"/>
              </a:rPr>
              <a:t>用 7 页讲清两个乘积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0">
                <a:solidFill>
                  <a:srgbClr val="C9D6EC"/>
                </a:solidFill>
                <a:latin typeface="Microsoft YaHei"/>
                <a:ea typeface="Microsoft YaHei"/>
                <a:cs typeface="Microsoft YaHei"/>
              </a:rPr>
              <a:t>以及它们为何不同阶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94360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7C8DAD"/>
                </a:solidFill>
                <a:latin typeface="Microsoft YaHei"/>
                <a:ea typeface="Microsoft YaHei"/>
                <a:cs typeface="Microsoft YaHei"/>
              </a:rPr>
              <a:t>知识点：转置 · 矩阵乘法 · 单位阵 · 投影矩阵 · 秩与可逆性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548640"/>
            <a:ext cx="82296" cy="54864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05256" y="530352"/>
            <a:ext cx="932688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7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题目重述：我们要求什么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30352"/>
            <a:ext cx="1170432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第 2 页 / 共 7 页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881360" cy="17830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82296" cy="178308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1627632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已知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5688" y="1645920"/>
            <a:ext cx="563880" cy="406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9568" y="1645920"/>
            <a:ext cx="563880" cy="406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3448" y="1645920"/>
            <a:ext cx="563880" cy="406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5688" y="2052320"/>
            <a:ext cx="563880" cy="406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9568" y="2052320"/>
            <a:ext cx="563880" cy="406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3448" y="2052320"/>
            <a:ext cx="563880" cy="406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65960" y="1645920"/>
            <a:ext cx="19050" cy="81280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965960" y="1645920"/>
            <a:ext cx="91440" cy="1905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965960" y="2439670"/>
            <a:ext cx="91440" cy="1905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767328" y="1645920"/>
            <a:ext cx="19050" cy="81280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94938" y="1645920"/>
            <a:ext cx="91440" cy="1905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94938" y="2439670"/>
            <a:ext cx="91440" cy="1905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7720" y="1783080"/>
            <a:ext cx="65836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700" b="0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，计算 AA</a:t>
            </a:r>
            <a:r>
              <a:rPr sz="1224" b="0" baseline="30000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700" b="0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 和 A</a:t>
            </a:r>
            <a:r>
              <a:rPr sz="1224" b="0" baseline="30000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700" b="0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A。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其中 A 是 2×3 矩阵。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566160"/>
            <a:ext cx="5230368" cy="1645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566160"/>
            <a:ext cx="91440" cy="164592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76732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目标一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114800"/>
            <a:ext cx="44805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5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AA</a:t>
            </a:r>
            <a:r>
              <a:rPr sz="1800" b="1" baseline="30000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68172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用 A 的「行」与「行」做内积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566160"/>
            <a:ext cx="5230368" cy="1645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3566160"/>
            <a:ext cx="91440" cy="1645920"/>
          </a:xfrm>
          <a:prstGeom prst="rect">
            <a:avLst/>
          </a:prstGeom>
          <a:solidFill>
            <a:srgbClr val="1B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56832" y="376732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1BBFC4"/>
                </a:solidFill>
                <a:latin typeface="Microsoft YaHei"/>
                <a:ea typeface="Microsoft YaHei"/>
                <a:cs typeface="Microsoft YaHei"/>
              </a:rPr>
              <a:t>目标二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4114800"/>
            <a:ext cx="44805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5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A</a:t>
            </a:r>
            <a:r>
              <a:rPr sz="1800" b="1" baseline="30000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25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468172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用 A 的「列」与「列」做内积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440680"/>
            <a:ext cx="10881360" cy="74980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" y="5440680"/>
            <a:ext cx="82296" cy="749808"/>
          </a:xfrm>
          <a:prstGeom prst="rect">
            <a:avLst/>
          </a:prstGeom>
          <a:solidFill>
            <a:srgbClr val="F29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78992" y="5440680"/>
            <a:ext cx="10149840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解题顺序：先写 A</a:t>
            </a:r>
            <a:r>
              <a:rPr sz="1080" b="1" baseline="30000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5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、确认形状，再决定乘积是否合法、结果是几阶。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548640"/>
            <a:ext cx="82296" cy="54864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05256" y="530352"/>
            <a:ext cx="932688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7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第一步：转置与维度变化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30352"/>
            <a:ext cx="1170432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第 3 页 / 共 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转置 = 行列互换：(A</a:t>
            </a:r>
            <a:r>
              <a:rPr sz="1224" b="1" baseline="30000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7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)_{ij} = A_{ji}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2763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A（2×3）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965960"/>
            <a:ext cx="544830" cy="3860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9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0398" y="1965960"/>
            <a:ext cx="544830" cy="3860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9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05228" y="1965960"/>
            <a:ext cx="544830" cy="3860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9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352040"/>
            <a:ext cx="544830" cy="3860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9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0398" y="2352040"/>
            <a:ext cx="544830" cy="3860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9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5228" y="2352040"/>
            <a:ext cx="544830" cy="3860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9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1965960"/>
            <a:ext cx="19050" cy="77216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05840" y="1965960"/>
            <a:ext cx="91440" cy="1905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05840" y="2719070"/>
            <a:ext cx="91440" cy="1905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50058" y="1965960"/>
            <a:ext cx="19050" cy="77216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677668" y="1965960"/>
            <a:ext cx="91440" cy="1905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677668" y="2719070"/>
            <a:ext cx="91440" cy="1905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0" y="16276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A</a:t>
            </a:r>
            <a:r>
              <a:rPr sz="936" b="1" baseline="30000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3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（3×2）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0208" y="1965960"/>
            <a:ext cx="544830" cy="3860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9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5038" y="1965960"/>
            <a:ext cx="544830" cy="3860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9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0208" y="2352040"/>
            <a:ext cx="544830" cy="3860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9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5038" y="2352040"/>
            <a:ext cx="544830" cy="3860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9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0208" y="2738120"/>
            <a:ext cx="544830" cy="3860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9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5038" y="2738120"/>
            <a:ext cx="544830" cy="3860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9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1965960"/>
            <a:ext cx="19050" cy="115824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840480" y="1965960"/>
            <a:ext cx="91440" cy="1905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40480" y="3105150"/>
            <a:ext cx="91440" cy="1905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39868" y="1965960"/>
            <a:ext cx="19050" cy="115824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967478" y="1965960"/>
            <a:ext cx="91440" cy="1905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967478" y="3105150"/>
            <a:ext cx="91440" cy="1905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2" name="Right Arrow 31"/>
          <p:cNvSpPr/>
          <p:nvPr/>
        </p:nvSpPr>
        <p:spPr>
          <a:xfrm>
            <a:off x="3566160" y="2395728"/>
            <a:ext cx="219456" cy="310896"/>
          </a:xfrm>
          <a:prstGeom prst="rightArrow">
            <a:avLst/>
          </a:prstGeom>
          <a:solidFill>
            <a:srgbClr val="1B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320040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行 → 列（第 1、2 行变成第 1、2 列，第 3 行全是 0）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2212848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23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m×n  →  n×m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0">
                <a:solidFill>
                  <a:srgbClr val="1BBFC4"/>
                </a:solidFill>
                <a:latin typeface="Microsoft YaHei"/>
                <a:ea typeface="Microsoft YaHei"/>
                <a:cs typeface="Microsoft YaHei"/>
              </a:rPr>
              <a:t>2×3  →  3×2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3611880"/>
            <a:ext cx="10881360" cy="1051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58368" y="3611880"/>
            <a:ext cx="82296" cy="105156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78992" y="3611880"/>
            <a:ext cx="1014984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0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维度推导：A</a:t>
            </a:r>
            <a:r>
              <a:rPr sz="1080" b="0" baseline="30000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500" b="0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 的第 i 行 = A 的第 i 列，共 3 行；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0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即 3×2，为后面两个乘积提供可匹配的中间维度。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84247" y="4892040"/>
            <a:ext cx="487680" cy="3251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71927" y="4892040"/>
            <a:ext cx="487680" cy="3251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84247" y="5217160"/>
            <a:ext cx="487680" cy="3251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71927" y="5217160"/>
            <a:ext cx="487680" cy="3251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84247" y="5542280"/>
            <a:ext cx="487680" cy="3251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71927" y="5542280"/>
            <a:ext cx="487680" cy="3251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74519" y="4892040"/>
            <a:ext cx="19050" cy="97536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874519" y="4892040"/>
            <a:ext cx="91440" cy="1905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874519" y="5848350"/>
            <a:ext cx="91440" cy="1905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959607" y="4892040"/>
            <a:ext cx="19050" cy="97536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887217" y="4892040"/>
            <a:ext cx="91440" cy="1905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87217" y="5848350"/>
            <a:ext cx="91440" cy="1905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8368" y="5123687"/>
            <a:ext cx="123444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所以  A</a:t>
            </a:r>
            <a:r>
              <a:rPr sz="1080" b="0" baseline="3000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5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 =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548640"/>
            <a:ext cx="82296" cy="54864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05256" y="530352"/>
            <a:ext cx="932688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7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第二步：计算 AA</a:t>
            </a:r>
            <a:r>
              <a:rPr sz="1943" b="1" baseline="30000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27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（行的内积）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30352"/>
            <a:ext cx="1170432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第 4 页 / 共 7 页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0881360" cy="84124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325880"/>
            <a:ext cx="82296" cy="841248"/>
          </a:xfrm>
          <a:prstGeom prst="rect">
            <a:avLst/>
          </a:prstGeom>
          <a:solidFill>
            <a:srgbClr val="1B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1325880"/>
            <a:ext cx="1014984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维度： (2×3) · (3×2) → 中间 3 匹配 → 结果 2×2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元素来源：(AA</a:t>
            </a:r>
            <a:r>
              <a:rPr sz="1008" b="0" baseline="3000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4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)_{ij} = A 第 i 行 与 A 第 j 行 的内积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A 的两行恰好标准正交：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5760720" cy="58521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761488"/>
            <a:ext cx="73152" cy="585216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761488"/>
            <a:ext cx="36576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r₁ · r₁ = 1·1 + 0·0 + 0·0 =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761488"/>
            <a:ext cx="164592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自身内积 =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456432"/>
            <a:ext cx="5760720" cy="58521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3456432"/>
            <a:ext cx="73152" cy="585216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456432"/>
            <a:ext cx="36576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r₂ · r₂ = 0·0 + 1·1 + 0·0 =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456432"/>
            <a:ext cx="164592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自身内积 =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151376"/>
            <a:ext cx="5760720" cy="58521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4151376"/>
            <a:ext cx="73152" cy="585216"/>
          </a:xfrm>
          <a:prstGeom prst="rect">
            <a:avLst/>
          </a:prstGeom>
          <a:solidFill>
            <a:srgbClr val="1B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151376"/>
            <a:ext cx="36576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r₁ · r₂ = 1·0 + 0·1 + 0·0 =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151376"/>
            <a:ext cx="164592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BBFC4"/>
                </a:solidFill>
                <a:latin typeface="Microsoft YaHei"/>
                <a:ea typeface="Microsoft YaHei"/>
                <a:cs typeface="Microsoft YaHei"/>
              </a:rPr>
              <a:t>互相内积 =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42248" y="2468880"/>
            <a:ext cx="601980" cy="447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2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4228" y="2468880"/>
            <a:ext cx="601980" cy="447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2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2248" y="2915920"/>
            <a:ext cx="601980" cy="447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2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4228" y="2915920"/>
            <a:ext cx="601980" cy="447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2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32520" y="2468880"/>
            <a:ext cx="19050" cy="89408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732520" y="2468880"/>
            <a:ext cx="91440" cy="1905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732520" y="3343910"/>
            <a:ext cx="91440" cy="1905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046208" y="2468880"/>
            <a:ext cx="19050" cy="89408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973818" y="2468880"/>
            <a:ext cx="91440" cy="1905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973818" y="3343910"/>
            <a:ext cx="91440" cy="1905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03720" y="2659888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20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AA</a:t>
            </a:r>
            <a:r>
              <a:rPr sz="1439" b="1" baseline="30000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20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 =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525780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1BBFC4"/>
                </a:solidFill>
                <a:latin typeface="Microsoft YaHei"/>
                <a:ea typeface="Microsoft YaHei"/>
                <a:cs typeface="Microsoft YaHei"/>
              </a:rPr>
              <a:t>= I₂（2 阶单位阵）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715000"/>
            <a:ext cx="10881360" cy="8229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8368" y="5715000"/>
            <a:ext cx="82296" cy="82296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8992" y="5715000"/>
            <a:ext cx="1014984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含义：A 的两行标准正交，所以 AA</a:t>
            </a:r>
            <a:r>
              <a:rPr sz="1080" b="1" baseline="30000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5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 = I₂ —— 注意这只说明「行」的性质。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548640"/>
            <a:ext cx="82296" cy="54864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05256" y="530352"/>
            <a:ext cx="932688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7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第三步：计算 A</a:t>
            </a:r>
            <a:r>
              <a:rPr sz="1943" b="1" baseline="30000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27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A（列的内积）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30352"/>
            <a:ext cx="1170432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第 5 页 / 共 7 页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0881360" cy="84124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325880"/>
            <a:ext cx="82296" cy="841248"/>
          </a:xfrm>
          <a:prstGeom prst="rect">
            <a:avLst/>
          </a:prstGeom>
          <a:solidFill>
            <a:srgbClr val="1B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1325880"/>
            <a:ext cx="1014984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维度： (3×2) · (2×3) → 中间 2 匹配 → 结果 3×3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元素来源：A</a:t>
            </a:r>
            <a:r>
              <a:rPr sz="1008" b="0" baseline="3000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4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A 第 i 行第 j 列 = A 第 i 列 与 A 第 j 列 的内积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A 的三列：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5760720" cy="58521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761488"/>
            <a:ext cx="73152" cy="585216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761488"/>
            <a:ext cx="36576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c₁ · c₁ = 1² + 0² =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761488"/>
            <a:ext cx="164592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对角 =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456432"/>
            <a:ext cx="5760720" cy="58521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3456432"/>
            <a:ext cx="73152" cy="585216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456432"/>
            <a:ext cx="36576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c₂ · c₂ = 0² + 1² =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456432"/>
            <a:ext cx="164592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对角 =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151376"/>
            <a:ext cx="5760720" cy="58521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4151376"/>
            <a:ext cx="73152" cy="585216"/>
          </a:xfrm>
          <a:prstGeom prst="rect">
            <a:avLst/>
          </a:prstGeom>
          <a:solidFill>
            <a:srgbClr val="D9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151376"/>
            <a:ext cx="36576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c₃ · c₃ = 0² + 0² =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151376"/>
            <a:ext cx="164592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D93B3B"/>
                </a:solidFill>
                <a:latin typeface="Microsoft YaHei"/>
                <a:ea typeface="Microsoft YaHei"/>
                <a:cs typeface="Microsoft YaHei"/>
              </a:rPr>
              <a:t>零向量 →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42248" y="2468880"/>
            <a:ext cx="563880" cy="406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6128" y="2468880"/>
            <a:ext cx="563880" cy="406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70008" y="2468880"/>
            <a:ext cx="563880" cy="406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2248" y="2875280"/>
            <a:ext cx="563880" cy="406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6128" y="2875280"/>
            <a:ext cx="563880" cy="406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70008" y="2875280"/>
            <a:ext cx="563880" cy="406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42248" y="3281680"/>
            <a:ext cx="563880" cy="406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6128" y="3281680"/>
            <a:ext cx="563880" cy="406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70008" y="3281680"/>
            <a:ext cx="563880" cy="406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>
                <a:solidFill>
                  <a:srgbClr val="D93B3B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32520" y="2468880"/>
            <a:ext cx="19050" cy="121920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732520" y="2468880"/>
            <a:ext cx="91440" cy="1905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732520" y="3669030"/>
            <a:ext cx="91440" cy="1905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533888" y="2468880"/>
            <a:ext cx="19050" cy="121920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0461498" y="2468880"/>
            <a:ext cx="91440" cy="1905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461498" y="3669030"/>
            <a:ext cx="91440" cy="19050"/>
          </a:xfrm>
          <a:prstGeom prst="rect">
            <a:avLst/>
          </a:prstGeom>
          <a:solidFill>
            <a:srgbClr val="1B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0" y="2822448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20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A</a:t>
            </a:r>
            <a:r>
              <a:rPr sz="1439" b="1" baseline="30000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20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A =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525780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>
                <a:solidFill>
                  <a:srgbClr val="1BBFC4"/>
                </a:solidFill>
                <a:latin typeface="Microsoft YaHei"/>
                <a:ea typeface="Microsoft YaHei"/>
                <a:cs typeface="Microsoft YaHei"/>
              </a:rPr>
              <a:t>= diag(1, 1, 0)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715000"/>
            <a:ext cx="10881360" cy="8229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8368" y="5715000"/>
            <a:ext cx="82296" cy="822960"/>
          </a:xfrm>
          <a:prstGeom prst="rect">
            <a:avLst/>
          </a:prstGeom>
          <a:solidFill>
            <a:srgbClr val="F29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78992" y="5715000"/>
            <a:ext cx="1014984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关键：A 的第 3 列是零向量 → 内积为 0 → 右下角为 0，故 A</a:t>
            </a:r>
            <a:r>
              <a:rPr sz="1080" b="1" baseline="30000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5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A ≠ I₃。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548640"/>
            <a:ext cx="82296" cy="54864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05256" y="530352"/>
            <a:ext cx="932688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7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对比：一张表看清两个乘积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30352"/>
            <a:ext cx="1170432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第 6 页 / 共 7 页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81360" cy="457200"/>
          </a:xfrm>
          <a:prstGeom prst="rect">
            <a:avLst/>
          </a:prstGeom>
          <a:solidFill>
            <a:srgbClr val="11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对比项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5808" y="1353312"/>
            <a:ext cx="42519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AA</a:t>
            </a:r>
            <a:r>
              <a:rPr sz="1008" b="1" baseline="30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（2×2）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87768" y="1353312"/>
            <a:ext cx="42519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  <a:r>
              <a:rPr sz="1008" b="1" baseline="30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A（3×3）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10512"/>
            <a:ext cx="1088136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810512"/>
            <a:ext cx="21031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1810512"/>
            <a:ext cx="42519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I₂（单位阵）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87768" y="1810512"/>
            <a:ext cx="42519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BBFC4"/>
                </a:solidFill>
                <a:latin typeface="Microsoft YaHei"/>
                <a:ea typeface="Microsoft YaHei"/>
                <a:cs typeface="Microsoft YaHei"/>
              </a:rPr>
              <a:t>diag(1, 1, 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322576"/>
            <a:ext cx="10881360" cy="512064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2322576"/>
            <a:ext cx="21031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对称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322576"/>
            <a:ext cx="42519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✓ 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2322576"/>
            <a:ext cx="42519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BBFC4"/>
                </a:solidFill>
                <a:latin typeface="Microsoft YaHei"/>
                <a:ea typeface="Microsoft YaHei"/>
                <a:cs typeface="Microsoft YaHei"/>
              </a:rPr>
              <a:t>✓ 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834640"/>
            <a:ext cx="1088136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2834640"/>
            <a:ext cx="21031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2834640"/>
            <a:ext cx="42519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768" y="2834640"/>
            <a:ext cx="42519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BBFC4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346704"/>
            <a:ext cx="10881360" cy="512064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3346704"/>
            <a:ext cx="21031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幂等 M·M = 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3346704"/>
            <a:ext cx="42519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✓ 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7768" y="3346704"/>
            <a:ext cx="42519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BBFC4"/>
                </a:solidFill>
                <a:latin typeface="Microsoft YaHei"/>
                <a:ea typeface="Microsoft YaHei"/>
                <a:cs typeface="Microsoft YaHei"/>
              </a:rPr>
              <a:t>✓ 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858768"/>
            <a:ext cx="1088136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" y="3858768"/>
            <a:ext cx="21031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行列式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35808" y="3858768"/>
            <a:ext cx="42519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1 → 可逆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7768" y="3858768"/>
            <a:ext cx="42519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D93B3B"/>
                </a:solidFill>
                <a:latin typeface="Microsoft YaHei"/>
                <a:ea typeface="Microsoft YaHei"/>
                <a:cs typeface="Microsoft YaHei"/>
              </a:rPr>
              <a:t>0 → 不可逆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370832"/>
            <a:ext cx="10881360" cy="512064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2688" y="4370832"/>
            <a:ext cx="21031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35808" y="4370832"/>
            <a:ext cx="42519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87768" y="4370832"/>
            <a:ext cx="42519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D93B3B"/>
                </a:solidFill>
                <a:latin typeface="Microsoft YaHei"/>
                <a:ea typeface="Microsoft YaHei"/>
                <a:cs typeface="Microsoft YaHei"/>
              </a:rPr>
              <a:t>2（不满秩）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81360" cy="8229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822960"/>
          </a:xfrm>
          <a:prstGeom prst="rect">
            <a:avLst/>
          </a:prstGeom>
          <a:solidFill>
            <a:srgbClr val="F29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8992" y="5230368"/>
            <a:ext cx="1014984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1B253A"/>
                </a:solidFill>
                <a:latin typeface="Microsoft YaHei"/>
                <a:ea typeface="Microsoft YaHei"/>
                <a:cs typeface="Microsoft YaHei"/>
              </a:rPr>
              <a:t>相同点：都对称、迹都是 2、都幂等。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不同点：阶数不同、行列式不同 —— A</a:t>
            </a:r>
            <a:r>
              <a:rPr sz="1008" b="1" baseline="30000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4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A 不可逆。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548640"/>
            <a:ext cx="82296" cy="54864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05256" y="530352"/>
            <a:ext cx="932688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7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原理总结与易错点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30352"/>
            <a:ext cx="1170432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第 7 页 / 共 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0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为什么 AA</a:t>
            </a:r>
            <a:r>
              <a:rPr sz="1439" b="1" baseline="30000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20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 = I₂，却不代表 A</a:t>
            </a:r>
            <a:r>
              <a:rPr sz="1439" b="1" baseline="30000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20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A = I₃ 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1088136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5875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2688" y="1947672"/>
            <a:ext cx="457200" cy="457200"/>
          </a:xfrm>
          <a:prstGeom prst="ellipse">
            <a:avLst/>
          </a:prstGeom>
          <a:solidFill>
            <a:srgbClr val="1BB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8288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行标准正交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212848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A 的两行内积为 Δᵢⱼ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074920" y="2002536"/>
            <a:ext cx="384048" cy="310896"/>
          </a:xfrm>
          <a:prstGeom prst="rightArrow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0" y="1719072"/>
            <a:ext cx="566928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BBFC4"/>
                </a:solidFill>
                <a:latin typeface="Microsoft YaHei"/>
                <a:ea typeface="Microsoft YaHei"/>
                <a:cs typeface="Microsoft YaHei"/>
              </a:rPr>
              <a:t>所以 AA</a:t>
            </a:r>
            <a:r>
              <a:rPr sz="1080" b="1" baseline="30000">
                <a:solidFill>
                  <a:srgbClr val="1BBFC4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500" b="1">
                <a:solidFill>
                  <a:srgbClr val="1BBFC4"/>
                </a:solidFill>
                <a:latin typeface="Microsoft YaHei"/>
                <a:ea typeface="Microsoft YaHei"/>
                <a:cs typeface="Microsoft YaHei"/>
              </a:rPr>
              <a:t> = I₂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743200"/>
            <a:ext cx="1088136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5875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32688" y="2971800"/>
            <a:ext cx="457200" cy="457200"/>
          </a:xfrm>
          <a:prstGeom prst="ellipse">
            <a:avLst/>
          </a:prstGeom>
          <a:solidFill>
            <a:srgbClr val="F29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85292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第 3 列是零向量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236976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c₃ · c₃ = 0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074920" y="3026664"/>
            <a:ext cx="384048" cy="310896"/>
          </a:xfrm>
          <a:prstGeom prst="rightArrow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0" y="2743200"/>
            <a:ext cx="566928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F29D38"/>
                </a:solidFill>
                <a:latin typeface="Microsoft YaHei"/>
                <a:ea typeface="Microsoft YaHei"/>
                <a:cs typeface="Microsoft YaHei"/>
              </a:rPr>
              <a:t>所以 A</a:t>
            </a:r>
            <a:r>
              <a:rPr sz="1080" b="1" baseline="30000">
                <a:solidFill>
                  <a:srgbClr val="F29D38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500" b="1">
                <a:solidFill>
                  <a:srgbClr val="F29D38"/>
                </a:solidFill>
                <a:latin typeface="Microsoft YaHei"/>
                <a:ea typeface="Microsoft YaHei"/>
                <a:cs typeface="Microsoft YaHei"/>
              </a:rPr>
              <a:t>A 右下角为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67328"/>
            <a:ext cx="1088136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5875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32688" y="3995928"/>
            <a:ext cx="457200" cy="457200"/>
          </a:xfrm>
          <a:prstGeom prst="ellipse">
            <a:avLst/>
          </a:prstGeom>
          <a:solidFill>
            <a:srgbClr val="D9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38770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A</a:t>
            </a:r>
            <a:r>
              <a:rPr sz="1080" b="1" baseline="30000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500" b="1">
                <a:solidFill>
                  <a:srgbClr val="111F3D"/>
                </a:solidFill>
                <a:latin typeface="Microsoft YaHei"/>
                <a:ea typeface="Microsoft YaHei"/>
                <a:cs typeface="Microsoft YaHei"/>
              </a:rPr>
              <a:t>A 是投影矩阵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261104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投影到 A 的行空间（xy 平面）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074920" y="4050792"/>
            <a:ext cx="384048" cy="310896"/>
          </a:xfrm>
          <a:prstGeom prst="rightArrow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0" y="3767328"/>
            <a:ext cx="566928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D93B3B"/>
                </a:solidFill>
                <a:latin typeface="Microsoft YaHei"/>
                <a:ea typeface="Microsoft YaHei"/>
                <a:cs typeface="Microsoft YaHei"/>
              </a:rPr>
              <a:t>秩 = 2、det = 0、不可逆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919472"/>
            <a:ext cx="10881360" cy="713232"/>
          </a:xfrm>
          <a:prstGeom prst="rect">
            <a:avLst/>
          </a:prstGeom>
          <a:solidFill>
            <a:srgbClr val="11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8992" y="4919472"/>
            <a:ext cx="1014984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通式：A 为 m×n 时，AA</a:t>
            </a:r>
            <a:r>
              <a:rPr sz="1080" b="1" baseline="30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是 m 阶、A</a:t>
            </a:r>
            <a:r>
              <a:rPr sz="1080" b="1" baseline="30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</a:t>
            </a: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是 n 阶；本题 2×3 → 2 阶与 3 阶。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5760720"/>
            <a:ext cx="10881360" cy="566928"/>
          </a:xfrm>
          <a:prstGeom prst="rect">
            <a:avLst/>
          </a:prstGeom>
          <a:solidFill>
            <a:srgbClr val="E8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" y="5760720"/>
            <a:ext cx="10149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0E8A8F"/>
                </a:solidFill>
                <a:latin typeface="Microsoft YaHei"/>
                <a:ea typeface="Microsoft YaHei"/>
                <a:cs typeface="Microsoft YaHei"/>
              </a:rPr>
              <a:t>口诀：行配行、列配列；谁被消掉，谁定阶数。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658</Words>
  <Application>Microsoft Office PowerPoint</Application>
  <PresentationFormat>宽屏</PresentationFormat>
  <Paragraphs>153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liu19286620387@outlook.com</cp:lastModifiedBy>
  <cp:revision>1</cp:revision>
  <dcterms:created xsi:type="dcterms:W3CDTF">2013-01-27T09:14:16Z</dcterms:created>
  <dcterms:modified xsi:type="dcterms:W3CDTF">2026-10-15T15:19:59Z</dcterms:modified>
  <cp:category/>
</cp:coreProperties>
</file>