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 年高考数学新课标全国Ⅰ卷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1887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3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压轴题第 19 题 · 完整详解课件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607040" cy="30175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6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主题：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函数新定义 D(x₀) = { d ∈ R | f(x₀+d) &gt; f(x₀) } 与集合包含关系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6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结构：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封面目录 → 题目与思路 → 分问详解 → 总结反思 → 变式与来源 → 15 页配套课件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主线：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f(x₁) ≤ f(x₂) ⇔ D(x₂) ⊆ D(x₁)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—— 用集合包含刻画单调性，全程不用导数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建议按目录顺序讲；第 15–19 页为自测，第 20 页起为课件版面。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目录与学习路径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共 34 页：讲解 20 页 + 配套课件 14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577840" cy="47548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1　封面　2　目录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3　题目原文（含两条件与 (i)(ii)）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4　图象解读：D(x₀) 是什么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5–6　核心引理：函数值大小 ↔ 集合包含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7　四个工具：解题的全部武器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8　详解（1）求 D(−1)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9　详解（2）奇函数：分类讨论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10–11　详解（3）(i) 反证 f(0) ≥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94960" cy="47548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12–13　详解（3）(ii) 单调递增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14　方法总结与答案清单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15–16　易错点与得分策略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17–18　变式自测（一）（二）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19　变式自测参考答案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20　来源与使用说明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21　第二部分封面（课件 1–14 页在后）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22–34　配套课件 14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题目原文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2026 新课标全国Ⅰ卷第 19 题（全卷最后一题，19 题 150 分）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183112" cy="132588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已知函数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的定义域为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R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，且当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x &lt; 0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时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 = 2ˣ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对任意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x₀ ∈ R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，定义集合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D(x₀) = { d ∈ R | f(x₀ + d) &gt; f(x₀)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1064240" cy="35661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（1）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若当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x ≥ 0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时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 = 1 − x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，求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D(−1)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（2）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若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是奇函数，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f(x₁) ≤ f(x₂)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，且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x₁x₂ ≠ 0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，证明：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D(x₂) ⊆ D(x₁)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（3）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设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满足：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① 若 f(x₁) ≤ f(x₂)，则 D(x₂) ⊆ D(x₁)；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② 当 0 &lt; x &lt; 1 时，f(x) &lt; f(0)。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（i）证明：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f(0) ≥ 1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；（ii）证明：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在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(0, +∞)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上单调递增。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读题提示：先把集合语言翻译成“函数值大小比较”，再动笔。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图象解读：D(x₀) 到底是什么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把 f(x₀+d) &gt; f(x₀) 看成“从 x₀ 出发走 d 能不能变高”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0432" y="2953512"/>
            <a:ext cx="1885492" cy="36576"/>
          </a:xfrm>
          <a:noFill/>
          <a:custGeom>
            <a:avLst/>
            <a:gdLst/>
            <a:ahLst/>
            <a:cxnLst/>
            <a:rect l="0" t="0" r="r" b="b"/>
            <a:pathLst>
              <a:path w="1848917" h="1">
                <a:moveTo>
                  <a:pt x="0" y="0"/>
                </a:moveTo>
                <a:lnTo>
                  <a:pt x="1848917" y="0"/>
                </a:lnTo>
              </a:path>
            </a:pathLst>
          </a:custGeom>
          <a:ln w="1524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30552" y="1768449"/>
            <a:ext cx="36576" cy="1338681"/>
          </a:xfrm>
          <a:noFill/>
          <a:custGeom>
            <a:avLst/>
            <a:gdLst/>
            <a:ahLst/>
            <a:cxnLst/>
            <a:rect l="0" t="0" r="r" b="b"/>
            <a:pathLst>
              <a:path w="1" h="1302106">
                <a:moveTo>
                  <a:pt x="0" y="1302106"/>
                </a:moveTo>
                <a:lnTo>
                  <a:pt x="0" y="0"/>
                </a:lnTo>
              </a:path>
            </a:pathLst>
          </a:custGeom>
          <a:ln w="1524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" y="2221992"/>
            <a:ext cx="996696" cy="550613"/>
          </a:xfrm>
          <a:noFill/>
          <a:custGeom>
            <a:avLst/>
            <a:gdLst/>
            <a:ahLst/>
            <a:cxnLst/>
            <a:rect l="0" t="0" r="r" b="b"/>
            <a:pathLst>
              <a:path w="960120" h="514038">
                <a:moveTo>
                  <a:pt x="0" y="514038"/>
                </a:moveTo>
                <a:lnTo>
                  <a:pt x="27432" y="506368"/>
                </a:lnTo>
                <a:lnTo>
                  <a:pt x="54864" y="498428"/>
                </a:lnTo>
                <a:lnTo>
                  <a:pt x="82296" y="490208"/>
                </a:lnTo>
                <a:lnTo>
                  <a:pt x="109728" y="481699"/>
                </a:lnTo>
                <a:lnTo>
                  <a:pt x="137160" y="472889"/>
                </a:lnTo>
                <a:lnTo>
                  <a:pt x="164592" y="463768"/>
                </a:lnTo>
                <a:lnTo>
                  <a:pt x="192024" y="454326"/>
                </a:lnTo>
                <a:lnTo>
                  <a:pt x="219456" y="444551"/>
                </a:lnTo>
                <a:lnTo>
                  <a:pt x="246888" y="434431"/>
                </a:lnTo>
                <a:lnTo>
                  <a:pt x="274320" y="423954"/>
                </a:lnTo>
                <a:lnTo>
                  <a:pt x="301752" y="413107"/>
                </a:lnTo>
                <a:lnTo>
                  <a:pt x="329184" y="401879"/>
                </a:lnTo>
                <a:lnTo>
                  <a:pt x="356616" y="390254"/>
                </a:lnTo>
                <a:lnTo>
                  <a:pt x="384048" y="378219"/>
                </a:lnTo>
                <a:lnTo>
                  <a:pt x="411480" y="365760"/>
                </a:lnTo>
                <a:lnTo>
                  <a:pt x="438912" y="352862"/>
                </a:lnTo>
                <a:lnTo>
                  <a:pt x="466344" y="339508"/>
                </a:lnTo>
                <a:lnTo>
                  <a:pt x="493776" y="325684"/>
                </a:lnTo>
                <a:lnTo>
                  <a:pt x="521208" y="311372"/>
                </a:lnTo>
                <a:lnTo>
                  <a:pt x="548640" y="296556"/>
                </a:lnTo>
                <a:lnTo>
                  <a:pt x="576072" y="281217"/>
                </a:lnTo>
                <a:lnTo>
                  <a:pt x="603504" y="265337"/>
                </a:lnTo>
                <a:lnTo>
                  <a:pt x="630936" y="248897"/>
                </a:lnTo>
                <a:lnTo>
                  <a:pt x="658368" y="231877"/>
                </a:lnTo>
                <a:lnTo>
                  <a:pt x="685800" y="214257"/>
                </a:lnTo>
                <a:lnTo>
                  <a:pt x="713232" y="196016"/>
                </a:lnTo>
                <a:lnTo>
                  <a:pt x="740664" y="177132"/>
                </a:lnTo>
                <a:lnTo>
                  <a:pt x="768096" y="157581"/>
                </a:lnTo>
                <a:lnTo>
                  <a:pt x="795528" y="137341"/>
                </a:lnTo>
                <a:lnTo>
                  <a:pt x="822960" y="116387"/>
                </a:lnTo>
                <a:lnTo>
                  <a:pt x="850392" y="94695"/>
                </a:lnTo>
                <a:lnTo>
                  <a:pt x="877824" y="72237"/>
                </a:lnTo>
                <a:lnTo>
                  <a:pt x="905256" y="48988"/>
                </a:lnTo>
                <a:lnTo>
                  <a:pt x="932688" y="24918"/>
                </a:lnTo>
                <a:lnTo>
                  <a:pt x="960120" y="0"/>
                </a:lnTo>
              </a:path>
            </a:pathLst>
          </a:custGeom>
          <a:ln w="254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30552" y="2221992"/>
            <a:ext cx="886968" cy="1170431"/>
          </a:xfrm>
          <a:noFill/>
          <a:custGeom>
            <a:avLst/>
            <a:gdLst/>
            <a:ahLst/>
            <a:cxnLst/>
            <a:rect l="0" t="0" r="r" b="b"/>
            <a:pathLst>
              <a:path w="850392" h="1133856">
                <a:moveTo>
                  <a:pt x="0" y="0"/>
                </a:moveTo>
                <a:lnTo>
                  <a:pt x="850392" y="1133856"/>
                </a:lnTo>
              </a:path>
            </a:pathLst>
          </a:custGeom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36192" y="2542032"/>
            <a:ext cx="128016" cy="128015"/>
          </a:xfrm>
          <a:noFill/>
          <a:custGeom>
            <a:avLst/>
            <a:gdLst/>
            <a:ahLst/>
            <a:cxnLst/>
            <a:rect l="0" t="0" r="r" b="b"/>
            <a:pathLst>
              <a:path w="91440" h="91440">
                <a:moveTo>
                  <a:pt x="0" y="0"/>
                </a:moveTo>
                <a:lnTo>
                  <a:pt x="91440" y="91440"/>
                </a:lnTo>
              </a:path>
            </a:pathLst>
          </a:custGeom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36192" y="2542032"/>
            <a:ext cx="128016" cy="128015"/>
          </a:xfrm>
          <a:noFill/>
          <a:custGeom>
            <a:avLst/>
            <a:gdLst/>
            <a:ahLst/>
            <a:cxnLst/>
            <a:rect l="0" t="0" r="r" b="b"/>
            <a:pathLst>
              <a:path w="91440" h="91440">
                <a:moveTo>
                  <a:pt x="0" y="91440"/>
                </a:moveTo>
                <a:lnTo>
                  <a:pt x="91440" y="0"/>
                </a:lnTo>
              </a:path>
            </a:pathLst>
          </a:custGeom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5064" y="2624328"/>
            <a:ext cx="1051560" cy="23774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(-1, 1/2)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207008"/>
            <a:ext cx="42976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(a) f(x) = 2^x (x &lt; 0),  f(x) = 1 - x (x &gt;=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4" y="3063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3063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139903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6884" y="1984248"/>
            <a:ext cx="2295144" cy="640079"/>
          </a:xfrm>
          <a:solidFill>
            <a:srgbClr val="EAF1F9"/>
          </a:solidFill>
          <a:custGeom>
            <a:avLst/>
            <a:gdLst/>
            <a:ahLst/>
            <a:cxnLst/>
            <a:rect l="0" t="0" r="r" b="b"/>
            <a:pathLst>
              <a:path w="2258568" h="603504">
                <a:moveTo>
                  <a:pt x="0" y="0"/>
                </a:moveTo>
                <a:lnTo>
                  <a:pt x="2258568" y="0"/>
                </a:lnTo>
                <a:lnTo>
                  <a:pt x="2258568" y="603504"/>
                </a:lnTo>
                <a:lnTo>
                  <a:pt x="0" y="603504"/>
                </a:lnTo>
                <a:close/>
              </a:path>
            </a:pathLst>
          </a:custGeom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86884" y="3044952"/>
            <a:ext cx="2164841" cy="36576"/>
          </a:xfrm>
          <a:noFill/>
          <a:custGeom>
            <a:avLst/>
            <a:gdLst/>
            <a:ahLst/>
            <a:cxnLst/>
            <a:rect l="0" t="0" r="r" b="b"/>
            <a:pathLst>
              <a:path w="2128266" h="1">
                <a:moveTo>
                  <a:pt x="0" y="0"/>
                </a:moveTo>
                <a:lnTo>
                  <a:pt x="2128266" y="0"/>
                </a:lnTo>
              </a:path>
            </a:pathLst>
          </a:custGeom>
          <a:ln w="1524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42432" y="2020824"/>
            <a:ext cx="36576" cy="1188720"/>
          </a:xfrm>
          <a:noFill/>
          <a:custGeom>
            <a:avLst/>
            <a:gdLst/>
            <a:ahLst/>
            <a:cxnLst/>
            <a:rect l="0" t="0" r="r" b="b"/>
            <a:pathLst>
              <a:path w="1" h="1152144">
                <a:moveTo>
                  <a:pt x="0" y="1152144"/>
                </a:moveTo>
                <a:lnTo>
                  <a:pt x="0" y="0"/>
                </a:lnTo>
              </a:path>
            </a:pathLst>
          </a:custGeom>
          <a:ln w="1524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86884" y="2259879"/>
            <a:ext cx="801014" cy="395065"/>
          </a:xfrm>
          <a:noFill/>
          <a:custGeom>
            <a:avLst/>
            <a:gdLst/>
            <a:ahLst/>
            <a:cxnLst/>
            <a:rect l="0" t="0" r="r" b="b"/>
            <a:pathLst>
              <a:path w="764438" h="358490">
                <a:moveTo>
                  <a:pt x="0" y="358490"/>
                </a:moveTo>
                <a:lnTo>
                  <a:pt x="34747" y="346497"/>
                </a:lnTo>
                <a:lnTo>
                  <a:pt x="69494" y="334167"/>
                </a:lnTo>
                <a:lnTo>
                  <a:pt x="104242" y="321490"/>
                </a:lnTo>
                <a:lnTo>
                  <a:pt x="138989" y="308457"/>
                </a:lnTo>
                <a:lnTo>
                  <a:pt x="173736" y="295057"/>
                </a:lnTo>
                <a:lnTo>
                  <a:pt x="208483" y="281281"/>
                </a:lnTo>
                <a:lnTo>
                  <a:pt x="243230" y="267118"/>
                </a:lnTo>
                <a:lnTo>
                  <a:pt x="277978" y="252556"/>
                </a:lnTo>
                <a:lnTo>
                  <a:pt x="312725" y="237585"/>
                </a:lnTo>
                <a:lnTo>
                  <a:pt x="347472" y="222193"/>
                </a:lnTo>
                <a:lnTo>
                  <a:pt x="382219" y="206368"/>
                </a:lnTo>
                <a:lnTo>
                  <a:pt x="416966" y="190099"/>
                </a:lnTo>
                <a:lnTo>
                  <a:pt x="451714" y="173372"/>
                </a:lnTo>
                <a:lnTo>
                  <a:pt x="486461" y="156175"/>
                </a:lnTo>
                <a:lnTo>
                  <a:pt x="521208" y="138494"/>
                </a:lnTo>
                <a:lnTo>
                  <a:pt x="555955" y="120316"/>
                </a:lnTo>
                <a:lnTo>
                  <a:pt x="590702" y="101627"/>
                </a:lnTo>
                <a:lnTo>
                  <a:pt x="625450" y="82413"/>
                </a:lnTo>
                <a:lnTo>
                  <a:pt x="660197" y="62658"/>
                </a:lnTo>
                <a:lnTo>
                  <a:pt x="694944" y="42349"/>
                </a:lnTo>
                <a:lnTo>
                  <a:pt x="729691" y="21468"/>
                </a:lnTo>
                <a:lnTo>
                  <a:pt x="764438" y="0"/>
                </a:lnTo>
              </a:path>
            </a:pathLst>
          </a:custGeom>
          <a:ln w="254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2432" y="2130552"/>
            <a:ext cx="662025" cy="694944"/>
          </a:xfrm>
          <a:noFill/>
          <a:custGeom>
            <a:avLst/>
            <a:gdLst/>
            <a:ahLst/>
            <a:cxnLst/>
            <a:rect l="0" t="0" r="r" b="b"/>
            <a:pathLst>
              <a:path w="625450" h="658368">
                <a:moveTo>
                  <a:pt x="0" y="0"/>
                </a:moveTo>
                <a:lnTo>
                  <a:pt x="34747" y="36576"/>
                </a:lnTo>
                <a:lnTo>
                  <a:pt x="69494" y="73152"/>
                </a:lnTo>
                <a:lnTo>
                  <a:pt x="104242" y="109728"/>
                </a:lnTo>
                <a:lnTo>
                  <a:pt x="138989" y="146304"/>
                </a:lnTo>
                <a:lnTo>
                  <a:pt x="173736" y="182880"/>
                </a:lnTo>
                <a:lnTo>
                  <a:pt x="208483" y="219456"/>
                </a:lnTo>
                <a:lnTo>
                  <a:pt x="243230" y="256032"/>
                </a:lnTo>
                <a:lnTo>
                  <a:pt x="277978" y="292608"/>
                </a:lnTo>
                <a:lnTo>
                  <a:pt x="312725" y="329184"/>
                </a:lnTo>
                <a:lnTo>
                  <a:pt x="347472" y="365760"/>
                </a:lnTo>
                <a:lnTo>
                  <a:pt x="382219" y="402336"/>
                </a:lnTo>
                <a:lnTo>
                  <a:pt x="416966" y="438912"/>
                </a:lnTo>
                <a:lnTo>
                  <a:pt x="451714" y="475488"/>
                </a:lnTo>
                <a:lnTo>
                  <a:pt x="486461" y="512064"/>
                </a:lnTo>
                <a:lnTo>
                  <a:pt x="521208" y="548640"/>
                </a:lnTo>
                <a:lnTo>
                  <a:pt x="555955" y="585216"/>
                </a:lnTo>
                <a:lnTo>
                  <a:pt x="590702" y="621792"/>
                </a:lnTo>
                <a:lnTo>
                  <a:pt x="625450" y="658368"/>
                </a:lnTo>
              </a:path>
            </a:pathLst>
          </a:custGeom>
          <a:ln w="254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86884" y="2587752"/>
            <a:ext cx="2295144" cy="36576"/>
          </a:xfrm>
          <a:noFill/>
          <a:custGeom>
            <a:avLst/>
            <a:gdLst/>
            <a:ahLst/>
            <a:cxnLst/>
            <a:rect l="0" t="0" r="r" b="b"/>
            <a:pathLst>
              <a:path w="2258568" h="1">
                <a:moveTo>
                  <a:pt x="0" y="0"/>
                </a:moveTo>
                <a:lnTo>
                  <a:pt x="2258568" y="0"/>
                </a:lnTo>
              </a:path>
            </a:pathLst>
          </a:custGeom>
          <a:ln w="1778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01284" y="2546604"/>
            <a:ext cx="118871" cy="118871"/>
          </a:xfrm>
          <a:noFill/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0"/>
                </a:moveTo>
                <a:lnTo>
                  <a:pt x="82296" y="82296"/>
                </a:lnTo>
              </a:path>
            </a:pathLst>
          </a:custGeom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01284" y="2546604"/>
            <a:ext cx="118871" cy="118871"/>
          </a:xfrm>
          <a:noFill/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82296"/>
                </a:moveTo>
                <a:lnTo>
                  <a:pt x="82296" y="0"/>
                </a:lnTo>
              </a:path>
            </a:pathLst>
          </a:custGeom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04304" y="2546604"/>
            <a:ext cx="118871" cy="118871"/>
          </a:xfrm>
          <a:noFill/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0"/>
                </a:moveTo>
                <a:lnTo>
                  <a:pt x="82296" y="82296"/>
                </a:lnTo>
              </a:path>
            </a:pathLst>
          </a:custGeom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4304" y="2546604"/>
            <a:ext cx="118871" cy="118871"/>
          </a:xfrm>
          <a:noFill/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82296"/>
                </a:moveTo>
                <a:lnTo>
                  <a:pt x="82296" y="0"/>
                </a:lnTo>
              </a:path>
            </a:pathLst>
          </a:custGeom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8606" y="2331720"/>
            <a:ext cx="1234440" cy="23774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f(-1) = 1/2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4961" y="1764792"/>
            <a:ext cx="1188720" cy="23774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2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f(-1+d)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4757" y="2953512"/>
            <a:ext cx="822960" cy="256032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D(-1)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207008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(b) D(-1) = (0, 3/2)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2704" y="315468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2572" y="3154680"/>
            <a:ext cx="54864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3/2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15468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31596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图 (a)：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分段函数图象；</a:t>
            </a: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图 (b)：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以 d 为自变量，比较 f(−1+d) 与 f(−1)=1/2，高过参考线的 d 组成 D(−1)。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结论：</a:t>
            </a:r>
            <a:r>
              <a:rPr sz="135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D(−1) = (0, 3/2)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；集合元素是“步长 d”，不是 x。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核心引理：函数值大小 ↔ 集合包含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条件① 的逆否形式，两行证完，全题受用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引理：</a:t>
            </a:r>
            <a:r>
              <a:rPr sz="155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若 f(u) &lt; f(v)，则 D(v) ⊆ D(u)。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5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证明：任取 d ∈ D(v)，则 f(v+d) &gt; f(v) &gt; f(u)，故 f(u+d) &gt; f(u)，即 d ∈ D(u)。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64240" cy="32918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条件① 的用法：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 f(u) ≤ f(v) 直接得 D(v) ⊆ D(u)；由 f(u) &gt; f(v) 取反，得“使 f 变大的步长集合反而更大”。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取补形式：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 ∉ D(x) ⇔ f(x+d) ≤ f(x)。证明过程中“变不上去”往往比“变上去”更好用。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方向口诀：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函数值越大，可用的步长越少。</a:t>
            </a: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拿 f(x)=x 验证：D(x)=(0,+∞)，含于任何更小点的集合。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引理的应用：把四个分问串成一条线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每一问都只是在“函数值比较”和“集合包含”之间来回翻译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（1）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直接翻译定义 → 解一个指数/一次不等式，按 d 分类。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（2）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奇函数补解析式 → 各区间严格单调 → 引理 + 同号/异号讨论。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（3）(i)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假设 f(0)&lt;1 → 在 (−1,0) 取点 → 同一段区间上两个方向同时成立，矛盾。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（3）(ii)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反证先得 f(x)&lt;0 (x&gt;0) → 再以 k = x₁−x₂−1 为支点，把包含关系传递成 f(x₁)&lt;f(x₂)。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贯穿思想：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反证 + 构造点 + 集合包含的传递链</a:t>
            </a: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——始终围绕“找点、比函数值”。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四个工具：解题的全部武器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不背答案，背动作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371600" cy="84124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1261872"/>
            <a:ext cx="265176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6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定义的翻译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261872"/>
            <a:ext cx="690372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 ∈ D(x) ⇔ f(x+d) &gt; f(x)；取补得 d ∉ D(x) ⇔ f(x+d) ≤ f(x)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95728"/>
            <a:ext cx="1371600" cy="84124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工具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2359152"/>
            <a:ext cx="265176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6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反向包含引理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359152"/>
            <a:ext cx="690372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若 f(u) &lt; f(v)，则 D(v) ⊆ D(u) —— 全题主引理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93008"/>
            <a:ext cx="1371600" cy="84124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工具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3456432"/>
            <a:ext cx="265176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6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传递链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456432"/>
            <a:ext cx="690372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 D(u₁) ⊇ D(u₂) ⊇ …，一个属于关系可拉出一串函数值不等式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90288"/>
            <a:ext cx="1371600" cy="84124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工具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4553712"/>
            <a:ext cx="265176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6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含金量的硬事实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553712"/>
            <a:ext cx="690372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x&lt;0 时 0 &lt; 2ˣ &lt; 1 且严格递增 —— 所有矛盾最后靠它收口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详解（1）：求 D(−1)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入口题：翻译定义 + 按 d 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3931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1 步　翻译：</a:t>
            </a:r>
            <a:r>
              <a:rPr sz="145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 ∈ D(−1) ⇔ f(d−1) &gt; f(−1) = 2⁻¹ = 1/2。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2 步　分类（分界点 d = 1）：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①  d &lt; 1：</a:t>
            </a:r>
            <a:r>
              <a:rPr sz="145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2^(d−1) &gt; 2⁻¹ ⇔ d − 1 &gt; −1 ⇔ d &gt; 0，与 d &lt; 1 取交得 0 &lt; d &lt; 1。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②  d ≥ 1：</a:t>
            </a:r>
            <a:r>
              <a:rPr sz="145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1 − (d−1) = 2 − d &gt; 1/2 ⇔ d &lt; 3/2，与 d ≥ 1 取交得 1 ≤ d &lt; 3/2。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3 步　合并：两段在 d = 1 处连续且已被包含。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5029200"/>
            <a:ext cx="9052560" cy="82296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D(−1) = (0, 3/2)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详解（2）：证 D(x₂) ⊆ D(x₁)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先补解析式，再分类讨论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1148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1 步　补全：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x &gt; 0 时 f(x) = −f(−x) = −2^(−x) &lt; 0；f 在 (−∞,0)、(0,+∞) 上各自严格递增。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⚠ 不能说“f 在 R 上递增”：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奇函数有 f(0)=0，而 x→0⁺ 时 f→0⁻，0 点有突降。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2 步　用引理：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f(x₁) ≤ f(x₂) → 得 x₁ &lt; x₂（同号时）→ 两点同处一个严格单调区间。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3 步　分类：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因 x₁x₂ ≠ 0，只需讨论同号；异号时 x₂&lt;0&lt;x₁ 会给出 f(x₂)&gt;0&gt;f(x₁)，与题设矛盾。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结论：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无论 d 正负，“能否变高”在两个同侧点上保持一致，故 D(x₂) ⊆ D(x₁)。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详解（3）(i)：反证 f(0) ≥ 1（上）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只有条件①、②可用，结论是下界 → 反证法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3774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① 选点：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 2ˣ → 1⁻ (x→0⁻)，取 x₀ ∈ (−1,0) 使 2^(x₀) &gt; f(0)，即 −x₀ ∈ D(0)。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② 用条件②：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−x₀ ∈ (0,1) ⇒ f(−x₀) &lt; f(0)，故 −x₀ ∉ D(0)，记 d₁ = −x₀。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③ 反向推：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 f(x₀) &lt; f(0) 及引理得 D(0) ⊆ D(x₀)，故 d₁ ∉ D(x₀)。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83112" cy="214884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④ 再取一点：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y = x₀ + d₁，d₂ = −y，选 d₁ 使 y 与 x₀+d₂ 都落在 (−1,0) 内。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⑤ 三个关键命题：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d₂ ∈ D(x₀)：因 f(x₀+d₂) &lt; f(0) &lt; f(x₀)；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d₂ ∉ D(y)：因 y + d₂ = 0 且 f(0) &gt; f(y)；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D(x₀) ⊆ D(y)：因 y &lt; x₀ &lt; 0 ⇒ f(y) &lt; f(x₀)。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三者同时成立即矛盾 ⇒ 假设 f(0) &lt; 1 不成立。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详解（3）(i)：等号讨论与书写要点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为什么结论是“≥”而不是“&gt;”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2062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等号情形：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f(0) = 1 时由条件② 可推得 f ≡ 0 于 (0,+∞)，此时结论依然成立。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书写要点 1：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假设要写全“f(0) &lt; 1”，并立刻用它选出 x₀，而不是先猜结论。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书写要点 2：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三个命题逐条验证，尤其是 d₂ ∉ D(y) 要用“y+d₂ = 0”。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书写要点 3：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最后一句必须落到“与①矛盾，故 f(0) ≥ 1”。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得分提示：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本问写对“取点 + 反向包含 + 双向矛盾”即可拿到大部分过程分。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详解（3）(ii)：先证 f(x) &lt; 0 (x &gt;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把 (0,1) 上的结论当“火种”，再用它烧到 x ≥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1148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A. 证 0 &lt; x &lt; 1 时 f(x) &lt; 0：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假设 f(x₁) &gt; 0，取 x₂ ∈ (−x₁,0)。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x₂−x₁ &lt; x₂ &lt; 0 ⇒ f(x₂−x₁) &lt; f(x₂) ⇒ x₂−x₁ ∉ D(x₂)；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又 f(x₂) &lt; f(x₁) ⇒ D(x₁) ⊆ D(x₂)，且 f(0) ≥ 1 &gt; f(x₁) 给 −x₁ ∈ D(x₁) ⊆ D(x₂)，矛盾。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B. 证 x ≥ 1 时 f(x) &lt; 0：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取 x₂ = −x₁/2，x₃ = x₂ − (x₁−x₂)/2 = −5x₁/4，x₄ = x₃ + (x₁−x₂) = x₁/4。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x₃ &lt; x₂ &lt; 0 ⇒ D(x₂) ⊆ D(x₃)；f(x₂) = 2^(−x₁/2) &lt; 1 ≤ f(0) &lt; f(x₁) ⇒ D(x₁) ⊆ D(x₂)；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故 D(x₁) ⊆ D(x₃)。但 x₄ ∈ (0,1) ⇒ f(x₄) &lt; 0 &lt; f(x₃) ⇒ x₁−x₂ ∉ D(x₃)，而 x₁−x₂ ∈ D(x₂) ⊆ D(x₃)，矛盾。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详解（3）(ii)：反推单调递增（下）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取 k = x₁ − x₂ − 1，把两个步长都落到 D(k)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3657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① x₂ − x₁ ∈ D(k)：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k + (x₂−x₁) = −1 &lt; 0，且 k &gt; −1 ⇒ f(k) &gt; f(−1) = 1/2。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② x₁ − x₂ ∈ D(−1) 且 D(−1) ⊆ D(x₁−x₂)：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k = −1 + (x₁−x₂) 且 f(−1) &lt; f(k)；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又 f(x₁−x₂) &lt; 0 &lt; f(−1) 及引理给出包含。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③ D(x₁) ⊆ D(x₁−x₂)：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因 f(x₁−x₂) &lt; 0 &lt; f(x₁)。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60520"/>
            <a:ext cx="10332720" cy="77724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1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x₂ − x₁ ∈ D(k) ⊆ D(x₁) ⊆ D(x₁ − x₂)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 x₂−x₁ ∈ D(x₁−x₂) 得 f(0) &gt; f(x₁−x₂)；由 x₂−x₁ ∈ D(x₁) 得 f(x₂) &gt; f(x₁)。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 &lt; x₁ &lt; x₂ ⇒ f(x₁) &lt; f(x₂)，即 f 在 (0,+∞) 上单调递增。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方法总结与答案清单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一张表看完骨架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31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743200"/>
                <a:gridCol w="4937760"/>
                <a:gridCol w="2267712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小问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考查点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关键动作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（1）</a:t>
                      </a:r>
                    </a:p>
                  </a:txBody>
                  <a:tcPr anchor="ctr" marL="73152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分段函数、指数不等式</a:t>
                      </a:r>
                    </a:p>
                  </a:txBody>
                  <a:tcPr anchor="ctr" marL="73152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集合语言 → 不等式，按 d 分类</a:t>
                      </a:r>
                    </a:p>
                  </a:txBody>
                  <a:tcPr anchor="ctr" marL="73152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mbria Math"/>
                          <a:ea typeface="微软雅黑"/>
                          <a:cs typeface="Cambria Math"/>
                        </a:rPr>
                        <a:t>D(−1) = (0, 3/2)</a:t>
                      </a:r>
                    </a:p>
                  </a:txBody>
                  <a:tcPr anchor="ctr" marL="73152" marR="73152">
                    <a:solidFill>
                      <a:srgbClr val="EF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（2）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奇函数、单调性、包含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补解析式 + 逆否引理 + 分类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mbria Math"/>
                          <a:ea typeface="微软雅黑"/>
                          <a:cs typeface="Cambria Math"/>
                        </a:rPr>
                        <a:t>D(x₂) ⊆ D(x₁)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（3）(i)</a:t>
                      </a:r>
                    </a:p>
                  </a:txBody>
                  <a:tcPr anchor="ctr" marL="73152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反证法、构造步长</a:t>
                      </a:r>
                    </a:p>
                  </a:txBody>
                  <a:tcPr anchor="ctr" marL="73152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 f(0) &lt; 1，取点 + 双向矛盾</a:t>
                      </a:r>
                    </a:p>
                  </a:txBody>
                  <a:tcPr anchor="ctr" marL="73152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mbria Math"/>
                          <a:ea typeface="微软雅黑"/>
                          <a:cs typeface="Cambria Math"/>
                        </a:rPr>
                        <a:t>f(0) ≥ 1</a:t>
                      </a:r>
                    </a:p>
                  </a:txBody>
                  <a:tcPr anchor="ctr" marL="73152" marR="73152">
                    <a:solidFill>
                      <a:srgbClr val="EF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（3）(ii)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反证 + 传递链 + 局部化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先证 f &lt; 0，再用 D(k) 传递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mbria Math"/>
                          <a:ea typeface="微软雅黑"/>
                          <a:cs typeface="Cambria Math"/>
                        </a:rPr>
                        <a:t>(0,+∞) 上递增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251960"/>
            <a:ext cx="11183112" cy="182880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一条主线：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翻译定义 → 反向包含引理 → 传递链 → 用 2ˣ 收口。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为什么不用导数：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题目未给任何可导信息，单调性只能靠集合包含刻画。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等号讨论：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f(0)=1 时 f ≡ 0 于 (0,+∞)，结论仍成立，故取“≥”。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易错点与得分策略（一）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先保住下限分，再冲难点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486400" cy="47548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1. 把 D(x₀) 当成定义域或值域——它的元素是步长 d。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2. 第（2）问忘分符号，或以为 f 在 R 上递增。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3. 包含方向写反：结论是 D(x₂) ⊆ D(x₁)。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4. 第（3）问去求导——题目没有可导性。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5. 构造的点没校验落在所需区间内。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325880"/>
            <a:ext cx="5349240" cy="475488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得分策略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（1）问：送分，必拿。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（2）问：写出引理（f(u)&lt;f(v) ⇒ D(v)⊆D(u)）就拿大部头分。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（3）(i)：假设 + 取点 + 双向包含，过程分可观。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（3）(ii)：写出“先证 f(x)&lt;0 (x&gt;0)”即有分。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练习建议：把四个工具背成动作，而不是背答案。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易错点与得分策略（二）：时间分配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考场上如何安排这 20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0–5 分钟：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拿下（1），写出（2）的引理并完成同号情形的框架。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5–12 分钟：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完成（2）全部分类；若卡在异号讨论，先写“异号与题设矛盾”。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12–18 分钟：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（3）(i) 反证：选点、d₂、三个命题逐条写清。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18–20 分钟：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（3）(ii) 至少写出“先证 f(x)&lt;0”，能推一步是一步。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原则：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每一问都先写“翻译句”，阅卷按步给分；不会的部分也要留下关键式子。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变式自测（一）：改定义与改函数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先盖住答案独立写一遍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47548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1（改定义方向）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D(x₀) = { d | f(x₀+d) &lt; f(x₀) }，其余同原题，求 D(−1)。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2（改偶函数）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f 为偶函数（x&lt;0 时仍 f(x)=2ˣ），求 D(1)，并判断结论是否仍成立。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3（只给条件①）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证 f(x₁) ≤ f(x₂) ≤ f(x₃) ⇒ D(x₃) ⊆ D(x₁)；并证 D(x) ∪ D(y) = D(x)（当 f(x) ≤ f(y)）。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提示：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三题都只需把“函数值大小 ⇔ 集合包含”这句话重新翻译一遍。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变式自测（二）：弱化条件与联系导数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把条件换成更一般的版本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47548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4（弱化条件②）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存在 a &gt; 0，当 0 &lt; x &lt; a 时 f(x) &lt; f(0)，重做（3）(i)。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5（联系导数）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设 f 在 R 上可导且 f′(x) &gt; 0，研究 D(x₀) 的结构与下确界。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思考题：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若把 2ˣ 换成 3ˣ 或 (1/2)ˣ，全题哪些结论会变？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提示：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变式 4 把 (−1,0) 整体换成 (−a,0)、(0,1) 换成 (0,a)，推理逐字同构。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变式自测：参考答案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对照检查自己的推导链是否完整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1：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D(−1) = (−∞,0) ∪ (3/2,+∞)，把原题的不等号全部反向即可。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2：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f 在 (−∞,0) 递增、(0,+∞) 递减；D(1) = (−2,+∞)；条件 f(x₁)≤f(x₂) 即 |x₁|≥|x₂|，逐段验证包含仍成立。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3：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两次使用条件① 得 D(x₂) ⊆ D(x₁)、D(x₃) ⊆ D(x₂)，传递即得；交并关系由包含直接得到。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4：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取 x₀ ∈ (−a,0) 使 2^(x₀) &gt; f(0)，其余推理同构，得到与 2^(−a) 相容的下界形式。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变式 5：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f′(x)&gt;0 ⇒ D(x₀) = (0,+∞)；若放宽为 f′≥0，则向左能延伸多远取决于是否在更小处取到更大值。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来源与使用说明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题目以官方试卷为准；本课件为整理与教学设计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2062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题目原文：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良师宝题库《2026 高考数学（新高考全国Ⅰ卷）第 19 题》；好师来家教网同题。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解法与思路：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洛谷专栏《2026 全国 I 卷数学解析（考生回忆版）》《详细揭秘：26 年全国 I 卷数学 T19》。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命题研究：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《中学数学》2026 年 17 期、《数学教学通讯》2026 年 21 期相关论文。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校核情况：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第（1）问 (0,3/2)、第（2）问引理与第（3）问 (i) 已逐步验算；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　(3)(ii) 的构造细节各家解析略有出入，请以官方阅卷细则为准。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本课件：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第 22 页起为 14 页配套课件版面；全部文字可编辑，可直接投屏或转 PDF。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11887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3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配套课件 15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607040" cy="23774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6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内容：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题目原文 · 图示 · 四工具 · 分步详解 · 易错点 · 变式自测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6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用法：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可与前 20 页详解对照放映，也可单独作为板书提纲。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以下为课件第 1–15 页。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一、题目原文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2026 新课标全国Ⅰ卷第 19 题（全卷最后一题，共 19 题 150 分）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11185855" cy="1243584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已知函数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的定义域为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R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，且当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x &lt; 0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时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 = 2ˣ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对任意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x₀ ∈ R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，定义集合 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D(x₀) = { d ∈ R | f(x₀ + d) &gt; f(x₀)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78608"/>
            <a:ext cx="11094415" cy="38404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（1）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若当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x ≥ 0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时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 = 1 − x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，求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D(−1)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（2）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若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是奇函数，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f(x₁) ≤ f(x₂)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，且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x₁x₂ ≠ 0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，证明：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D(x₂) ⊆ D(x₁)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（3）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设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满足：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① 若 f(x₁) ≤ f(x₂)，则 D(x₂) ⊆ D(x₁)；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② 当 0 &lt; x &lt; 1 时， f(x) &lt; f(0)。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（i）证明：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f(0) ≥ 1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（ii）证明：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f(x)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在区间 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(0, +∞)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上单调递增。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读题提示：把集合语言先翻译成“函数值大小比较”，再动笔。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一、图象解读：D(x₀) 到底是什么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把 f(x₀+d) &gt; f(x₀) 看成“从 x₀ 出发走 d 能不能变高”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0432" y="2953512"/>
            <a:ext cx="1885492" cy="36576"/>
          </a:xfrm>
          <a:noFill/>
          <a:custGeom>
            <a:avLst/>
            <a:gdLst/>
            <a:ahLst/>
            <a:cxnLst/>
            <a:rect l="0" t="0" r="r" b="b"/>
            <a:pathLst>
              <a:path w="1848917" h="1">
                <a:moveTo>
                  <a:pt x="0" y="0"/>
                </a:moveTo>
                <a:lnTo>
                  <a:pt x="1848917" y="0"/>
                </a:lnTo>
              </a:path>
            </a:pathLst>
          </a:custGeom>
          <a:ln w="1524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30552" y="1768449"/>
            <a:ext cx="36576" cy="1338681"/>
          </a:xfrm>
          <a:noFill/>
          <a:custGeom>
            <a:avLst/>
            <a:gdLst/>
            <a:ahLst/>
            <a:cxnLst/>
            <a:rect l="0" t="0" r="r" b="b"/>
            <a:pathLst>
              <a:path w="1" h="1302106">
                <a:moveTo>
                  <a:pt x="0" y="1302106"/>
                </a:moveTo>
                <a:lnTo>
                  <a:pt x="0" y="0"/>
                </a:lnTo>
              </a:path>
            </a:pathLst>
          </a:custGeom>
          <a:ln w="1524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" y="2221992"/>
            <a:ext cx="996696" cy="550613"/>
          </a:xfrm>
          <a:noFill/>
          <a:custGeom>
            <a:avLst/>
            <a:gdLst/>
            <a:ahLst/>
            <a:cxnLst/>
            <a:rect l="0" t="0" r="r" b="b"/>
            <a:pathLst>
              <a:path w="960120" h="514038">
                <a:moveTo>
                  <a:pt x="0" y="514038"/>
                </a:moveTo>
                <a:lnTo>
                  <a:pt x="27432" y="506368"/>
                </a:lnTo>
                <a:lnTo>
                  <a:pt x="54864" y="498428"/>
                </a:lnTo>
                <a:lnTo>
                  <a:pt x="82296" y="490208"/>
                </a:lnTo>
                <a:lnTo>
                  <a:pt x="109728" y="481699"/>
                </a:lnTo>
                <a:lnTo>
                  <a:pt x="137160" y="472889"/>
                </a:lnTo>
                <a:lnTo>
                  <a:pt x="164592" y="463768"/>
                </a:lnTo>
                <a:lnTo>
                  <a:pt x="192024" y="454326"/>
                </a:lnTo>
                <a:lnTo>
                  <a:pt x="219456" y="444551"/>
                </a:lnTo>
                <a:lnTo>
                  <a:pt x="246888" y="434431"/>
                </a:lnTo>
                <a:lnTo>
                  <a:pt x="274320" y="423954"/>
                </a:lnTo>
                <a:lnTo>
                  <a:pt x="301752" y="413107"/>
                </a:lnTo>
                <a:lnTo>
                  <a:pt x="329184" y="401879"/>
                </a:lnTo>
                <a:lnTo>
                  <a:pt x="356616" y="390254"/>
                </a:lnTo>
                <a:lnTo>
                  <a:pt x="384048" y="378219"/>
                </a:lnTo>
                <a:lnTo>
                  <a:pt x="411480" y="365760"/>
                </a:lnTo>
                <a:lnTo>
                  <a:pt x="438912" y="352862"/>
                </a:lnTo>
                <a:lnTo>
                  <a:pt x="466344" y="339508"/>
                </a:lnTo>
                <a:lnTo>
                  <a:pt x="493776" y="325684"/>
                </a:lnTo>
                <a:lnTo>
                  <a:pt x="521208" y="311372"/>
                </a:lnTo>
                <a:lnTo>
                  <a:pt x="548640" y="296556"/>
                </a:lnTo>
                <a:lnTo>
                  <a:pt x="576072" y="281217"/>
                </a:lnTo>
                <a:lnTo>
                  <a:pt x="603504" y="265337"/>
                </a:lnTo>
                <a:lnTo>
                  <a:pt x="630936" y="248897"/>
                </a:lnTo>
                <a:lnTo>
                  <a:pt x="658368" y="231877"/>
                </a:lnTo>
                <a:lnTo>
                  <a:pt x="685800" y="214257"/>
                </a:lnTo>
                <a:lnTo>
                  <a:pt x="713232" y="196016"/>
                </a:lnTo>
                <a:lnTo>
                  <a:pt x="740664" y="177132"/>
                </a:lnTo>
                <a:lnTo>
                  <a:pt x="768096" y="157581"/>
                </a:lnTo>
                <a:lnTo>
                  <a:pt x="795528" y="137341"/>
                </a:lnTo>
                <a:lnTo>
                  <a:pt x="822960" y="116387"/>
                </a:lnTo>
                <a:lnTo>
                  <a:pt x="850392" y="94695"/>
                </a:lnTo>
                <a:lnTo>
                  <a:pt x="877824" y="72237"/>
                </a:lnTo>
                <a:lnTo>
                  <a:pt x="905256" y="48988"/>
                </a:lnTo>
                <a:lnTo>
                  <a:pt x="932688" y="24918"/>
                </a:lnTo>
                <a:lnTo>
                  <a:pt x="960120" y="0"/>
                </a:lnTo>
              </a:path>
            </a:pathLst>
          </a:custGeom>
          <a:ln w="254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30552" y="2221992"/>
            <a:ext cx="886968" cy="1170431"/>
          </a:xfrm>
          <a:noFill/>
          <a:custGeom>
            <a:avLst/>
            <a:gdLst/>
            <a:ahLst/>
            <a:cxnLst/>
            <a:rect l="0" t="0" r="r" b="b"/>
            <a:pathLst>
              <a:path w="850392" h="1133856">
                <a:moveTo>
                  <a:pt x="0" y="0"/>
                </a:moveTo>
                <a:lnTo>
                  <a:pt x="850392" y="1133856"/>
                </a:lnTo>
              </a:path>
            </a:pathLst>
          </a:custGeom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36192" y="2542032"/>
            <a:ext cx="128016" cy="128015"/>
          </a:xfrm>
          <a:noFill/>
          <a:custGeom>
            <a:avLst/>
            <a:gdLst/>
            <a:ahLst/>
            <a:cxnLst/>
            <a:rect l="0" t="0" r="r" b="b"/>
            <a:pathLst>
              <a:path w="91440" h="91440">
                <a:moveTo>
                  <a:pt x="0" y="0"/>
                </a:moveTo>
                <a:lnTo>
                  <a:pt x="91440" y="91440"/>
                </a:lnTo>
              </a:path>
            </a:pathLst>
          </a:custGeom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36192" y="2542032"/>
            <a:ext cx="128016" cy="128015"/>
          </a:xfrm>
          <a:noFill/>
          <a:custGeom>
            <a:avLst/>
            <a:gdLst/>
            <a:ahLst/>
            <a:cxnLst/>
            <a:rect l="0" t="0" r="r" b="b"/>
            <a:pathLst>
              <a:path w="91440" h="91440">
                <a:moveTo>
                  <a:pt x="0" y="91440"/>
                </a:moveTo>
                <a:lnTo>
                  <a:pt x="91440" y="0"/>
                </a:lnTo>
              </a:path>
            </a:pathLst>
          </a:custGeom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5064" y="2624328"/>
            <a:ext cx="1051560" cy="23774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(-1, 1/2)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207008"/>
            <a:ext cx="42976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(a) f(x) = 2^x (x &lt; 0),  f(x) = 1 - x (x &gt;=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4" y="3063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3063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139903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6884" y="1984248"/>
            <a:ext cx="2295144" cy="640079"/>
          </a:xfrm>
          <a:solidFill>
            <a:srgbClr val="EAF1F9"/>
          </a:solidFill>
          <a:custGeom>
            <a:avLst/>
            <a:gdLst/>
            <a:ahLst/>
            <a:cxnLst/>
            <a:rect l="0" t="0" r="r" b="b"/>
            <a:pathLst>
              <a:path w="2258568" h="603504">
                <a:moveTo>
                  <a:pt x="0" y="0"/>
                </a:moveTo>
                <a:lnTo>
                  <a:pt x="2258568" y="0"/>
                </a:lnTo>
                <a:lnTo>
                  <a:pt x="2258568" y="603504"/>
                </a:lnTo>
                <a:lnTo>
                  <a:pt x="0" y="603504"/>
                </a:lnTo>
                <a:close/>
              </a:path>
            </a:pathLst>
          </a:custGeom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86884" y="3044952"/>
            <a:ext cx="2164841" cy="36576"/>
          </a:xfrm>
          <a:noFill/>
          <a:custGeom>
            <a:avLst/>
            <a:gdLst/>
            <a:ahLst/>
            <a:cxnLst/>
            <a:rect l="0" t="0" r="r" b="b"/>
            <a:pathLst>
              <a:path w="2128266" h="1">
                <a:moveTo>
                  <a:pt x="0" y="0"/>
                </a:moveTo>
                <a:lnTo>
                  <a:pt x="2128266" y="0"/>
                </a:lnTo>
              </a:path>
            </a:pathLst>
          </a:custGeom>
          <a:ln w="1524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42432" y="2020824"/>
            <a:ext cx="36576" cy="1188720"/>
          </a:xfrm>
          <a:noFill/>
          <a:custGeom>
            <a:avLst/>
            <a:gdLst/>
            <a:ahLst/>
            <a:cxnLst/>
            <a:rect l="0" t="0" r="r" b="b"/>
            <a:pathLst>
              <a:path w="1" h="1152144">
                <a:moveTo>
                  <a:pt x="0" y="1152144"/>
                </a:moveTo>
                <a:lnTo>
                  <a:pt x="0" y="0"/>
                </a:lnTo>
              </a:path>
            </a:pathLst>
          </a:custGeom>
          <a:ln w="1524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86884" y="2259879"/>
            <a:ext cx="801014" cy="395065"/>
          </a:xfrm>
          <a:noFill/>
          <a:custGeom>
            <a:avLst/>
            <a:gdLst/>
            <a:ahLst/>
            <a:cxnLst/>
            <a:rect l="0" t="0" r="r" b="b"/>
            <a:pathLst>
              <a:path w="764438" h="358490">
                <a:moveTo>
                  <a:pt x="0" y="358490"/>
                </a:moveTo>
                <a:lnTo>
                  <a:pt x="34747" y="346497"/>
                </a:lnTo>
                <a:lnTo>
                  <a:pt x="69494" y="334167"/>
                </a:lnTo>
                <a:lnTo>
                  <a:pt x="104242" y="321490"/>
                </a:lnTo>
                <a:lnTo>
                  <a:pt x="138989" y="308457"/>
                </a:lnTo>
                <a:lnTo>
                  <a:pt x="173736" y="295057"/>
                </a:lnTo>
                <a:lnTo>
                  <a:pt x="208483" y="281281"/>
                </a:lnTo>
                <a:lnTo>
                  <a:pt x="243230" y="267118"/>
                </a:lnTo>
                <a:lnTo>
                  <a:pt x="277978" y="252556"/>
                </a:lnTo>
                <a:lnTo>
                  <a:pt x="312725" y="237585"/>
                </a:lnTo>
                <a:lnTo>
                  <a:pt x="347472" y="222193"/>
                </a:lnTo>
                <a:lnTo>
                  <a:pt x="382219" y="206368"/>
                </a:lnTo>
                <a:lnTo>
                  <a:pt x="416966" y="190099"/>
                </a:lnTo>
                <a:lnTo>
                  <a:pt x="451714" y="173372"/>
                </a:lnTo>
                <a:lnTo>
                  <a:pt x="486461" y="156175"/>
                </a:lnTo>
                <a:lnTo>
                  <a:pt x="521208" y="138494"/>
                </a:lnTo>
                <a:lnTo>
                  <a:pt x="555955" y="120316"/>
                </a:lnTo>
                <a:lnTo>
                  <a:pt x="590702" y="101627"/>
                </a:lnTo>
                <a:lnTo>
                  <a:pt x="625450" y="82413"/>
                </a:lnTo>
                <a:lnTo>
                  <a:pt x="660197" y="62658"/>
                </a:lnTo>
                <a:lnTo>
                  <a:pt x="694944" y="42349"/>
                </a:lnTo>
                <a:lnTo>
                  <a:pt x="729691" y="21468"/>
                </a:lnTo>
                <a:lnTo>
                  <a:pt x="764438" y="0"/>
                </a:lnTo>
              </a:path>
            </a:pathLst>
          </a:custGeom>
          <a:ln w="254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2432" y="2130552"/>
            <a:ext cx="662025" cy="694944"/>
          </a:xfrm>
          <a:noFill/>
          <a:custGeom>
            <a:avLst/>
            <a:gdLst/>
            <a:ahLst/>
            <a:cxnLst/>
            <a:rect l="0" t="0" r="r" b="b"/>
            <a:pathLst>
              <a:path w="625450" h="658368">
                <a:moveTo>
                  <a:pt x="0" y="0"/>
                </a:moveTo>
                <a:lnTo>
                  <a:pt x="34747" y="36576"/>
                </a:lnTo>
                <a:lnTo>
                  <a:pt x="69494" y="73152"/>
                </a:lnTo>
                <a:lnTo>
                  <a:pt x="104242" y="109728"/>
                </a:lnTo>
                <a:lnTo>
                  <a:pt x="138989" y="146304"/>
                </a:lnTo>
                <a:lnTo>
                  <a:pt x="173736" y="182880"/>
                </a:lnTo>
                <a:lnTo>
                  <a:pt x="208483" y="219456"/>
                </a:lnTo>
                <a:lnTo>
                  <a:pt x="243230" y="256032"/>
                </a:lnTo>
                <a:lnTo>
                  <a:pt x="277978" y="292608"/>
                </a:lnTo>
                <a:lnTo>
                  <a:pt x="312725" y="329184"/>
                </a:lnTo>
                <a:lnTo>
                  <a:pt x="347472" y="365760"/>
                </a:lnTo>
                <a:lnTo>
                  <a:pt x="382219" y="402336"/>
                </a:lnTo>
                <a:lnTo>
                  <a:pt x="416966" y="438912"/>
                </a:lnTo>
                <a:lnTo>
                  <a:pt x="451714" y="475488"/>
                </a:lnTo>
                <a:lnTo>
                  <a:pt x="486461" y="512064"/>
                </a:lnTo>
                <a:lnTo>
                  <a:pt x="521208" y="548640"/>
                </a:lnTo>
                <a:lnTo>
                  <a:pt x="555955" y="585216"/>
                </a:lnTo>
                <a:lnTo>
                  <a:pt x="590702" y="621792"/>
                </a:lnTo>
                <a:lnTo>
                  <a:pt x="625450" y="658368"/>
                </a:lnTo>
              </a:path>
            </a:pathLst>
          </a:custGeom>
          <a:ln w="254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86884" y="2587752"/>
            <a:ext cx="2295144" cy="36576"/>
          </a:xfrm>
          <a:noFill/>
          <a:custGeom>
            <a:avLst/>
            <a:gdLst/>
            <a:ahLst/>
            <a:cxnLst/>
            <a:rect l="0" t="0" r="r" b="b"/>
            <a:pathLst>
              <a:path w="2258568" h="1">
                <a:moveTo>
                  <a:pt x="0" y="0"/>
                </a:moveTo>
                <a:lnTo>
                  <a:pt x="2258568" y="0"/>
                </a:lnTo>
              </a:path>
            </a:pathLst>
          </a:custGeom>
          <a:ln w="1778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01284" y="2546604"/>
            <a:ext cx="118871" cy="118871"/>
          </a:xfrm>
          <a:noFill/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0"/>
                </a:moveTo>
                <a:lnTo>
                  <a:pt x="82296" y="82296"/>
                </a:lnTo>
              </a:path>
            </a:pathLst>
          </a:custGeom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01284" y="2546604"/>
            <a:ext cx="118871" cy="118871"/>
          </a:xfrm>
          <a:noFill/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82296"/>
                </a:moveTo>
                <a:lnTo>
                  <a:pt x="82296" y="0"/>
                </a:lnTo>
              </a:path>
            </a:pathLst>
          </a:custGeom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04304" y="2546604"/>
            <a:ext cx="118871" cy="118871"/>
          </a:xfrm>
          <a:noFill/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0"/>
                </a:moveTo>
                <a:lnTo>
                  <a:pt x="82296" y="82296"/>
                </a:lnTo>
              </a:path>
            </a:pathLst>
          </a:custGeom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4304" y="2546604"/>
            <a:ext cx="118871" cy="118871"/>
          </a:xfrm>
          <a:noFill/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82296"/>
                </a:moveTo>
                <a:lnTo>
                  <a:pt x="82296" y="0"/>
                </a:lnTo>
              </a:path>
            </a:pathLst>
          </a:custGeom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8606" y="2331720"/>
            <a:ext cx="1234440" cy="23774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f(-1) = 1/2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4961" y="1764792"/>
            <a:ext cx="1188720" cy="23774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2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f(-1+d)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4757" y="2953512"/>
            <a:ext cx="822960" cy="256032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D(-1)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207008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(b) D(-1) = (0, 3/2)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2704" y="315468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2572" y="3154680"/>
            <a:ext cx="54864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3/2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15468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224528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图 (a)：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分段函数图象。</a:t>
            </a: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图 (b)：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以 d 为自变量，比较 f(−1+d) 与 f(−1) = 1/2，高出参考线的 d 区间就是 D(−1)。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结论：</a:t>
            </a:r>
            <a:r>
              <a:rPr sz="14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D(−1) = (0, 3/2)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；集合元素是“步长 d”，不是 x。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二、总体思路：四个工具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难点不在计算，在于把集合关系翻译成函数性质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417320" cy="859536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61872"/>
            <a:ext cx="283464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7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定义的翻译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261872"/>
            <a:ext cx="681228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 ∈ D(x) ⇔ f(x+d) &gt; f(x)；取补得 d ∉ D(x) ⇔ f(x+d) ≤ f(x)（反证常用）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14015"/>
            <a:ext cx="1417320" cy="859536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工具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377439"/>
            <a:ext cx="283464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7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反向包含引理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377439"/>
            <a:ext cx="681228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若 f(u) &lt; f(v)，则 D(v) ⊆ D(u) —— 两行证明，全题主引理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29583"/>
            <a:ext cx="1417320" cy="859536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工具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493007"/>
            <a:ext cx="283464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7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传递链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493007"/>
            <a:ext cx="681228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 D(u₁) ⊇ D(u₂) ⊇ …，一个属于关系可“拉”出一串函数值不等式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45151"/>
            <a:ext cx="1417320" cy="859536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工具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608575"/>
            <a:ext cx="283464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7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含金量的硬事实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608575"/>
            <a:ext cx="6812280" cy="9601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x &lt; 0 时 0 &lt; 2ˣ &lt; 1 且严格递增 —— 所有矛盾最后都靠它收口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第（2）问就是工具 2 的直接应用；第（3）问把工具 2 + 3 反向用，就是全题主线。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三、核心引理：函数值大小 ↔ 集合包含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条件① 的逆否形式，两行证完，全题受用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5855" cy="105156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引理：</a:t>
            </a:r>
            <a:r>
              <a:rPr sz="1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若 f(u) &lt; f(v)，则 D(v) ⊆ D(u)。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证明：任取 d ∈ D(v)，则 f(v+d) &gt; f(v) &gt; f(u)，故 f(u+d) &gt; f(u)，即 d ∈ D(u)。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42032"/>
            <a:ext cx="11094415" cy="32918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为何管用？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第（2）问：把奇函数在各自区间上的严格单调性，换成集合包含，再分类讨论。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第（3）问：各步矛盾都是“同一步长 d，在两个起点给出相反结论”。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方向提醒：函数值越大，可用的步长越“少”——不要凭记忆，拿 f(x)=x 验一下：D(x)=(0,+∞)。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⇒ f(x₁) ≤ f(x₂) 与 D(x₂) ⊆ D(x₁) 是“同一事实的两种写法”，这就是题目的真正意图。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四、（1）具体函数：求 D(−1)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入口题，全题唯一不需要思想的一问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3931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1 步：翻译。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 ∈ D(−1) ⇔ f(d−1) &gt; f(−1) = 2⁻¹ = 1/2。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2 步：按 d−1 的符号分类（分界点 d = 1）。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① d &lt; 1：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f(d−1) = 2^(d−1) &gt; 2⁻¹ ⇔ d − 1 &gt; −1 ⇔ d &gt; 0，与 d &lt; 1 取交得 0 &lt; d &lt; 1。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② d ≥ 1：</a:t>
            </a:r>
            <a:r>
              <a:rPr sz="15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f(d−1) = 1 − (d−1) = 2 − d &gt; 1/2 ⇔ d &lt; 3/2，与 d ≥ 1 取交得 1 ≤ d &lt; 3/2。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两段合并（d = 1 处函数值连续且已含）：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4892040"/>
            <a:ext cx="9052560" cy="86868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6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D(−1) = (0, 3/2)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70448"/>
            <a:ext cx="11094415" cy="5486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小结：本问得分点在“分类不重不漏”；易错是把 D 当成值域。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五、（2）奇函数：证 D(x₂) ⊆ D(x₁)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先补解析式，再用逆否引理，最后分类讨论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657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1 步：补出解析式。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x &gt; 0 时 f(x) = −f(−x) = −2^(−x) &lt; 0；故 f 在 (−∞,0) 与 (0,+∞) 上均严格递增。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⚠ 不能说“f 在 R 上递增”：奇函数有 f(0) = 0，而 f(0⁺) → 0⁻，0 点处有突降。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第 2 步：分类（因 x₁x₂ ≠ 0，按同号 / 异号）。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同号：由 f(x₁) ≤ f(x₂) 及严格递增得 x₁ &lt; x₂；两个自变量同时平移相同步长 d，单调性保持不变，故 D(x₂) ⊆ D(x₁)。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异号：若 x₂ &lt; 0 &lt; x₁，则 f(x₂) &gt; 0 &gt; f(x₁)，与 f(x₁) ≤ f(x₂) 矛盾，排除。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因此异号情形不会发生，同号情形已证完。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138928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叙述口径：由 f(x₁) ≤ f(x₂) 得到 x₁ &lt; x₂（同号时），两点同处一个严格单调区间，所以“能不能变高”的步长集合被包含。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六、（3）（i）反证：f(0) ≥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下界命题 ⇒ 假设 f(0) &lt; 1 ⇒ 用 2ˣ 的值域 (0,1) 造矛盾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94415" cy="40233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① 选点：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 2ˣ → 1⁻ (x → 0⁻)，取 x₀ ∈ (−1,0) 使 2^(x₀) &gt; f(0)，即 −x₀ ∈ D(0)。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② 用条件②：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−x₀ ∈ (0,1) ⇒ f(−x₀) &lt; f(0)，故 −x₀ ∉ D(0)，取 d₁ = −x₀。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③ 反向推：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 f(x₀) = 2^(x₀) &lt; f(0) 及引理得 D(0) ⊆ D(x₀)，故 d₁ ∉ D(x₀)。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④ 再取一点：</a:t>
            </a: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y = x₀ + d₁，d₂ = −y，选 d₁ 使 y 与 x₀+d₂ 都在 (−1,0) 内。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⑤ 三个关键命题：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d₂ ∈ D(x₀)：因 f(x₀+d₂) &lt; f(0) &lt; f(x₀)；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d₂ ∉ D(y)：因 y + d₂ = 0 且 f(0) &gt; f(y)；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D(x₀) ⊆ D(y)：因 y &lt; x₀ &lt; 0 ⇒ f(y) &lt; f(x₀)。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三者同时成立即矛盾 ⇒ 假设不成立。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5504688"/>
            <a:ext cx="9966960" cy="77724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400" b="0" i="0">
                <a:solidFill>
                  <a:srgbClr val="333333"/>
                </a:solidFill>
                <a:latin typeface="Cambria Math"/>
                <a:ea typeface="微软雅黑"/>
                <a:cs typeface="Cambria Math"/>
              </a:rPr>
              <a:t>f(0) ≥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七、（3）（ii）上：先证 f(x) &lt; 0 (x &gt;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第一步先把“局部区间 (0,1)”卡死，再用它处理 x ≥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22860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29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A. 证 0 &lt; x &lt; 1 时 f(x) &lt; 0（反证）：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9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假设 ∃ x₁ ∈ (0,1)，f(x₁) &gt; 0。取 x₂ ∈ (−x₁,0)，则 x₂ − x₁ &lt; x₂ &lt; 0，由 2ˣ 递增得 f(x₂−x₁) &lt; f(x₂)，即 x₂−x₁ ∉ D(x₂)。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9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又 f(x₂) &lt; f(x₁) ⇒ D(x₁) ⊆ D(x₂)；而 f(0) ≥ 1 &gt; f(x₁) 给 −x₁ ∈ D(x₁) ⊆ D(x₂)，两者同时成立即矛盾。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639312"/>
            <a:ext cx="11185855" cy="237744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7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B. 再证 x ≥ 1 时 f(x) &lt; 0（反证 + 局部化构造）：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7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假设 ∃ x₁ ≥ 1，f(x₁) &gt; 0。取 x₂ = −x₁/2，x₃ = x₂ − (x₁−x₂)/2 = −5x₁/4，x₄ = x₃ + (x₁−x₂) = x₁/4。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7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于是 x₃ &lt; x₂ &lt; 0 ⇒ f(x₃) &lt; f(x₂) ⇒ D(x₂) ⊆ D(x₃)；又 f(x₂) = 2^(−x₁/2) &lt; 1 ≤ f(0) &lt; f(x₁) ⇒ D(x₁) ⊆ D(x₂)；故 D(x₁) ⊆ D(x₃)。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7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而 x₄ = x₃ + (x₁−x₂) ∈ (0,1) 与 A 结果给 f(x₄) &lt; 0 &lt; f(x₃)，故 x₁−x₂ ∉ D(x₃)。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7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但 x₂ + (x₁−x₂) = x₁ 且 f(x₁) &gt; 0 &gt; f(x₂) 给 x₁−x₂ ∈ D(x₂) ⊆ D(x₃)，矛盾。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7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⇒ 对一切 x &gt; 0 有 f(x) &lt; 0。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八、（3）（ii）下：反推单调递增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取 0 &lt; x₁ &lt; x₂，令 k = x₁ − x₂ − 1 &lt; 0，把两个步长都落到 D(k)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94415" cy="35661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① x₂ − x₁ ∈ D(k)：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k + (x₂−x₁) = −1 &lt; 0，且 k &gt; −1，故 f(k) &gt; f(−1) = 1/2，即 f(k+(x₂−x₁)) &gt; f(k)。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② x₁ − x₂ ∈ D(−1) 且 D(−1) ⊆ D(x₁−x₂)：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因 k = −1 + (x₁−x₂) 且 f(−1) &lt; f(k)；又 f(x₁−x₂) &lt; 0 &lt; f(−1) 及引理得到包含。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30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③ 得 D(x₁) ⊆ D(x₁−x₂)：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因 f(x₁−x₂) &lt; 0 &lt; f(x₁)。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于是关键属于关系全落到同一集合：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950208"/>
            <a:ext cx="10149840" cy="749808"/>
          </a:xfrm>
          <a:prstGeom prst="roundRect">
            <a:avLst>
              <a:gd name="adj" fmla="val 10000"/>
            </a:avLst>
          </a:prstGeom>
          <a:solidFill>
            <a:srgbClr val="EFF4FA"/>
          </a:solidFill>
          <a:ln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 i="0">
                <a:solidFill>
                  <a:srgbClr val="1F4E79"/>
                </a:solidFill>
                <a:latin typeface="Cambria Math"/>
                <a:ea typeface="微软雅黑"/>
                <a:cs typeface="Cambria Math"/>
              </a:rPr>
              <a:t>x₂ − x₁ ∈ D(k) ⊆ D(x₁) ⊆ D(x₁ − x₂)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64608"/>
            <a:ext cx="11094415" cy="14630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 x₂−x₁ ∈ D(x₁−x₂) 得 f(0) &gt; f(x₁−x₂)；由 x₂−x₁ ∈ D(x₁) 得 f(x₂) &gt; f(x₁)。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 &lt; x₁ &lt; x₂ ⇒ f(x₁) &lt; f(x₂)，即 f 在 (0, +∞) 上单调递增。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九、方法总结与答案清单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一张表看完全题骨架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201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834640"/>
                <a:gridCol w="4846320"/>
                <a:gridCol w="2286000"/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小问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考点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关键动作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（1）</a:t>
                      </a:r>
                    </a:p>
                  </a:txBody>
                  <a:tcPr marL="73152" marR="73152" marT="36576" marB="36576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分段函数、指数不等式</a:t>
                      </a:r>
                    </a:p>
                  </a:txBody>
                  <a:tcPr marL="73152" marR="73152" marT="36576" marB="36576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集合语言→不等式，按 d 分类</a:t>
                      </a:r>
                    </a:p>
                  </a:txBody>
                  <a:tcPr marL="73152" marR="73152" marT="36576" marB="36576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C00000"/>
                          </a:solidFill>
                          <a:latin typeface="Cambria Math"/>
                          <a:ea typeface="微软雅黑"/>
                          <a:cs typeface="Cambria Math"/>
                        </a:rPr>
                        <a:t>D(−1) = (0, 3/2)</a:t>
                      </a:r>
                    </a:p>
                  </a:txBody>
                  <a:tcPr marL="73152" marR="73152" marT="36576" marB="36576" anchor="ctr">
                    <a:solidFill>
                      <a:srgbClr val="EF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（2）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奇函数、单调性、包含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补解析式 + 逆否引理 + 分类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C00000"/>
                          </a:solidFill>
                          <a:latin typeface="Cambria Math"/>
                          <a:ea typeface="微软雅黑"/>
                          <a:cs typeface="Cambria Math"/>
                        </a:rPr>
                        <a:t>D(x₂) ⊆ D(x₁)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（3）（i）</a:t>
                      </a:r>
                    </a:p>
                  </a:txBody>
                  <a:tcPr marL="73152" marR="73152" marT="36576" marB="36576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反证法、构造步长</a:t>
                      </a:r>
                    </a:p>
                  </a:txBody>
                  <a:tcPr marL="73152" marR="73152" marT="36576" marB="36576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 f(0) &lt; 1，取点+双向矛盾</a:t>
                      </a:r>
                    </a:p>
                  </a:txBody>
                  <a:tcPr marL="73152" marR="73152" marT="36576" marB="36576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C00000"/>
                          </a:solidFill>
                          <a:latin typeface="Cambria Math"/>
                          <a:ea typeface="微软雅黑"/>
                          <a:cs typeface="Cambria Math"/>
                        </a:rPr>
                        <a:t>f(0) ≥ 1</a:t>
                      </a:r>
                    </a:p>
                  </a:txBody>
                  <a:tcPr marL="73152" marR="73152" marT="36576" marB="36576" anchor="ctr">
                    <a:solidFill>
                      <a:srgbClr val="EF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（3）（ii）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反证 + 传递链 + 局部化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先证 f &lt; 0，再用 D(k) 传递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C00000"/>
                          </a:solidFill>
                          <a:latin typeface="Cambria Math"/>
                          <a:ea typeface="微软雅黑"/>
                          <a:cs typeface="Cambria Math"/>
                        </a:rPr>
                        <a:t>(0,+∞) 上递增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224528"/>
            <a:ext cx="11185855" cy="1874519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四个工具串成一条线：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翻译定义 → 反向包含引理 → 传递链 → 用 2ˣ 的硬事实收口。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为什么用不到导数？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题目没有给任何可导信息，“单调性”只能用集合包含来刻画。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等号讨论：</a:t>
            </a: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f(0) = 1 时可推出 f ≡ 0 于 (0,+∞)，此时结论仍成立，所以结论取“≥”而非“&gt;”。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十、易错点与得分策略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先保住下限分，再冲难点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577840" cy="4937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2E5A88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1. 把 D(x₀) 当成定义域或值域——它的元素是步长 d。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2. 第（2）问忘分符号，或误以为 f 在 R 上递增。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3. 把包含方向写反：结论是 D(x₂) ⊆ D(x₁)。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4. 第（3）问去求导——题目没有可导性。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5. 构造的点没校验落在所需区间内。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303520" cy="489204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9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得分策略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9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（1）问：送分题，必拿。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9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（2）问：写出引理（f(u) &lt; f(v) ⇒ D(v) ⊆ D(u)）就拿大部分分。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9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（3）（i）：“假设 f(0) &lt; 1 + 取点 + 双向包含”即可获过程分。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9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（3）（ii）：写出“先证 f(x) &lt; 0（x &gt; 0）”这一块，即使未证完也有分。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9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练习建议：把四个工具背成“动作”，而不是背答案。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十一、变式自测（用同一主线）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先盖住参考答案独立写一遍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变式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271016"/>
            <a:ext cx="9692640" cy="7772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把 D 的定义不等号反向：D(x₀) = { d | f(x₀+d) &lt; f(x₀) }，其余同原题，求 D(−1)。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21408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变式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93976"/>
            <a:ext cx="9692640" cy="7772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把 f 改为偶函数（x &lt; 0 时仍 f(x) = 2ˣ），求 D(1)，并判断结论是否仍成立。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44368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变式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916936"/>
            <a:ext cx="9692640" cy="7772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只给条件①，证 f(x₁) ≤ f(x₂) ≤ f(x₃) ⇒ D(x₃) ⊆ D(x₁)，并证 D(x) ∪ D(y) = D(x)。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67328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变式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39896"/>
            <a:ext cx="9692640" cy="7772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把条件② 弱化为：存在 a &gt; 0，当 0 &lt; x &lt; a 时 f(x) &lt; f(0)，重做（3）（i）。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0288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变式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562856"/>
            <a:ext cx="9692640" cy="7772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设 f 在 R 上可导且 f′(x) &gt; 0，研究 D(x₀) 的结构与下确界。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32120"/>
            <a:ext cx="11185855" cy="77724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1397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参考答案：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1. D(−1) = (−∞,0) ∪ (3/2,+∞)    2. D(1) = (−2,+∞)，结论仍成立    3. 传递即得；交并集关系直接由包含得到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0350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sz="2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十二、来源与使用说明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85855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题目以官方试卷为准；本件为整理与教学设计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0233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题目原文：良师宝题库《2026 高考数学（新高考全国Ⅰ卷）第 19 题》；好师来家教网同题。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解法与思路：洛谷专栏《2026 全国 I 卷数学解析（考生回忆版）》《详细揭秘：26 年全国 I 卷数学 T19》。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命题研究：《中学数学》2026 年 17 期、《数学教学通讯》2026 年 21 期相关论文。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结论校验：第（1）问 (0,3/2)、第（2）问引理与第（3）问（i）已逐步验算；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第（3）问（ii）的构造细节在各家解析中略有出入，请以官方阅卷细则为准。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使用建议：公式均为可编辑文本；可直接投屏讲解，也可转为 PDF 打印。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