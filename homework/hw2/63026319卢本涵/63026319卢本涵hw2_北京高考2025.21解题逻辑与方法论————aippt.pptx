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01000" y="2926080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01000" y="3785616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01000" y="4645152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30768" y="3355848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30768" y="4215384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60536" y="2926080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60536" y="3785616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860536" y="4645152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290304" y="3355848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290304" y="4215384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720072" y="2926080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720072" y="3785616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20072" y="4645152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149840" y="3355848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149840" y="4215384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579608" y="2926080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579608" y="3785616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579608" y="4645152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09376" y="3355848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009376" y="4215384"/>
            <a:ext cx="429768" cy="429768"/>
          </a:xfrm>
          <a:prstGeom prst="rect">
            <a:avLst/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1463040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8B2E"/>
                </a:solidFill>
                <a:latin typeface="Microsoft YaHei"/>
              </a:rPr>
              <a:t>2025 北京高考数学 · 第 21 题 · 新定义压轴题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1874519"/>
            <a:ext cx="69494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骑士巡游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FD0E4"/>
                </a:solidFill>
                <a:latin typeface="Microsoft YaHei"/>
              </a:rPr>
              <a:t>从一道压轴题到一套可复用的解题流程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840480"/>
            <a:ext cx="118872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11480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4CD"/>
                </a:solidFill>
                <a:latin typeface="Microsoft YaHei"/>
              </a:rPr>
              <a:t>解题逻辑  ·  完整过程  ·  方法论内化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0644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68BA6"/>
                </a:solidFill>
                <a:latin typeface="Microsoft YaHei"/>
              </a:rPr>
              <a:t>全部数字结论均经程序独立验算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题目原文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一道用「新定义」包装的组合结构题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0454335" cy="590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A222E"/>
                </a:solidFill>
                <a:latin typeface="Microsoft YaHei"/>
              </a:rPr>
              <a:t>设 A = {1,2,3,4,5,6,7,8}，M = {(x, y) | x ∈ A, y ∈ A}。从 M 中选出 n 个有序数对构成一列：(x₁,y₁), (x₂,y₂), …, (xₙ,yₙ)，相邻两项满足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222E"/>
                </a:solidFill>
                <a:latin typeface="Microsoft YaHei"/>
              </a:rPr>
              <a:t>|xᵢ₊₁ − xᵢ| = 3 且 |yᵢ₊₁ − yᵢ| = 4，或 |xᵢ₊₁ − xᵢ| = 4 且 |yᵢ₊₁ − yᵢ| = 3，则称这样的一列为 k 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55712"/>
            <a:ext cx="11002975" cy="329184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455712"/>
            <a:ext cx="1063721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三问递进：先熟悉定义 → 再找规律 → 最后完成一般性证明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76336"/>
            <a:ext cx="1100297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2976920"/>
            <a:ext cx="45720" cy="3291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876336"/>
            <a:ext cx="62179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C86"/>
                </a:solidFill>
                <a:latin typeface="Microsoft YaHei"/>
              </a:rPr>
              <a:t>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2876336"/>
            <a:ext cx="86255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若 k 列的第一项为 (3, 3)，求第二项。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5735" y="2876336"/>
            <a:ext cx="1234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Microsoft YaHei"/>
              </a:rPr>
              <a:t>定义应用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25560"/>
            <a:ext cx="1100297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626144"/>
            <a:ext cx="45720" cy="329184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525560"/>
            <a:ext cx="62179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8B2E"/>
                </a:solidFill>
                <a:latin typeface="Microsoft YaHei"/>
              </a:rPr>
              <a:t>(2)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8" y="3525560"/>
            <a:ext cx="86255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若 τ 为 k 列，且 i 为奇数时 xᵢ ∈ {1,2,7,8}，i 为偶数时 xᵢ ∈ {3,4,5,6}；判断 (3,2) 与 (4,4) 能否同时在 τ 中，并说明理由。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5735" y="3525560"/>
            <a:ext cx="1234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8B2E"/>
                </a:solidFill>
                <a:latin typeface="Microsoft YaHei"/>
              </a:rPr>
              <a:t>规律与不变量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174784"/>
            <a:ext cx="1100297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4275368"/>
            <a:ext cx="45720" cy="329184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174784"/>
            <a:ext cx="62179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3A2E"/>
                </a:solidFill>
                <a:latin typeface="Microsoft YaHei"/>
              </a:rPr>
              <a:t>(3)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8" y="4174784"/>
            <a:ext cx="86255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证明：M 中全体元素不能构成 k 列。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5735" y="4174784"/>
            <a:ext cx="1234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3A2E"/>
                </a:solidFill>
                <a:latin typeface="Microsoft YaHei"/>
              </a:rPr>
              <a:t>计数与极端原理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为什么第一眼会懵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60704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67A"/>
                </a:solidFill>
                <a:latin typeface="Microsoft YaHei"/>
              </a:rPr>
              <a:t>读不懂不是因为不会算，而是三种认知负荷同时压上来。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39696"/>
            <a:ext cx="11002975" cy="8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139696"/>
            <a:ext cx="1828800" cy="834440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139696"/>
            <a:ext cx="1554480" cy="8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C86"/>
                </a:solidFill>
                <a:latin typeface="Microsoft YaHei"/>
              </a:rPr>
              <a:t>信息过载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2304288"/>
            <a:ext cx="8488375" cy="5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6667A"/>
                </a:solidFill>
                <a:latin typeface="Microsoft YaHei"/>
              </a:rPr>
              <a:t>症状：一句话里同时有 4 个下标、2 个绝对值、1 个「或」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对策：拆开抄写，每个符号单独写成一行中文，把条件从句子里解放出来。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38728"/>
            <a:ext cx="11002975" cy="8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138728"/>
            <a:ext cx="1828800" cy="834440"/>
          </a:xfrm>
          <a:prstGeom prst="rect">
            <a:avLst/>
          </a:prstGeom>
          <a:solidFill>
            <a:srgbClr val="F7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3138728"/>
            <a:ext cx="1554480" cy="8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8B2E"/>
                </a:solidFill>
                <a:latin typeface="Microsoft YaHei"/>
              </a:rPr>
              <a:t>表达抽象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3303320"/>
            <a:ext cx="8488375" cy="5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6667A"/>
                </a:solidFill>
                <a:latin typeface="Microsoft YaHei"/>
              </a:rPr>
              <a:t>症状：|xᵢ₊₁ − xᵢ| = 3 看不出在说什么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对策：换表示，数对看成平面上的点，相邻条件看成两个格子之间的一条边。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37761"/>
            <a:ext cx="11002975" cy="8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4137761"/>
            <a:ext cx="1828800" cy="834440"/>
          </a:xfrm>
          <a:prstGeom prst="rect">
            <a:avLst/>
          </a:prstGeom>
          <a:solidFill>
            <a:srgbClr val="FA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4137761"/>
            <a:ext cx="1554480" cy="8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3A2E"/>
                </a:solidFill>
                <a:latin typeface="Microsoft YaHei"/>
              </a:rPr>
              <a:t>对象陌生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79" y="4302353"/>
            <a:ext cx="8488375" cy="5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6667A"/>
                </a:solidFill>
                <a:latin typeface="Microsoft YaHei"/>
              </a:rPr>
              <a:t>症状：定义是新造的，没有现成公式可以套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对策：先做小规模试探，固定一个具体例子代入，把陌生对象变成熟悉对象。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第 1 步 · 翻译定义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新定义题的第一步永远是「翻译」，不是「计算」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2572435" cy="731520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847088"/>
            <a:ext cx="242613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1. 抄写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5083" y="2125979"/>
            <a:ext cx="192024" cy="173736"/>
          </a:xfrm>
          <a:prstGeom prst="rightArrow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04539" y="1847088"/>
            <a:ext cx="2572435" cy="731520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7691" y="1847088"/>
            <a:ext cx="242613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2. 换表示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95263" y="2125979"/>
            <a:ext cx="192024" cy="173736"/>
          </a:xfrm>
          <a:prstGeom prst="rightArrow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4719" y="1847088"/>
            <a:ext cx="2572435" cy="731520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7871" y="1847088"/>
            <a:ext cx="242613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3. 算增量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05443" y="2125979"/>
            <a:ext cx="192024" cy="173736"/>
          </a:xfrm>
          <a:prstGeom prst="rightArrow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24899" y="1847088"/>
            <a:ext cx="2572435" cy="731520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051" y="1847088"/>
            <a:ext cx="242613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4. 找不变量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2743200"/>
            <a:ext cx="2476423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02545"/>
                </a:solidFill>
                <a:latin typeface="Microsoft YaHei"/>
              </a:rPr>
              <a:t>抄写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667A"/>
                </a:solidFill>
                <a:latin typeface="Microsoft YaHei"/>
              </a:rPr>
              <a:t>把每个下标、每个条件单独写成一行中文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1679" y="2743200"/>
            <a:ext cx="2476423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02545"/>
                </a:solidFill>
                <a:latin typeface="Microsoft YaHei"/>
              </a:rPr>
              <a:t>换表示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667A"/>
                </a:solidFill>
                <a:latin typeface="Microsoft YaHei"/>
              </a:rPr>
              <a:t>数对 → 平面上的点；相邻 → 两个格子之间的边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2423" y="2743200"/>
            <a:ext cx="2476423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02545"/>
                </a:solidFill>
                <a:latin typeface="Microsoft YaHei"/>
              </a:rPr>
              <a:t>算增量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667A"/>
                </a:solidFill>
                <a:latin typeface="Microsoft YaHei"/>
              </a:rPr>
              <a:t>相邻对象之间，哪个量一定怎么变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3167" y="2743200"/>
            <a:ext cx="2476423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02545"/>
                </a:solidFill>
                <a:latin typeface="Microsoft YaHei"/>
              </a:rPr>
              <a:t>找不变量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667A"/>
                </a:solidFill>
                <a:latin typeface="Microsoft YaHei"/>
              </a:rPr>
              <a:t>题目的钥匙往往就藏在这个增量里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840479"/>
            <a:ext cx="11002975" cy="852906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" y="4005072"/>
            <a:ext cx="104909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C98B2E"/>
                </a:solidFill>
                <a:latin typeface="Microsoft YaHei"/>
              </a:rPr>
              <a:t>本题的翻译结果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5E0EE"/>
                </a:solidFill>
                <a:latin typeface="Microsoft YaHei"/>
              </a:rPr>
              <a:t>(xᵢ, yᵢ) 就是一个棋盘格点；M 就是 8 × 8 的格点棋盘（64 个点）；相邻条件就是国际象棋的「马步」变体。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第 1 步 · 关键增量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钥匙：每走一步，x + y 改变一个奇数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60704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67A"/>
                </a:solidFill>
                <a:latin typeface="Microsoft YaHei"/>
              </a:rPr>
              <a:t>把每一步的坐标和变化算清楚，整道题的结构就显形了。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39696"/>
            <a:ext cx="63093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139696"/>
            <a:ext cx="6309360" cy="36576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139696"/>
            <a:ext cx="59070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两种情形的增量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15183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6667A"/>
                </a:solidFill>
                <a:latin typeface="Microsoft YaHei"/>
              </a:rPr>
              <a:t>情形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615183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6667A"/>
                </a:solidFill>
                <a:latin typeface="Microsoft YaHei"/>
              </a:rPr>
              <a:t>Δx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615183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6667A"/>
                </a:solidFill>
                <a:latin typeface="Microsoft YaHei"/>
              </a:rPr>
              <a:t>Δy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15183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6667A"/>
                </a:solidFill>
                <a:latin typeface="Microsoft YaHei"/>
              </a:rPr>
              <a:t>Δ(x + 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" y="2907792"/>
            <a:ext cx="6089904" cy="36576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2907792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横差 3、纵差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907792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±3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907792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±4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907792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3A2E"/>
                </a:solidFill>
                <a:latin typeface="Microsoft YaHei"/>
              </a:rPr>
              <a:t>+7 / +1 / −1 / −7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" y="3328416"/>
            <a:ext cx="6089904" cy="365760"/>
          </a:xfrm>
          <a:prstGeom prst="rect">
            <a:avLst/>
          </a:prstGeom>
          <a:solidFill>
            <a:srgbClr val="FD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3328416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横差 4、纵差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328416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±4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328416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±3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328416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3A2E"/>
                </a:solidFill>
                <a:latin typeface="Microsoft YaHei"/>
              </a:rPr>
              <a:t>+7 / +1 / −1 / −7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803904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02545"/>
                </a:solidFill>
                <a:latin typeface="Microsoft YaHei"/>
              </a:rPr>
              <a:t>四种结果全部是奇数 —— 这就是全题的钥匙。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59752" y="2139696"/>
            <a:ext cx="4437583" cy="2103120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79208" y="2286000"/>
            <a:ext cx="4053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C98B2E"/>
                </a:solidFill>
                <a:latin typeface="Microsoft YaHei"/>
              </a:rPr>
              <a:t>两个立刻可用的推论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D5E0EE"/>
                </a:solidFill>
                <a:latin typeface="Microsoft YaHei"/>
              </a:rPr>
              <a:t>① 相邻两项的 x + y 奇偶性必定相反 —— 棋盘被黑白染色。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D5E0EE"/>
                </a:solidFill>
                <a:latin typeface="Microsoft YaHei"/>
              </a:rPr>
              <a:t>② 沿 k 列走下去，x + y 的奇偶性严格交替 —— 序号与奇偶绑定。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B4CD"/>
                </a:solidFill>
                <a:latin typeface="Microsoft YaHei"/>
              </a:rPr>
              <a:t>图论语言：64 个顶点构成的图是二部图，二部划分就是 x + y 的奇偶。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443984"/>
            <a:ext cx="110029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8B2E"/>
                </a:solidFill>
                <a:latin typeface="Microsoft YaHei"/>
              </a:rPr>
              <a:t>程序独立验算（analyze.py）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700016"/>
            <a:ext cx="262729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745736"/>
            <a:ext cx="262729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545"/>
                </a:solidFill>
                <a:latin typeface="Microsoft YaHei"/>
              </a:rPr>
              <a:t>64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个顶点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6251" y="4700016"/>
            <a:ext cx="262729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86251" y="4745736"/>
            <a:ext cx="262729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545"/>
                </a:solidFill>
                <a:latin typeface="Microsoft YaHei"/>
              </a:rPr>
              <a:t>80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条边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8143" y="4700016"/>
            <a:ext cx="262729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8143" y="4745736"/>
            <a:ext cx="262729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545"/>
                </a:solidFill>
                <a:latin typeface="Microsoft YaHei"/>
              </a:rPr>
              <a:t>32 / 32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两类各半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70035" y="4700016"/>
            <a:ext cx="262729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70035" y="4745736"/>
            <a:ext cx="262729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545"/>
                </a:solidFill>
                <a:latin typeface="Microsoft YaHei"/>
              </a:rPr>
              <a:t>0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条同奇偶的边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第 1 步 · 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把 64 个数对画成一张棋盘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60704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67A"/>
                </a:solidFill>
                <a:latin typeface="Microsoft YaHei"/>
              </a:rPr>
              <a:t>M = A × A 就是 8 × 8 的格点棋盘；马步把横坐标相差 3 或 4 的格子连起来。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2130552"/>
            <a:ext cx="3712463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2194560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69848" y="2194560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17904" y="2194560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65960" y="2194560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14016" y="2194560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62072" y="2194560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10128" y="2194560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58183" y="2194560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2642616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69848" y="2642616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517904" y="2642616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965960" y="2642616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14016" y="2642616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862072" y="2642616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10128" y="2642616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758183" y="2642616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" y="3090672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69848" y="3090672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517904" y="3090672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965960" y="3090672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414016" y="3090672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862072" y="3090672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10128" y="3090672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758183" y="3090672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" y="3538728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69848" y="3538728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517904" y="3538728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965960" y="3538728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414016" y="3538728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862072" y="3538728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310128" y="3538728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758183" y="3538728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1792" y="3986784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69848" y="3986784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517904" y="3986784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965960" y="3986784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414016" y="3986784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862072" y="3986784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310128" y="3986784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758183" y="3986784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1792" y="4434840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69848" y="4434840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517904" y="4434840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965960" y="4434840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414016" y="4434840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862072" y="4434840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310128" y="4434840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758183" y="4434840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21792" y="4882896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69848" y="4882896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517904" y="4882896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965960" y="4882896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414016" y="4882896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862072" y="4882896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310128" y="4882896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758183" y="4882896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1792" y="5330952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69848" y="5330952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517904" y="5330952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965960" y="5330952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414016" y="5330952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2862072" y="5330952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310128" y="5330952"/>
            <a:ext cx="448056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758183" y="5330952"/>
            <a:ext cx="448056" cy="448056"/>
          </a:xfrm>
          <a:prstGeom prst="rect">
            <a:avLst/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1984248" y="3557016"/>
            <a:ext cx="411480" cy="41148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3776471" y="4901184"/>
            <a:ext cx="411480" cy="411480"/>
          </a:xfrm>
          <a:prstGeom prst="roundRect">
            <a:avLst>
              <a:gd name="adj" fmla="val 6000"/>
            </a:avLst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1792" y="5888736"/>
            <a:ext cx="3584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行 = 横坐标 x，列 = 纵坐标 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90288" y="2194560"/>
            <a:ext cx="7007047" cy="865911"/>
          </a:xfrm>
          <a:prstGeom prst="roundRect">
            <a:avLst>
              <a:gd name="adj" fmla="val 6000"/>
            </a:avLst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809744" y="2370124"/>
            <a:ext cx="6677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一个马步的例子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(4,4) → (7,8)：|7 − 4| = 3，|8 − 4| = 4，坐标和 8 → 15，奇偶翻转一次。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90288" y="3225063"/>
            <a:ext cx="7007047" cy="11443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809744" y="3400628"/>
            <a:ext cx="6677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02545"/>
                </a:solidFill>
                <a:latin typeface="Microsoft YaHei"/>
              </a:rPr>
              <a:t>为什么「带」很重要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把坐标分成外带 Ω = {1,2,7,8} 与内带 Λ = {3,4,5,6}：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外带坐标 ±3 会越界，只能 ±4，出口很少；内带坐标 ±4 两个方向都能走。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90288" y="4534027"/>
            <a:ext cx="7007047" cy="588035"/>
          </a:xfrm>
          <a:prstGeom prst="roundRect">
            <a:avLst>
              <a:gd name="adj" fmla="val 6000"/>
            </a:avLst>
          </a:prstGeom>
          <a:solidFill>
            <a:srgbClr val="F7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809744" y="4709591"/>
            <a:ext cx="6677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5312"/>
                </a:solidFill>
                <a:latin typeface="Microsoft YaHei"/>
              </a:rPr>
              <a:t>这一步为第 (3) 问埋下伏笔：外带点的「出口」少，会被迫使用某些边。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第 (1) 问 · 直接代入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用定义检验理解，顺便摸清边界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5943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1993391"/>
            <a:ext cx="5541264" cy="1764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02545"/>
                </a:solidFill>
                <a:latin typeface="Microsoft YaHei"/>
              </a:rPr>
              <a:t>设第二项为 (x, y)，按定义分两种情形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</a:rPr>
              <a:t>情形一　|x − 3| = 3 且 |y − 3| = 4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x = 6 或 0 → 0 ∉ A 舍去，得 x = 6；y = 7 或 −1 → −1 ∉ A 舍去，得 y = 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</a:rPr>
              <a:t>情形二　|x − 3| = 4 且 |y − 3| = 3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x = 7 或 −1 → −1 ∉ A 舍去，得 x = 7；y = 6 或 0 → 0 ∉ A 舍去，得 y = 6。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93992" y="1847088"/>
            <a:ext cx="4803343" cy="2057400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31736" y="2011679"/>
            <a:ext cx="4401007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C98B2E"/>
                </a:solidFill>
                <a:latin typeface="Microsoft YaHei"/>
              </a:rPr>
              <a:t>答案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(6, 7)　或　(7, 6)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FD0E4"/>
                </a:solidFill>
                <a:latin typeface="Microsoft YaHei"/>
              </a:rPr>
              <a:t>「或」连接的两个条件必须分别算，两种情形各给一个解，一个都不能漏。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087368"/>
            <a:ext cx="11002975" cy="1093470"/>
          </a:xfrm>
          <a:prstGeom prst="roundRect">
            <a:avLst>
              <a:gd name="adj" fmla="val 6000"/>
            </a:avLst>
          </a:prstGeom>
          <a:solidFill>
            <a:srgbClr val="F7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4262932"/>
            <a:ext cx="10673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7A5312"/>
                </a:solidFill>
                <a:latin typeface="Microsoft YaHei"/>
              </a:rPr>
              <a:t>第一问暴露出的隐藏约束（后面反复要用）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x ∈ A 意味着 1 ≤ x ≤ 8：算出来的解必须落在棋盘内。第 (1) 问里 0 和 −1 被舍去，正是「外带坐标 ±3 会越界」的第一次现身 —— 这个约束在第 (3) 问变成了整道题的胜负手。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第 (2) 问 · 第一步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把条件翻译成「位置类别表」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045433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222E"/>
                </a:solidFill>
                <a:latin typeface="Microsoft YaHei"/>
              </a:rPr>
              <a:t>条件：i 为奇数时 xᵢ ∈ {1,2,7,8}；i 为偶数时 xᵢ ∈ {3,4,5,6}。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31135"/>
            <a:ext cx="11002975" cy="868273"/>
          </a:xfrm>
          <a:prstGeom prst="roundRect">
            <a:avLst>
              <a:gd name="adj" fmla="val 6000"/>
            </a:avLst>
          </a:prstGeom>
          <a:solidFill>
            <a:srgbClr val="FA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2406700"/>
            <a:ext cx="10673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B43A2E"/>
                </a:solidFill>
                <a:latin typeface="Microsoft YaHei"/>
              </a:rPr>
              <a:t>⚠ 不能直接当成奇偶条件用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x 取值的奇偶不定，x + y 的奇偶还取决于 y。这个条件给出的是一张「位置类别表」，与奇偶性无关。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64001"/>
            <a:ext cx="5373471" cy="87614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3439566"/>
            <a:ext cx="50442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奇数位 → 只能放 B 类点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2545"/>
                </a:solidFill>
                <a:latin typeface="Microsoft YaHei"/>
              </a:rPr>
              <a:t>xᵢ ∈ {1,2,7,8}（外带 Ω）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3264001"/>
            <a:ext cx="5373471" cy="87614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3319" y="3439566"/>
            <a:ext cx="50442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C98B2E"/>
                </a:solidFill>
                <a:latin typeface="Microsoft YaHei"/>
              </a:rPr>
              <a:t>偶数位 → 只能放 C 类点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2545"/>
                </a:solidFill>
                <a:latin typeface="Microsoft YaHei"/>
              </a:rPr>
              <a:t>xᵢ ∈ {3,4,5,6}（内带 Λ）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41317"/>
            <a:ext cx="11002975" cy="676656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341317"/>
            <a:ext cx="104177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一个点能出现在哪些位置，只由它的横坐标落在哪一带决定。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第 (2) 问 · 第二步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两条独立信息交叉打架，逼出矛盾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60704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67A"/>
                </a:solidFill>
                <a:latin typeface="Microsoft YaHei"/>
              </a:rPr>
              <a:t>位置类别来自题设，奇偶交替来自第 1 步的增量分析 —— 把它们叠在一起。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39696"/>
            <a:ext cx="5303520" cy="1080871"/>
          </a:xfrm>
          <a:prstGeom prst="roundRect">
            <a:avLst>
              <a:gd name="adj" fmla="val 6000"/>
            </a:avLst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2315260"/>
            <a:ext cx="4974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夹击一 · 奇偶性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每步改变 ±1 或 ±7，所以相邻两项 x + y 奇偶相反，沿 k 列交替翻转。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366871"/>
            <a:ext cx="5303520" cy="8501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3542436"/>
            <a:ext cx="4974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02545"/>
                </a:solidFill>
                <a:latin typeface="Microsoft YaHei"/>
              </a:rPr>
              <a:t>算出两点奇偶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(3,2)：3 + 2 = 5（奇）　　(4,4)：4 + 4 = 8（偶）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139696"/>
            <a:ext cx="5443423" cy="1080871"/>
          </a:xfrm>
          <a:prstGeom prst="roundRect">
            <a:avLst>
              <a:gd name="adj" fmla="val 6000"/>
            </a:avLst>
          </a:prstGeom>
          <a:solidFill>
            <a:srgbClr val="F7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315260"/>
            <a:ext cx="5114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7A5312"/>
                </a:solidFill>
                <a:latin typeface="Microsoft YaHei"/>
              </a:rPr>
              <a:t>夹击二 · 位置类别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两点的 x 分别是 3 和 4，都落在 {3,4,5,6} 里，所以都必须出现在偶数位。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366871"/>
            <a:ext cx="5443423" cy="676656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3366871"/>
            <a:ext cx="500451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两条信息叠在一起 → 矛盾不可避免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45863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02545"/>
                </a:solidFill>
                <a:latin typeface="Microsoft YaHei"/>
              </a:rPr>
              <a:t>矛盾链条（答题时按这五步写，每一步都是一个评分点）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738471"/>
            <a:ext cx="20396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4738471"/>
            <a:ext cx="2039660" cy="3291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" y="4738471"/>
            <a:ext cx="19299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位置类别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5104231"/>
            <a:ext cx="189335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2E"/>
                </a:solidFill>
                <a:latin typeface="Microsoft YaHei"/>
              </a:rPr>
              <a:t>两者都在偶数位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43164" y="5177383"/>
            <a:ext cx="146304" cy="118872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835188" y="4738471"/>
            <a:ext cx="20396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35188" y="4738471"/>
            <a:ext cx="2039660" cy="3291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90052" y="4738471"/>
            <a:ext cx="19299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序号同奇偶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8340" y="5104231"/>
            <a:ext cx="189335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2E"/>
                </a:solidFill>
                <a:latin typeface="Microsoft YaHei"/>
              </a:rPr>
              <a:t>第 2a 项与第 2b 项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3993" y="5177383"/>
            <a:ext cx="146304" cy="118872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076017" y="4738471"/>
            <a:ext cx="20396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76017" y="4738471"/>
            <a:ext cx="2039660" cy="329184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30881" y="4738471"/>
            <a:ext cx="19299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相隔偶数步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9169" y="5104231"/>
            <a:ext cx="189335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2E"/>
                </a:solidFill>
                <a:latin typeface="Microsoft YaHei"/>
              </a:rPr>
              <a:t>|2a − 2b| 是偶数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124821" y="5177383"/>
            <a:ext cx="146304" cy="118872"/>
          </a:xfrm>
          <a:prstGeom prst="rightArrow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316845" y="4738471"/>
            <a:ext cx="20396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16845" y="4738471"/>
            <a:ext cx="2039660" cy="329184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71709" y="4738471"/>
            <a:ext cx="19299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须同奇偶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9997" y="5104231"/>
            <a:ext cx="189335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2E"/>
                </a:solidFill>
                <a:latin typeface="Microsoft YaHei"/>
              </a:rPr>
              <a:t>偶数步→奇偶不变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365650" y="5177383"/>
            <a:ext cx="146304" cy="118872"/>
          </a:xfrm>
          <a:prstGeom prst="rightArrow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557674" y="4738471"/>
            <a:ext cx="20396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557674" y="4738471"/>
            <a:ext cx="2039660" cy="329184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12538" y="4738471"/>
            <a:ext cx="19299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实际不同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0826" y="5104231"/>
            <a:ext cx="189335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22E"/>
                </a:solidFill>
                <a:latin typeface="Microsoft YaHei"/>
              </a:rPr>
              <a:t>(3,2) 奇、(4,4) 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835751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43A2E"/>
                </a:solidFill>
                <a:latin typeface="Microsoft YaHei"/>
              </a:rPr>
              <a:t>结论：(3,2) 与 (4,4) 不能同时在 τ 中。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第 (3) 问 · 换视角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从「能不能排出来」转向「要用多少条边」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11002975" cy="1051560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75104"/>
            <a:ext cx="104543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如果 M 的 64 个元素能组成一个 k 列，这条路径就包含全部 64 个点，每相邻两项用掉一条边：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8B2E"/>
                </a:solidFill>
                <a:latin typeface="Microsoft YaHei"/>
              </a:rPr>
              <a:t>64 个点  →  恰好 64 − 1 = 63 条边　（一条路径永远只有 n − 1 条边）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81528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02545"/>
                </a:solidFill>
                <a:latin typeface="Microsoft YaHei"/>
              </a:rPr>
              <a:t>于是把「存在性」问题改造成「计数下界」问题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374136"/>
            <a:ext cx="3423818" cy="87614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3474719"/>
            <a:ext cx="45720" cy="67497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3549700"/>
            <a:ext cx="309463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目标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证明至少有 64 条边被强迫使用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82186" y="3813048"/>
            <a:ext cx="219456" cy="164592"/>
          </a:xfrm>
          <a:prstGeom prst="rightArrow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83938" y="3374136"/>
            <a:ext cx="3423818" cy="1101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3938" y="3474719"/>
            <a:ext cx="45720" cy="900176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03394" y="3549700"/>
            <a:ext cx="309463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C98B2E"/>
                </a:solidFill>
                <a:latin typeface="Microsoft YaHei"/>
              </a:rPr>
              <a:t>手段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找出「度数为 2」的点，它们逼着边被用掉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71764" y="3813048"/>
            <a:ext cx="219456" cy="164592"/>
          </a:xfrm>
          <a:prstGeom prst="rightArrow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73516" y="3374136"/>
            <a:ext cx="3423818" cy="87614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73516" y="3474719"/>
            <a:ext cx="45720" cy="674979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2972" y="3549700"/>
            <a:ext cx="309463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B43A2E"/>
                </a:solidFill>
                <a:latin typeface="Microsoft YaHei"/>
              </a:rPr>
              <a:t>终点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22E"/>
                </a:solidFill>
                <a:latin typeface="Microsoft YaHei"/>
              </a:rPr>
              <a:t>64 &gt; 63，矛盾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676647"/>
            <a:ext cx="11002975" cy="618743"/>
          </a:xfrm>
          <a:prstGeom prst="roundRect">
            <a:avLst>
              <a:gd name="adj" fmla="val 6000"/>
            </a:avLst>
          </a:prstGeom>
          <a:solidFill>
            <a:srgbClr val="F7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" y="4852212"/>
            <a:ext cx="10673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5312"/>
                </a:solidFill>
                <a:latin typeface="Microsoft YaHei"/>
              </a:rPr>
              <a:t>这一步是整道题的转折：不再试图「构造」，而是去「数数」。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第 (3) 问 · 数度数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先数清楚：每个格点有几个「出口」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60704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67A"/>
                </a:solidFill>
                <a:latin typeface="Microsoft YaHei"/>
              </a:rPr>
              <a:t>出口 = 与它相邻、且落在棋盘内的格点个数。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" y="214944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1384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5100" y="214944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1384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46580" y="214944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35608" y="21384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58060" y="214944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47088" y="21384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9540" y="214944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58568" y="21384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81020" y="214944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70048" y="21384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92500" y="214944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81528" y="21384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3980" y="214944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93008" y="21384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" y="256092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" y="25499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5100" y="256092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" y="25499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6580" y="256092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35608" y="25499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58060" y="256092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47088" y="25499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69540" y="256092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58568" y="25499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81020" y="256092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70048" y="25499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92500" y="256092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81528" y="25499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3980" y="256092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93008" y="25499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620" y="297240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" y="29614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5100" y="297240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4128" y="29614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6580" y="297240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435608" y="29614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58060" y="297240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847088" y="29614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69540" y="297240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58568" y="29614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81020" y="297240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70048" y="29614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92500" y="297240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081528" y="29614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3980" y="297240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493008" y="29614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3620" y="338388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2648" y="337291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35100" y="338388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24128" y="337291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46580" y="338388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435608" y="337291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58060" y="3383886"/>
            <a:ext cx="389534" cy="389534"/>
          </a:xfrm>
          <a:prstGeom prst="rect">
            <a:avLst/>
          </a:prstGeom>
          <a:solidFill>
            <a:srgbClr val="9F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847088" y="337291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75159"/>
                </a:solidFill>
                <a:latin typeface="Microsoft YaHe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69540" y="3383886"/>
            <a:ext cx="389534" cy="389534"/>
          </a:xfrm>
          <a:prstGeom prst="rect">
            <a:avLst/>
          </a:prstGeom>
          <a:solidFill>
            <a:srgbClr val="9F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258568" y="337291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75159"/>
                </a:solidFill>
                <a:latin typeface="Microsoft YaHei"/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81020" y="338388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670048" y="337291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92500" y="338388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081528" y="337291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03980" y="338388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493008" y="337291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3620" y="379536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12648" y="378439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35100" y="379536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24128" y="378439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446580" y="379536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435608" y="378439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58060" y="3795366"/>
            <a:ext cx="389534" cy="389534"/>
          </a:xfrm>
          <a:prstGeom prst="rect">
            <a:avLst/>
          </a:prstGeom>
          <a:solidFill>
            <a:srgbClr val="9F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847088" y="378439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75159"/>
                </a:solidFill>
                <a:latin typeface="Microsoft YaHei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69540" y="3795366"/>
            <a:ext cx="389534" cy="389534"/>
          </a:xfrm>
          <a:prstGeom prst="rect">
            <a:avLst/>
          </a:prstGeom>
          <a:solidFill>
            <a:srgbClr val="9F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258568" y="378439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75159"/>
                </a:solidFill>
                <a:latin typeface="Microsoft YaHei"/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81020" y="379536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670048" y="378439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92500" y="379536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081528" y="378439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503980" y="379536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493008" y="378439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3620" y="420684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12648" y="41958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35100" y="420684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24128" y="41958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446580" y="420684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435608" y="41958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58060" y="420684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847088" y="41958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69540" y="420684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258568" y="41958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681020" y="420684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670048" y="41958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092500" y="420684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081528" y="41958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503980" y="420684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493008" y="419587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3620" y="461832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12648" y="46073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35100" y="461832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24128" y="46073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446580" y="461832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435608" y="46073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858060" y="461832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847088" y="46073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69540" y="461832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258568" y="46073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681020" y="461832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670048" y="46073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092500" y="461832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081528" y="46073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03980" y="461832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493008" y="460735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23620" y="502980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12648" y="50188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35100" y="502980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24128" y="50188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446580" y="502980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435608" y="50188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858060" y="502980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847088" y="50188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69540" y="5029806"/>
            <a:ext cx="389534" cy="389534"/>
          </a:xfrm>
          <a:prstGeom prst="rect">
            <a:avLst/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258568" y="50188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81020" y="502980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670048" y="50188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092500" y="502980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3081528" y="50188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503980" y="5029806"/>
            <a:ext cx="389534" cy="389534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493008" y="501883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6667A"/>
                </a:solidFill>
                <a:latin typeface="Microsoft YaHei"/>
              </a:rP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12648" y="5521754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行 = x，列 = y，数字 = 度数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288536" y="2138474"/>
            <a:ext cx="7308799" cy="10808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4507992" y="2314038"/>
            <a:ext cx="69796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B43A2E"/>
                </a:solidFill>
                <a:latin typeface="Microsoft YaHei"/>
              </a:rPr>
              <a:t>为什么盯着度数 2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出口只有 2 个的点，一旦出现在路径里，就必须沿着这两个出口之一接下去 —— 它的边被「逼着」使用。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288536" y="3383937"/>
            <a:ext cx="7308799" cy="411480"/>
          </a:xfrm>
          <a:prstGeom prst="rect">
            <a:avLst/>
          </a:prstGeom>
          <a:solidFill>
            <a:srgbClr val="F7F9FB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4453128" y="3383937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545"/>
                </a:solidFill>
                <a:latin typeface="Microsoft YaHei"/>
              </a:rPr>
              <a:t>36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111496" y="3383937"/>
            <a:ext cx="634867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667A"/>
                </a:solidFill>
                <a:latin typeface="Microsoft YaHei"/>
              </a:rPr>
              <a:t>个点度数为 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288536" y="3841137"/>
            <a:ext cx="730879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4453128" y="3841137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545"/>
                </a:solidFill>
                <a:latin typeface="Microsoft YaHei"/>
              </a:rPr>
              <a:t>24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111496" y="3841137"/>
            <a:ext cx="634867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667A"/>
                </a:solidFill>
                <a:latin typeface="Microsoft YaHei"/>
              </a:rPr>
              <a:t>个点度数为 3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288536" y="4298337"/>
            <a:ext cx="7308799" cy="411480"/>
          </a:xfrm>
          <a:prstGeom prst="rect">
            <a:avLst/>
          </a:prstGeom>
          <a:solidFill>
            <a:srgbClr val="F7F9FB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4453128" y="4298337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545"/>
                </a:solidFill>
                <a:latin typeface="Microsoft YaHei"/>
              </a:rPr>
              <a:t>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111496" y="4298337"/>
            <a:ext cx="634867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667A"/>
                </a:solidFill>
                <a:latin typeface="Microsoft YaHei"/>
              </a:rPr>
              <a:t>个点度数为 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288536" y="4755537"/>
            <a:ext cx="730879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4453128" y="4755537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545"/>
                </a:solidFill>
                <a:latin typeface="Microsoft YaHei"/>
              </a:rPr>
              <a:t>64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111496" y="4755537"/>
            <a:ext cx="634867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667A"/>
                </a:solidFill>
                <a:latin typeface="Microsoft YaHei"/>
              </a:rPr>
              <a:t>个点合计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288536" y="5340753"/>
            <a:ext cx="7308799" cy="839927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4507992" y="5516318"/>
            <a:ext cx="69796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C98B2E"/>
                </a:solidFill>
                <a:latin typeface="Microsoft YaHei"/>
              </a:rPr>
              <a:t>规律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E0EE"/>
                </a:solidFill>
                <a:latin typeface="Microsoft YaHei"/>
              </a:rPr>
              <a:t>外带坐标 ±3 越界、只能 ±4，出口少；内带 ±4 双向可走，出口多。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第 (3) 问 · 收网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数出 64 条被迫使用的边，与 63 条边正面相撞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5852160" cy="1065123"/>
          </a:xfrm>
          <a:prstGeom prst="roundRect">
            <a:avLst>
              <a:gd name="adj" fmla="val 6000"/>
            </a:avLst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2022652"/>
            <a:ext cx="5522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</a:rPr>
              <a:t>引理　度数为 2 的点，其边至少有一条必须被使用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该点在路径中至少要有一个邻居与它相连，而它只有 2 个邻居可选，所以这 2 条边里必有被使用的。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76803"/>
            <a:ext cx="5852160" cy="106512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" y="3252368"/>
            <a:ext cx="5522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02545"/>
                </a:solidFill>
                <a:latin typeface="Microsoft YaHei"/>
              </a:rPr>
              <a:t>于是：把 36 个度数为 2 的点关联的边全收集起来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这些边每一条都碰到了度数为 2 的点，因此每一条都必须在 k 列中出现。数一数它们有多少条 —— 这就是下界。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2552" y="1847088"/>
            <a:ext cx="4894783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02552" y="1847088"/>
            <a:ext cx="4894783" cy="347472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85432" y="1847088"/>
            <a:ext cx="454731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被迫使用的边的构成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2286000"/>
            <a:ext cx="4675327" cy="438912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2286000"/>
            <a:ext cx="3065983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两端度数都为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5695" y="2286000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2545"/>
                </a:solidFill>
                <a:latin typeface="Microsoft YaHei"/>
              </a:rPr>
              <a:t>8 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4063" y="2286000"/>
            <a:ext cx="9144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6667A"/>
                </a:solidFill>
                <a:latin typeface="Microsoft YaHei"/>
              </a:rPr>
              <a:t>×2 = 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779776"/>
            <a:ext cx="4675327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03720" y="2779776"/>
            <a:ext cx="3065983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只有一端度数为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5695" y="2779776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2545"/>
                </a:solidFill>
                <a:latin typeface="Microsoft YaHei"/>
              </a:rPr>
              <a:t>56 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4063" y="2779776"/>
            <a:ext cx="9144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6667A"/>
                </a:solidFill>
                <a:latin typeface="Microsoft YaHei"/>
              </a:rPr>
              <a:t>×1 = 56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3273552"/>
            <a:ext cx="4675327" cy="438912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03720" y="3273552"/>
            <a:ext cx="3065983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两端度数都 &gt;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5695" y="3273552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2545"/>
                </a:solidFill>
                <a:latin typeface="Microsoft YaHei"/>
              </a:rPr>
              <a:t>0 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4063" y="3273552"/>
            <a:ext cx="9144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6667A"/>
                </a:solidFill>
                <a:latin typeface="Microsoft YaHei"/>
              </a:rPr>
              <a:t>= 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3767328"/>
            <a:ext cx="4675327" cy="438912"/>
          </a:xfrm>
          <a:prstGeom prst="rect">
            <a:avLst/>
          </a:prstGeom>
          <a:solidFill>
            <a:srgbClr val="F7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03720" y="3767328"/>
            <a:ext cx="3065983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222E"/>
                </a:solidFill>
                <a:latin typeface="Microsoft YaHei"/>
              </a:rPr>
              <a:t>互异边合计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5695" y="3767328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2545"/>
                </a:solidFill>
                <a:latin typeface="Microsoft YaHei"/>
              </a:rPr>
              <a:t>64 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4063" y="3767328"/>
            <a:ext cx="9144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6667A"/>
                </a:solidFill>
                <a:latin typeface="Microsoft YaHei"/>
              </a:rPr>
              <a:t>72 = 36 × 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498848"/>
            <a:ext cx="11002975" cy="822960"/>
          </a:xfrm>
          <a:prstGeom prst="roundRect">
            <a:avLst>
              <a:gd name="adj" fmla="val 6000"/>
            </a:avLst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6968" y="4608576"/>
            <a:ext cx="1045433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矛盾：这条路径只有 63 条边，却至少有 64 条边必须被使用 —— 63 ≥ 64，不可能。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E0DB"/>
                </a:solidFill>
                <a:latin typeface="Microsoft YaHei"/>
              </a:rPr>
              <a:t>故 M 中全体元素不能构成 k 列。∎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第 4 步 · 独立验证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关键结论一律用独立途径核对一次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60704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67A"/>
                </a:solidFill>
                <a:latin typeface="Microsoft YaHei"/>
              </a:rPr>
              <a:t>手算与程序各自独立算出同一个答案，才敢下笔。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39696"/>
            <a:ext cx="350916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139696"/>
            <a:ext cx="3509162" cy="3657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139696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穷尽搜索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615183"/>
            <a:ext cx="312511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· 以全部 64 个点为起点做深度优先搜索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· 只使用不改变正确性的 Warnsdorff 排序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· 结果：不存在哈密顿路径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3858768"/>
            <a:ext cx="323484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6667A"/>
                </a:solidFill>
                <a:latin typeface="Microsoft YaHei"/>
              </a:rPr>
              <a:t>verify2.py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1266" y="2139696"/>
            <a:ext cx="350916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1266" y="2139696"/>
            <a:ext cx="3509162" cy="36576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7570" y="2139696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结构证书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7570" y="2615183"/>
            <a:ext cx="312511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· 度数为 2 的点恰 36 个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· 与之关联的互异边恰 64 条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· 端点计数 16 + 56 = 72 = 36 ×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7570" y="3858768"/>
            <a:ext cx="323484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6667A"/>
                </a:solidFill>
                <a:latin typeface="Microsoft YaHei"/>
              </a:rPr>
              <a:t>degrees.py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8172" y="2139696"/>
            <a:ext cx="350916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8172" y="2139696"/>
            <a:ext cx="3509162" cy="36576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34476" y="2139696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图的基本量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4476" y="2615183"/>
            <a:ext cx="312511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· 64 个顶点、80 条边、连通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· 度数为 2 的边里没有同奇偶的边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· 两类各 32 个点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4476" y="3858768"/>
            <a:ext cx="323484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6667A"/>
                </a:solidFill>
                <a:latin typeface="Microsoft YaHei"/>
              </a:rPr>
              <a:t>analyze.py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352544"/>
            <a:ext cx="11002975" cy="1072997"/>
          </a:xfrm>
          <a:prstGeom prst="roundRect">
            <a:avLst>
              <a:gd name="adj" fmla="val 6000"/>
            </a:avLst>
          </a:prstGeom>
          <a:solidFill>
            <a:srgbClr val="FA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" y="4528108"/>
            <a:ext cx="10673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B43A2E"/>
                </a:solidFill>
                <a:latin typeface="Microsoft YaHei"/>
              </a:rPr>
              <a:t>⚠ 一个必须说清的坑：网上流传的「参考答案」在第三问给出了相反的说法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那份答案声称全体元素「能」构成 k 列并给出构造。实际检查发现：构造中元素被重复使用、步长不合规 —— 是错的。压轴题第三问，只信自己数出来的数和能逐步检查的构造。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三问分别考了什么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11002975" cy="384048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847088"/>
            <a:ext cx="49377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4168" y="1847088"/>
            <a:ext cx="140817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表面问法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1847088"/>
            <a:ext cx="16824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真实考点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847088"/>
            <a:ext cx="369417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关键动作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7928" y="1847088"/>
            <a:ext cx="299283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一句话本质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231135"/>
            <a:ext cx="11002975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2231135"/>
            <a:ext cx="493775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545"/>
                </a:solidFill>
                <a:latin typeface="Microsoft YaHei"/>
              </a:rPr>
              <a:t>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2231135"/>
            <a:ext cx="1408176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求第二项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231135"/>
            <a:ext cx="1682496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定义的理解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2231135"/>
            <a:ext cx="3694176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代入 + 用 A 的范围删解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231135"/>
            <a:ext cx="2992831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5312"/>
                </a:solidFill>
                <a:latin typeface="Microsoft YaHei"/>
              </a:rPr>
              <a:t>第一问是校准器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980943"/>
            <a:ext cx="11002975" cy="749808"/>
          </a:xfrm>
          <a:prstGeom prst="rect">
            <a:avLst/>
          </a:prstGeom>
          <a:solidFill>
            <a:srgbClr val="F7F9FB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2980943"/>
            <a:ext cx="493775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545"/>
                </a:solidFill>
                <a:latin typeface="Microsoft YaHei"/>
              </a:rPr>
              <a:t>(2)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2980943"/>
            <a:ext cx="1408176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能否同时出现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2980943"/>
            <a:ext cx="1682496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不变量 / 奇偶分析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2980943"/>
            <a:ext cx="3694176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位置类别 × 奇偶交替 → 矛盾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2980943"/>
            <a:ext cx="2992831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5312"/>
                </a:solidFill>
                <a:latin typeface="Microsoft YaHei"/>
              </a:rPr>
              <a:t>两条独立信息交叉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730751"/>
            <a:ext cx="11002975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3730751"/>
            <a:ext cx="493775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545"/>
                </a:solidFill>
                <a:latin typeface="Microsoft YaHei"/>
              </a:rPr>
              <a:t>(3)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3730751"/>
            <a:ext cx="1408176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证明不能构成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98648" y="3730751"/>
            <a:ext cx="1682496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计数与极端原理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3730751"/>
            <a:ext cx="3694176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数边 + 度数找被迫边 + 63 &lt; 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3730751"/>
            <a:ext cx="2992831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5312"/>
                </a:solidFill>
                <a:latin typeface="Microsoft YaHei"/>
              </a:rPr>
              <a:t>存在性转成计数下界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90288"/>
            <a:ext cx="11002975" cy="1106068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" y="4765852"/>
            <a:ext cx="10673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C98B2E"/>
                </a:solidFill>
                <a:latin typeface="Microsoft YaHei"/>
              </a:rPr>
              <a:t>第 (3) 问的本质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一旦意识到「n 个点的路径只有 n − 1 条边」，剩下的事就只是把被迫使用的边数清楚 —— 这就是北京卷新定义压轴题最爱的「极端原理 + 计数」套路。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六步流程：下次遇到新定义题直接照做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169666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847088"/>
            <a:ext cx="1696669" cy="64008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23238" y="2084832"/>
            <a:ext cx="438912" cy="438912"/>
          </a:xfrm>
          <a:prstGeom prst="ellipse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23238" y="20848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51760"/>
            <a:ext cx="155036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2545"/>
                </a:solidFill>
                <a:latin typeface="Microsoft YaHei"/>
              </a:rPr>
              <a:t>翻译定义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6667A"/>
                </a:solidFill>
                <a:latin typeface="Microsoft YaHei"/>
              </a:rPr>
              <a:t>条件写成大白话，再换表示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95601" y="2761488"/>
            <a:ext cx="155448" cy="118872"/>
          </a:xfrm>
          <a:prstGeom prst="rightArrow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55621" y="1847088"/>
            <a:ext cx="169666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55621" y="1847088"/>
            <a:ext cx="1696669" cy="64008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084499" y="2084832"/>
            <a:ext cx="438912" cy="438912"/>
          </a:xfrm>
          <a:prstGeom prst="ellipse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84499" y="20848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8773" y="2651760"/>
            <a:ext cx="155036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2545"/>
                </a:solidFill>
                <a:latin typeface="Microsoft YaHei"/>
              </a:rPr>
              <a:t>第一问校准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6667A"/>
                </a:solidFill>
                <a:latin typeface="Microsoft YaHei"/>
              </a:rPr>
              <a:t>代入检验，记录隐藏约束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56862" y="2761488"/>
            <a:ext cx="155448" cy="118872"/>
          </a:xfrm>
          <a:prstGeom prst="rightArrow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16882" y="1847088"/>
            <a:ext cx="169666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16882" y="1847088"/>
            <a:ext cx="1696669" cy="64008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945761" y="2084832"/>
            <a:ext cx="438912" cy="438912"/>
          </a:xfrm>
          <a:prstGeom prst="ellipse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45761" y="20848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034" y="2651760"/>
            <a:ext cx="155036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2545"/>
                </a:solidFill>
                <a:latin typeface="Microsoft YaHei"/>
              </a:rPr>
              <a:t>缩小规模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6667A"/>
                </a:solidFill>
                <a:latin typeface="Microsoft YaHei"/>
              </a:rPr>
              <a:t>小例子试探，猜上界找构造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018123" y="2761488"/>
            <a:ext cx="155448" cy="118872"/>
          </a:xfrm>
          <a:prstGeom prst="rightArrow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78143" y="1847088"/>
            <a:ext cx="169666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8143" y="1847088"/>
            <a:ext cx="1696669" cy="64008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807022" y="2084832"/>
            <a:ext cx="438912" cy="438912"/>
          </a:xfrm>
          <a:prstGeom prst="ellipse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07022" y="20848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295" y="2651760"/>
            <a:ext cx="155036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2545"/>
                </a:solidFill>
                <a:latin typeface="Microsoft YaHei"/>
              </a:rPr>
              <a:t>独立验证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6667A"/>
                </a:solidFill>
                <a:latin typeface="Microsoft YaHei"/>
              </a:rPr>
              <a:t>手算与程序各算一遍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879384" y="2761488"/>
            <a:ext cx="155448" cy="118872"/>
          </a:xfrm>
          <a:prstGeom prst="rightArrow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039404" y="1847088"/>
            <a:ext cx="169666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39404" y="1847088"/>
            <a:ext cx="1696669" cy="64008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668283" y="2084832"/>
            <a:ext cx="438912" cy="438912"/>
          </a:xfrm>
          <a:prstGeom prst="ellipse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68283" y="20848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2556" y="2651760"/>
            <a:ext cx="155036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2545"/>
                </a:solidFill>
                <a:latin typeface="Microsoft YaHei"/>
              </a:rPr>
              <a:t>写证明链条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6667A"/>
                </a:solidFill>
                <a:latin typeface="Microsoft YaHei"/>
              </a:rPr>
              <a:t>每行一个理由，串起评分点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740646" y="2761488"/>
            <a:ext cx="155448" cy="118872"/>
          </a:xfrm>
          <a:prstGeom prst="rightArrow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900665" y="1847088"/>
            <a:ext cx="169666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900665" y="1847088"/>
            <a:ext cx="1696669" cy="64008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529544" y="2084832"/>
            <a:ext cx="438912" cy="438912"/>
          </a:xfrm>
          <a:prstGeom prst="ellipse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29544" y="20848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3817" y="2651760"/>
            <a:ext cx="155036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2545"/>
                </a:solidFill>
                <a:latin typeface="Microsoft YaHei"/>
              </a:rPr>
              <a:t>提交前自检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6667A"/>
                </a:solidFill>
                <a:latin typeface="Microsoft YaHei"/>
              </a:rPr>
              <a:t>约束、分类、量词、数字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4059936"/>
            <a:ext cx="11002975" cy="1136396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3816" y="4235500"/>
            <a:ext cx="10673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C98B2E"/>
                </a:solidFill>
                <a:latin typeface="Microsoft YaHei"/>
              </a:rPr>
              <a:t>北京卷压轴题的固定结构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(1) 具体实例判断  →  (2) 计数 / 最值 / 小型证明  →  (3) 一般性证明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FD0E4"/>
                </a:solidFill>
                <a:latin typeface="Microsoft YaHei"/>
              </a:rPr>
              <a:t>每一问都在为下一问铺路，不要孤立地看任何一问。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工具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奇偶 / 染色 —— 使用频率最高的一招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60704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67A"/>
                </a:solidFill>
                <a:latin typeface="Microsoft YaHei"/>
              </a:rPr>
              <a:t>把对象按某个量的奇偶染色，看相邻关系是否跨色。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39696"/>
            <a:ext cx="5669280" cy="1422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2315260"/>
            <a:ext cx="5340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怎么用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① 找一个在相邻对象之间必变号的量（奇偶、模 k 余数）。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② 若相邻必跨色，对象集合就是二部图。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③ 于是序号与该量绑定，可以拿「位置」去卡「性质」。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9672" y="2139696"/>
            <a:ext cx="5077663" cy="1422831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39128" y="2286000"/>
            <a:ext cx="4693615" cy="1130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C98B2E"/>
                </a:solidFill>
                <a:latin typeface="Microsoft YaHei"/>
              </a:rPr>
              <a:t>立刻可得的结论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D5E0EE"/>
                </a:solidFill>
                <a:latin typeface="Microsoft YaHei"/>
              </a:rPr>
              <a:t>· 相邻两项该量交替变化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D5E0EE"/>
                </a:solidFill>
                <a:latin typeface="Microsoft YaHei"/>
              </a:rPr>
              <a:t>· 序号与该量绑定（奇数位只能放某类）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D5E0EE"/>
                </a:solidFill>
                <a:latin typeface="Microsoft YaHei"/>
              </a:rPr>
              <a:t>· 两类点数分别为 a、b 时，路径长度 ≤ 2·min(a,b) + 1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3695"/>
            <a:ext cx="11002975" cy="1080871"/>
          </a:xfrm>
          <a:prstGeom prst="roundRect">
            <a:avLst>
              <a:gd name="adj" fmla="val 6000"/>
            </a:avLst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" y="3939260"/>
            <a:ext cx="10673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</a:rPr>
              <a:t>本题实例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相邻两项的 x + y 必不同奇偶（每步改变 ±1 或 ±7），所以 x + y 的奇偶与「第几项」绑定。再把题设的「位置类别表」叠上去：(3,2) 与 (4,4) 都必须出现在偶数位，于是相隔偶数步，x + y 必须同奇偶 —— 而它们一个是奇、一个是偶。矛盾。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工具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计数 / 数边 —— 第三问的杀手锏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60704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67A"/>
                </a:solidFill>
                <a:latin typeface="Microsoft YaHei"/>
              </a:rPr>
              <a:t>把「能否排成一条链」转化为「需要多少条边」，再与 n − 1 比较。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39696"/>
            <a:ext cx="5669280" cy="19416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2315260"/>
            <a:ext cx="5340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7A5312"/>
                </a:solidFill>
                <a:latin typeface="Microsoft YaHei"/>
              </a:rPr>
              <a:t>标准模板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① 设路径有 n 个对象 → 恰好 n − 1 条连接。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② 找出被迫使用的连接（至少需要 m 条）。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③ 若 m &gt; n − 1，矛盾 —— 这样的路径不存在。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数每个点的度数：度数为 1 的点那条边必用；度数为 2 的点两条边至少用一条。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9672" y="2139696"/>
            <a:ext cx="5077663" cy="1941652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39128" y="2286000"/>
            <a:ext cx="4693615" cy="1649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C98B2E"/>
                </a:solidFill>
                <a:latin typeface="Microsoft YaHei"/>
              </a:rPr>
              <a:t>本题实例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D5E0EE"/>
                </a:solidFill>
                <a:latin typeface="Microsoft YaHei"/>
              </a:rPr>
              <a:t>36 个点为度数 2　→　它们关联的互异边共 64 条。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D5E0EE"/>
                </a:solidFill>
                <a:latin typeface="Microsoft YaHei"/>
              </a:rPr>
              <a:t>这 64 条边每一条都碰到了度数为 2 的点，因此每一条都必须出现在 k 列里。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而 64 个点的路径只有 63 条边。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8B2E"/>
                </a:solidFill>
                <a:latin typeface="Microsoft YaHei"/>
              </a:rPr>
              <a:t>64 &gt; 63　→　矛盾。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82516"/>
            <a:ext cx="11002975" cy="850163"/>
          </a:xfrm>
          <a:prstGeom prst="roundRect">
            <a:avLst>
              <a:gd name="adj" fmla="val 6000"/>
            </a:avLst>
          </a:prstGeom>
          <a:solidFill>
            <a:srgbClr val="F7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" y="4458081"/>
            <a:ext cx="10673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7A5312"/>
                </a:solidFill>
                <a:latin typeface="Microsoft YaHei"/>
              </a:rPr>
              <a:t>为什么这一招在结构题里通用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「是否存在」很难直接攻击；而「边数够不够」是纯计数、可逐步检查的论证。把前者换成后者，就把不可下手的题变成了能拿满分的题。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工具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极端原理 / 最大最小 —— 把条件逼到最紧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60704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667A"/>
                </a:solidFill>
                <a:latin typeface="Microsoft YaHei"/>
              </a:rPr>
              <a:t>既然某量有界，就取到界的那个对象 —— 它的可选空间通常最小。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39696"/>
            <a:ext cx="5669280" cy="1422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2315260"/>
            <a:ext cx="5340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B43A2E"/>
                </a:solidFill>
                <a:latin typeface="Microsoft YaHei"/>
              </a:rPr>
              <a:t>怎么用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· 取「最大下标的元素」「最靠边的点」「度数最小的点」。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· 一旦取到极端对象，它的可选邻居往往锐减，条件立刻变强。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· 配合计数使用：极端对象贡献的「被迫边」最多。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9672" y="2139696"/>
            <a:ext cx="5077663" cy="1422831"/>
          </a:xfrm>
          <a:prstGeom prst="roundRect">
            <a:avLst>
              <a:gd name="adj" fmla="val 6000"/>
            </a:avLst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39128" y="2286000"/>
            <a:ext cx="4693615" cy="1130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C98B2E"/>
                </a:solidFill>
                <a:latin typeface="Microsoft YaHei"/>
              </a:rPr>
              <a:t>本题实例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D5E0EE"/>
                </a:solidFill>
                <a:latin typeface="Microsoft YaHei"/>
              </a:rPr>
              <a:t>坐标落在外带 Ω = {1,2,7,8} 的点：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D5E0EE"/>
                </a:solidFill>
                <a:latin typeface="Microsoft YaHei"/>
              </a:rPr>
              <a:t>· ±3 会越界（1 − 3 = −2，8 + 3 = 11）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D5E0EE"/>
                </a:solidFill>
                <a:latin typeface="Microsoft YaHei"/>
              </a:rPr>
              <a:t>· 只有 ±4 能落回棋盘，且方向唯一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这就是「度数只有 2」的来源，也是第三问能成立的根本原因。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3695"/>
            <a:ext cx="11002975" cy="850163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" y="3939260"/>
            <a:ext cx="10673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102545"/>
                </a:solidFill>
                <a:latin typeface="Microsoft YaHei"/>
              </a:rPr>
              <a:t>三个工具的关系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22E"/>
                </a:solidFill>
                <a:latin typeface="Microsoft YaHei"/>
              </a:rPr>
              <a:t>极端原理 负责找出最受限制的对象，计数 / 数边 负责把它换算成数量下界，奇偶染色 负责在小证明里制造矛盾。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易错清单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八个真实踩过的坑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539175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947672"/>
            <a:ext cx="45720" cy="585216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29384"/>
            <a:ext cx="4934559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B43A2E"/>
                </a:solidFill>
                <a:latin typeface="Microsoft YaHei"/>
              </a:rPr>
              <a:t>01　忽略取值范围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症状：算出 x = 0 或 y = −1 不删掉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22E"/>
                </a:solidFill>
                <a:latin typeface="Microsoft YaHei"/>
              </a:rPr>
              <a:t>对策：每步算完立刻用 A 的范围过滤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43200"/>
            <a:ext cx="539175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2843784"/>
            <a:ext cx="45720" cy="585216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825496"/>
            <a:ext cx="4934559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B43A2E"/>
                </a:solidFill>
                <a:latin typeface="Microsoft YaHei"/>
              </a:rPr>
              <a:t>02　把「或」当「且」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症状：相邻条件两种情形只算一种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22E"/>
                </a:solidFill>
                <a:latin typeface="Microsoft YaHei"/>
              </a:rPr>
              <a:t>对策：凡「或」必分情形，两种都要算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39312"/>
            <a:ext cx="539175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3739896"/>
            <a:ext cx="45720" cy="585216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721608"/>
            <a:ext cx="4934559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B43A2E"/>
                </a:solidFill>
                <a:latin typeface="Microsoft YaHei"/>
              </a:rPr>
              <a:t>03　混淆量与位置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症状：把点的性质当成与序号无关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22E"/>
                </a:solidFill>
                <a:latin typeface="Microsoft YaHei"/>
              </a:rPr>
              <a:t>对策：分清对象性质与位置性质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35423"/>
            <a:ext cx="539175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4636008"/>
            <a:ext cx="45720" cy="585216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4617719"/>
            <a:ext cx="4934559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B43A2E"/>
                </a:solidFill>
                <a:latin typeface="Microsoft YaHei"/>
              </a:rPr>
              <a:t>04　端点例外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症状：数被迫边时忘记路径有两个端点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22E"/>
                </a:solidFill>
                <a:latin typeface="Microsoft YaHei"/>
              </a:rPr>
              <a:t>对策：用「至少有一条」的弱引理绕开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5575" y="1847088"/>
            <a:ext cx="539175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05575" y="1947672"/>
            <a:ext cx="45720" cy="585216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6743" y="1929384"/>
            <a:ext cx="4934559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B43A2E"/>
                </a:solidFill>
                <a:latin typeface="Microsoft YaHei"/>
              </a:rPr>
              <a:t>05　只给结论不给链条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症状：写「矛盾，故不能」就结束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22E"/>
                </a:solidFill>
                <a:latin typeface="Microsoft YaHei"/>
              </a:rPr>
              <a:t>对策：每步写理由，评分点在链上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5575" y="2743200"/>
            <a:ext cx="539175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05575" y="2843784"/>
            <a:ext cx="45720" cy="585216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6743" y="2825496"/>
            <a:ext cx="4934559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B43A2E"/>
                </a:solidFill>
                <a:latin typeface="Microsoft YaHei"/>
              </a:rPr>
              <a:t>06　采信未验证的构造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症状：直接引用网上的标准构造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22E"/>
                </a:solidFill>
                <a:latin typeface="Microsoft YaHei"/>
              </a:rPr>
              <a:t>对策：查重复、越界、步长是否合规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5575" y="3639312"/>
            <a:ext cx="539175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05575" y="3739896"/>
            <a:ext cx="45720" cy="585216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6743" y="3721608"/>
            <a:ext cx="4934559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B43A2E"/>
                </a:solidFill>
                <a:latin typeface="Microsoft YaHei"/>
              </a:rPr>
              <a:t>07　计数不自查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症状：边数、点数对不上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22E"/>
                </a:solidFill>
                <a:latin typeface="Microsoft YaHei"/>
              </a:rPr>
              <a:t>对策：恒等式自检：Σ度数 = 2 × 边数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5575" y="4535423"/>
            <a:ext cx="539175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05575" y="4636008"/>
            <a:ext cx="45720" cy="585216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6743" y="4617719"/>
            <a:ext cx="4934559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B43A2E"/>
                </a:solidFill>
                <a:latin typeface="Microsoft YaHei"/>
              </a:rPr>
              <a:t>08　量词顺序错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6667A"/>
                </a:solidFill>
                <a:latin typeface="Microsoft YaHei"/>
              </a:rPr>
              <a:t>症状：「存在 x 对任意 y」写反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22E"/>
                </a:solidFill>
                <a:latin typeface="Microsoft YaHei"/>
              </a:rPr>
              <a:t>对策：抄写时把 ∀ / ∃ 单独标出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454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2E"/>
                </a:solidFill>
                <a:latin typeface="Microsoft YaHei"/>
              </a:rPr>
              <a:t>自检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45433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545"/>
                </a:solidFill>
                <a:latin typeface="Microsoft YaHei"/>
              </a:rPr>
              <a:t>提交前 60 秒：五项过一遍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60704"/>
            <a:ext cx="82296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74375" y="6437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6B4"/>
                </a:solidFill>
                <a:latin typeface="Microsoft YaHe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1100297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847088"/>
            <a:ext cx="420624" cy="603504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847088"/>
            <a:ext cx="42062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1847088"/>
            <a:ext cx="985083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2545"/>
                </a:solidFill>
                <a:latin typeface="Microsoft YaHei"/>
              </a:rPr>
              <a:t>用尽约束了吗？　</a:t>
            </a:r>
            <a:r>
              <a:rPr sz="1100" b="0">
                <a:solidFill>
                  <a:srgbClr val="56667A"/>
                </a:solidFill>
                <a:latin typeface="Microsoft YaHei"/>
              </a:rPr>
              <a:t>题目给的所有范围约束（∈ A、非零、正整数）是否都用上了？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523744"/>
            <a:ext cx="1100297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523744"/>
            <a:ext cx="420624" cy="6035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523744"/>
            <a:ext cx="42062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" y="2523744"/>
            <a:ext cx="985083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2545"/>
                </a:solidFill>
                <a:latin typeface="Microsoft YaHei"/>
              </a:rPr>
              <a:t>分类完整吗？　</a:t>
            </a:r>
            <a:r>
              <a:rPr sz="1100" b="0">
                <a:solidFill>
                  <a:srgbClr val="56667A"/>
                </a:solidFill>
                <a:latin typeface="Microsoft YaHei"/>
              </a:rPr>
              <a:t>题目用「或」连接的条件，是否每种情形都讨论了？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00400"/>
            <a:ext cx="1100297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200400"/>
            <a:ext cx="420624" cy="603504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200400"/>
            <a:ext cx="42062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7864" y="3200400"/>
            <a:ext cx="985083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2545"/>
                </a:solidFill>
                <a:latin typeface="Microsoft YaHei"/>
              </a:rPr>
              <a:t>量词正确吗？　</a:t>
            </a:r>
            <a:r>
              <a:rPr sz="1100" b="0">
                <a:solidFill>
                  <a:srgbClr val="56667A"/>
                </a:solidFill>
                <a:latin typeface="Microsoft YaHei"/>
              </a:rPr>
              <a:t>「存在」与「任意」的顺序有没有写反？这是高危区。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877055"/>
            <a:ext cx="1100297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877055"/>
            <a:ext cx="420624" cy="6035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877055"/>
            <a:ext cx="42062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7864" y="3877055"/>
            <a:ext cx="985083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2545"/>
                </a:solidFill>
                <a:latin typeface="Microsoft YaHei"/>
              </a:rPr>
              <a:t>数字自检了吗？　</a:t>
            </a:r>
            <a:r>
              <a:rPr sz="1100" b="0">
                <a:solidFill>
                  <a:srgbClr val="56667A"/>
                </a:solidFill>
                <a:latin typeface="Microsoft YaHei"/>
              </a:rPr>
              <a:t>各部分个数之和是否等于总数？Σ度数 = 2 × 边数？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553712"/>
            <a:ext cx="1100297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4553712"/>
            <a:ext cx="420624" cy="603504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553712"/>
            <a:ext cx="42062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7864" y="4553712"/>
            <a:ext cx="985083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2545"/>
                </a:solidFill>
                <a:latin typeface="Microsoft YaHei"/>
              </a:rPr>
              <a:t>答对问题了吗？　</a:t>
            </a:r>
            <a:r>
              <a:rPr sz="1100" b="0">
                <a:solidFill>
                  <a:srgbClr val="56667A"/>
                </a:solidFill>
                <a:latin typeface="Microsoft YaHei"/>
              </a:rPr>
              <a:t>「判断能否」必须给明确结论 + 理由，不能只写「矛盾」。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303520"/>
            <a:ext cx="11002975" cy="608507"/>
          </a:xfrm>
          <a:prstGeom prst="roundRect">
            <a:avLst>
              <a:gd name="adj" fmla="val 6000"/>
            </a:avLst>
          </a:prstGeom>
          <a:solidFill>
            <a:srgbClr val="F7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" y="5479084"/>
            <a:ext cx="10673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A5312"/>
                </a:solidFill>
                <a:latin typeface="Microsoft YaHei"/>
              </a:rPr>
              <a:t>这五项对应阅卷时最常见的失分点：不是不会，而是漏了、写反了、没写清。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8B2E"/>
                </a:solidFill>
                <a:latin typeface="Microsoft YaHei"/>
              </a:rPr>
              <a:t>一句话总结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新定义压轴题不是靠灵感，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9FD3D6"/>
                </a:solidFill>
                <a:latin typeface="Microsoft YaHei"/>
              </a:rPr>
              <a:t>而是靠一套可以重复执行的流程。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1188720" cy="45720"/>
          </a:xfrm>
          <a:prstGeom prst="rect">
            <a:avLst/>
          </a:prstGeom>
          <a:solidFill>
            <a:srgbClr val="C9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3063240"/>
            <a:ext cx="2350008" cy="1097280"/>
          </a:xfrm>
          <a:prstGeom prst="roundRect">
            <a:avLst>
              <a:gd name="adj" fmla="val 8000"/>
            </a:avLst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19842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98B2E"/>
                </a:solidFill>
                <a:latin typeface="Microsoft YaHei"/>
              </a:rPr>
              <a:t>翻译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FD0E4"/>
                </a:solidFill>
                <a:latin typeface="Microsoft YaHei"/>
              </a:rPr>
              <a:t>把定义变成能看的东西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3" y="3063240"/>
            <a:ext cx="2350008" cy="1097280"/>
          </a:xfrm>
          <a:prstGeom prst="roundRect">
            <a:avLst>
              <a:gd name="adj" fmla="val 8000"/>
            </a:avLst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66744" y="3200400"/>
            <a:ext cx="19842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98B2E"/>
                </a:solidFill>
                <a:latin typeface="Microsoft YaHei"/>
              </a:rPr>
              <a:t>增量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FD0E4"/>
                </a:solidFill>
                <a:latin typeface="Microsoft YaHei"/>
              </a:rPr>
              <a:t>找出每步必变的量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7" y="3063240"/>
            <a:ext cx="2350008" cy="1097280"/>
          </a:xfrm>
          <a:prstGeom prst="roundRect">
            <a:avLst>
              <a:gd name="adj" fmla="val 8000"/>
            </a:avLst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6207" y="3200400"/>
            <a:ext cx="19842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98B2E"/>
                </a:solidFill>
                <a:latin typeface="Microsoft YaHei"/>
              </a:rPr>
              <a:t>验证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FD0E4"/>
                </a:solidFill>
                <a:latin typeface="Microsoft YaHei"/>
              </a:rPr>
              <a:t>关键结论独立核对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22792" y="3063240"/>
            <a:ext cx="2350008" cy="1097280"/>
          </a:xfrm>
          <a:prstGeom prst="roundRect">
            <a:avLst>
              <a:gd name="adj" fmla="val 8000"/>
            </a:avLst>
          </a:prstGeom>
          <a:solidFill>
            <a:srgbClr val="1A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05672" y="3200400"/>
            <a:ext cx="19842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98B2E"/>
                </a:solidFill>
                <a:latin typeface="Microsoft YaHei"/>
              </a:rPr>
              <a:t>计数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FD0E4"/>
                </a:solidFill>
                <a:latin typeface="Microsoft YaHei"/>
              </a:rPr>
              <a:t>存在性换边数下界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0584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5E0EE"/>
                </a:solidFill>
                <a:latin typeface="Microsoft YaHei"/>
              </a:rPr>
              <a:t>本题：64 个点、80 条边、36 个「出口只有 2」的点 —— 逼出 64 条必用边，而 64 个点的路径只有 63 条边。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63 ≥ 64 不成立，于是全体元素不能构成 k 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2068</Words>
  <Application>Microsoft Office PowerPoint</Application>
  <PresentationFormat>宽屏</PresentationFormat>
  <Paragraphs>423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zhentao lu</dc:creator>
  <cp:keywords/>
  <dc:description>generated using python-pptx</dc:description>
  <cp:lastModifiedBy>zhentao lu</cp:lastModifiedBy>
  <cp:revision>1</cp:revision>
  <dcterms:created xsi:type="dcterms:W3CDTF">2013-01-27T09:14:16Z</dcterms:created>
  <dcterms:modified xsi:type="dcterms:W3CDTF">2026-10-14T13:09:51Z</dcterms:modified>
  <cp:category/>
</cp:coreProperties>
</file>