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B4762A"/>
                </a:solidFill>
                <a:latin typeface="微软雅黑"/>
              </a:rPr>
              <a:t>数学竞赛题　·　完整解答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7782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第 1 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83664"/>
            <a:ext cx="12191695" cy="22860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883664"/>
            <a:ext cx="12191695" cy="18288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51376"/>
            <a:ext cx="12191695" cy="18288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66543"/>
            <a:ext cx="10451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B4762A"/>
                </a:solidFill>
                <a:latin typeface="微软雅黑"/>
              </a:rPr>
              <a:t>原　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40864"/>
            <a:ext cx="1045159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黑板上写有 2026 个大于 1 的整数，允许有相同的数。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每次选取两个不同位置上的整数 m, n &gt; 1，把它们替换为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gcd(m, n)　和　lcm(m, n) / gcd(m, 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只要还能选出两个大于 1 的数，就继续操作。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104515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9E2A2B"/>
                </a:solidFill>
                <a:latin typeface="微软雅黑"/>
              </a:rPr>
              <a:t>(1)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证明操作必在有限步后停止，停止时恰有一个数大于 1，记为 M；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E2A2B"/>
                </a:solidFill>
                <a:latin typeface="微软雅黑"/>
              </a:rPr>
              <a:t>(2)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证明 M 与每一步所选的两个位置无关。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40">
                <a:solidFill>
                  <a:srgbClr val="B4762A"/>
                </a:solidFill>
                <a:latin typeface="微软雅黑"/>
              </a:rPr>
              <a:t>解 题 路 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1728"/>
            <a:ext cx="12191695" cy="1005840"/>
          </a:xfrm>
          <a:prstGeom prst="rect">
            <a:avLst/>
          </a:prstGeom>
          <a:solidFill>
            <a:srgbClr val="1B39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681728"/>
            <a:ext cx="12191695" cy="12801"/>
          </a:xfrm>
          <a:prstGeom prst="rect">
            <a:avLst/>
          </a:prstGeom>
          <a:solidFill>
            <a:srgbClr val="3A57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8280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762A"/>
                </a:solidFill>
                <a:latin typeface="微软雅黑"/>
              </a:rPr>
              <a:t>①　</a:t>
            </a:r>
            <a:r>
              <a:rPr sz="1300" b="1">
                <a:solidFill>
                  <a:srgbClr val="FFFFFF"/>
                </a:solidFill>
                <a:latin typeface="微软雅黑"/>
              </a:rPr>
              <a:t>逐个素数拆看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57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3CDDA"/>
                </a:solidFill>
                <a:latin typeface="微软雅黑"/>
              </a:rPr>
              <a:t>一次操作 = 指数上的辗转相减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8280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762A"/>
                </a:solidFill>
                <a:latin typeface="微软雅黑"/>
              </a:rPr>
              <a:t>②　</a:t>
            </a:r>
            <a:r>
              <a:rPr sz="1300" b="1">
                <a:solidFill>
                  <a:srgbClr val="FFFFFF"/>
                </a:solidFill>
                <a:latin typeface="微软雅黑"/>
              </a:rPr>
              <a:t>两个基本事实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5157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3CDDA"/>
                </a:solidFill>
                <a:latin typeface="微软雅黑"/>
              </a:rPr>
              <a:t>gcd 不变、指数和严格下降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48280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762A"/>
                </a:solidFill>
                <a:latin typeface="微软雅黑"/>
              </a:rPr>
              <a:t>③　</a:t>
            </a:r>
            <a:r>
              <a:rPr sz="1300" b="1">
                <a:solidFill>
                  <a:srgbClr val="FFFFFF"/>
                </a:solidFill>
                <a:latin typeface="微软雅黑"/>
              </a:rPr>
              <a:t>归纳推出结论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136" y="5157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3CDDA"/>
                </a:solidFill>
                <a:latin typeface="微软雅黑"/>
              </a:rPr>
              <a:t>停止时指数恰为 c_p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0702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FAEC0"/>
                </a:solidFill>
                <a:latin typeface="微软雅黑"/>
              </a:rPr>
              <a:t>关键工具：p 进指数　·　Euclid 辗转相减　·　两个不变量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题 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题目重述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黑板上写有 </a:t>
            </a:r>
            <a:r>
              <a:rPr sz="1350" b="1">
                <a:solidFill>
                  <a:srgbClr val="142C4A"/>
                </a:solidFill>
                <a:latin typeface="微软雅黑"/>
              </a:rPr>
              <a:t>2026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 个大于 1 的整数，允许有相同的数。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每次选取两个不同位置上的整数 </a:t>
            </a:r>
            <a:r>
              <a:rPr sz="1350" b="1">
                <a:solidFill>
                  <a:srgbClr val="1F242B"/>
                </a:solidFill>
                <a:latin typeface="Segoe UI"/>
              </a:rPr>
              <a:t>m, n &gt; 1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，把它们替换为：</a:t>
            </a:r>
          </a:p>
          <a:p>
            <a:pPr algn="l" marL="457200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2C4A"/>
                </a:solidFill>
                <a:latin typeface="Segoe UI"/>
              </a:rPr>
              <a:t>gcd(m, n)</a:t>
            </a:r>
            <a:r>
              <a:rPr sz="1350" b="0">
                <a:solidFill>
                  <a:srgbClr val="6D747D"/>
                </a:solidFill>
                <a:latin typeface="微软雅黑"/>
              </a:rPr>
              <a:t>　和　</a:t>
            </a:r>
            <a:r>
              <a:rPr sz="1500" b="1">
                <a:solidFill>
                  <a:srgbClr val="142C4A"/>
                </a:solidFill>
                <a:latin typeface="Segoe UI"/>
              </a:rPr>
              <a:t>lcm(m, n) / gcd(m, n)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只要还能选出两个大于 1 的数，就继续操作。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9E2A2B"/>
                </a:solidFill>
                <a:latin typeface="微软雅黑"/>
              </a:rPr>
              <a:t>(1)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　证明操作必在有限步后停止，且停止时恰有一个数大于 1，记为 M；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9E2A2B"/>
                </a:solidFill>
                <a:latin typeface="微软雅黑"/>
              </a:rPr>
              <a:t>(2)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　证明 M 与每一步所选的两个位置无关。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138928"/>
            <a:ext cx="12191695" cy="786384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138928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07024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1045159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42C4A"/>
                </a:solidFill>
                <a:latin typeface="微软雅黑"/>
              </a:rPr>
              <a:t>观察：操作的效果完全由 m、n 中 p 的指数 x、y 决定 —— 这是全部突破口。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分析一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核心想法：逐个素数拆开看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记 </a:t>
            </a:r>
            <a:r>
              <a:rPr sz="1350" b="1">
                <a:solidFill>
                  <a:srgbClr val="1F242B"/>
                </a:solidFill>
                <a:latin typeface="Segoe UI"/>
              </a:rPr>
              <a:t>v_p(n)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 为素数 p 在 n 中的指数。若 </a:t>
            </a:r>
            <a:r>
              <a:rPr sz="1350" b="0">
                <a:solidFill>
                  <a:srgbClr val="1F242B"/>
                </a:solidFill>
                <a:latin typeface="Segoe UI"/>
              </a:rPr>
              <a:t>v_p(m) = x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、</a:t>
            </a:r>
            <a:r>
              <a:rPr sz="1350" b="0">
                <a:solidFill>
                  <a:srgbClr val="1F242B"/>
                </a:solidFill>
                <a:latin typeface="Segoe UI"/>
              </a:rPr>
              <a:t>v_p(n) = y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，则</a:t>
            </a:r>
          </a:p>
          <a:p>
            <a:pPr algn="l" marL="457200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42C4A"/>
                </a:solidFill>
                <a:latin typeface="Segoe UI"/>
              </a:rPr>
              <a:t>v_p(gcd(m, n)) = min(x, y)</a:t>
            </a:r>
          </a:p>
          <a:p>
            <a:pPr algn="l" marL="457200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142C4A"/>
                </a:solidFill>
                <a:latin typeface="Segoe UI"/>
              </a:rPr>
              <a:t>v_p( lcm(m, n) / gcd(m, n) ) = |x − y|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也就是说，在指数这一层，一次操作变成了：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712463"/>
            <a:ext cx="12191695" cy="932688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712463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632350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712463"/>
            <a:ext cx="9539935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E2A2B"/>
                </a:solidFill>
                <a:latin typeface="微软雅黑"/>
              </a:rPr>
              <a:t>(x, y)  ↦  ( min(x, y),  |x − y|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这正是 Euclid 算法（辗转相减）走一步的形式。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因此可以对每个素数 p 独立讨论一次，各素数之间互不干扰。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分析二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两个基本事实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4762A"/>
                </a:solidFill>
                <a:latin typeface="微软雅黑"/>
              </a:rPr>
              <a:t>事实 1　</a:t>
            </a:r>
            <a:r>
              <a:rPr sz="1500" b="1">
                <a:solidFill>
                  <a:srgbClr val="142C4A"/>
                </a:solidFill>
                <a:latin typeface="微软雅黑"/>
              </a:rPr>
              <a:t>不变量：全体数的最大公约数被保持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设 </a:t>
            </a:r>
            <a:r>
              <a:rPr sz="1350" b="0">
                <a:solidFill>
                  <a:srgbClr val="1F242B"/>
                </a:solidFill>
                <a:latin typeface="Segoe UI"/>
              </a:rPr>
              <a:t>d = gcd(a₁, …, a₂₀₂₆)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。取出的两个数都含因子 gcd(m, n)，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而 gcd(m, n) 又整除 lcm(m, n)，故 d 整除替换后的两个数，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F242B"/>
                </a:solidFill>
                <a:latin typeface="微软雅黑"/>
              </a:rPr>
              <a:t>于是 d 在每一步之后都是黑板上所有数的公因数。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6D747D"/>
                </a:solidFill>
                <a:latin typeface="微软雅黑"/>
              </a:rPr>
              <a:t>特别地，任何时候每个数的 p 指数都 ≥ c_p := min v_p(a_i)。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B4762A"/>
                </a:solidFill>
                <a:latin typeface="微软雅黑"/>
              </a:rPr>
              <a:t>事实 2　</a:t>
            </a:r>
            <a:r>
              <a:rPr sz="1500" b="1">
                <a:solidFill>
                  <a:srgbClr val="142C4A"/>
                </a:solidFill>
                <a:latin typeface="微软雅黑"/>
              </a:rPr>
              <a:t>单调性：p 指数总和严格下降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用 T_p 表示黑板上所有数的 p 指数之和，</a:t>
            </a:r>
            <a:r>
              <a:rPr sz="1350" b="0">
                <a:solidFill>
                  <a:srgbClr val="1F242B"/>
                </a:solidFill>
                <a:latin typeface="Segoe UI"/>
              </a:rPr>
              <a:t>v_p(m) = x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、</a:t>
            </a:r>
            <a:r>
              <a:rPr sz="1350" b="0">
                <a:solidFill>
                  <a:srgbClr val="1F242B"/>
                </a:solidFill>
                <a:latin typeface="Segoe UI"/>
              </a:rPr>
              <a:t>v_p(n) = y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，若 x, y ≥ 1 则</a:t>
            </a:r>
          </a:p>
          <a:p>
            <a:pPr algn="l" marL="41148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42C4A"/>
                </a:solidFill>
                <a:latin typeface="Segoe UI"/>
              </a:rPr>
              <a:t>T_p ↦ T_p − 2·min(x,y)　（x ≠ y）　；　T_p ↦ T_p − min(x,y)　（x = y）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F242B"/>
                </a:solidFill>
                <a:latin typeface="微软雅黑"/>
              </a:rPr>
              <a:t>两种情形都严格变小；且 max( min(x,y), |x−y| ) = max(x, y)，最大指数永不增大。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分析三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事实 1 的证明：d 始终是公因数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76272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设 </a:t>
            </a:r>
            <a:r>
              <a:rPr sz="1350" b="0">
                <a:solidFill>
                  <a:srgbClr val="1F242B"/>
                </a:solidFill>
                <a:latin typeface="Segoe UI"/>
              </a:rPr>
              <a:t>d = gcd(a₁, …, a₂₀₂₆)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。只需说明：若操作前 d 整除所有数，则操作后仍然如此。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取出的两个数为 m、n，且 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m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、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n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B4762A"/>
                </a:solidFill>
                <a:latin typeface="微软雅黑"/>
              </a:rPr>
              <a:t>①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替换后的第一个数是 gcd(m, n)：它当然是 m、n 的因数，</a:t>
            </a:r>
          </a:p>
          <a:p>
            <a:pPr algn="l" marL="82296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所以 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gcd(m, n)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B4762A"/>
                </a:solidFill>
                <a:latin typeface="微软雅黑"/>
              </a:rPr>
              <a:t>②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替换后的第二个数是 lcm(m, n) / gcd(m, n)：由 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m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 得 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lcm(m, n)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</a:t>
            </a:r>
          </a:p>
          <a:p>
            <a:pPr algn="l" marL="822960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又 </a:t>
            </a:r>
            <a:r>
              <a:rPr sz="1350" b="0">
                <a:solidFill>
                  <a:srgbClr val="1F242B"/>
                </a:solidFill>
                <a:latin typeface="Segoe UI"/>
              </a:rPr>
              <a:t>d | gcd(m, n)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，故 d 整除这个商。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其余数没有变化。由归纳，d 在每一步后都是全部数的公因数。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分析四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固定素数 p：对 T_p 归纳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2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记 </a:t>
            </a:r>
            <a:r>
              <a:rPr sz="1350" b="0">
                <a:solidFill>
                  <a:srgbClr val="1F242B"/>
                </a:solidFill>
                <a:latin typeface="Segoe UI"/>
              </a:rPr>
              <a:t>c_p = min v_p(a_i)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</a:t>
            </a:r>
            <a:r>
              <a:rPr sz="1350" b="0">
                <a:solidFill>
                  <a:srgbClr val="1F242B"/>
                </a:solidFill>
                <a:latin typeface="Segoe UI"/>
              </a:rPr>
              <a:t>T_p = Σ v_p(a_i) &lt; ∞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，对 T_p 做归纳：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B4762A"/>
                </a:solidFill>
                <a:latin typeface="微软雅黑"/>
              </a:rPr>
              <a:t>①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若 T_p = 0，即没有数被 p 整除，结论显然。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B4762A"/>
                </a:solidFill>
                <a:latin typeface="微软雅黑"/>
              </a:rPr>
              <a:t>②　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若 T_p &gt; 0，且还有两个数都被 p 整除，则由事实 2，每步 T_p 严格减小，</a:t>
            </a:r>
          </a:p>
          <a:p>
            <a:pPr algn="l" marL="822960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故这样的配对只能做有限次。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B4762A"/>
                </a:solidFill>
                <a:latin typeface="微软雅黑"/>
              </a:rPr>
              <a:t>③　</a:t>
            </a:r>
            <a:r>
              <a:rPr sz="1350" b="1">
                <a:solidFill>
                  <a:srgbClr val="9E2A2B"/>
                </a:solidFill>
                <a:latin typeface="微软雅黑"/>
              </a:rPr>
              <a:t>由归纳假设，最终状态满足：至多有一个数被 p 整除。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设该数（记为 M）的 p 指数为 r，则：</a:t>
            </a:r>
          </a:p>
          <a:p>
            <a:pPr algn="l" marL="274320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· 其余数的指数都是 0，所以终止时全体指数的 gcd 就等于 r；</a:t>
            </a:r>
          </a:p>
          <a:p>
            <a:pPr algn="l" marL="274320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· 又 gcd( min(x,y), |x−y| ) = gcd(x, y)，指数的 gcd 每步不变，等于 c_p。</a:t>
            </a:r>
          </a:p>
          <a:p>
            <a:pPr algn="l" marL="274320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故 r = c_p，终止状态被各素数的 c_p 完全确定。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证明一（上半）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(1) 操作必在有限步后停止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每次取出的两个数都大于 1，故至少有一个素数 p 同时整除它们。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由事实 2，只要 p 同时整除取出的两个数，指数和 T_p 就严格减小，于是总量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054096"/>
            <a:ext cx="12191695" cy="86868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054096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09974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054096"/>
            <a:ext cx="95399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9E2A2B"/>
                </a:solidFill>
                <a:latin typeface="微软雅黑"/>
              </a:rPr>
              <a:t>T  =  Σ_p  T_p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33087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在每次操作后都严格减小。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而 T 是一个非负整数，不可能无限次严格下降，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所以操作必在有限步后停止。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D747D"/>
                </a:solidFill>
                <a:latin typeface="微软雅黑"/>
              </a:rPr>
              <a:t>说明：每一步都使 T 至少减少 1，故操作步数不超过 T 的初值。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证明一（下半）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(1) 停止时恰有一个数大于 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由分析四，对每个素数 p，停止时 p 的指数只能落在同一个数上，且恰为 c_p。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因此停止时黑板上唯一可能大于 1 的数是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3054096"/>
            <a:ext cx="12191695" cy="841248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054096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882542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054096"/>
            <a:ext cx="953993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E2A2B"/>
                </a:solidFill>
                <a:latin typeface="微软雅黑"/>
              </a:rPr>
              <a:t>M  =  Π_p  p ^ c_p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51376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由于所有 </a:t>
            </a:r>
            <a:r>
              <a:rPr sz="1350" b="0">
                <a:solidFill>
                  <a:srgbClr val="1F242B"/>
                </a:solidFill>
                <a:latin typeface="Segoe UI"/>
              </a:rPr>
              <a:t>a_i &gt; 1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，有 </a:t>
            </a:r>
            <a:r>
              <a:rPr sz="1350" b="0">
                <a:solidFill>
                  <a:srgbClr val="1F242B"/>
                </a:solidFill>
                <a:latin typeface="Segoe UI"/>
              </a:rPr>
              <a:t>d = gcd(a_i) &gt; 1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，从而 </a:t>
            </a:r>
            <a:r>
              <a:rPr sz="1350" b="0">
                <a:solidFill>
                  <a:srgbClr val="1F242B"/>
                </a:solidFill>
                <a:latin typeface="Segoe UI"/>
              </a:rPr>
              <a:t>M ≥ d &gt; 1</a:t>
            </a:r>
            <a:r>
              <a:rPr sz="1350" b="0">
                <a:solidFill>
                  <a:srgbClr val="1F242B"/>
                </a:solidFill>
                <a:latin typeface="微软雅黑"/>
              </a:rPr>
              <a:t>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而其余数在每个素数上的指数都是 0，即它们全等于 1。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所以停止时恰有一个数大于 1，它就是 M。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证明二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(2) M 与所选位置无关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09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前面的推导给出了一个显式公式：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029968"/>
            <a:ext cx="12191695" cy="768096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029968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85262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029968"/>
            <a:ext cx="95399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9E2A2B"/>
                </a:solidFill>
                <a:latin typeface="微软雅黑"/>
              </a:rPr>
              <a:t>M  =  Π_p  p ^ c_p</a:t>
            </a:r>
          </a:p>
          <a:p>
            <a:pPr algn="l" marL="50292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D747D"/>
                </a:solidFill>
                <a:latin typeface="微软雅黑"/>
              </a:rPr>
              <a:t>c_p = min { v_p(a₁), …, v_p(a₂₀₂₆)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右端只依赖最初写下的 2026 个数，与摆放位置、与操作顺序都无关，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42C4A"/>
                </a:solidFill>
                <a:latin typeface="微软雅黑"/>
              </a:rPr>
              <a:t>因此最终留下的那个大于 1 的数总是这个 M。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B4762A"/>
                </a:solidFill>
                <a:latin typeface="微软雅黑"/>
              </a:rPr>
              <a:t>小例子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1F242B"/>
                </a:solidFill>
                <a:latin typeface="Segoe UI"/>
              </a:rPr>
              <a:t>(12, 18)</a:t>
            </a:r>
            <a:r>
              <a:rPr sz="1250" b="0">
                <a:solidFill>
                  <a:srgbClr val="1F242B"/>
                </a:solidFill>
                <a:latin typeface="微软雅黑"/>
              </a:rPr>
              <a:t>：p = 2 的指数 (2,1) → (1,1)，p = 3 的指数 (1,2) → (1,1)，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1F242B"/>
                </a:solidFill>
                <a:latin typeface="微软雅黑"/>
              </a:rPr>
              <a:t>得 </a:t>
            </a:r>
            <a:r>
              <a:rPr sz="1250" b="1">
                <a:solidFill>
                  <a:srgbClr val="1F242B"/>
                </a:solidFill>
                <a:latin typeface="Segoe UI"/>
              </a:rPr>
              <a:t>(6, 6)</a:t>
            </a:r>
            <a:r>
              <a:rPr sz="1250" b="0">
                <a:solidFill>
                  <a:srgbClr val="1F242B"/>
                </a:solidFill>
                <a:latin typeface="微软雅黑"/>
              </a:rPr>
              <a:t>，再操作一次得 </a:t>
            </a:r>
            <a:r>
              <a:rPr sz="1250" b="1">
                <a:solidFill>
                  <a:srgbClr val="1F242B"/>
                </a:solidFill>
                <a:latin typeface="Segoe UI"/>
              </a:rPr>
              <a:t>(6, 1)</a:t>
            </a:r>
            <a:r>
              <a:rPr sz="1250" b="0">
                <a:solidFill>
                  <a:srgbClr val="1F242B"/>
                </a:solidFill>
                <a:latin typeface="微软雅黑"/>
              </a:rPr>
              <a:t>，M = 6 = gcd(12, 18)。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91695" cy="18288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481328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572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1089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B4762A"/>
                </a:solidFill>
                <a:latin typeface="微软雅黑"/>
              </a:rPr>
              <a:t>总 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C4A"/>
                </a:solidFill>
                <a:latin typeface="微软雅黑"/>
              </a:rPr>
              <a:t>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25296"/>
            <a:ext cx="1371600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329184"/>
            <a:ext cx="1810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747D"/>
                </a:solidFill>
                <a:latin typeface="Segoe UI"/>
              </a:rPr>
              <a:t>10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6446520"/>
            <a:ext cx="10451592" cy="10972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1967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47D"/>
                </a:solidFill>
                <a:latin typeface="微软雅黑"/>
              </a:rPr>
              <a:t>第 1 题　·　gcd / lcm 操作与不变量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10451592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C4A"/>
                </a:solidFill>
                <a:latin typeface="微软雅黑"/>
              </a:rPr>
              <a:t>核心机制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一次操作就是把两个 p 指数 (x, y) 换成 ( min(x,y), |x−y| )，即一次辗转相减；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每步 T_p 都严格下降，而 T_p 是非负整数，所以过程一定终止。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C4A"/>
                </a:solidFill>
                <a:latin typeface="微软雅黑"/>
              </a:rPr>
              <a:t>两个不变量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① 全体数的 gcd 不变；　② 单步满足 gcd( min(x,y), |x−y| ) = gcd(x, y)。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二者结合推出：终止时 p 的指数恰为 c_p = min v_p(a_i)。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C4A"/>
                </a:solidFill>
                <a:latin typeface="微软雅黑"/>
              </a:rPr>
              <a:t>结论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F242B"/>
                </a:solidFill>
                <a:latin typeface="微软雅黑"/>
              </a:rPr>
              <a:t>操作有限步停止，停止时恰有一个数大于 1，且 M 只由最初写下的 2026 个数决定。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138928"/>
            <a:ext cx="12191695" cy="82296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138928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9086"/>
            <a:ext cx="12191695" cy="12801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38928"/>
            <a:ext cx="95399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E2A2B"/>
                </a:solidFill>
                <a:latin typeface="微软雅黑"/>
              </a:rPr>
              <a:t>M  =  Π_p  p ^ c_p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