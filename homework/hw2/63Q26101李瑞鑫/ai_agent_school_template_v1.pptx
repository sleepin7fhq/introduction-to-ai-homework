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E7C6"/>
    <a:srgbClr val="5440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4" d="100"/>
          <a:sy n="74" d="100"/>
        </p:scale>
        <p:origin x="33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3566253" y="966238"/>
            <a:ext cx="4830147" cy="4830147"/>
          </a:xfrm>
          <a:custGeom>
            <a:avLst/>
            <a:gdLst>
              <a:gd name="connsiteX0" fmla="*/ 2043404 w 4086808"/>
              <a:gd name="connsiteY0" fmla="*/ 0 h 4086808"/>
              <a:gd name="connsiteX1" fmla="*/ 4086808 w 4086808"/>
              <a:gd name="connsiteY1" fmla="*/ 2043404 h 4086808"/>
              <a:gd name="connsiteX2" fmla="*/ 2043404 w 4086808"/>
              <a:gd name="connsiteY2" fmla="*/ 4086808 h 4086808"/>
              <a:gd name="connsiteX3" fmla="*/ 0 w 4086808"/>
              <a:gd name="connsiteY3" fmla="*/ 2043404 h 4086808"/>
              <a:gd name="connsiteX4" fmla="*/ 2043404 w 4086808"/>
              <a:gd name="connsiteY4" fmla="*/ 0 h 40868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6808" h="4086808">
                <a:moveTo>
                  <a:pt x="2043404" y="0"/>
                </a:moveTo>
                <a:cubicBezTo>
                  <a:pt x="3171945" y="0"/>
                  <a:pt x="4086808" y="914863"/>
                  <a:pt x="4086808" y="2043404"/>
                </a:cubicBezTo>
                <a:cubicBezTo>
                  <a:pt x="4086808" y="3171945"/>
                  <a:pt x="3171945" y="4086808"/>
                  <a:pt x="2043404" y="4086808"/>
                </a:cubicBezTo>
                <a:cubicBezTo>
                  <a:pt x="914863" y="4086808"/>
                  <a:pt x="0" y="3171945"/>
                  <a:pt x="0" y="2043404"/>
                </a:cubicBezTo>
                <a:cubicBezTo>
                  <a:pt x="0" y="914863"/>
                  <a:pt x="914863" y="0"/>
                  <a:pt x="2043404" y="0"/>
                </a:cubicBezTo>
                <a:close/>
              </a:path>
            </a:pathLst>
          </a:custGeom>
          <a:effectLst/>
        </p:spPr>
      </p:pic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812246" y="1451429"/>
            <a:ext cx="953338" cy="3594074"/>
          </a:xfrm>
        </p:spPr>
        <p:txBody>
          <a:bodyPr vert="eaVert" wrap="square" anchor="ctr" anchorCtr="0">
            <a:normAutofit/>
          </a:bodyPr>
          <a:lstStyle>
            <a:lvl1pPr algn="ctr">
              <a:lnSpc>
                <a:spcPct val="90000"/>
              </a:lnSpc>
              <a:defRPr sz="54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152545" y="2360825"/>
            <a:ext cx="469359" cy="2771038"/>
          </a:xfrm>
        </p:spPr>
        <p:txBody>
          <a:bodyPr vert="eaVert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249EE-058C-4683-B72F-E983EB4B1B47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4BB8C-9527-4AD5-817B-ADF2A6F36A67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9269" y="1374414"/>
            <a:ext cx="1066800" cy="133350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5887" y="4445426"/>
            <a:ext cx="543628" cy="5662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249EE-058C-4683-B72F-E983EB4B1B47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4BB8C-9527-4AD5-817B-ADF2A6F36A6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998278" y="499182"/>
            <a:ext cx="4029075" cy="37338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442053" y="1164277"/>
            <a:ext cx="3640816" cy="3640816"/>
          </a:xfrm>
          <a:custGeom>
            <a:avLst/>
            <a:gdLst>
              <a:gd name="connsiteX0" fmla="*/ 2043404 w 4086808"/>
              <a:gd name="connsiteY0" fmla="*/ 0 h 4086808"/>
              <a:gd name="connsiteX1" fmla="*/ 4086808 w 4086808"/>
              <a:gd name="connsiteY1" fmla="*/ 2043404 h 4086808"/>
              <a:gd name="connsiteX2" fmla="*/ 2043404 w 4086808"/>
              <a:gd name="connsiteY2" fmla="*/ 4086808 h 4086808"/>
              <a:gd name="connsiteX3" fmla="*/ 0 w 4086808"/>
              <a:gd name="connsiteY3" fmla="*/ 2043404 h 4086808"/>
              <a:gd name="connsiteX4" fmla="*/ 2043404 w 4086808"/>
              <a:gd name="connsiteY4" fmla="*/ 0 h 40868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6808" h="4086808">
                <a:moveTo>
                  <a:pt x="2043404" y="0"/>
                </a:moveTo>
                <a:cubicBezTo>
                  <a:pt x="3171945" y="0"/>
                  <a:pt x="4086808" y="914863"/>
                  <a:pt x="4086808" y="2043404"/>
                </a:cubicBezTo>
                <a:cubicBezTo>
                  <a:pt x="4086808" y="3171945"/>
                  <a:pt x="3171945" y="4086808"/>
                  <a:pt x="2043404" y="4086808"/>
                </a:cubicBezTo>
                <a:cubicBezTo>
                  <a:pt x="914863" y="4086808"/>
                  <a:pt x="0" y="3171945"/>
                  <a:pt x="0" y="2043404"/>
                </a:cubicBezTo>
                <a:cubicBezTo>
                  <a:pt x="0" y="914863"/>
                  <a:pt x="914863" y="0"/>
                  <a:pt x="2043404" y="0"/>
                </a:cubicBezTo>
                <a:close/>
              </a:path>
            </a:pathLst>
          </a:custGeom>
        </p:spPr>
      </p:pic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699465" y="3208205"/>
            <a:ext cx="3125992" cy="646331"/>
          </a:xfrm>
        </p:spPr>
        <p:txBody>
          <a:bodyPr wrap="square" anchor="t" anchorCtr="0">
            <a:normAutofit/>
          </a:bodyPr>
          <a:lstStyle>
            <a:lvl1pPr algn="ctr">
              <a:lnSpc>
                <a:spcPct val="90000"/>
              </a:lnSpc>
              <a:defRPr sz="40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4699465" y="1917860"/>
            <a:ext cx="3125992" cy="1200329"/>
          </a:xfrm>
        </p:spPr>
        <p:txBody>
          <a:bodyPr anchor="b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80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249EE-058C-4683-B72F-E983EB4B1B47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4BB8C-9527-4AD5-817B-ADF2A6F36A67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294811" y="2172949"/>
            <a:ext cx="2647950" cy="3133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249EE-058C-4683-B72F-E983EB4B1B47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4BB8C-9527-4AD5-817B-ADF2A6F36A6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2635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249EE-058C-4683-B72F-E983EB4B1B47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4BB8C-9527-4AD5-817B-ADF2A6F36A6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3566253" y="966238"/>
            <a:ext cx="4830147" cy="4830147"/>
          </a:xfrm>
          <a:custGeom>
            <a:avLst/>
            <a:gdLst>
              <a:gd name="connsiteX0" fmla="*/ 2043404 w 4086808"/>
              <a:gd name="connsiteY0" fmla="*/ 0 h 4086808"/>
              <a:gd name="connsiteX1" fmla="*/ 4086808 w 4086808"/>
              <a:gd name="connsiteY1" fmla="*/ 2043404 h 4086808"/>
              <a:gd name="connsiteX2" fmla="*/ 2043404 w 4086808"/>
              <a:gd name="connsiteY2" fmla="*/ 4086808 h 4086808"/>
              <a:gd name="connsiteX3" fmla="*/ 0 w 4086808"/>
              <a:gd name="connsiteY3" fmla="*/ 2043404 h 4086808"/>
              <a:gd name="connsiteX4" fmla="*/ 2043404 w 4086808"/>
              <a:gd name="connsiteY4" fmla="*/ 0 h 40868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6808" h="4086808">
                <a:moveTo>
                  <a:pt x="2043404" y="0"/>
                </a:moveTo>
                <a:cubicBezTo>
                  <a:pt x="3171945" y="0"/>
                  <a:pt x="4086808" y="914863"/>
                  <a:pt x="4086808" y="2043404"/>
                </a:cubicBezTo>
                <a:cubicBezTo>
                  <a:pt x="4086808" y="3171945"/>
                  <a:pt x="3171945" y="4086808"/>
                  <a:pt x="2043404" y="4086808"/>
                </a:cubicBezTo>
                <a:cubicBezTo>
                  <a:pt x="914863" y="4086808"/>
                  <a:pt x="0" y="3171945"/>
                  <a:pt x="0" y="2043404"/>
                </a:cubicBezTo>
                <a:cubicBezTo>
                  <a:pt x="0" y="914863"/>
                  <a:pt x="914863" y="0"/>
                  <a:pt x="2043404" y="0"/>
                </a:cubicBezTo>
                <a:close/>
              </a:path>
            </a:pathLst>
          </a:custGeom>
          <a:effectLst/>
        </p:spPr>
      </p:pic>
      <p:cxnSp>
        <p:nvCxnSpPr>
          <p:cNvPr id="10" name="直接连接符 9"/>
          <p:cNvCxnSpPr/>
          <p:nvPr/>
        </p:nvCxnSpPr>
        <p:spPr>
          <a:xfrm>
            <a:off x="5470776" y="1817008"/>
            <a:ext cx="1" cy="45745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812246" y="1451429"/>
            <a:ext cx="953338" cy="3594074"/>
          </a:xfrm>
        </p:spPr>
        <p:txBody>
          <a:bodyPr vert="eaVert" wrap="square" anchor="ctr" anchorCtr="0">
            <a:normAutofit/>
          </a:bodyPr>
          <a:lstStyle>
            <a:lvl1pPr algn="ctr">
              <a:lnSpc>
                <a:spcPct val="90000"/>
              </a:lnSpc>
              <a:defRPr sz="54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238905" y="2274465"/>
            <a:ext cx="469359" cy="2771038"/>
          </a:xfrm>
        </p:spPr>
        <p:txBody>
          <a:bodyPr vert="eaVert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249EE-058C-4683-B72F-E983EB4B1B47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4BB8C-9527-4AD5-817B-ADF2A6F36A67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9269" y="1374414"/>
            <a:ext cx="1066800" cy="133350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5887" y="4445426"/>
            <a:ext cx="543628" cy="5662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249EE-058C-4683-B72F-E983EB4B1B47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4BB8C-9527-4AD5-817B-ADF2A6F36A6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249EE-058C-4683-B72F-E983EB4B1B47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4BB8C-9527-4AD5-817B-ADF2A6F36A6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7" y="457200"/>
            <a:ext cx="4165200" cy="1600200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457200"/>
            <a:ext cx="6170400" cy="540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7" y="2057400"/>
            <a:ext cx="41652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2026/10/19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119360" y="365125"/>
            <a:ext cx="1234440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913892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249EE-058C-4683-B72F-E983EB4B1B47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4BB8C-9527-4AD5-817B-ADF2A6F36A6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 userDrawn="1"/>
        </p:nvSpPr>
        <p:spPr>
          <a:xfrm>
            <a:off x="11304588" y="6086475"/>
            <a:ext cx="298450" cy="2984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椭圆 2"/>
          <p:cNvSpPr/>
          <p:nvPr userDrawn="1"/>
        </p:nvSpPr>
        <p:spPr>
          <a:xfrm>
            <a:off x="11603038" y="6034088"/>
            <a:ext cx="142875" cy="141287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椭圆 3"/>
          <p:cNvSpPr/>
          <p:nvPr userDrawn="1"/>
        </p:nvSpPr>
        <p:spPr>
          <a:xfrm>
            <a:off x="11690350" y="6248400"/>
            <a:ext cx="60325" cy="603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>
          <a:xfrm>
            <a:off x="11239500" y="6048375"/>
            <a:ext cx="430213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</a:lstStyle>
          <a:p>
            <a:fld id="{3CAA7E89-ABB9-485B-8EAF-4D6A08193F1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alphaModFix amt="83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lnSpc>
                <a:spcPct val="120000"/>
              </a:lnSpc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3C5249EE-058C-4683-B72F-E983EB4B1B47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120000"/>
              </a:lnSpc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lnSpc>
                <a:spcPct val="120000"/>
              </a:lnSpc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2E64BB8C-9527-4AD5-817B-ADF2A6F36A6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6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18288" tIns="18288" rIns="18288" bIns="18288" anchor="ctr"/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4400" b="0" i="0">
                <a:solidFill>
                  <a:srgbClr val="54402C"/>
                </a:solidFill>
              </a:rPr>
              <a:t>工数题目分析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 lIns="18288" tIns="18288" r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0" i="0">
                <a:solidFill>
                  <a:srgbClr val="54402C"/>
                </a:solidFill>
              </a:rPr>
              <a:t>——</a:t>
            </a:r>
            <a:r>
              <a:rPr lang="en-US" altLang="zh-CN" sz="1800" b="0" i="0">
                <a:solidFill>
                  <a:srgbClr val="54402C"/>
                </a:solidFill>
              </a:rPr>
              <a:t> </a:t>
            </a:r>
            <a:r>
              <a:rPr lang="zh-CN" altLang="en-US" sz="1800" b="0" i="0">
                <a:solidFill>
                  <a:srgbClr val="54402C"/>
                </a:solidFill>
              </a:rPr>
              <a:t>极限题五步法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68680" y="5779008"/>
            <a:ext cx="10442448" cy="0"/>
          </a:xfrm>
          <a:prstGeom prst="line">
            <a:avLst/>
          </a:prstGeom>
          <a:ln w="7620">
            <a:solidFill>
              <a:srgbClr val="C9B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68680" y="5879592"/>
            <a:ext cx="594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950" b="0" i="0" spc="120">
                <a:solidFill>
                  <a:srgbClr val="897660"/>
                </a:solidFill>
              </a:rPr>
              <a:t>题目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1328" y="5833872"/>
            <a:ext cx="9646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50" b="0" i="0">
                <a:solidFill>
                  <a:srgbClr val="362A1E"/>
                </a:solidFill>
                <a:latin typeface="Cambria Math"/>
              </a:rPr>
              <a:t>L = lim</a:t>
            </a:r>
            <a:r>
              <a:rPr lang="en-US" altLang="zh-CN" sz="1072" b="0" i="0" baseline="-25000">
                <a:solidFill>
                  <a:srgbClr val="362A1E"/>
                </a:solidFill>
                <a:latin typeface="Cambria Math"/>
              </a:rPr>
              <a:t>x→0</a:t>
            </a:r>
            <a:r>
              <a:rPr lang="en-US" altLang="zh-CN" sz="1850" b="0" i="0">
                <a:solidFill>
                  <a:srgbClr val="362A1E"/>
                </a:solidFill>
                <a:latin typeface="Cambria Math"/>
              </a:rPr>
              <a:t>  [ ∫₀ˣ ln(1+t²) dt ] / x³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18288" tIns="18288" r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altLang="zh-CN" sz="950" b="0" i="0" spc="100">
                <a:solidFill>
                  <a:srgbClr val="897660"/>
                </a:solidFill>
              </a:rPr>
              <a:t>STEP 01</a:t>
            </a:r>
            <a:r>
              <a:rPr lang="zh-CN" altLang="en-US" sz="950" b="0" i="0" spc="100">
                <a:solidFill>
                  <a:srgbClr val="897660"/>
                </a:solidFill>
              </a:rPr>
              <a:t>　审题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000" b="0" i="0">
                <a:solidFill>
                  <a:srgbClr val="54402C"/>
                </a:solidFill>
              </a:rPr>
              <a:t>先判断，再动笔</a:t>
            </a:r>
          </a:p>
        </p:txBody>
      </p:sp>
      <p:pic>
        <p:nvPicPr>
          <p:cNvPr id="3" name="Picture Placeholder 2" descr="函数 y=ln(1+t²) 在区间 [0,x] 上的面积示意图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2" r="42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 wrap="square" lIns="18288" tIns="18288" rIns="18288" bIns="18288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CN" altLang="en-US" sz="1500" b="1" i="0">
                <a:solidFill>
                  <a:srgbClr val="54402C"/>
                </a:solidFill>
              </a:rPr>
              <a:t>题型｜</a:t>
            </a:r>
            <a:r>
              <a:rPr lang="en-US" altLang="zh-CN" sz="1500" b="0" i="0">
                <a:solidFill>
                  <a:srgbClr val="362A1E"/>
                </a:solidFill>
              </a:rPr>
              <a:t>0/0 </a:t>
            </a:r>
            <a:r>
              <a:rPr lang="zh-CN" altLang="en-US" sz="1500" b="0" i="0">
                <a:solidFill>
                  <a:srgbClr val="362A1E"/>
                </a:solidFill>
              </a:rPr>
              <a:t>型；分子为变上限积分。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CN" altLang="en-US" sz="1500" b="1" i="0">
                <a:solidFill>
                  <a:srgbClr val="54402C"/>
                </a:solidFill>
              </a:rPr>
              <a:t>关键｜</a:t>
            </a:r>
            <a:r>
              <a:rPr lang="zh-CN" altLang="en-US" sz="1500" b="0" i="0">
                <a:solidFill>
                  <a:srgbClr val="362A1E"/>
                </a:solidFill>
              </a:rPr>
              <a:t>对上限</a:t>
            </a:r>
            <a:r>
              <a:rPr lang="en-US" altLang="zh-CN" sz="1500" b="0" i="0">
                <a:solidFill>
                  <a:srgbClr val="362A1E"/>
                </a:solidFill>
              </a:rPr>
              <a:t> x </a:t>
            </a:r>
            <a:r>
              <a:rPr lang="zh-CN" altLang="en-US" sz="1500" b="0" i="0">
                <a:solidFill>
                  <a:srgbClr val="362A1E"/>
                </a:solidFill>
              </a:rPr>
              <a:t>求导，积分号消失。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CN" altLang="en-US" sz="1500" b="1" i="0">
                <a:solidFill>
                  <a:srgbClr val="54402C"/>
                </a:solidFill>
              </a:rPr>
              <a:t>预判｜</a:t>
            </a:r>
            <a:r>
              <a:rPr lang="en-US" altLang="zh-CN" sz="1500" b="0" i="0">
                <a:solidFill>
                  <a:srgbClr val="362A1E"/>
                </a:solidFill>
              </a:rPr>
              <a:t>t→0 </a:t>
            </a:r>
            <a:r>
              <a:rPr lang="zh-CN" altLang="en-US" sz="1500" b="0" i="0">
                <a:solidFill>
                  <a:srgbClr val="362A1E"/>
                </a:solidFill>
              </a:rPr>
              <a:t>时，</a:t>
            </a:r>
            <a:r>
              <a:rPr lang="en-US" altLang="zh-CN" sz="1500" b="0" i="0">
                <a:solidFill>
                  <a:srgbClr val="362A1E"/>
                </a:solidFill>
              </a:rPr>
              <a:t>ln(1+t²)∼t²</a:t>
            </a:r>
            <a:r>
              <a:rPr lang="zh-CN" altLang="en-US" sz="1500" b="0" i="0">
                <a:solidFill>
                  <a:srgbClr val="362A1E"/>
                </a:solidFill>
              </a:rPr>
              <a:t>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CN" altLang="en-US" sz="1500" b="1" i="0">
                <a:solidFill>
                  <a:srgbClr val="54402C"/>
                </a:solidFill>
              </a:rPr>
              <a:t>目标｜</a:t>
            </a:r>
            <a:r>
              <a:rPr lang="zh-CN" altLang="en-US" sz="1500" b="0" i="0">
                <a:solidFill>
                  <a:srgbClr val="362A1E"/>
                </a:solidFill>
              </a:rPr>
              <a:t>证明极限存在，并求出定值。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93792" y="5852160"/>
            <a:ext cx="5989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880" b="0" i="0">
                <a:solidFill>
                  <a:srgbClr val="897660"/>
                </a:solidFill>
              </a:rPr>
              <a:t>图</a:t>
            </a:r>
            <a:r>
              <a:rPr lang="en-US" altLang="zh-CN" sz="880" b="0" i="0">
                <a:solidFill>
                  <a:srgbClr val="897660"/>
                </a:solidFill>
              </a:rPr>
              <a:t> 1</a:t>
            </a:r>
            <a:r>
              <a:rPr lang="zh-CN" altLang="en-US" sz="880" b="0" i="0">
                <a:solidFill>
                  <a:srgbClr val="897660"/>
                </a:solidFill>
              </a:rPr>
              <a:t>　面积</a:t>
            </a:r>
            <a:r>
              <a:rPr lang="en-US" altLang="zh-CN" sz="880" b="0" i="0">
                <a:solidFill>
                  <a:srgbClr val="897660"/>
                </a:solidFill>
              </a:rPr>
              <a:t> F(x) </a:t>
            </a:r>
            <a:r>
              <a:rPr lang="zh-CN" altLang="en-US" sz="880" b="0" i="0">
                <a:solidFill>
                  <a:srgbClr val="897660"/>
                </a:solidFill>
              </a:rPr>
              <a:t>随上限</a:t>
            </a:r>
            <a:r>
              <a:rPr lang="en-US" altLang="zh-CN" sz="880" b="0" i="0">
                <a:solidFill>
                  <a:srgbClr val="897660"/>
                </a:solidFill>
              </a:rPr>
              <a:t> x </a:t>
            </a:r>
            <a:r>
              <a:rPr lang="zh-CN" altLang="en-US" sz="880" b="0" i="0">
                <a:solidFill>
                  <a:srgbClr val="897660"/>
                </a:solidFill>
              </a:rPr>
              <a:t>增长；在</a:t>
            </a:r>
            <a:r>
              <a:rPr lang="en-US" altLang="zh-CN" sz="880" b="0" i="0">
                <a:solidFill>
                  <a:srgbClr val="897660"/>
                </a:solidFill>
              </a:rPr>
              <a:t> 0 </a:t>
            </a:r>
            <a:r>
              <a:rPr lang="zh-CN" altLang="en-US" sz="880" b="0" i="0">
                <a:solidFill>
                  <a:srgbClr val="897660"/>
                </a:solidFill>
              </a:rPr>
              <a:t>附近，被积函数</a:t>
            </a:r>
            <a:r>
              <a:rPr lang="en-US" altLang="zh-CN" sz="880" b="0" i="0">
                <a:solidFill>
                  <a:srgbClr val="897660"/>
                </a:solidFill>
              </a:rPr>
              <a:t> ≈ t²</a:t>
            </a:r>
            <a:r>
              <a:rPr lang="zh-CN" altLang="en-US" sz="880" b="0" i="0">
                <a:solidFill>
                  <a:srgbClr val="897660"/>
                </a:solidFill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6492240"/>
            <a:ext cx="4206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850" b="0" i="0">
                <a:solidFill>
                  <a:srgbClr val="897660"/>
                </a:solidFill>
              </a:rPr>
              <a:t>工数题目分析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9880" y="6492240"/>
            <a:ext cx="868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50" b="0" i="0">
                <a:solidFill>
                  <a:srgbClr val="897660"/>
                </a:solidFill>
              </a:rPr>
              <a:t>02 /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18288" tIns="18288" r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altLang="zh-CN" sz="950" b="0" i="0" spc="100">
                <a:solidFill>
                  <a:srgbClr val="897660"/>
                </a:solidFill>
              </a:rPr>
              <a:t>STEP 02</a:t>
            </a:r>
            <a:r>
              <a:rPr lang="zh-CN" altLang="en-US" sz="950" b="0" i="0" spc="100">
                <a:solidFill>
                  <a:srgbClr val="897660"/>
                </a:solidFill>
              </a:rPr>
              <a:t>　选法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000" b="0" i="0">
                <a:solidFill>
                  <a:srgbClr val="54402C"/>
                </a:solidFill>
              </a:rPr>
              <a:t>两条路，先选快的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lIns="18288" tIns="18288" rIns="18288" bIns="18288" anchor="b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>
                <a:solidFill>
                  <a:srgbClr val="54402C"/>
                </a:solidFill>
              </a:rPr>
              <a:t>A</a:t>
            </a:r>
            <a:r>
              <a:rPr lang="zh-CN" altLang="en-US" sz="2000" b="1" i="0">
                <a:solidFill>
                  <a:srgbClr val="54402C"/>
                </a:solidFill>
              </a:rPr>
              <a:t>｜直接洛必达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 wrap="square" lIns="18288" tIns="18288" rIns="18288" bIns="18288" anchor="t"/>
          <a:lstStyle/>
          <a:p>
            <a:pPr marL="219456"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CN" altLang="en-US" sz="1639" b="0" i="0">
                <a:solidFill>
                  <a:srgbClr val="362A1E"/>
                </a:solidFill>
              </a:rPr>
              <a:t>·　用</a:t>
            </a:r>
            <a:r>
              <a:rPr lang="en-US" altLang="zh-CN" sz="1639" b="0" i="0">
                <a:solidFill>
                  <a:srgbClr val="362A1E"/>
                </a:solidFill>
              </a:rPr>
              <a:t> FTC </a:t>
            </a:r>
            <a:r>
              <a:rPr lang="zh-CN" altLang="en-US" sz="1639" b="0" i="0">
                <a:solidFill>
                  <a:srgbClr val="362A1E"/>
                </a:solidFill>
              </a:rPr>
              <a:t>拆掉积分号。</a:t>
            </a:r>
          </a:p>
          <a:p>
            <a:pPr marL="219456"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CN" altLang="en-US" sz="1639" b="0" i="0">
                <a:solidFill>
                  <a:srgbClr val="362A1E"/>
                </a:solidFill>
              </a:rPr>
              <a:t>·　商式仍为</a:t>
            </a:r>
            <a:r>
              <a:rPr lang="en-US" altLang="zh-CN" sz="1639" b="0" i="0">
                <a:solidFill>
                  <a:srgbClr val="362A1E"/>
                </a:solidFill>
              </a:rPr>
              <a:t> 0/0</a:t>
            </a:r>
            <a:r>
              <a:rPr lang="zh-CN" altLang="en-US" sz="1639" b="0" i="0">
                <a:solidFill>
                  <a:srgbClr val="362A1E"/>
                </a:solidFill>
              </a:rPr>
              <a:t>，再洛必达。</a:t>
            </a:r>
          </a:p>
          <a:p>
            <a:pPr marL="219456"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CN" altLang="en-US" sz="1639" b="0" i="0">
                <a:solidFill>
                  <a:srgbClr val="362A1E"/>
                </a:solidFill>
              </a:rPr>
              <a:t>·　用等价无穷小</a:t>
            </a:r>
            <a:r>
              <a:rPr lang="en-US" altLang="zh-CN" sz="1639" b="0" i="0">
                <a:solidFill>
                  <a:srgbClr val="362A1E"/>
                </a:solidFill>
              </a:rPr>
              <a:t> x² </a:t>
            </a:r>
            <a:r>
              <a:rPr lang="zh-CN" altLang="en-US" sz="1639" b="0" i="0">
                <a:solidFill>
                  <a:srgbClr val="362A1E"/>
                </a:solidFill>
              </a:rPr>
              <a:t>收口。</a:t>
            </a:r>
          </a:p>
          <a:p>
            <a:pPr marL="219456"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CN" altLang="en-US" sz="1639" b="0" i="0">
                <a:solidFill>
                  <a:srgbClr val="362A1E"/>
                </a:solidFill>
              </a:rPr>
              <a:t>·　优点：步骤短，考场友好。</a:t>
            </a:r>
          </a:p>
          <a:p>
            <a:pPr marL="219456"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CN" altLang="en-US" sz="1639" b="0" i="0">
                <a:solidFill>
                  <a:srgbClr val="362A1E"/>
                </a:solidFill>
              </a:rPr>
              <a:t>·　风险：别连着洛必达。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 wrap="square" lIns="18288" tIns="18288" rIns="18288" bIns="18288" anchor="b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>
                <a:solidFill>
                  <a:srgbClr val="54402C"/>
                </a:solidFill>
              </a:rPr>
              <a:t>B</a:t>
            </a:r>
            <a:r>
              <a:rPr lang="zh-CN" altLang="en-US" sz="2000" b="1" i="0">
                <a:solidFill>
                  <a:srgbClr val="54402C"/>
                </a:solidFill>
              </a:rPr>
              <a:t>｜泰勒展开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 wrap="square" lIns="18288" tIns="18288" rIns="18288" bIns="18288" anchor="t"/>
          <a:lstStyle/>
          <a:p>
            <a:pPr marL="219456"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CN" altLang="en-US" sz="1639" b="0" i="0">
                <a:solidFill>
                  <a:srgbClr val="362A1E"/>
                </a:solidFill>
              </a:rPr>
              <a:t>·　展开</a:t>
            </a:r>
            <a:r>
              <a:rPr lang="en-US" altLang="zh-CN" sz="1639" b="0" i="0">
                <a:solidFill>
                  <a:srgbClr val="362A1E"/>
                </a:solidFill>
              </a:rPr>
              <a:t> ln(1+t²)</a:t>
            </a:r>
            <a:r>
              <a:rPr lang="zh-CN" altLang="en-US" sz="1639" b="0" i="0">
                <a:solidFill>
                  <a:srgbClr val="362A1E"/>
                </a:solidFill>
              </a:rPr>
              <a:t>，逐项积分。</a:t>
            </a:r>
          </a:p>
          <a:p>
            <a:pPr marL="219456"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CN" altLang="en-US" sz="1639" b="0" i="0">
                <a:solidFill>
                  <a:srgbClr val="362A1E"/>
                </a:solidFill>
              </a:rPr>
              <a:t>·　比较分子、分母的最低阶。</a:t>
            </a:r>
          </a:p>
          <a:p>
            <a:pPr marL="219456"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CN" altLang="en-US" sz="1639" b="0" i="0">
                <a:solidFill>
                  <a:srgbClr val="362A1E"/>
                </a:solidFill>
              </a:rPr>
              <a:t>·　同时得到误差阶。</a:t>
            </a:r>
          </a:p>
          <a:p>
            <a:pPr marL="219456"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CN" altLang="en-US" sz="1639" b="0" i="0">
                <a:solidFill>
                  <a:srgbClr val="362A1E"/>
                </a:solidFill>
              </a:rPr>
              <a:t>·　优点：可独立验算。</a:t>
            </a:r>
          </a:p>
          <a:p>
            <a:pPr marL="219456"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CN" altLang="en-US" sz="1639" b="0" i="0">
                <a:solidFill>
                  <a:srgbClr val="362A1E"/>
                </a:solidFill>
              </a:rPr>
              <a:t>·　代价：展开阶数要够用。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8680" y="5833872"/>
            <a:ext cx="10442448" cy="0"/>
          </a:xfrm>
          <a:prstGeom prst="line">
            <a:avLst/>
          </a:prstGeom>
          <a:ln w="9525">
            <a:solidFill>
              <a:srgbClr val="C9B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68680" y="597103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20" b="1" i="0">
                <a:solidFill>
                  <a:srgbClr val="54402C"/>
                </a:solidFill>
              </a:rPr>
              <a:t>本页选择｜</a:t>
            </a:r>
            <a:r>
              <a:rPr lang="en-US" altLang="zh-CN" sz="1420" b="0" i="0">
                <a:solidFill>
                  <a:srgbClr val="362A1E"/>
                </a:solidFill>
              </a:rPr>
              <a:t>A </a:t>
            </a:r>
            <a:r>
              <a:rPr lang="zh-CN" altLang="en-US" sz="1420" b="0" i="0">
                <a:solidFill>
                  <a:srgbClr val="362A1E"/>
                </a:solidFill>
              </a:rPr>
              <a:t>求值，</a:t>
            </a:r>
            <a:r>
              <a:rPr lang="en-US" altLang="zh-CN" sz="1420" b="0" i="0">
                <a:solidFill>
                  <a:srgbClr val="362A1E"/>
                </a:solidFill>
              </a:rPr>
              <a:t>B </a:t>
            </a:r>
            <a:r>
              <a:rPr lang="zh-CN" altLang="en-US" sz="1420" b="0" i="0">
                <a:solidFill>
                  <a:srgbClr val="362A1E"/>
                </a:solidFill>
              </a:rPr>
              <a:t>复核。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6492240"/>
            <a:ext cx="4206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850" b="0" i="0">
                <a:solidFill>
                  <a:srgbClr val="897660"/>
                </a:solidFill>
              </a:rPr>
              <a:t>工数题目分析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6492240"/>
            <a:ext cx="868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50" b="0" i="0">
                <a:solidFill>
                  <a:srgbClr val="897660"/>
                </a:solidFill>
              </a:rPr>
              <a:t>03 / 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/>
        <p:txBody>
          <a:bodyPr wrap="square" lIns="18288" tIns="18288" r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950" b="0" i="0" spc="100">
                <a:solidFill>
                  <a:srgbClr val="897660"/>
                </a:solidFill>
              </a:rPr>
              <a:t>STEP 03.1</a:t>
            </a:r>
            <a:r>
              <a:rPr lang="zh-CN" altLang="en-US" sz="950" b="0" i="0" spc="100">
                <a:solidFill>
                  <a:srgbClr val="897660"/>
                </a:solidFill>
              </a:rPr>
              <a:t>　第三步</a:t>
            </a:r>
            <a:r>
              <a:rPr lang="en-US" altLang="zh-CN" sz="950" b="0" i="0" spc="100">
                <a:solidFill>
                  <a:srgbClr val="897660"/>
                </a:solidFill>
              </a:rPr>
              <a:t> </a:t>
            </a:r>
            <a:r>
              <a:rPr lang="zh-CN" altLang="en-US" sz="950" b="0" i="0" spc="100">
                <a:solidFill>
                  <a:srgbClr val="897660"/>
                </a:solidFill>
              </a:rPr>
              <a:t>·</a:t>
            </a:r>
            <a:r>
              <a:rPr lang="en-US" altLang="zh-CN" sz="950" b="0" i="0" spc="100">
                <a:solidFill>
                  <a:srgbClr val="897660"/>
                </a:solidFill>
              </a:rPr>
              <a:t> </a:t>
            </a:r>
            <a:r>
              <a:rPr lang="zh-CN" altLang="en-US" sz="950" b="0" i="0" spc="100">
                <a:solidFill>
                  <a:srgbClr val="897660"/>
                </a:solidFill>
              </a:rPr>
              <a:t>化简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lang="zh-CN" altLang="en-US" sz="3000" b="0" i="0">
                <a:solidFill>
                  <a:srgbClr val="54402C"/>
                </a:solidFill>
              </a:rPr>
              <a:t>把积分交给微积分基本定理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lang="zh-CN" altLang="en-US" sz="1950" b="0" i="0">
                <a:solidFill>
                  <a:srgbClr val="362A1E"/>
                </a:solidFill>
              </a:rPr>
              <a:t>记　</a:t>
            </a:r>
            <a:r>
              <a:rPr lang="en-US" altLang="zh-CN" sz="1950" b="0" i="0">
                <a:solidFill>
                  <a:srgbClr val="362A1E"/>
                </a:solidFill>
              </a:rPr>
              <a:t>F(x) = ∫₀ˣ ln(1+t²) dt</a:t>
            </a:r>
            <a:r>
              <a:rPr lang="zh-CN" altLang="en-US" sz="1950" b="0" i="0">
                <a:solidFill>
                  <a:srgbClr val="362A1E"/>
                </a:solidFill>
              </a:rPr>
              <a:t>，则　</a:t>
            </a:r>
            <a:r>
              <a:rPr lang="en-US" altLang="zh-CN" sz="1950" b="0" i="0">
                <a:solidFill>
                  <a:srgbClr val="362A1E"/>
                </a:solidFill>
              </a:rPr>
              <a:t>F′(x) = ln(1+x²)</a:t>
            </a:r>
            <a:r>
              <a:rPr lang="zh-CN" altLang="en-US" sz="1950" b="0" i="0">
                <a:solidFill>
                  <a:srgbClr val="362A1E"/>
                </a:solidFill>
              </a:rPr>
              <a:t>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CN" altLang="en-US" sz="1550" b="0" i="0">
                <a:solidFill>
                  <a:srgbClr val="362A1E"/>
                </a:solidFill>
              </a:rPr>
              <a:t>原式为</a:t>
            </a:r>
            <a:r>
              <a:rPr lang="en-US" altLang="zh-CN" sz="1550" b="0" i="0">
                <a:solidFill>
                  <a:srgbClr val="362A1E"/>
                </a:solidFill>
              </a:rPr>
              <a:t> 0/0 </a:t>
            </a:r>
            <a:r>
              <a:rPr lang="zh-CN" altLang="en-US" sz="1550" b="0" i="0">
                <a:solidFill>
                  <a:srgbClr val="362A1E"/>
                </a:solidFill>
              </a:rPr>
              <a:t>型。对分子、分母分别求导：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zh-CN" sz="2900" b="0" i="0">
                <a:solidFill>
                  <a:srgbClr val="362A1E"/>
                </a:solidFill>
                <a:latin typeface="Cambria Math"/>
              </a:rPr>
              <a:t>L = lim</a:t>
            </a:r>
            <a:r>
              <a:rPr lang="en-US" altLang="zh-CN" sz="1682" b="0" i="0" baseline="-25000">
                <a:solidFill>
                  <a:srgbClr val="362A1E"/>
                </a:solidFill>
                <a:latin typeface="Cambria Math"/>
              </a:rPr>
              <a:t>x→0</a:t>
            </a:r>
            <a:r>
              <a:rPr lang="en-US" altLang="zh-CN" sz="2900" b="0" i="0">
                <a:solidFill>
                  <a:srgbClr val="362A1E"/>
                </a:solidFill>
                <a:latin typeface="Cambria Math"/>
              </a:rPr>
              <a:t> F(x) / x³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zh-CN" sz="2900" b="0" i="0">
                <a:solidFill>
                  <a:srgbClr val="362A1E"/>
                </a:solidFill>
                <a:latin typeface="Cambria Math"/>
              </a:rPr>
              <a:t>  = lim</a:t>
            </a:r>
            <a:r>
              <a:rPr lang="en-US" altLang="zh-CN" sz="1682" b="0" i="0" baseline="-25000">
                <a:solidFill>
                  <a:srgbClr val="362A1E"/>
                </a:solidFill>
                <a:latin typeface="Cambria Math"/>
              </a:rPr>
              <a:t>x→0</a:t>
            </a:r>
            <a:r>
              <a:rPr lang="en-US" altLang="zh-CN" sz="2900" b="0" i="0">
                <a:solidFill>
                  <a:srgbClr val="362A1E"/>
                </a:solidFill>
                <a:latin typeface="Cambria Math"/>
              </a:rPr>
              <a:t> F′(x) / (3x²)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900" b="0" i="0">
                <a:solidFill>
                  <a:srgbClr val="362A1E"/>
                </a:solidFill>
                <a:latin typeface="Cambria Math"/>
              </a:rPr>
              <a:t>  = lim</a:t>
            </a:r>
            <a:r>
              <a:rPr lang="en-US" altLang="zh-CN" sz="1682" b="0" i="0" baseline="-25000">
                <a:solidFill>
                  <a:srgbClr val="362A1E"/>
                </a:solidFill>
                <a:latin typeface="Cambria Math"/>
              </a:rPr>
              <a:t>x→0</a:t>
            </a:r>
            <a:r>
              <a:rPr lang="en-US" altLang="zh-CN" sz="2900" b="0" i="0">
                <a:solidFill>
                  <a:srgbClr val="362A1E"/>
                </a:solidFill>
                <a:latin typeface="Cambria Math"/>
              </a:rPr>
              <a:t> ln(1+x²) / (3x²)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zh-CN" altLang="en-US" sz="1380" b="1" i="0">
                <a:solidFill>
                  <a:srgbClr val="54402C"/>
                </a:solidFill>
              </a:rPr>
              <a:t>第一步</a:t>
            </a:r>
            <a:r>
              <a:rPr lang="zh-CN" altLang="en-US" sz="1380" b="0" i="0">
                <a:solidFill>
                  <a:srgbClr val="897660"/>
                </a:solidFill>
              </a:rPr>
              <a:t>用洛必达；第二步用基本定理。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80" b="0" i="0">
                <a:solidFill>
                  <a:srgbClr val="897660"/>
                </a:solidFill>
              </a:rPr>
              <a:t>分母求导得</a:t>
            </a:r>
            <a:r>
              <a:rPr lang="en-US" altLang="zh-CN" sz="1380" b="0" i="0">
                <a:solidFill>
                  <a:srgbClr val="897660"/>
                </a:solidFill>
              </a:rPr>
              <a:t> 3x²</a:t>
            </a:r>
            <a:r>
              <a:rPr lang="zh-CN" altLang="en-US" sz="1380" b="0" i="0">
                <a:solidFill>
                  <a:srgbClr val="897660"/>
                </a:solidFill>
              </a:rPr>
              <a:t>，不是</a:t>
            </a:r>
            <a:r>
              <a:rPr lang="en-US" altLang="zh-CN" sz="1380" b="0" i="0">
                <a:solidFill>
                  <a:srgbClr val="897660"/>
                </a:solidFill>
              </a:rPr>
              <a:t> 3x</a:t>
            </a:r>
            <a:r>
              <a:rPr lang="zh-CN" altLang="en-US" sz="1380" b="0" i="0">
                <a:solidFill>
                  <a:srgbClr val="897660"/>
                </a:solidFill>
              </a:rPr>
              <a:t>。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77824" y="4937760"/>
            <a:ext cx="10424160" cy="0"/>
          </a:xfrm>
          <a:prstGeom prst="line">
            <a:avLst/>
          </a:prstGeom>
          <a:ln w="7620">
            <a:solidFill>
              <a:srgbClr val="C9B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77824" y="5065776"/>
            <a:ext cx="103784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zh-CN" altLang="en-US" sz="1380" b="1" i="0">
                <a:solidFill>
                  <a:srgbClr val="54402C"/>
                </a:solidFill>
              </a:rPr>
              <a:t>拆解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altLang="zh-CN" sz="1360" b="0" i="0">
                <a:solidFill>
                  <a:srgbClr val="362A1E"/>
                </a:solidFill>
              </a:rPr>
              <a:t>① </a:t>
            </a:r>
            <a:r>
              <a:rPr lang="zh-CN" altLang="en-US" sz="1360" b="0" i="0">
                <a:solidFill>
                  <a:srgbClr val="362A1E"/>
                </a:solidFill>
              </a:rPr>
              <a:t>基本定理把变上限积分变成函数</a:t>
            </a:r>
            <a:r>
              <a:rPr lang="en-US" altLang="zh-CN" sz="1360" b="0" i="0">
                <a:solidFill>
                  <a:srgbClr val="362A1E"/>
                </a:solidFill>
              </a:rPr>
              <a:t> F(x)</a:t>
            </a:r>
            <a:r>
              <a:rPr lang="zh-CN" altLang="en-US" sz="1360" b="0" i="0">
                <a:solidFill>
                  <a:srgbClr val="362A1E"/>
                </a:solidFill>
              </a:rPr>
              <a:t>，再对</a:t>
            </a:r>
            <a:r>
              <a:rPr lang="en-US" altLang="zh-CN" sz="1360" b="0" i="0">
                <a:solidFill>
                  <a:srgbClr val="362A1E"/>
                </a:solidFill>
              </a:rPr>
              <a:t> x </a:t>
            </a:r>
            <a:r>
              <a:rPr lang="zh-CN" altLang="en-US" sz="1360" b="0" i="0">
                <a:solidFill>
                  <a:srgbClr val="362A1E"/>
                </a:solidFill>
              </a:rPr>
              <a:t>求导。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60" b="0" i="0">
                <a:solidFill>
                  <a:srgbClr val="362A1E"/>
                </a:solidFill>
              </a:rPr>
              <a:t>② </a:t>
            </a:r>
            <a:r>
              <a:rPr lang="zh-CN" altLang="en-US" sz="1360" b="0" i="0">
                <a:solidFill>
                  <a:srgbClr val="362A1E"/>
                </a:solidFill>
              </a:rPr>
              <a:t>洛必达只负责处理</a:t>
            </a:r>
            <a:r>
              <a:rPr lang="en-US" altLang="zh-CN" sz="1360" b="0" i="0">
                <a:solidFill>
                  <a:srgbClr val="362A1E"/>
                </a:solidFill>
              </a:rPr>
              <a:t> 0/0</a:t>
            </a:r>
            <a:r>
              <a:rPr lang="zh-CN" altLang="en-US" sz="1360" b="0" i="0">
                <a:solidFill>
                  <a:srgbClr val="362A1E"/>
                </a:solidFill>
              </a:rPr>
              <a:t>；分母</a:t>
            </a:r>
            <a:r>
              <a:rPr lang="en-US" altLang="zh-CN" sz="1360" b="0" i="0">
                <a:solidFill>
                  <a:srgbClr val="362A1E"/>
                </a:solidFill>
              </a:rPr>
              <a:t> 3x² </a:t>
            </a:r>
            <a:r>
              <a:rPr lang="zh-CN" altLang="en-US" sz="1360" b="0" i="0">
                <a:solidFill>
                  <a:srgbClr val="362A1E"/>
                </a:solidFill>
              </a:rPr>
              <a:t>是下一步的入口。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6492240"/>
            <a:ext cx="4206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850" b="0" i="0">
                <a:solidFill>
                  <a:srgbClr val="897660"/>
                </a:solidFill>
              </a:rPr>
              <a:t>工数题目分析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69880" y="6492240"/>
            <a:ext cx="868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50" b="0" i="0">
                <a:solidFill>
                  <a:srgbClr val="897660"/>
                </a:solidFill>
              </a:rPr>
              <a:t>04 / 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18288" tIns="18288" r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altLang="zh-CN" sz="950" b="0" i="0" spc="100">
                <a:solidFill>
                  <a:srgbClr val="897660"/>
                </a:solidFill>
              </a:rPr>
              <a:t>STEP 03.2</a:t>
            </a:r>
            <a:r>
              <a:rPr lang="zh-CN" altLang="en-US" sz="950" b="0" i="0" spc="100">
                <a:solidFill>
                  <a:srgbClr val="897660"/>
                </a:solidFill>
              </a:rPr>
              <a:t>　第三步</a:t>
            </a:r>
            <a:r>
              <a:rPr lang="en-US" altLang="zh-CN" sz="950" b="0" i="0" spc="100">
                <a:solidFill>
                  <a:srgbClr val="897660"/>
                </a:solidFill>
              </a:rPr>
              <a:t> </a:t>
            </a:r>
            <a:r>
              <a:rPr lang="zh-CN" altLang="en-US" sz="950" b="0" i="0" spc="100">
                <a:solidFill>
                  <a:srgbClr val="897660"/>
                </a:solidFill>
              </a:rPr>
              <a:t>·</a:t>
            </a:r>
            <a:r>
              <a:rPr lang="en-US" altLang="zh-CN" sz="950" b="0" i="0" spc="100">
                <a:solidFill>
                  <a:srgbClr val="897660"/>
                </a:solidFill>
              </a:rPr>
              <a:t> </a:t>
            </a:r>
            <a:r>
              <a:rPr lang="zh-CN" altLang="en-US" sz="950" b="0" i="0" spc="100">
                <a:solidFill>
                  <a:srgbClr val="897660"/>
                </a:solidFill>
              </a:rPr>
              <a:t>收口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000" b="0" i="0">
                <a:solidFill>
                  <a:srgbClr val="54402C"/>
                </a:solidFill>
              </a:rPr>
              <a:t>只差一个等价无穷小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wrap="square" lIns="18288" tIns="18288" r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zh-CN" altLang="en-US" sz="1520" b="0" i="0">
                <a:solidFill>
                  <a:srgbClr val="362A1E"/>
                </a:solidFill>
              </a:rPr>
              <a:t>把</a:t>
            </a:r>
            <a:r>
              <a:rPr lang="en-US" altLang="zh-CN" sz="1520" b="0" i="0">
                <a:solidFill>
                  <a:srgbClr val="362A1E"/>
                </a:solidFill>
              </a:rPr>
              <a:t> ln(1+u) </a:t>
            </a:r>
            <a:r>
              <a:rPr lang="zh-CN" altLang="en-US" sz="1520" b="0" i="0">
                <a:solidFill>
                  <a:srgbClr val="362A1E"/>
                </a:solidFill>
              </a:rPr>
              <a:t>在</a:t>
            </a:r>
            <a:r>
              <a:rPr lang="en-US" altLang="zh-CN" sz="1520" b="0" i="0">
                <a:solidFill>
                  <a:srgbClr val="362A1E"/>
                </a:solidFill>
              </a:rPr>
              <a:t> u=0 </a:t>
            </a:r>
            <a:r>
              <a:rPr lang="zh-CN" altLang="en-US" sz="1520" b="0" i="0">
                <a:solidFill>
                  <a:srgbClr val="362A1E"/>
                </a:solidFill>
              </a:rPr>
              <a:t>处展开：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2100" b="0" i="0">
                <a:solidFill>
                  <a:srgbClr val="362A1E"/>
                </a:solidFill>
                <a:latin typeface="Cambria Math"/>
              </a:rPr>
              <a:t>ln(1+u) = u + o(u)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zh-CN" altLang="en-US" sz="1600" b="0" i="0">
                <a:solidFill>
                  <a:srgbClr val="362A1E"/>
                </a:solidFill>
              </a:rPr>
              <a:t>令</a:t>
            </a:r>
            <a:r>
              <a:rPr lang="en-US" altLang="zh-CN" sz="1600" b="0" i="0">
                <a:solidFill>
                  <a:srgbClr val="362A1E"/>
                </a:solidFill>
              </a:rPr>
              <a:t> u = x²</a:t>
            </a:r>
            <a:r>
              <a:rPr lang="zh-CN" altLang="en-US" sz="1600" b="0" i="0">
                <a:solidFill>
                  <a:srgbClr val="362A1E"/>
                </a:solidFill>
              </a:rPr>
              <a:t>，得　</a:t>
            </a:r>
            <a:r>
              <a:rPr lang="en-US" altLang="zh-CN" sz="1600" b="0" i="0">
                <a:solidFill>
                  <a:srgbClr val="362A1E"/>
                </a:solidFill>
              </a:rPr>
              <a:t>ln(1+x²) ∼ x²</a:t>
            </a:r>
            <a:r>
              <a:rPr lang="zh-CN" altLang="en-US" sz="1600" b="0" i="0">
                <a:solidFill>
                  <a:srgbClr val="362A1E"/>
                </a:solidFill>
              </a:rPr>
              <a:t>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zh-CN" altLang="en-US" sz="1450" b="0" i="0">
                <a:solidFill>
                  <a:srgbClr val="897660"/>
                </a:solidFill>
              </a:rPr>
              <a:t>代回商式：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200" b="0" i="0">
                <a:solidFill>
                  <a:srgbClr val="54402C"/>
                </a:solidFill>
                <a:latin typeface="Cambria Math"/>
              </a:rPr>
              <a:t>L = lim</a:t>
            </a:r>
            <a:r>
              <a:rPr lang="en-US" altLang="zh-CN" sz="1276" b="0" i="0" baseline="-25000">
                <a:solidFill>
                  <a:srgbClr val="54402C"/>
                </a:solidFill>
                <a:latin typeface="Cambria Math"/>
              </a:rPr>
              <a:t>x→0</a:t>
            </a:r>
            <a:r>
              <a:rPr lang="en-US" altLang="zh-CN" sz="2200" b="1" i="0">
                <a:solidFill>
                  <a:srgbClr val="54402C"/>
                </a:solidFill>
                <a:latin typeface="Cambria Math"/>
              </a:rPr>
              <a:t> x² / (3x²) = 1/3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50" b="1" i="0">
                <a:solidFill>
                  <a:srgbClr val="54402C"/>
                </a:solidFill>
              </a:rPr>
              <a:t>所以　</a:t>
            </a:r>
            <a:r>
              <a:rPr lang="en-US" altLang="zh-CN" sz="1850" b="1" i="0">
                <a:solidFill>
                  <a:srgbClr val="54402C"/>
                </a:solidFill>
              </a:rPr>
              <a:t>L = 1/3</a:t>
            </a:r>
            <a:r>
              <a:rPr lang="zh-CN" altLang="en-US" sz="1850" b="1" i="0">
                <a:solidFill>
                  <a:srgbClr val="54402C"/>
                </a:solidFill>
              </a:rPr>
              <a:t>。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 wrap="square" lIns="18288" tIns="18288" r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zh-CN" altLang="en-US" sz="1600" b="1" i="0">
                <a:solidFill>
                  <a:srgbClr val="54402C"/>
                </a:solidFill>
              </a:rPr>
              <a:t>为什么可以这样换？</a:t>
            </a:r>
          </a:p>
          <a:p>
            <a:pPr marL="256032"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zh-CN" altLang="en-US" sz="1440" b="0" i="0">
                <a:solidFill>
                  <a:srgbClr val="362A1E"/>
                </a:solidFill>
              </a:rPr>
              <a:t>—　等价无穷小替换只对乘、除因子直接成立。</a:t>
            </a:r>
          </a:p>
          <a:p>
            <a:pPr marL="256032"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zh-CN" altLang="en-US" sz="1440" b="0" i="0">
                <a:solidFill>
                  <a:srgbClr val="362A1E"/>
                </a:solidFill>
              </a:rPr>
              <a:t>—　这里分子</a:t>
            </a:r>
            <a:r>
              <a:rPr lang="en-US" altLang="zh-CN" sz="1440" b="0" i="0">
                <a:solidFill>
                  <a:srgbClr val="362A1E"/>
                </a:solidFill>
              </a:rPr>
              <a:t> ln(1+x²) </a:t>
            </a:r>
            <a:r>
              <a:rPr lang="zh-CN" altLang="en-US" sz="1440" b="0" i="0">
                <a:solidFill>
                  <a:srgbClr val="362A1E"/>
                </a:solidFill>
              </a:rPr>
              <a:t>与分母</a:t>
            </a:r>
            <a:r>
              <a:rPr lang="en-US" altLang="zh-CN" sz="1440" b="0" i="0">
                <a:solidFill>
                  <a:srgbClr val="362A1E"/>
                </a:solidFill>
              </a:rPr>
              <a:t> 3x² </a:t>
            </a:r>
            <a:r>
              <a:rPr lang="zh-CN" altLang="en-US" sz="1440" b="0" i="0">
                <a:solidFill>
                  <a:srgbClr val="362A1E"/>
                </a:solidFill>
              </a:rPr>
              <a:t>都是整体因子，因此合法。</a:t>
            </a:r>
          </a:p>
          <a:p>
            <a:pPr marL="256032"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zh-CN" altLang="en-US" sz="1440" b="0" i="0">
                <a:solidFill>
                  <a:srgbClr val="362A1E"/>
                </a:solidFill>
              </a:rPr>
              <a:t>—　若式子里出现加减法，直接替换可能丢掉高阶项，应改用泰勒展开。</a:t>
            </a:r>
          </a:p>
          <a:p>
            <a:pPr marL="256032"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zh-CN" altLang="en-US" sz="1440" b="0" i="0">
                <a:solidFill>
                  <a:srgbClr val="362A1E"/>
                </a:solidFill>
              </a:rPr>
              <a:t>—　使用条件：</a:t>
            </a:r>
            <a:r>
              <a:rPr lang="en-US" altLang="zh-CN" sz="1440" b="0" i="0">
                <a:solidFill>
                  <a:srgbClr val="362A1E"/>
                </a:solidFill>
              </a:rPr>
              <a:t>x≠0 </a:t>
            </a:r>
            <a:r>
              <a:rPr lang="zh-CN" altLang="en-US" sz="1440" b="0" i="0">
                <a:solidFill>
                  <a:srgbClr val="362A1E"/>
                </a:solidFill>
              </a:rPr>
              <a:t>时分母</a:t>
            </a:r>
            <a:r>
              <a:rPr lang="en-US" altLang="zh-CN" sz="1440" b="0" i="0">
                <a:solidFill>
                  <a:srgbClr val="362A1E"/>
                </a:solidFill>
              </a:rPr>
              <a:t> 3x²≠0</a:t>
            </a:r>
            <a:r>
              <a:rPr lang="zh-CN" altLang="en-US" sz="1440" b="0" i="0">
                <a:solidFill>
                  <a:srgbClr val="362A1E"/>
                </a:solidFill>
              </a:rPr>
              <a:t>；洛必达后的极限存在。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07608" y="1755648"/>
            <a:ext cx="0" cy="4005072"/>
          </a:xfrm>
          <a:prstGeom prst="line">
            <a:avLst/>
          </a:prstGeom>
          <a:ln w="7620">
            <a:solidFill>
              <a:srgbClr val="C9B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59536" y="6492240"/>
            <a:ext cx="4206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850" b="0" i="0">
                <a:solidFill>
                  <a:srgbClr val="897660"/>
                </a:solidFill>
              </a:rPr>
              <a:t>工数题目分析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9880" y="6492240"/>
            <a:ext cx="868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50" b="0" i="0">
                <a:solidFill>
                  <a:srgbClr val="897660"/>
                </a:solidFill>
              </a:rPr>
              <a:t>05 / 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18288" tIns="18288" r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altLang="zh-CN" sz="950" b="0" i="0" spc="100">
                <a:solidFill>
                  <a:srgbClr val="897660"/>
                </a:solidFill>
              </a:rPr>
              <a:t>STEP 04</a:t>
            </a:r>
            <a:r>
              <a:rPr lang="zh-CN" altLang="en-US" sz="950" b="0" i="0" spc="100">
                <a:solidFill>
                  <a:srgbClr val="897660"/>
                </a:solidFill>
              </a:rPr>
              <a:t>　第四步</a:t>
            </a:r>
            <a:r>
              <a:rPr lang="en-US" altLang="zh-CN" sz="950" b="0" i="0" spc="100">
                <a:solidFill>
                  <a:srgbClr val="897660"/>
                </a:solidFill>
              </a:rPr>
              <a:t> </a:t>
            </a:r>
            <a:r>
              <a:rPr lang="zh-CN" altLang="en-US" sz="950" b="0" i="0" spc="100">
                <a:solidFill>
                  <a:srgbClr val="897660"/>
                </a:solidFill>
              </a:rPr>
              <a:t>·</a:t>
            </a:r>
            <a:r>
              <a:rPr lang="en-US" altLang="zh-CN" sz="950" b="0" i="0" spc="100">
                <a:solidFill>
                  <a:srgbClr val="897660"/>
                </a:solidFill>
              </a:rPr>
              <a:t> </a:t>
            </a:r>
            <a:r>
              <a:rPr lang="zh-CN" altLang="en-US" sz="950" b="0" i="0" spc="100">
                <a:solidFill>
                  <a:srgbClr val="897660"/>
                </a:solidFill>
              </a:rPr>
              <a:t>验算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800" b="0" i="0">
                <a:solidFill>
                  <a:srgbClr val="54402C"/>
                </a:solidFill>
              </a:rPr>
              <a:t>换一条路：泰勒展开</a:t>
            </a:r>
          </a:p>
        </p:txBody>
      </p:sp>
      <p:pic>
        <p:nvPicPr>
          <p:cNvPr id="3" name="Picture Placeholder 2" descr="ln(1+t²) 与二阶泰勒近似的对比图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2" r="42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 wrap="square" lIns="18288" tIns="18288" r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zh-CN" altLang="en-US" sz="1420" b="0" i="0">
                <a:solidFill>
                  <a:srgbClr val="897660"/>
                </a:solidFill>
              </a:rPr>
              <a:t>不依赖洛必达，直接比较最低阶。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zh-CN" altLang="en-US" sz="1420" b="1" i="0">
                <a:solidFill>
                  <a:srgbClr val="54402C"/>
                </a:solidFill>
              </a:rPr>
              <a:t>展开：</a:t>
            </a:r>
            <a:r>
              <a:rPr lang="en-US" altLang="zh-CN" sz="1420" b="0" i="0">
                <a:solidFill>
                  <a:srgbClr val="54402C"/>
                </a:solidFill>
                <a:latin typeface="Cambria Math"/>
              </a:rPr>
              <a:t>ln(1+t²) = t² − t⁴/2 + O(t⁶)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zh-CN" altLang="en-US" sz="1420" b="1" i="0">
                <a:solidFill>
                  <a:srgbClr val="54402C"/>
                </a:solidFill>
              </a:rPr>
              <a:t>积分：</a:t>
            </a:r>
            <a:r>
              <a:rPr lang="en-US" altLang="zh-CN" sz="1420" b="0" i="0">
                <a:solidFill>
                  <a:srgbClr val="54402C"/>
                </a:solidFill>
                <a:latin typeface="Cambria Math"/>
              </a:rPr>
              <a:t>∫₀ˣ ln(1+t²) dt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420" b="0" i="0">
                <a:solidFill>
                  <a:srgbClr val="54402C"/>
                </a:solidFill>
                <a:latin typeface="Cambria Math"/>
              </a:rPr>
              <a:t>　　　= x³/3 − x⁵/10 + O(x⁷)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zh-CN" altLang="en-US" sz="1420" b="1" i="0">
                <a:solidFill>
                  <a:srgbClr val="54402C"/>
                </a:solidFill>
              </a:rPr>
              <a:t>相除：</a:t>
            </a:r>
            <a:r>
              <a:rPr lang="en-US" altLang="zh-CN" sz="1420" b="0" i="0">
                <a:solidFill>
                  <a:srgbClr val="54402C"/>
                </a:solidFill>
                <a:latin typeface="Cambria Math"/>
              </a:rPr>
              <a:t>L(x) = 1/3 − x²/10 + O(x⁴)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1750" b="1" i="0">
                <a:solidFill>
                  <a:srgbClr val="54402C"/>
                </a:solidFill>
                <a:latin typeface="Cambria Math"/>
              </a:rPr>
              <a:t>　　　→ 1/3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zh-CN" altLang="en-US" sz="1340" b="0" i="0">
                <a:solidFill>
                  <a:srgbClr val="362A1E"/>
                </a:solidFill>
              </a:rPr>
              <a:t>与洛必达路径一致；误差阶</a:t>
            </a:r>
            <a:r>
              <a:rPr lang="en-US" altLang="zh-CN" sz="1340" b="0" i="0">
                <a:solidFill>
                  <a:srgbClr val="362A1E"/>
                </a:solidFill>
              </a:rPr>
              <a:t> O(x²)</a:t>
            </a:r>
            <a:r>
              <a:rPr lang="zh-CN" altLang="en-US" sz="1340" b="0" i="0">
                <a:solidFill>
                  <a:srgbClr val="362A1E"/>
                </a:solidFill>
              </a:rPr>
              <a:t>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40" b="0" i="0">
                <a:solidFill>
                  <a:srgbClr val="897660"/>
                </a:solidFill>
              </a:rPr>
              <a:t>数值抽查：</a:t>
            </a:r>
            <a:r>
              <a:rPr lang="en-US" altLang="zh-CN" sz="1240" b="0" i="0">
                <a:solidFill>
                  <a:srgbClr val="897660"/>
                </a:solidFill>
              </a:rPr>
              <a:t>x=0.1</a:t>
            </a:r>
            <a:r>
              <a:rPr lang="zh-CN" altLang="en-US" sz="1240" b="0" i="0">
                <a:solidFill>
                  <a:srgbClr val="897660"/>
                </a:solidFill>
              </a:rPr>
              <a:t>，</a:t>
            </a:r>
            <a:r>
              <a:rPr lang="en-US" altLang="zh-CN" sz="1240" b="0" i="0">
                <a:solidFill>
                  <a:srgbClr val="897660"/>
                </a:solidFill>
              </a:rPr>
              <a:t>L(x)≈0.33234</a:t>
            </a:r>
            <a:r>
              <a:rPr lang="zh-CN" altLang="en-US" sz="1240" b="0" i="0">
                <a:solidFill>
                  <a:srgbClr val="897660"/>
                </a:solidFill>
              </a:rPr>
              <a:t>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93792" y="5852160"/>
            <a:ext cx="5989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880" b="0" i="0">
                <a:solidFill>
                  <a:srgbClr val="897660"/>
                </a:solidFill>
              </a:rPr>
              <a:t>图</a:t>
            </a:r>
            <a:r>
              <a:rPr lang="en-US" altLang="zh-CN" sz="880" b="0" i="0">
                <a:solidFill>
                  <a:srgbClr val="897660"/>
                </a:solidFill>
              </a:rPr>
              <a:t> 2</a:t>
            </a:r>
            <a:r>
              <a:rPr lang="zh-CN" altLang="en-US" sz="880" b="0" i="0">
                <a:solidFill>
                  <a:srgbClr val="897660"/>
                </a:solidFill>
              </a:rPr>
              <a:t>　二阶近似与精确曲线在</a:t>
            </a:r>
            <a:r>
              <a:rPr lang="en-US" altLang="zh-CN" sz="880" b="0" i="0">
                <a:solidFill>
                  <a:srgbClr val="897660"/>
                </a:solidFill>
              </a:rPr>
              <a:t> 0 </a:t>
            </a:r>
            <a:r>
              <a:rPr lang="zh-CN" altLang="en-US" sz="880" b="0" i="0">
                <a:solidFill>
                  <a:srgbClr val="897660"/>
                </a:solidFill>
              </a:rPr>
              <a:t>附近贴合；差距的首项为</a:t>
            </a:r>
            <a:r>
              <a:rPr lang="en-US" altLang="zh-CN" sz="880" b="0" i="0">
                <a:solidFill>
                  <a:srgbClr val="897660"/>
                </a:solidFill>
              </a:rPr>
              <a:t> t⁶/3</a:t>
            </a:r>
            <a:r>
              <a:rPr lang="zh-CN" altLang="en-US" sz="880" b="0" i="0">
                <a:solidFill>
                  <a:srgbClr val="897660"/>
                </a:solidFill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6492240"/>
            <a:ext cx="4206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850" b="0" i="0">
                <a:solidFill>
                  <a:srgbClr val="897660"/>
                </a:solidFill>
              </a:rPr>
              <a:t>工数题目分析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9880" y="6492240"/>
            <a:ext cx="868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50" b="0" i="0">
                <a:solidFill>
                  <a:srgbClr val="897660"/>
                </a:solidFill>
              </a:rPr>
              <a:t>06 / 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18288" tIns="18288" r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altLang="zh-CN" sz="950" b="0" i="0" spc="100">
                <a:solidFill>
                  <a:srgbClr val="897660"/>
                </a:solidFill>
              </a:rPr>
              <a:t>STEP 05</a:t>
            </a:r>
            <a:r>
              <a:rPr lang="zh-CN" altLang="en-US" sz="950" b="0" i="0" spc="100">
                <a:solidFill>
                  <a:srgbClr val="897660"/>
                </a:solidFill>
              </a:rPr>
              <a:t>　第五步</a:t>
            </a:r>
            <a:r>
              <a:rPr lang="en-US" altLang="zh-CN" sz="950" b="0" i="0" spc="100">
                <a:solidFill>
                  <a:srgbClr val="897660"/>
                </a:solidFill>
              </a:rPr>
              <a:t> </a:t>
            </a:r>
            <a:r>
              <a:rPr lang="zh-CN" altLang="en-US" sz="950" b="0" i="0" spc="100">
                <a:solidFill>
                  <a:srgbClr val="897660"/>
                </a:solidFill>
              </a:rPr>
              <a:t>·</a:t>
            </a:r>
            <a:r>
              <a:rPr lang="en-US" altLang="zh-CN" sz="950" b="0" i="0" spc="100">
                <a:solidFill>
                  <a:srgbClr val="897660"/>
                </a:solidFill>
              </a:rPr>
              <a:t> </a:t>
            </a:r>
            <a:r>
              <a:rPr lang="zh-CN" altLang="en-US" sz="950" b="0" i="0" spc="100">
                <a:solidFill>
                  <a:srgbClr val="897660"/>
                </a:solidFill>
              </a:rPr>
              <a:t>结论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000" b="0" i="0">
                <a:solidFill>
                  <a:srgbClr val="54402C"/>
                </a:solidFill>
              </a:rPr>
              <a:t>写结论，也写下检查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828800"/>
            <a:ext cx="6903720" cy="4352544"/>
          </a:xfrm>
        </p:spPr>
        <p:txBody>
          <a:bodyPr wrap="square" lIns="18288" tIns="18288" r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zh-CN" altLang="en-US" sz="2000" b="1" i="0">
                <a:solidFill>
                  <a:srgbClr val="54402C"/>
                </a:solidFill>
              </a:rPr>
              <a:t>结论　</a:t>
            </a:r>
            <a:r>
              <a:rPr lang="en-US" altLang="zh-CN" sz="2000" b="1" i="0">
                <a:solidFill>
                  <a:srgbClr val="362A1E"/>
                </a:solidFill>
              </a:rPr>
              <a:t>L = 1/3</a:t>
            </a:r>
            <a:r>
              <a:rPr lang="zh-CN" altLang="en-US" sz="2000" b="1" i="0">
                <a:solidFill>
                  <a:srgbClr val="362A1E"/>
                </a:solidFill>
              </a:rPr>
              <a:t>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zh-CN" altLang="en-US" sz="1470" b="1" i="0">
                <a:solidFill>
                  <a:srgbClr val="54402C"/>
                </a:solidFill>
              </a:rPr>
              <a:t>条件　</a:t>
            </a:r>
            <a:r>
              <a:rPr lang="en-US" altLang="zh-CN" sz="1470" b="0" i="0">
                <a:solidFill>
                  <a:srgbClr val="362A1E"/>
                </a:solidFill>
              </a:rPr>
              <a:t>x→0</a:t>
            </a:r>
            <a:r>
              <a:rPr lang="zh-CN" altLang="en-US" sz="1470" b="0" i="0">
                <a:solidFill>
                  <a:srgbClr val="362A1E"/>
                </a:solidFill>
              </a:rPr>
              <a:t>；</a:t>
            </a:r>
            <a:r>
              <a:rPr lang="en-US" altLang="zh-CN" sz="1470" b="0" i="0">
                <a:solidFill>
                  <a:srgbClr val="362A1E"/>
                </a:solidFill>
              </a:rPr>
              <a:t>ln(1+x²) </a:t>
            </a:r>
            <a:r>
              <a:rPr lang="zh-CN" altLang="en-US" sz="1470" b="0" i="0">
                <a:solidFill>
                  <a:srgbClr val="362A1E"/>
                </a:solidFill>
              </a:rPr>
              <a:t>在</a:t>
            </a:r>
            <a:r>
              <a:rPr lang="en-US" altLang="zh-CN" sz="1470" b="0" i="0">
                <a:solidFill>
                  <a:srgbClr val="362A1E"/>
                </a:solidFill>
              </a:rPr>
              <a:t> 0 </a:t>
            </a:r>
            <a:r>
              <a:rPr lang="zh-CN" altLang="en-US" sz="1470" b="0" i="0">
                <a:solidFill>
                  <a:srgbClr val="362A1E"/>
                </a:solidFill>
              </a:rPr>
              <a:t>的邻域连续；洛必达后的极限存在。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zh-CN" altLang="en-US" sz="1470" b="1" i="0">
                <a:solidFill>
                  <a:srgbClr val="54402C"/>
                </a:solidFill>
              </a:rPr>
              <a:t>验算　</a:t>
            </a:r>
            <a:r>
              <a:rPr lang="zh-CN" altLang="en-US" sz="1470" b="0" i="0">
                <a:solidFill>
                  <a:srgbClr val="362A1E"/>
                </a:solidFill>
              </a:rPr>
              <a:t>泰勒展开给出</a:t>
            </a:r>
            <a:r>
              <a:rPr lang="en-US" altLang="zh-CN" sz="1470" b="0" i="0">
                <a:solidFill>
                  <a:srgbClr val="362A1E"/>
                </a:solidFill>
              </a:rPr>
              <a:t> 1/3 − x²/10 + O(x⁴)</a:t>
            </a:r>
            <a:r>
              <a:rPr lang="zh-CN" altLang="en-US" sz="1470" b="0" i="0">
                <a:solidFill>
                  <a:srgbClr val="362A1E"/>
                </a:solidFill>
              </a:rPr>
              <a:t>，与答案一致。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zh-CN" altLang="en-US" sz="1470" b="1" i="0">
                <a:solidFill>
                  <a:srgbClr val="54402C"/>
                </a:solidFill>
              </a:rPr>
              <a:t>迁移　</a:t>
            </a:r>
            <a:r>
              <a:rPr lang="zh-CN" altLang="en-US" sz="1470" b="0" i="0">
                <a:solidFill>
                  <a:srgbClr val="362A1E"/>
                </a:solidFill>
              </a:rPr>
              <a:t>变上限积分</a:t>
            </a:r>
            <a:r>
              <a:rPr lang="en-US" altLang="zh-CN" sz="1470" b="0" i="0">
                <a:solidFill>
                  <a:srgbClr val="362A1E"/>
                </a:solidFill>
              </a:rPr>
              <a:t> + 0/0</a:t>
            </a:r>
            <a:r>
              <a:rPr lang="zh-CN" altLang="en-US" sz="1470" b="0" i="0">
                <a:solidFill>
                  <a:srgbClr val="362A1E"/>
                </a:solidFill>
              </a:rPr>
              <a:t>：先</a:t>
            </a:r>
            <a:r>
              <a:rPr lang="en-US" altLang="zh-CN" sz="1470" b="0" i="0">
                <a:solidFill>
                  <a:srgbClr val="362A1E"/>
                </a:solidFill>
              </a:rPr>
              <a:t> FTC</a:t>
            </a:r>
            <a:r>
              <a:rPr lang="zh-CN" altLang="en-US" sz="1470" b="0" i="0">
                <a:solidFill>
                  <a:srgbClr val="362A1E"/>
                </a:solidFill>
              </a:rPr>
              <a:t>，再洛必达；能等价替换，就不要连着用。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40" b="0" i="1">
                <a:solidFill>
                  <a:srgbClr val="897660"/>
                </a:solidFill>
              </a:rPr>
              <a:t>一句话　先看结构，再选工具；算完以后，换条路再走一遍。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183879" y="1810512"/>
            <a:ext cx="2944369" cy="0"/>
          </a:xfrm>
          <a:prstGeom prst="line">
            <a:avLst/>
          </a:prstGeom>
          <a:ln w="9525">
            <a:solidFill>
              <a:srgbClr val="C9B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75320" y="1938528"/>
            <a:ext cx="2788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50" b="0" i="0">
                <a:solidFill>
                  <a:srgbClr val="897660"/>
                </a:solidFill>
              </a:rPr>
              <a:t>答案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2176272"/>
            <a:ext cx="292608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6200" b="0" i="0">
                <a:solidFill>
                  <a:srgbClr val="54402C"/>
                </a:solidFill>
                <a:latin typeface="Cambria Math"/>
              </a:rPr>
              <a:t>1/3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183879" y="3538728"/>
            <a:ext cx="2944369" cy="0"/>
          </a:xfrm>
          <a:prstGeom prst="line">
            <a:avLst/>
          </a:prstGeom>
          <a:ln w="7620">
            <a:solidFill>
              <a:srgbClr val="C9B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275320" y="3666744"/>
            <a:ext cx="2788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>
                <a:solidFill>
                  <a:srgbClr val="897660"/>
                </a:solidFill>
              </a:rPr>
              <a:t>误差阶　</a:t>
            </a:r>
            <a:r>
              <a:rPr lang="en-US" altLang="zh-CN" sz="1300" b="0" i="0">
                <a:solidFill>
                  <a:srgbClr val="362A1E"/>
                </a:solidFill>
                <a:latin typeface="Cambria Math"/>
              </a:rPr>
              <a:t>O(x²)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6492240"/>
            <a:ext cx="4206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850" b="0" i="0">
                <a:solidFill>
                  <a:srgbClr val="897660"/>
                </a:solidFill>
              </a:rPr>
              <a:t>工数题目分析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6492240"/>
            <a:ext cx="868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50" b="0" i="0">
                <a:solidFill>
                  <a:srgbClr val="897660"/>
                </a:solidFill>
              </a:rPr>
              <a:t>07 / 07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TU4YWI1NjFjOTg3NDY0MDY2Yzg4ZDYwNmEzZmNjYT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2018905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2018905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OPIC_ID" val="2869567"/>
  <p:tag name="KSO_WM_TEMPLATE_OUTLINE_ID" val="15"/>
  <p:tag name="KSO_WM_TEMPLATE_SCENE_ID" val="1"/>
  <p:tag name="KSO_WM_TEMPLATE_JOB_ID" val="2"/>
  <p:tag name="KSO_WM_TEMPLATE_TOPIC_DEFAULT" val="1"/>
  <p:tag name="KSO_WM_TAG_VERSION" val="1.0"/>
  <p:tag name="KSO_WM_BEAUTIFY_FLAG" val="#wm#"/>
  <p:tag name="KSO_WM_COMBINE_RELATE_SLIDE_ID" val="background20185116_1"/>
  <p:tag name="KSO_WM_TEMPLATE_CATEGORY" val="custom"/>
  <p:tag name="KSO_WM_TEMPLATE_INDEX" val="20189055"/>
  <p:tag name="KSO_WM_TEMPLATE_SUBCATEGORY" val="combine"/>
  <p:tag name="KSO_WM_TEMPLATE_THUMBS_INDEX" val="1、5、6、7、8、9、10、13、14"/>
</p:tagLst>
</file>

<file path=ppt/theme/theme1.xml><?xml version="1.0" encoding="utf-8"?>
<a:theme xmlns:a="http://schemas.openxmlformats.org/drawingml/2006/main" name="1_Office 主题">
  <a:themeElements>
    <a:clrScheme name="Office">
      <a:dk1>
        <a:srgbClr val="000000"/>
      </a:dk1>
      <a:lt1>
        <a:srgbClr val="FFFFFF"/>
      </a:lt1>
      <a:dk2>
        <a:srgbClr val="54402C"/>
      </a:dk2>
      <a:lt2>
        <a:srgbClr val="E7E6E6"/>
      </a:lt2>
      <a:accent1>
        <a:srgbClr val="54402C"/>
      </a:accent1>
      <a:accent2>
        <a:srgbClr val="F8E7C6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Arial"/>
        <a:ea typeface="楷体"/>
        <a:cs typeface=""/>
      </a:majorFont>
      <a:minorFont>
        <a:latin typeface="Arial"/>
        <a:ea typeface="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ai_agent_school_template_v1</Template>
  <TotalTime>0</TotalTime>
  <Words>1028</Words>
  <Application>Microsoft Office PowerPoint</Application>
  <PresentationFormat>宽屏</PresentationFormat>
  <Paragraphs>84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 Math</vt:lpstr>
      <vt:lpstr>Century Gothic</vt:lpstr>
      <vt:lpstr>1_Office 主题</vt:lpstr>
      <vt:lpstr>工数题目分析</vt:lpstr>
      <vt:lpstr>STEP 01　审题 先判断，再动笔</vt:lpstr>
      <vt:lpstr>STEP 02　选法 两条路，先选快的</vt:lpstr>
      <vt:lpstr>PowerPoint 演示文稿</vt:lpstr>
      <vt:lpstr>STEP 03.2　第三步 · 收口 只差一个等价无穷小</vt:lpstr>
      <vt:lpstr>STEP 04　第四步 · 验算 换一条路：泰勒展开</vt:lpstr>
      <vt:lpstr>STEP 05　第五步 · 结论 写结论，也写下检查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工数题目分析｜极限题五步法</dc:title>
  <dc:subject>工科数学分析课堂演示</dc:subject>
  <dc:creator>AI Agent School</dc:creator>
  <cp:keywords>工科数学分析, 极限, 变上限积分, 洛必达, 泰勒展开</cp:keywords>
  <dc:description>Based on the provided template; theme, layouts and branding preserved.</dc:description>
  <cp:lastModifiedBy>英熙 李</cp:lastModifiedBy>
  <cp:revision>1</cp:revision>
  <dcterms:created xsi:type="dcterms:W3CDTF">2026-10-18T22:41:02Z</dcterms:created>
  <dcterms:modified xsi:type="dcterms:W3CDTF">2026-10-19T00:52:22Z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KSORubyTemplateID">
    <vt:lpwstr>13</vt:lpwstr>
  </property>
  <property fmtid="{D5CDD505-2E9C-101B-9397-08002B2CF9AE}" pid="4" name="ICV">
    <vt:lpwstr>65CE44B845794CDF896589EF3E9BB46D_13</vt:lpwstr>
  </property>
</Properties>
</file>