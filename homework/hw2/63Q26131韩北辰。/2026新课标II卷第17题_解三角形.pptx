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42655" y="5230368"/>
            <a:ext cx="3566160" cy="14630"/>
          </a:xfrm>
          <a:prstGeom prst="rect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88375" y="5138928"/>
            <a:ext cx="3163824" cy="14630"/>
          </a:xfrm>
          <a:prstGeom prst="rect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34095" y="5047488"/>
            <a:ext cx="2761488" cy="14630"/>
          </a:xfrm>
          <a:prstGeom prst="rect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9815" y="4956048"/>
            <a:ext cx="2359152" cy="14630"/>
          </a:xfrm>
          <a:prstGeom prst="rect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25535" y="4864607"/>
            <a:ext cx="1956815" cy="14630"/>
          </a:xfrm>
          <a:prstGeom prst="rect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71255" y="4773168"/>
            <a:ext cx="1554479" cy="14630"/>
          </a:xfrm>
          <a:prstGeom prst="rect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16975" y="4681727"/>
            <a:ext cx="1152143" cy="14630"/>
          </a:xfrm>
          <a:prstGeom prst="rect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62695" y="4590288"/>
            <a:ext cx="749807" cy="14630"/>
          </a:xfrm>
          <a:prstGeom prst="rect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18872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BA841A"/>
                </a:solidFill>
                <a:latin typeface="微软雅黑"/>
                <a:ea typeface="微软雅黑"/>
              </a:rPr>
              <a:t>2026 年全国普通高等学校招生统一考试 · 新课标 II 卷 · 数学 第 17 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27632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解三角形：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从角的恒等式到周长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0120" y="3767328"/>
            <a:ext cx="2880360" cy="0"/>
          </a:xfrm>
          <a:prstGeom prst="line">
            <a:avLst/>
          </a:prstGeom>
          <a:ln w="25400">
            <a:solidFill>
              <a:srgbClr val="BA84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0120" y="400507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C9D2E2"/>
                </a:solidFill>
                <a:latin typeface="微软雅黑"/>
                <a:ea typeface="微软雅黑"/>
              </a:rPr>
              <a:t>一个恒等式  ·  两个公式  ·  两问一体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882896"/>
            <a:ext cx="5669280" cy="786384"/>
          </a:xfrm>
          <a:prstGeom prst="rect">
            <a:avLst/>
          </a:prstGeom>
          <a:solidFill>
            <a:srgbClr val="243355"/>
          </a:solidFill>
          <a:ln w="15240">
            <a:solidFill>
              <a:srgbClr val="BA8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50292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A841A"/>
                </a:solidFill>
                <a:latin typeface="微软雅黑"/>
                <a:ea typeface="微软雅黑"/>
              </a:rPr>
              <a:t>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5248656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钝角三角形；周长 3 + √2 ≈ 4.4142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60533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6BE"/>
                </a:solidFill>
                <a:latin typeface="微软雅黑"/>
                <a:ea typeface="微软雅黑"/>
              </a:rPr>
              <a:t>原题与来源 · 提示词 · 代码 · 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A841A"/>
                </a:solidFill>
                <a:latin typeface="微软雅黑"/>
                <a:ea typeface="微软雅黑"/>
              </a:rPr>
              <a:t>ORIGINAL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原题与来源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47085"/>
                </a:solidFill>
                <a:latin typeface="微软雅黑"/>
                <a:ea typeface="微软雅黑"/>
              </a:rPr>
              <a:t>题面一字未改；后面所有推导都从这三行出发。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81328"/>
            <a:ext cx="11057839" cy="0"/>
          </a:xfrm>
          <a:prstGeom prst="line">
            <a:avLst/>
          </a:prstGeom>
          <a:ln w="15240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82512"/>
            <a:ext cx="11057839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55664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085"/>
                </a:solidFill>
                <a:latin typeface="微软雅黑"/>
                <a:ea typeface="微软雅黑"/>
              </a:rPr>
              <a:t>2026 年新课标 II 卷 · 数学 · 第 17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085"/>
                </a:solidFill>
                <a:latin typeface="Georgia"/>
                <a:ea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00784"/>
            <a:ext cx="11057839" cy="3017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00784"/>
            <a:ext cx="68580" cy="3017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86537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1E293B"/>
                </a:solidFill>
                <a:latin typeface="微软雅黑"/>
                <a:ea typeface="微软雅黑"/>
              </a:rPr>
              <a:t>在 △ABC 中，已知 cos B = 3/4，cos²(A+C) + sin A·sin C = 1。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395728"/>
            <a:ext cx="104241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1E293B"/>
                </a:solidFill>
                <a:latin typeface="微软雅黑"/>
                <a:ea typeface="微软雅黑"/>
              </a:rPr>
              <a:t>(1) 证明：△ABC 为钝角三角形；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1E293B"/>
                </a:solidFill>
                <a:latin typeface="微软雅黑"/>
                <a:ea typeface="微软雅黑"/>
              </a:rPr>
              <a:t>(2) 若 △ABC 的面积为 √7/4，求 △ABC 的周长。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62102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647085"/>
                </a:solidFill>
                <a:latin typeface="微软雅黑"/>
                <a:ea typeface="微软雅黑"/>
              </a:rPr>
              <a:t>（解答题，满分 15 分）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864608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085"/>
                </a:solidFill>
                <a:latin typeface="微软雅黑"/>
                <a:ea typeface="微软雅黑"/>
              </a:rPr>
              <a:t>出处：2026 年普通高等学校招生全国统一考试（新课标 II 卷）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47085"/>
                </a:solidFill>
                <a:latin typeface="微软雅黑"/>
                <a:ea typeface="微软雅黑"/>
              </a:rPr>
              <a:t>数学 第 17 题 · 原卷序号 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773168"/>
            <a:ext cx="420624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773168"/>
            <a:ext cx="4206240" cy="50292"/>
          </a:xfrm>
          <a:prstGeom prst="rect">
            <a:avLst/>
          </a:prstGeom>
          <a:solidFill>
            <a:srgbClr val="BA8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4919472"/>
            <a:ext cx="38404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4213D"/>
                </a:solidFill>
                <a:latin typeface="微软雅黑"/>
                <a:ea typeface="微软雅黑"/>
              </a:rPr>
              <a:t>参考答案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5266944"/>
            <a:ext cx="384047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钝角三角形；周长 3 + √2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87044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本题的关键是把 A + C 与 B 的互补关系，翻译成余弦互为相反数 —— 一条恒等式贯穿两问。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A841A"/>
                </a:solidFill>
                <a:latin typeface="微软雅黑"/>
                <a:ea typeface="微软雅黑"/>
              </a:rPr>
              <a:t>STEP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先把条件翻译成可用的式子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47085"/>
                </a:solidFill>
                <a:latin typeface="微软雅黑"/>
                <a:ea typeface="微软雅黑"/>
              </a:rPr>
              <a:t>三角形的三个角有关系 A + B + C = π，这是所有推导的起点。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81328"/>
            <a:ext cx="11057839" cy="0"/>
          </a:xfrm>
          <a:prstGeom prst="line">
            <a:avLst/>
          </a:prstGeom>
          <a:ln w="15240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82512"/>
            <a:ext cx="11057839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55664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085"/>
                </a:solidFill>
                <a:latin typeface="微软雅黑"/>
                <a:ea typeface="微软雅黑"/>
              </a:rPr>
              <a:t>2026 年新课标 II 卷 · 数学 · 第 17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085"/>
                </a:solidFill>
                <a:latin typeface="Georgia"/>
                <a:ea typeface="微软雅黑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59893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19072"/>
            <a:ext cx="45720" cy="1170432"/>
          </a:xfrm>
          <a:prstGeom prst="rect">
            <a:avLst/>
          </a:prstGeom>
          <a:solidFill>
            <a:srgbClr val="12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865376"/>
            <a:ext cx="562355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7680"/>
                </a:solidFill>
                <a:latin typeface="微软雅黑"/>
                <a:ea typeface="微软雅黑"/>
              </a:rPr>
              <a:t>① 角的互补关系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21408"/>
            <a:ext cx="5586983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A + B + C = π  ⇒  A + C = π −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505456"/>
            <a:ext cx="5586983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⇒ cos(A+C) = cos(π−B) = −cos B = −3/4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72384"/>
            <a:ext cx="59893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072384"/>
            <a:ext cx="45720" cy="1170432"/>
          </a:xfrm>
          <a:prstGeom prst="rect">
            <a:avLst/>
          </a:prstGeom>
          <a:solidFill>
            <a:srgbClr val="BA8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218688"/>
            <a:ext cx="562355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A841A"/>
                </a:solidFill>
                <a:latin typeface="微软雅黑"/>
                <a:ea typeface="微软雅黑"/>
              </a:rPr>
              <a:t>② 已知恒等式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474720"/>
            <a:ext cx="5586983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cos²(A+C) + sin A·sin C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858768"/>
            <a:ext cx="5586983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⇒ sin A·sin C = 1 − (9/16) = 7/16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425696"/>
            <a:ext cx="59893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25696"/>
            <a:ext cx="45720" cy="1170432"/>
          </a:xfrm>
          <a:prstGeom prst="rect">
            <a:avLst/>
          </a:prstGeom>
          <a:solidFill>
            <a:srgbClr val="265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572000"/>
            <a:ext cx="562355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6549C"/>
                </a:solidFill>
                <a:latin typeface="微软雅黑"/>
                <a:ea typeface="微软雅黑"/>
              </a:rPr>
              <a:t>③ 和角公式（把乘积拆开）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828032"/>
            <a:ext cx="5586983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cos(A+C) = cos A·cos C − sin A·sin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212080"/>
            <a:ext cx="5586983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E293B"/>
                </a:solidFill>
                <a:latin typeface="微软雅黑"/>
                <a:ea typeface="微软雅黑"/>
              </a:rPr>
              <a:t>⇒ cos A·cos C = cos(A+C) + sin A·sin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797296"/>
            <a:ext cx="5989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微软雅黑"/>
                <a:ea typeface="微软雅黑"/>
              </a:rPr>
              <a:t>三条式子各用一次，就是第 (1) 问的全部。</a:t>
            </a:r>
          </a:p>
        </p:txBody>
      </p:sp>
      <p:pic>
        <p:nvPicPr>
          <p:cNvPr id="26" name="Picture 25" descr="fig2_supp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19072"/>
            <a:ext cx="4328283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A841A"/>
                </a:solidFill>
                <a:latin typeface="微软雅黑"/>
                <a:ea typeface="微软雅黑"/>
              </a:rPr>
              <a:t>PART 1 · 证明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第 (1) 问：三步判断钝角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47085"/>
                </a:solidFill>
                <a:latin typeface="微软雅黑"/>
                <a:ea typeface="微软雅黑"/>
              </a:rPr>
              <a:t>目标不是求角，而是定出 cos A·cos C 的符号。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81328"/>
            <a:ext cx="11057839" cy="0"/>
          </a:xfrm>
          <a:prstGeom prst="line">
            <a:avLst/>
          </a:prstGeom>
          <a:ln w="15240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82512"/>
            <a:ext cx="11057839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55664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085"/>
                </a:solidFill>
                <a:latin typeface="微软雅黑"/>
                <a:ea typeface="微软雅黑"/>
              </a:rPr>
              <a:t>2026 年新课标 II 卷 · 数学 · 第 17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085"/>
                </a:solidFill>
                <a:latin typeface="Georgia"/>
                <a:ea typeface="微软雅黑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82496"/>
            <a:ext cx="69494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82496"/>
            <a:ext cx="45720" cy="1170432"/>
          </a:xfrm>
          <a:prstGeom prst="rect">
            <a:avLst/>
          </a:prstGeom>
          <a:solidFill>
            <a:srgbClr val="12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828800"/>
            <a:ext cx="6583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7680"/>
                </a:solidFill>
                <a:latin typeface="微软雅黑"/>
                <a:ea typeface="微软雅黑"/>
              </a:rPr>
              <a:t>第 1 步  把已知恒等式拆成两个乘积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084832"/>
            <a:ext cx="6547103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cos(A+C) = −cos B = −3/4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468880"/>
            <a:ext cx="6547103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sin A·sin C = 1 − cos²(A+C) = 1 − 9/16 = 7/16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17520"/>
            <a:ext cx="69494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017520"/>
            <a:ext cx="45720" cy="1170432"/>
          </a:xfrm>
          <a:prstGeom prst="rect">
            <a:avLst/>
          </a:prstGeom>
          <a:solidFill>
            <a:srgbClr val="BA8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163824"/>
            <a:ext cx="6583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A841A"/>
                </a:solidFill>
                <a:latin typeface="微软雅黑"/>
                <a:ea typeface="微软雅黑"/>
              </a:rPr>
              <a:t>第 2 步  用和角公式反解 cos A·cos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419856"/>
            <a:ext cx="6547103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cos A·cos C = cos(A+C) + sin A·sin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803904"/>
            <a:ext cx="6547103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            = −3/4 + 7/16 = −12/16 + 7/16 = −5/16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352544"/>
            <a:ext cx="69494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352544"/>
            <a:ext cx="45720" cy="11704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498848"/>
            <a:ext cx="658367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C0392B"/>
                </a:solidFill>
                <a:latin typeface="微软雅黑"/>
                <a:ea typeface="微软雅黑"/>
              </a:rPr>
              <a:t>第 3 步  判断符号 ⇒ 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754879"/>
            <a:ext cx="6547103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cos A·cos C = −5/16 &lt; 0 ⇒ cos A 与 cos C 异号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138927"/>
            <a:ext cx="6547103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又 cos B = 3/4 &gt; 0 ⇒ B 为锐角 ⇒ A、C 中必有一个钝角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5742432"/>
            <a:ext cx="694944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C0392B"/>
                </a:solidFill>
                <a:latin typeface="微软雅黑"/>
                <a:ea typeface="微软雅黑"/>
              </a:rPr>
              <a:t>⇒ △ABC 为钝角三角形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99248" y="1700784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99248" y="1700784"/>
            <a:ext cx="3931920" cy="50292"/>
          </a:xfrm>
          <a:prstGeom prst="rect">
            <a:avLst/>
          </a:prstGeom>
          <a:solidFill>
            <a:srgbClr val="12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82127" y="184708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4213D"/>
                </a:solidFill>
                <a:latin typeface="微软雅黑"/>
                <a:ea typeface="微软雅黑"/>
              </a:rPr>
              <a:t>为什么这样想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2194560"/>
            <a:ext cx="3566160" cy="15361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题目只给角的关系、不给边长，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所以应当把“钝角”转化为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“某两个余弦之积为负”。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而乘积恰好可由和角公式从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已知的两个乘积反解。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99248" y="4059936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99248" y="4059936"/>
            <a:ext cx="3931920" cy="50292"/>
          </a:xfrm>
          <a:prstGeom prst="rect">
            <a:avLst/>
          </a:prstGeom>
          <a:solidFill>
            <a:srgbClr val="BA8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420624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4213D"/>
                </a:solidFill>
                <a:latin typeface="微软雅黑"/>
                <a:ea typeface="微软雅黑"/>
              </a:rPr>
              <a:t>易错提醒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4553712"/>
            <a:ext cx="3566160" cy="1124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① 把 cos(A+C) 误算为 +cos B；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② 由 cos(A+C)&lt;0 直接断定 A+C 为钝角，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   从而误判“哪一个是钝角”。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A841A"/>
                </a:solidFill>
                <a:latin typeface="微软雅黑"/>
                <a:ea typeface="微软雅黑"/>
              </a:rPr>
              <a:t>PART 1 · 深入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到底是哪一个角钝？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47085"/>
                </a:solidFill>
                <a:latin typeface="微软雅黑"/>
                <a:ea typeface="微软雅黑"/>
              </a:rPr>
              <a:t>再补一步：解出 cos(A−C)，就能把三个角都定下来。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81328"/>
            <a:ext cx="11057839" cy="0"/>
          </a:xfrm>
          <a:prstGeom prst="line">
            <a:avLst/>
          </a:prstGeom>
          <a:ln w="15240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82512"/>
            <a:ext cx="11057839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55664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085"/>
                </a:solidFill>
                <a:latin typeface="微软雅黑"/>
                <a:ea typeface="微软雅黑"/>
              </a:rPr>
              <a:t>2026 年新课标 II 卷 · 数学 · 第 17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085"/>
                </a:solidFill>
                <a:latin typeface="Georgia"/>
                <a:ea typeface="微软雅黑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64208"/>
            <a:ext cx="54864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45720" cy="1170432"/>
          </a:xfrm>
          <a:prstGeom prst="rect">
            <a:avLst/>
          </a:prstGeom>
          <a:solidFill>
            <a:srgbClr val="12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810512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7680"/>
                </a:solidFill>
                <a:latin typeface="微软雅黑"/>
                <a:ea typeface="微软雅黑"/>
              </a:rPr>
              <a:t>① 再求一个和差余弦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066543"/>
            <a:ext cx="508406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cos(A−C) = cos A·cos C + sin A·sin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450591"/>
            <a:ext cx="508406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         = −5/16 + 7/16 = 1/8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99232"/>
            <a:ext cx="54864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999232"/>
            <a:ext cx="45720" cy="1938528"/>
          </a:xfrm>
          <a:prstGeom prst="rect">
            <a:avLst/>
          </a:prstGeom>
          <a:solidFill>
            <a:srgbClr val="BA8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14553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A841A"/>
                </a:solidFill>
                <a:latin typeface="微软雅黑"/>
                <a:ea typeface="微软雅黑"/>
              </a:rPr>
              <a:t>② 两式相加、相减还原每个角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401568"/>
            <a:ext cx="508406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A+C = arccos(−3/4) ≈ 138.59°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785616"/>
            <a:ext cx="508406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|A−C| = arccos(1/8) ≈ 82.82°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169664"/>
            <a:ext cx="508406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⇒ A ≈ 110.70°，C ≈ 27.89°，B ≈ 41.41°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553712"/>
            <a:ext cx="508406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（三内角和恰为 180°；A、C 可互换）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102352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102352"/>
            <a:ext cx="5486400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24865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4213D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59612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微软雅黑"/>
                <a:ea typeface="微软雅黑"/>
              </a:rPr>
              <a:t>A 为钝角（≈110.70°），B、C 为锐角。</a:t>
            </a:r>
          </a:p>
        </p:txBody>
      </p:sp>
      <p:pic>
        <p:nvPicPr>
          <p:cNvPr id="26" name="Picture 25" descr="fig1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82496"/>
            <a:ext cx="4627344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A841A"/>
                </a:solidFill>
                <a:latin typeface="微软雅黑"/>
                <a:ea typeface="微软雅黑"/>
              </a:rPr>
              <a:t>PART 2 · 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第 (2) 问：一条链式推导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47085"/>
                </a:solidFill>
                <a:latin typeface="微软雅黑"/>
                <a:ea typeface="微软雅黑"/>
              </a:rPr>
              <a:t>从面积出发，五次代换直达周长；每一步只用一条公式。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81328"/>
            <a:ext cx="11057839" cy="0"/>
          </a:xfrm>
          <a:prstGeom prst="line">
            <a:avLst/>
          </a:prstGeom>
          <a:ln w="15240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82512"/>
            <a:ext cx="11057839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55664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085"/>
                </a:solidFill>
                <a:latin typeface="微软雅黑"/>
                <a:ea typeface="微软雅黑"/>
              </a:rPr>
              <a:t>2026 年新课标 II 卷 · 数学 · 第 17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085"/>
                </a:solidFill>
                <a:latin typeface="Georgia"/>
                <a:ea typeface="微软雅黑"/>
              </a:rPr>
              <a:t>06</a:t>
            </a:r>
          </a:p>
        </p:txBody>
      </p:sp>
      <p:pic>
        <p:nvPicPr>
          <p:cNvPr id="10" name="Picture 9" descr="fig4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5920"/>
            <a:ext cx="11018520" cy="35151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66928" y="52120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212080"/>
            <a:ext cx="45720" cy="914400"/>
          </a:xfrm>
          <a:prstGeom prst="rect">
            <a:avLst/>
          </a:prstGeom>
          <a:solidFill>
            <a:srgbClr val="12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376672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面积 → ac；正弦定理 → b；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742432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余弦定理 + 配方 → a+c。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52120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5212080"/>
            <a:ext cx="45720" cy="914400"/>
          </a:xfrm>
          <a:prstGeom prst="rect">
            <a:avLst/>
          </a:prstGeom>
          <a:solidFill>
            <a:srgbClr val="BA8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5376672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全程没有解出 A、C 的具体值，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5742432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只用到 sin A·sin C = 7/16。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5212080"/>
            <a:ext cx="3749039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5212080"/>
            <a:ext cx="4572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3" y="5376672"/>
            <a:ext cx="334670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把 (a+c) 整体当作未知量，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5742432"/>
            <a:ext cx="334670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是本题最省力的关键一步。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A841A"/>
                </a:solidFill>
                <a:latin typeface="微软雅黑"/>
                <a:ea typeface="微软雅黑"/>
              </a:rPr>
              <a:t>PART 2 · 第 1 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由面积得到 ac =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47085"/>
                </a:solidFill>
                <a:latin typeface="微软雅黑"/>
                <a:ea typeface="微软雅黑"/>
              </a:rPr>
              <a:t>面积公式把“面积”换成“两边夹一角”，再代入 sin B。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81328"/>
            <a:ext cx="11057839" cy="0"/>
          </a:xfrm>
          <a:prstGeom prst="line">
            <a:avLst/>
          </a:prstGeom>
          <a:ln w="15240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82512"/>
            <a:ext cx="11057839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55664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085"/>
                </a:solidFill>
                <a:latin typeface="微软雅黑"/>
                <a:ea typeface="微软雅黑"/>
              </a:rPr>
              <a:t>2026 年新课标 II 卷 · 数学 · 第 17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085"/>
                </a:solidFill>
                <a:latin typeface="Georgia"/>
                <a:ea typeface="微软雅黑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19072"/>
            <a:ext cx="56235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19072"/>
            <a:ext cx="45720" cy="1207008"/>
          </a:xfrm>
          <a:prstGeom prst="rect">
            <a:avLst/>
          </a:prstGeom>
          <a:solidFill>
            <a:srgbClr val="12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865376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7680"/>
                </a:solidFill>
                <a:latin typeface="微软雅黑"/>
                <a:ea typeface="微软雅黑"/>
              </a:rPr>
              <a:t>① 先求 sin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21408"/>
            <a:ext cx="522122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cos B = 3/4，且 B ∈ (0, π) ⇒ sin B &gt;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523744"/>
            <a:ext cx="522122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sin B = √(1 − cos²B) = √(1 − 9/16) = √7/4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08960"/>
            <a:ext cx="56235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108960"/>
            <a:ext cx="45720" cy="1609344"/>
          </a:xfrm>
          <a:prstGeom prst="rect">
            <a:avLst/>
          </a:prstGeom>
          <a:solidFill>
            <a:srgbClr val="BA8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255264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A841A"/>
                </a:solidFill>
                <a:latin typeface="微软雅黑"/>
                <a:ea typeface="微软雅黑"/>
              </a:rPr>
              <a:t>② 代入面积公式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511296"/>
            <a:ext cx="522122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S = (1/2)·a·c·sin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913632"/>
            <a:ext cx="522122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√7/4 = (1/2)·a·c·(√7/4)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315968"/>
            <a:ext cx="522122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E293B"/>
                </a:solidFill>
                <a:latin typeface="微软雅黑"/>
                <a:ea typeface="微软雅黑"/>
              </a:rPr>
              <a:t>⇒ a·c =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937760"/>
            <a:ext cx="5623560" cy="640080"/>
          </a:xfrm>
          <a:prstGeom prst="rect">
            <a:avLst/>
          </a:prstGeom>
          <a:solidFill>
            <a:srgbClr val="F7F3EA"/>
          </a:solidFill>
          <a:ln w="15240">
            <a:solidFill>
              <a:srgbClr val="BA8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5084064"/>
            <a:ext cx="52120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0392B"/>
                </a:solidFill>
                <a:latin typeface="微软雅黑"/>
                <a:ea typeface="微软雅黑"/>
              </a:rPr>
              <a:t>得到第一个关键量：ac =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1719072"/>
            <a:ext cx="5166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6520" y="1719072"/>
            <a:ext cx="5166360" cy="50292"/>
          </a:xfrm>
          <a:prstGeom prst="rect">
            <a:avLst/>
          </a:prstGeom>
          <a:solidFill>
            <a:srgbClr val="12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865376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4213D"/>
                </a:solidFill>
                <a:latin typeface="微软雅黑"/>
                <a:ea typeface="微软雅黑"/>
              </a:rPr>
              <a:t>注意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212848"/>
            <a:ext cx="4800600" cy="1216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微软雅黑"/>
                <a:ea typeface="微软雅黑"/>
              </a:rPr>
              <a:t>sin B 必须取正号：B 是三角形的内角，B ∈ (0, π)，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微软雅黑"/>
                <a:ea typeface="微软雅黑"/>
              </a:rPr>
              <a:t>正弦恒为正；这也是后面所有开方的依据。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675887"/>
            <a:ext cx="5166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3675887"/>
            <a:ext cx="5166360" cy="50292"/>
          </a:xfrm>
          <a:prstGeom prst="rect">
            <a:avLst/>
          </a:prstGeom>
          <a:solidFill>
            <a:srgbClr val="BA8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822191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4213D"/>
                </a:solidFill>
                <a:latin typeface="微软雅黑"/>
                <a:ea typeface="微软雅黑"/>
              </a:rPr>
              <a:t>为什么先求 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169663"/>
            <a:ext cx="4800600" cy="1216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微软雅黑"/>
                <a:ea typeface="微软雅黑"/>
              </a:rPr>
              <a:t>已知条件里有两个“乘积”：sin A·sin C 与 ac。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微软雅黑"/>
                <a:ea typeface="微软雅黑"/>
              </a:rPr>
              <a:t>两者由正弦定理相连（ac = 4R²·sin A·sin C），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微软雅黑"/>
                <a:ea typeface="微软雅黑"/>
              </a:rPr>
              <a:t>所以先算出 ac，才能求 R、进而求 b。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A841A"/>
                </a:solidFill>
                <a:latin typeface="微软雅黑"/>
                <a:ea typeface="微软雅黑"/>
              </a:rPr>
              <a:t>PART 2 · 第 2 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用正弦定理把 ac 变成 b = √2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47085"/>
                </a:solidFill>
                <a:latin typeface="微软雅黑"/>
                <a:ea typeface="微软雅黑"/>
              </a:rPr>
              <a:t>正弦定理把“边”换成“角的正弦”，正好接上第 (1) 问的乘积。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81328"/>
            <a:ext cx="11057839" cy="0"/>
          </a:xfrm>
          <a:prstGeom prst="line">
            <a:avLst/>
          </a:prstGeom>
          <a:ln w="15240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82512"/>
            <a:ext cx="11057839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55664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085"/>
                </a:solidFill>
                <a:latin typeface="微软雅黑"/>
                <a:ea typeface="微软雅黑"/>
              </a:rPr>
              <a:t>2026 年新课标 II 卷 · 数学 · 第 17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085"/>
                </a:solidFill>
                <a:latin typeface="Georgia"/>
                <a:ea typeface="微软雅黑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00784"/>
            <a:ext cx="56235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00784"/>
            <a:ext cx="45720" cy="1170432"/>
          </a:xfrm>
          <a:prstGeom prst="rect">
            <a:avLst/>
          </a:prstGeom>
          <a:solidFill>
            <a:srgbClr val="12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847088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7680"/>
                </a:solidFill>
                <a:latin typeface="微软雅黑"/>
                <a:ea typeface="微软雅黑"/>
              </a:rPr>
              <a:t>① 正弦定理（两边同乘）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03120"/>
            <a:ext cx="522122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a = 2R·sin A，c = 2R·sin C  （R 为外接圆半径）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522122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⇒ ac = 4R²·sin A·sin C = 4R²·(7/16) = 7R²/4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54096"/>
            <a:ext cx="56235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054096"/>
            <a:ext cx="45720" cy="786384"/>
          </a:xfrm>
          <a:prstGeom prst="rect">
            <a:avLst/>
          </a:prstGeom>
          <a:solidFill>
            <a:srgbClr val="BA8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200400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A841A"/>
                </a:solidFill>
                <a:latin typeface="微软雅黑"/>
                <a:ea typeface="微软雅黑"/>
              </a:rPr>
              <a:t>② 代入 ac =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456432"/>
            <a:ext cx="522122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7R²/4 = 2  ⇒  R² = 8/7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023360"/>
            <a:ext cx="56235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023360"/>
            <a:ext cx="45720" cy="1170432"/>
          </a:xfrm>
          <a:prstGeom prst="rect">
            <a:avLst/>
          </a:prstGeom>
          <a:solidFill>
            <a:srgbClr val="265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169664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6549C"/>
                </a:solidFill>
                <a:latin typeface="微软雅黑"/>
                <a:ea typeface="微软雅黑"/>
              </a:rPr>
              <a:t>③ 再算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425696"/>
            <a:ext cx="522122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b = 2R·sin B = 2·√(8/7)·(√7/4)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809744"/>
            <a:ext cx="522122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  = (2·√8·√7) / (4·√7) = √8/2 = √2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413248"/>
            <a:ext cx="5623560" cy="603504"/>
          </a:xfrm>
          <a:prstGeom prst="rect">
            <a:avLst/>
          </a:prstGeom>
          <a:solidFill>
            <a:srgbClr val="F7F3EA"/>
          </a:solidFill>
          <a:ln w="15240">
            <a:solidFill>
              <a:srgbClr val="265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541264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0392B"/>
                </a:solidFill>
                <a:latin typeface="微软雅黑"/>
                <a:ea typeface="微软雅黑"/>
              </a:rPr>
              <a:t>b = √2 —— 第二个关键量</a:t>
            </a:r>
          </a:p>
        </p:txBody>
      </p:sp>
      <p:pic>
        <p:nvPicPr>
          <p:cNvPr id="26" name="Picture 25" descr="fig3_circum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700784"/>
            <a:ext cx="421885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A841A"/>
                </a:solidFill>
                <a:latin typeface="微软雅黑"/>
                <a:ea typeface="微软雅黑"/>
              </a:rPr>
              <a:t>PART 2 · 第 3 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余弦定理 + 配方，得到 a + c =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47085"/>
                </a:solidFill>
                <a:latin typeface="微软雅黑"/>
                <a:ea typeface="微软雅黑"/>
              </a:rPr>
              <a:t>不求 a、c 各自的值，而是直接求它们的和。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81328"/>
            <a:ext cx="11057839" cy="0"/>
          </a:xfrm>
          <a:prstGeom prst="line">
            <a:avLst/>
          </a:prstGeom>
          <a:ln w="15240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82512"/>
            <a:ext cx="11057839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55664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085"/>
                </a:solidFill>
                <a:latin typeface="微软雅黑"/>
                <a:ea typeface="微软雅黑"/>
              </a:rPr>
              <a:t>2026 年新课标 II 卷 · 数学 · 第 17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085"/>
                </a:solidFill>
                <a:latin typeface="Georgia"/>
                <a:ea typeface="微软雅黑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82496"/>
            <a:ext cx="5669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82496"/>
            <a:ext cx="45720" cy="1554480"/>
          </a:xfrm>
          <a:prstGeom prst="rect">
            <a:avLst/>
          </a:prstGeom>
          <a:solidFill>
            <a:srgbClr val="12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828800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7680"/>
                </a:solidFill>
                <a:latin typeface="微软雅黑"/>
                <a:ea typeface="微软雅黑"/>
              </a:rPr>
              <a:t>① 余弦定理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084832"/>
            <a:ext cx="526694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b² = a² + c² − 2ac·cos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468880"/>
            <a:ext cx="526694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2 = a² + c² − 2·2·(3/4) = a² + c² − 3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852928"/>
            <a:ext cx="526694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⇒ a² + c² =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401568"/>
            <a:ext cx="56692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401568"/>
            <a:ext cx="45720" cy="1170432"/>
          </a:xfrm>
          <a:prstGeom prst="rect">
            <a:avLst/>
          </a:prstGeom>
          <a:solidFill>
            <a:srgbClr val="BA8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547872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A841A"/>
                </a:solidFill>
                <a:latin typeface="微软雅黑"/>
                <a:ea typeface="微软雅黑"/>
              </a:rPr>
              <a:t>② 完全平方公式（关键一步）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803904"/>
            <a:ext cx="526694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(a+c)² = a² + c² + 2ac = 5 + 2·2 =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187952"/>
            <a:ext cx="526694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a + c = 3    （取正号，边长为正）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736592"/>
            <a:ext cx="56692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736592"/>
            <a:ext cx="45720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882896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C0392B"/>
                </a:solidFill>
                <a:latin typeface="微软雅黑"/>
                <a:ea typeface="微软雅黑"/>
              </a:rPr>
              <a:t>③ 直接得到周长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138927"/>
            <a:ext cx="526694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1E293B"/>
                </a:solidFill>
                <a:latin typeface="微软雅黑"/>
                <a:ea typeface="微软雅黑"/>
              </a:rPr>
              <a:t>周长 = a + b + c = (a+c) + b = 3 + √2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687568"/>
            <a:ext cx="5669280" cy="566928"/>
          </a:xfrm>
          <a:prstGeom prst="rect">
            <a:avLst/>
          </a:prstGeom>
          <a:solidFill>
            <a:srgbClr val="F7F3EA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824728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>
                <a:solidFill>
                  <a:srgbClr val="C0392B"/>
                </a:solidFill>
                <a:latin typeface="微软雅黑"/>
                <a:ea typeface="微软雅黑"/>
              </a:rPr>
              <a:t>答案：3 + √2 ≈ 4.4142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1700784"/>
            <a:ext cx="5120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1700784"/>
            <a:ext cx="5120640" cy="50292"/>
          </a:xfrm>
          <a:prstGeom prst="rect">
            <a:avLst/>
          </a:prstGeom>
          <a:solidFill>
            <a:srgbClr val="12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847088"/>
            <a:ext cx="47548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4213D"/>
                </a:solidFill>
                <a:latin typeface="微软雅黑"/>
                <a:ea typeface="微软雅黑"/>
              </a:rPr>
              <a:t>为什么不解 a、c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194560"/>
            <a:ext cx="4754879" cy="1353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解 a、c 需要联立 ac=2 与 a+c=3，得到 t²−3t+2=0，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即 a、c 为 1 与 2 —— 但要区分谁对谁，还需判断 A、C 的大小，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而周长只依赖 a+c，所以完全不必分开解。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84048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3840480"/>
            <a:ext cx="5120640" cy="50292"/>
          </a:xfrm>
          <a:prstGeom prst="rect">
            <a:avLst/>
          </a:prstGeom>
          <a:solidFill>
            <a:srgbClr val="BA8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986784"/>
            <a:ext cx="475487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4213D"/>
                </a:solidFill>
                <a:latin typeface="微软雅黑"/>
                <a:ea typeface="微软雅黑"/>
              </a:rPr>
              <a:t>两步检查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334256"/>
            <a:ext cx="4754879" cy="1444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① (a+c)² = 9 ⇒ a+c = 3（舍去 −3）；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② 三边 1、2、√2 满足 1+√2 &gt; 2，三角形存在；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   且 a=2 对应的角 A 为钝角，与 (1) 一致。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A841A"/>
                </a:solidFill>
                <a:latin typeface="微软雅黑"/>
                <a:ea typeface="微软雅黑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结论与自洽验算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47085"/>
                </a:solidFill>
                <a:latin typeface="微软雅黑"/>
                <a:ea typeface="微软雅黑"/>
              </a:rPr>
              <a:t>答案是 3 + √2；用三边回代，五条条件全部成立。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81328"/>
            <a:ext cx="11057839" cy="0"/>
          </a:xfrm>
          <a:prstGeom prst="line">
            <a:avLst/>
          </a:prstGeom>
          <a:ln w="15240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82512"/>
            <a:ext cx="11057839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55664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085"/>
                </a:solidFill>
                <a:latin typeface="微软雅黑"/>
                <a:ea typeface="微软雅黑"/>
              </a:rPr>
              <a:t>2026 年新课标 II 卷 · 数学 · 第 17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085"/>
                </a:solidFill>
                <a:latin typeface="Georgia"/>
                <a:ea typeface="微软雅黑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82496"/>
            <a:ext cx="4160520" cy="21031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8470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A841A"/>
                </a:solidFill>
                <a:latin typeface="微软雅黑"/>
                <a:ea typeface="微软雅黑"/>
              </a:rPr>
              <a:t>第 (2) 问答案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57984"/>
            <a:ext cx="35661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周长 = 3 + √2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83464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9D2E2"/>
                </a:solidFill>
                <a:latin typeface="微软雅黑"/>
                <a:ea typeface="微软雅黑"/>
              </a:rPr>
              <a:t>≈ 4.4142135624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9D2E2"/>
                </a:solidFill>
                <a:latin typeface="微软雅黑"/>
                <a:ea typeface="微软雅黑"/>
              </a:rPr>
              <a:t>三边为 1、√2、2（含一个钝角）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968496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968496"/>
            <a:ext cx="4160520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14800"/>
            <a:ext cx="37947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4213D"/>
                </a:solidFill>
                <a:latin typeface="微软雅黑"/>
                <a:ea typeface="微软雅黑"/>
              </a:rPr>
              <a:t>第 (1) 问答案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62272"/>
            <a:ext cx="3794759" cy="11704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微软雅黑"/>
                <a:ea typeface="微软雅黑"/>
              </a:rPr>
              <a:t>△ABC 为钝角三角形：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1E293B"/>
                </a:solidFill>
                <a:latin typeface="微软雅黑"/>
                <a:ea typeface="微软雅黑"/>
              </a:rPr>
              <a:t>cos A·cos C = −5/16 &lt; 0，A 为钝角（≈110.70°）。</a:t>
            </a:r>
          </a:p>
        </p:txBody>
      </p:sp>
      <p:pic>
        <p:nvPicPr>
          <p:cNvPr id="18" name="Picture 17" descr="fig5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1700784"/>
            <a:ext cx="6766560" cy="32138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A841A"/>
                </a:solidFill>
                <a:latin typeface="微软雅黑"/>
                <a:ea typeface="微软雅黑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数值验证：Decimal 40 位复核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47085"/>
                </a:solidFill>
                <a:latin typeface="微软雅黑"/>
                <a:ea typeface="微软雅黑"/>
              </a:rPr>
              <a:t>solve.py 独立计算 17 项、全部通过；下表列出与前两问直接相关的 11 项。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81328"/>
            <a:ext cx="11057839" cy="0"/>
          </a:xfrm>
          <a:prstGeom prst="line">
            <a:avLst/>
          </a:prstGeom>
          <a:ln w="15240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82512"/>
            <a:ext cx="11057839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55664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085"/>
                </a:solidFill>
                <a:latin typeface="微软雅黑"/>
                <a:ea typeface="微软雅黑"/>
              </a:rPr>
              <a:t>2026 年新课标 II 卷 · 数学 · 第 17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085"/>
                </a:solidFill>
                <a:latin typeface="Georgia"/>
                <a:ea typeface="微软雅黑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82496"/>
            <a:ext cx="11064240" cy="379476"/>
          </a:xfrm>
          <a:prstGeom prst="rect">
            <a:avLst/>
          </a:prstGeom>
          <a:solidFill>
            <a:srgbClr val="F7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105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213D"/>
                </a:solidFill>
                <a:latin typeface="微软雅黑"/>
                <a:ea typeface="微软雅黑"/>
              </a:rPr>
              <a:t>检验项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1810512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213D"/>
                </a:solidFill>
                <a:latin typeface="微软雅黑"/>
                <a:ea typeface="微软雅黑"/>
              </a:rPr>
              <a:t>计算值（Decimal 40 位）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1632" y="1810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213D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061972"/>
            <a:ext cx="11064240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18084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cos(A+C) = −cos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2180844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−0.75 = −3/4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1632" y="2180844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E7D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441448"/>
            <a:ext cx="11064240" cy="379476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56032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sin A·sin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2560320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0.4375 = 7/16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1632" y="256032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E7D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20924"/>
            <a:ext cx="11064240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293979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cos A·cos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2939796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−0.3125 = −5/16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1632" y="29397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E7D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200400"/>
            <a:ext cx="11064240" cy="379476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31927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cos(A−C)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6512" y="3319272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0.125 = 1/8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1632" y="331927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E7D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579876"/>
            <a:ext cx="11064240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6987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A + B + 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96512" y="3698748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110.7048° + 41.4096° + 27.8856° = 180°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1632" y="369874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E7D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959352"/>
            <a:ext cx="11064240" cy="379476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07822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a·c = 2S / sin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6512" y="4078224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2.000000000000000000000000000000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4078224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E7D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338828"/>
            <a:ext cx="11064240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45770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R² = ac / (4 sin A sin 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6512" y="4457700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1.142857142857142857142857142857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71632" y="445770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E7D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18304"/>
            <a:ext cx="11064240" cy="379476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837176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b = 2R·sin 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96512" y="4837176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1.414213562373095048801688724210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71632" y="4837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E7D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5097780"/>
            <a:ext cx="11064240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21665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a² + c²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96512" y="5216652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5.000000000000000000000000000000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71632" y="52166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E7D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477256"/>
            <a:ext cx="11064240" cy="379476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559612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a + 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96512" y="5596128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3.000000000000000000000000000000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71632" y="559612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E7D52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856732"/>
            <a:ext cx="11064240" cy="3794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" y="597560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周长 a + b + 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96512" y="5975604"/>
            <a:ext cx="6492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</a:rPr>
              <a:t>4.414213562373095048801688724210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71632" y="5975604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E7D52"/>
                </a:solidFill>
                <a:latin typeface="微软雅黑"/>
                <a:ea typeface="微软雅黑"/>
              </a:rPr>
              <a:t>✓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66928" y="6236208"/>
            <a:ext cx="11064239" cy="0"/>
          </a:xfrm>
          <a:prstGeom prst="line">
            <a:avLst/>
          </a:prstGeom>
          <a:ln w="10160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A841A"/>
                </a:solidFill>
                <a:latin typeface="微软雅黑"/>
                <a:ea typeface="微软雅黑"/>
              </a:rPr>
              <a:t>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提示词设计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47085"/>
                </a:solidFill>
                <a:latin typeface="微软雅黑"/>
                <a:ea typeface="微软雅黑"/>
              </a:rPr>
              <a:t>完整提示词见「其他材料/提示词.txt」。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81328"/>
            <a:ext cx="11057839" cy="0"/>
          </a:xfrm>
          <a:prstGeom prst="line">
            <a:avLst/>
          </a:prstGeom>
          <a:ln w="15240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82512"/>
            <a:ext cx="11057839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55664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085"/>
                </a:solidFill>
                <a:latin typeface="微软雅黑"/>
                <a:ea typeface="微软雅黑"/>
              </a:rPr>
              <a:t>2026 年新课标 II 卷 · 数学 · 第 17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085"/>
                </a:solidFill>
                <a:latin typeface="Georgia"/>
                <a:ea typeface="微软雅黑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00784"/>
            <a:ext cx="539496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700784"/>
            <a:ext cx="5394960" cy="50292"/>
          </a:xfrm>
          <a:prstGeom prst="rect">
            <a:avLst/>
          </a:prstGeom>
          <a:solidFill>
            <a:srgbClr val="12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47088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4213D"/>
                </a:solidFill>
                <a:latin typeface="微软雅黑"/>
                <a:ea typeface="微软雅黑"/>
              </a:rPr>
              <a:t>提示词要点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94560"/>
            <a:ext cx="5029200" cy="3474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1. 逐字引用原题，注明出处与分值；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2. 先分析“题目给了什么、要求什么”，再动笔；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3. 每一步注明依据的公式，并说明动机；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4. 明确要求“不解 a、c，只求 a+c”这类优化思路；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5. 要求给出末位验算（三边回代），并用 40 位小数复核；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6. 输出 16:9 文稿，插图自绘。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9088" y="1700784"/>
            <a:ext cx="519379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1700784"/>
            <a:ext cx="5193792" cy="50292"/>
          </a:xfrm>
          <a:prstGeom prst="rect">
            <a:avLst/>
          </a:prstGeom>
          <a:solidFill>
            <a:srgbClr val="BA8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1847088"/>
            <a:ext cx="4828031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4213D"/>
                </a:solidFill>
                <a:latin typeface="微软雅黑"/>
                <a:ea typeface="微软雅黑"/>
              </a:rPr>
              <a:t>验收标准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194560"/>
            <a:ext cx="4828031" cy="3474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· 结论与官方参考答案一致（3 + √2）；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· 第 (1) 问不能只证“有一个钝角”，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  还要说明钝角是 A（或 C）；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· 每个开方都交代取舍理由；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· 三边回代后五条条件全部成立；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微软雅黑"/>
                <a:ea typeface="微软雅黑"/>
              </a:rPr>
              <a:t>· 版面无溢出、字号统一、图表可读。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A841A"/>
                </a:solidFill>
                <a:latin typeface="微软雅黑"/>
                <a:ea typeface="微软雅黑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代码清单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647085"/>
                </a:solidFill>
                <a:latin typeface="微软雅黑"/>
                <a:ea typeface="微软雅黑"/>
              </a:rPr>
              <a:t>全部代码在「其他材料/代码」中，无需联网即可复现。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81328"/>
            <a:ext cx="11057839" cy="0"/>
          </a:xfrm>
          <a:prstGeom prst="line">
            <a:avLst/>
          </a:prstGeom>
          <a:ln w="15240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82512"/>
            <a:ext cx="11057839" cy="0"/>
          </a:xfrm>
          <a:prstGeom prst="line">
            <a:avLst/>
          </a:prstGeom>
          <a:ln w="9525">
            <a:solidFill>
              <a:srgbClr val="D6D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55664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085"/>
                </a:solidFill>
                <a:latin typeface="微软雅黑"/>
                <a:ea typeface="微软雅黑"/>
              </a:rPr>
              <a:t>2026 年新课标 II 卷 · 数学 · 第 17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085"/>
                </a:solidFill>
                <a:latin typeface="Georgia"/>
                <a:ea typeface="微软雅黑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82496"/>
            <a:ext cx="11064240" cy="39319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792224"/>
            <a:ext cx="10698480" cy="3703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# solve.py —— Decimal(40) 高精度复核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from decimal import Decimal as D, getcontext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getcontext().prec = 40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/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cosB = D(3) / D(4)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sinB = (1 - cosB**2).sqrt()          # √7/4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/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# 第 (1) 问：证明钝角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cosAC = -cosB                        # cos(A+C) = −3/4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sinA_sinC = 1 - cosAC**2             # 7/16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cosA_cosC = cosAC + sinA_sinC        # −5/16 &lt; 0 ⇒ 钝角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/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# 第 (2) 问：求周长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ac = 2 * (D(7).sqrt() / 4) / sinB    # ac = 2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R2 = ac / (4 * sinA_sinC)            # R² = 8/7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b = 2 * R2.sqrt() * sinB             # b = √2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a2c2 = b * b + 2 * ac * cosB         # a² + c² = 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DF7"/>
                </a:solidFill>
                <a:latin typeface="Consolas"/>
                <a:ea typeface="微软雅黑"/>
              </a:rPr>
              <a:t>print((a2c2 + 2 * ac).sqrt() + b)    # 3 + √2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705856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47085"/>
                </a:solidFill>
                <a:latin typeface="微软雅黑"/>
                <a:ea typeface="微软雅黑"/>
              </a:rPr>
              <a:t>辅助脚本：figs.py（Pillow 插图）、build_ppt.py（本幻灯片）；运行环境 Python 3 + python-pptx + Pillow。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BA841A"/>
                </a:solidFill>
                <a:latin typeface="Georgia"/>
                <a:ea typeface="微软雅黑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773936"/>
            <a:ext cx="10241280" cy="1874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一道三角形题的关键，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往往只是把“角的关系”翻译成“边的乘积”。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3931920"/>
            <a:ext cx="3063240" cy="0"/>
          </a:xfrm>
          <a:prstGeom prst="line">
            <a:avLst/>
          </a:prstGeom>
          <a:ln w="25400">
            <a:solidFill>
              <a:srgbClr val="BA84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60120" y="4151376"/>
            <a:ext cx="1024128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C9D2E2"/>
                </a:solidFill>
                <a:latin typeface="微软雅黑"/>
                <a:ea typeface="微软雅黑"/>
              </a:rPr>
              <a:t>A + C = π − B  →  cos 互为相反数  →  cos A·cos C 的符号；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C9D2E2"/>
                </a:solidFill>
                <a:latin typeface="微软雅黑"/>
                <a:ea typeface="微软雅黑"/>
              </a:rPr>
              <a:t>面积  →  ac  →  R  →  b  →  余弦定理  →  a + c  →  周长。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989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6BE"/>
                </a:solidFill>
                <a:latin typeface="微软雅黑"/>
                <a:ea typeface="微软雅黑"/>
              </a:rPr>
              <a:t>2026 新课标 II 卷 · 第 17 题 · 周长 3 + √2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