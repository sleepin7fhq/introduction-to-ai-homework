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6.xml"/><Relationship Id="rId1" Type="http://schemas.openxmlformats.org/officeDocument/2006/relationships/tags" Target="../tags/tag6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8.xml"/><Relationship Id="rId1" Type="http://schemas.openxmlformats.org/officeDocument/2006/relationships/tags" Target="../tags/tag67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1.xml"/><Relationship Id="rId2" Type="http://schemas.openxmlformats.org/officeDocument/2006/relationships/tags" Target="../tags/tag70.xml"/><Relationship Id="rId1" Type="http://schemas.openxmlformats.org/officeDocument/2006/relationships/tags" Target="../tags/tag69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" Type="http://schemas.openxmlformats.org/officeDocument/2006/relationships/tags" Target="../tags/tag72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7.xml"/><Relationship Id="rId2" Type="http://schemas.openxmlformats.org/officeDocument/2006/relationships/tags" Target="../tags/tag76.xml"/><Relationship Id="rId1" Type="http://schemas.openxmlformats.org/officeDocument/2006/relationships/tags" Target="../tags/tag7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9.xml"/><Relationship Id="rId1" Type="http://schemas.openxmlformats.org/officeDocument/2006/relationships/tags" Target="../tags/tag7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96260" y="1553210"/>
            <a:ext cx="9799200" cy="2570400"/>
          </a:xfrm>
        </p:spPr>
        <p:txBody>
          <a:bodyPr/>
          <a:p>
            <a:pPr>
              <a:lnSpc>
                <a:spcPct val="100000"/>
              </a:lnSpc>
            </a:pPr>
            <a:r>
              <a:rPr lang="en-US" altLang="zh-CN"/>
              <a:t>DeepSeek Harness（dsh）</a:t>
            </a:r>
            <a:r>
              <a:rPr lang="zh-CN" altLang="en-US"/>
              <a:t>做一道数学题</a:t>
            </a:r>
            <a:endParaRPr lang="zh-CN" altLang="en-US"/>
          </a:p>
        </p:txBody>
      </p:sp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608330" y="478790"/>
            <a:ext cx="10968990" cy="5770880"/>
          </a:xfrm>
        </p:spPr>
        <p:txBody>
          <a:bodyPr/>
          <a:p>
            <a:r>
              <a:rPr lang="zh-CN" altLang="en-US" sz="3200">
                <a:sym typeface="+mn-ea"/>
              </a:rPr>
              <a:t>题目：函数 </a:t>
            </a:r>
            <a:r>
              <a:rPr lang="en-US" altLang="zh-CN" sz="3200">
                <a:sym typeface="+mn-ea"/>
              </a:rPr>
              <a:t>f(x) </a:t>
            </a:r>
            <a:r>
              <a:rPr lang="zh-CN" altLang="en-US" sz="3200">
                <a:sym typeface="+mn-ea"/>
              </a:rPr>
              <a:t>在闭区间 [0,1] 上连续，在开区间 (0,1) 内可导，且 </a:t>
            </a:r>
            <a:r>
              <a:rPr lang="en-US" altLang="zh-CN" sz="3200">
                <a:sym typeface="+mn-ea"/>
              </a:rPr>
              <a:t>f(0) </a:t>
            </a:r>
            <a:r>
              <a:rPr lang="zh-CN" altLang="en-US" sz="3200">
                <a:sym typeface="+mn-ea"/>
              </a:rPr>
              <a:t>等于 0，</a:t>
            </a:r>
            <a:r>
              <a:rPr lang="en-US" altLang="zh-CN" sz="3200">
                <a:sym typeface="+mn-ea"/>
              </a:rPr>
              <a:t>f(1) </a:t>
            </a:r>
            <a:r>
              <a:rPr lang="zh-CN" altLang="en-US" sz="3200">
                <a:sym typeface="+mn-ea"/>
              </a:rPr>
              <a:t>等于 1。证明：存在三个互不相同的点 </a:t>
            </a:r>
            <a:r>
              <a:rPr lang="en-US" altLang="zh-CN" sz="3200">
                <a:sym typeface="+mn-ea"/>
              </a:rPr>
              <a:t>a、b、c，</a:t>
            </a:r>
            <a:r>
              <a:rPr lang="zh-CN" altLang="en-US" sz="3200">
                <a:sym typeface="+mn-ea"/>
              </a:rPr>
              <a:t>都在开区间 (0,1) 内，使得 </a:t>
            </a:r>
            <a:r>
              <a:rPr lang="en-US" altLang="zh-CN" sz="3200">
                <a:sym typeface="+mn-ea"/>
              </a:rPr>
              <a:t>f </a:t>
            </a:r>
            <a:r>
              <a:rPr lang="zh-CN" altLang="en-US" sz="3200">
                <a:sym typeface="+mn-ea"/>
              </a:rPr>
              <a:t>在 </a:t>
            </a:r>
            <a:r>
              <a:rPr lang="en-US" altLang="zh-CN" sz="3200">
                <a:sym typeface="+mn-ea"/>
              </a:rPr>
              <a:t>a </a:t>
            </a:r>
            <a:r>
              <a:rPr lang="zh-CN" altLang="en-US" sz="3200">
                <a:sym typeface="+mn-ea"/>
              </a:rPr>
              <a:t>点的导数、</a:t>
            </a:r>
            <a:r>
              <a:rPr lang="en-US" altLang="zh-CN" sz="3200">
                <a:sym typeface="+mn-ea"/>
              </a:rPr>
              <a:t>f </a:t>
            </a:r>
            <a:r>
              <a:rPr lang="zh-CN" altLang="en-US" sz="3200">
                <a:sym typeface="+mn-ea"/>
              </a:rPr>
              <a:t>在 </a:t>
            </a:r>
            <a:r>
              <a:rPr lang="en-US" altLang="zh-CN" sz="3200">
                <a:sym typeface="+mn-ea"/>
              </a:rPr>
              <a:t>b </a:t>
            </a:r>
            <a:r>
              <a:rPr lang="zh-CN" altLang="en-US" sz="3200">
                <a:sym typeface="+mn-ea"/>
              </a:rPr>
              <a:t>点的导数、</a:t>
            </a:r>
            <a:r>
              <a:rPr lang="en-US" altLang="zh-CN" sz="3200">
                <a:sym typeface="+mn-ea"/>
              </a:rPr>
              <a:t>f </a:t>
            </a:r>
            <a:r>
              <a:rPr lang="zh-CN" altLang="en-US" sz="3200">
                <a:sym typeface="+mn-ea"/>
              </a:rPr>
              <a:t>在 </a:t>
            </a:r>
            <a:r>
              <a:rPr lang="en-US" altLang="zh-CN" sz="3200">
                <a:sym typeface="+mn-ea"/>
              </a:rPr>
              <a:t>c </a:t>
            </a:r>
            <a:r>
              <a:rPr lang="zh-CN" altLang="en-US" sz="3200">
                <a:sym typeface="+mn-ea"/>
              </a:rPr>
              <a:t>点的导数三者之和等于 3。</a:t>
            </a:r>
            <a:endParaRPr lang="zh-CN" altLang="en-US" sz="3200"/>
          </a:p>
          <a:p>
            <a:endParaRPr lang="zh-CN" altLang="en-US" sz="3200"/>
          </a:p>
        </p:txBody>
      </p:sp>
    </p:spTree>
    <p:custDataLst>
      <p:tags r:id="rId2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500450" y="666805"/>
            <a:ext cx="10969200" cy="4759200"/>
          </a:xfrm>
        </p:spPr>
        <p:txBody>
          <a:bodyPr>
            <a:noAutofit/>
          </a:bodyPr>
          <a:p>
            <a:pPr>
              <a:lnSpc>
                <a:spcPct val="100000"/>
              </a:lnSpc>
            </a:pPr>
            <a:r>
              <a:rPr lang="zh-CN" altLang="en-US"/>
              <a:t>整体证明</a:t>
            </a:r>
            <a:endParaRPr lang="zh-CN" altLang="en-US"/>
          </a:p>
          <a:p>
            <a:pPr>
              <a:lnSpc>
                <a:spcPct val="100000"/>
              </a:lnSpc>
            </a:pPr>
            <a:r>
              <a:rPr lang="zh-CN" altLang="en-US"/>
              <a:t>把区间 [0,1] 三等分，分点取</a:t>
            </a:r>
            <a:endParaRPr lang="zh-CN" altLang="en-US"/>
          </a:p>
          <a:p>
            <a:pPr>
              <a:lnSpc>
                <a:spcPct val="100000"/>
              </a:lnSpc>
            </a:pPr>
            <a:endParaRPr lang="en-US" altLang="zh-CN"/>
          </a:p>
          <a:p>
            <a:pPr>
              <a:lnSpc>
                <a:spcPct val="100000"/>
              </a:lnSpc>
            </a:pPr>
            <a:r>
              <a:rPr lang="zh-CN" altLang="en-US"/>
              <a:t>1/3 和 2/3。</a:t>
            </a:r>
            <a:endParaRPr lang="zh-CN" altLang="en-US"/>
          </a:p>
          <a:p>
            <a:pPr>
              <a:lnSpc>
                <a:spcPct val="100000"/>
              </a:lnSpc>
            </a:pPr>
            <a:endParaRPr lang="en-US" altLang="zh-CN"/>
          </a:p>
          <a:p>
            <a:pPr>
              <a:lnSpc>
                <a:spcPct val="100000"/>
              </a:lnSpc>
            </a:pPr>
            <a:r>
              <a:rPr lang="zh-CN" altLang="en-US"/>
              <a:t>对三段 [0, 1/3]、[1/3, 2/3]、[2/3, 1] 分别使用拉格朗日中值定理，得到三个点：</a:t>
            </a:r>
            <a:endParaRPr lang="zh-CN" altLang="en-US"/>
          </a:p>
          <a:p>
            <a:pPr>
              <a:lnSpc>
                <a:spcPct val="100000"/>
              </a:lnSpc>
            </a:pPr>
            <a:endParaRPr lang="en-US" altLang="zh-CN"/>
          </a:p>
          <a:p>
            <a:pPr>
              <a:lnSpc>
                <a:spcPct val="100000"/>
              </a:lnSpc>
            </a:pPr>
            <a:r>
              <a:rPr lang="en-US" altLang="zh-CN"/>
              <a:t>a </a:t>
            </a:r>
            <a:r>
              <a:rPr lang="zh-CN" altLang="en-US"/>
              <a:t>在 (0, 1/3)，</a:t>
            </a:r>
            <a:r>
              <a:rPr lang="en-US" altLang="zh-CN"/>
              <a:t>b </a:t>
            </a:r>
            <a:r>
              <a:rPr lang="zh-CN" altLang="en-US"/>
              <a:t>在 (1/3, 2/3)，</a:t>
            </a:r>
            <a:r>
              <a:rPr lang="en-US" altLang="zh-CN"/>
              <a:t>c </a:t>
            </a:r>
            <a:r>
              <a:rPr lang="zh-CN" altLang="en-US"/>
              <a:t>在 (2/3, 1)。</a:t>
            </a:r>
            <a:endParaRPr lang="zh-CN" altLang="en-US"/>
          </a:p>
          <a:p>
            <a:pPr>
              <a:lnSpc>
                <a:spcPct val="100000"/>
              </a:lnSpc>
            </a:pPr>
            <a:endParaRPr lang="en-US" altLang="zh-CN"/>
          </a:p>
          <a:p>
            <a:pPr>
              <a:lnSpc>
                <a:spcPct val="100000"/>
              </a:lnSpc>
            </a:pPr>
            <a:r>
              <a:rPr lang="zh-CN" altLang="en-US"/>
              <a:t>由于这三个区间互不重叠（最多共用端点，而端点都不属于开区间），所以 </a:t>
            </a:r>
            <a:r>
              <a:rPr lang="en-US" altLang="zh-CN"/>
              <a:t>a、b、c </a:t>
            </a:r>
            <a:r>
              <a:rPr lang="zh-CN" altLang="en-US"/>
              <a:t>自动互不相同。然后把三段的“总值增量”相加。总增量正好是 </a:t>
            </a:r>
            <a:r>
              <a:rPr lang="en-US" altLang="zh-CN"/>
              <a:t>f(1) − f(0) = 1。</a:t>
            </a:r>
            <a:endParaRPr lang="en-US" altLang="zh-CN"/>
          </a:p>
          <a:p>
            <a:pPr>
              <a:lnSpc>
                <a:spcPct val="100000"/>
              </a:lnSpc>
            </a:pPr>
            <a:endParaRPr lang="en-US" altLang="zh-CN"/>
          </a:p>
          <a:p>
            <a:pPr>
              <a:lnSpc>
                <a:spcPct val="100000"/>
              </a:lnSpc>
            </a:pPr>
            <a:r>
              <a:rPr lang="zh-CN" altLang="en-US"/>
              <a:t>每一步等式两边同时乘以 3，就得到三个导数值之和等于 3。可见“三等分”是因为要凑出“三倍平均斜率”：全区间平均斜率是 1，而三个导数的平均值也要是 1。</a:t>
            </a:r>
            <a:endParaRPr lang="zh-CN" altLang="en-US"/>
          </a:p>
          <a:p>
            <a:pPr>
              <a:lnSpc>
                <a:spcPct val="100000"/>
              </a:lnSpc>
            </a:pPr>
            <a:endParaRPr lang="en-US" altLang="zh-CN"/>
          </a:p>
          <a:p>
            <a:pPr>
              <a:lnSpc>
                <a:spcPct val="100000"/>
              </a:lnSpc>
            </a:pPr>
            <a:endParaRPr lang="en-US" altLang="zh-CN"/>
          </a:p>
        </p:txBody>
      </p:sp>
    </p:spTree>
    <p:custDataLst>
      <p:tags r:id="rId2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第一步：分点与区间。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取 </a:t>
            </a:r>
            <a:r>
              <a:rPr lang="en-US" altLang="zh-CN"/>
              <a:t>x0 = 0，x1 = 1/3，x2 = 2/3，x3 = 1。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由于 </a:t>
            </a:r>
            <a:r>
              <a:rPr lang="en-US" altLang="zh-CN"/>
              <a:t>f </a:t>
            </a:r>
            <a:r>
              <a:rPr lang="zh-CN" altLang="en-US"/>
              <a:t>在 [0,1] 上连续、在 (0,1) 内可导，根据闭区间上连续函数的基本性质（连续性在子区间上的限制）：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f </a:t>
            </a:r>
            <a:r>
              <a:rPr lang="zh-CN" altLang="en-US"/>
              <a:t>在 [0, 1/3]、[1/3, 2/3]、[2/3, 1] 上都连续；</a:t>
            </a:r>
            <a:endParaRPr lang="zh-CN" altLang="en-US"/>
          </a:p>
          <a:p>
            <a:r>
              <a:rPr lang="en-US" altLang="zh-CN"/>
              <a:t>f </a:t>
            </a:r>
            <a:r>
              <a:rPr lang="zh-CN" altLang="en-US"/>
              <a:t>在 (0, 1/3)、(1/3, 2/3)、(2/3, 1) 内都可导。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第二步：在每一段上用拉格朗日中值定理。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在 [0, 1/3] 上，由拉格朗日中值定理，存在 </a:t>
            </a:r>
            <a:r>
              <a:rPr lang="en-US" altLang="zh-CN"/>
              <a:t>a </a:t>
            </a:r>
            <a:r>
              <a:rPr lang="zh-CN" altLang="en-US"/>
              <a:t>属于 (0, 1/3)，使得 </a:t>
            </a:r>
            <a:r>
              <a:rPr lang="en-US" altLang="zh-CN"/>
              <a:t>f </a:t>
            </a:r>
            <a:r>
              <a:rPr lang="zh-CN" altLang="en-US"/>
              <a:t>在 </a:t>
            </a:r>
            <a:r>
              <a:rPr lang="en-US" altLang="zh-CN"/>
              <a:t>a </a:t>
            </a:r>
            <a:r>
              <a:rPr lang="zh-CN" altLang="en-US"/>
              <a:t>点的导数乘以 (1/3 − 0) = </a:t>
            </a:r>
            <a:r>
              <a:rPr lang="en-US" altLang="zh-CN"/>
              <a:t>f(1/3) − f(0)。 </a:t>
            </a:r>
            <a:r>
              <a:rPr lang="zh-CN" altLang="en-US"/>
              <a:t>即 </a:t>
            </a:r>
            <a:r>
              <a:rPr lang="en-US" altLang="zh-CN"/>
              <a:t>f(a) </a:t>
            </a:r>
            <a:r>
              <a:rPr lang="zh-CN" altLang="en-US"/>
              <a:t>的导数 = 3 乘 [</a:t>
            </a:r>
            <a:r>
              <a:rPr lang="en-US" altLang="zh-CN"/>
              <a:t>f(1/3) − f(0)]。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在 [1/3, 2/3] 上，同样由拉格朗日中值定理，存在 </a:t>
            </a:r>
            <a:r>
              <a:rPr lang="en-US" altLang="zh-CN"/>
              <a:t>b </a:t>
            </a:r>
            <a:r>
              <a:rPr lang="zh-CN" altLang="en-US"/>
              <a:t>属于 (1/3, 2/3)，使得 </a:t>
            </a:r>
            <a:r>
              <a:rPr lang="en-US" altLang="zh-CN"/>
              <a:t>f </a:t>
            </a:r>
            <a:r>
              <a:rPr lang="zh-CN" altLang="en-US"/>
              <a:t>在 </a:t>
            </a:r>
            <a:r>
              <a:rPr lang="en-US" altLang="zh-CN"/>
              <a:t>b </a:t>
            </a:r>
            <a:r>
              <a:rPr lang="zh-CN" altLang="en-US"/>
              <a:t>点的导数乘以 (2/3 − 1/3) = </a:t>
            </a:r>
            <a:r>
              <a:rPr lang="en-US" altLang="zh-CN"/>
              <a:t>f(2/3) − f(1/3)。 </a:t>
            </a:r>
            <a:r>
              <a:rPr lang="zh-CN" altLang="en-US"/>
              <a:t>即 </a:t>
            </a:r>
            <a:r>
              <a:rPr lang="en-US" altLang="zh-CN"/>
              <a:t>f(b) </a:t>
            </a:r>
            <a:r>
              <a:rPr lang="zh-CN" altLang="en-US"/>
              <a:t>的导数 = 3 乘 [</a:t>
            </a:r>
            <a:r>
              <a:rPr lang="en-US" altLang="zh-CN"/>
              <a:t>f(2/3) − f(1/3)]。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在 [2/3, 1] 上，同样由拉格朗日中值定理，存在 </a:t>
            </a:r>
            <a:r>
              <a:rPr lang="en-US" altLang="zh-CN"/>
              <a:t>c </a:t>
            </a:r>
            <a:r>
              <a:rPr lang="zh-CN" altLang="en-US"/>
              <a:t>属于 (2/3, 1)，使得 </a:t>
            </a:r>
            <a:r>
              <a:rPr lang="en-US" altLang="zh-CN"/>
              <a:t>f </a:t>
            </a:r>
            <a:r>
              <a:rPr lang="zh-CN" altLang="en-US"/>
              <a:t>在 </a:t>
            </a:r>
            <a:r>
              <a:rPr lang="en-US" altLang="zh-CN"/>
              <a:t>c </a:t>
            </a:r>
            <a:r>
              <a:rPr lang="zh-CN" altLang="en-US"/>
              <a:t>点的导数乘以 (1 − 2/3) = </a:t>
            </a:r>
            <a:r>
              <a:rPr lang="en-US" altLang="zh-CN"/>
              <a:t>f(1) − f(2/3)。 </a:t>
            </a:r>
            <a:r>
              <a:rPr lang="zh-CN" altLang="en-US"/>
              <a:t>即 </a:t>
            </a:r>
            <a:r>
              <a:rPr lang="en-US" altLang="zh-CN"/>
              <a:t>f(c) </a:t>
            </a:r>
            <a:r>
              <a:rPr lang="zh-CN" altLang="en-US"/>
              <a:t>的导数 = 3 乘 [</a:t>
            </a:r>
            <a:r>
              <a:rPr lang="en-US" altLang="zh-CN"/>
              <a:t>f(1) − f(2/3)]。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第三步：保证 </a:t>
            </a:r>
            <a:r>
              <a:rPr lang="en-US" altLang="zh-CN"/>
              <a:t>a、b、c </a:t>
            </a:r>
            <a:r>
              <a:rPr lang="zh-CN" altLang="en-US"/>
              <a:t>互不相同。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a </a:t>
            </a:r>
            <a:r>
              <a:rPr lang="zh-CN" altLang="en-US"/>
              <a:t>属于 (0, 1/3)，</a:t>
            </a:r>
            <a:r>
              <a:rPr lang="en-US" altLang="zh-CN"/>
              <a:t>b </a:t>
            </a:r>
            <a:r>
              <a:rPr lang="zh-CN" altLang="en-US"/>
              <a:t>属于 (1/3, 2/3)，</a:t>
            </a:r>
            <a:r>
              <a:rPr lang="en-US" altLang="zh-CN"/>
              <a:t>c </a:t>
            </a:r>
            <a:r>
              <a:rPr lang="zh-CN" altLang="en-US"/>
              <a:t>属于 (2/3, 1)。</a:t>
            </a:r>
            <a:endParaRPr lang="zh-CN" altLang="en-US"/>
          </a:p>
          <a:p>
            <a:r>
              <a:rPr lang="zh-CN" altLang="en-US"/>
              <a:t>这三个开区间两两不相交：(0, 1/3) 与 (1/3, 2/3) 只“相邻”，公共端点是 1/3，但 1/3 不在任何一个开区间内；其余同理。</a:t>
            </a:r>
            <a:endParaRPr lang="zh-CN" altLang="en-US"/>
          </a:p>
          <a:p>
            <a:r>
              <a:rPr lang="zh-CN" altLang="en-US"/>
              <a:t>因此 </a:t>
            </a:r>
            <a:r>
              <a:rPr lang="en-US" altLang="zh-CN"/>
              <a:t>a </a:t>
            </a:r>
            <a:r>
              <a:rPr lang="zh-CN" altLang="en-US"/>
              <a:t>不能等于 </a:t>
            </a:r>
            <a:r>
              <a:rPr lang="en-US" altLang="zh-CN"/>
              <a:t>b，</a:t>
            </a:r>
            <a:r>
              <a:rPr lang="zh-CN" altLang="en-US"/>
              <a:t>也不能等于 </a:t>
            </a:r>
            <a:r>
              <a:rPr lang="en-US" altLang="zh-CN"/>
              <a:t>c；b </a:t>
            </a:r>
            <a:r>
              <a:rPr lang="zh-CN" altLang="en-US"/>
              <a:t>不能等于 </a:t>
            </a:r>
            <a:r>
              <a:rPr lang="en-US" altLang="zh-CN"/>
              <a:t>c。</a:t>
            </a:r>
            <a:endParaRPr lang="en-US" altLang="zh-CN"/>
          </a:p>
          <a:p>
            <a:r>
              <a:rPr lang="zh-CN" altLang="en-US"/>
              <a:t>所以 </a:t>
            </a:r>
            <a:r>
              <a:rPr lang="en-US" altLang="zh-CN"/>
              <a:t>a、b、c </a:t>
            </a:r>
            <a:r>
              <a:rPr lang="zh-CN" altLang="en-US"/>
              <a:t>是 (0,1) 内三个互不相同的点。</a:t>
            </a:r>
            <a:endParaRPr lang="zh-CN" altLang="en-US"/>
          </a:p>
          <a:p>
            <a:r>
              <a:rPr lang="zh-CN" altLang="en-US"/>
              <a:t>（这一步只依赖“中值点的存在区间”，不依赖导数的取值，因此是严格保证的。）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611505" y="1221105"/>
            <a:ext cx="10779760" cy="3554730"/>
          </a:xfrm>
        </p:spPr>
        <p:txBody>
          <a:bodyPr>
            <a:noAutofit/>
          </a:bodyPr>
          <a:p>
            <a:pPr>
              <a:lnSpc>
                <a:spcPct val="90000"/>
              </a:lnSpc>
            </a:pPr>
            <a:r>
              <a:rPr lang="zh-CN" altLang="en-US" sz="2000"/>
              <a:t>第四步：求和。</a:t>
            </a:r>
            <a:endParaRPr lang="en-US" altLang="zh-CN" sz="2000"/>
          </a:p>
          <a:p>
            <a:pPr>
              <a:lnSpc>
                <a:spcPct val="90000"/>
              </a:lnSpc>
            </a:pPr>
            <a:r>
              <a:rPr lang="zh-CN" altLang="en-US" sz="2000"/>
              <a:t>把第二步的三个等式相加：</a:t>
            </a:r>
            <a:endParaRPr lang="en-US" altLang="zh-CN" sz="2000"/>
          </a:p>
          <a:p>
            <a:pPr>
              <a:lnSpc>
                <a:spcPct val="90000"/>
              </a:lnSpc>
            </a:pPr>
            <a:r>
              <a:rPr lang="en-US" altLang="zh-CN" sz="2000"/>
              <a:t>f </a:t>
            </a:r>
            <a:r>
              <a:rPr lang="zh-CN" altLang="en-US" sz="2000"/>
              <a:t>在 </a:t>
            </a:r>
            <a:r>
              <a:rPr lang="en-US" altLang="zh-CN" sz="2000"/>
              <a:t>a </a:t>
            </a:r>
            <a:r>
              <a:rPr lang="zh-CN" altLang="en-US" sz="2000"/>
              <a:t>点的导数 + </a:t>
            </a:r>
            <a:r>
              <a:rPr lang="en-US" altLang="zh-CN" sz="2000"/>
              <a:t>f </a:t>
            </a:r>
            <a:r>
              <a:rPr lang="zh-CN" altLang="en-US" sz="2000"/>
              <a:t>在 </a:t>
            </a:r>
            <a:r>
              <a:rPr lang="en-US" altLang="zh-CN" sz="2000"/>
              <a:t>b </a:t>
            </a:r>
            <a:r>
              <a:rPr lang="zh-CN" altLang="en-US" sz="2000"/>
              <a:t>点的导数 + </a:t>
            </a:r>
            <a:r>
              <a:rPr lang="en-US" altLang="zh-CN" sz="2000"/>
              <a:t>f </a:t>
            </a:r>
            <a:r>
              <a:rPr lang="zh-CN" altLang="en-US" sz="2000"/>
              <a:t>在 </a:t>
            </a:r>
            <a:r>
              <a:rPr lang="en-US" altLang="zh-CN" sz="2000"/>
              <a:t>c </a:t>
            </a:r>
            <a:r>
              <a:rPr lang="zh-CN" altLang="en-US" sz="2000"/>
              <a:t>点的导数 = 3 乘 [</a:t>
            </a:r>
            <a:r>
              <a:rPr lang="en-US" altLang="zh-CN" sz="2000"/>
              <a:t>f(1/3) − f(0)] + 3 </a:t>
            </a:r>
            <a:r>
              <a:rPr lang="zh-CN" altLang="en-US" sz="2000"/>
              <a:t>乘 [</a:t>
            </a:r>
            <a:r>
              <a:rPr lang="en-US" altLang="zh-CN" sz="2000"/>
              <a:t>f(2/3) − f(1/3)] + 3 </a:t>
            </a:r>
            <a:r>
              <a:rPr lang="zh-CN" altLang="en-US" sz="2000"/>
              <a:t>乘 [</a:t>
            </a:r>
            <a:r>
              <a:rPr lang="en-US" altLang="zh-CN" sz="2000"/>
              <a:t>f(1) − f(2/3)]。</a:t>
            </a:r>
            <a:endParaRPr lang="en-US" altLang="zh-CN" sz="2000"/>
          </a:p>
          <a:p>
            <a:pPr>
              <a:lnSpc>
                <a:spcPct val="90000"/>
              </a:lnSpc>
            </a:pPr>
            <a:r>
              <a:rPr lang="zh-CN" altLang="en-US" sz="2000"/>
              <a:t>右边括号内是裂项相加，中间项 </a:t>
            </a:r>
            <a:r>
              <a:rPr lang="en-US" altLang="zh-CN" sz="2000"/>
              <a:t>f(1/3)、f(2/3) </a:t>
            </a:r>
            <a:r>
              <a:rPr lang="zh-CN" altLang="en-US" sz="2000"/>
              <a:t>互相抵消，得</a:t>
            </a:r>
            <a:endParaRPr lang="en-US" altLang="zh-CN" sz="2000"/>
          </a:p>
          <a:p>
            <a:pPr>
              <a:lnSpc>
                <a:spcPct val="90000"/>
              </a:lnSpc>
            </a:pPr>
            <a:r>
              <a:rPr lang="zh-CN" altLang="en-US" sz="2000"/>
              <a:t>3 乘 [</a:t>
            </a:r>
            <a:r>
              <a:rPr lang="en-US" altLang="zh-CN" sz="2000"/>
              <a:t>f(1) − f(0)]。</a:t>
            </a:r>
            <a:endParaRPr lang="en-US" altLang="zh-CN" sz="2000"/>
          </a:p>
          <a:p>
            <a:pPr>
              <a:lnSpc>
                <a:spcPct val="90000"/>
              </a:lnSpc>
            </a:pPr>
            <a:r>
              <a:rPr lang="zh-CN" altLang="en-US" sz="2000"/>
              <a:t>由题设 </a:t>
            </a:r>
            <a:r>
              <a:rPr lang="en-US" altLang="zh-CN" sz="2000"/>
              <a:t>f(0) = 0、f(1) = 1，</a:t>
            </a:r>
            <a:r>
              <a:rPr lang="zh-CN" altLang="en-US" sz="2000"/>
              <a:t>所以 </a:t>
            </a:r>
            <a:r>
              <a:rPr lang="en-US" altLang="zh-CN" sz="2000"/>
              <a:t>f(1) − f(0) = 1。</a:t>
            </a:r>
            <a:endParaRPr lang="en-US" altLang="zh-CN" sz="2000"/>
          </a:p>
          <a:p>
            <a:pPr>
              <a:lnSpc>
                <a:spcPct val="90000"/>
              </a:lnSpc>
            </a:pPr>
            <a:r>
              <a:rPr lang="zh-CN" altLang="en-US" sz="2000"/>
              <a:t>故</a:t>
            </a:r>
            <a:endParaRPr lang="en-US" altLang="zh-CN" sz="2000"/>
          </a:p>
          <a:p>
            <a:pPr>
              <a:lnSpc>
                <a:spcPct val="90000"/>
              </a:lnSpc>
            </a:pPr>
            <a:r>
              <a:rPr lang="en-US" altLang="zh-CN" sz="2000"/>
              <a:t>f </a:t>
            </a:r>
            <a:r>
              <a:rPr lang="zh-CN" altLang="en-US" sz="2000"/>
              <a:t>在 </a:t>
            </a:r>
            <a:r>
              <a:rPr lang="en-US" altLang="zh-CN" sz="2000"/>
              <a:t>a </a:t>
            </a:r>
            <a:r>
              <a:rPr lang="zh-CN" altLang="en-US" sz="2000"/>
              <a:t>点的导数 + </a:t>
            </a:r>
            <a:r>
              <a:rPr lang="en-US" altLang="zh-CN" sz="2000"/>
              <a:t>f </a:t>
            </a:r>
            <a:r>
              <a:rPr lang="zh-CN" altLang="en-US" sz="2000"/>
              <a:t>在 </a:t>
            </a:r>
            <a:r>
              <a:rPr lang="en-US" altLang="zh-CN" sz="2000"/>
              <a:t>b </a:t>
            </a:r>
            <a:r>
              <a:rPr lang="zh-CN" altLang="en-US" sz="2000"/>
              <a:t>点的导数 + </a:t>
            </a:r>
            <a:r>
              <a:rPr lang="en-US" altLang="zh-CN" sz="2000"/>
              <a:t>f </a:t>
            </a:r>
            <a:r>
              <a:rPr lang="zh-CN" altLang="en-US" sz="2000"/>
              <a:t>在 </a:t>
            </a:r>
            <a:r>
              <a:rPr lang="en-US" altLang="zh-CN" sz="2000"/>
              <a:t>c </a:t>
            </a:r>
            <a:r>
              <a:rPr lang="zh-CN" altLang="en-US" sz="2000"/>
              <a:t>点的导数 = 3 乘 1 = 3。</a:t>
            </a:r>
            <a:endParaRPr lang="en-US" altLang="zh-CN" sz="2000"/>
          </a:p>
          <a:p>
            <a:pPr>
              <a:lnSpc>
                <a:spcPct val="90000"/>
              </a:lnSpc>
            </a:pPr>
            <a:r>
              <a:rPr lang="zh-CN" altLang="en-US" sz="2000"/>
              <a:t>证毕。</a:t>
            </a:r>
            <a:endParaRPr lang="zh-CN" altLang="en-US" sz="2000"/>
          </a:p>
        </p:txBody>
      </p:sp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1511</Words>
  <Application>WPS 演示</Application>
  <PresentationFormat>宽屏</PresentationFormat>
  <Paragraphs>55</Paragraphs>
  <Slides>7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6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MS PGothic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szf_</cp:lastModifiedBy>
  <cp:revision>157</cp:revision>
  <dcterms:created xsi:type="dcterms:W3CDTF">2019-06-19T02:08:00Z</dcterms:created>
  <dcterms:modified xsi:type="dcterms:W3CDTF">2026-10-17T12:40:11Z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4F35C24271B645249CBC6EACCEE30BE0_11</vt:lpwstr>
  </property>
</Properties>
</file>