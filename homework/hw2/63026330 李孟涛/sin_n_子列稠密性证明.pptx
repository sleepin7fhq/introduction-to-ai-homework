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 n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126B7A"/>
              </a:solidFill>
              <a:ln>
                <a:noFill/>
              </a:ln>
            </c:spPr>
          </c:marker>
          <c:xVal>
            <c:numRef>
              <c:f>Sheet1!$A$2:$A$161</c:f>
              <c:numCache>
                <c:formatCode>General</c:formatCode>
                <c:ptCount val="160"/>
                <c:pt idx="0">
                  <c:v>0.15915494309189535</c:v>
                </c:pt>
                <c:pt idx="1">
                  <c:v>0.3183098861837907</c:v>
                </c:pt>
                <c:pt idx="2">
                  <c:v>0.477464829275686</c:v>
                </c:pt>
                <c:pt idx="3">
                  <c:v>0.6366197723675814</c:v>
                </c:pt>
                <c:pt idx="4">
                  <c:v>0.7957747154594768</c:v>
                </c:pt>
                <c:pt idx="5">
                  <c:v>0.954929658551372</c:v>
                </c:pt>
                <c:pt idx="6">
                  <c:v>0.11408460164326739</c:v>
                </c:pt>
                <c:pt idx="7">
                  <c:v>0.2732395447351627</c:v>
                </c:pt>
                <c:pt idx="8">
                  <c:v>0.4323944878270581</c:v>
                </c:pt>
                <c:pt idx="9">
                  <c:v>0.5915494309189534</c:v>
                </c:pt>
                <c:pt idx="10">
                  <c:v>0.7507043740108488</c:v>
                </c:pt>
                <c:pt idx="11">
                  <c:v>0.9098593171027441</c:v>
                </c:pt>
                <c:pt idx="12">
                  <c:v>0.06901426019463945</c:v>
                </c:pt>
                <c:pt idx="13">
                  <c:v>0.22816920328653478</c:v>
                </c:pt>
                <c:pt idx="14">
                  <c:v>0.38732414637843016</c:v>
                </c:pt>
                <c:pt idx="15">
                  <c:v>0.5464790894703254</c:v>
                </c:pt>
                <c:pt idx="16">
                  <c:v>0.7056340325622208</c:v>
                </c:pt>
                <c:pt idx="17">
                  <c:v>0.8647889756541162</c:v>
                </c:pt>
                <c:pt idx="18">
                  <c:v>0.023943918746011497</c:v>
                </c:pt>
                <c:pt idx="19">
                  <c:v>0.18309886183790683</c:v>
                </c:pt>
                <c:pt idx="20">
                  <c:v>0.3422538049298022</c:v>
                </c:pt>
                <c:pt idx="21">
                  <c:v>0.5014087480216975</c:v>
                </c:pt>
                <c:pt idx="22">
                  <c:v>0.6605636911135928</c:v>
                </c:pt>
                <c:pt idx="23">
                  <c:v>0.8197186342054882</c:v>
                </c:pt>
                <c:pt idx="24">
                  <c:v>0.9788735772973836</c:v>
                </c:pt>
                <c:pt idx="25">
                  <c:v>0.1380285203892789</c:v>
                </c:pt>
                <c:pt idx="26">
                  <c:v>0.29718346348117425</c:v>
                </c:pt>
                <c:pt idx="27">
                  <c:v>0.45633840657306957</c:v>
                </c:pt>
                <c:pt idx="28">
                  <c:v>0.6154933496649649</c:v>
                </c:pt>
                <c:pt idx="29">
                  <c:v>0.7746482927568603</c:v>
                </c:pt>
                <c:pt idx="30">
                  <c:v>0.9338032358487556</c:v>
                </c:pt>
                <c:pt idx="31">
                  <c:v>0.09295817894065095</c:v>
                </c:pt>
                <c:pt idx="32">
                  <c:v>0.25211312203254627</c:v>
                </c:pt>
                <c:pt idx="33">
                  <c:v>0.41126806512444164</c:v>
                </c:pt>
                <c:pt idx="34">
                  <c:v>0.570423008216337</c:v>
                </c:pt>
                <c:pt idx="35">
                  <c:v>0.7295779513082323</c:v>
                </c:pt>
                <c:pt idx="36">
                  <c:v>0.8887328944001277</c:v>
                </c:pt>
                <c:pt idx="37">
                  <c:v>0.047887837492022994</c:v>
                </c:pt>
                <c:pt idx="38">
                  <c:v>0.20704278058391834</c:v>
                </c:pt>
                <c:pt idx="39">
                  <c:v>0.36619772367581366</c:v>
                </c:pt>
                <c:pt idx="40">
                  <c:v>0.525352666767709</c:v>
                </c:pt>
                <c:pt idx="41">
                  <c:v>0.6845076098596043</c:v>
                </c:pt>
                <c:pt idx="42">
                  <c:v>0.8436625529514997</c:v>
                </c:pt>
                <c:pt idx="43">
                  <c:v>0.0028174960433950467</c:v>
                </c:pt>
                <c:pt idx="44">
                  <c:v>0.16197243913529039</c:v>
                </c:pt>
                <c:pt idx="45">
                  <c:v>0.32112738222718573</c:v>
                </c:pt>
                <c:pt idx="46">
                  <c:v>0.48028232531908105</c:v>
                </c:pt>
                <c:pt idx="47">
                  <c:v>0.6394372684109764</c:v>
                </c:pt>
                <c:pt idx="48">
                  <c:v>0.7985922115028717</c:v>
                </c:pt>
                <c:pt idx="49">
                  <c:v>0.9577471545947671</c:v>
                </c:pt>
                <c:pt idx="50">
                  <c:v>0.11690209768666245</c:v>
                </c:pt>
                <c:pt idx="51">
                  <c:v>0.2760570407785578</c:v>
                </c:pt>
                <c:pt idx="52">
                  <c:v>0.4352119838704531</c:v>
                </c:pt>
                <c:pt idx="53">
                  <c:v>0.5943669269623485</c:v>
                </c:pt>
                <c:pt idx="54">
                  <c:v>0.7535218700542438</c:v>
                </c:pt>
                <c:pt idx="55">
                  <c:v>0.9126768131461391</c:v>
                </c:pt>
                <c:pt idx="56">
                  <c:v>0.07183175623803449</c:v>
                </c:pt>
                <c:pt idx="57">
                  <c:v>0.23098669932992982</c:v>
                </c:pt>
                <c:pt idx="58">
                  <c:v>0.3901416424218252</c:v>
                </c:pt>
                <c:pt idx="59">
                  <c:v>0.5492965855137205</c:v>
                </c:pt>
                <c:pt idx="60">
                  <c:v>0.7084515286056159</c:v>
                </c:pt>
                <c:pt idx="61">
                  <c:v>0.8676064716975112</c:v>
                </c:pt>
                <c:pt idx="62">
                  <c:v>0.026761414789406544</c:v>
                </c:pt>
                <c:pt idx="63">
                  <c:v>0.1859163578813019</c:v>
                </c:pt>
                <c:pt idx="64">
                  <c:v>0.3450713009731972</c:v>
                </c:pt>
                <c:pt idx="65">
                  <c:v>0.5042262440650925</c:v>
                </c:pt>
                <c:pt idx="66">
                  <c:v>0.6633811871569879</c:v>
                </c:pt>
                <c:pt idx="67">
                  <c:v>0.8225361302488833</c:v>
                </c:pt>
                <c:pt idx="68">
                  <c:v>0.9816910733407785</c:v>
                </c:pt>
                <c:pt idx="69">
                  <c:v>0.14084601643267394</c:v>
                </c:pt>
                <c:pt idx="70">
                  <c:v>0.3000009595245693</c:v>
                </c:pt>
                <c:pt idx="71">
                  <c:v>0.4591559026164646</c:v>
                </c:pt>
                <c:pt idx="72">
                  <c:v>0.6183108457083599</c:v>
                </c:pt>
                <c:pt idx="73">
                  <c:v>0.7774657888002553</c:v>
                </c:pt>
                <c:pt idx="74">
                  <c:v>0.9366207318921507</c:v>
                </c:pt>
                <c:pt idx="75">
                  <c:v>0.09577567498404599</c:v>
                </c:pt>
                <c:pt idx="76">
                  <c:v>0.2549306180759413</c:v>
                </c:pt>
                <c:pt idx="77">
                  <c:v>0.4140855611678367</c:v>
                </c:pt>
                <c:pt idx="78">
                  <c:v>0.573240504259732</c:v>
                </c:pt>
                <c:pt idx="79">
                  <c:v>0.7323954473516273</c:v>
                </c:pt>
                <c:pt idx="80">
                  <c:v>0.8915503904435227</c:v>
                </c:pt>
                <c:pt idx="81">
                  <c:v>0.05070533353541804</c:v>
                </c:pt>
                <c:pt idx="82">
                  <c:v>0.20986027662731338</c:v>
                </c:pt>
                <c:pt idx="83">
                  <c:v>0.3690152197192087</c:v>
                </c:pt>
                <c:pt idx="84">
                  <c:v>0.5281701628111041</c:v>
                </c:pt>
                <c:pt idx="85">
                  <c:v>0.6873251059029994</c:v>
                </c:pt>
                <c:pt idx="86">
                  <c:v>0.8464800489948947</c:v>
                </c:pt>
                <c:pt idx="87">
                  <c:v>0.0056349920867900935</c:v>
                </c:pt>
                <c:pt idx="88">
                  <c:v>0.16478993517868543</c:v>
                </c:pt>
                <c:pt idx="89">
                  <c:v>0.32394487827058077</c:v>
                </c:pt>
                <c:pt idx="90">
                  <c:v>0.48309982136247615</c:v>
                </c:pt>
                <c:pt idx="91">
                  <c:v>0.6422547644543715</c:v>
                </c:pt>
                <c:pt idx="92">
                  <c:v>0.8014097075462668</c:v>
                </c:pt>
                <c:pt idx="93">
                  <c:v>0.9605646506381621</c:v>
                </c:pt>
                <c:pt idx="94">
                  <c:v>0.11971959373005749</c:v>
                </c:pt>
                <c:pt idx="95">
                  <c:v>0.27887453682195285</c:v>
                </c:pt>
                <c:pt idx="96">
                  <c:v>0.43802947991384816</c:v>
                </c:pt>
                <c:pt idx="97">
                  <c:v>0.5971844230057435</c:v>
                </c:pt>
                <c:pt idx="98">
                  <c:v>0.7563393660976389</c:v>
                </c:pt>
                <c:pt idx="99">
                  <c:v>0.9154943091895342</c:v>
                </c:pt>
                <c:pt idx="100">
                  <c:v>0.07464925228142955</c:v>
                </c:pt>
                <c:pt idx="101">
                  <c:v>0.2338041953733249</c:v>
                </c:pt>
                <c:pt idx="102">
                  <c:v>0.39295913846522024</c:v>
                </c:pt>
                <c:pt idx="103">
                  <c:v>0.5521140815571156</c:v>
                </c:pt>
                <c:pt idx="104">
                  <c:v>0.7112690246490109</c:v>
                </c:pt>
                <c:pt idx="105">
                  <c:v>0.8704239677409062</c:v>
                </c:pt>
                <c:pt idx="106">
                  <c:v>0.02957891083280159</c:v>
                </c:pt>
                <c:pt idx="107">
                  <c:v>0.18873385392469694</c:v>
                </c:pt>
                <c:pt idx="108">
                  <c:v>0.34788879701659225</c:v>
                </c:pt>
                <c:pt idx="109">
                  <c:v>0.5070437401084876</c:v>
                </c:pt>
                <c:pt idx="110">
                  <c:v>0.666198683200383</c:v>
                </c:pt>
                <c:pt idx="111">
                  <c:v>0.8253536262922783</c:v>
                </c:pt>
                <c:pt idx="112">
                  <c:v>0.9845085693841736</c:v>
                </c:pt>
                <c:pt idx="113">
                  <c:v>0.14366351247606898</c:v>
                </c:pt>
                <c:pt idx="114">
                  <c:v>0.30281845556796433</c:v>
                </c:pt>
                <c:pt idx="115">
                  <c:v>0.46197339865985965</c:v>
                </c:pt>
                <c:pt idx="116">
                  <c:v>0.621128341751755</c:v>
                </c:pt>
                <c:pt idx="117">
                  <c:v>0.7802832848436504</c:v>
                </c:pt>
                <c:pt idx="118">
                  <c:v>0.9394382279355457</c:v>
                </c:pt>
                <c:pt idx="119">
                  <c:v>0.09859317102744104</c:v>
                </c:pt>
                <c:pt idx="120">
                  <c:v>0.2577481141193364</c:v>
                </c:pt>
                <c:pt idx="121">
                  <c:v>0.4169030572112317</c:v>
                </c:pt>
                <c:pt idx="122">
                  <c:v>0.576058000303127</c:v>
                </c:pt>
                <c:pt idx="123">
                  <c:v>0.7352129433950224</c:v>
                </c:pt>
                <c:pt idx="124">
                  <c:v>0.8943678864869178</c:v>
                </c:pt>
                <c:pt idx="125">
                  <c:v>0.05352282957881309</c:v>
                </c:pt>
                <c:pt idx="126">
                  <c:v>0.21267777267070842</c:v>
                </c:pt>
                <c:pt idx="127">
                  <c:v>0.3718327157626038</c:v>
                </c:pt>
                <c:pt idx="128">
                  <c:v>0.5309876588544992</c:v>
                </c:pt>
                <c:pt idx="129">
                  <c:v>0.6901426019463944</c:v>
                </c:pt>
                <c:pt idx="130">
                  <c:v>0.8492975450382898</c:v>
                </c:pt>
                <c:pt idx="131">
                  <c:v>0.00845248813018514</c:v>
                </c:pt>
                <c:pt idx="132">
                  <c:v>0.1676074312220805</c:v>
                </c:pt>
                <c:pt idx="133">
                  <c:v>0.3267623743139758</c:v>
                </c:pt>
                <c:pt idx="134">
                  <c:v>0.4859173174058712</c:v>
                </c:pt>
                <c:pt idx="135">
                  <c:v>0.6450722604977666</c:v>
                </c:pt>
                <c:pt idx="136">
                  <c:v>0.8042272035896618</c:v>
                </c:pt>
                <c:pt idx="137">
                  <c:v>0.9633821466815572</c:v>
                </c:pt>
                <c:pt idx="138">
                  <c:v>0.12253708977345254</c:v>
                </c:pt>
                <c:pt idx="139">
                  <c:v>0.2816920328653479</c:v>
                </c:pt>
                <c:pt idx="140">
                  <c:v>0.4408469759572432</c:v>
                </c:pt>
                <c:pt idx="141">
                  <c:v>0.6000019190491386</c:v>
                </c:pt>
                <c:pt idx="142">
                  <c:v>0.759156862141034</c:v>
                </c:pt>
                <c:pt idx="143">
                  <c:v>0.9183118052329292</c:v>
                </c:pt>
                <c:pt idx="144">
                  <c:v>0.07746674832482459</c:v>
                </c:pt>
                <c:pt idx="145">
                  <c:v>0.23662169141671993</c:v>
                </c:pt>
                <c:pt idx="146">
                  <c:v>0.3957766345086153</c:v>
                </c:pt>
                <c:pt idx="147">
                  <c:v>0.5549315776005106</c:v>
                </c:pt>
                <c:pt idx="148">
                  <c:v>0.714086520692406</c:v>
                </c:pt>
                <c:pt idx="149">
                  <c:v>0.8732414637843013</c:v>
                </c:pt>
                <c:pt idx="150">
                  <c:v>0.03239640687619664</c:v>
                </c:pt>
                <c:pt idx="151">
                  <c:v>0.19155134996809198</c:v>
                </c:pt>
                <c:pt idx="152">
                  <c:v>0.3507062930599873</c:v>
                </c:pt>
                <c:pt idx="153">
                  <c:v>0.5098612361518826</c:v>
                </c:pt>
                <c:pt idx="154">
                  <c:v>0.669016179243778</c:v>
                </c:pt>
                <c:pt idx="155">
                  <c:v>0.8281711223356734</c:v>
                </c:pt>
                <c:pt idx="156">
                  <c:v>0.9873260654275687</c:v>
                </c:pt>
                <c:pt idx="157">
                  <c:v>0.14648100851946402</c:v>
                </c:pt>
                <c:pt idx="158">
                  <c:v>0.30563595161135937</c:v>
                </c:pt>
                <c:pt idx="159">
                  <c:v>0.46479089470325474</c:v>
                </c:pt>
              </c:numCache>
            </c:numRef>
          </c:xVal>
          <c:yVal>
            <c:numRef>
              <c:f>Sheet1!$B$2:$B$161</c:f>
              <c:numCache>
                <c:formatCode>General</c:formatCode>
                <c:ptCount val="160"/>
                <c:pt idx="0">
                  <c:v>0.8414709848078965</c:v>
                </c:pt>
                <c:pt idx="1">
                  <c:v>0.9092974268256817</c:v>
                </c:pt>
                <c:pt idx="2">
                  <c:v>0.1411200080598672</c:v>
                </c:pt>
                <c:pt idx="3">
                  <c:v>-0.7568024953079282</c:v>
                </c:pt>
                <c:pt idx="4">
                  <c:v>-0.9589242746631385</c:v>
                </c:pt>
                <c:pt idx="5">
                  <c:v>-0.27941549819892586</c:v>
                </c:pt>
                <c:pt idx="6">
                  <c:v>0.6569865987187891</c:v>
                </c:pt>
                <c:pt idx="7">
                  <c:v>0.9893582466233818</c:v>
                </c:pt>
                <c:pt idx="8">
                  <c:v>0.4121184852417566</c:v>
                </c:pt>
                <c:pt idx="9">
                  <c:v>-0.5440211108893698</c:v>
                </c:pt>
                <c:pt idx="10">
                  <c:v>-0.9999902065507035</c:v>
                </c:pt>
                <c:pt idx="11">
                  <c:v>-0.5365729180004349</c:v>
                </c:pt>
                <c:pt idx="12">
                  <c:v>0.4201670368266409</c:v>
                </c:pt>
                <c:pt idx="13">
                  <c:v>0.9906073556948704</c:v>
                </c:pt>
                <c:pt idx="14">
                  <c:v>0.6502878401571168</c:v>
                </c:pt>
                <c:pt idx="15">
                  <c:v>-0.2879033166650653</c:v>
                </c:pt>
                <c:pt idx="16">
                  <c:v>-0.9613974918795568</c:v>
                </c:pt>
                <c:pt idx="17">
                  <c:v>-0.7509872467716762</c:v>
                </c:pt>
                <c:pt idx="18">
                  <c:v>0.14987720966295234</c:v>
                </c:pt>
                <c:pt idx="19">
                  <c:v>0.9129452507276277</c:v>
                </c:pt>
                <c:pt idx="20">
                  <c:v>0.8366556385360561</c:v>
                </c:pt>
                <c:pt idx="21">
                  <c:v>-0.008851309290403876</c:v>
                </c:pt>
                <c:pt idx="22">
                  <c:v>-0.8462204041751706</c:v>
                </c:pt>
                <c:pt idx="23">
                  <c:v>-0.9055783620066238</c:v>
                </c:pt>
                <c:pt idx="24">
                  <c:v>-0.13235175009777303</c:v>
                </c:pt>
                <c:pt idx="25">
                  <c:v>0.7625584504796027</c:v>
                </c:pt>
                <c:pt idx="26">
                  <c:v>0.956375928404503</c:v>
                </c:pt>
                <c:pt idx="27">
                  <c:v>0.27090578830786904</c:v>
                </c:pt>
                <c:pt idx="28">
                  <c:v>-0.6636338842129675</c:v>
                </c:pt>
                <c:pt idx="29">
                  <c:v>-0.9880316240928618</c:v>
                </c:pt>
                <c:pt idx="30">
                  <c:v>-0.404037645323065</c:v>
                </c:pt>
                <c:pt idx="31">
                  <c:v>0.5514266812416906</c:v>
                </c:pt>
                <c:pt idx="32">
                  <c:v>0.9999118601072672</c:v>
                </c:pt>
                <c:pt idx="33">
                  <c:v>0.5290826861200238</c:v>
                </c:pt>
                <c:pt idx="34">
                  <c:v>-0.428182669496151</c:v>
                </c:pt>
                <c:pt idx="35">
                  <c:v>-0.9917788534431158</c:v>
                </c:pt>
                <c:pt idx="36">
                  <c:v>-0.6435381333569995</c:v>
                </c:pt>
                <c:pt idx="37">
                  <c:v>0.2963685787093853</c:v>
                </c:pt>
                <c:pt idx="38">
                  <c:v>0.9637953862840878</c:v>
                </c:pt>
                <c:pt idx="39">
                  <c:v>0.7451131604793488</c:v>
                </c:pt>
                <c:pt idx="40">
                  <c:v>-0.158622668804709</c:v>
                </c:pt>
                <c:pt idx="41">
                  <c:v>-0.9165215479156338</c:v>
                </c:pt>
                <c:pt idx="42">
                  <c:v>-0.8317747426285983</c:v>
                </c:pt>
                <c:pt idx="43">
                  <c:v>0.017701925105413577</c:v>
                </c:pt>
                <c:pt idx="44">
                  <c:v>0.8509035245341184</c:v>
                </c:pt>
                <c:pt idx="45">
                  <c:v>0.9017883476488092</c:v>
                </c:pt>
                <c:pt idx="46">
                  <c:v>0.123573122745224</c:v>
                </c:pt>
                <c:pt idx="47">
                  <c:v>-0.7682546613236668</c:v>
                </c:pt>
                <c:pt idx="48">
                  <c:v>-0.9537526527594719</c:v>
                </c:pt>
                <c:pt idx="49">
                  <c:v>-0.26237485370392877</c:v>
                </c:pt>
                <c:pt idx="50">
                  <c:v>0.6702291758433747</c:v>
                </c:pt>
                <c:pt idx="51">
                  <c:v>0.9866275920404853</c:v>
                </c:pt>
                <c:pt idx="52">
                  <c:v>0.39592515018183416</c:v>
                </c:pt>
                <c:pt idx="53">
                  <c:v>-0.5587890488516163</c:v>
                </c:pt>
                <c:pt idx="54">
                  <c:v>-0.9997551733586199</c:v>
                </c:pt>
                <c:pt idx="55">
                  <c:v>-0.5215510020869119</c:v>
                </c:pt>
                <c:pt idx="56">
                  <c:v>0.43616475524782494</c:v>
                </c:pt>
                <c:pt idx="57">
                  <c:v>0.9928726480845371</c:v>
                </c:pt>
                <c:pt idx="58">
                  <c:v>0.6367380071391379</c:v>
                </c:pt>
                <c:pt idx="59">
                  <c:v>-0.3048106211022167</c:v>
                </c:pt>
                <c:pt idx="60">
                  <c:v>-0.9661177700083929</c:v>
                </c:pt>
                <c:pt idx="61">
                  <c:v>-0.7391806966492228</c:v>
                </c:pt>
                <c:pt idx="62">
                  <c:v>0.16735570030280691</c:v>
                </c:pt>
                <c:pt idx="63">
                  <c:v>0.9200260381967907</c:v>
                </c:pt>
                <c:pt idx="64">
                  <c:v>0.8268286794901034</c:v>
                </c:pt>
                <c:pt idx="65">
                  <c:v>-0.026551154023966794</c:v>
                </c:pt>
                <c:pt idx="66">
                  <c:v>-0.8555199789753223</c:v>
                </c:pt>
                <c:pt idx="67">
                  <c:v>-0.8979276806892913</c:v>
                </c:pt>
                <c:pt idx="68">
                  <c:v>-0.11478481378318722</c:v>
                </c:pt>
                <c:pt idx="69">
                  <c:v>0.7738906815578891</c:v>
                </c:pt>
                <c:pt idx="70">
                  <c:v>0.9510546532543747</c:v>
                </c:pt>
                <c:pt idx="71">
                  <c:v>0.25382336276203626</c:v>
                </c:pt>
                <c:pt idx="72">
                  <c:v>-0.6767719568873076</c:v>
                </c:pt>
                <c:pt idx="73">
                  <c:v>-0.9851462604682474</c:v>
                </c:pt>
                <c:pt idx="74">
                  <c:v>-0.38778163540943045</c:v>
                </c:pt>
                <c:pt idx="75">
                  <c:v>0.5661076368981803</c:v>
                </c:pt>
                <c:pt idx="76">
                  <c:v>0.9995201585807313</c:v>
                </c:pt>
                <c:pt idx="77">
                  <c:v>0.5139784559875352</c:v>
                </c:pt>
                <c:pt idx="78">
                  <c:v>-0.4441126687075084</c:v>
                </c:pt>
                <c:pt idx="79">
                  <c:v>-0.9938886539233752</c:v>
                </c:pt>
                <c:pt idx="80">
                  <c:v>-0.6298879942744539</c:v>
                </c:pt>
                <c:pt idx="81">
                  <c:v>0.31322878243308516</c:v>
                </c:pt>
                <c:pt idx="82">
                  <c:v>0.9683644611001854</c:v>
                </c:pt>
                <c:pt idx="83">
                  <c:v>0.7331903200732922</c:v>
                </c:pt>
                <c:pt idx="84">
                  <c:v>-0.1760756199485871</c:v>
                </c:pt>
                <c:pt idx="85">
                  <c:v>-0.9234584470040598</c:v>
                </c:pt>
                <c:pt idx="86">
                  <c:v>-0.8218178366308225</c:v>
                </c:pt>
                <c:pt idx="87">
                  <c:v>0.03539830273366068</c:v>
                </c:pt>
                <c:pt idx="88">
                  <c:v>0.8600694058124532</c:v>
                </c:pt>
                <c:pt idx="89">
                  <c:v>0.8939966636005579</c:v>
                </c:pt>
                <c:pt idx="90">
                  <c:v>0.10598751175115685</c:v>
                </c:pt>
                <c:pt idx="91">
                  <c:v>-0.7794660696158047</c:v>
                </c:pt>
                <c:pt idx="92">
                  <c:v>-0.9482821412699473</c:v>
                </c:pt>
                <c:pt idx="93">
                  <c:v>-0.24525198546765434</c:v>
                </c:pt>
                <c:pt idx="94">
                  <c:v>0.683261714736121</c:v>
                </c:pt>
                <c:pt idx="95">
                  <c:v>0.9835877454343449</c:v>
                </c:pt>
                <c:pt idx="96">
                  <c:v>0.3796077390275217</c:v>
                </c:pt>
                <c:pt idx="97">
                  <c:v>-0.5733818719904229</c:v>
                </c:pt>
                <c:pt idx="98">
                  <c:v>-0.9992068341863537</c:v>
                </c:pt>
                <c:pt idx="99">
                  <c:v>-0.5063656411097588</c:v>
                </c:pt>
                <c:pt idx="100">
                  <c:v>0.45202578717835057</c:v>
                </c:pt>
                <c:pt idx="101">
                  <c:v>0.9948267913584063</c:v>
                </c:pt>
                <c:pt idx="102">
                  <c:v>0.6229886314423488</c:v>
                </c:pt>
                <c:pt idx="103">
                  <c:v>-0.32162240316253093</c:v>
                </c:pt>
                <c:pt idx="104">
                  <c:v>-0.9705352835374847</c:v>
                </c:pt>
                <c:pt idx="105">
                  <c:v>-0.7271425000808526</c:v>
                </c:pt>
                <c:pt idx="106">
                  <c:v>0.18478174456066745</c:v>
                </c:pt>
                <c:pt idx="107">
                  <c:v>0.926818505417785</c:v>
                </c:pt>
                <c:pt idx="108">
                  <c:v>0.8167426066363169</c:v>
                </c:pt>
                <c:pt idx="109">
                  <c:v>-0.044242678085070965</c:v>
                </c:pt>
                <c:pt idx="110">
                  <c:v>-0.8645514486106083</c:v>
                </c:pt>
                <c:pt idx="111">
                  <c:v>-0.8899956043668333</c:v>
                </c:pt>
                <c:pt idx="112">
                  <c:v>-0.09718190589320902</c:v>
                </c:pt>
                <c:pt idx="113">
                  <c:v>0.7849803886813105</c:v>
                </c:pt>
                <c:pt idx="114">
                  <c:v>0.9454353340247703</c:v>
                </c:pt>
                <c:pt idx="115">
                  <c:v>0.23666139336428604</c:v>
                </c:pt>
                <c:pt idx="116">
                  <c:v>-0.689697940935389</c:v>
                </c:pt>
                <c:pt idx="117">
                  <c:v>-0.9819521690440836</c:v>
                </c:pt>
                <c:pt idx="118">
                  <c:v>-0.3714041014380902</c:v>
                </c:pt>
                <c:pt idx="119">
                  <c:v>0.5806111842123143</c:v>
                </c:pt>
                <c:pt idx="120">
                  <c:v>0.9988152247235795</c:v>
                </c:pt>
                <c:pt idx="121">
                  <c:v>0.4987131538963941</c:v>
                </c:pt>
                <c:pt idx="122">
                  <c:v>-0.45990349068959124</c:v>
                </c:pt>
                <c:pt idx="123">
                  <c:v>-0.9956869868891794</c:v>
                </c:pt>
                <c:pt idx="124">
                  <c:v>-0.6160404591886565</c:v>
                </c:pt>
                <c:pt idx="125">
                  <c:v>0.329990825673782</c:v>
                </c:pt>
                <c:pt idx="126">
                  <c:v>0.972630067242408</c:v>
                </c:pt>
                <c:pt idx="127">
                  <c:v>0.7210377105017316</c:v>
                </c:pt>
                <c:pt idx="128">
                  <c:v>-0.19347339203846847</c:v>
                </c:pt>
                <c:pt idx="129">
                  <c:v>-0.9301059501867618</c:v>
                </c:pt>
                <c:pt idx="130">
                  <c:v>-0.8116033871367005</c:v>
                </c:pt>
                <c:pt idx="131">
                  <c:v>0.05308358714605824</c:v>
                </c:pt>
                <c:pt idx="132">
                  <c:v>0.8689657562142357</c:v>
                </c:pt>
                <c:pt idx="133">
                  <c:v>0.8859248164599484</c:v>
                </c:pt>
                <c:pt idx="134">
                  <c:v>0.08836868610400143</c:v>
                </c:pt>
                <c:pt idx="135">
                  <c:v>-0.7904332067228887</c:v>
                </c:pt>
                <c:pt idx="136">
                  <c:v>-0.9425144545582509</c:v>
                </c:pt>
                <c:pt idx="137">
                  <c:v>-0.2280522595008612</c:v>
                </c:pt>
                <c:pt idx="138">
                  <c:v>0.6960801312247415</c:v>
                </c:pt>
                <c:pt idx="139">
                  <c:v>0.9802396594403116</c:v>
                </c:pt>
                <c:pt idx="140">
                  <c:v>0.363171365373259</c:v>
                </c:pt>
                <c:pt idx="141">
                  <c:v>-0.5877950071674065</c:v>
                </c:pt>
                <c:pt idx="142">
                  <c:v>-0.9983453608739179</c:v>
                </c:pt>
                <c:pt idx="143">
                  <c:v>-0.49102159389846933</c:v>
                </c:pt>
                <c:pt idx="144">
                  <c:v>0.4677451620451334</c:v>
                </c:pt>
                <c:pt idx="145">
                  <c:v>0.9964691731217737</c:v>
                </c:pt>
                <c:pt idx="146">
                  <c:v>0.6090440218832924</c:v>
                </c:pt>
                <c:pt idx="147">
                  <c:v>-0.3383333943242765</c:v>
                </c:pt>
                <c:pt idx="148">
                  <c:v>-0.9746486480944947</c:v>
                </c:pt>
                <c:pt idx="149">
                  <c:v>-0.7148764296291646</c:v>
                </c:pt>
                <c:pt idx="150">
                  <c:v>0.20214988141565363</c:v>
                </c:pt>
                <c:pt idx="151">
                  <c:v>0.933320523748862</c:v>
                </c:pt>
                <c:pt idx="152">
                  <c:v>0.8064005807754863</c:v>
                </c:pt>
                <c:pt idx="153">
                  <c:v>-0.06192033725605731</c:v>
                </c:pt>
                <c:pt idx="154">
                  <c:v>-0.8733119827746476</c:v>
                </c:pt>
                <c:pt idx="155">
                  <c:v>-0.8817846188147811</c:v>
                </c:pt>
                <c:pt idx="156">
                  <c:v>-0.0795485428747221</c:v>
                </c:pt>
                <c:pt idx="157">
                  <c:v>0.7958240965274552</c:v>
                </c:pt>
                <c:pt idx="158">
                  <c:v>0.9395197317131483</c:v>
                </c:pt>
                <c:pt idx="159">
                  <c:v>0.21942525837900473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06"/>
          <c:min val="-0.04"/>
        </c:scaling>
        <c:delete val="0"/>
        <c:axPos val="b"/>
        <c:numFmt formatCode="0.0" sourceLinked="0"/>
        <c:majorTickMark val="none"/>
        <c:minorTickMark val="none"/>
        <c:tickLblPos val="nextTo"/>
        <c:spPr>
          <a:ln w="9525">
            <a:solidFill>
              <a:srgbClr val="DDE6ED"/>
            </a:solidFill>
          </a:ln>
        </c:spPr>
        <c:txPr>
          <a:bodyPr/>
          <a:lstStyle/>
          <a:p>
            <a:pPr>
              <a:defRPr sz="900">
                <a:solidFill>
                  <a:srgbClr val="5E7284"/>
                </a:solidFill>
                <a:latin typeface="Microsoft YaHei"/>
              </a:defRPr>
            </a:pPr>
          </a:p>
        </c:txPr>
        <c:crossAx val="-2129643912"/>
        <c:crosses val="autoZero"/>
        <c:crossBetween val="midCat"/>
        <c:majorUnit val="0.2"/>
      </c:valAx>
      <c:valAx>
        <c:axId val="-2129643912"/>
        <c:scaling>
          <c:orientation val="minMax"/>
          <c:max val="1.0"/>
          <c:min val="-1.0"/>
        </c:scaling>
        <c:delete val="0"/>
        <c:axPos val="l"/>
        <c:majorGridlines>
          <c:spPr>
            <a:ln w="9525">
              <a:solidFill>
                <a:srgbClr val="ECF1F5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DE6ED"/>
            </a:solidFill>
          </a:ln>
        </c:spPr>
        <c:txPr>
          <a:bodyPr/>
          <a:lstStyle/>
          <a:p>
            <a:pPr>
              <a:defRPr sz="950">
                <a:solidFill>
                  <a:srgbClr val="5E7284"/>
                </a:solidFill>
                <a:latin typeface="Microsoft YaHei"/>
              </a:defRPr>
            </a:pPr>
          </a:p>
        </c:txPr>
        <c:crossAx val="-2128940872"/>
        <c:crosses val="autoZero"/>
        <c:crossBetween val="midCat"/>
        <c:majorUnit val="0.5"/>
      </c:valAx>
    </c:plotArea>
    <c:plotVisOnly val="1"/>
    <c:dispBlanksAs val="gap"/>
    <c:showDLblsOverMax val="0"/>
  </c:chart>
  <c:txPr>
    <a:bodyPr/>
    <a:lstStyle/>
    <a:p>
      <a:pPr>
        <a:defRPr sz="950">
          <a:solidFill>
            <a:srgbClr val="5E7284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频数</c:v>
                </c:pt>
              </c:strCache>
            </c:strRef>
          </c:tx>
          <c:spPr>
            <a:solidFill>
              <a:srgbClr val="126B7A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−0.9</c:v>
                </c:pt>
                <c:pt idx="1">
                  <c:v>−0.7</c:v>
                </c:pt>
                <c:pt idx="2">
                  <c:v>−0.5</c:v>
                </c:pt>
                <c:pt idx="3">
                  <c:v>−0.3</c:v>
                </c:pt>
                <c:pt idx="4">
                  <c:v>−0.1</c:v>
                </c:pt>
                <c:pt idx="5">
                  <c:v>+0.1</c:v>
                </c:pt>
                <c:pt idx="6">
                  <c:v>+0.3</c:v>
                </c:pt>
                <c:pt idx="7">
                  <c:v>+0.5</c:v>
                </c:pt>
                <c:pt idx="8">
                  <c:v>+0.7</c:v>
                </c:pt>
                <c:pt idx="9">
                  <c:v>+0.9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616</c:v>
                </c:pt>
                <c:pt idx="1">
                  <c:v>270</c:v>
                </c:pt>
                <c:pt idx="2">
                  <c:v>220</c:v>
                </c:pt>
                <c:pt idx="3">
                  <c:v>202</c:v>
                </c:pt>
                <c:pt idx="4">
                  <c:v>191</c:v>
                </c:pt>
                <c:pt idx="5">
                  <c:v>190</c:v>
                </c:pt>
                <c:pt idx="6">
                  <c:v>203</c:v>
                </c:pt>
                <c:pt idx="7">
                  <c:v>219</c:v>
                </c:pt>
                <c:pt idx="8">
                  <c:v>271</c:v>
                </c:pt>
                <c:pt idx="9">
                  <c:v>618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DE6ED"/>
            </a:solidFill>
          </a:ln>
        </c:spPr>
        <c:txPr>
          <a:bodyPr/>
          <a:lstStyle/>
          <a:p>
            <a:pPr>
              <a:defRPr sz="900">
                <a:solidFill>
                  <a:srgbClr val="5E7284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.0"/>
          <c:min val="0.0"/>
        </c:scaling>
        <c:delete val="0"/>
        <c:axPos val="l"/>
        <c:majorGridlines>
          <c:spPr>
            <a:ln w="9525">
              <a:solidFill>
                <a:srgbClr val="ECF1F5"/>
              </a:solidFill>
            </a:ln>
          </c:spPr>
        </c:majorGridlines>
        <c:majorTickMark val="none"/>
        <c:minorTickMark val="none"/>
        <c:tickLblPos val="nextTo"/>
        <c:spPr>
          <a:ln w="9525">
            <a:solidFill>
              <a:srgbClr val="DDE6ED"/>
            </a:solidFill>
          </a:ln>
        </c:spPr>
        <c:txPr>
          <a:bodyPr/>
          <a:lstStyle/>
          <a:p>
            <a:pPr>
              <a:defRPr sz="950">
                <a:solidFill>
                  <a:srgbClr val="5E7284"/>
                </a:solidFill>
                <a:latin typeface="Microsoft YaHei"/>
              </a:defRPr>
            </a:pPr>
          </a:p>
        </c:txPr>
        <c:crossAx val="-2068027336"/>
        <c:crosses val="autoZero"/>
        <c:majorUnit val="200.0"/>
      </c:valAx>
    </c:plotArea>
    <c:dispBlanksAs val="gap"/>
  </c:chart>
  <c:txPr>
    <a:bodyPr/>
    <a:lstStyle/>
    <a:p>
      <a:pPr>
        <a:defRPr sz="950">
          <a:solidFill>
            <a:srgbClr val="5E7284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43216" y="1819656"/>
            <a:ext cx="3584448" cy="3584448"/>
          </a:xfrm>
          <a:prstGeom prst="ellipse">
            <a:avLst/>
          </a:prstGeom>
          <a:noFill/>
          <a:ln w="15875">
            <a:solidFill>
              <a:srgbClr val="2C4E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443216" y="3611880"/>
            <a:ext cx="3584447" cy="0"/>
          </a:xfrm>
          <a:prstGeom prst="line">
            <a:avLst/>
          </a:prstGeom>
          <a:ln w="12700">
            <a:solidFill>
              <a:srgbClr val="2C4E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203782" y="2103775"/>
            <a:ext cx="0" cy="1508105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489611" y="1982215"/>
            <a:ext cx="0" cy="1629665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461151" y="3358961"/>
            <a:ext cx="0" cy="252919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063964" y="3611880"/>
            <a:ext cx="0" cy="1356359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743826" y="3611880"/>
            <a:ext cx="0" cy="1718607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56280" y="3611880"/>
            <a:ext cx="0" cy="500775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86601" y="2434412"/>
            <a:ext cx="0" cy="1177468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974671" y="1838728"/>
            <a:ext cx="0" cy="1773152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2490" y="2873271"/>
            <a:ext cx="0" cy="738609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31635" y="3611880"/>
            <a:ext cx="0" cy="975007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243371" y="3611880"/>
            <a:ext cx="0" cy="1792206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747815" y="3611880"/>
            <a:ext cx="0" cy="961658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861787" y="2858846"/>
            <a:ext cx="0" cy="753034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80503" y="1836489"/>
            <a:ext cx="0" cy="1775391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73909" y="2446418"/>
            <a:ext cx="0" cy="1165462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519099" y="3611880"/>
            <a:ext cx="0" cy="515987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742285" y="3611880"/>
            <a:ext cx="0" cy="1723039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418875" y="3611880"/>
            <a:ext cx="0" cy="1345937"/>
          </a:xfrm>
          <a:prstGeom prst="line">
            <a:avLst/>
          </a:prstGeom>
          <a:ln w="9525">
            <a:solidFill>
              <a:srgbClr val="1B31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338559" y="1819656"/>
            <a:ext cx="0" cy="3584448"/>
          </a:xfrm>
          <a:prstGeom prst="line">
            <a:avLst/>
          </a:prstGeom>
          <a:ln w="25400">
            <a:solidFill>
              <a:srgbClr val="6B53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274551" y="1819656"/>
            <a:ext cx="128016" cy="0"/>
          </a:xfrm>
          <a:prstGeom prst="line">
            <a:avLst/>
          </a:prstGeom>
          <a:ln w="12700">
            <a:solidFill>
              <a:srgbClr val="6B53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448287" y="170078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623A"/>
                </a:solidFill>
                <a:latin typeface="Cambria Math"/>
                <a:ea typeface="Cambria Math"/>
              </a:rPr>
              <a:t>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274551" y="3611880"/>
            <a:ext cx="128016" cy="0"/>
          </a:xfrm>
          <a:prstGeom prst="line">
            <a:avLst/>
          </a:prstGeom>
          <a:ln w="12700">
            <a:solidFill>
              <a:srgbClr val="6B53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448287" y="349300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623A"/>
                </a:solidFill>
                <a:latin typeface="Cambria Math"/>
                <a:ea typeface="Cambria Math"/>
              </a:rPr>
              <a:t>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274551" y="5404104"/>
            <a:ext cx="128016" cy="0"/>
          </a:xfrm>
          <a:prstGeom prst="line">
            <a:avLst/>
          </a:prstGeom>
          <a:ln w="12700">
            <a:solidFill>
              <a:srgbClr val="6B53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448287" y="5285232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623A"/>
                </a:solidFill>
                <a:latin typeface="Cambria Math"/>
                <a:ea typeface="Cambria Math"/>
              </a:rPr>
              <a:t>−1</a:t>
            </a:r>
          </a:p>
        </p:txBody>
      </p:sp>
      <p:sp>
        <p:nvSpPr>
          <p:cNvPr id="30" name="Oval 29"/>
          <p:cNvSpPr/>
          <p:nvPr/>
        </p:nvSpPr>
        <p:spPr>
          <a:xfrm>
            <a:off x="10178636" y="2078629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64465" y="1957069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36005" y="3333815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38818" y="4943093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718680" y="5305341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31134" y="4087509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61455" y="2409266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49525" y="1813582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77344" y="2848125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06489" y="4561741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18225" y="5378940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22669" y="4548392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836641" y="2833700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55357" y="1811343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848763" y="2421272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93953" y="4102721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717139" y="5309773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93729" y="4932671"/>
            <a:ext cx="50292" cy="50292"/>
          </a:xfrm>
          <a:prstGeom prst="ellipse">
            <a:avLst/>
          </a:prstGeom>
          <a:solidFill>
            <a:srgbClr val="3E66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1248" y="1225296"/>
            <a:ext cx="91440" cy="310896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0704" y="124358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FB3BF"/>
                </a:solidFill>
                <a:latin typeface="Microsoft YaHei"/>
                <a:ea typeface="Microsoft YaHei"/>
              </a:rPr>
              <a:t>数学分析 · 数列的极限点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" y="1645920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Microsoft YaHei"/>
                <a:ea typeface="Microsoft YaHei"/>
              </a:rPr>
              <a:t>sin(n) 的子列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2304288"/>
            <a:ext cx="74066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Microsoft YaHei"/>
                <a:ea typeface="Microsoft YaHei"/>
              </a:rPr>
              <a:t>能取到 [−1,1] 中的任意值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8680" y="3218688"/>
            <a:ext cx="1600200" cy="0"/>
          </a:xfrm>
          <a:prstGeom prst="line">
            <a:avLst/>
          </a:prstGeom>
          <a:ln w="25400">
            <a:solidFill>
              <a:srgbClr val="8A6A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68680" y="3364992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7C1CE"/>
                </a:solidFill>
                <a:latin typeface="Microsoft YaHei"/>
                <a:ea typeface="Microsoft YaHei"/>
              </a:rPr>
              <a:t>从 π 的无理性，到正弦曲线被逐点走遍：
一份完整、可视、可复算的证明。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1248" y="4590288"/>
            <a:ext cx="6327648" cy="859536"/>
          </a:xfrm>
          <a:prstGeom prst="roundRect">
            <a:avLst>
              <a:gd name="adj" fmla="val 9000"/>
            </a:avLst>
          </a:prstGeom>
          <a:solidFill>
            <a:srgbClr val="17314A"/>
          </a:solidFill>
          <a:ln w="9525">
            <a:solidFill>
              <a:srgbClr val="2C4E6A"/>
            </a:solidFill>
          </a:ln>
          <a:effectLst/>
        </p:spPr>
        <p:txBody>
          <a:bodyPr rtlCol="0" anchor="ctr" wrap="square" lIns="256032" rIns="164592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E6F2F4"/>
                </a:solidFill>
                <a:latin typeface="Cambria Math"/>
                <a:ea typeface="Cambria Math"/>
              </a:rPr>
              <a:t>∀ α ∈ [−1,1]，∃ n</a:t>
            </a:r>
            <a:r>
              <a:rPr sz="1550" b="0" i="0" baseline="-25000">
                <a:solidFill>
                  <a:srgbClr val="E6F2F4"/>
                </a:solidFill>
                <a:latin typeface="Cambria Math"/>
                <a:ea typeface="Cambria Math"/>
              </a:rPr>
              <a:t>1</a:t>
            </a:r>
            <a:r>
              <a:rPr sz="1550" b="0" i="0">
                <a:solidFill>
                  <a:srgbClr val="E6F2F4"/>
                </a:solidFill>
                <a:latin typeface="Cambria Math"/>
                <a:ea typeface="Cambria Math"/>
              </a:rPr>
              <a:t> &lt; n</a:t>
            </a:r>
            <a:r>
              <a:rPr sz="1550" b="0" i="0" baseline="-25000">
                <a:solidFill>
                  <a:srgbClr val="E6F2F4"/>
                </a:solidFill>
                <a:latin typeface="Cambria Math"/>
                <a:ea typeface="Cambria Math"/>
              </a:rPr>
              <a:t>2</a:t>
            </a:r>
            <a:r>
              <a:rPr sz="1550" b="0" i="0">
                <a:solidFill>
                  <a:srgbClr val="E6F2F4"/>
                </a:solidFill>
                <a:latin typeface="Cambria Math"/>
                <a:ea typeface="Cambria Math"/>
              </a:rPr>
              <a:t> &lt; ⋯，lim</a:t>
            </a:r>
            <a:r>
              <a:rPr sz="1550" b="0" i="0" baseline="-25000">
                <a:solidFill>
                  <a:srgbClr val="E6F2F4"/>
                </a:solidFill>
                <a:latin typeface="Cambria Math"/>
                <a:ea typeface="Cambria Math"/>
              </a:rPr>
              <a:t>k→∞</a:t>
            </a:r>
            <a:r>
              <a:rPr sz="1550" b="0" i="0">
                <a:solidFill>
                  <a:srgbClr val="E6F2F4"/>
                </a:solidFill>
                <a:latin typeface="Cambria Math"/>
                <a:ea typeface="Cambria Math"/>
              </a:rPr>
              <a:t> sin n</a:t>
            </a:r>
            <a:r>
              <a:rPr sz="1550" b="0" i="0" baseline="-25000">
                <a:solidFill>
                  <a:srgbClr val="E6F2F4"/>
                </a:solidFill>
                <a:latin typeface="Cambria Math"/>
                <a:ea typeface="Cambria Math"/>
              </a:rPr>
              <a:t>k</a:t>
            </a:r>
            <a:r>
              <a:rPr sz="1550" b="0" i="0">
                <a:solidFill>
                  <a:srgbClr val="E6F2F4"/>
                </a:solidFill>
                <a:latin typeface="Cambria Math"/>
                <a:ea typeface="Cambria Math"/>
              </a:rPr>
              <a:t> = 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724144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F8B9C"/>
                </a:solidFill>
                <a:latin typeface="Microsoft YaHei"/>
                <a:ea typeface="Microsoft YaHei"/>
              </a:rPr>
              <a:t>证明 · 图示 · 数值印证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01 · 命题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结论：不多不少，恰好是整个 [−1,1]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02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6492240" cy="256032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36192"/>
            <a:ext cx="68580" cy="2560320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64208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26B7A"/>
                </a:solidFill>
                <a:latin typeface="Microsoft YaHei"/>
                <a:ea typeface="Microsoft YaHei"/>
              </a:rPr>
              <a:t>命题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38528"/>
            <a:ext cx="5989320" cy="205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2B3C"/>
                </a:solidFill>
                <a:latin typeface="Cambria Math"/>
                <a:ea typeface="Cambria Math"/>
              </a:rPr>
              <a:t>∀ α ∈ [−1,1]，∃ n</a:t>
            </a:r>
            <a:r>
              <a:rPr sz="1700" b="0" i="0" baseline="-25000">
                <a:solidFill>
                  <a:srgbClr val="1A2B3C"/>
                </a:solidFill>
                <a:latin typeface="Cambria Math"/>
                <a:ea typeface="Cambria Math"/>
              </a:rPr>
              <a:t>1</a:t>
            </a:r>
            <a:r>
              <a:rPr sz="1700" b="0" i="0">
                <a:solidFill>
                  <a:srgbClr val="1A2B3C"/>
                </a:solidFill>
                <a:latin typeface="Cambria Math"/>
                <a:ea typeface="Cambria Math"/>
              </a:rPr>
              <a:t> &lt; n</a:t>
            </a:r>
            <a:r>
              <a:rPr sz="1700" b="0" i="0" baseline="-25000">
                <a:solidFill>
                  <a:srgbClr val="1A2B3C"/>
                </a:solidFill>
                <a:latin typeface="Cambria Math"/>
                <a:ea typeface="Cambria Math"/>
              </a:rPr>
              <a:t>2</a:t>
            </a:r>
            <a:r>
              <a:rPr sz="1700" b="0" i="0">
                <a:solidFill>
                  <a:srgbClr val="1A2B3C"/>
                </a:solidFill>
                <a:latin typeface="Cambria Math"/>
                <a:ea typeface="Cambria Math"/>
              </a:rPr>
              <a:t> &lt; ⋯，lim</a:t>
            </a:r>
            <a:r>
              <a:rPr sz="1700" b="0" i="0" baseline="-25000">
                <a:solidFill>
                  <a:srgbClr val="1A2B3C"/>
                </a:solidFill>
                <a:latin typeface="Cambria Math"/>
                <a:ea typeface="Cambria Math"/>
              </a:rPr>
              <a:t>k→∞</a:t>
            </a:r>
            <a:r>
              <a:rPr sz="1700" b="0" i="0">
                <a:solidFill>
                  <a:srgbClr val="1A2B3C"/>
                </a:solidFill>
                <a:latin typeface="Cambria Math"/>
                <a:ea typeface="Cambria Math"/>
              </a:rPr>
              <a:t> sin n</a:t>
            </a:r>
            <a:r>
              <a:rPr sz="1700" b="0" i="0" baseline="-25000">
                <a:solidFill>
                  <a:srgbClr val="1A2B3C"/>
                </a:solidFill>
                <a:latin typeface="Cambria Math"/>
                <a:ea typeface="Cambria Math"/>
              </a:rPr>
              <a:t>k</a:t>
            </a:r>
            <a:r>
              <a:rPr sz="1700" b="0" i="0">
                <a:solidFill>
                  <a:srgbClr val="1A2B3C"/>
                </a:solidFill>
                <a:latin typeface="Cambria Math"/>
                <a:ea typeface="Cambria Math"/>
              </a:rPr>
              <a:t> = α</a:t>
            </a:r>
          </a:p>
          <a:p>
            <a:pPr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1A2B3C"/>
                </a:solidFill>
                <a:latin typeface="Microsoft YaHei"/>
                <a:ea typeface="Microsoft YaHei"/>
              </a:rPr>
              <a:t>即：实数 α 是序列 {sin n} 的聚点，当且仅当 α ∈ [−1,1]。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|sin n| ≤ 1 保证聚点不越界，困难只在于「取得到」——这正是下面三步要证明的。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注意：{sin n} 本身不收敛（liminf = −1，limsup = 1）。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536192"/>
            <a:ext cx="4169663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1536192"/>
            <a:ext cx="50292" cy="777240"/>
          </a:xfrm>
          <a:prstGeom prst="rect">
            <a:avLst/>
          </a:prstGeom>
          <a:solidFill>
            <a:srgbClr val="A8762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1627632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B3C"/>
                </a:solidFill>
                <a:latin typeface="Microsoft YaHei"/>
                <a:ea typeface="Microsoft YaHei"/>
              </a:rPr>
              <a:t>不多不少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1892807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聚点集 = [−1,1]：上界来自有界性，下界来自构造。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404872"/>
            <a:ext cx="4169663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2404872"/>
            <a:ext cx="50292" cy="777240"/>
          </a:xfrm>
          <a:prstGeom prst="rect">
            <a:avLst/>
          </a:prstGeom>
          <a:solidFill>
            <a:srgbClr val="A8762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496312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B3C"/>
                </a:solidFill>
                <a:latin typeface="Microsoft YaHei"/>
                <a:ea typeface="Microsoft YaHei"/>
              </a:rPr>
              <a:t>无穷多次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76148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每个 α 都被无穷多个 n 逼近，且可取自任意远处。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273552"/>
            <a:ext cx="4169663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273552"/>
            <a:ext cx="50292" cy="777240"/>
          </a:xfrm>
          <a:prstGeom prst="rect">
            <a:avLst/>
          </a:prstGeom>
          <a:solidFill>
            <a:srgbClr val="A8762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3364992"/>
            <a:ext cx="3749039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B3C"/>
                </a:solidFill>
                <a:latin typeface="Microsoft YaHei"/>
                <a:ea typeface="Microsoft YaHei"/>
              </a:rPr>
              <a:t>还更均匀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3630168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不仅稠密，还满足反正弦律的等分布（第 12 页）。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70832"/>
            <a:ext cx="10872216" cy="1225296"/>
          </a:xfrm>
          <a:prstGeom prst="roundRect">
            <a:avLst>
              <a:gd name="adj" fmla="val 5000"/>
            </a:avLst>
          </a:prstGeom>
          <a:solidFill>
            <a:srgbClr val="E7F1F3"/>
          </a:solidFill>
          <a:ln w="12700">
            <a:solidFill>
              <a:srgbClr val="E7F1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98848"/>
            <a:ext cx="10287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整份证明唯一用到的数论事实</a:t>
            </a:r>
          </a:p>
          <a:p>
            <a:pPr algn="l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</a:pPr>
            <a:r>
              <a:rPr sz="1550" b="0" i="0">
                <a:solidFill>
                  <a:srgbClr val="1A2B3C"/>
                </a:solidFill>
                <a:latin typeface="Cambria Math"/>
                <a:ea typeface="Cambria Math"/>
              </a:rPr>
              <a:t>π ∉ ℚ  ⇒  1/(2π) ∉ ℚ  ⇒  {n/(2π)} 在 [0,1) 中稠密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5E7284"/>
                </a:solidFill>
                <a:latin typeface="Microsoft YaHei"/>
                <a:ea typeface="Microsoft YaHei"/>
              </a:rPr>
              <a:t>再乘上 2π，就得到 n mod 2π 在 [0,2π) 中稠密——而 sin 正是这个圆到 [−1,1] 的投影。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02 · 直观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先看图：圆上的点越铺越密，竖轴上的值就填满了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03 / 13</a:t>
            </a:r>
          </a:p>
        </p:txBody>
      </p:sp>
      <p:sp>
        <p:nvSpPr>
          <p:cNvPr id="8" name="Oval 7"/>
          <p:cNvSpPr/>
          <p:nvPr/>
        </p:nvSpPr>
        <p:spPr>
          <a:xfrm>
            <a:off x="1572768" y="2084832"/>
            <a:ext cx="3108960" cy="3108960"/>
          </a:xfrm>
          <a:prstGeom prst="ellipse">
            <a:avLst/>
          </a:prstGeom>
          <a:noFill/>
          <a:ln w="25400">
            <a:solidFill>
              <a:srgbClr val="1024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408176" y="3639312"/>
            <a:ext cx="3438144" cy="0"/>
          </a:xfrm>
          <a:prstGeom prst="line">
            <a:avLst/>
          </a:prstGeom>
          <a:ln w="12700">
            <a:solidFill>
              <a:srgbClr val="9AAC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67137" y="2331262"/>
            <a:ext cx="0" cy="1308050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80356" y="2225827"/>
            <a:ext cx="0" cy="1413485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588324" y="3419943"/>
            <a:ext cx="0" cy="219369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111172" y="3639312"/>
            <a:ext cx="0" cy="1176434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568195" y="3639312"/>
            <a:ext cx="0" cy="1490628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619813" y="3639312"/>
            <a:ext cx="0" cy="434345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99173" y="2618039"/>
            <a:ext cx="0" cy="1021273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01071" y="2101374"/>
            <a:ext cx="0" cy="1537938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10914" y="2998682"/>
            <a:ext cx="0" cy="640630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822928" y="3639312"/>
            <a:ext cx="0" cy="845669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134127" y="3639312"/>
            <a:ext cx="0" cy="1554464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439002" y="3639312"/>
            <a:ext cx="0" cy="834091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37855" y="2986170"/>
            <a:ext cx="0" cy="653142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39803" y="2099432"/>
            <a:ext cx="0" cy="1539880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46328" y="2628452"/>
            <a:ext cx="0" cy="1010860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38585" y="3639312"/>
            <a:ext cx="0" cy="447539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699512" y="3639312"/>
            <a:ext cx="0" cy="1494473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153697" y="3639312"/>
            <a:ext cx="0" cy="1167394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64169" y="3406330"/>
            <a:ext cx="0" cy="232982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61603" y="2220156"/>
            <a:ext cx="0" cy="1419156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75813" y="2338747"/>
            <a:ext cx="0" cy="1300565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72828" y="3639312"/>
            <a:ext cx="0" cy="13759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298969" y="3639312"/>
            <a:ext cx="0" cy="1315432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786625" y="3639312"/>
            <a:ext cx="0" cy="1407703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668052" y="3639312"/>
            <a:ext cx="0" cy="205738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32871" y="2453930"/>
            <a:ext cx="0" cy="1185382"/>
          </a:xfrm>
          <a:prstGeom prst="line">
            <a:avLst/>
          </a:prstGeom>
          <a:ln w="9525">
            <a:solidFill>
              <a:srgbClr val="C4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065776" y="2084832"/>
            <a:ext cx="0" cy="3108960"/>
          </a:xfrm>
          <a:prstGeom prst="line">
            <a:avLst/>
          </a:prstGeom>
          <a:ln w="31750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001768" y="2084832"/>
            <a:ext cx="128016" cy="0"/>
          </a:xfrm>
          <a:prstGeom prst="line">
            <a:avLst/>
          </a:prstGeom>
          <a:ln w="15875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184648" y="194767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7628"/>
                </a:solidFill>
                <a:latin typeface="Cambria Math"/>
                <a:ea typeface="Cambria Math"/>
              </a:rPr>
              <a:t>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01768" y="3639312"/>
            <a:ext cx="128016" cy="0"/>
          </a:xfrm>
          <a:prstGeom prst="line">
            <a:avLst/>
          </a:prstGeom>
          <a:ln w="15875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184648" y="350215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7628"/>
                </a:solidFill>
                <a:latin typeface="Cambria Math"/>
                <a:ea typeface="Cambria Math"/>
              </a:rPr>
              <a:t>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01768" y="5193792"/>
            <a:ext cx="128016" cy="0"/>
          </a:xfrm>
          <a:prstGeom prst="line">
            <a:avLst/>
          </a:prstGeom>
          <a:ln w="15875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84648" y="5056631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7628"/>
                </a:solidFill>
                <a:latin typeface="Cambria Math"/>
                <a:ea typeface="Cambria Math"/>
              </a:rPr>
              <a:t>−1</a:t>
            </a:r>
          </a:p>
        </p:txBody>
      </p:sp>
      <p:sp>
        <p:nvSpPr>
          <p:cNvPr id="43" name="Oval 42"/>
          <p:cNvSpPr/>
          <p:nvPr/>
        </p:nvSpPr>
        <p:spPr>
          <a:xfrm>
            <a:off x="3938790" y="2302915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52009" y="2197480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559978" y="3391597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82825" y="4787399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39848" y="5101594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91467" y="4045311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70827" y="2589693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72724" y="2073027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682567" y="2970335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794581" y="4456635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105781" y="5165430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10655" y="4445057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509509" y="2957824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311456" y="2071086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917981" y="2600106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610239" y="4058505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671165" y="5105438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125350" y="4778360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635823" y="3377984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733257" y="2191810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247467" y="2310401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544482" y="3624724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270623" y="4926398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758279" y="5018669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639706" y="3816703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104524" y="2425583"/>
            <a:ext cx="56692" cy="56692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548640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n = 1,…,26 在单位圆上的位置，角为 n mod 2π；虚线是竖直投影，长度即 sin n。右侧金色竖轴标出被取遍的 [−1,1]。</a:t>
            </a:r>
          </a:p>
        </p:txBody>
      </p:sp>
      <p:sp>
        <p:nvSpPr>
          <p:cNvPr id="70" name="Oval 69"/>
          <p:cNvSpPr/>
          <p:nvPr/>
        </p:nvSpPr>
        <p:spPr>
          <a:xfrm>
            <a:off x="6355080" y="1783080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17465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B3C"/>
                </a:solidFill>
                <a:latin typeface="Microsoft YaHei"/>
                <a:ea typeface="Microsoft YaHei"/>
              </a:rPr>
              <a:t>sin 就是竖直投影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2093976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角 x 对应圆上一点，sin x 恰是它的纵坐标。于是「圆上有点」等价于「[−1,1] 里有值」。</a:t>
            </a:r>
          </a:p>
        </p:txBody>
      </p:sp>
      <p:sp>
        <p:nvSpPr>
          <p:cNvPr id="73" name="Oval 72"/>
          <p:cNvSpPr/>
          <p:nvPr/>
        </p:nvSpPr>
        <p:spPr>
          <a:xfrm>
            <a:off x="6355080" y="3108960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03720" y="30723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B3C"/>
                </a:solidFill>
                <a:latin typeface="Microsoft YaHei"/>
                <a:ea typeface="Microsoft YaHei"/>
              </a:rPr>
              <a:t>n 在圆上越来越密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3419856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n mod 2π 每次走 1，却不与 2π 同步，点便不断铺向新的位置（第 7 页给出严格证明）。</a:t>
            </a:r>
          </a:p>
        </p:txBody>
      </p:sp>
      <p:sp>
        <p:nvSpPr>
          <p:cNvPr id="76" name="Oval 75"/>
          <p:cNvSpPr/>
          <p:nvPr/>
        </p:nvSpPr>
        <p:spPr>
          <a:xfrm>
            <a:off x="6355080" y="4434840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03720" y="43982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B3C"/>
                </a:solidFill>
                <a:latin typeface="Microsoft YaHei"/>
                <a:ea typeface="Microsoft YaHei"/>
              </a:rPr>
              <a:t>密的点 + 连续映射 = 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03720" y="4745736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连续映射把稠密集映成稠密集；[−1,1] 又是闭的，所以整段区间都是聚点。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03 · 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三步：从一个抽屉原理，到一个不等式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04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3346704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27632"/>
            <a:ext cx="3346704" cy="54864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28800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26B7A"/>
                </a:solidFill>
                <a:latin typeface="Microsoft YaHei"/>
                <a:ea typeface="Microsoft YaHei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B3C"/>
                </a:solidFill>
                <a:latin typeface="Microsoft YaHei"/>
                <a:ea typeface="Microsoft YaHei"/>
              </a:rPr>
              <a:t>引理 1 · 抽屉原理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05456"/>
            <a:ext cx="281635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B3C"/>
                </a:solidFill>
                <a:latin typeface="Microsoft YaHei"/>
                <a:ea typeface="Microsoft YaHei"/>
              </a:rPr>
              <a:t>θ ∉ ℚ  ⇒  {nθ} 在 [0,1) 中稠密。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2688" y="3200400"/>
            <a:ext cx="2798064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2688" y="3310128"/>
            <a:ext cx="281635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用 N+1 个点挤进 N 个格子，挤出一个极小的步长 δ。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59936" y="2724912"/>
            <a:ext cx="256032" cy="219456"/>
          </a:xfrm>
          <a:prstGeom prst="rightArrow">
            <a:avLst/>
          </a:prstGeom>
          <a:solidFill>
            <a:srgbClr val="AEC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4840" y="1627632"/>
            <a:ext cx="3346704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627632"/>
            <a:ext cx="3346704" cy="54864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1828800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26B7A"/>
                </a:solidFill>
                <a:latin typeface="Microsoft YaHei"/>
                <a:ea typeface="Microsoft YaHei"/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2084831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B3C"/>
                </a:solidFill>
                <a:latin typeface="Microsoft YaHei"/>
                <a:ea typeface="Microsoft YaHei"/>
              </a:rPr>
              <a:t>引理 2 · 绕圆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2505456"/>
            <a:ext cx="281635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B3C"/>
                </a:solidFill>
                <a:latin typeface="Microsoft YaHei"/>
                <a:ea typeface="Microsoft YaHei"/>
              </a:rPr>
              <a:t>取 θ = 1/(2π)  ⇒  n mod 2π 在 [0,2π) 中稠密。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9159" y="3200400"/>
            <a:ext cx="2798064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09159" y="3310128"/>
            <a:ext cx="281635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关键只在于：π 无理，于是 1/(2π) 也无理。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36408" y="2724912"/>
            <a:ext cx="256032" cy="219456"/>
          </a:xfrm>
          <a:prstGeom prst="rightArrow">
            <a:avLst/>
          </a:prstGeom>
          <a:solidFill>
            <a:srgbClr val="AEC1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11312" y="1627632"/>
            <a:ext cx="3346704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11312" y="1627632"/>
            <a:ext cx="3346704" cy="54864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1828800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26B7A"/>
                </a:solidFill>
                <a:latin typeface="Microsoft YaHei"/>
                <a:ea typeface="Microsoft YaHei"/>
              </a:rPr>
              <a:t>STEP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2084831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2B3C"/>
                </a:solidFill>
                <a:latin typeface="Microsoft YaHei"/>
                <a:ea typeface="Microsoft YaHei"/>
              </a:rPr>
              <a:t>主证明 · 构造 + 估计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505456"/>
            <a:ext cx="281635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B3C"/>
                </a:solidFill>
                <a:latin typeface="Microsoft YaHei"/>
                <a:ea typeface="Microsoft YaHei"/>
              </a:rPr>
              <a:t>取 t</a:t>
            </a:r>
            <a:r>
              <a:rPr sz="1100" b="0" i="0" baseline="-25000">
                <a:solidFill>
                  <a:srgbClr val="1A2B3C"/>
                </a:solidFill>
                <a:latin typeface="Microsoft YaHei"/>
                <a:ea typeface="Microsoft YaHei"/>
              </a:rPr>
              <a:t>0</a:t>
            </a:r>
            <a:r>
              <a:rPr sz="1100" b="0" i="0">
                <a:solidFill>
                  <a:srgbClr val="1A2B3C"/>
                </a:solidFill>
                <a:latin typeface="Microsoft YaHei"/>
                <a:ea typeface="Microsoft YaHei"/>
              </a:rPr>
              <a:t> 使 sin t</a:t>
            </a:r>
            <a:r>
              <a:rPr sz="1100" b="0" i="0" baseline="-25000">
                <a:solidFill>
                  <a:srgbClr val="1A2B3C"/>
                </a:solidFill>
                <a:latin typeface="Microsoft YaHei"/>
                <a:ea typeface="Microsoft YaHei"/>
              </a:rPr>
              <a:t>0</a:t>
            </a:r>
            <a:r>
              <a:rPr sz="1100" b="0" i="0">
                <a:solidFill>
                  <a:srgbClr val="1A2B3C"/>
                </a:solidFill>
                <a:latin typeface="Microsoft YaHei"/>
                <a:ea typeface="Microsoft YaHei"/>
              </a:rPr>
              <a:t> = α，令 n</a:t>
            </a:r>
            <a:r>
              <a:rPr sz="1100" b="0" i="0" baseline="-25000">
                <a:solidFill>
                  <a:srgbClr val="1A2B3C"/>
                </a:solidFill>
                <a:latin typeface="Microsoft YaHei"/>
                <a:ea typeface="Microsoft YaHei"/>
              </a:rPr>
              <a:t>k</a:t>
            </a:r>
            <a:r>
              <a:rPr sz="1100" b="0" i="0">
                <a:solidFill>
                  <a:srgbClr val="1A2B3C"/>
                </a:solidFill>
                <a:latin typeface="Microsoft YaHei"/>
                <a:ea typeface="Microsoft YaHei"/>
              </a:rPr>
              <a:t> 落到 t</a:t>
            </a:r>
            <a:r>
              <a:rPr sz="1100" b="0" i="0" baseline="-25000">
                <a:solidFill>
                  <a:srgbClr val="1A2B3C"/>
                </a:solidFill>
                <a:latin typeface="Microsoft YaHei"/>
                <a:ea typeface="Microsoft YaHei"/>
              </a:rPr>
              <a:t>0</a:t>
            </a:r>
            <a:r>
              <a:rPr sz="1100" b="0" i="0">
                <a:solidFill>
                  <a:srgbClr val="1A2B3C"/>
                </a:solidFill>
                <a:latin typeface="Microsoft YaHei"/>
                <a:ea typeface="Microsoft YaHei"/>
              </a:rPr>
              <a:t> 的 1/k 邻域。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85632" y="3200400"/>
            <a:ext cx="2798064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85632" y="3310128"/>
            <a:ext cx="281635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最后用 |sin x − sin y| ≤ |x − y| 收尾。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480560"/>
            <a:ext cx="10872216" cy="1207008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6177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6B7A"/>
                </a:solidFill>
                <a:latin typeface="Microsoft YaHei"/>
                <a:ea typeface="Microsoft YaHei"/>
              </a:rPr>
              <a:t>只用到三件事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937760"/>
            <a:ext cx="10287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B3C"/>
                </a:solidFill>
                <a:latin typeface="Microsoft YaHei"/>
                <a:ea typeface="Microsoft YaHei"/>
              </a:rPr>
              <a:t>抽屉原理（组合）   ·   sin 的 2π 周期性（把整数放回圆周）   ·   sin 的 1-Lipschitz 连续性（把「近」传到数值上）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04 · 引理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无理倍数的点，会落进每个小区间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05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17904"/>
            <a:ext cx="5806440" cy="1207008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36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引理 1（倍点稠密）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83664"/>
            <a:ext cx="53492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A2B3C"/>
                </a:solidFill>
                <a:latin typeface="Cambria Math"/>
                <a:ea typeface="Cambria Math"/>
              </a:rPr>
              <a:t>θ ∉ ℚ  ⇒  {{nθ} : n ≥ 1} 在 [0,1) 中稠密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{x} = x − ⌊x⌋ 表示小数部分。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907792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880360"/>
            <a:ext cx="52760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取 N+1 个点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3209544"/>
            <a:ext cx="52760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0, θ, 2θ, …, Nθ 的小数部分，全都落在 [0,1) 内。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77056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3849624"/>
            <a:ext cx="52760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抽屉原理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78808"/>
            <a:ext cx="52760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把 [0,1) 均分成 N 个长 1/N 的格子；N+1 个点放 N 个格子，必有两个同格，其差 &lt; 1/N。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846320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818888"/>
            <a:ext cx="52760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得到小步长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5148072"/>
            <a:ext cx="52760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令 q 为这两点下标之差（1 ≤ q ≤ N），则 δ = ‖qθ‖ 满足 0 &lt; δ &lt; 1/N。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103120"/>
            <a:ext cx="48463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4E6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482840" y="2103120"/>
            <a:ext cx="0" cy="868680"/>
          </a:xfrm>
          <a:prstGeom prst="line">
            <a:avLst/>
          </a:prstGeom>
          <a:ln w="12700">
            <a:solidFill>
              <a:srgbClr val="9AAC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90560" y="2103120"/>
            <a:ext cx="0" cy="868680"/>
          </a:xfrm>
          <a:prstGeom prst="line">
            <a:avLst/>
          </a:prstGeom>
          <a:ln w="12700">
            <a:solidFill>
              <a:srgbClr val="9AAC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098280" y="2103120"/>
            <a:ext cx="0" cy="868680"/>
          </a:xfrm>
          <a:prstGeom prst="line">
            <a:avLst/>
          </a:prstGeom>
          <a:ln w="12700">
            <a:solidFill>
              <a:srgbClr val="9AAC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05999" y="2103120"/>
            <a:ext cx="0" cy="868680"/>
          </a:xfrm>
          <a:prstGeom prst="line">
            <a:avLst/>
          </a:prstGeom>
          <a:ln w="12700">
            <a:solidFill>
              <a:srgbClr val="9AAC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713719" y="2103120"/>
            <a:ext cx="0" cy="868680"/>
          </a:xfrm>
          <a:prstGeom prst="line">
            <a:avLst/>
          </a:prstGeom>
          <a:ln w="12700">
            <a:solidFill>
              <a:srgbClr val="9AAC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878573" y="2498598"/>
            <a:ext cx="77724" cy="77724"/>
          </a:xfrm>
          <a:prstGeom prst="ellipse">
            <a:avLst/>
          </a:prstGeom>
          <a:solidFill>
            <a:srgbClr val="2C4E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33970" y="2498598"/>
            <a:ext cx="77724" cy="77724"/>
          </a:xfrm>
          <a:prstGeom prst="ellipse">
            <a:avLst/>
          </a:prstGeom>
          <a:solidFill>
            <a:srgbClr val="2C4E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863992" y="2498598"/>
            <a:ext cx="77724" cy="77724"/>
          </a:xfrm>
          <a:prstGeom prst="ellipse">
            <a:avLst/>
          </a:prstGeom>
          <a:solidFill>
            <a:srgbClr val="2C4E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61705" y="2498598"/>
            <a:ext cx="77724" cy="77724"/>
          </a:xfrm>
          <a:prstGeom prst="ellipse">
            <a:avLst/>
          </a:prstGeom>
          <a:solidFill>
            <a:srgbClr val="2C4E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39403" y="2498598"/>
            <a:ext cx="77724" cy="77724"/>
          </a:xfrm>
          <a:prstGeom prst="ellipse">
            <a:avLst/>
          </a:prstGeom>
          <a:solidFill>
            <a:srgbClr val="2C4E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592513" y="2498598"/>
            <a:ext cx="77724" cy="77724"/>
          </a:xfrm>
          <a:prstGeom prst="ellipse">
            <a:avLst/>
          </a:prstGeom>
          <a:solidFill>
            <a:srgbClr val="2C4E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74071" y="2498598"/>
            <a:ext cx="77724" cy="77724"/>
          </a:xfrm>
          <a:prstGeom prst="ellipse">
            <a:avLst/>
          </a:prstGeom>
          <a:solidFill>
            <a:srgbClr val="2C4E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159489" y="2498598"/>
            <a:ext cx="77724" cy="77724"/>
          </a:xfrm>
          <a:prstGeom prst="ellipse">
            <a:avLst/>
          </a:prstGeom>
          <a:solidFill>
            <a:srgbClr val="2C4E6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1111" y="2345436"/>
            <a:ext cx="616610" cy="384048"/>
          </a:xfrm>
          <a:prstGeom prst="ellipse">
            <a:avLst/>
          </a:prstGeom>
          <a:noFill/>
          <a:ln w="15875">
            <a:solidFill>
              <a:srgbClr val="A8762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127248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N 个格子放 N+1 个点：必有两个挤在同一格，距离小于格宽 1/N。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160520"/>
            <a:ext cx="4846320" cy="1280160"/>
          </a:xfrm>
          <a:prstGeom prst="roundRect">
            <a:avLst>
              <a:gd name="adj" fmla="val 5000"/>
            </a:avLst>
          </a:prstGeom>
          <a:solidFill>
            <a:srgbClr val="FBF2E3"/>
          </a:solidFill>
          <a:ln w="12700">
            <a:solidFill>
              <a:srgbClr val="FBF2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4279392"/>
            <a:ext cx="44348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7628"/>
                </a:solidFill>
                <a:latin typeface="Microsoft YaHei"/>
                <a:ea typeface="Microsoft YaHei"/>
              </a:rPr>
              <a:t>得到什么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1A2B3C"/>
                </a:solidFill>
                <a:latin typeface="Microsoft YaHei"/>
                <a:ea typeface="Microsoft YaHei"/>
              </a:rPr>
              <a:t>一个很小的、非零的步长 δ：沿它走，点只挪一点点，却能绕遍整个圆周。这就是「稠密」的燃料。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05 · 引理 1（续）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小步长 δ 绕一圈，就把 [0,1) 填满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06 / 13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78992" y="2788920"/>
            <a:ext cx="9592056" cy="0"/>
          </a:xfrm>
          <a:prstGeom prst="line">
            <a:avLst/>
          </a:prstGeom>
          <a:ln w="2540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43000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4228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05456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6684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67912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49140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0368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11596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92824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74052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55279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36508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17736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98964" y="2743200"/>
            <a:ext cx="91440" cy="91440"/>
          </a:xfrm>
          <a:prstGeom prst="ellipse">
            <a:avLst/>
          </a:prstGeom>
          <a:solidFill>
            <a:srgbClr val="1024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247802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Cambria Math"/>
                <a:ea typeface="Cambria Math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9608" y="247802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Cambria Math"/>
                <a:ea typeface="Cambria Math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551176" y="2368296"/>
            <a:ext cx="0" cy="356616"/>
          </a:xfrm>
          <a:prstGeom prst="line">
            <a:avLst/>
          </a:prstGeom>
          <a:ln w="12700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232404" y="2368296"/>
            <a:ext cx="0" cy="356616"/>
          </a:xfrm>
          <a:prstGeom prst="line">
            <a:avLst/>
          </a:prstGeom>
          <a:ln w="12700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51176" y="2368296"/>
            <a:ext cx="681228" cy="0"/>
          </a:xfrm>
          <a:prstGeom prst="line">
            <a:avLst/>
          </a:prstGeom>
          <a:ln w="12700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809494" y="2084831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7628"/>
                </a:solidFill>
                <a:latin typeface="Cambria Math"/>
                <a:ea typeface="Cambria Math"/>
              </a:rPr>
              <a:t>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34640" y="2843784"/>
            <a:ext cx="0" cy="384048"/>
          </a:xfrm>
          <a:prstGeom prst="line">
            <a:avLst/>
          </a:prstGeom>
          <a:ln w="12700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49039" y="2843784"/>
            <a:ext cx="0" cy="384048"/>
          </a:xfrm>
          <a:prstGeom prst="line">
            <a:avLst/>
          </a:prstGeom>
          <a:ln w="12700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34640" y="3227832"/>
            <a:ext cx="914399" cy="0"/>
          </a:xfrm>
          <a:prstGeom prst="line">
            <a:avLst/>
          </a:prstGeom>
          <a:ln w="12700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615184" y="3273551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区间 I，长度 ℓ &gt; δ</a:t>
            </a:r>
          </a:p>
        </p:txBody>
      </p:sp>
      <p:sp>
        <p:nvSpPr>
          <p:cNvPr id="33" name="Oval 32"/>
          <p:cNvSpPr/>
          <p:nvPr/>
        </p:nvSpPr>
        <p:spPr>
          <a:xfrm>
            <a:off x="3104388" y="2660903"/>
            <a:ext cx="256032" cy="256032"/>
          </a:xfrm>
          <a:prstGeom prst="ellipse">
            <a:avLst/>
          </a:prstGeom>
          <a:noFill/>
          <a:ln w="19050">
            <a:solidFill>
              <a:srgbClr val="A876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321868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走到 1 就回到 0
（首尾相接，圆上无接缝）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950208"/>
            <a:ext cx="3346704" cy="123444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07822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7A"/>
                </a:solidFill>
                <a:latin typeface="Microsoft YaHei"/>
                <a:ea typeface="Microsoft YaHei"/>
              </a:rPr>
              <a:t>间隔 ≤ 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4389120"/>
            <a:ext cx="290779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0, qθ, 2qθ, … 在 mod 1 意义下等距排列，任意两点间最多差 δ。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3950208"/>
            <a:ext cx="3346704" cy="123444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72583" y="407822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7A"/>
                </a:solidFill>
                <a:latin typeface="Microsoft YaHei"/>
                <a:ea typeface="Microsoft YaHei"/>
              </a:rPr>
              <a:t>所以必被命中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72583" y="4389120"/>
            <a:ext cx="290779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任何长度 ℓ &gt; δ 的区间 I，一定含有其中一个点——图中青色括号即是一例。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11312" y="3950208"/>
            <a:ext cx="3346704" cy="123444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49056" y="407822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6B7A"/>
                </a:solidFill>
                <a:latin typeface="Microsoft YaHei"/>
                <a:ea typeface="Microsoft YaHei"/>
              </a:rPr>
              <a:t>而 δ 可任意小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9056" y="4389120"/>
            <a:ext cx="290779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N 任意大 ⇒ δ &lt; 1/N 任意小 ⇒ 任何小区间都有点 ⇒ 稠密。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431536"/>
            <a:ext cx="10872216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559552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B3C"/>
                </a:solidFill>
                <a:latin typeface="Microsoft YaHei"/>
                <a:ea typeface="Microsoft YaHei"/>
              </a:rPr>
              <a:t>一句话：存在一个任意小的正步长，使点跳过每个区间——这就是稠密。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06 · 引理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把 [0,1) 拉成圆周：n mod 2π 也稠密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07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17904"/>
            <a:ext cx="10872216" cy="1078992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2B3C"/>
                </a:solidFill>
                <a:latin typeface="Cambria Math"/>
                <a:ea typeface="Cambria Math"/>
              </a:rPr>
              <a:t>n = 2π⌊n/(2π)⌋ + (n mod 2π)      ⇒      {n/(2π)} = (n mod 2π) / (2π)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左端把 n 写成「整圈数 + 余角」，右端说明：小数部分与余角只差一个常数因子 2π。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980944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2953512"/>
            <a:ext cx="63276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π 无理 ⇒ 1/(2π) 无理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82696"/>
            <a:ext cx="632764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284"/>
                </a:solidFill>
                <a:latin typeface="Microsoft YaHei"/>
                <a:ea typeface="Microsoft YaHei"/>
              </a:rPr>
              <a:t>于是 θ = 1/(2π) 满足引理 1 的条件。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895344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867911"/>
            <a:ext cx="63276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引理 1 ⇒ {n/(2π)} 稠密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4197096"/>
            <a:ext cx="632764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284"/>
                </a:solidFill>
                <a:latin typeface="Microsoft YaHei"/>
                <a:ea typeface="Microsoft YaHei"/>
              </a:rPr>
              <a:t>在 [0,1) 中稠密。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809744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4782312"/>
            <a:ext cx="632764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乘 2π ⇒ n mod 2π 稠密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5111496"/>
            <a:ext cx="632764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284"/>
                </a:solidFill>
                <a:latin typeface="Microsoft YaHei"/>
                <a:ea typeface="Microsoft YaHei"/>
              </a:rPr>
              <a:t>[0,1) 拉伸成 [0,2π)，稠密性保持。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980944"/>
            <a:ext cx="3483864" cy="1847088"/>
          </a:xfrm>
          <a:prstGeom prst="roundRect">
            <a:avLst>
              <a:gd name="adj" fmla="val 5000"/>
            </a:avLst>
          </a:prstGeom>
          <a:solidFill>
            <a:srgbClr val="FBF2E3"/>
          </a:solidFill>
          <a:ln w="12700">
            <a:solidFill>
              <a:srgbClr val="FBF2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5" y="3108960"/>
            <a:ext cx="3063240" cy="1627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87628"/>
                </a:solidFill>
                <a:latin typeface="Microsoft YaHei"/>
                <a:ea typeface="Microsoft YaHei"/>
              </a:rPr>
              <a:t>尾巴也稠密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A2B3C"/>
                </a:solidFill>
                <a:latin typeface="Microsoft YaHei"/>
                <a:ea typeface="Microsoft YaHei"/>
              </a:rPr>
              <a:t>对每个 N，{n mod 2π : n ≥ N} 仍是稠密集（平移不改变稠密性）。</a:t>
            </a:r>
          </a:p>
          <a:p>
            <a:pPr algn="l">
              <a:lnSpc>
                <a:spcPct val="140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 i="0">
                <a:solidFill>
                  <a:srgbClr val="1A2B3C"/>
                </a:solidFill>
                <a:latin typeface="Microsoft YaHei"/>
                <a:ea typeface="Microsoft YaHei"/>
              </a:rPr>
              <a:t>所以 n</a:t>
            </a:r>
            <a:r>
              <a:rPr sz="1050" b="0" i="0" baseline="-25000">
                <a:solidFill>
                  <a:srgbClr val="1A2B3C"/>
                </a:solidFill>
                <a:latin typeface="Microsoft YaHei"/>
                <a:ea typeface="Microsoft YaHei"/>
              </a:rPr>
              <a:t>k</a:t>
            </a:r>
            <a:r>
              <a:rPr sz="1050" b="0" i="0">
                <a:solidFill>
                  <a:srgbClr val="1A2B3C"/>
                </a:solidFill>
                <a:latin typeface="Microsoft YaHei"/>
                <a:ea typeface="Microsoft YaHei"/>
              </a:rPr>
              <a:t> 可以严格递增、越走越远。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790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7284"/>
                </a:solidFill>
                <a:latin typeface="Microsoft YaHei"/>
                <a:ea typeface="Microsoft YaHei"/>
              </a:rPr>
              <a:t>这一步只用了一个事实：π 无理。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07 · 主证明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构造 + 估计：一步逼近 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08 / 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801368"/>
            <a:ext cx="100766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选一个角度 t</a:t>
            </a:r>
            <a:r>
              <a:rPr sz="1350" b="1" i="0" baseline="-25000">
                <a:solidFill>
                  <a:srgbClr val="1A2B3C"/>
                </a:solidFill>
                <a:latin typeface="Microsoft YaHei"/>
                <a:ea typeface="Microsoft YaHei"/>
              </a:rPr>
              <a:t>0</a:t>
            </a: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 ∈ (0, 2π)，使 sin t</a:t>
            </a:r>
            <a:r>
              <a:rPr sz="1350" b="1" i="0" baseline="-25000">
                <a:solidFill>
                  <a:srgbClr val="1A2B3C"/>
                </a:solidFill>
                <a:latin typeface="Microsoft YaHei"/>
                <a:ea typeface="Microsoft YaHei"/>
              </a:rPr>
              <a:t>0</a:t>
            </a: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 = 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130552"/>
            <a:ext cx="100766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α &gt; 0 取 arcsin α；α = 0 取 π；α &lt; 0 取 arcsin α + 2π —— 三种情形都落在 (0,2π) 内。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697480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670048"/>
            <a:ext cx="100766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归纳地取 n</a:t>
            </a:r>
            <a:r>
              <a:rPr sz="1350" b="1" i="0" baseline="-25000">
                <a:solidFill>
                  <a:srgbClr val="1A2B3C"/>
                </a:solidFill>
                <a:latin typeface="Microsoft YaHei"/>
                <a:ea typeface="Microsoft YaHei"/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2999232"/>
            <a:ext cx="100766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由引理 2 的尾巴稠密性，可取 n</a:t>
            </a:r>
            <a:r>
              <a:rPr sz="115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k</a:t>
            </a: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 &gt; n</a:t>
            </a:r>
            <a:r>
              <a:rPr sz="115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k−1</a:t>
            </a: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 且 |(n</a:t>
            </a:r>
            <a:r>
              <a:rPr sz="115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k</a:t>
            </a: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 mod 2π) − t</a:t>
            </a:r>
            <a:r>
              <a:rPr sz="115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0</a:t>
            </a: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| &lt; 1/k。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566160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538728"/>
            <a:ext cx="100766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2B3C"/>
                </a:solidFill>
                <a:latin typeface="Microsoft YaHei"/>
                <a:ea typeface="Microsoft YaHei"/>
              </a:rPr>
              <a:t>用 sin 的连续性估计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3867911"/>
            <a:ext cx="1007668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把圆周上的「近」换算成数值上的「近」：误差随 1/k 趋于 0。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10607040" cy="932688"/>
          </a:xfrm>
          <a:prstGeom prst="roundRect">
            <a:avLst>
              <a:gd name="adj" fmla="val 5000"/>
            </a:avLst>
          </a:prstGeom>
          <a:solidFill>
            <a:srgbClr val="10243A"/>
          </a:solidFill>
          <a:ln w="12700">
            <a:solidFill>
              <a:srgbClr val="10243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590288"/>
            <a:ext cx="1014984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mbria Math"/>
                <a:ea typeface="Cambria Math"/>
              </a:rPr>
              <a:t>|sin n</a:t>
            </a:r>
            <a:r>
              <a:rPr sz="150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k</a:t>
            </a:r>
            <a:r>
              <a:rPr sz="1500" b="0" i="0">
                <a:solidFill>
                  <a:srgbClr val="FFFFFF"/>
                </a:solidFill>
                <a:latin typeface="Cambria Math"/>
                <a:ea typeface="Cambria Math"/>
              </a:rPr>
              <a:t> − α| = |sin(n</a:t>
            </a:r>
            <a:r>
              <a:rPr sz="150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k</a:t>
            </a:r>
            <a:r>
              <a:rPr sz="1500" b="0" i="0">
                <a:solidFill>
                  <a:srgbClr val="FFFFFF"/>
                </a:solidFill>
                <a:latin typeface="Cambria Math"/>
                <a:ea typeface="Cambria Math"/>
              </a:rPr>
              <a:t> mod 2π) − sin t</a:t>
            </a:r>
            <a:r>
              <a:rPr sz="150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0</a:t>
            </a:r>
            <a:r>
              <a:rPr sz="1500" b="0" i="0">
                <a:solidFill>
                  <a:srgbClr val="FFFFFF"/>
                </a:solidFill>
                <a:latin typeface="Cambria Math"/>
                <a:ea typeface="Cambria Math"/>
              </a:rPr>
              <a:t>| ≤ |(n</a:t>
            </a:r>
            <a:r>
              <a:rPr sz="150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k</a:t>
            </a:r>
            <a:r>
              <a:rPr sz="1500" b="0" i="0">
                <a:solidFill>
                  <a:srgbClr val="FFFFFF"/>
                </a:solidFill>
                <a:latin typeface="Cambria Math"/>
                <a:ea typeface="Cambria Math"/>
              </a:rPr>
              <a:t> mod 2π) − t</a:t>
            </a:r>
            <a:r>
              <a:rPr sz="150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0</a:t>
            </a:r>
            <a:r>
              <a:rPr sz="1500" b="0" i="0">
                <a:solidFill>
                  <a:srgbClr val="FFFFFF"/>
                </a:solidFill>
                <a:latin typeface="Cambria Math"/>
                <a:ea typeface="Cambria Math"/>
              </a:rPr>
              <a:t>| &lt; 1/k  → 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0585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7284"/>
                </a:solidFill>
                <a:latin typeface="Microsoft YaHei"/>
                <a:ea typeface="Microsoft YaHei"/>
              </a:rPr>
              <a:t>第一处等号用 sin 的 2π 周期性，不等号用 1-Lipschitz。命题得证。  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08 · 主证明（图解）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圆周上「近」，竖直轴上就「近」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09 / 13</a:t>
            </a:r>
          </a:p>
        </p:txBody>
      </p:sp>
      <p:sp>
        <p:nvSpPr>
          <p:cNvPr id="8" name="Oval 7"/>
          <p:cNvSpPr/>
          <p:nvPr/>
        </p:nvSpPr>
        <p:spPr>
          <a:xfrm>
            <a:off x="1389888" y="2176272"/>
            <a:ext cx="2999232" cy="2999232"/>
          </a:xfrm>
          <a:prstGeom prst="ellipse">
            <a:avLst/>
          </a:prstGeom>
          <a:noFill/>
          <a:ln w="25400">
            <a:solidFill>
              <a:srgbClr val="1024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252728" y="3675887"/>
            <a:ext cx="3273552" cy="0"/>
          </a:xfrm>
          <a:prstGeom prst="line">
            <a:avLst/>
          </a:prstGeom>
          <a:ln w="12700">
            <a:solidFill>
              <a:srgbClr val="9AAC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889504" y="2482791"/>
            <a:ext cx="908497" cy="1193096"/>
          </a:xfrm>
          <a:prstGeom prst="line">
            <a:avLst/>
          </a:prstGeom>
          <a:ln w="12700">
            <a:solidFill>
              <a:srgbClr val="A876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4117432" y="2815051"/>
            <a:ext cx="9758" cy="14090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4107514" y="2801074"/>
            <a:ext cx="9918" cy="13977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4097437" y="2787212"/>
            <a:ext cx="10077" cy="13862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4087202" y="2773465"/>
            <a:ext cx="10235" cy="13747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076811" y="2759836"/>
            <a:ext cx="10391" cy="13629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066264" y="2746327"/>
            <a:ext cx="10547" cy="13509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055564" y="2732939"/>
            <a:ext cx="10700" cy="13388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044712" y="2719675"/>
            <a:ext cx="10852" cy="13264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033708" y="2706535"/>
            <a:ext cx="11004" cy="13140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4022555" y="2693522"/>
            <a:ext cx="11153" cy="13013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4011255" y="2680637"/>
            <a:ext cx="11300" cy="12885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999807" y="2667883"/>
            <a:ext cx="11448" cy="12754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988215" y="2655260"/>
            <a:ext cx="11592" cy="12623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976479" y="2642770"/>
            <a:ext cx="11736" cy="12490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964601" y="2630415"/>
            <a:ext cx="11878" cy="12355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952583" y="2618197"/>
            <a:ext cx="12018" cy="12218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940426" y="2606117"/>
            <a:ext cx="12157" cy="12080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928132" y="2594176"/>
            <a:ext cx="12294" cy="11941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915702" y="2582377"/>
            <a:ext cx="12430" cy="11799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3903138" y="2570721"/>
            <a:ext cx="12564" cy="11656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3890441" y="2559209"/>
            <a:ext cx="12697" cy="11512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3877614" y="2547843"/>
            <a:ext cx="12827" cy="11366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3864658" y="2536624"/>
            <a:ext cx="12956" cy="11219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851575" y="2525554"/>
            <a:ext cx="13083" cy="11070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3838365" y="2514634"/>
            <a:ext cx="13210" cy="10920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3825032" y="2503866"/>
            <a:ext cx="13333" cy="10768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3811577" y="2493251"/>
            <a:ext cx="13455" cy="10615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3798001" y="2482791"/>
            <a:ext cx="13576" cy="10460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3784307" y="2472486"/>
            <a:ext cx="13694" cy="10305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3770495" y="2462338"/>
            <a:ext cx="13812" cy="10148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3756569" y="2452349"/>
            <a:ext cx="13926" cy="9989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3742529" y="2442520"/>
            <a:ext cx="14040" cy="9829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3728378" y="2432852"/>
            <a:ext cx="14151" cy="9668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3714118" y="2423346"/>
            <a:ext cx="14260" cy="9506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699749" y="2414004"/>
            <a:ext cx="14369" cy="9342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3685275" y="2404827"/>
            <a:ext cx="14474" cy="9177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3670697" y="2395815"/>
            <a:ext cx="14578" cy="9012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3656017" y="2386971"/>
            <a:ext cx="14680" cy="8844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3641237" y="2378296"/>
            <a:ext cx="14780" cy="8675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3626359" y="2369789"/>
            <a:ext cx="14878" cy="8507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3611384" y="2361454"/>
            <a:ext cx="14975" cy="8335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3596315" y="2353289"/>
            <a:ext cx="15069" cy="8165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3581154" y="2345298"/>
            <a:ext cx="15161" cy="7991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3565902" y="2337481"/>
            <a:ext cx="15252" cy="7817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3550562" y="2329838"/>
            <a:ext cx="15340" cy="7643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3535136" y="2322371"/>
            <a:ext cx="15426" cy="7467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3519625" y="2315081"/>
            <a:ext cx="15511" cy="7290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3504033" y="2307969"/>
            <a:ext cx="15592" cy="7112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3488359" y="2301035"/>
            <a:ext cx="15674" cy="6934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3472608" y="2294281"/>
            <a:ext cx="15751" cy="6754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3456781" y="2287707"/>
            <a:ext cx="15827" cy="6574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3440879" y="2281315"/>
            <a:ext cx="15902" cy="6392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3424905" y="2275104"/>
            <a:ext cx="15974" cy="6211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3408862" y="2269077"/>
            <a:ext cx="16043" cy="6027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3392750" y="2263234"/>
            <a:ext cx="16112" cy="5843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 flipV="1">
            <a:off x="3376573" y="2257575"/>
            <a:ext cx="16177" cy="5659"/>
          </a:xfrm>
          <a:prstGeom prst="line">
            <a:avLst/>
          </a:prstGeom>
          <a:ln w="63500" cap="rnd">
            <a:solidFill>
              <a:srgbClr val="12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699749" y="2414004"/>
            <a:ext cx="1347739" cy="0"/>
          </a:xfrm>
          <a:prstGeom prst="line">
            <a:avLst/>
          </a:prstGeom>
          <a:ln w="13970">
            <a:solidFill>
              <a:srgbClr val="A876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047488" y="1938528"/>
            <a:ext cx="0" cy="3474719"/>
          </a:xfrm>
          <a:prstGeom prst="line">
            <a:avLst/>
          </a:prstGeom>
          <a:ln w="31750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992624" y="2176272"/>
            <a:ext cx="109727" cy="0"/>
          </a:xfrm>
          <a:prstGeom prst="line">
            <a:avLst/>
          </a:prstGeom>
          <a:ln w="15875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148072" y="2048255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7628"/>
                </a:solidFill>
                <a:latin typeface="Cambria Math"/>
                <a:ea typeface="Cambria Math"/>
              </a:rPr>
              <a:t>1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4992624" y="3675887"/>
            <a:ext cx="109727" cy="0"/>
          </a:xfrm>
          <a:prstGeom prst="line">
            <a:avLst/>
          </a:prstGeom>
          <a:ln w="15875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148072" y="3547871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7628"/>
                </a:solidFill>
                <a:latin typeface="Cambria Math"/>
                <a:ea typeface="Cambria Math"/>
              </a:rPr>
              <a:t>0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992624" y="5175503"/>
            <a:ext cx="109727" cy="0"/>
          </a:xfrm>
          <a:prstGeom prst="line">
            <a:avLst/>
          </a:prstGeom>
          <a:ln w="15875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148072" y="504748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7628"/>
                </a:solidFill>
                <a:latin typeface="Cambria Math"/>
                <a:ea typeface="Cambria Math"/>
              </a:rPr>
              <a:t>−1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928616" y="2336487"/>
            <a:ext cx="237744" cy="292608"/>
          </a:xfrm>
          <a:prstGeom prst="rect">
            <a:avLst/>
          </a:prstGeom>
          <a:solidFill>
            <a:srgbClr val="FBF2E3"/>
          </a:solidFill>
          <a:ln w="12700">
            <a:solidFill>
              <a:srgbClr val="A87628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047488" y="2336487"/>
            <a:ext cx="0" cy="292608"/>
          </a:xfrm>
          <a:prstGeom prst="line">
            <a:avLst/>
          </a:prstGeom>
          <a:ln w="19050">
            <a:solidFill>
              <a:srgbClr val="A87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212079" y="2656527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7628"/>
                </a:solidFill>
                <a:latin typeface="Cambria Math"/>
                <a:ea typeface="Cambria Math"/>
              </a:rPr>
              <a:t>α ± 1/k</a:t>
            </a:r>
          </a:p>
        </p:txBody>
      </p:sp>
      <p:sp>
        <p:nvSpPr>
          <p:cNvPr id="78" name="Oval 77"/>
          <p:cNvSpPr/>
          <p:nvPr/>
        </p:nvSpPr>
        <p:spPr>
          <a:xfrm>
            <a:off x="3640313" y="2354568"/>
            <a:ext cx="118872" cy="118872"/>
          </a:xfrm>
          <a:prstGeom prst="ellipse">
            <a:avLst/>
          </a:prstGeom>
          <a:solidFill>
            <a:srgbClr val="A876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91189" y="208482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A87628"/>
                </a:solidFill>
                <a:latin typeface="Cambria Math"/>
                <a:ea typeface="Cambria Math"/>
              </a:rPr>
              <a:t>n</a:t>
            </a:r>
            <a:r>
              <a:rPr sz="1100" b="1" i="0" baseline="-25000">
                <a:solidFill>
                  <a:srgbClr val="A87628"/>
                </a:solidFill>
                <a:latin typeface="Cambria Math"/>
                <a:ea typeface="Cambria Math"/>
              </a:rPr>
              <a:t>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63640" y="1609344"/>
            <a:ext cx="5266944" cy="1444752"/>
          </a:xfrm>
          <a:prstGeom prst="roundRect">
            <a:avLst>
              <a:gd name="adj" fmla="val 5000"/>
            </a:avLst>
          </a:prstGeom>
          <a:solidFill>
            <a:srgbClr val="10243A"/>
          </a:solidFill>
          <a:ln w="12700">
            <a:solidFill>
              <a:srgbClr val="10243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10528" y="1719072"/>
            <a:ext cx="480060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C0C9"/>
                </a:solidFill>
                <a:latin typeface="Microsoft YaHei"/>
                <a:ea typeface="Microsoft YaHei"/>
              </a:rPr>
              <a:t>误差 = 圆周上的距离</a:t>
            </a:r>
          </a:p>
          <a:p>
            <a:pPr algn="l">
              <a:lnSpc>
                <a:spcPct val="135000"/>
              </a:lnSpc>
              <a:spcBef>
                <a:spcPts val="30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mbria Math"/>
                <a:ea typeface="Cambria Math"/>
              </a:rPr>
              <a:t>|sin n</a:t>
            </a:r>
            <a:r>
              <a:rPr sz="135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k</a:t>
            </a:r>
            <a:r>
              <a:rPr sz="1350" b="0" i="0">
                <a:solidFill>
                  <a:srgbClr val="FFFFFF"/>
                </a:solidFill>
                <a:latin typeface="Cambria Math"/>
                <a:ea typeface="Cambria Math"/>
              </a:rPr>
              <a:t> − α| ≤ |(n</a:t>
            </a:r>
            <a:r>
              <a:rPr sz="135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k</a:t>
            </a:r>
            <a:r>
              <a:rPr sz="1350" b="0" i="0">
                <a:solidFill>
                  <a:srgbClr val="FFFFFF"/>
                </a:solidFill>
                <a:latin typeface="Cambria Math"/>
                <a:ea typeface="Cambria Math"/>
              </a:rPr>
              <a:t> mod 2π) − t</a:t>
            </a:r>
            <a:r>
              <a:rPr sz="135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0</a:t>
            </a:r>
            <a:r>
              <a:rPr sz="1350" b="0" i="0">
                <a:solidFill>
                  <a:srgbClr val="FFFFFF"/>
                </a:solidFill>
                <a:latin typeface="Cambria Math"/>
                <a:ea typeface="Cambria Math"/>
              </a:rPr>
              <a:t>| &lt; 1/k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 i="0">
                <a:solidFill>
                  <a:srgbClr val="A7C1CE"/>
                </a:solidFill>
                <a:latin typeface="Microsoft YaHei"/>
                <a:ea typeface="Microsoft YaHei"/>
              </a:rPr>
              <a:t>该误差与 α 无关，只由 k 控制。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3346704"/>
            <a:ext cx="52669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6B7A"/>
                </a:solidFill>
                <a:latin typeface="Microsoft YaHei"/>
                <a:ea typeface="Microsoft YaHei"/>
              </a:rPr>
              <a:t>只差一个竖直投影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63640" y="3602736"/>
            <a:ext cx="5266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点落在 t</a:t>
            </a:r>
            <a:r>
              <a:rPr sz="100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0</a:t>
            </a: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 附近的弧上，它的高度必然接近 α = sin t</a:t>
            </a:r>
            <a:r>
              <a:rPr sz="100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0</a:t>
            </a: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4169664"/>
            <a:ext cx="52669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6B7A"/>
                </a:solidFill>
                <a:latin typeface="Microsoft YaHei"/>
                <a:ea typeface="Microsoft YaHei"/>
              </a:rPr>
              <a:t>1-Lipschitz 不放大误差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3640" y="4425696"/>
            <a:ext cx="5266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|sin x − sin y| ≤ |x − y|：角度差多少，函数值差不超过这么多。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4992624"/>
            <a:ext cx="526694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6B7A"/>
                </a:solidFill>
                <a:latin typeface="Microsoft YaHei"/>
                <a:ea typeface="Microsoft YaHei"/>
              </a:rPr>
              <a:t>k 可以任意大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5248656"/>
            <a:ext cx="526694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1/k → 0，所以这串 n</a:t>
            </a:r>
            <a:r>
              <a:rPr sz="100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k</a:t>
            </a: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 就是所求的子列。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680" y="588873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青色粗弧是 t</a:t>
            </a:r>
            <a:r>
              <a:rPr sz="105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0</a:t>
            </a: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 的 1/k 邻域，金点是 n</a:t>
            </a:r>
            <a:r>
              <a:rPr sz="105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k</a:t>
            </a: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；它在竖轴上的读数落进 α ± 1/k 的窄带。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09 · 数值印证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画出来看：点都在正弦曲线上，却越铺越满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10 / 13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30352" y="1609344"/>
          <a:ext cx="68122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8" y="585216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横轴 {n/(2π)} ∈ [0,1)（圆周上的相对位置），纵轴 sin n；n = 1,…,160。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609344"/>
            <a:ext cx="3904487" cy="384048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1755648"/>
            <a:ext cx="3520440" cy="3566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读图四件事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1A2B3C"/>
                </a:solidFill>
                <a:latin typeface="Microsoft YaHei"/>
                <a:ea typeface="Microsoft YaHei"/>
              </a:rPr>
              <a:t>① 点始终落在 y = sin x 上——这是恒等式，不是巧合。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1A2B3C"/>
                </a:solidFill>
                <a:latin typeface="Microsoft YaHei"/>
                <a:ea typeface="Microsoft YaHei"/>
              </a:rPr>
              <a:t>② 横坐标稠密，所以曲线被点「描满」，任何小弧段里都有点。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1A2B3C"/>
                </a:solidFill>
                <a:latin typeface="Microsoft YaHei"/>
                <a:ea typeface="Microsoft YaHei"/>
              </a:rPr>
              <a:t>③ 于是任何高度 α ∈ [−1,1] 都被无穷多个点经过。</a:t>
            </a:r>
          </a:p>
          <a:p>
            <a:pPr algn="l">
              <a:lnSpc>
                <a:spcPct val="145000"/>
              </a:lnSpc>
              <a:spcBef>
                <a:spcPts val="600"/>
              </a:spcBef>
              <a:spcAft>
                <a:spcPts val="0"/>
              </a:spcAft>
            </a:pPr>
            <a:r>
              <a:rPr sz="1050" b="0" i="0">
                <a:solidFill>
                  <a:srgbClr val="1A2B3C"/>
                </a:solidFill>
                <a:latin typeface="Microsoft YaHei"/>
                <a:ea typeface="Microsoft YaHei"/>
              </a:rPr>
              <a:t>④ 只看向竖直方向，点的疏密就是第 12 页的 U 形：两端更密。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只取 160 个点就已经看不出缝隙；序列完全确定，没有任何随机性。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10 · 数值印证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具体到数：三个 α 的首次 (10⁻³) 命中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11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719072"/>
          <a:ext cx="7315200" cy="29992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80160"/>
                <a:gridCol w="3931920"/>
                <a:gridCol w="2103120"/>
              </a:tblGrid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α</a:t>
                      </a:r>
                    </a:p>
                  </a:txBody>
                  <a:tcPr marL="164592" marR="91440" marT="18288" marB="18288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首次满足 |sin n − α| &lt; 10</a:t>
                      </a:r>
                      <a:r>
                        <a:rPr sz="1000" b="1" i="0" baseline="3000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-3</a:t>
                      </a:r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 的 n</a:t>
                      </a:r>
                    </a:p>
                  </a:txBody>
                  <a:tcPr marL="164592" marR="91440" marT="18288" marB="18288" anchor="ctr">
                    <a:solidFill>
                      <a:srgbClr val="10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对应的 sin n</a:t>
                      </a:r>
                    </a:p>
                  </a:txBody>
                  <a:tcPr marL="164592" marR="91440" marT="18288" marB="18288" anchor="ctr">
                    <a:solidFill>
                      <a:srgbClr val="10243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B3C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</a:p>
                  </a:txBody>
                  <a:tcPr marL="164592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2B3C"/>
                          </a:solidFill>
                          <a:latin typeface="Microsoft YaHei"/>
                          <a:ea typeface="Microsoft YaHei"/>
                        </a:rPr>
                        <a:t>355</a:t>
                      </a:r>
                    </a:p>
                  </a:txBody>
                  <a:tcPr marL="164592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2B3C"/>
                          </a:solidFill>
                          <a:latin typeface="Microsoft YaHei"/>
                          <a:ea typeface="Microsoft YaHei"/>
                        </a:rPr>
                        <a:t>−3.01 × 10</a:t>
                      </a:r>
                      <a:r>
                        <a:rPr sz="1250" b="0" i="0" baseline="30000">
                          <a:solidFill>
                            <a:srgbClr val="1A2B3C"/>
                          </a:solidFill>
                          <a:latin typeface="Microsoft YaHei"/>
                          <a:ea typeface="Microsoft YaHei"/>
                        </a:rPr>
                        <a:t>-5</a:t>
                      </a:r>
                    </a:p>
                  </a:txBody>
                  <a:tcPr marL="164592" marR="91440" marT="18288" marB="1828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B3C"/>
                          </a:solidFill>
                          <a:latin typeface="Microsoft YaHei"/>
                          <a:ea typeface="Microsoft YaHei"/>
                        </a:rPr>
                        <a:t>1/2</a:t>
                      </a:r>
                    </a:p>
                  </a:txBody>
                  <a:tcPr marL="164592" marR="91440" marT="18288" marB="18288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2B3C"/>
                          </a:solidFill>
                          <a:latin typeface="Microsoft YaHei"/>
                          <a:ea typeface="Microsoft YaHei"/>
                        </a:rPr>
                        <a:t>3783</a:t>
                      </a:r>
                    </a:p>
                  </a:txBody>
                  <a:tcPr marL="164592" marR="91440" marT="18288" marB="18288"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2B3C"/>
                          </a:solidFill>
                          <a:latin typeface="Microsoft YaHei"/>
                          <a:ea typeface="Microsoft YaHei"/>
                        </a:rPr>
                        <a:t>0.499 000 5</a:t>
                      </a:r>
                    </a:p>
                  </a:txBody>
                  <a:tcPr marL="164592" marR="91440" marT="18288" marB="18288" anchor="ctr">
                    <a:solidFill>
                      <a:srgbClr val="F3F6F8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A2B3C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164592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2B3C"/>
                          </a:solidFill>
                          <a:latin typeface="Microsoft YaHei"/>
                          <a:ea typeface="Microsoft YaHei"/>
                        </a:rPr>
                        <a:t>33</a:t>
                      </a:r>
                    </a:p>
                  </a:txBody>
                  <a:tcPr marL="164592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A2B3C"/>
                          </a:solidFill>
                          <a:latin typeface="Microsoft YaHei"/>
                          <a:ea typeface="Microsoft YaHei"/>
                        </a:rPr>
                        <a:t>0.999 911 9</a:t>
                      </a:r>
                    </a:p>
                  </a:txBody>
                  <a:tcPr marL="164592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956048"/>
            <a:ext cx="10872216" cy="713232"/>
          </a:xfrm>
          <a:prstGeom prst="roundRect">
            <a:avLst>
              <a:gd name="adj" fmla="val 5000"/>
            </a:avLst>
          </a:prstGeom>
          <a:solidFill>
            <a:srgbClr val="E7F1F3"/>
          </a:solidFill>
          <a:ln w="12700">
            <a:solidFill>
              <a:srgbClr val="E7F1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084064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B3C"/>
                </a:solidFill>
                <a:latin typeface="Microsoft YaHei"/>
                <a:ea typeface="Microsoft YaHei"/>
              </a:rPr>
              <a:t>阈值换成 10</a:t>
            </a:r>
            <a:r>
              <a:rPr sz="1150" b="0" i="0" baseline="30000">
                <a:solidFill>
                  <a:srgbClr val="1A2B3C"/>
                </a:solidFill>
                <a:latin typeface="Microsoft YaHei"/>
                <a:ea typeface="Microsoft YaHei"/>
              </a:rPr>
              <a:t>-6</a:t>
            </a:r>
            <a:r>
              <a:rPr sz="1150" b="0" i="0">
                <a:solidFill>
                  <a:srgbClr val="1A2B3C"/>
                </a:solidFill>
                <a:latin typeface="Microsoft YaHei"/>
                <a:ea typeface="Microsoft YaHei"/>
              </a:rPr>
              <a:t>，对应的 n 会大得多，但一定存在——这正是「极限」的含义。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71907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6B7A"/>
                </a:solidFill>
                <a:latin typeface="Microsoft YaHei"/>
                <a:ea typeface="Microsoft YaHei"/>
              </a:rPr>
              <a:t>355 不是巧合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984248"/>
            <a:ext cx="327355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355/113 ≈ π 是 π 的渐近分数；113π = 354.999 97…，所以 sin 355 = sin(355 − 113π) ≈ −3×10</a:t>
            </a:r>
            <a:r>
              <a:rPr sz="1000" b="0" i="0" baseline="30000">
                <a:solidFill>
                  <a:srgbClr val="5E7284"/>
                </a:solidFill>
                <a:latin typeface="Microsoft YaHei"/>
                <a:ea typeface="Microsoft YaHei"/>
              </a:rPr>
              <a:t>-5</a:t>
            </a: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743200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6B7A"/>
                </a:solidFill>
                <a:latin typeface="Microsoft YaHei"/>
                <a:ea typeface="Microsoft YaHei"/>
              </a:rPr>
              <a:t>本质是同一件事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08376"/>
            <a:ext cx="327355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n</a:t>
            </a:r>
            <a:r>
              <a:rPr sz="100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k</a:t>
            </a: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 mod 2π 很小 ⇔ n</a:t>
            </a:r>
            <a:r>
              <a:rPr sz="100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k</a:t>
            </a: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 接近 π 的整数倍 ⇔ 用有理数 n</a:t>
            </a:r>
            <a:r>
              <a:rPr sz="1000" b="0" i="0" baseline="-25000">
                <a:solidFill>
                  <a:srgbClr val="5E7284"/>
                </a:solidFill>
                <a:latin typeface="Microsoft YaHei"/>
                <a:ea typeface="Microsoft YaHei"/>
              </a:rPr>
              <a:t>k</a:t>
            </a: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/m 逼近 π。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767328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6B7A"/>
                </a:solidFill>
                <a:latin typeface="Microsoft YaHei"/>
                <a:ea typeface="Microsoft YaHei"/>
              </a:rPr>
              <a:t>难度并不均匀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032504"/>
            <a:ext cx="327355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α = 1 只要 n = 33，α = 1/2 却要等到 3783——这正是下一页 U 形分布的来源。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11 · 加强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更强的一句：不只稠密，而是按反正弦律等分布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12 / 13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30352" y="1609344"/>
          <a:ext cx="60350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8" y="5760720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7284"/>
                </a:solidFill>
                <a:latin typeface="Microsoft YaHei"/>
                <a:ea typeface="Microsoft YaHei"/>
              </a:rPr>
              <a:t>n = 1,…,3000 落在 [−1,1] 各 0.2 宽区间中的频数。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591056"/>
            <a:ext cx="4727448" cy="1481328"/>
          </a:xfrm>
          <a:prstGeom prst="roundRect">
            <a:avLst>
              <a:gd name="adj" fmla="val 5000"/>
            </a:avLst>
          </a:prstGeom>
          <a:solidFill>
            <a:srgbClr val="10243A"/>
          </a:solidFill>
          <a:ln w="12700">
            <a:solidFill>
              <a:srgbClr val="10243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700784"/>
            <a:ext cx="4297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C0C9"/>
                </a:solidFill>
                <a:latin typeface="Microsoft YaHei"/>
                <a:ea typeface="Microsoft YaHei"/>
              </a:rPr>
              <a:t>Weyl 判别法（h ≠ 0）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Cambria Math"/>
                <a:ea typeface="Cambria Math"/>
              </a:rPr>
              <a:t>(1/N) ∑</a:t>
            </a:r>
            <a:r>
              <a:rPr sz="1350" b="0" i="0" baseline="-25000">
                <a:solidFill>
                  <a:srgbClr val="FFFFFF"/>
                </a:solidFill>
                <a:latin typeface="Cambria Math"/>
                <a:ea typeface="Cambria Math"/>
              </a:rPr>
              <a:t>n≤N</a:t>
            </a:r>
            <a:r>
              <a:rPr sz="1350" b="0" i="0">
                <a:solidFill>
                  <a:srgbClr val="FFFFFF"/>
                </a:solidFill>
                <a:latin typeface="Cambria Math"/>
                <a:ea typeface="Cambria Math"/>
              </a:rPr>
              <a:t> e</a:t>
            </a:r>
            <a:r>
              <a:rPr sz="1350" b="0" i="0" baseline="30000">
                <a:solidFill>
                  <a:srgbClr val="FFFFFF"/>
                </a:solidFill>
                <a:latin typeface="Cambria Math"/>
                <a:ea typeface="Cambria Math"/>
              </a:rPr>
              <a:t>ihn</a:t>
            </a:r>
            <a:r>
              <a:rPr sz="1350" b="0" i="0">
                <a:solidFill>
                  <a:srgbClr val="FFFFFF"/>
                </a:solidFill>
                <a:latin typeface="Cambria Math"/>
                <a:ea typeface="Cambria Math"/>
              </a:rPr>
              <a:t>  →  0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 i="0">
                <a:solidFill>
                  <a:srgbClr val="A7C1CE"/>
                </a:solidFill>
                <a:latin typeface="Microsoft YaHei"/>
                <a:ea typeface="Microsoft YaHei"/>
              </a:rPr>
              <a:t>因为 e</a:t>
            </a:r>
            <a:r>
              <a:rPr sz="1000" b="0" i="0" baseline="30000">
                <a:solidFill>
                  <a:srgbClr val="A7C1CE"/>
                </a:solidFill>
                <a:latin typeface="Microsoft YaHei"/>
                <a:ea typeface="Microsoft YaHei"/>
              </a:rPr>
              <a:t>ih</a:t>
            </a:r>
            <a:r>
              <a:rPr sz="1000" b="0" i="0">
                <a:solidFill>
                  <a:srgbClr val="A7C1CE"/>
                </a:solidFill>
                <a:latin typeface="Microsoft YaHei"/>
                <a:ea typeface="Microsoft YaHei"/>
              </a:rPr>
              <a:t> ≠ 1，几何级数被 N 除后归零。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200400"/>
            <a:ext cx="4727448" cy="1234440"/>
          </a:xfrm>
          <a:prstGeom prst="roundRect">
            <a:avLst>
              <a:gd name="adj" fmla="val 5000"/>
            </a:avLst>
          </a:prstGeom>
          <a:solidFill>
            <a:srgbClr val="FBF2E3"/>
          </a:solidFill>
          <a:ln w="12700">
            <a:solidFill>
              <a:srgbClr val="FBF2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3310128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7628"/>
                </a:solidFill>
                <a:latin typeface="Microsoft YaHei"/>
                <a:ea typeface="Microsoft YaHei"/>
              </a:rPr>
              <a:t>反正弦律</a:t>
            </a:r>
          </a:p>
          <a:p>
            <a:pPr algn="l">
              <a:lnSpc>
                <a:spcPct val="13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A2B3C"/>
                </a:solidFill>
                <a:latin typeface="Cambria Math"/>
                <a:ea typeface="Cambria Math"/>
              </a:rPr>
              <a:t>#{n ≤ N : sin n ∈ [a,b]} / N  →  (arcsin b − arcsin a)/π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4562856"/>
            <a:ext cx="4727448" cy="786384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2700">
            <a:solidFill>
              <a:srgbClr val="DDE6E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4645152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B3C"/>
                </a:solidFill>
                <a:latin typeface="Microsoft YaHei"/>
                <a:ea typeface="Microsoft YaHei"/>
              </a:rPr>
              <a:t>两端高、中间低：端点附近「更密」，所以 α = ±1 更容易命中。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57200"/>
            <a:ext cx="118872" cy="118872"/>
          </a:xfrm>
          <a:prstGeom prst="rect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86968" y="37490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26B7A"/>
                </a:solidFill>
                <a:latin typeface="Microsoft YaHei"/>
                <a:ea typeface="Microsoft YaHei"/>
              </a:rPr>
              <a:t>12 · 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270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A2B3C"/>
                </a:solidFill>
                <a:latin typeface="Microsoft YaHei"/>
                <a:ea typeface="Microsoft YaHei"/>
              </a:rPr>
              <a:t>三行记住整个证明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298448"/>
            <a:ext cx="10872216" cy="0"/>
          </a:xfrm>
          <a:prstGeom prst="line">
            <a:avLst/>
          </a:prstGeom>
          <a:ln w="12700">
            <a:solidFill>
              <a:srgbClr val="DDE6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4556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sin(n) 的聚点集 = [−1,1] · 完整证明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556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7284"/>
                </a:solidFill>
                <a:latin typeface="Microsoft YaHei"/>
                <a:ea typeface="Microsoft YaHei"/>
              </a:rPr>
              <a:t>13 / 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810512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783080"/>
            <a:ext cx="98938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B3C"/>
                </a:solidFill>
                <a:latin typeface="Microsoft YaHei"/>
                <a:ea typeface="Microsoft YaHei"/>
              </a:rPr>
              <a:t>抽屉原理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112264"/>
            <a:ext cx="989380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284"/>
                </a:solidFill>
                <a:latin typeface="Microsoft YaHei"/>
                <a:ea typeface="Microsoft YaHei"/>
              </a:rPr>
              <a:t>无理倍数的点，用极小的步长 δ 就能挤进任何区间  ⇒  稠密。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743200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715768"/>
            <a:ext cx="98938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B3C"/>
                </a:solidFill>
                <a:latin typeface="Microsoft YaHei"/>
                <a:ea typeface="Microsoft YaHei"/>
              </a:rPr>
              <a:t>换一个视角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3044952"/>
            <a:ext cx="989380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284"/>
                </a:solidFill>
                <a:latin typeface="Microsoft YaHei"/>
                <a:ea typeface="Microsoft YaHei"/>
              </a:rPr>
              <a:t>把 n 看成圆周上的角 n mod 2π；π 无理  ⇒  这些角稠密。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75887"/>
            <a:ext cx="365760" cy="365760"/>
          </a:xfrm>
          <a:prstGeom prst="ellipse">
            <a:avLst/>
          </a:prstGeom>
          <a:solidFill>
            <a:srgbClr val="126B7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648456"/>
            <a:ext cx="98938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A2B3C"/>
                </a:solidFill>
                <a:latin typeface="Microsoft YaHei"/>
                <a:ea typeface="Microsoft YaHei"/>
              </a:rPr>
              <a:t>投影与 Lipschitz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3977639"/>
            <a:ext cx="989380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7284"/>
                </a:solidFill>
                <a:latin typeface="Microsoft YaHei"/>
                <a:ea typeface="Microsoft YaHei"/>
              </a:rPr>
              <a:t>sin 是圆到 [−1,1] 的连续投影  ⇒  每个 α 都被无穷多个 n 逼近。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18304"/>
            <a:ext cx="10561320" cy="1060704"/>
          </a:xfrm>
          <a:prstGeom prst="roundRect">
            <a:avLst>
              <a:gd name="adj" fmla="val 5000"/>
            </a:avLst>
          </a:prstGeom>
          <a:solidFill>
            <a:srgbClr val="10243A"/>
          </a:solidFill>
          <a:ln w="12700">
            <a:solidFill>
              <a:srgbClr val="10243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36592"/>
            <a:ext cx="9921240" cy="10241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mbria Math"/>
                <a:ea typeface="Cambria Math"/>
              </a:rPr>
              <a:t>∀ α ∈ [−1,1]，序列 {sin n} 都有子列收敛到 α。  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9846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7284"/>
                </a:solidFill>
                <a:latin typeface="Microsoft YaHei"/>
                <a:ea typeface="Microsoft YaHei"/>
              </a:rPr>
              <a:t>关键只有一句：π 无理，所以整数在圆周上「走不到头」。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sin(n) 的子列能取到 [−1,1] 中的任意值</dc:title>
  <dc:subject>数列的聚点集：稠密性与构造证明</dc:subject>
  <dc:creator>证明 · 图示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