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48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353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开场：狄利克雷积分是分析学中的经典结果，而费曼积分技巧提供了一条极简、可迁移的路径。本讲只聚焦一件事：如何用参数化把“算不出的积分”变成“可解的微分方程”。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先明确对象：∫0∞ sin x / x dx。它是反常积分，在 0 与 ∞ 两端都要取极限；被积函数的原函数不是初等函数，所以牛顿—莱布尼茨公式不能直接使用。它在信号处理、光学衍射等问题中非常常见。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核心动作是“升维”：不再把积分看成一个数，而是引入参数 a，得到一族积分 I(a)。a=0 时回到原问题；a 很大时被积函数被指数压低，极限容易求。费曼技巧的本质，是在参数维度上做文章。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 a 求导得 T=-∫e^{-ax}sin x dx。第一次分部积分把 sin x 换成 cos x；第二次分部积分把 cos x 换回 sin x，得到 T=-1/a²-T/a²，解出 T=-1/(a²+1)。注意 a&gt;0 时边界项收敛：sin x·e^{-ax} 在两端为 0，cos x·e^{-ax} 在 x=0 给出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不先求 I(a) 的原函数，而是用微积分基本定理对参数积分：I(0)-I(+∞)=∫_{+∞}^0 I'(a) da。I(+∞)=0 由 |I(a)|≤1/a 得到；代入 I'(a)=-1/(1+a²)，积分得 -arctan a 从 +∞ 到 0，即 π/2。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总结成三步：参数化、求导、积分还原。费曼技巧真正有价值的地方，是把“求原函数”转成“解微分方程”，再用微积分基本定理把参数积回去，这是一种可迁移的数学思维。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0" y="-1920240"/>
            <a:ext cx="7680960" cy="7680960"/>
          </a:xfrm>
          <a:prstGeom prst="ellipse">
            <a:avLst/>
          </a:prstGeom>
          <a:noFill/>
          <a:ln w="10160">
            <a:solidFill>
              <a:srgbClr val="FFFFFF">
                <a:alpha val="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903720" y="2176272"/>
            <a:ext cx="0" cy="2048256"/>
          </a:xfrm>
          <a:prstGeom prst="line">
            <a:avLst/>
          </a:prstGeom>
          <a:ln w="9525">
            <a:solidFill>
              <a:srgbClr val="3340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1005840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 i="0" spc="220">
                <a:solidFill>
                  <a:srgbClr val="B9B2A2"/>
                </a:solidFill>
                <a:latin typeface="Times New Roman"/>
                <a:ea typeface="Times New Roman"/>
                <a:cs typeface="Times New Roman"/>
              </a:rPr>
              <a:t>HIGHER MATHEMATICS</a:t>
            </a:r>
            <a:r>
              <a:rPr sz="900" b="0" i="0" spc="200">
                <a:solidFill>
                  <a:srgbClr val="C9A25E"/>
                </a:solidFill>
                <a:latin typeface="Times New Roman"/>
                <a:ea typeface="Times New Roman"/>
                <a:cs typeface="Times New Roman"/>
              </a:rPr>
              <a:t>   ·   </a:t>
            </a:r>
            <a:r>
              <a:rPr sz="900" b="0" i="0" spc="220">
                <a:solidFill>
                  <a:srgbClr val="B9B2A2"/>
                </a:solidFill>
                <a:latin typeface="Times New Roman"/>
                <a:ea typeface="Times New Roman"/>
                <a:cs typeface="Times New Roman"/>
              </a:rPr>
              <a:t>SPECIAL TOPIC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86384" y="1024128"/>
            <a:ext cx="0" cy="548640"/>
          </a:xfrm>
          <a:prstGeom prst="line">
            <a:avLst/>
          </a:prstGeom>
          <a:ln w="25400">
            <a:solidFill>
              <a:srgbClr val="A977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4128" y="1399032"/>
            <a:ext cx="594360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300" b="0" i="0">
                <a:solidFill>
                  <a:srgbClr val="F7F3E8"/>
                </a:solidFill>
                <a:latin typeface="STZhongsong"/>
                <a:ea typeface="STZhongsong"/>
                <a:cs typeface="STZhongsong"/>
              </a:rPr>
              <a:t>基于费曼积分技巧</a:t>
            </a:r>
          </a:p>
          <a:p>
            <a:pPr algn="l">
              <a:lnSpc>
                <a:spcPct val="120000"/>
              </a:lnSpc>
            </a:pPr>
            <a:r>
              <a:rPr sz="4300" b="0" i="0">
                <a:solidFill>
                  <a:srgbClr val="F7F3E8"/>
                </a:solidFill>
                <a:latin typeface="STZhongsong"/>
                <a:ea typeface="STZhongsong"/>
                <a:cs typeface="STZhongsong"/>
              </a:rPr>
              <a:t>求解狄利克雷积分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1868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0" i="0" spc="80">
                <a:solidFill>
                  <a:srgbClr val="C8C1B2"/>
                </a:solidFill>
                <a:latin typeface="Microsoft YaHei"/>
                <a:ea typeface="Microsoft YaHei"/>
                <a:cs typeface="Microsoft YaHei"/>
              </a:rPr>
              <a:t>高等数学经典难题解析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3767328"/>
            <a:ext cx="521208" cy="0"/>
          </a:xfrm>
          <a:prstGeom prst="line">
            <a:avLst/>
          </a:prstGeom>
          <a:ln w="19050">
            <a:solidFill>
              <a:srgbClr val="A977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1560" y="3968496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F99A9"/>
                </a:solidFill>
                <a:latin typeface="Microsoft YaHei"/>
                <a:ea typeface="Microsoft YaHei"/>
                <a:cs typeface="Microsoft YaHei"/>
              </a:rPr>
              <a:t>一次参数化，让不可求的积分变得可解。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449824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 spc="80">
                <a:solidFill>
                  <a:srgbClr val="AEB6C3"/>
                </a:solidFill>
                <a:latin typeface="Microsoft YaHei"/>
                <a:ea typeface="Microsoft YaHei"/>
                <a:cs typeface="Microsoft YaHei"/>
              </a:rPr>
              <a:t>含参变量</a:t>
            </a:r>
            <a:r>
              <a:rPr sz="1050" b="0" i="0" spc="8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     ·     </a:t>
            </a:r>
            <a:r>
              <a:rPr sz="1050" b="0" i="0" spc="80">
                <a:solidFill>
                  <a:srgbClr val="AEB6C3"/>
                </a:solidFill>
                <a:latin typeface="Microsoft YaHei"/>
                <a:ea typeface="Microsoft YaHei"/>
                <a:cs typeface="Microsoft YaHei"/>
              </a:rPr>
              <a:t>积分号下求导</a:t>
            </a:r>
            <a:r>
              <a:rPr sz="1050" b="0" i="0" spc="8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     ·     </a:t>
            </a:r>
            <a:r>
              <a:rPr sz="1050" b="0" i="0" spc="80">
                <a:solidFill>
                  <a:srgbClr val="AEB6C3"/>
                </a:solidFill>
                <a:latin typeface="Microsoft YaHei"/>
                <a:ea typeface="Microsoft YaHei"/>
                <a:cs typeface="Microsoft YaHei"/>
              </a:rPr>
              <a:t>极限还原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157984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50" b="0" i="0" spc="260">
                <a:solidFill>
                  <a:srgbClr val="C9A25E"/>
                </a:solidFill>
                <a:latin typeface="Times New Roman"/>
                <a:ea typeface="Times New Roman"/>
                <a:cs typeface="Times New Roman"/>
              </a:rPr>
              <a:t>THE RESULT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69480" y="2395728"/>
            <a:ext cx="576072" cy="0"/>
          </a:xfrm>
          <a:prstGeom prst="line">
            <a:avLst/>
          </a:prstGeom>
          <a:ln w="15240">
            <a:solidFill>
              <a:srgbClr val="C9A2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formula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633472"/>
            <a:ext cx="3977639" cy="10772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69480" y="393192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 i="0" spc="40">
                <a:solidFill>
                  <a:srgbClr val="A8A291"/>
                </a:solidFill>
                <a:latin typeface="Microsoft YaHei"/>
                <a:ea typeface="Microsoft YaHei"/>
                <a:cs typeface="Microsoft YaHei"/>
              </a:rPr>
              <a:t>狄利克雷积分 · 一个经典结果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419088"/>
            <a:ext cx="10634472" cy="0"/>
          </a:xfrm>
          <a:prstGeom prst="line">
            <a:avLst/>
          </a:prstGeom>
          <a:ln w="7620">
            <a:solidFill>
              <a:srgbClr val="2935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6384" y="6528816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50" b="0" i="0" spc="150">
                <a:solidFill>
                  <a:srgbClr val="778294"/>
                </a:solidFill>
                <a:latin typeface="Times New Roman"/>
                <a:ea typeface="Times New Roman"/>
                <a:cs typeface="Times New Roman"/>
              </a:rPr>
              <a:t>FEYNMAN'S TRICK  ·  DIRICHLET INTEGRAL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1052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9AA3B2"/>
                </a:solidFill>
                <a:latin typeface="Microsoft YaHei"/>
                <a:ea typeface="Microsoft YaHei"/>
                <a:cs typeface="Microsoft YaHei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384" y="47548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1" i="0" spc="8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01</a:t>
            </a:r>
            <a:r>
              <a:rPr sz="919" b="0" i="0" spc="80">
                <a:solidFill>
                  <a:srgbClr val="B7AF9F"/>
                </a:solidFill>
                <a:latin typeface="Microsoft YaHei"/>
                <a:ea typeface="Microsoft YaHei"/>
                <a:cs typeface="Microsoft YaHei"/>
              </a:rPr>
              <a:t>  /  </a:t>
            </a:r>
            <a:r>
              <a:rPr sz="919" b="0" i="0" spc="10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问题引入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31520"/>
            <a:ext cx="987552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900" b="0" i="0">
                <a:solidFill>
                  <a:srgbClr val="172033"/>
                </a:solidFill>
                <a:latin typeface="STZhongsong"/>
                <a:ea typeface="STZhongsong"/>
                <a:cs typeface="STZhongsong"/>
              </a:rPr>
              <a:t>狄利克雷积分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444752"/>
            <a:ext cx="10634472" cy="0"/>
          </a:xfrm>
          <a:prstGeom prst="line">
            <a:avLst/>
          </a:prstGeom>
          <a:ln w="7620">
            <a:solidFill>
              <a:srgbClr val="DCD4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1440180"/>
            <a:ext cx="1197864" cy="0"/>
          </a:xfrm>
          <a:prstGeom prst="line">
            <a:avLst/>
          </a:prstGeom>
          <a:ln w="25400">
            <a:solidFill>
              <a:srgbClr val="A977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719072"/>
            <a:ext cx="104241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44433F"/>
                </a:solidFill>
                <a:latin typeface="Microsoft YaHei"/>
                <a:ea typeface="Microsoft YaHei"/>
                <a:cs typeface="Microsoft YaHei"/>
              </a:rPr>
              <a:t>看似简单，却在信号处理与物理中极为重要。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58568"/>
            <a:ext cx="5989320" cy="2249424"/>
          </a:xfrm>
          <a:prstGeom prst="rect">
            <a:avLst/>
          </a:prstGeom>
          <a:solidFill>
            <a:srgbClr val="FFFDF7"/>
          </a:solidFill>
          <a:ln w="9525">
            <a:solidFill>
              <a:srgbClr val="DE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2450592"/>
            <a:ext cx="5303520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80" b="1" i="0" spc="8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定义</a:t>
            </a:r>
            <a:r>
              <a:rPr sz="880" b="0" i="0" spc="160">
                <a:solidFill>
                  <a:srgbClr val="8B8579"/>
                </a:solidFill>
                <a:latin typeface="Times New Roman"/>
                <a:ea typeface="Times New Roman"/>
                <a:cs typeface="Times New Roman"/>
              </a:rPr>
              <a:t>   /   DEFINITION</a:t>
            </a:r>
          </a:p>
        </p:txBody>
      </p:sp>
      <p:pic>
        <p:nvPicPr>
          <p:cNvPr id="9" name="Picture 8" descr="formula_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724912"/>
            <a:ext cx="4617720" cy="13352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2415" y="4105656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原函数不是初等函数；区间 [0, ∞)，x = 0 处连续延拓为 1。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1856231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50" b="1" i="0" spc="13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SINC FUNCTION</a:t>
            </a:r>
            <a:r>
              <a:rPr sz="850" b="0" i="0" spc="130">
                <a:solidFill>
                  <a:srgbClr val="8B8579"/>
                </a:solidFill>
                <a:latin typeface="Times New Roman"/>
                <a:ea typeface="Times New Roman"/>
                <a:cs typeface="Times New Roman"/>
              </a:rPr>
              <a:t>   y = sin x / x</a:t>
            </a:r>
          </a:p>
        </p:txBody>
      </p:sp>
      <p:pic>
        <p:nvPicPr>
          <p:cNvPr id="12" name="Picture 11" descr="sinc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103120"/>
            <a:ext cx="4425696" cy="23972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49440" y="4517136"/>
            <a:ext cx="440740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振荡衰减，符号面积收敛于 π/2。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4992624"/>
            <a:ext cx="10634472" cy="0"/>
          </a:xfrm>
          <a:prstGeom prst="line">
            <a:avLst/>
          </a:prstGeom>
          <a:ln w="7620">
            <a:solidFill>
              <a:srgbClr val="DED6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6384" y="515721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80" b="1" i="0" spc="10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01  </a:t>
            </a:r>
            <a:r>
              <a:rPr sz="880" b="0" i="0" spc="100">
                <a:solidFill>
                  <a:srgbClr val="8B8579"/>
                </a:solidFill>
                <a:latin typeface="Microsoft YaHei"/>
                <a:ea typeface="Microsoft YaHei"/>
                <a:cs typeface="Microsoft YaHei"/>
              </a:rPr>
              <a:t>信号处理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4406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采样定理 · 频谱分析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515721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80" b="1" i="0" spc="10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02  </a:t>
            </a:r>
            <a:r>
              <a:rPr sz="880" b="0" i="0" spc="100">
                <a:solidFill>
                  <a:srgbClr val="8B8579"/>
                </a:solidFill>
                <a:latin typeface="Microsoft YaHei"/>
                <a:ea typeface="Microsoft YaHei"/>
                <a:cs typeface="Microsoft YaHei"/>
              </a:rPr>
              <a:t>物理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54406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单缝衍射 · 光学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50207" y="5230368"/>
            <a:ext cx="0" cy="530352"/>
          </a:xfrm>
          <a:prstGeom prst="line">
            <a:avLst/>
          </a:prstGeom>
          <a:ln w="7620">
            <a:solidFill>
              <a:srgbClr val="DED6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45552" y="515721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80" b="1" i="0" spc="10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03  </a:t>
            </a:r>
            <a:r>
              <a:rPr sz="880" b="0" i="0" spc="100">
                <a:solidFill>
                  <a:srgbClr val="8B8579"/>
                </a:solidFill>
                <a:latin typeface="Microsoft YaHei"/>
                <a:ea typeface="Microsoft YaHei"/>
                <a:cs typeface="Microsoft YaHei"/>
              </a:rPr>
              <a:t>数学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54406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条件收敛 · 非初等原函数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79792" y="5230368"/>
            <a:ext cx="0" cy="530352"/>
          </a:xfrm>
          <a:prstGeom prst="line">
            <a:avLst/>
          </a:prstGeom>
          <a:ln w="7620">
            <a:solidFill>
              <a:srgbClr val="DED6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7240" y="6428232"/>
            <a:ext cx="10634472" cy="0"/>
          </a:xfrm>
          <a:prstGeom prst="line">
            <a:avLst/>
          </a:prstGeom>
          <a:ln w="7620">
            <a:solidFill>
              <a:srgbClr val="E0D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86384" y="6528816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20" b="0" i="0" spc="80">
                <a:solidFill>
                  <a:srgbClr val="9B9487"/>
                </a:solidFill>
                <a:latin typeface="Microsoft YaHei"/>
                <a:ea typeface="Microsoft YaHei"/>
                <a:cs typeface="Microsoft YaHei"/>
              </a:rPr>
              <a:t>FEYNMAN INTEGRAL  ·  高等数学专题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6510528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384" y="47548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1" i="0" spc="8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02</a:t>
            </a:r>
            <a:r>
              <a:rPr sz="919" b="0" i="0" spc="80">
                <a:solidFill>
                  <a:srgbClr val="B7AF9F"/>
                </a:solidFill>
                <a:latin typeface="Microsoft YaHei"/>
                <a:ea typeface="Microsoft YaHei"/>
                <a:cs typeface="Microsoft YaHei"/>
              </a:rPr>
              <a:t>  /  </a:t>
            </a:r>
            <a:r>
              <a:rPr sz="919" b="0" i="0" spc="10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破局思路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31520"/>
            <a:ext cx="987552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900" b="0" i="0">
                <a:solidFill>
                  <a:srgbClr val="172033"/>
                </a:solidFill>
                <a:latin typeface="STZhongsong"/>
                <a:ea typeface="STZhongsong"/>
                <a:cs typeface="STZhongsong"/>
              </a:rPr>
              <a:t>引入「费曼积分技巧」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444752"/>
            <a:ext cx="10634472" cy="0"/>
          </a:xfrm>
          <a:prstGeom prst="line">
            <a:avLst/>
          </a:prstGeom>
          <a:ln w="7620">
            <a:solidFill>
              <a:srgbClr val="DCD4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1440180"/>
            <a:ext cx="1197864" cy="0"/>
          </a:xfrm>
          <a:prstGeom prst="line">
            <a:avLst/>
          </a:prstGeom>
          <a:ln w="25400">
            <a:solidFill>
              <a:srgbClr val="A977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719072"/>
            <a:ext cx="105156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44433F"/>
                </a:solidFill>
                <a:latin typeface="Microsoft YaHei"/>
                <a:ea typeface="Microsoft YaHei"/>
                <a:cs typeface="Microsoft YaHei"/>
              </a:rPr>
              <a:t>常规路径失效时，不直接求原函数，而是把问题嵌入一个参数族。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67712"/>
            <a:ext cx="4498848" cy="2176272"/>
          </a:xfrm>
          <a:prstGeom prst="rect">
            <a:avLst/>
          </a:prstGeom>
          <a:solidFill>
            <a:srgbClr val="F0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59736"/>
            <a:ext cx="374903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0" b="1" i="0" spc="9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常规路径</a:t>
            </a:r>
            <a:r>
              <a:rPr sz="860" b="0" i="0" spc="140">
                <a:solidFill>
                  <a:srgbClr val="8B8579"/>
                </a:solidFill>
                <a:latin typeface="Times New Roman"/>
                <a:ea typeface="Times New Roman"/>
                <a:cs typeface="Times New Roman"/>
              </a:rPr>
              <a:t>   /   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15768"/>
            <a:ext cx="3977639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72033"/>
                </a:solidFill>
                <a:latin typeface="STZhongsong"/>
                <a:ea typeface="STZhongsong"/>
                <a:cs typeface="STZhongsong"/>
              </a:rPr>
              <a:t>牛顿–莱布尼茨公式失效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310128"/>
            <a:ext cx="388620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65000"/>
              </a:lnSpc>
            </a:pPr>
            <a:r>
              <a:rPr sz="108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sin x / x 的原函数不是初等函数，无法直接代入上下限。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09651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1" i="0" spc="6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×  直接积分不可行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68112" y="3364992"/>
            <a:ext cx="466344" cy="0"/>
          </a:xfrm>
          <a:prstGeom prst="line">
            <a:avLst/>
          </a:prstGeom>
          <a:ln w="17780">
            <a:solidFill>
              <a:srgbClr val="A9773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30952" y="30266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参数化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2148840"/>
            <a:ext cx="5358384" cy="2414016"/>
          </a:xfrm>
          <a:prstGeom prst="rect">
            <a:avLst/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340864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50" b="0" i="0" spc="200">
                <a:solidFill>
                  <a:srgbClr val="C9A25E"/>
                </a:solidFill>
                <a:latin typeface="Times New Roman"/>
                <a:ea typeface="Times New Roman"/>
                <a:cs typeface="Times New Roman"/>
              </a:rPr>
              <a:t>FEYNMAN'S TRICK</a:t>
            </a:r>
            <a:r>
              <a:rPr sz="850" b="0" i="0" spc="80">
                <a:solidFill>
                  <a:srgbClr val="C9C3B4"/>
                </a:solidFill>
                <a:latin typeface="Microsoft YaHei"/>
                <a:ea typeface="Microsoft YaHei"/>
                <a:cs typeface="Microsoft YaHei"/>
              </a:rPr>
              <a:t>   ·   参数化</a:t>
            </a:r>
          </a:p>
        </p:txBody>
      </p:sp>
      <p:pic>
        <p:nvPicPr>
          <p:cNvPr id="16" name="Picture 15" descr="formula_parametr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697480"/>
            <a:ext cx="4663440" cy="69054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5080" y="3602736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C9C3B4"/>
                </a:solidFill>
                <a:latin typeface="Microsoft YaHei"/>
                <a:ea typeface="Microsoft YaHei"/>
                <a:cs typeface="Microsoft YaHei"/>
              </a:rPr>
              <a:t>a = 0 时回到目标积分；a → ∞ 时积分趋于 0。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55080" y="4105656"/>
            <a:ext cx="640080" cy="0"/>
          </a:xfrm>
          <a:prstGeom prst="line">
            <a:avLst/>
          </a:prstGeom>
          <a:ln w="15240">
            <a:solidFill>
              <a:srgbClr val="C9A2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86384" y="495604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40" b="1" i="0" spc="80">
                <a:solidFill>
                  <a:srgbClr val="8B8579"/>
                </a:solidFill>
                <a:latin typeface="Microsoft YaHei"/>
                <a:ea typeface="Microsoft YaHei"/>
                <a:cs typeface="Microsoft YaHei"/>
              </a:rPr>
              <a:t>操作流程</a:t>
            </a:r>
            <a:r>
              <a:rPr sz="840" b="0" i="0" spc="140">
                <a:solidFill>
                  <a:srgbClr val="B3AC9F"/>
                </a:solidFill>
                <a:latin typeface="Times New Roman"/>
                <a:ea typeface="Times New Roman"/>
                <a:cs typeface="Times New Roman"/>
              </a:rPr>
              <a:t>   /   WORKFLOW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0120" y="5559552"/>
            <a:ext cx="10287000" cy="0"/>
          </a:xfrm>
          <a:prstGeom prst="line">
            <a:avLst/>
          </a:prstGeom>
          <a:ln w="10160">
            <a:solidFill>
              <a:srgbClr val="DED6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86384" y="5431536"/>
            <a:ext cx="274320" cy="274320"/>
          </a:xfrm>
          <a:prstGeom prst="ellipse">
            <a:avLst/>
          </a:prstGeom>
          <a:solidFill>
            <a:srgbClr val="F7F4EC"/>
          </a:solidFill>
          <a:ln w="11430">
            <a:solidFill>
              <a:srgbClr val="A97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5481828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720" b="1" i="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404104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72033"/>
                </a:solidFill>
                <a:latin typeface="STZhongsong"/>
                <a:ea typeface="STZhongsong"/>
                <a:cs typeface="STZhongsong"/>
              </a:rPr>
              <a:t>参数化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73328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6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引入阻尼因子</a:t>
            </a:r>
          </a:p>
        </p:txBody>
      </p:sp>
      <p:sp>
        <p:nvSpPr>
          <p:cNvPr id="25" name="Oval 24"/>
          <p:cNvSpPr/>
          <p:nvPr/>
        </p:nvSpPr>
        <p:spPr>
          <a:xfrm>
            <a:off x="3401568" y="5431536"/>
            <a:ext cx="274320" cy="274320"/>
          </a:xfrm>
          <a:prstGeom prst="ellipse">
            <a:avLst/>
          </a:prstGeom>
          <a:solidFill>
            <a:srgbClr val="F7F4EC"/>
          </a:solidFill>
          <a:ln w="11430">
            <a:solidFill>
              <a:srgbClr val="A97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01568" y="5481828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720" b="1" i="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03904" y="5404104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72033"/>
                </a:solidFill>
                <a:latin typeface="STZhongsong"/>
                <a:ea typeface="STZhongsong"/>
                <a:cs typeface="STZhongsong"/>
              </a:rPr>
              <a:t>求导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3904" y="573328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6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对参数 a 求导</a:t>
            </a:r>
          </a:p>
        </p:txBody>
      </p:sp>
      <p:sp>
        <p:nvSpPr>
          <p:cNvPr id="29" name="Oval 28"/>
          <p:cNvSpPr/>
          <p:nvPr/>
        </p:nvSpPr>
        <p:spPr>
          <a:xfrm>
            <a:off x="6016752" y="5431536"/>
            <a:ext cx="274320" cy="274320"/>
          </a:xfrm>
          <a:prstGeom prst="ellipse">
            <a:avLst/>
          </a:prstGeom>
          <a:solidFill>
            <a:srgbClr val="F7F4EC"/>
          </a:solidFill>
          <a:ln w="11430">
            <a:solidFill>
              <a:srgbClr val="A97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16752" y="5481828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720" b="1" i="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5404104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72033"/>
                </a:solidFill>
                <a:latin typeface="STZhongsong"/>
                <a:ea typeface="STZhongsong"/>
                <a:cs typeface="STZhongsong"/>
              </a:rPr>
              <a:t>积分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73328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6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还原 I(a)</a:t>
            </a:r>
          </a:p>
        </p:txBody>
      </p:sp>
      <p:sp>
        <p:nvSpPr>
          <p:cNvPr id="33" name="Oval 32"/>
          <p:cNvSpPr/>
          <p:nvPr/>
        </p:nvSpPr>
        <p:spPr>
          <a:xfrm>
            <a:off x="8631936" y="5431536"/>
            <a:ext cx="274320" cy="274320"/>
          </a:xfrm>
          <a:prstGeom prst="ellipse">
            <a:avLst/>
          </a:prstGeom>
          <a:solidFill>
            <a:srgbClr val="A9773B"/>
          </a:solidFill>
          <a:ln w="11430">
            <a:solidFill>
              <a:srgbClr val="A97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31936" y="5481828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720" b="1" i="0">
                <a:solidFill>
                  <a:srgbClr val="F7F3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34272" y="5404104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72033"/>
                </a:solidFill>
                <a:latin typeface="STZhongsong"/>
                <a:ea typeface="STZhongsong"/>
                <a:cs typeface="STZhongsong"/>
              </a:rPr>
              <a:t>取极限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4272" y="573328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6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令 a → 0⁺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7240" y="6428232"/>
            <a:ext cx="10634472" cy="0"/>
          </a:xfrm>
          <a:prstGeom prst="line">
            <a:avLst/>
          </a:prstGeom>
          <a:ln w="7620">
            <a:solidFill>
              <a:srgbClr val="E0D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6384" y="6528816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20" b="0" i="0" spc="80">
                <a:solidFill>
                  <a:srgbClr val="9B9487"/>
                </a:solidFill>
                <a:latin typeface="Microsoft YaHei"/>
                <a:ea typeface="Microsoft YaHei"/>
                <a:cs typeface="Microsoft YaHei"/>
              </a:rPr>
              <a:t>FEYNMAN INTEGRAL  ·  高等数学专题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510528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384" y="47548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1" i="0" spc="8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03</a:t>
            </a:r>
            <a:r>
              <a:rPr sz="919" b="0" i="0" spc="80">
                <a:solidFill>
                  <a:srgbClr val="B7AF9F"/>
                </a:solidFill>
                <a:latin typeface="Microsoft YaHei"/>
                <a:ea typeface="Microsoft YaHei"/>
                <a:cs typeface="Microsoft YaHei"/>
              </a:rPr>
              <a:t>  /  </a:t>
            </a:r>
            <a:r>
              <a:rPr sz="919" b="0" i="0" spc="10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核心推导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31520"/>
            <a:ext cx="987552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900" b="0" i="0">
                <a:solidFill>
                  <a:srgbClr val="172033"/>
                </a:solidFill>
                <a:latin typeface="STZhongsong"/>
                <a:ea typeface="STZhongsong"/>
                <a:cs typeface="STZhongsong"/>
              </a:rPr>
              <a:t>参数求导与两次分部积分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444752"/>
            <a:ext cx="10634472" cy="0"/>
          </a:xfrm>
          <a:prstGeom prst="line">
            <a:avLst/>
          </a:prstGeom>
          <a:ln w="7620">
            <a:solidFill>
              <a:srgbClr val="DCD4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1440180"/>
            <a:ext cx="1197864" cy="0"/>
          </a:xfrm>
          <a:prstGeom prst="line">
            <a:avLst/>
          </a:prstGeom>
          <a:ln w="25400">
            <a:solidFill>
              <a:srgbClr val="A977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682496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20" b="0" i="0">
                <a:solidFill>
                  <a:srgbClr val="44433F"/>
                </a:solidFill>
                <a:latin typeface="Microsoft YaHei"/>
                <a:ea typeface="Microsoft YaHei"/>
                <a:cs typeface="Microsoft YaHei"/>
              </a:rPr>
              <a:t>记目标值为 S，则 I(0)=S，I(+∞)=0。对参数求导，连续使用两次分部积分</a:t>
            </a:r>
            <a:r>
              <a:rPr sz="1320" b="0" i="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（a &gt; 0）</a:t>
            </a:r>
            <a:r>
              <a:rPr sz="1320" b="0" i="0">
                <a:solidFill>
                  <a:srgbClr val="44433F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33288" y="2048256"/>
            <a:ext cx="0" cy="3346704"/>
          </a:xfrm>
          <a:prstGeom prst="line">
            <a:avLst/>
          </a:prstGeom>
          <a:ln w="9525">
            <a:solidFill>
              <a:srgbClr val="DED6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86384" y="2002536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①</a:t>
            </a:r>
            <a:r>
              <a:rPr sz="900" b="1" i="0" spc="8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  第一次分部积分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2199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0" i="0">
                <a:solidFill>
                  <a:srgbClr val="8B8579"/>
                </a:solidFill>
                <a:latin typeface="Microsoft YaHei"/>
                <a:ea typeface="Microsoft YaHei"/>
                <a:cs typeface="Microsoft YaHei"/>
              </a:rPr>
              <a:t>消去 sin x，化为 cos x 的积分</a:t>
            </a:r>
          </a:p>
        </p:txBody>
      </p:sp>
      <p:pic>
        <p:nvPicPr>
          <p:cNvPr id="10" name="Picture 9" descr="formula_chain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32304"/>
            <a:ext cx="4709160" cy="26253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0760" y="2002536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②</a:t>
            </a:r>
            <a:r>
              <a:rPr sz="900" b="1" i="0" spc="8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  第二次分部积分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22199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0" i="0">
                <a:solidFill>
                  <a:srgbClr val="8B8579"/>
                </a:solidFill>
                <a:latin typeface="Microsoft YaHei"/>
                <a:ea typeface="Microsoft YaHei"/>
                <a:cs typeface="Microsoft YaHei"/>
              </a:rPr>
              <a:t>产生 T 的方程，回代求解</a:t>
            </a:r>
          </a:p>
        </p:txBody>
      </p:sp>
      <p:pic>
        <p:nvPicPr>
          <p:cNvPr id="13" name="Picture 12" descr="formula_chain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432304"/>
            <a:ext cx="4800600" cy="296160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777240" y="5477256"/>
            <a:ext cx="10634472" cy="0"/>
          </a:xfrm>
          <a:prstGeom prst="line">
            <a:avLst/>
          </a:prstGeom>
          <a:ln w="7620">
            <a:solidFill>
              <a:srgbClr val="DED6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6384" y="5596128"/>
            <a:ext cx="98755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19" b="1" i="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关键：</a:t>
            </a:r>
            <a:r>
              <a:rPr sz="1019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两次分部积分后，T 以 (−T) 的形式回到方程中，解出 </a:t>
            </a:r>
            <a:r>
              <a:rPr sz="1019" b="1" i="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T = −1/(1+a²)</a:t>
            </a:r>
            <a:r>
              <a:rPr sz="1019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916168"/>
            <a:ext cx="98755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60" b="0" i="0" spc="3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→  下一步：将 I′(a) 从 +∞ 积回 0，还原目标积分 S。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6428232"/>
            <a:ext cx="10634472" cy="0"/>
          </a:xfrm>
          <a:prstGeom prst="line">
            <a:avLst/>
          </a:prstGeom>
          <a:ln w="7620">
            <a:solidFill>
              <a:srgbClr val="E0D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6384" y="6528816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20" b="0" i="0" spc="80">
                <a:solidFill>
                  <a:srgbClr val="9B9487"/>
                </a:solidFill>
                <a:latin typeface="Microsoft YaHei"/>
                <a:ea typeface="Microsoft YaHei"/>
                <a:cs typeface="Microsoft YaHei"/>
              </a:rPr>
              <a:t>FEYNMAN INTEGRAL  ·  高等数学专题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510528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384" y="47548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1" i="0" spc="8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04</a:t>
            </a:r>
            <a:r>
              <a:rPr sz="919" b="0" i="0" spc="80">
                <a:solidFill>
                  <a:srgbClr val="B7AF9F"/>
                </a:solidFill>
                <a:latin typeface="Microsoft YaHei"/>
                <a:ea typeface="Microsoft YaHei"/>
                <a:cs typeface="Microsoft YaHei"/>
              </a:rPr>
              <a:t>  /  </a:t>
            </a:r>
            <a:r>
              <a:rPr sz="919" b="0" i="0" spc="10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核心推导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31520"/>
            <a:ext cx="987552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900" b="0" i="0">
                <a:solidFill>
                  <a:srgbClr val="172033"/>
                </a:solidFill>
                <a:latin typeface="STZhongsong"/>
                <a:ea typeface="STZhongsong"/>
                <a:cs typeface="STZhongsong"/>
              </a:rPr>
              <a:t>积分还原与最终结果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444752"/>
            <a:ext cx="10634472" cy="0"/>
          </a:xfrm>
          <a:prstGeom prst="line">
            <a:avLst/>
          </a:prstGeom>
          <a:ln w="7620">
            <a:solidFill>
              <a:srgbClr val="DCD4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1440180"/>
            <a:ext cx="1197864" cy="0"/>
          </a:xfrm>
          <a:prstGeom prst="line">
            <a:avLst/>
          </a:prstGeom>
          <a:ln w="25400">
            <a:solidFill>
              <a:srgbClr val="A977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68249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20" b="0" i="0">
                <a:solidFill>
                  <a:srgbClr val="44433F"/>
                </a:solidFill>
                <a:latin typeface="Microsoft YaHei"/>
                <a:ea typeface="Microsoft YaHei"/>
                <a:cs typeface="Microsoft YaHei"/>
              </a:rPr>
              <a:t>用微积分基本定理把参数从 +∞ 积回 0，直接得到目标值 S：</a:t>
            </a:r>
          </a:p>
        </p:txBody>
      </p:sp>
      <p:pic>
        <p:nvPicPr>
          <p:cNvPr id="7" name="Picture 6" descr="formula_restor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84831"/>
            <a:ext cx="5806440" cy="27725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03720" y="1920240"/>
            <a:ext cx="4507992" cy="2971800"/>
          </a:xfrm>
          <a:prstGeom prst="rect">
            <a:avLst/>
          </a:prstGeom>
          <a:solidFill>
            <a:srgbClr val="FFFDF7"/>
          </a:solidFill>
          <a:ln w="9525">
            <a:solidFill>
              <a:srgbClr val="DE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2093976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0" b="1" i="0" spc="8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等价写法</a:t>
            </a:r>
            <a:r>
              <a:rPr sz="860" b="0" i="0" spc="130">
                <a:solidFill>
                  <a:srgbClr val="8B8579"/>
                </a:solidFill>
                <a:latin typeface="Times New Roman"/>
                <a:ea typeface="Times New Roman"/>
                <a:cs typeface="Times New Roman"/>
              </a:rPr>
              <a:t>   /   WHY IT WORKS</a:t>
            </a:r>
          </a:p>
        </p:txBody>
      </p:sp>
      <p:pic>
        <p:nvPicPr>
          <p:cNvPr id="10" name="Picture 9" descr="formula_ftc_ident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176" y="2395728"/>
            <a:ext cx="4023360" cy="6931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50608" y="3264408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I(+∞)=0：由 |I(a)| ≤ 1/a 可得。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3602736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无需先求 I(a) 的原函数。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3941063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也无需确定常数 C。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4325112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80" b="0" i="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这一步把「解出 C」换成了「参数积分还原」。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074920"/>
            <a:ext cx="10634472" cy="1024128"/>
          </a:xfrm>
          <a:prstGeom prst="rect">
            <a:avLst/>
          </a:prstGeom>
          <a:solidFill>
            <a:srgbClr val="1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2415" y="52395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80" b="1" i="0" spc="120">
                <a:solidFill>
                  <a:srgbClr val="C9A25E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5477256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680" b="0" i="0" spc="110">
                <a:solidFill>
                  <a:srgbClr val="8F9AAB"/>
                </a:solidFill>
                <a:latin typeface="Times New Roman"/>
                <a:ea typeface="Times New Roman"/>
                <a:cs typeface="Times New Roman"/>
              </a:rPr>
              <a:t>DIRICHLET INTEGRAL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74519" y="5248656"/>
            <a:ext cx="0" cy="676656"/>
          </a:xfrm>
          <a:prstGeom prst="line">
            <a:avLst/>
          </a:prstGeom>
          <a:ln w="8890">
            <a:solidFill>
              <a:srgbClr val="3541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formula_res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5157216"/>
            <a:ext cx="3108960" cy="9015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12680" y="537667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C9A25E"/>
                </a:solidFill>
                <a:latin typeface="Times New Roman"/>
                <a:ea typeface="Times New Roman"/>
                <a:cs typeface="Times New Roman"/>
              </a:rPr>
              <a:t>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6217920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19" b="0" i="0">
                <a:solidFill>
                  <a:srgbClr val="8A8478"/>
                </a:solidFill>
                <a:latin typeface="Microsoft YaHei"/>
                <a:ea typeface="Microsoft YaHei"/>
                <a:cs typeface="Microsoft YaHei"/>
              </a:rPr>
              <a:t>注：a &gt; 0；I(+∞)=0 由 |I(a)| ≤ 1/a 得到。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428232"/>
            <a:ext cx="10634472" cy="0"/>
          </a:xfrm>
          <a:prstGeom prst="line">
            <a:avLst/>
          </a:prstGeom>
          <a:ln w="7620">
            <a:solidFill>
              <a:srgbClr val="E0D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6384" y="6528816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20" b="0" i="0" spc="80">
                <a:solidFill>
                  <a:srgbClr val="9B9487"/>
                </a:solidFill>
                <a:latin typeface="Microsoft YaHei"/>
                <a:ea typeface="Microsoft YaHei"/>
                <a:cs typeface="Microsoft YaHei"/>
              </a:rPr>
              <a:t>FEYNMAN INTEGRAL  ·  高等数学专题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6510528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384" y="47548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19" b="1" i="0" spc="8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05</a:t>
            </a:r>
            <a:r>
              <a:rPr sz="919" b="0" i="0" spc="80">
                <a:solidFill>
                  <a:srgbClr val="B7AF9F"/>
                </a:solidFill>
                <a:latin typeface="Microsoft YaHei"/>
                <a:ea typeface="Microsoft YaHei"/>
                <a:cs typeface="Microsoft YaHei"/>
              </a:rPr>
              <a:t>  /  </a:t>
            </a:r>
            <a:r>
              <a:rPr sz="919" b="0" i="0" spc="10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方法总结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731520"/>
            <a:ext cx="987552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2900" b="0" i="0">
                <a:solidFill>
                  <a:srgbClr val="172033"/>
                </a:solidFill>
                <a:latin typeface="STZhongsong"/>
                <a:ea typeface="STZhongsong"/>
                <a:cs typeface="STZhongsong"/>
              </a:rPr>
              <a:t>方法总结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444752"/>
            <a:ext cx="10634472" cy="0"/>
          </a:xfrm>
          <a:prstGeom prst="line">
            <a:avLst/>
          </a:prstGeom>
          <a:ln w="7620">
            <a:solidFill>
              <a:srgbClr val="DCD4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1440180"/>
            <a:ext cx="1197864" cy="0"/>
          </a:xfrm>
          <a:prstGeom prst="line">
            <a:avLst/>
          </a:prstGeom>
          <a:ln w="25400">
            <a:solidFill>
              <a:srgbClr val="A977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783080"/>
            <a:ext cx="56692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3500" b="0" i="0">
                <a:solidFill>
                  <a:srgbClr val="172033"/>
                </a:solidFill>
                <a:latin typeface="STZhongsong"/>
                <a:ea typeface="STZhongsong"/>
                <a:cs typeface="STZhongsong"/>
              </a:rPr>
              <a:t>把复杂积分</a:t>
            </a:r>
          </a:p>
          <a:p>
            <a:pPr algn="l">
              <a:lnSpc>
                <a:spcPct val="118000"/>
              </a:lnSpc>
            </a:pPr>
            <a:r>
              <a:rPr sz="3500" b="0" i="0">
                <a:solidFill>
                  <a:srgbClr val="A9773B"/>
                </a:solidFill>
                <a:latin typeface="STZhongsong"/>
                <a:ea typeface="STZhongsong"/>
                <a:cs typeface="STZhongsong"/>
              </a:rPr>
              <a:t>变成微分方程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410712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28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费曼积分技巧用参数搭桥：先求导，两次分部积分，再积分还原。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4325112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0" spc="5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「降维打击」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63600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8B8579"/>
                </a:solidFill>
                <a:latin typeface="Microsoft YaHei"/>
                <a:ea typeface="Microsoft YaHei"/>
                <a:cs typeface="Microsoft YaHei"/>
              </a:rPr>
              <a:t>绕开不可求的原函数，在更高的维度上解题。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76288" y="1792224"/>
            <a:ext cx="4535424" cy="0"/>
          </a:xfrm>
          <a:prstGeom prst="line">
            <a:avLst/>
          </a:prstGeom>
          <a:ln w="8890">
            <a:solidFill>
              <a:srgbClr val="D9D1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76288" y="194767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80" b="1" i="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1775" y="1901952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72033"/>
                </a:solidFill>
                <a:latin typeface="STZhongsong"/>
                <a:ea typeface="STZhongsong"/>
                <a:cs typeface="STZhongsong"/>
              </a:rPr>
              <a:t>参数化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775" y="2240280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引入阻尼因子，构造含参积分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76288" y="3035808"/>
            <a:ext cx="4535424" cy="0"/>
          </a:xfrm>
          <a:prstGeom prst="line">
            <a:avLst/>
          </a:prstGeom>
          <a:ln w="8890">
            <a:solidFill>
              <a:srgbClr val="D9D1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76288" y="319125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80" b="1" i="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5" y="3145536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72033"/>
                </a:solidFill>
                <a:latin typeface="STZhongsong"/>
                <a:ea typeface="STZhongsong"/>
                <a:cs typeface="STZhongsong"/>
              </a:rPr>
              <a:t>求导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775" y="3483863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积分号下求导，连续两次分部积分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76288" y="4279392"/>
            <a:ext cx="4535424" cy="0"/>
          </a:xfrm>
          <a:prstGeom prst="line">
            <a:avLst/>
          </a:prstGeom>
          <a:ln w="8890">
            <a:solidFill>
              <a:srgbClr val="D9D1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76288" y="443484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80" b="1" i="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5" y="438912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72033"/>
                </a:solidFill>
                <a:latin typeface="STZhongsong"/>
                <a:ea typeface="STZhongsong"/>
                <a:cs typeface="STZhongsong"/>
              </a:rPr>
              <a:t>还原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775" y="4727448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将 I′(a) 从 +∞ 积回 0，得到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431536"/>
            <a:ext cx="10634472" cy="822960"/>
          </a:xfrm>
          <a:prstGeom prst="rect">
            <a:avLst/>
          </a:prstGeom>
          <a:solidFill>
            <a:srgbClr val="F0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570585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40" b="1" i="0" spc="100">
                <a:solidFill>
                  <a:srgbClr val="A9773B"/>
                </a:solidFill>
                <a:latin typeface="Microsoft YaHei"/>
                <a:ea typeface="Microsoft YaHei"/>
                <a:cs typeface="Microsoft YaHei"/>
              </a:rPr>
              <a:t>主线</a:t>
            </a:r>
          </a:p>
        </p:txBody>
      </p:sp>
      <p:pic>
        <p:nvPicPr>
          <p:cNvPr id="24" name="Picture 23" descr="formula_summary_flow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19" y="5449824"/>
            <a:ext cx="8092440" cy="789012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777240" y="6428232"/>
            <a:ext cx="10634472" cy="0"/>
          </a:xfrm>
          <a:prstGeom prst="line">
            <a:avLst/>
          </a:prstGeom>
          <a:ln w="7620">
            <a:solidFill>
              <a:srgbClr val="E0D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6384" y="6528816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20" b="0" i="0" spc="80">
                <a:solidFill>
                  <a:srgbClr val="9B9487"/>
                </a:solidFill>
                <a:latin typeface="Microsoft YaHei"/>
                <a:ea typeface="Microsoft YaHei"/>
                <a:cs typeface="Microsoft YaHei"/>
              </a:rPr>
              <a:t>FEYNMAN INTEGRAL  ·  高等数学专题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510528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67635B"/>
                </a:solidFill>
                <a:latin typeface="Microsoft YaHei"/>
                <a:ea typeface="Microsoft YaHei"/>
                <a:cs typeface="Microsoft YaHei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645</Words>
  <Application>Microsoft Office PowerPoint</Application>
  <PresentationFormat>宽屏</PresentationFormat>
  <Paragraphs>100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STZhongsong</vt:lpstr>
      <vt:lpstr>Microsoft YaHei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基于费曼积分技巧求解狄利克雷积分</dc:title>
  <dc:subject>高等数学经典难题解析</dc:subject>
  <dc:creator>高等数学专题</dc:creator>
  <cp:keywords>费曼积分, 狄利克雷积分, 含参变量积分, 高等数学</cp:keywords>
  <dc:description>generated using python-pptx</dc:description>
  <cp:lastModifiedBy>书田 张</cp:lastModifiedBy>
  <cp:revision>1</cp:revision>
  <dcterms:created xsi:type="dcterms:W3CDTF">2013-01-27T09:14:16Z</dcterms:created>
  <dcterms:modified xsi:type="dcterms:W3CDTF">2026-10-17T08:22:13Z</dcterms:modified>
  <cp:category/>
</cp:coreProperties>
</file>