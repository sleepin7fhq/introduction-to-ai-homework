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本题只有三个动作：用正交性算 L² 范数，用加性唯一性数四元组算 L⁴ 范数，再用 Hölder 插值把两个已知矩翻译成 L¹ 的下界。今天这十页就按这条主线走：先把条件翻译成“无序对唯一”，再把积分翻译成计数，最后用插值一步收口。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先立记号：S 是 N 个整数，条件里的四个指标都取自 S。注意条件的写法可以等价写成 n₁ ∈ {n₃, n₄}，这样后面说“无序对唯一”时不用再加括号解释。f 是复值函数，取模之后才是非负实数，所以每一步积分都是对 |f| 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这一页是全场的地基。唯一性不是“和互不相同”，而是“和相同 ⇒ 无序对相同”。上面这个 ⇔ 论证只有两行，但它把每个和的原像大小锁死为 1 或 2：对角 a+a 只有一个有序对，非对角 a+b 有 (a,b) 与 (b,a) 两个。第 6 页的因子 2 就是从这里来的。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两问的思路其实是同一句话：算积分就是数指数为 0 的项。L² 展开得到 N² 项，正交性只让 m=n 的 N 项活下来；L⁴ 展开得到 N⁴ 项，活下来的恰好是 n₁+n₂=n₃+n₄ 的四元组，记作 R。下面两页分别把 N 和 R 算出来。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推导只有两步：展开，然后逐项积分。有限和，交换积分与求和不需要任何讨论。正交性把无穷多条项筛成 N 条对角项，每条积分为 1。要强调：这一步没有用到加性唯一性，任何 N 元整数集都有 ∫|f|²=N。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这是全场最容易错的一页。固定一个有序对 (n₁,n₂)，问 (n₃,n₄) 有几种。由第 3 页的等价性，{n₃,n₄}={n₁,n₂}，只有两种次序。如果 n₁=n₂，两种次序是同一个，只能算 1 个；如果 n₁≠n₂，才是 2 个。所以 R = N + 2N(N−1) = 2N²−N。千万不要把因子 2 加到对角项上。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为什么不能直接用 Cauchy–Schwarz？因为它给的是 ‖f‖₁ ≤ ‖f‖₂，方向反了。正确做法是把 L² 看成 L¹ 与 L⁴ 的插值：1/2 = θ·1 + (1−θ)/4，解出 θ=1/3。这个引理把“两个已知矩”变成“L¹ 的一个下界”，下一页就是把它代进去。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四步。第一步 Hölder，共轭指数 3/2 和 3，把 |f|² 拆成 |f|^{2/3}·|f|^{4/3}；第二步把 N 和 2N²−N 代进去；第三步立方，解出 I ≥ N/√(2N−1)；第四步用 √(2N−1) ≤ √(2N) 放大，再注意 2N ≥ 1，就得到 1/(2√N)。顺便说一句，这个估计其实强得多——N/√(2N−1) ≈ √(N/2)，题目要的只是它的一个宽松推论。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三条主线对应三种技术：正交性负责 L²，Sidon 计数负责 L⁴，Hölder 插值负责把两个矩接到 L¹。四个陷阱里最值钱的是第一条：因子 2 只在非对角出现。另外提醒一句，由 |f(0)| = N 可以直接得到 ∫|f| ≥ 1，说明题目下界很宽松——所以真正的考点是插值这条路，而不是这个常数。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收尾时把三条结论和方法一一对应：看到 L² 想正交性，看到 L⁴ 想四元组计数，看到“由两个矩推第三个矩”想 Hölder 插值。一句话总结：加性唯一性把每个和的原像压到 1 或 2 个，于是积分变成可数的组合计数，再与 L² 一起把 L¹ 从下方顶住。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9812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300">
                <a:solidFill>
                  <a:srgbClr val="7FA6CF"/>
                </a:solidFill>
                <a:latin typeface="Noto Sans CJK SC"/>
                <a:ea typeface="Noto Sans CJK SC"/>
                <a:cs typeface="Noto Sans CJK SC"/>
              </a:rPr>
              <a:t>COMPETITION  SOLUTION   ·   15 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9052560" cy="192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加性唯一性条件下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指数和的 L¹、L²、L⁴ 范数估计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346704"/>
            <a:ext cx="2057400" cy="32004"/>
          </a:xfrm>
          <a:prstGeom prst="rect">
            <a:avLst/>
          </a:prstGeom>
          <a:solidFill>
            <a:srgbClr val="A9812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FC5DE"/>
                </a:solidFill>
                <a:latin typeface="Noto Sans CJK SC"/>
                <a:ea typeface="Noto Sans CJK SC"/>
                <a:cs typeface="Noto Sans CJK SC"/>
              </a:rPr>
              <a:t>二、（本题 15 分）｜条件 → 展开 → 积分 → 计数 → 不等式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79" y="473659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7FA6CF"/>
                </a:solidFill>
                <a:latin typeface="Noto Sans CJK SC"/>
                <a:ea typeface="Noto Sans CJK SC"/>
                <a:cs typeface="Noto Sans CJK SC"/>
              </a:rPr>
              <a:t>L² 范数</a:t>
            </a:r>
          </a:p>
        </p:txBody>
      </p:sp>
      <p:pic>
        <p:nvPicPr>
          <p:cNvPr id="9" name="Picture 8" descr="cover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592" y="5047488"/>
            <a:ext cx="1397455" cy="5334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98848" y="473659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7FA6CF"/>
                </a:solidFill>
                <a:latin typeface="Noto Sans CJK SC"/>
                <a:ea typeface="Noto Sans CJK SC"/>
                <a:cs typeface="Noto Sans CJK SC"/>
              </a:rPr>
              <a:t>L⁴ 范数</a:t>
            </a:r>
          </a:p>
        </p:txBody>
      </p:sp>
      <p:pic>
        <p:nvPicPr>
          <p:cNvPr id="11" name="Picture 10" descr="cover_r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74" y="5047488"/>
            <a:ext cx="2067026" cy="5334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0416" y="473659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7FA6CF"/>
                </a:solidFill>
                <a:latin typeface="Noto Sans CJK SC"/>
                <a:ea typeface="Noto Sans CJK SC"/>
                <a:cs typeface="Noto Sans CJK SC"/>
              </a:rPr>
              <a:t>L¹ 下界</a:t>
            </a:r>
          </a:p>
        </p:txBody>
      </p:sp>
      <p:pic>
        <p:nvPicPr>
          <p:cNvPr id="13" name="Picture 12" descr="cover_r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293" y="5047488"/>
            <a:ext cx="1690324" cy="55680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247197" y="4663440"/>
            <a:ext cx="9525" cy="1325880"/>
          </a:xfrm>
          <a:prstGeom prst="rect">
            <a:avLst/>
          </a:prstGeom>
          <a:solidFill>
            <a:srgbClr val="2A4A74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48765" y="4663440"/>
            <a:ext cx="9525" cy="1325880"/>
          </a:xfrm>
          <a:prstGeom prst="rect">
            <a:avLst/>
          </a:prstGeom>
          <a:solidFill>
            <a:srgbClr val="2A4A74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632764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7E97B6"/>
                </a:solidFill>
                <a:latin typeface="Noto Sans CJK SC"/>
                <a:ea typeface="Noto Sans CJK SC"/>
                <a:cs typeface="Noto Sans CJK SC"/>
              </a:rPr>
              <a:t>主讲人：＿＿＿＿＿＿　　日期：＿＿＿＿＿＿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595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01 · 问题重述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5317"/>
            <a:ext cx="10454609" cy="952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问题重述与符号说明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3502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先固定对象与记号：集合、条件、函数、目标。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加性唯一性条件下指数和的 L¹、L²、L⁴ 范数估计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6009" y="64739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02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00784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S ⊂ ℤ，|S| = N ≥ 1：N 个互不相同的整数。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03120"/>
            <a:ext cx="5532120" cy="12801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103120"/>
            <a:ext cx="41148" cy="1280160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21284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加性唯一性条件</a:t>
            </a:r>
          </a:p>
        </p:txBody>
      </p:sp>
      <p:pic>
        <p:nvPicPr>
          <p:cNvPr id="14" name="Picture 13" descr="p2_c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432304"/>
            <a:ext cx="4372573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69848" y="3054096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四元组 n₁,…,n₄ 取自 S；结论即 n₁ ∈ {n₃, n₄}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210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指数和</a:t>
            </a:r>
          </a:p>
        </p:txBody>
      </p:sp>
      <p:pic>
        <p:nvPicPr>
          <p:cNvPr id="17" name="Picture 16" descr="p2_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77056"/>
            <a:ext cx="2384869" cy="7243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4992624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x ∈ [0, 1]，以 1 为周期；f 复值，|f| 非负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93408" y="1700784"/>
            <a:ext cx="4617720" cy="310896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1424" y="17693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符号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8704" y="1769364"/>
            <a:ext cx="333755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含义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011680"/>
            <a:ext cx="4617720" cy="31546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208940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2089404"/>
            <a:ext cx="333755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整数集合，|S| =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24048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18704" y="2404872"/>
            <a:ext cx="333755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S 中的元素（k = 1,2,3,4）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3408" y="2642615"/>
            <a:ext cx="4617720" cy="31546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1424" y="2720339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8704" y="2720339"/>
            <a:ext cx="333755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指数和（复值函数）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035807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|f|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8704" y="3035807"/>
            <a:ext cx="333755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复数模（非负实值）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93408" y="3273551"/>
            <a:ext cx="4617720" cy="31546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1424" y="3351275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‖f‖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18704" y="3351275"/>
            <a:ext cx="333755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p 阶范数（p = 1, 2, 4）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21424" y="3666743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8704" y="3666743"/>
            <a:ext cx="333755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Kronecker 符号 δ(m,n)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93408" y="3904487"/>
            <a:ext cx="4617720" cy="31546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21424" y="3982211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18704" y="3982211"/>
            <a:ext cx="333755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四元组计数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8" y="45171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0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待 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93408" y="4713541"/>
            <a:ext cx="4629881" cy="952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2" name="Picture 41" descr="p2_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791456"/>
            <a:ext cx="4357487" cy="44216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693408" y="5413248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第 (2) 问要求：无论 S 如何取，下界一致成立。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595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02 · 条件解读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5317"/>
            <a:ext cx="10454609" cy="952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条件解读：无序对的唯一性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3502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条件不是说“和互不相同”，而是说“和相同 ⇒ 无序对相同”。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加性唯一性条件下指数和的 L¹、L²、L⁴ 范数估计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6009" y="64739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03 / 10</a:t>
            </a:r>
          </a:p>
        </p:txBody>
      </p:sp>
      <p:pic>
        <p:nvPicPr>
          <p:cNvPr id="10" name="Picture 9" descr="p3_equ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73936"/>
            <a:ext cx="4330487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2560320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(⇒) </a:t>
            </a:r>
            <a:r>
              <a:rPr sz="11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a+b=c+d ⇒ a=c（则 b=d）或 a=d（则 b=c）⇒ {a,b}={c,d}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(⇐) </a:t>
            </a:r>
            <a:r>
              <a:rPr sz="11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反之 {a,b}={c,d} ⇒ a=c 或 a=d，条件结论自动成立</a:t>
            </a:r>
          </a:p>
        </p:txBody>
      </p:sp>
      <p:pic>
        <p:nvPicPr>
          <p:cNvPr id="13" name="Picture 12" descr="p3_fi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84448"/>
            <a:ext cx="3907840" cy="690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4882896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原像大小 ∈ {0,1,2}：</a:t>
            </a:r>
            <a:r>
              <a:rPr sz="1100" b="1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对角 1 个，非对角 2 个。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19072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S = {0,1,3}：六个无序对 → 六个不同的和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无序对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201168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209037"/>
            <a:ext cx="3657600" cy="7620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49424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{0,0}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224942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497226"/>
            <a:ext cx="3657600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542032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{0,1}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19" y="2542032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789834"/>
            <a:ext cx="3657600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834639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{0,3}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19" y="2834639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082442"/>
            <a:ext cx="3657600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127247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{1,1}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19" y="3127247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375050"/>
            <a:ext cx="3657600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419855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{1,3}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19" y="3419855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3667658"/>
            <a:ext cx="3657600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712463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{3,3}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19" y="3712463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3960266"/>
            <a:ext cx="3657600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169663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6402D"/>
                </a:solidFill>
                <a:latin typeface="Noto Sans CJK SC"/>
                <a:ea typeface="Noto Sans CJK SC"/>
                <a:cs typeface="Noto Sans CJK SC"/>
              </a:rPr>
              <a:t>反例 S = {0,1,2}：两个无序对撞到同一个和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46227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无序对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19" y="446227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659630"/>
            <a:ext cx="3657600" cy="7620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700016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402D"/>
                </a:solidFill>
                <a:latin typeface="Noto Sans CJK SC"/>
                <a:ea typeface="Noto Sans CJK SC"/>
                <a:cs typeface="Noto Sans CJK SC"/>
              </a:rPr>
              <a:t>{0,2}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19" y="470001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402D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947818"/>
            <a:ext cx="3657600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992624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402D"/>
                </a:solidFill>
                <a:latin typeface="Noto Sans CJK SC"/>
                <a:ea typeface="Noto Sans CJK SC"/>
                <a:cs typeface="Noto Sans CJK SC"/>
              </a:rPr>
              <a:t>{1,1}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19" y="499262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6402D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5240426"/>
            <a:ext cx="3657600" cy="731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3583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402D"/>
                </a:solidFill>
                <a:latin typeface="Noto Sans CJK SC"/>
                <a:ea typeface="Noto Sans CJK SC"/>
                <a:cs typeface="Noto Sans CJK SC"/>
              </a:rPr>
              <a:t>两个不同的无序对给出同一个和，唯一性被破坏。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989320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第 6 页的因子 2 正来自这里：</a:t>
            </a:r>
            <a:r>
              <a:rPr sz="1000" b="1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非对角原像恰有两个元素 (a,b)、(b,a)。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595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03 · 第(1)问 · 思路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5317"/>
            <a:ext cx="10454609" cy="952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第(1)问思路：展开与正交性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3502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把积分翻译成计数：正交性只保留指数为 0 的项。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加性唯一性条件下指数和的 L¹、L²、L⁴ 范数估计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6009" y="64739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04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17904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①  L² 范数</a:t>
            </a:r>
          </a:p>
        </p:txBody>
      </p:sp>
      <p:pic>
        <p:nvPicPr>
          <p:cNvPr id="11" name="Picture 10" descr="p4_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662" y="1883664"/>
            <a:ext cx="2572644" cy="55564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71016" y="2743200"/>
            <a:ext cx="2103120" cy="347472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1016" y="282092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展开 N² 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279806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85615" y="2743200"/>
            <a:ext cx="2103120" cy="347472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5615" y="282092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正交性筛选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79806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216" y="2743200"/>
            <a:ext cx="2103120" cy="347472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282092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只剩对角项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79806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14815" y="2743200"/>
            <a:ext cx="2103120" cy="347472"/>
          </a:xfrm>
          <a:prstGeom prst="rect">
            <a:avLst/>
          </a:prstGeom>
          <a:solidFill>
            <a:srgbClr val="D6E5F4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4815" y="282092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得到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291840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8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②  L⁴ 范数</a:t>
            </a:r>
          </a:p>
        </p:txBody>
      </p:sp>
      <p:pic>
        <p:nvPicPr>
          <p:cNvPr id="24" name="Picture 23" descr="p4_l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659" y="3602736"/>
            <a:ext cx="3236650" cy="46790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532888" y="4517136"/>
            <a:ext cx="2103120" cy="347472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32888" y="459486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展开 N⁴ 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457200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7488" y="4517136"/>
            <a:ext cx="2103120" cy="347472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459486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积分筛选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457200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62088" y="4517136"/>
            <a:ext cx="2103120" cy="347472"/>
          </a:xfrm>
          <a:prstGeom prst="rect">
            <a:avLst/>
          </a:prstGeom>
          <a:solidFill>
            <a:srgbClr val="D6E5F4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62088" y="459486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四元组计数</a:t>
            </a:r>
          </a:p>
        </p:txBody>
      </p:sp>
      <p:pic>
        <p:nvPicPr>
          <p:cNvPr id="33" name="Picture 32" descr="p4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144" y="5120640"/>
            <a:ext cx="5221681" cy="47070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68680" y="580644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9812F"/>
                </a:solidFill>
                <a:latin typeface="Noto Sans CJK SC"/>
                <a:ea typeface="Noto Sans CJK SC"/>
                <a:cs typeface="Noto Sans CJK SC"/>
              </a:rPr>
              <a:t>核心：</a:t>
            </a:r>
            <a:r>
              <a:rPr sz="10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积分只统计指数为 0 的项；|f|⁴ 的积分 = 满足 n₁+n₂ = n₃+n₄ 的有序四元组个数 R。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595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04 · 第(1)问 · L²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5317"/>
            <a:ext cx="10454609" cy="952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第(1)问计算一：正交性与对角项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3502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逐项积分，正交性筛出 N 个对角项。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加性唯一性条件下指数和的 L¹、L²、L⁴ 范数估计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6009" y="64739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05 / 10</a:t>
            </a:r>
          </a:p>
        </p:txBody>
      </p:sp>
      <p:pic>
        <p:nvPicPr>
          <p:cNvPr id="10" name="Picture 9" descr="p5_der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5531216" cy="1459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68680" y="4224528"/>
            <a:ext cx="6903720" cy="1078992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24528"/>
            <a:ext cx="41148" cy="1078992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431596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2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正交性（k ∈ ℤ）</a:t>
            </a:r>
          </a:p>
        </p:txBody>
      </p:sp>
      <p:pic>
        <p:nvPicPr>
          <p:cNvPr id="14" name="Picture 13" descr="p5_or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480560"/>
            <a:ext cx="2142591" cy="47786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485632" y="1847088"/>
            <a:ext cx="365760" cy="365760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9248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9972" y="184708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9972" y="19248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54311" y="184708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1" y="19248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8652" y="184708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8652" y="19248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22992" y="184708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19248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85632" y="228142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235915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9972" y="2281428"/>
            <a:ext cx="365760" cy="365760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9972" y="235915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54311" y="228142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54311" y="235915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8652" y="228142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8652" y="235915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22992" y="228142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22992" y="235915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85632" y="271576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5632" y="27934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9972" y="271576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9972" y="27934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54311" y="2715768"/>
            <a:ext cx="365760" cy="365760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54311" y="27934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8652" y="271576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8652" y="27934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22992" y="271576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22992" y="279349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85632" y="315010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322783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19972" y="315010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19972" y="322783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54311" y="315010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54311" y="322783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88652" y="3150108"/>
            <a:ext cx="365760" cy="365760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8652" y="322783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22992" y="315010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22992" y="322783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85632" y="358444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85632" y="36621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19972" y="358444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19972" y="36621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54311" y="358444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54311" y="36621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88652" y="3584448"/>
            <a:ext cx="365760" cy="36576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88652" y="36621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9C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22992" y="3584448"/>
            <a:ext cx="365760" cy="365760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22992" y="36621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94192" y="40462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N×N 项中只有对角 N 项存活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1040" y="4224528"/>
            <a:ext cx="30175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A9812F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85632" y="4334256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A9812F"/>
                </a:solidFill>
                <a:latin typeface="Noto Sans CJK SC"/>
                <a:ea typeface="Noto Sans CJK SC"/>
                <a:cs typeface="Noto Sans CJK SC"/>
              </a:rPr>
              <a:t>结 果</a:t>
            </a:r>
          </a:p>
        </p:txBody>
      </p:sp>
      <p:pic>
        <p:nvPicPr>
          <p:cNvPr id="68" name="Picture 67" descr="p5_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535424"/>
            <a:ext cx="1887617" cy="59622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68680" y="563270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Parseval 视角：</a:t>
            </a:r>
            <a:r>
              <a:rPr sz="9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f̂(n) = 1_S(n)，故 ‖f‖₂² = Σ|f̂(n)|² = N；这一步与加性唯一性条件无关。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595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05 · 第(1)问 · L⁴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5317"/>
            <a:ext cx="10454609" cy="952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第(1)问计算二：四元组分类计数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3502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固定有序对 (n₁,n₂)，按对角 / 非对角分类计数。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加性唯一性条件下指数和的 L¹、L²、L⁴ 范数估计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6009" y="64739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06 / 10</a:t>
            </a:r>
          </a:p>
        </p:txBody>
      </p:sp>
      <p:pic>
        <p:nvPicPr>
          <p:cNvPr id="10" name="Picture 9" descr="p6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00784"/>
            <a:ext cx="5912192" cy="110094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68680" y="3127248"/>
          <a:ext cx="6949439" cy="1691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1874519"/>
                <a:gridCol w="1508760"/>
                <a:gridCol w="1600200"/>
              </a:tblGrid>
              <a:tr h="42291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情形</a:t>
                      </a:r>
                    </a:p>
                  </a:txBody>
                  <a:tcPr marL="109728" marR="109728" marT="27432" marB="27432" anchor="ctr">
                    <a:solidFill>
                      <a:srgbClr val="0B24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有序对 (n₁,n₂)</a:t>
                      </a:r>
                    </a:p>
                  </a:txBody>
                  <a:tcPr marL="109728" marR="109728" marT="27432" marB="27432" anchor="ctr">
                    <a:solidFill>
                      <a:srgbClr val="0B24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每个的解数</a:t>
                      </a:r>
                    </a:p>
                  </a:txBody>
                  <a:tcPr marL="109728" marR="109728" marT="27432" marB="27432" anchor="ctr">
                    <a:solidFill>
                      <a:srgbClr val="0B24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贡献</a:t>
                      </a:r>
                    </a:p>
                  </a:txBody>
                  <a:tcPr marL="109728" marR="109728" marT="27432" marB="27432" anchor="ctr">
                    <a:solidFill>
                      <a:srgbClr val="0B2447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65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对角  n₁ = n₂</a:t>
                      </a:r>
                    </a:p>
                  </a:txBody>
                  <a:tcPr marL="109728" marR="109728" marT="27432" marB="27432" anchor="ctr">
                    <a:lnB w="9525" cap="flat" cmpd="sng" algn="ctr">
                      <a:solidFill>
                        <a:srgbClr val="D4DEEA"/>
                      </a:solidFill>
                      <a:prstDash val="soli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65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</a:t>
                      </a:r>
                    </a:p>
                  </a:txBody>
                  <a:tcPr marL="109728" marR="109728" marT="27432" marB="27432" anchor="ctr">
                    <a:lnB w="9525" cap="flat" cmpd="sng" algn="ctr">
                      <a:solidFill>
                        <a:srgbClr val="D4DEEA"/>
                      </a:solidFill>
                      <a:prstDash val="soli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65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B w="9525" cap="flat" cmpd="sng" algn="ctr">
                      <a:solidFill>
                        <a:srgbClr val="D4DEEA"/>
                      </a:solidFill>
                      <a:prstDash val="soli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65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</a:t>
                      </a:r>
                    </a:p>
                  </a:txBody>
                  <a:tcPr marL="109728" marR="109728" marT="27432" marB="27432" anchor="ctr">
                    <a:lnB w="9525" cap="flat" cmpd="sng" algn="ctr">
                      <a:solidFill>
                        <a:srgbClr val="D4DEEA"/>
                      </a:solidFill>
                      <a:prstDash val="solid"/>
                    </a:lnB>
                    <a:solidFill>
                      <a:srgbClr val="F8FAFD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65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非对角  n₁ ≠ n₂</a:t>
                      </a:r>
                    </a:p>
                  </a:txBody>
                  <a:tcPr marL="109728" marR="109728" marT="27432" marB="27432" anchor="ctr">
                    <a:lnB w="9525" cap="flat" cmpd="sng" algn="ctr">
                      <a:solidFill>
                        <a:srgbClr val="D4DEEA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65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N(N−1)</a:t>
                      </a:r>
                    </a:p>
                  </a:txBody>
                  <a:tcPr marL="109728" marR="109728" marT="27432" marB="27432" anchor="ctr">
                    <a:lnB w="9525" cap="flat" cmpd="sng" algn="ctr">
                      <a:solidFill>
                        <a:srgbClr val="D4DEEA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65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B w="9525" cap="flat" cmpd="sng" algn="ctr">
                      <a:solidFill>
                        <a:srgbClr val="D4DEEA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65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2N(N−1)</a:t>
                      </a:r>
                    </a:p>
                  </a:txBody>
                  <a:tcPr marL="109728" marR="109728" marT="27432" marB="27432" anchor="ctr">
                    <a:lnB w="9525" cap="flat" cmpd="sng" algn="ctr">
                      <a:solidFill>
                        <a:srgbClr val="D4DEEA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65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合计</a:t>
                      </a:r>
                    </a:p>
                  </a:txBody>
                  <a:tcPr marL="109728" marR="109728" marT="27432" marB="27432" anchor="ctr">
                    <a:lnB w="9525" cap="flat" cmpd="sng" algn="ctr">
                      <a:solidFill>
                        <a:srgbClr val="D4DEEA"/>
                      </a:solidFill>
                      <a:prstDash val="soli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65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N²</a:t>
                      </a:r>
                    </a:p>
                  </a:txBody>
                  <a:tcPr marL="109728" marR="109728" marT="27432" marB="27432" anchor="ctr">
                    <a:lnB w="9525" cap="flat" cmpd="sng" algn="ctr">
                      <a:solidFill>
                        <a:srgbClr val="D4DEEA"/>
                      </a:solidFill>
                      <a:prstDash val="soli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65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B w="9525" cap="flat" cmpd="sng" algn="ctr">
                      <a:solidFill>
                        <a:srgbClr val="D4DEEA"/>
                      </a:solidFill>
                      <a:prstDash val="solid"/>
                    </a:lnB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33465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2N² − N</a:t>
                      </a:r>
                    </a:p>
                  </a:txBody>
                  <a:tcPr marL="109728" marR="109728" marT="27432" marB="27432" anchor="ctr">
                    <a:lnB w="9525" cap="flat" cmpd="sng" algn="ctr">
                      <a:solidFill>
                        <a:srgbClr val="D4DEEA"/>
                      </a:solidFill>
                      <a:prstDash val="solid"/>
                    </a:lnB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p6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937760"/>
            <a:ext cx="3919296" cy="68051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183879" y="3182112"/>
            <a:ext cx="3136392" cy="100584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3182112"/>
            <a:ext cx="41148" cy="1005840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2735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对 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112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a + a = 2a：只有 (a,a) 一个解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331012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6E9BC8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4315968"/>
            <a:ext cx="3136392" cy="100584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4315968"/>
            <a:ext cx="41148" cy="1005840"/>
          </a:xfrm>
          <a:prstGeom prst="rect">
            <a:avLst/>
          </a:prstGeom>
          <a:solidFill>
            <a:srgbClr val="A9812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40740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A9812F"/>
                </a:solidFill>
                <a:latin typeface="Noto Sans CJK SC"/>
                <a:ea typeface="Noto Sans CJK SC"/>
                <a:cs typeface="Noto Sans CJK SC"/>
              </a:rPr>
              <a:t>非 对 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6451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a + b：交换次序得到两个解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4443984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9A96A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4360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核验：</a:t>
            </a:r>
            <a:r>
              <a:rPr sz="9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N=1 → 1｜S={0,1} → 6｜S={0,1,3} → 15；非 Sidon 的 S={0,1,2} 得 19 &gt; 15，条件使 L⁴ 取到最小值。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595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06 · 第(2)问 · 思路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5317"/>
            <a:ext cx="10454609" cy="952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第(2)问思路：用插值反解 L¹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3502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由 L²、L⁴ 两个矩，从下方顶住 L¹。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加性唯一性条件下指数和的 L¹、L²、L⁴ 范数估计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6009" y="64739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07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700784"/>
            <a:ext cx="4892040" cy="47548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7922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已知  </a:t>
            </a: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∫|f|² = N，∫|f|⁴ = 2N² − 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700784"/>
            <a:ext cx="5239512" cy="475488"/>
          </a:xfrm>
          <a:prstGeom prst="rect">
            <a:avLst/>
          </a:prstGeom>
          <a:solidFill>
            <a:srgbClr val="F5EED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79222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9812F"/>
                </a:solidFill>
                <a:latin typeface="Noto Sans CJK SC"/>
                <a:ea typeface="Noto Sans CJK SC"/>
                <a:cs typeface="Noto Sans CJK SC"/>
              </a:rPr>
              <a:t>待证  </a:t>
            </a:r>
            <a:r>
              <a:rPr sz="11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∫|f| ≥ 1/(2√N)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377440"/>
            <a:ext cx="3063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4DEEA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2377440"/>
            <a:ext cx="41148" cy="1417320"/>
          </a:xfrm>
          <a:prstGeom prst="rect">
            <a:avLst/>
          </a:prstGeom>
          <a:solidFill>
            <a:srgbClr val="A6402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246888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A6402D"/>
                </a:solidFill>
                <a:latin typeface="Noto Sans CJK SC"/>
                <a:ea typeface="Noto Sans CJK SC"/>
                <a:cs typeface="Noto Sans CJK SC"/>
              </a:rPr>
              <a:t>方向陷阱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724912"/>
            <a:ext cx="272491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Cauchy–Schwarz 只给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‖f‖₁ ≤ ‖f‖₂ = √N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402D"/>
                </a:solidFill>
                <a:latin typeface="Noto Sans CJK SC"/>
                <a:ea typeface="Noto Sans CJK SC"/>
                <a:cs typeface="Noto Sans CJK SC"/>
              </a:rPr>
              <a:t>这是上界，方向反了。</a:t>
            </a:r>
          </a:p>
        </p:txBody>
      </p:sp>
      <p:pic>
        <p:nvPicPr>
          <p:cNvPr id="18" name="Picture 17" descr="p7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2304288"/>
            <a:ext cx="3293640" cy="44259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315968" y="3303778"/>
            <a:ext cx="4416552" cy="12700"/>
          </a:xfrm>
          <a:prstGeom prst="rect">
            <a:avLst/>
          </a:prstGeom>
          <a:solidFill>
            <a:srgbClr val="B9C8D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29809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1/p 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08347" y="3218688"/>
            <a:ext cx="15240" cy="182880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95928" y="34381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1/4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0532" y="3218688"/>
            <a:ext cx="15240" cy="182880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8112" y="34381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1/2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24900" y="3218688"/>
            <a:ext cx="15240" cy="182880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4381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37860" y="3259836"/>
            <a:ext cx="100584" cy="100584"/>
          </a:xfrm>
          <a:prstGeom prst="rect">
            <a:avLst/>
          </a:prstGeom>
          <a:solidFill>
            <a:srgbClr val="A9812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9512" y="367588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9812F"/>
                </a:solidFill>
                <a:latin typeface="Noto Sans CJK SC"/>
                <a:ea typeface="Noto Sans CJK SC"/>
                <a:cs typeface="Noto Sans CJK SC"/>
              </a:rPr>
              <a:t>θ = 1/3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498848"/>
            <a:ext cx="10451592" cy="12984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" y="4498848"/>
            <a:ext cx="41148" cy="1298448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" y="4590288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引理（Hölder 插值 / 对数凸性）</a:t>
            </a:r>
          </a:p>
        </p:txBody>
      </p:sp>
      <p:pic>
        <p:nvPicPr>
          <p:cNvPr id="32" name="Picture 31" descr="p7_lem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846320"/>
            <a:ext cx="5507069" cy="97863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68680" y="59618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指数不是猜的：</a:t>
            </a:r>
            <a:r>
              <a:rPr sz="9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解方程 1/2 = θ·1 + (1−θ)/4 得 θ = 1/3，再立方即可反解出 L¹ 的下界。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595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07 · 第(2)问 · 证明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5317"/>
            <a:ext cx="10454609" cy="952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第(2)问证明：插值下界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3502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Hölder 拆分 → 代入 → 立方 → 开方 → 放缩。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加性唯一性条件下指数和的 L¹、L²、L⁴ 范数估计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6009" y="64739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08 /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737360"/>
            <a:ext cx="274320" cy="274320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69363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pic>
        <p:nvPicPr>
          <p:cNvPr id="12" name="Picture 11" descr="p8_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1700784"/>
            <a:ext cx="4316379" cy="126571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68680" y="3240816"/>
            <a:ext cx="274320" cy="274320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728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pic>
        <p:nvPicPr>
          <p:cNvPr id="15" name="Picture 14" descr="p8_chai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3204240"/>
            <a:ext cx="6196707" cy="47733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68680" y="4047334"/>
            <a:ext cx="274320" cy="274320"/>
          </a:xfrm>
          <a:prstGeom prst="rect">
            <a:avLst/>
          </a:prstGeom>
          <a:solidFill>
            <a:srgbClr val="2C5F9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79338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pic>
        <p:nvPicPr>
          <p:cNvPr id="18" name="Picture 17" descr="p8_chai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4010758"/>
            <a:ext cx="4559731" cy="69387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412480" y="2148840"/>
            <a:ext cx="290779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A9812F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22402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A9812F"/>
                </a:solidFill>
                <a:latin typeface="Noto Sans CJK SC"/>
                <a:ea typeface="Noto Sans CJK SC"/>
                <a:cs typeface="Noto Sans CJK SC"/>
              </a:rPr>
              <a:t>结 论</a:t>
            </a:r>
          </a:p>
        </p:txBody>
      </p:sp>
      <p:pic>
        <p:nvPicPr>
          <p:cNvPr id="21" name="Picture 20" descr="p8_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523744"/>
            <a:ext cx="1889185" cy="62231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93024" y="3913632"/>
            <a:ext cx="3127248" cy="96012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400507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0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每一步的依据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422452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① Hölder（共轭指数 3/2, 3）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② 代入 N、2N²−N　③ 立方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④ √(2N−1) ≤ √(2N)，2N ≥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230368"/>
            <a:ext cx="10451592" cy="877824"/>
          </a:xfrm>
          <a:prstGeom prst="rect">
            <a:avLst/>
          </a:prstGeom>
          <a:solidFill>
            <a:srgbClr val="F6F8FB"/>
          </a:solidFill>
          <a:ln w="9525">
            <a:solidFill>
              <a:srgbClr val="D4DEEA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321808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A9812F"/>
                </a:solidFill>
                <a:latin typeface="Noto Sans CJK SC"/>
                <a:ea typeface="Noto Sans CJK SC"/>
                <a:cs typeface="Noto Sans CJK SC"/>
              </a:rPr>
              <a:t>加强说明（不替代原证明）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41264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实际得到更强估计，对 N ≥ 1 比题目要求强至少 N 倍；题目下界只是它的宽松推论。</a:t>
            </a:r>
          </a:p>
        </p:txBody>
      </p:sp>
      <p:pic>
        <p:nvPicPr>
          <p:cNvPr id="28" name="Picture 27" descr="p8_stro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5358384"/>
            <a:ext cx="2520924" cy="5204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8680" y="6217920"/>
            <a:ext cx="10424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N = 1 时 S = {n}，|f| ≡ 1，三个积分都为 1，结论与加强估计同时取等号。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8FAF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65760"/>
            <a:ext cx="8595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08 · 方法与易错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635317"/>
            <a:ext cx="10454609" cy="9525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68096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方法总结与易错点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3502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三条主线，四个陷阱。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7395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加性唯一性条件下指数和的 L¹、L²、L⁴ 范数估计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26009" y="64739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93A2B4"/>
                </a:solidFill>
                <a:latin typeface="Noto Sans CJK SC"/>
                <a:ea typeface="Noto Sans CJK SC"/>
                <a:cs typeface="Noto Sans CJK SC"/>
              </a:rPr>
              <a:t>09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82496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三条主线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9BC8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202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正交性 → L²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31136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指数为 0 的项才存活，只剩 N 个对角项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540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9BC8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3580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Sidon 计数 → L⁴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46704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对角 1 个、非对角 2 个，R = 2N² −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9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9BC8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5137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Hölder 插值 → L¹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6227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θ = 1/3 由 1/2 = θ + (1−θ)/4 解出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65685" y="1700784"/>
            <a:ext cx="9525" cy="3255263"/>
          </a:xfrm>
          <a:prstGeom prst="rect">
            <a:avLst/>
          </a:prstGeom>
          <a:solidFill>
            <a:srgbClr val="D4DEEA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1682496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A6402D"/>
                </a:solidFill>
                <a:latin typeface="Noto Sans CJK SC"/>
                <a:ea typeface="Noto Sans CJK SC"/>
                <a:cs typeface="Noto Sans CJK SC"/>
              </a:rPr>
              <a:t>四个陷阱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1984248"/>
            <a:ext cx="91440" cy="91440"/>
          </a:xfrm>
          <a:prstGeom prst="rect">
            <a:avLst/>
          </a:prstGeom>
          <a:solidFill>
            <a:srgbClr val="A6402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89280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因子 2 到处加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67128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对角项 (a,a) 交换后不变，系数是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2734056"/>
            <a:ext cx="91440" cy="91440"/>
          </a:xfrm>
          <a:prstGeom prst="rect">
            <a:avLst/>
          </a:prstGeom>
          <a:solidFill>
            <a:srgbClr val="A6402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64261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有序对 / 无序对混用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1693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非对角无序对贡献 4 个有序四元组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3483864"/>
            <a:ext cx="91440" cy="91440"/>
          </a:xfrm>
          <a:prstGeom prst="rect">
            <a:avLst/>
          </a:prstGeom>
          <a:solidFill>
            <a:srgbClr val="A6402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39242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用 Cauchy–Schwarz 证下界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6674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它给的是上界，方向反了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4233672"/>
            <a:ext cx="91440" cy="91440"/>
          </a:xfrm>
          <a:prstGeom prst="rect">
            <a:avLst/>
          </a:prstGeom>
          <a:solidFill>
            <a:srgbClr val="A6402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14223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202F"/>
                </a:solidFill>
                <a:latin typeface="Noto Sans CJK SC"/>
                <a:ea typeface="Noto Sans CJK SC"/>
                <a:cs typeface="Noto Sans CJK SC"/>
              </a:rPr>
              <a:t>忘记 N = 1 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1655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S = {n} 时三个积分都是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4846320"/>
            <a:ext cx="10451592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4DEEA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8680" y="4846320"/>
            <a:ext cx="41148" cy="475488"/>
          </a:xfrm>
          <a:prstGeom prst="rect">
            <a:avLst/>
          </a:prstGeom>
          <a:solidFill>
            <a:srgbClr val="A9812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6" y="49560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9812F"/>
                </a:solidFill>
                <a:latin typeface="Noto Sans CJK SC"/>
                <a:ea typeface="Noto Sans CJK SC"/>
                <a:cs typeface="Noto Sans CJK SC"/>
              </a:rPr>
              <a:t>一句话：</a:t>
            </a:r>
            <a:r>
              <a:rPr sz="10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唯一性条件把“和”的原像压到 1 或 2，积分随即变成可数的组合计数，再用插值接到 L¹。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468112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80">
                <a:solidFill>
                  <a:srgbClr val="66788D"/>
                </a:solidFill>
                <a:latin typeface="Noto Sans CJK SC"/>
                <a:ea typeface="Noto Sans CJK SC"/>
                <a:cs typeface="Noto Sans CJK SC"/>
              </a:rPr>
              <a:t>证明链条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5705856"/>
            <a:ext cx="1417320" cy="329184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76986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条件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75157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96896" y="5705856"/>
            <a:ext cx="1417320" cy="329184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96896" y="576986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展开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4215" y="575157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5112" y="5705856"/>
            <a:ext cx="1417320" cy="329184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25112" y="576986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积分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42431" y="575157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53327" y="5705856"/>
            <a:ext cx="1417320" cy="329184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53327" y="576986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计数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70648" y="575157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81544" y="5705856"/>
            <a:ext cx="1417320" cy="329184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81544" y="576986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3465C"/>
                </a:solidFill>
                <a:latin typeface="Noto Sans CJK SC"/>
                <a:ea typeface="Noto Sans CJK SC"/>
                <a:cs typeface="Noto Sans CJK SC"/>
              </a:rPr>
              <a:t>不等式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8864" y="575157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C5F97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5705856"/>
            <a:ext cx="1417320" cy="329184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60" y="576986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结论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2447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9812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0350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300">
                <a:solidFill>
                  <a:srgbClr val="7FA6CF"/>
                </a:solidFill>
                <a:latin typeface="Noto Sans CJK SC"/>
                <a:ea typeface="Noto Sans CJK SC"/>
                <a:cs typeface="Noto Sans CJK SC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9264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核心结论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45920"/>
            <a:ext cx="1463040" cy="27432"/>
          </a:xfrm>
          <a:prstGeom prst="rect">
            <a:avLst/>
          </a:prstGeom>
          <a:solidFill>
            <a:srgbClr val="A9812F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29968"/>
            <a:ext cx="3246120" cy="1874519"/>
          </a:xfrm>
          <a:prstGeom prst="rect">
            <a:avLst/>
          </a:prstGeom>
          <a:solidFill>
            <a:srgbClr val="122E52"/>
          </a:solidFill>
          <a:ln w="9525">
            <a:solidFill>
              <a:srgbClr val="2A4A74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2128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7FA6CF"/>
                </a:solidFill>
                <a:latin typeface="Noto Sans CJK SC"/>
                <a:ea typeface="Noto Sans CJK SC"/>
                <a:cs typeface="Noto Sans CJK SC"/>
              </a:rPr>
              <a:t>L² 范数</a:t>
            </a:r>
          </a:p>
        </p:txBody>
      </p:sp>
      <p:pic>
        <p:nvPicPr>
          <p:cNvPr id="9" name="Picture 8" descr="p10_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77" y="2614873"/>
            <a:ext cx="1726269" cy="6589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4712" y="35844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FB6D0"/>
                </a:solidFill>
                <a:latin typeface="Noto Sans CJK SC"/>
                <a:ea typeface="Noto Sans CJK SC"/>
                <a:cs typeface="Noto Sans CJK SC"/>
              </a:rPr>
              <a:t>正交性 · 对角项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2029968"/>
            <a:ext cx="3246120" cy="1874519"/>
          </a:xfrm>
          <a:prstGeom prst="rect">
            <a:avLst/>
          </a:prstGeom>
          <a:solidFill>
            <a:srgbClr val="122E52"/>
          </a:solidFill>
          <a:ln w="9525">
            <a:solidFill>
              <a:srgbClr val="2A4A74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2128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7FA6CF"/>
                </a:solidFill>
                <a:latin typeface="Noto Sans CJK SC"/>
                <a:ea typeface="Noto Sans CJK SC"/>
                <a:cs typeface="Noto Sans CJK SC"/>
              </a:rPr>
              <a:t>L⁴ 范数</a:t>
            </a:r>
          </a:p>
        </p:txBody>
      </p:sp>
      <p:pic>
        <p:nvPicPr>
          <p:cNvPr id="13" name="Picture 12" descr="p10_l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915" y="2614873"/>
            <a:ext cx="2553385" cy="6589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36008" y="35844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FB6D0"/>
                </a:solidFill>
                <a:latin typeface="Noto Sans CJK SC"/>
                <a:ea typeface="Noto Sans CJK SC"/>
                <a:cs typeface="Noto Sans CJK SC"/>
              </a:rPr>
              <a:t>唯一性 + 有序对计数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1271" y="2029968"/>
            <a:ext cx="3246120" cy="1874519"/>
          </a:xfrm>
          <a:prstGeom prst="rect">
            <a:avLst/>
          </a:prstGeom>
          <a:solidFill>
            <a:srgbClr val="122E52"/>
          </a:solidFill>
          <a:ln w="9525">
            <a:solidFill>
              <a:srgbClr val="2A4A74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3" y="22128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7FA6CF"/>
                </a:solidFill>
                <a:latin typeface="Noto Sans CJK SC"/>
                <a:ea typeface="Noto Sans CJK SC"/>
                <a:cs typeface="Noto Sans CJK SC"/>
              </a:rPr>
              <a:t>L¹ 下界</a:t>
            </a:r>
          </a:p>
        </p:txBody>
      </p:sp>
      <p:pic>
        <p:nvPicPr>
          <p:cNvPr id="17" name="Picture 16" descr="p10_l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880" y="2600458"/>
            <a:ext cx="2088047" cy="68781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47303" y="358444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FB6D0"/>
                </a:solidFill>
                <a:latin typeface="Noto Sans CJK SC"/>
                <a:ea typeface="Noto Sans CJK SC"/>
                <a:cs typeface="Noto Sans CJK SC"/>
              </a:rPr>
              <a:t>Hölder 插值 · θ = 1/3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7D8EA"/>
                </a:solidFill>
                <a:latin typeface="Noto Sans CJK SC"/>
                <a:ea typeface="Noto Sans CJK SC"/>
                <a:cs typeface="Noto Sans CJK SC"/>
              </a:rPr>
              <a:t>唯一性条件  →  每个和的原像 ≤ 2 个  →  L⁴ 可精确计数  →  与 L² 一起锁定 L¹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042725"/>
            <a:ext cx="10454609" cy="9525"/>
          </a:xfrm>
          <a:prstGeom prst="rect">
            <a:avLst/>
          </a:prstGeom>
          <a:solidFill>
            <a:srgbClr val="2A4A74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85232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60">
                <a:solidFill>
                  <a:srgbClr val="8FA8C6"/>
                </a:solidFill>
                <a:latin typeface="Noto Sans CJK SC"/>
                <a:ea typeface="Noto Sans CJK SC"/>
                <a:cs typeface="Noto Sans CJK SC"/>
              </a:rPr>
              <a:t>方法关键词：正交性　·　Sidon 计数　·　对数凸性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0">
                <a:solidFill>
                  <a:srgbClr val="7E97B6"/>
                </a:solidFill>
                <a:latin typeface="Noto Sans CJK SC"/>
                <a:ea typeface="Noto Sans CJK SC"/>
                <a:cs typeface="Noto Sans CJK SC"/>
              </a:rPr>
              <a:t>谢谢观看｜欢迎提问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