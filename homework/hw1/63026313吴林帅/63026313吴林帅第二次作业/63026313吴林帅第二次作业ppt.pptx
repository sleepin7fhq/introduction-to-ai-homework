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(m,n)=(2,5)</c:v>
                </c:pt>
              </c:strCache>
            </c:strRef>
          </c:tx>
          <c:spPr>
            <a:ln w="25400" cap="rnd" cmpd="sng" algn="ctr">
              <a:solidFill>
                <a:srgbClr val="167D8D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167D8D"/>
              </a:solidFill>
              <a:ln w="9525" cap="flat" cmpd="sng" algn="ctr">
                <a:solidFill>
                  <a:srgbClr val="167D8D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10⁻¹</c:v>
                </c:pt>
                <c:pt idx="1">
                  <c:v>10⁻²</c:v>
                </c:pt>
                <c:pt idx="2">
                  <c:v>10⁻³</c:v>
                </c:pt>
                <c:pt idx="3">
                  <c:v>10⁻⁴</c:v>
                </c:pt>
                <c:pt idx="4">
                  <c:v>10⁻⁵</c:v>
                </c:pt>
                <c:pt idx="5">
                  <c:v>10⁻⁶</c:v>
                </c:pt>
                <c:pt idx="6">
                  <c:v>10⁻⁷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23.832</c:v>
                </c:pt>
                <c:pt idx="1">
                  <c:v>15.808032</c:v>
                </c:pt>
                <c:pt idx="2">
                  <c:v>15.080080032</c:v>
                </c:pt>
                <c:pt idx="3">
                  <c:v>15.008000800032</c:v>
                </c:pt>
                <c:pt idx="4">
                  <c:v>15.000800008</c:v>
                </c:pt>
                <c:pt idx="5">
                  <c:v>15.00008000008</c:v>
                </c:pt>
                <c:pt idx="6">
                  <c:v>15.0000080000008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(m,n)=(4,1)</c:v>
                </c:pt>
              </c:strCache>
            </c:strRef>
          </c:tx>
          <c:spPr>
            <a:ln w="25400" cap="rnd" cmpd="sng" algn="ctr">
              <a:solidFill>
                <a:srgbClr val="C06B4F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C06B4F"/>
              </a:solidFill>
              <a:ln w="9525" cap="flat" cmpd="sng" algn="ctr">
                <a:solidFill>
                  <a:srgbClr val="C06B4F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10⁻¹</c:v>
                </c:pt>
                <c:pt idx="1">
                  <c:v>10⁻²</c:v>
                </c:pt>
                <c:pt idx="2">
                  <c:v>10⁻³</c:v>
                </c:pt>
                <c:pt idx="3">
                  <c:v>10⁻⁴</c:v>
                </c:pt>
                <c:pt idx="4">
                  <c:v>10⁻⁵</c:v>
                </c:pt>
                <c:pt idx="5">
                  <c:v>10⁻⁶</c:v>
                </c:pt>
                <c:pt idx="6">
                  <c:v>10⁻⁷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-6.41</c:v>
                </c:pt>
                <c:pt idx="1">
                  <c:v>-6.0401</c:v>
                </c:pt>
                <c:pt idx="2">
                  <c:v>-6.004001</c:v>
                </c:pt>
                <c:pt idx="3">
                  <c:v>-6.00040001</c:v>
                </c:pt>
                <c:pt idx="4">
                  <c:v>-6.0000400001</c:v>
                </c:pt>
                <c:pt idx="5">
                  <c:v>-6.000004000001</c:v>
                </c:pt>
                <c:pt idx="6">
                  <c:v>-6.00000040000001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(m,n)=(3,3)</c:v>
                </c:pt>
              </c:strCache>
            </c:strRef>
          </c:tx>
          <c:spPr>
            <a:ln w="25400" cap="rnd" cmpd="sng" algn="ctr">
              <a:solidFill>
                <a:srgbClr val="C9A227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C9A227"/>
              </a:solidFill>
              <a:ln w="9525" cap="flat" cmpd="sng" algn="ctr">
                <a:solidFill>
                  <a:srgbClr val="C9A227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10⁻¹</c:v>
                </c:pt>
                <c:pt idx="1">
                  <c:v>10⁻²</c:v>
                </c:pt>
                <c:pt idx="2">
                  <c:v>10⁻³</c:v>
                </c:pt>
                <c:pt idx="3">
                  <c:v>10⁻⁴</c:v>
                </c:pt>
                <c:pt idx="4">
                  <c:v>10⁻⁵</c:v>
                </c:pt>
                <c:pt idx="5">
                  <c:v>10⁻⁶</c:v>
                </c:pt>
                <c:pt idx="6">
                  <c:v>10⁻⁷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B7C8D2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0313D"/>
                </a:solidFill>
                <a:latin typeface="Aptos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5"/>
          <c:min val="-10"/>
        </c:scaling>
        <c:delete val="0"/>
        <c:axPos val="l"/>
        <c:majorGridlines>
          <c:spPr>
            <a:ln w="9525" cap="flat" cmpd="sng" algn="ctr">
              <a:solidFill>
                <a:srgbClr val="DCE7E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B7C8D2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0313D"/>
                </a:solidFill>
                <a:latin typeface="Aptos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  <c:majorUnit val="5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20313D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f33e768-dd68-45d8-917f-3a5c337dbc18}"/>
      </c:ext>
    </c:extLst>
  </c:chart>
  <c:txPr>
    <a:bodyPr/>
    <a:lstStyle/>
    <a:p>
      <a:pPr>
        <a:defRPr lang="zh-CN" sz="1000">
          <a:solidFill>
            <a:srgbClr val="20313D"/>
          </a:solidFill>
          <a:latin typeface="Aptos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二项式展开的关键是阶数：分母是 x²，所以保留到 x²。一阶项相同，必然抵消；二阶系数直接给出答案。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洛必达的本质是连续两次比较阶数。第一次求导后仍为 0/0，第二次分母变成常数 2，才能代入。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先取对数把幂变成指数，再用 e^w−1~w 和 ln(1+t) 的展开。注意保留 ln 的二次项，否则一阶项会抵消。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MVT 把 e^u−e^v 写成 e^ξ(u−v)。ξ 被 u、v 夹住，所以 ξ→0；这比等价无穷小更严谨。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411480"/>
            <a:ext cx="448056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3000" b="1" i="0">
                <a:solidFill>
                  <a:srgbClr val="173E5C">
                    <a:alpha val="55000"/>
                  </a:srgbClr>
                </a:solidFill>
                <a:latin typeface="Cambria Math" panose="02040503050406030204"/>
                <a:ea typeface="Cambria Math" panose="02040503050406030204"/>
              </a:rPr>
              <a:t>lim</a:t>
            </a:r>
            <a:endParaRPr sz="23000" b="1" i="0">
              <a:solidFill>
                <a:srgbClr val="173E5C">
                  <a:alpha val="55000"/>
                </a:srgbClr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0D58C"/>
                </a:solidFill>
                <a:latin typeface="Aptos"/>
                <a:ea typeface="Aptos"/>
              </a:rPr>
              <a:t>COURSE NOTE  /  LIMIT 06</a:t>
            </a:r>
            <a:endParaRPr sz="1000" b="1" i="0">
              <a:solidFill>
                <a:srgbClr val="F0D58C"/>
              </a:solidFill>
              <a:latin typeface="Aptos"/>
              <a:ea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当一阶项相消之后</a:t>
            </a:r>
            <a:endParaRPr sz="4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2139696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D7E6EE"/>
                </a:solidFill>
                <a:latin typeface="微软雅黑" panose="020B0503020204020204" charset="-122"/>
                <a:ea typeface="微软雅黑" panose="020B0503020204020204" charset="-122"/>
              </a:rPr>
              <a:t>一道含参极限题的四种解法与代码验证</a:t>
            </a:r>
            <a:endParaRPr sz="1900" b="0" i="0">
              <a:solidFill>
                <a:srgbClr val="D7E6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713232" y="2944368"/>
            <a:ext cx="9070848" cy="0"/>
          </a:xfrm>
          <a:prstGeom prst="line">
            <a:avLst/>
          </a:prstGeom>
          <a:ln w="2032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318211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AFC4D1"/>
                </a:solidFill>
                <a:latin typeface="微软雅黑" panose="020B0503020204020204" charset="-122"/>
                <a:ea typeface="微软雅黑" panose="020B0503020204020204" charset="-122"/>
              </a:rPr>
              <a:t>二项式展开  ·  洛必达  ·  取对数  ·  拉格朗日中值定理</a:t>
            </a:r>
            <a:endParaRPr sz="1200" b="0" i="0">
              <a:solidFill>
                <a:srgbClr val="AFC4D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913632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0D58C"/>
                </a:solidFill>
                <a:latin typeface="Cambria Math" panose="02040503050406030204"/>
                <a:ea typeface="Cambria Math" panose="02040503050406030204"/>
              </a:rPr>
              <a:t>L = ½ · mn(n − m)</a:t>
            </a:r>
            <a:endParaRPr sz="2700" b="1" i="0">
              <a:solidFill>
                <a:srgbClr val="F0D58C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60533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8FA6B3"/>
                </a:solidFill>
                <a:latin typeface="微软雅黑" panose="020B0503020204020204" charset="-122"/>
                <a:ea typeface="微软雅黑" panose="020B0503020204020204" charset="-122"/>
              </a:rPr>
              <a:t>《工科数学分析习题册（第二版）》  ·  第 6 题</a:t>
            </a:r>
            <a:endParaRPr sz="1000" b="0" i="0">
              <a:solidFill>
                <a:srgbClr val="8FA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18320" y="605332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FA6B3"/>
                </a:solidFill>
                <a:latin typeface="微软雅黑" panose="020B0503020204020204" charset="-122"/>
                <a:ea typeface="微软雅黑" panose="020B0503020204020204" charset="-122"/>
              </a:rPr>
              <a:t>2026 · 教学整理</a:t>
            </a:r>
            <a:endParaRPr sz="900" b="0" i="0">
              <a:solidFill>
                <a:srgbClr val="8FA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C9A227"/>
                </a:solidFill>
                <a:latin typeface="Aptos"/>
                <a:ea typeface="Aptos"/>
              </a:rPr>
              <a:t>01  /  THE PROBLEM</a:t>
            </a:r>
            <a:endParaRPr sz="9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原题与来源</a:t>
            </a:r>
            <a:endParaRPr sz="28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71016"/>
            <a:ext cx="10927080" cy="0"/>
          </a:xfrm>
          <a:prstGeom prst="line">
            <a:avLst/>
          </a:prstGeom>
          <a:ln w="12700">
            <a:solidFill>
              <a:srgbClr val="16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5331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先固定题目，再谈方法。</a:t>
            </a:r>
            <a:endParaRPr sz="12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1901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CE7EA"/>
            </a:solidFill>
          </a:ln>
          <a:effectLst>
            <a:outerShdw blurRad="152400" dist="38100" dir="5400000" algn="ctr" rotWithShape="0">
              <a:srgbClr val="0F2B46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blem_statemen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38282"/>
            <a:ext cx="10469880" cy="13903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3685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原题书影（已旋正；红色为原书批注）</a:t>
            </a:r>
            <a:endParaRPr sz="9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4041648"/>
            <a:ext cx="704088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CE7EA"/>
            </a:solidFill>
          </a:ln>
          <a:effectLst>
            <a:outerShdw blurRad="152400" dist="38100" dir="5400000" algn="ctr" rotWithShape="0">
              <a:srgbClr val="0F2B46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文字版原题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10" descr="eq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21914"/>
            <a:ext cx="6675120" cy="124317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909560" y="4041648"/>
            <a:ext cx="3657600" cy="1993392"/>
          </a:xfrm>
          <a:prstGeom prst="roundRect">
            <a:avLst>
              <a:gd name="adj" fmla="val 6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418795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F0D58C"/>
                </a:solidFill>
                <a:latin typeface="Aptos"/>
                <a:ea typeface="Aptos"/>
              </a:rPr>
              <a:t>SOURCE  /  来源</a:t>
            </a:r>
            <a:endParaRPr sz="800" b="1" i="0">
              <a:solidFill>
                <a:srgbClr val="F0D58C"/>
              </a:solidFill>
              <a:latin typeface="Aptos"/>
              <a:ea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19872" y="449884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《工科数学分析习题册（第二版）》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19872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9D9E3"/>
                </a:solidFill>
                <a:latin typeface="微软雅黑" panose="020B0503020204020204" charset="-122"/>
                <a:ea typeface="微软雅黑" panose="020B0503020204020204" charset="-122"/>
              </a:rPr>
              <a:t>第 6 题  ·  m, n ∈ N₊</a:t>
            </a:r>
            <a:endParaRPr sz="1100" b="0" i="0">
              <a:solidFill>
                <a:srgbClr val="C9D9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19872" y="541324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0D58C"/>
                </a:solidFill>
                <a:latin typeface="微软雅黑" panose="020B0503020204020204" charset="-122"/>
                <a:ea typeface="微软雅黑" panose="020B0503020204020204" charset="-122"/>
              </a:rPr>
              <a:t>0/0 型</a:t>
            </a:r>
            <a:endParaRPr sz="1400" b="1" i="0">
              <a:solidFill>
                <a:srgbClr val="F0D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98280" y="547725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C9D9E3"/>
                </a:solidFill>
                <a:latin typeface="微软雅黑" panose="020B0503020204020204" charset="-122"/>
                <a:ea typeface="微软雅黑" panose="020B0503020204020204" charset="-122"/>
              </a:rPr>
              <a:t>一阶项相消，答案在二阶</a:t>
            </a:r>
            <a:endParaRPr sz="900" b="0" i="0">
              <a:solidFill>
                <a:srgbClr val="C9D9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工科数学分析 · 第 6 题</a:t>
            </a:r>
            <a:endParaRPr sz="9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12480" y="65105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667985"/>
                </a:solidFill>
                <a:latin typeface="Aptos"/>
                <a:ea typeface="Aptos"/>
              </a:rPr>
              <a:t>MULTI-METHOD LIMIT</a:t>
            </a:r>
            <a:endParaRPr sz="850" b="1" i="0">
              <a:solidFill>
                <a:srgbClr val="667985"/>
              </a:solidFill>
              <a:latin typeface="Aptos"/>
              <a:ea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  <a:latin typeface="Aptos"/>
                <a:ea typeface="Aptos"/>
              </a:rPr>
              <a:t>02</a:t>
            </a:r>
            <a:endParaRPr sz="10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C9A227"/>
                </a:solidFill>
                <a:latin typeface="Aptos"/>
                <a:ea typeface="Aptos"/>
              </a:rPr>
              <a:t>02  /  ROADMAP</a:t>
            </a:r>
            <a:endParaRPr sz="9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解题地图：同一个二阶系数，四条路径</a:t>
            </a:r>
            <a:endParaRPr sz="28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71016"/>
            <a:ext cx="10927080" cy="0"/>
          </a:xfrm>
          <a:prstGeom prst="line">
            <a:avLst/>
          </a:prstGeom>
          <a:ln w="12700">
            <a:solidFill>
              <a:srgbClr val="16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5331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一阶项相同，所以必须看到 x²。</a:t>
            </a:r>
            <a:endParaRPr sz="12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4160520" cy="4434840"/>
          </a:xfrm>
          <a:prstGeom prst="roundRect">
            <a:avLst>
              <a:gd name="adj" fmla="val 6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0D58C"/>
                </a:solidFill>
                <a:latin typeface="Aptos"/>
                <a:ea typeface="Aptos"/>
              </a:rPr>
              <a:t>核 心 观 察</a:t>
            </a:r>
            <a:endParaRPr sz="900" b="1" i="0">
              <a:solidFill>
                <a:srgbClr val="F0D58C"/>
              </a:solidFill>
              <a:latin typeface="Aptos"/>
              <a:ea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一阶项完全相同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67004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9D9E3"/>
                </a:solidFill>
                <a:latin typeface="Cambria Math" panose="02040503050406030204"/>
                <a:ea typeface="Cambria Math" panose="02040503050406030204"/>
              </a:rPr>
              <a:t>(1 + mx)ⁿ = 1 + mnx + …</a:t>
            </a:r>
            <a:endParaRPr sz="1400" b="0" i="0">
              <a:solidFill>
                <a:srgbClr val="C9D9E3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9D9E3"/>
                </a:solidFill>
                <a:latin typeface="Cambria Math" panose="02040503050406030204"/>
                <a:ea typeface="Cambria Math" panose="02040503050406030204"/>
              </a:rPr>
              <a:t>(1 + nx)ᵐ = 1 + mnx + …</a:t>
            </a:r>
            <a:endParaRPr sz="1400" b="0" i="0">
              <a:solidFill>
                <a:srgbClr val="C9D9E3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0D58C"/>
                </a:solidFill>
                <a:latin typeface="微软雅黑" panose="020B0503020204020204" charset="-122"/>
                <a:ea typeface="微软雅黑" panose="020B0503020204020204" charset="-122"/>
              </a:rPr>
              <a:t>相减后一阶项消失</a:t>
            </a:r>
            <a:endParaRPr sz="1300" b="1" i="0">
              <a:solidFill>
                <a:srgbClr val="F0D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932688" y="3794760"/>
            <a:ext cx="0" cy="73152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0" y="377647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0D58C"/>
                </a:solidFill>
                <a:latin typeface="微软雅黑" panose="020B0503020204020204" charset="-122"/>
                <a:ea typeface="微软雅黑" panose="020B0503020204020204" charset="-122"/>
              </a:rPr>
              <a:t>目标</a:t>
            </a:r>
            <a:endParaRPr sz="900" b="1" i="0">
              <a:solidFill>
                <a:srgbClr val="F0D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读出 x² 的系数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9D9E3"/>
                </a:solidFill>
                <a:latin typeface="Cambria Math" panose="02040503050406030204"/>
                <a:ea typeface="Cambria Math" panose="02040503050406030204"/>
              </a:rPr>
              <a:t>½ · mn[(n−1)m − (m−1)n]</a:t>
            </a:r>
            <a:endParaRPr sz="1400" b="0" i="0">
              <a:solidFill>
                <a:srgbClr val="C9D9E3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4800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0D58C"/>
                </a:solidFill>
                <a:latin typeface="Cambria Math" panose="02040503050406030204"/>
                <a:ea typeface="Cambria Math" panose="02040503050406030204"/>
              </a:rPr>
              <a:t>= ½ · mn(n − m)</a:t>
            </a:r>
            <a:endParaRPr sz="1600" b="1" i="0">
              <a:solidFill>
                <a:srgbClr val="F0D58C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5742432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8FA6B3"/>
                </a:solidFill>
                <a:latin typeface="微软雅黑" panose="020B0503020204020204" charset="-122"/>
                <a:ea typeface="微软雅黑" panose="020B0503020204020204" charset="-122"/>
              </a:rPr>
              <a:t>四条路线，殊途同归</a:t>
            </a:r>
            <a:endParaRPr sz="1000" b="0" i="0">
              <a:solidFill>
                <a:srgbClr val="8FA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74920" y="1783080"/>
            <a:ext cx="306324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CE7EA"/>
            </a:solidFill>
          </a:ln>
          <a:effectLst>
            <a:outerShdw blurRad="152400" dist="38100" dir="5400000" algn="ctr" rotWithShape="0">
              <a:srgbClr val="0F2B46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192938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7D8D"/>
                </a:solidFill>
                <a:latin typeface="Aptos"/>
                <a:ea typeface="Aptos"/>
              </a:rPr>
              <a:t>01</a:t>
            </a:r>
            <a:endParaRPr sz="1100" b="1" i="0">
              <a:solidFill>
                <a:srgbClr val="167D8D"/>
              </a:solidFill>
              <a:latin typeface="Aptos"/>
              <a:ea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76088" y="2240280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二项式展开</a:t>
            </a:r>
            <a:endParaRPr sz="15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76088" y="26517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展开到 x²，比较系数</a:t>
            </a:r>
            <a:endParaRPr sz="105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321040" y="1783080"/>
            <a:ext cx="306324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CE7EA"/>
            </a:solidFill>
          </a:ln>
          <a:effectLst>
            <a:outerShdw blurRad="152400" dist="38100" dir="5400000" algn="ctr" rotWithShape="0">
              <a:srgbClr val="0F2B46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8" y="192938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4536E"/>
                </a:solidFill>
                <a:latin typeface="Aptos"/>
                <a:ea typeface="Aptos"/>
              </a:rPr>
              <a:t>02</a:t>
            </a:r>
            <a:endParaRPr sz="1100" b="1" i="0">
              <a:solidFill>
                <a:srgbClr val="24536E"/>
              </a:solidFill>
              <a:latin typeface="Aptos"/>
              <a:ea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22208" y="2240280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洛必达法则</a:t>
            </a:r>
            <a:endParaRPr sz="15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22208" y="26517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两次 0/0，算 N″(0)/2</a:t>
            </a:r>
            <a:endParaRPr sz="105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74920" y="3703320"/>
            <a:ext cx="306324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CE7EA"/>
            </a:solidFill>
          </a:ln>
          <a:effectLst>
            <a:outerShdw blurRad="152400" dist="38100" dir="5400000" algn="ctr" rotWithShape="0">
              <a:srgbClr val="0F2B46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6088" y="384962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5F8A78"/>
                </a:solidFill>
                <a:latin typeface="Aptos"/>
                <a:ea typeface="Aptos"/>
              </a:rPr>
              <a:t>03</a:t>
            </a:r>
            <a:endParaRPr sz="1100" b="1" i="0">
              <a:solidFill>
                <a:srgbClr val="5F8A78"/>
              </a:solidFill>
              <a:latin typeface="Aptos"/>
              <a:ea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76088" y="4160520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取对数</a:t>
            </a:r>
            <a:endParaRPr sz="15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76088" y="4572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exp-log + 等价无穷小</a:t>
            </a:r>
            <a:endParaRPr sz="105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321040" y="3703320"/>
            <a:ext cx="306324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CE7EA"/>
            </a:solidFill>
          </a:ln>
          <a:effectLst>
            <a:outerShdw blurRad="152400" dist="38100" dir="5400000" algn="ctr" rotWithShape="0">
              <a:srgbClr val="0F2B46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384962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A6B4F"/>
                </a:solidFill>
                <a:latin typeface="Aptos"/>
                <a:ea typeface="Aptos"/>
              </a:rPr>
              <a:t>04</a:t>
            </a:r>
            <a:endParaRPr sz="1100" b="1" i="0">
              <a:solidFill>
                <a:srgbClr val="9A6B4F"/>
              </a:solidFill>
              <a:latin typeface="Aptos"/>
              <a:ea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22208" y="4160520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拉格朗日</a:t>
            </a:r>
            <a:endParaRPr sz="15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22208" y="4572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MVT 把等价变成等式</a:t>
            </a:r>
            <a:endParaRPr sz="105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212080" y="553212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共同目标：提取二阶系数</a:t>
            </a:r>
            <a:endParaRPr sz="13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080" y="65105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工科数学分析 · 第 6 题</a:t>
            </a:r>
            <a:endParaRPr sz="9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12480" y="65105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667985"/>
                </a:solidFill>
                <a:latin typeface="Aptos"/>
                <a:ea typeface="Aptos"/>
              </a:rPr>
              <a:t>MULTI-METHOD LIMIT</a:t>
            </a:r>
            <a:endParaRPr sz="850" b="1" i="0">
              <a:solidFill>
                <a:srgbClr val="667985"/>
              </a:solidFill>
              <a:latin typeface="Aptos"/>
              <a:ea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  <a:latin typeface="Aptos"/>
                <a:ea typeface="Aptos"/>
              </a:rPr>
              <a:t>03</a:t>
            </a:r>
            <a:endParaRPr sz="10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C9A227"/>
                </a:solidFill>
                <a:latin typeface="Aptos"/>
                <a:ea typeface="Aptos"/>
              </a:rPr>
              <a:t>03  /  METHOD 01</a:t>
            </a:r>
            <a:endParaRPr sz="9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二项式展开：把答案“展”出来</a:t>
            </a:r>
            <a:endParaRPr sz="28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71016"/>
            <a:ext cx="10927080" cy="0"/>
          </a:xfrm>
          <a:prstGeom prst="line">
            <a:avLst/>
          </a:prstGeom>
          <a:ln w="12700">
            <a:solidFill>
              <a:srgbClr val="16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5331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最直接、最适合考试现场。</a:t>
            </a:r>
            <a:endParaRPr sz="12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286000" cy="292608"/>
          </a:xfrm>
          <a:prstGeom prst="roundRect">
            <a:avLst>
              <a:gd name="adj" fmla="val 6000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7393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BINOMIAL THEOREM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3794760" cy="2331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两个幂都展开到 x²；更高阶项记为 O(x³)。</a:t>
            </a:r>
            <a:endParaRPr sz="14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一阶项 1 + mnx 完全相同，相减即消。</a:t>
            </a:r>
            <a:endParaRPr sz="14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除以 x²，令 x → 0，O(x³)/x² → 0。</a:t>
            </a:r>
            <a:endParaRPr sz="14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4736592"/>
            <a:ext cx="3794760" cy="1097280"/>
          </a:xfrm>
          <a:prstGeom prst="roundRect">
            <a:avLst>
              <a:gd name="adj" fmla="val 6000"/>
            </a:avLst>
          </a:prstGeom>
          <a:solidFill>
            <a:srgbClr val="FB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554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C06B4F"/>
                </a:solidFill>
                <a:latin typeface="微软雅黑" panose="020B0503020204020204" charset="-122"/>
                <a:ea typeface="微软雅黑" panose="020B0503020204020204" charset="-122"/>
              </a:rPr>
              <a:t>易错点</a:t>
            </a:r>
            <a:endParaRPr sz="900" b="1" i="0">
              <a:solidFill>
                <a:srgbClr val="C06B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只写到一阶会得到 0/0；必须保留到 x²。</a:t>
            </a:r>
            <a:endParaRPr sz="11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81728" y="1737360"/>
            <a:ext cx="690372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CE7EA"/>
            </a:solidFill>
          </a:ln>
          <a:effectLst>
            <a:outerShdw blurRad="152400" dist="38100" dir="5400000" algn="ctr" rotWithShape="0">
              <a:srgbClr val="0F2B46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4" y="186537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①  展开到二阶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Picture 13" descr="eq_expand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5930" y="2084831"/>
            <a:ext cx="5907883" cy="749808"/>
          </a:xfrm>
          <a:prstGeom prst="rect">
            <a:avLst/>
          </a:prstGeom>
        </p:spPr>
      </p:pic>
      <p:pic>
        <p:nvPicPr>
          <p:cNvPr id="15" name="Picture 14" descr="eq_expan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769" y="2834640"/>
            <a:ext cx="5958205" cy="7498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01184" y="362102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②  相减：一阶项抵消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Picture 16" descr="eq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749" y="3840480"/>
            <a:ext cx="5524237" cy="731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01184" y="45902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③  除以 x²，取极限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7760" y="491947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一阶项抵消后，极限由 x² 的系数决定。</a:t>
            </a:r>
            <a:endParaRPr sz="12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681728" y="5687568"/>
            <a:ext cx="6903720" cy="566928"/>
          </a:xfrm>
          <a:prstGeom prst="roundRect">
            <a:avLst>
              <a:gd name="adj" fmla="val 6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5797296"/>
            <a:ext cx="65379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</a:rPr>
              <a:t>L = ½ · mn(n − m)</a:t>
            </a:r>
            <a:endParaRPr sz="1700" b="1" i="0">
              <a:solidFill>
                <a:srgbClr val="FFFFFF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工科数学分析 · 第 6 题</a:t>
            </a:r>
            <a:endParaRPr sz="9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12480" y="65105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667985"/>
                </a:solidFill>
                <a:latin typeface="Aptos"/>
                <a:ea typeface="Aptos"/>
              </a:rPr>
              <a:t>MULTI-METHOD LIMIT</a:t>
            </a:r>
            <a:endParaRPr sz="850" b="1" i="0">
              <a:solidFill>
                <a:srgbClr val="667985"/>
              </a:solidFill>
              <a:latin typeface="Aptos"/>
              <a:ea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  <a:latin typeface="Aptos"/>
                <a:ea typeface="Aptos"/>
              </a:rPr>
              <a:t>04</a:t>
            </a:r>
            <a:endParaRPr sz="10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C9A227"/>
                </a:solidFill>
                <a:latin typeface="Aptos"/>
                <a:ea typeface="Aptos"/>
              </a:rPr>
              <a:t>04  /  METHOD 02</a:t>
            </a:r>
            <a:endParaRPr sz="9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洛必达法则：连续两次“降维”</a:t>
            </a:r>
            <a:endParaRPr sz="28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71016"/>
            <a:ext cx="10927080" cy="0"/>
          </a:xfrm>
          <a:prstGeom prst="line">
            <a:avLst/>
          </a:prstGeom>
          <a:ln w="12700">
            <a:solidFill>
              <a:srgbClr val="16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5331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机械，但每一步都要检查 0/0。</a:t>
            </a:r>
            <a:endParaRPr sz="12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423160" cy="292608"/>
          </a:xfrm>
          <a:prstGeom prst="roundRect">
            <a:avLst>
              <a:gd name="adj" fmla="val 6000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73936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L'HÔPITAL'S RULE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379476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记 N(x) = (1+mx)ⁿ − (1+nx)ᵐ，N(0)=0。</a:t>
            </a:r>
            <a:endParaRPr sz="14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第一次求导后 N′(0)=0，仍是 0/0。</a:t>
            </a:r>
            <a:endParaRPr sz="14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第二次求导后分母为 2，直接代入。</a:t>
            </a:r>
            <a:endParaRPr sz="14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4617720"/>
            <a:ext cx="3794760" cy="1234440"/>
          </a:xfrm>
          <a:prstGeom prst="roundRect">
            <a:avLst>
              <a:gd name="adj" fmla="val 6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3659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0D58C"/>
                </a:solidFill>
                <a:latin typeface="微软雅黑" panose="020B0503020204020204" charset="-122"/>
                <a:ea typeface="微软雅黑" panose="020B0503020204020204" charset="-122"/>
              </a:rPr>
              <a:t>关 键</a:t>
            </a:r>
            <a:endParaRPr sz="900" b="1" i="0">
              <a:solidFill>
                <a:srgbClr val="F0D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01091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</a:rPr>
              <a:t>L = N″(0) / 2</a:t>
            </a:r>
            <a:endParaRPr sz="2200" b="1" i="0">
              <a:solidFill>
                <a:srgbClr val="FFFFFF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5468112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C9D9E3"/>
                </a:solidFill>
                <a:latin typeface="微软雅黑" panose="020B0503020204020204" charset="-122"/>
                <a:ea typeface="微软雅黑" panose="020B0503020204020204" charset="-122"/>
              </a:rPr>
              <a:t>第二次求导后不要再洛必达</a:t>
            </a:r>
            <a:endParaRPr sz="900" b="0" i="0">
              <a:solidFill>
                <a:srgbClr val="C9D9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81728" y="1737360"/>
            <a:ext cx="690372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CE7EA"/>
            </a:solidFill>
          </a:ln>
          <a:effectLst>
            <a:outerShdw blurRad="152400" dist="38100" dir="5400000" algn="ctr" rotWithShape="0">
              <a:srgbClr val="0F2B46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1184" y="186537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①  第一次求导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Picture 14" descr="eq_npri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141" y="2103120"/>
            <a:ext cx="6502317" cy="5669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01184" y="272491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②  第二次求导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Picture 16" descr="eq_nsec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025193"/>
            <a:ext cx="6583680" cy="4052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01184" y="3566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③  代入 x = 0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Picture 18" descr="eq_lhop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532" y="3803904"/>
            <a:ext cx="6442095" cy="7132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37760" y="4892040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分母已是常数 2，商不再是 0/0，所以到此停止。</a:t>
            </a:r>
            <a:endParaRPr sz="105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81728" y="5687568"/>
            <a:ext cx="6903720" cy="566928"/>
          </a:xfrm>
          <a:prstGeom prst="roundRect">
            <a:avLst>
              <a:gd name="adj" fmla="val 6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82896" y="5797296"/>
            <a:ext cx="65379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</a:rPr>
              <a:t>L = ½ · mn(n − m)</a:t>
            </a:r>
            <a:endParaRPr sz="1700" b="1" i="0">
              <a:solidFill>
                <a:srgbClr val="FFFFFF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工科数学分析 · 第 6 题</a:t>
            </a:r>
            <a:endParaRPr sz="9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12480" y="65105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667985"/>
                </a:solidFill>
                <a:latin typeface="Aptos"/>
                <a:ea typeface="Aptos"/>
              </a:rPr>
              <a:t>MULTI-METHOD LIMIT</a:t>
            </a:r>
            <a:endParaRPr sz="850" b="1" i="0">
              <a:solidFill>
                <a:srgbClr val="667985"/>
              </a:solidFill>
              <a:latin typeface="Aptos"/>
              <a:ea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  <a:latin typeface="Aptos"/>
                <a:ea typeface="Aptos"/>
              </a:rPr>
              <a:t>05</a:t>
            </a:r>
            <a:endParaRPr sz="10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C9A227"/>
                </a:solidFill>
                <a:latin typeface="Aptos"/>
                <a:ea typeface="Aptos"/>
              </a:rPr>
              <a:t>05  /  METHOD 03</a:t>
            </a:r>
            <a:endParaRPr sz="9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取对数：把幂变成指数</a:t>
            </a:r>
            <a:endParaRPr sz="28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71016"/>
            <a:ext cx="10927080" cy="0"/>
          </a:xfrm>
          <a:prstGeom prst="line">
            <a:avLst/>
          </a:prstGeom>
          <a:ln w="12700">
            <a:solidFill>
              <a:srgbClr val="16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5331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结构最清楚，也最容易被忽略前提。</a:t>
            </a:r>
            <a:endParaRPr sz="12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606040" cy="292608"/>
          </a:xfrm>
          <a:prstGeom prst="roundRect">
            <a:avLst>
              <a:gd name="adj" fmla="val 6000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73936"/>
            <a:ext cx="260604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EXP-LOG &amp; EQUIVALENCE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3794760" cy="2331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令 u = n ln(1+mx)，v = m ln(1+nx)。</a:t>
            </a:r>
            <a:endParaRPr sz="14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eᵘ − eᵛ = eᵛ(eᵘ⁻ᵛ − 1) ~ eᵛ(u − v)。</a:t>
            </a:r>
            <a:endParaRPr sz="14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展开 ln(1+t) 到 t²，得到 u − v。</a:t>
            </a:r>
            <a:endParaRPr sz="14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4754880"/>
            <a:ext cx="3794760" cy="1097280"/>
          </a:xfrm>
          <a:prstGeom prst="roundRect">
            <a:avLst>
              <a:gd name="adj" fmla="val 6000"/>
            </a:avLst>
          </a:prstGeom>
          <a:solidFill>
            <a:srgbClr val="FB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6460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C06B4F"/>
                </a:solidFill>
                <a:latin typeface="微软雅黑" panose="020B0503020204020204" charset="-122"/>
                <a:ea typeface="微软雅黑" panose="020B0503020204020204" charset="-122"/>
              </a:rPr>
              <a:t>前提</a:t>
            </a:r>
            <a:endParaRPr sz="900" b="1" i="0">
              <a:solidFill>
                <a:srgbClr val="C06B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138928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u − v → 0，才能用 eʷ − 1 ~ w。</a:t>
            </a:r>
            <a:endParaRPr sz="11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81728" y="1737360"/>
            <a:ext cx="690372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CE7EA"/>
            </a:solidFill>
          </a:ln>
          <a:effectLst>
            <a:outerShdw blurRad="152400" dist="38100" dir="5400000" algn="ctr" rotWithShape="0">
              <a:srgbClr val="0F2B46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4" y="186537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①  设指数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Picture 13" descr="eq_lo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333" y="2084831"/>
            <a:ext cx="5891348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01184" y="268833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②  把幂差变成指数差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Picture 15" descr="eq_exp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913558"/>
            <a:ext cx="6446520" cy="49138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901184" y="351129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③  展开 ln(1+t)，比较二阶项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Picture 17" descr="eq_u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068" y="3749039"/>
            <a:ext cx="5925023" cy="932688"/>
          </a:xfrm>
          <a:prstGeom prst="rect">
            <a:avLst/>
          </a:prstGeom>
        </p:spPr>
      </p:pic>
      <p:pic>
        <p:nvPicPr>
          <p:cNvPr id="19" name="Picture 18" descr="eq_uv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750" y="4736592"/>
            <a:ext cx="1951538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37760" y="5285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最后把 u − v 代回 eᵛ(u − v)，并用 eᵛ → 1 收尾。</a:t>
            </a:r>
            <a:endParaRPr sz="105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81728" y="5687568"/>
            <a:ext cx="6903720" cy="566928"/>
          </a:xfrm>
          <a:prstGeom prst="roundRect">
            <a:avLst>
              <a:gd name="adj" fmla="val 6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82896" y="5797296"/>
            <a:ext cx="65379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</a:rPr>
              <a:t>L = ½ · mn(n − m)</a:t>
            </a:r>
            <a:endParaRPr sz="1700" b="1" i="0">
              <a:solidFill>
                <a:srgbClr val="FFFFFF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工科数学分析 · 第 6 题</a:t>
            </a:r>
            <a:endParaRPr sz="9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12480" y="65105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667985"/>
                </a:solidFill>
                <a:latin typeface="Aptos"/>
                <a:ea typeface="Aptos"/>
              </a:rPr>
              <a:t>MULTI-METHOD LIMIT</a:t>
            </a:r>
            <a:endParaRPr sz="850" b="1" i="0">
              <a:solidFill>
                <a:srgbClr val="667985"/>
              </a:solidFill>
              <a:latin typeface="Aptos"/>
              <a:ea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  <a:latin typeface="Aptos"/>
                <a:ea typeface="Aptos"/>
              </a:rPr>
              <a:t>06</a:t>
            </a:r>
            <a:endParaRPr sz="10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C9A227"/>
                </a:solidFill>
                <a:latin typeface="Aptos"/>
                <a:ea typeface="Aptos"/>
              </a:rPr>
              <a:t>06  /  METHOD 04</a:t>
            </a:r>
            <a:endParaRPr sz="9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拉格朗日：给“等价”一个严格证明</a:t>
            </a:r>
            <a:endParaRPr sz="28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71016"/>
            <a:ext cx="10927080" cy="0"/>
          </a:xfrm>
          <a:prstGeom prst="line">
            <a:avLst/>
          </a:prstGeom>
          <a:ln w="12700">
            <a:solidFill>
              <a:srgbClr val="16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5331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用中值定理把近似写成等式。</a:t>
            </a:r>
            <a:endParaRPr sz="12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423160" cy="292608"/>
          </a:xfrm>
          <a:prstGeom prst="roundRect">
            <a:avLst>
              <a:gd name="adj" fmla="val 6000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73936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MEAN VALUE THEOREM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379476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对 f(t)=eᵗ 在 u, v 之间用 MVT。</a:t>
            </a:r>
            <a:endParaRPr sz="14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eᵘ − eᵛ = eξ(u − v)，ξ 介于 u, v。</a:t>
            </a:r>
            <a:endParaRPr sz="14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u, v → 0 ⇒ ξ → 0 ⇒ eξ → 1。</a:t>
            </a:r>
            <a:endParaRPr sz="14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4617720"/>
            <a:ext cx="3794760" cy="1234440"/>
          </a:xfrm>
          <a:prstGeom prst="roundRect">
            <a:avLst>
              <a:gd name="adj" fmla="val 6000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365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为什么更严谨？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010912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MVT 给出等式，不只是“近似”；条件可逐条检查。</a:t>
            </a:r>
            <a:endParaRPr sz="11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81728" y="1737360"/>
            <a:ext cx="690372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CE7EA"/>
            </a:solidFill>
          </a:ln>
          <a:effectLst>
            <a:outerShdw blurRad="152400" dist="38100" dir="5400000" algn="ctr" rotWithShape="0">
              <a:srgbClr val="0F2B46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4" y="186537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①  对 eᵗ 用中值定理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Picture 13" descr="eq_mv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9603" y="2121408"/>
            <a:ext cx="5099992" cy="594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01184" y="290779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②  ξ 被 u, v 夹住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37760" y="3182112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0313D"/>
                </a:solidFill>
                <a:latin typeface="Cambria Math" panose="02040503050406030204"/>
                <a:ea typeface="Cambria Math" panose="02040503050406030204"/>
              </a:rPr>
              <a:t>u = n ln(1+mx) → 0，v = m ln(1+nx) → 0</a:t>
            </a:r>
            <a:endParaRPr sz="1200" b="0" i="0">
              <a:solidFill>
                <a:srgbClr val="20313D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5F6B"/>
                </a:solidFill>
                <a:latin typeface="Cambria Math" panose="02040503050406030204"/>
                <a:ea typeface="Cambria Math" panose="02040503050406030204"/>
              </a:rPr>
              <a:t>⇒  ξ → 0  ⇒  eξ → 1</a:t>
            </a:r>
            <a:endParaRPr sz="1400" b="1" i="0">
              <a:solidFill>
                <a:srgbClr val="0F5F6B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01184" y="404164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③  同一套 u − v 展开</a:t>
            </a:r>
            <a:endParaRPr sz="9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Picture 18" descr="eq_uv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613" y="4297680"/>
            <a:ext cx="2146692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37760" y="4983480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严格性来自 eξ → 1，而不是把 eξ 直接“近似”成 1。</a:t>
            </a:r>
            <a:endParaRPr sz="105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81728" y="5687568"/>
            <a:ext cx="6903720" cy="566928"/>
          </a:xfrm>
          <a:prstGeom prst="roundRect">
            <a:avLst>
              <a:gd name="adj" fmla="val 6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82896" y="5797296"/>
            <a:ext cx="65379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</a:rPr>
              <a:t>L = ½ · mn(n − m)</a:t>
            </a:r>
            <a:endParaRPr sz="1700" b="1" i="0">
              <a:solidFill>
                <a:srgbClr val="FFFFFF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工科数学分析 · 第 6 题</a:t>
            </a:r>
            <a:endParaRPr sz="9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12480" y="65105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667985"/>
                </a:solidFill>
                <a:latin typeface="Aptos"/>
                <a:ea typeface="Aptos"/>
              </a:rPr>
              <a:t>MULTI-METHOD LIMIT</a:t>
            </a:r>
            <a:endParaRPr sz="850" b="1" i="0">
              <a:solidFill>
                <a:srgbClr val="667985"/>
              </a:solidFill>
              <a:latin typeface="Aptos"/>
              <a:ea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  <a:latin typeface="Aptos"/>
                <a:ea typeface="Aptos"/>
              </a:rPr>
              <a:t>07</a:t>
            </a:r>
            <a:endParaRPr sz="10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C9A227"/>
                </a:solidFill>
                <a:latin typeface="Aptos"/>
                <a:ea typeface="Aptos"/>
              </a:rPr>
              <a:t>07  /  COMPARISON</a:t>
            </a:r>
            <a:endParaRPr sz="9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四种方法，同一个答案</a:t>
            </a:r>
            <a:endParaRPr sz="28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71016"/>
            <a:ext cx="10927080" cy="0"/>
          </a:xfrm>
          <a:prstGeom prst="line">
            <a:avLst/>
          </a:prstGeom>
          <a:ln w="12700">
            <a:solidFill>
              <a:srgbClr val="16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5331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考试选最快，证明选最稳。</a:t>
            </a:r>
            <a:endParaRPr sz="12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758952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2011680"/>
                <a:gridCol w="20116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方法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优势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注意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>
                    <a:solidFill>
                      <a:srgbClr val="0F2B4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20" b="1" i="0">
                          <a:solidFill>
                            <a:srgbClr val="0F5F6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二项式展开</a:t>
                      </a:r>
                      <a:endParaRPr sz="1020" b="1" i="0">
                        <a:solidFill>
                          <a:srgbClr val="0F5F6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0" b="0" i="0">
                          <a:solidFill>
                            <a:srgbClr val="20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二项式定理</a:t>
                      </a:r>
                      <a:endParaRPr sz="1020" b="0" i="0">
                        <a:solidFill>
                          <a:srgbClr val="20313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0" b="0" i="0">
                          <a:solidFill>
                            <a:srgbClr val="20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直接、可考试</a:t>
                      </a:r>
                      <a:endParaRPr sz="1020" b="0" i="0">
                        <a:solidFill>
                          <a:srgbClr val="20313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0" b="0" i="0">
                          <a:solidFill>
                            <a:srgbClr val="20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必须保留到 x²</a:t>
                      </a:r>
                      <a:endParaRPr sz="1020" b="0" i="0">
                        <a:solidFill>
                          <a:srgbClr val="20313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20" b="1" i="0">
                          <a:solidFill>
                            <a:srgbClr val="0F5F6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洛必达</a:t>
                      </a:r>
                      <a:endParaRPr sz="1020" b="1" i="0">
                        <a:solidFill>
                          <a:srgbClr val="0F5F6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0" b="0" i="0">
                          <a:solidFill>
                            <a:srgbClr val="20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两次求导</a:t>
                      </a:r>
                      <a:endParaRPr sz="1020" b="0" i="0">
                        <a:solidFill>
                          <a:srgbClr val="20313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0" b="0" i="0">
                          <a:solidFill>
                            <a:srgbClr val="20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机械、步骤固定</a:t>
                      </a:r>
                      <a:endParaRPr sz="1020" b="0" i="0">
                        <a:solidFill>
                          <a:srgbClr val="20313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0" b="0" i="0">
                          <a:solidFill>
                            <a:srgbClr val="20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第二次后停止</a:t>
                      </a:r>
                      <a:endParaRPr sz="1020" b="0" i="0">
                        <a:solidFill>
                          <a:srgbClr val="20313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2F7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20" b="1" i="0">
                          <a:solidFill>
                            <a:srgbClr val="0F5F6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取对数</a:t>
                      </a:r>
                      <a:endParaRPr sz="1020" b="1" i="0">
                        <a:solidFill>
                          <a:srgbClr val="0F5F6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0" b="0" i="0">
                          <a:solidFill>
                            <a:srgbClr val="20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exp-log</a:t>
                      </a:r>
                      <a:endParaRPr sz="1020" b="0" i="0">
                        <a:solidFill>
                          <a:srgbClr val="20313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0" b="0" i="0">
                          <a:solidFill>
                            <a:srgbClr val="20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结构清晰</a:t>
                      </a:r>
                      <a:endParaRPr sz="1020" b="0" i="0">
                        <a:solidFill>
                          <a:srgbClr val="20313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0" b="0" i="0">
                          <a:solidFill>
                            <a:srgbClr val="20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 u−v→0</a:t>
                      </a:r>
                      <a:endParaRPr sz="1020" b="0" i="0">
                        <a:solidFill>
                          <a:srgbClr val="20313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20" b="1" i="0">
                          <a:solidFill>
                            <a:srgbClr val="0F5F6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拉格朗日</a:t>
                      </a:r>
                      <a:endParaRPr sz="1020" b="1" i="0">
                        <a:solidFill>
                          <a:srgbClr val="0F5F6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0" b="0" i="0">
                          <a:solidFill>
                            <a:srgbClr val="20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MVT</a:t>
                      </a:r>
                      <a:endParaRPr sz="1020" b="0" i="0">
                        <a:solidFill>
                          <a:srgbClr val="20313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0" b="0" i="0">
                          <a:solidFill>
                            <a:srgbClr val="20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严谨、可检验</a:t>
                      </a:r>
                      <a:endParaRPr sz="1020" b="0" i="0">
                        <a:solidFill>
                          <a:srgbClr val="20313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20" b="0" i="0">
                          <a:solidFill>
                            <a:srgbClr val="203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交代 ξ→0</a:t>
                      </a:r>
                      <a:endParaRPr sz="1020" b="0" i="0">
                        <a:solidFill>
                          <a:srgbClr val="20313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R="73152" anchor="ctr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58200" y="1737360"/>
            <a:ext cx="3108960" cy="3611880"/>
          </a:xfrm>
          <a:prstGeom prst="roundRect">
            <a:avLst>
              <a:gd name="adj" fmla="val 6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8512" y="1901952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F0D58C"/>
                </a:solidFill>
                <a:latin typeface="Aptos"/>
                <a:ea typeface="Aptos"/>
              </a:rPr>
              <a:t>SAME  ANSWER</a:t>
            </a:r>
            <a:endParaRPr sz="800" b="1" i="0">
              <a:solidFill>
                <a:srgbClr val="F0D58C"/>
              </a:solidFill>
              <a:latin typeface="Aptos"/>
              <a:ea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13648" y="22860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</a:rPr>
              <a:t>L = ½ · mn(n − m)</a:t>
            </a:r>
            <a:endParaRPr sz="1700" b="1" i="0">
              <a:solidFill>
                <a:srgbClr val="FFFFFF"/>
              </a:solidFill>
              <a:latin typeface="Cambria Math" panose="02040503050406030204"/>
              <a:ea typeface="Cambria Math" panose="02040503050406030204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732520" y="2816352"/>
            <a:ext cx="2560320" cy="0"/>
          </a:xfrm>
          <a:prstGeom prst="line">
            <a:avLst/>
          </a:prstGeom>
          <a:ln w="10160">
            <a:solidFill>
              <a:srgbClr val="345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0" y="299923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9D9E3"/>
                </a:solidFill>
                <a:latin typeface="微软雅黑" panose="020B0503020204020204" charset="-122"/>
                <a:ea typeface="微软雅黑" panose="020B0503020204020204" charset="-122"/>
              </a:rPr>
              <a:t>n &gt; m  →  正</a:t>
            </a:r>
            <a:endParaRPr sz="1100" b="0" i="0">
              <a:solidFill>
                <a:srgbClr val="C9D9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0" y="331012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9D9E3"/>
                </a:solidFill>
                <a:latin typeface="微软雅黑" panose="020B0503020204020204" charset="-122"/>
                <a:ea typeface="微软雅黑" panose="020B0503020204020204" charset="-122"/>
              </a:rPr>
              <a:t>n = m  →  零</a:t>
            </a:r>
            <a:endParaRPr sz="1100" b="0" i="0">
              <a:solidFill>
                <a:srgbClr val="C9D9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0" y="362102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9D9E3"/>
                </a:solidFill>
                <a:latin typeface="微软雅黑" panose="020B0503020204020204" charset="-122"/>
                <a:ea typeface="微软雅黑" panose="020B0503020204020204" charset="-122"/>
              </a:rPr>
              <a:t>n &lt; m  →  负</a:t>
            </a:r>
            <a:endParaRPr sz="1100" b="0" i="0">
              <a:solidFill>
                <a:srgbClr val="C9D9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0" y="40965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0D58C"/>
                </a:solidFill>
                <a:latin typeface="微软雅黑" panose="020B0503020204020204" charset="-122"/>
                <a:ea typeface="微软雅黑" panose="020B0503020204020204" charset="-122"/>
              </a:rPr>
              <a:t>交换 m, n 变号</a:t>
            </a:r>
            <a:endParaRPr sz="1000" b="1" i="0">
              <a:solidFill>
                <a:srgbClr val="F0D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41080" y="43891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</a:rPr>
              <a:t>L(m,n) = −L(n,m)</a:t>
            </a:r>
            <a:endParaRPr sz="1200" b="0" i="0">
              <a:solidFill>
                <a:srgbClr val="FFFFFF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565099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四条路线都指向同一个二阶系数。</a:t>
            </a:r>
            <a:endParaRPr sz="13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工科数学分析 · 第 6 题</a:t>
            </a:r>
            <a:endParaRPr sz="9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0" y="65105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667985"/>
                </a:solidFill>
                <a:latin typeface="Aptos"/>
                <a:ea typeface="Aptos"/>
              </a:rPr>
              <a:t>MULTI-METHOD LIMIT</a:t>
            </a:r>
            <a:endParaRPr sz="850" b="1" i="0">
              <a:solidFill>
                <a:srgbClr val="667985"/>
              </a:solidFill>
              <a:latin typeface="Aptos"/>
              <a:ea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  <a:latin typeface="Aptos"/>
                <a:ea typeface="Aptos"/>
              </a:rPr>
              <a:t>08</a:t>
            </a:r>
            <a:endParaRPr sz="10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C9A227"/>
                </a:solidFill>
                <a:latin typeface="Aptos"/>
                <a:ea typeface="Aptos"/>
              </a:rPr>
              <a:t>08  /  DISCUSSION</a:t>
            </a:r>
            <a:endParaRPr sz="9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结果讨论：符号、对称性与特殊值</a:t>
            </a:r>
            <a:endParaRPr sz="28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71016"/>
            <a:ext cx="10927080" cy="0"/>
          </a:xfrm>
          <a:prstGeom prst="line">
            <a:avLst/>
          </a:prstGeom>
          <a:ln w="12700">
            <a:solidFill>
              <a:srgbClr val="16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5331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公式不只是一个数，它还带着结构。</a:t>
            </a:r>
            <a:endParaRPr sz="12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914400" y="2331720"/>
            <a:ext cx="10287000" cy="0"/>
          </a:xfrm>
          <a:prstGeom prst="line">
            <a:avLst/>
          </a:prstGeom>
          <a:ln w="25400">
            <a:solidFill>
              <a:srgbClr val="B7C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" y="1874519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C06B4F"/>
                </a:solidFill>
                <a:latin typeface="Cambria Math" panose="02040503050406030204"/>
                <a:ea typeface="Cambria Math" panose="02040503050406030204"/>
              </a:rPr>
              <a:t>n &lt; m</a:t>
            </a:r>
            <a:endParaRPr sz="1600" b="1" i="0">
              <a:solidFill>
                <a:srgbClr val="C06B4F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66360" y="1874519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0F5F6B"/>
                </a:solidFill>
                <a:latin typeface="Cambria Math" panose="02040503050406030204"/>
                <a:ea typeface="Cambria Math" panose="02040503050406030204"/>
              </a:rPr>
              <a:t>n = m</a:t>
            </a:r>
            <a:endParaRPr sz="1600" b="1" i="0">
              <a:solidFill>
                <a:srgbClr val="0F5F6B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09760" y="1874519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0F5F6B"/>
                </a:solidFill>
                <a:latin typeface="Cambria Math" panose="02040503050406030204"/>
                <a:ea typeface="Cambria Math" panose="02040503050406030204"/>
              </a:rPr>
              <a:t>n &gt; m</a:t>
            </a:r>
            <a:endParaRPr sz="1600" b="1" i="0">
              <a:solidFill>
                <a:srgbClr val="0F5F6B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2157984"/>
            <a:ext cx="3383280" cy="347472"/>
          </a:xfrm>
          <a:prstGeom prst="roundRect">
            <a:avLst>
              <a:gd name="adj" fmla="val 6000"/>
            </a:avLst>
          </a:prstGeom>
          <a:solidFill>
            <a:srgbClr val="C0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92040" y="2157984"/>
            <a:ext cx="2377440" cy="347472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18120" y="2157984"/>
            <a:ext cx="3383280" cy="347472"/>
          </a:xfrm>
          <a:prstGeom prst="roundRect">
            <a:avLst>
              <a:gd name="adj" fmla="val 6000"/>
            </a:avLst>
          </a:prstGeom>
          <a:solidFill>
            <a:srgbClr val="167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743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C06B4F"/>
                </a:solidFill>
                <a:latin typeface="Cambria Math" panose="02040503050406030204"/>
                <a:ea typeface="Cambria Math" panose="02040503050406030204"/>
              </a:rPr>
              <a:t>L &lt; 0</a:t>
            </a:r>
            <a:endParaRPr sz="1800" b="1" i="0">
              <a:solidFill>
                <a:srgbClr val="C06B4F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20640" y="2743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C9A227"/>
                </a:solidFill>
                <a:latin typeface="Cambria Math" panose="02040503050406030204"/>
                <a:ea typeface="Cambria Math" panose="02040503050406030204"/>
              </a:rPr>
              <a:t>L = 0</a:t>
            </a:r>
            <a:endParaRPr sz="1800" b="1" i="0">
              <a:solidFill>
                <a:srgbClr val="C9A227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52560" y="2743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67D8D"/>
                </a:solidFill>
                <a:latin typeface="Cambria Math" panose="02040503050406030204"/>
                <a:ea typeface="Cambria Math" panose="02040503050406030204"/>
              </a:rPr>
              <a:t>L &gt; 0</a:t>
            </a:r>
            <a:endParaRPr sz="1800" b="1" i="0">
              <a:solidFill>
                <a:srgbClr val="167D8D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CE7EA"/>
            </a:solidFill>
          </a:ln>
          <a:effectLst>
            <a:outerShdw blurRad="152400" dist="38100" dir="5400000" algn="ctr" rotWithShape="0">
              <a:srgbClr val="0F2B46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844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5F6B"/>
                </a:solidFill>
                <a:latin typeface="Cambria Math" panose="02040503050406030204"/>
                <a:ea typeface="Cambria Math" panose="02040503050406030204"/>
              </a:rPr>
              <a:t>m = n</a:t>
            </a:r>
            <a:endParaRPr sz="1400" b="1" i="0">
              <a:solidFill>
                <a:srgbClr val="0F5F6B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3950208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两个幂完全相同，分子恒为 0；极限为 0。</a:t>
            </a:r>
            <a:endParaRPr sz="11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公式也给出 0</a:t>
            </a:r>
            <a:endParaRPr sz="10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43400" y="34290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CE7EA"/>
            </a:solidFill>
          </a:ln>
          <a:effectLst>
            <a:outerShdw blurRad="152400" dist="38100" dir="5400000" algn="ctr" rotWithShape="0">
              <a:srgbClr val="0F2B46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5844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交换 m, n</a:t>
            </a:r>
            <a:endParaRPr sz="14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0" y="39502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分子变号，极限也变号。</a:t>
            </a:r>
            <a:endParaRPr sz="110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44622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0F2B46"/>
                </a:solidFill>
                <a:latin typeface="Cambria Math" panose="02040503050406030204"/>
                <a:ea typeface="Cambria Math" panose="02040503050406030204"/>
              </a:rPr>
              <a:t>L(m,n) = −L(n,m)</a:t>
            </a:r>
            <a:endParaRPr sz="1600" b="1" i="0">
              <a:solidFill>
                <a:srgbClr val="0F2B46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46720" y="34290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5844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0D58C"/>
                </a:solidFill>
                <a:latin typeface="微软雅黑" panose="020B0503020204020204" charset="-122"/>
                <a:ea typeface="微软雅黑" panose="020B0503020204020204" charset="-122"/>
              </a:rPr>
              <a:t>特殊值</a:t>
            </a:r>
            <a:endParaRPr sz="1000" b="1" i="0">
              <a:solidFill>
                <a:srgbClr val="F0D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75320" y="395020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</a:rPr>
              <a:t>m = 1：n(n−1)/2</a:t>
            </a:r>
            <a:endParaRPr sz="1100" b="0" i="0">
              <a:solidFill>
                <a:srgbClr val="FFFFFF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75320" y="427024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</a:rPr>
              <a:t>n = 1：−m(m−1)/2</a:t>
            </a:r>
            <a:endParaRPr sz="1100" b="0" i="0">
              <a:solidFill>
                <a:srgbClr val="FFFFFF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75320" y="459028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</a:rPr>
              <a:t>m = n = 1：0</a:t>
            </a:r>
            <a:endParaRPr sz="1100" b="0" i="0">
              <a:solidFill>
                <a:srgbClr val="FFFFFF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56875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符号由 n − m 决定；交换参数即换号。</a:t>
            </a:r>
            <a:endParaRPr sz="12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工科数学分析 · 第 6 题</a:t>
            </a:r>
            <a:endParaRPr sz="9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12480" y="65105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667985"/>
                </a:solidFill>
                <a:latin typeface="Aptos"/>
                <a:ea typeface="Aptos"/>
              </a:rPr>
              <a:t>MULTI-METHOD LIMIT</a:t>
            </a:r>
            <a:endParaRPr sz="850" b="1" i="0">
              <a:solidFill>
                <a:srgbClr val="667985"/>
              </a:solidFill>
              <a:latin typeface="Aptos"/>
              <a:ea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  <a:latin typeface="Aptos"/>
                <a:ea typeface="Aptos"/>
              </a:rPr>
              <a:t>09</a:t>
            </a:r>
            <a:endParaRPr sz="10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C9A227"/>
                </a:solidFill>
                <a:latin typeface="Aptos"/>
                <a:ea typeface="Aptos"/>
              </a:rPr>
              <a:t>09  /  VERIFICATION</a:t>
            </a:r>
            <a:endParaRPr sz="9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数值验证：商按 O(x) 收敛</a:t>
            </a:r>
            <a:endParaRPr sz="28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71016"/>
            <a:ext cx="10927080" cy="0"/>
          </a:xfrm>
          <a:prstGeom prst="line">
            <a:avLst/>
          </a:prstGeom>
          <a:ln w="12700">
            <a:solidFill>
              <a:srgbClr val="16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5331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x 每缩小 10 倍，误差也约缩小 10 倍。</a:t>
            </a:r>
            <a:endParaRPr sz="12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691640"/>
          <a:ext cx="69037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18120" y="17373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精确系数（节选）</a:t>
            </a:r>
            <a:endParaRPr sz="10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0" y="2029968"/>
          <a:ext cx="374903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81"/>
              </a:tblGrid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m</a:t>
                      </a:r>
                      <a:endParaRPr sz="950" b="1" i="0">
                        <a:solidFill>
                          <a:srgbClr val="FFFFFF"/>
                        </a:solidFill>
                        <a:latin typeface="Aptos"/>
                        <a:ea typeface="Aptos"/>
                      </a:endParaRPr>
                    </a:p>
                  </a:txBody>
                  <a:tcPr marL="45720" marR="45720" marT="27432" marB="27432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n</a:t>
                      </a:r>
                      <a:endParaRPr sz="950" b="1" i="0">
                        <a:solidFill>
                          <a:srgbClr val="FFFFFF"/>
                        </a:solidFill>
                        <a:latin typeface="Aptos"/>
                        <a:ea typeface="Aptos"/>
                      </a:endParaRPr>
                    </a:p>
                  </a:txBody>
                  <a:tcPr marL="45720" marR="45720" marT="27432" marB="27432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L</a:t>
                      </a:r>
                      <a:endParaRPr sz="950" b="1" i="0">
                        <a:solidFill>
                          <a:srgbClr val="FFFFFF"/>
                        </a:solidFill>
                        <a:latin typeface="Aptos"/>
                        <a:ea typeface="Aptos"/>
                      </a:endParaRPr>
                    </a:p>
                  </a:txBody>
                  <a:tcPr marL="45720" marR="45720" marT="27432" marB="27432">
                    <a:solidFill>
                      <a:srgbClr val="0F2B46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5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15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2F7F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3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3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0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4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1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−6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2F7F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5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2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−15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7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9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0313D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a:t>63</a:t>
                      </a:r>
                      <a:endParaRPr sz="950" b="0" i="0">
                        <a:solidFill>
                          <a:srgbClr val="20313D"/>
                        </a:solidFill>
                        <a:latin typeface="Cambria Math" panose="02040503050406030204"/>
                        <a:ea typeface="Cambria Math" panose="02040503050406030204"/>
                      </a:endParaRPr>
                    </a:p>
                  </a:txBody>
                  <a:tcPr marL="45720" marR="45720" marT="18288" marB="18288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18120" y="449884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1 ≤ m, n ≤ 20 全部通过</a:t>
            </a:r>
            <a:endParaRPr sz="10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0" y="4937760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50566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0D58C"/>
                </a:solidFill>
                <a:latin typeface="微软雅黑" panose="020B0503020204020204" charset="-122"/>
                <a:ea typeface="微软雅黑" panose="020B0503020204020204" charset="-122"/>
              </a:rPr>
              <a:t>误差  ∝  x</a:t>
            </a:r>
            <a:endParaRPr sz="1000" b="1" i="0">
              <a:solidFill>
                <a:srgbClr val="F0D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3568" y="537667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每步约 ÷10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工科数学分析 · 第 6 题</a:t>
            </a:r>
            <a:endParaRPr sz="9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0" y="65105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667985"/>
                </a:solidFill>
                <a:latin typeface="Aptos"/>
                <a:ea typeface="Aptos"/>
              </a:rPr>
              <a:t>MULTI-METHOD LIMIT</a:t>
            </a:r>
            <a:endParaRPr sz="850" b="1" i="0">
              <a:solidFill>
                <a:srgbClr val="667985"/>
              </a:solidFill>
              <a:latin typeface="Aptos"/>
              <a:ea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  <a:latin typeface="Aptos"/>
                <a:ea typeface="Aptos"/>
              </a:rPr>
              <a:t>10</a:t>
            </a:r>
            <a:endParaRPr sz="10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C9A227"/>
                </a:solidFill>
                <a:latin typeface="Aptos"/>
                <a:ea typeface="Aptos"/>
              </a:rPr>
              <a:t>10  /  CODE &amp; PROMPT</a:t>
            </a:r>
            <a:endParaRPr sz="9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</a:rPr>
              <a:t>代码与提示词：把“看起来对”变成“可复核”</a:t>
            </a:r>
            <a:endParaRPr sz="2800" b="1" i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71016"/>
            <a:ext cx="10927080" cy="0"/>
          </a:xfrm>
          <a:prstGeom prst="line">
            <a:avLst/>
          </a:prstGeom>
          <a:ln w="12700">
            <a:solidFill>
              <a:srgbClr val="16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5331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精确系数 + 高精度数值 + 可复用提问。</a:t>
            </a:r>
            <a:endParaRPr sz="12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0D58C"/>
                </a:solidFill>
                <a:latin typeface="Aptos"/>
                <a:ea typeface="Aptos"/>
              </a:rPr>
              <a:t>verify_limit.py  ·  标准库</a:t>
            </a:r>
            <a:endParaRPr sz="900" b="1" i="0">
              <a:solidFill>
                <a:srgbClr val="F0D58C"/>
              </a:solidFill>
              <a:latin typeface="Aptos"/>
              <a:ea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E7488"/>
                </a:solidFill>
                <a:latin typeface="Consolas" panose="020B0609020204030204"/>
                <a:ea typeface="Consolas" panose="020B0609020204030204"/>
              </a:rPr>
              <a:t> 1</a:t>
            </a:r>
            <a:endParaRPr sz="850" b="0" i="0">
              <a:solidFill>
                <a:srgbClr val="5E748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70432" y="2212848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60" b="1" i="0">
                <a:solidFill>
                  <a:srgbClr val="F2C14E"/>
                </a:solidFill>
                <a:latin typeface="Consolas" panose="020B0609020204030204"/>
                <a:ea typeface="Consolas" panose="020B0609020204030204"/>
              </a:rPr>
              <a:t>def coefficient_by_expansion(m, n):</a:t>
            </a:r>
            <a:endParaRPr sz="960" b="1" i="0">
              <a:solidFill>
                <a:srgbClr val="F2C14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254203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E7488"/>
                </a:solidFill>
                <a:latin typeface="Consolas" panose="020B0609020204030204"/>
                <a:ea typeface="Consolas" panose="020B0609020204030204"/>
              </a:rPr>
              <a:t> 2</a:t>
            </a:r>
            <a:endParaRPr sz="850" b="0" i="0">
              <a:solidFill>
                <a:srgbClr val="5E748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70432" y="2542032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DCE6F2"/>
                </a:solidFill>
                <a:latin typeface="Consolas" panose="020B0609020204030204"/>
                <a:ea typeface="Consolas" panose="020B0609020204030204"/>
              </a:rPr>
              <a:t>    p = expand_power(1, m, n)</a:t>
            </a:r>
            <a:endParaRPr sz="960" b="0" i="0">
              <a:solidFill>
                <a:srgbClr val="DCE6F2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" y="2871215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E7488"/>
                </a:solidFill>
                <a:latin typeface="Consolas" panose="020B0609020204030204"/>
                <a:ea typeface="Consolas" panose="020B0609020204030204"/>
              </a:rPr>
              <a:t> 3</a:t>
            </a:r>
            <a:endParaRPr sz="850" b="0" i="0">
              <a:solidFill>
                <a:srgbClr val="5E748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70432" y="2871215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DCE6F2"/>
                </a:solidFill>
                <a:latin typeface="Consolas" panose="020B0609020204030204"/>
                <a:ea typeface="Consolas" panose="020B0609020204030204"/>
              </a:rPr>
              <a:t>    q = expand_power(1, n, m)</a:t>
            </a:r>
            <a:endParaRPr sz="960" b="0" i="0">
              <a:solidFill>
                <a:srgbClr val="DCE6F2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" y="3200399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E7488"/>
                </a:solidFill>
                <a:latin typeface="Consolas" panose="020B0609020204030204"/>
                <a:ea typeface="Consolas" panose="020B0609020204030204"/>
              </a:rPr>
              <a:t> 4</a:t>
            </a:r>
            <a:endParaRPr sz="850" b="0" i="0">
              <a:solidFill>
                <a:srgbClr val="5E748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70432" y="3200399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DCE6F2"/>
                </a:solidFill>
                <a:latin typeface="Consolas" panose="020B0609020204030204"/>
                <a:ea typeface="Consolas" panose="020B0609020204030204"/>
              </a:rPr>
              <a:t>    diff = subtract(p, q)</a:t>
            </a:r>
            <a:endParaRPr sz="960" b="0" i="0">
              <a:solidFill>
                <a:srgbClr val="DCE6F2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8" y="3529583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E7488"/>
                </a:solidFill>
                <a:latin typeface="Consolas" panose="020B0609020204030204"/>
                <a:ea typeface="Consolas" panose="020B0609020204030204"/>
              </a:rPr>
              <a:t> 5</a:t>
            </a:r>
            <a:endParaRPr sz="850" b="0" i="0">
              <a:solidFill>
                <a:srgbClr val="5E748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0432" y="3529583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DCE6F2"/>
                </a:solidFill>
                <a:latin typeface="Consolas" panose="020B0609020204030204"/>
                <a:ea typeface="Consolas" panose="020B0609020204030204"/>
              </a:rPr>
              <a:t>    assert diff[0] == 0</a:t>
            </a:r>
            <a:endParaRPr sz="960" b="0" i="0">
              <a:solidFill>
                <a:srgbClr val="DCE6F2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" y="3858768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E7488"/>
                </a:solidFill>
                <a:latin typeface="Consolas" panose="020B0609020204030204"/>
                <a:ea typeface="Consolas" panose="020B0609020204030204"/>
              </a:rPr>
              <a:t> 6</a:t>
            </a:r>
            <a:endParaRPr sz="850" b="0" i="0">
              <a:solidFill>
                <a:srgbClr val="5E748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70432" y="3858768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DCE6F2"/>
                </a:solidFill>
                <a:latin typeface="Consolas" panose="020B0609020204030204"/>
                <a:ea typeface="Consolas" panose="020B0609020204030204"/>
              </a:rPr>
              <a:t>    assert diff[1] == 0</a:t>
            </a:r>
            <a:endParaRPr sz="960" b="0" i="0">
              <a:solidFill>
                <a:srgbClr val="DCE6F2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8" y="418795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E7488"/>
                </a:solidFill>
                <a:latin typeface="Consolas" panose="020B0609020204030204"/>
                <a:ea typeface="Consolas" panose="020B0609020204030204"/>
              </a:rPr>
              <a:t> 7</a:t>
            </a:r>
            <a:endParaRPr sz="850" b="0" i="0">
              <a:solidFill>
                <a:srgbClr val="5E748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70432" y="4187952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60" b="1" i="0">
                <a:solidFill>
                  <a:srgbClr val="F2C14E"/>
                </a:solidFill>
                <a:latin typeface="Consolas" panose="020B0609020204030204"/>
                <a:ea typeface="Consolas" panose="020B0609020204030204"/>
              </a:rPr>
              <a:t>    return diff[2]</a:t>
            </a:r>
            <a:endParaRPr sz="960" b="1" i="0">
              <a:solidFill>
                <a:srgbClr val="F2C14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" y="4517136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E7488"/>
                </a:solidFill>
                <a:latin typeface="Consolas" panose="020B0609020204030204"/>
                <a:ea typeface="Consolas" panose="020B0609020204030204"/>
              </a:rPr>
              <a:t> 8</a:t>
            </a:r>
            <a:endParaRPr sz="850" b="0" i="0">
              <a:solidFill>
                <a:srgbClr val="5E748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70432" y="4517136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endParaRPr sz="960" b="0" i="0">
              <a:solidFill>
                <a:srgbClr val="DCE6F2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1248" y="4846320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E7488"/>
                </a:solidFill>
                <a:latin typeface="Consolas" panose="020B0609020204030204"/>
                <a:ea typeface="Consolas" panose="020B0609020204030204"/>
              </a:rPr>
              <a:t> 9</a:t>
            </a:r>
            <a:endParaRPr sz="850" b="0" i="0">
              <a:solidFill>
                <a:srgbClr val="5E748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70432" y="4846320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60" b="1" i="0">
                <a:solidFill>
                  <a:srgbClr val="F2C14E"/>
                </a:solidFill>
                <a:latin typeface="Consolas" panose="020B0609020204030204"/>
                <a:ea typeface="Consolas" panose="020B0609020204030204"/>
              </a:rPr>
              <a:t>def closed_form(m, n):</a:t>
            </a:r>
            <a:endParaRPr sz="960" b="1" i="0">
              <a:solidFill>
                <a:srgbClr val="F2C14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1248" y="5175504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E7488"/>
                </a:solidFill>
                <a:latin typeface="Consolas" panose="020B0609020204030204"/>
                <a:ea typeface="Consolas" panose="020B0609020204030204"/>
              </a:rPr>
              <a:t>10</a:t>
            </a:r>
            <a:endParaRPr sz="850" b="0" i="0">
              <a:solidFill>
                <a:srgbClr val="5E748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70432" y="5175504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DCE6F2"/>
                </a:solidFill>
                <a:latin typeface="Consolas" panose="020B0609020204030204"/>
                <a:ea typeface="Consolas" panose="020B0609020204030204"/>
              </a:rPr>
              <a:t>    return Fraction(m*n*(n-m), 2)</a:t>
            </a:r>
            <a:endParaRPr sz="960" b="0" i="0">
              <a:solidFill>
                <a:srgbClr val="DCE6F2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8680" y="5532120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8FA6B3"/>
                </a:solidFill>
                <a:latin typeface="微软雅黑" panose="020B0503020204020204" charset="-122"/>
                <a:ea typeface="微软雅黑" panose="020B0503020204020204" charset="-122"/>
              </a:rPr>
              <a:t>Fraction 精确展开；Decimal 60 位数值复核</a:t>
            </a:r>
            <a:endParaRPr sz="850" b="0" i="0">
              <a:solidFill>
                <a:srgbClr val="8FA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818120" y="1737360"/>
            <a:ext cx="3749039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CE7EA"/>
            </a:solidFill>
          </a:ln>
          <a:effectLst>
            <a:outerShdw blurRad="152400" dist="38100" dir="5400000" algn="ctr" rotWithShape="0">
              <a:srgbClr val="0F2B46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190195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C9A227"/>
                </a:solidFill>
                <a:latin typeface="Aptos"/>
                <a:ea typeface="Aptos"/>
              </a:rPr>
              <a:t>PROMPT  /  可复用提示词</a:t>
            </a:r>
            <a:endParaRPr sz="850" b="1" i="0">
              <a:solidFill>
                <a:srgbClr val="C9A227"/>
              </a:solidFill>
              <a:latin typeface="Aptos"/>
              <a:ea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46720" y="2240280"/>
            <a:ext cx="324612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0313D"/>
                </a:solidFill>
                <a:latin typeface="微软雅黑" panose="020B0503020204020204" charset="-122"/>
                <a:ea typeface="微软雅黑" panose="020B0503020204020204" charset="-122"/>
              </a:rPr>
              <a:t>“请把解题过程与结果做成 12 页、16:9 的 PPT：深蓝 + 米白 + 金色；每页一个重点；包含原题、四种方法、结果讨论、数值验证、代码与结论。”</a:t>
            </a:r>
            <a:endParaRPr sz="1050" b="0" i="0">
              <a:solidFill>
                <a:srgbClr val="203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065008" y="363931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四段式：角色  ·  任务  ·  约束  ·  输出</a:t>
            </a:r>
            <a:endParaRPr sz="88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8065008" y="4069080"/>
            <a:ext cx="3227832" cy="0"/>
          </a:xfrm>
          <a:prstGeom prst="line">
            <a:avLst/>
          </a:prstGeom>
          <a:ln w="10160">
            <a:solidFill>
              <a:srgbClr val="DC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065008" y="4315968"/>
            <a:ext cx="932688" cy="347472"/>
          </a:xfrm>
          <a:prstGeom prst="roundRect">
            <a:avLst>
              <a:gd name="adj" fmla="val 6000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8" y="4379976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</a:rPr>
              <a:t>多解</a:t>
            </a:r>
            <a:endParaRPr sz="1000" b="1" i="0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144000" y="4315968"/>
            <a:ext cx="932688" cy="347472"/>
          </a:xfrm>
          <a:prstGeom prst="roundRect">
            <a:avLst>
              <a:gd name="adj" fmla="val 6000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4379976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  <a:latin typeface="微软雅黑" panose="020B0503020204020204" charset="-122"/>
                <a:ea typeface="微软雅黑" panose="020B0503020204020204" charset="-122"/>
              </a:rPr>
              <a:t>可验证</a:t>
            </a:r>
            <a:endParaRPr sz="1000" b="1" i="0">
              <a:solidFill>
                <a:srgbClr val="C9A2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222992" y="4315968"/>
            <a:ext cx="932688" cy="347472"/>
          </a:xfrm>
          <a:prstGeom prst="roundRect">
            <a:avLst>
              <a:gd name="adj" fmla="val 6000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22992" y="4379976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C06B4F"/>
                </a:solidFill>
                <a:latin typeface="微软雅黑" panose="020B0503020204020204" charset="-122"/>
                <a:ea typeface="微软雅黑" panose="020B0503020204020204" charset="-122"/>
              </a:rPr>
              <a:t>可演示</a:t>
            </a:r>
            <a:endParaRPr sz="1000" b="1" i="0">
              <a:solidFill>
                <a:srgbClr val="C06B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065008" y="495604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提示词越具体，返工越少。</a:t>
            </a:r>
            <a:endParaRPr sz="10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065008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F5F6B"/>
                </a:solidFill>
                <a:latin typeface="微软雅黑" panose="020B0503020204020204" charset="-122"/>
                <a:ea typeface="微软雅黑" panose="020B0503020204020204" charset="-122"/>
              </a:rPr>
              <a:t>12 页  ·  16:9  ·  三种工具互证</a:t>
            </a:r>
            <a:endParaRPr sz="1000" b="1" i="0">
              <a:solidFill>
                <a:srgbClr val="0F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0080" y="65105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985"/>
                </a:solidFill>
                <a:latin typeface="微软雅黑" panose="020B0503020204020204" charset="-122"/>
                <a:ea typeface="微软雅黑" panose="020B0503020204020204" charset="-122"/>
              </a:rPr>
              <a:t>工科数学分析 · 第 6 题</a:t>
            </a:r>
            <a:endParaRPr sz="900" b="0" i="0">
              <a:solidFill>
                <a:srgbClr val="6679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12480" y="65105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667985"/>
                </a:solidFill>
                <a:latin typeface="Aptos"/>
                <a:ea typeface="Aptos"/>
              </a:rPr>
              <a:t>MULTI-METHOD LIMIT</a:t>
            </a:r>
            <a:endParaRPr sz="850" b="1" i="0">
              <a:solidFill>
                <a:srgbClr val="667985"/>
              </a:solidFill>
              <a:latin typeface="Aptos"/>
              <a:ea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  <a:latin typeface="Aptos"/>
                <a:ea typeface="Aptos"/>
              </a:rPr>
              <a:t>11</a:t>
            </a:r>
            <a:endParaRPr sz="1000" b="1" i="0">
              <a:solidFill>
                <a:srgbClr val="C9A227"/>
              </a:solidFill>
              <a:latin typeface="Aptos"/>
              <a:ea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0D58C"/>
                </a:solidFill>
                <a:latin typeface="Aptos"/>
                <a:ea typeface="Aptos"/>
              </a:rPr>
              <a:t>FINAL  /  CONCLUSION</a:t>
            </a:r>
            <a:endParaRPr sz="900" b="1" i="0">
              <a:solidFill>
                <a:srgbClr val="F0D58C"/>
              </a:solidFill>
              <a:latin typeface="Aptos"/>
              <a:ea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一阶相消，二阶定值</a:t>
            </a:r>
            <a:endParaRPr sz="3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9D9E3"/>
                </a:solidFill>
                <a:latin typeface="微软雅黑" panose="020B0503020204020204" charset="-122"/>
                <a:ea typeface="微软雅黑" panose="020B0503020204020204" charset="-122"/>
              </a:rPr>
              <a:t>四种方法，同一个答案；精确系数与数值趋势互相印证。</a:t>
            </a:r>
            <a:endParaRPr sz="1300" b="0" i="0">
              <a:solidFill>
                <a:srgbClr val="C9D9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4" descr="eq_answ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19"/>
            <a:ext cx="8412480" cy="1025309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713232" y="3383280"/>
            <a:ext cx="7333488" cy="0"/>
          </a:xfrm>
          <a:prstGeom prst="line">
            <a:avLst/>
          </a:prstGeom>
          <a:ln w="1524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63931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0D58C"/>
                </a:solidFill>
                <a:latin typeface="Aptos"/>
                <a:ea typeface="Aptos"/>
              </a:rPr>
              <a:t>01</a:t>
            </a:r>
            <a:endParaRPr sz="900" b="1" i="0">
              <a:solidFill>
                <a:srgbClr val="F0D58C"/>
              </a:solidFill>
              <a:latin typeface="Aptos"/>
              <a:ea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39136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一阶项相同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4261104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C9D9E3"/>
                </a:solidFill>
                <a:latin typeface="微软雅黑" panose="020B0503020204020204" charset="-122"/>
                <a:ea typeface="微软雅黑" panose="020B0503020204020204" charset="-122"/>
              </a:rPr>
              <a:t>都含 1 + mnx，相减即消。</a:t>
            </a:r>
            <a:endParaRPr sz="950" b="0" i="0">
              <a:solidFill>
                <a:srgbClr val="C9D9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37560" y="363931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0D58C"/>
                </a:solidFill>
                <a:latin typeface="Aptos"/>
                <a:ea typeface="Aptos"/>
              </a:rPr>
              <a:t>02</a:t>
            </a:r>
            <a:endParaRPr sz="900" b="1" i="0">
              <a:solidFill>
                <a:srgbClr val="F0D58C"/>
              </a:solidFill>
              <a:latin typeface="Aptos"/>
              <a:ea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37560" y="39136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二阶项定值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37560" y="4261104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C9D9E3"/>
                </a:solidFill>
                <a:latin typeface="微软雅黑" panose="020B0503020204020204" charset="-122"/>
                <a:ea typeface="微软雅黑" panose="020B0503020204020204" charset="-122"/>
              </a:rPr>
              <a:t>系数 ½mn(n−m) 决定答案。</a:t>
            </a:r>
            <a:endParaRPr sz="950" b="0" i="0">
              <a:solidFill>
                <a:srgbClr val="C9D9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0" y="363931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0D58C"/>
                </a:solidFill>
                <a:latin typeface="Aptos"/>
                <a:ea typeface="Aptos"/>
              </a:rPr>
              <a:t>03</a:t>
            </a:r>
            <a:endParaRPr sz="900" b="1" i="0">
              <a:solidFill>
                <a:srgbClr val="F0D58C"/>
              </a:solidFill>
              <a:latin typeface="Aptos"/>
              <a:ea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0" y="39136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多解互证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0" y="4261104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C9D9E3"/>
                </a:solidFill>
                <a:latin typeface="微软雅黑" panose="020B0503020204020204" charset="-122"/>
                <a:ea typeface="微软雅黑" panose="020B0503020204020204" charset="-122"/>
              </a:rPr>
              <a:t>展开、求导、exp-log、MVT。</a:t>
            </a:r>
            <a:endParaRPr sz="950" b="0" i="0">
              <a:solidFill>
                <a:srgbClr val="C9D9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52560" y="199339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0D58C"/>
                </a:solidFill>
                <a:latin typeface="Cambria Math" panose="02040503050406030204"/>
                <a:ea typeface="Cambria Math" panose="02040503050406030204"/>
              </a:rPr>
              <a:t>L = ½ · mn(n − m)</a:t>
            </a:r>
            <a:endParaRPr sz="1800" b="1" i="0">
              <a:solidFill>
                <a:srgbClr val="F0D58C"/>
              </a:solidFill>
              <a:latin typeface="Cambria Math" panose="02040503050406030204"/>
              <a:ea typeface="Cambria Math" panose="02040503050406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23960" y="24688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C9D9E3"/>
                </a:solidFill>
                <a:latin typeface="微软雅黑" panose="020B0503020204020204" charset="-122"/>
                <a:ea typeface="微软雅黑" panose="020B0503020204020204" charset="-122"/>
              </a:rPr>
              <a:t>n &gt; m 正  ·  n = m 零  ·  n &lt; m 负</a:t>
            </a:r>
            <a:endParaRPr sz="950" b="0" i="0">
              <a:solidFill>
                <a:srgbClr val="C9D9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FA6B3"/>
                </a:solidFill>
                <a:latin typeface="微软雅黑" panose="020B0503020204020204" charset="-122"/>
                <a:ea typeface="微软雅黑" panose="020B0503020204020204" charset="-122"/>
              </a:rPr>
              <a:t>《工科数学分析习题册（第二版）》第 6 题</a:t>
            </a:r>
            <a:endParaRPr sz="900" b="0" i="0">
              <a:solidFill>
                <a:srgbClr val="8FA6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F0D58C"/>
                </a:solidFill>
                <a:latin typeface="Aptos"/>
                <a:ea typeface="Aptos"/>
              </a:rPr>
              <a:t>12  /  12</a:t>
            </a:r>
            <a:endParaRPr sz="900" b="1" i="0">
              <a:solidFill>
                <a:srgbClr val="F0D58C"/>
              </a:solidFill>
              <a:latin typeface="Aptos"/>
              <a:ea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3254</Words>
  <Application>WPS 演示</Application>
  <PresentationFormat>On-screen Show (4:3)</PresentationFormat>
  <Paragraphs>512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Arial</vt:lpstr>
      <vt:lpstr>Cambria Math</vt:lpstr>
      <vt:lpstr>Aptos</vt:lpstr>
      <vt:lpstr>Segoe UI</vt:lpstr>
      <vt:lpstr>微软雅黑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十五</cp:lastModifiedBy>
  <cp:revision>2</cp:revision>
  <dcterms:created xsi:type="dcterms:W3CDTF">2013-01-27T09:14:00Z</dcterms:created>
  <dcterms:modified xsi:type="dcterms:W3CDTF">2026-10-18T16:08:25Z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801F46CA0D814B5D85DE0227E1E577FC_13</vt:lpwstr>
  </property>
  <property fmtid="{D5CDD505-2E9C-101B-9397-08002B2CF9AE}" pid="3" name="KSOProductBuildVer">
    <vt:lpwstr>2052-12.1.0.28505</vt:lpwstr>
  </property>
</Properties>
</file>