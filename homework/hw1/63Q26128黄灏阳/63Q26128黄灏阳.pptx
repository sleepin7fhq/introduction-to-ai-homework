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1D36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96528" y="0"/>
            <a:ext cx="7315" cy="6858000"/>
          </a:xfrm>
          <a:prstGeom prst="rect">
            <a:avLst/>
          </a:prstGeom>
          <a:solidFill>
            <a:srgbClr val="1D36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63456" y="0"/>
            <a:ext cx="7315" cy="6858000"/>
          </a:xfrm>
          <a:prstGeom prst="rect">
            <a:avLst/>
          </a:prstGeom>
          <a:solidFill>
            <a:srgbClr val="1D36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30384" y="0"/>
            <a:ext cx="7315" cy="6858000"/>
          </a:xfrm>
          <a:prstGeom prst="rect">
            <a:avLst/>
          </a:prstGeom>
          <a:solidFill>
            <a:srgbClr val="1D36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97312" y="0"/>
            <a:ext cx="7315" cy="6858000"/>
          </a:xfrm>
          <a:prstGeom prst="rect">
            <a:avLst/>
          </a:prstGeom>
          <a:solidFill>
            <a:srgbClr val="1D36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064240" y="0"/>
            <a:ext cx="7315" cy="6858000"/>
          </a:xfrm>
          <a:prstGeom prst="rect">
            <a:avLst/>
          </a:prstGeom>
          <a:solidFill>
            <a:srgbClr val="1D36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31167" y="0"/>
            <a:ext cx="7315" cy="6858000"/>
          </a:xfrm>
          <a:prstGeom prst="rect">
            <a:avLst/>
          </a:prstGeom>
          <a:solidFill>
            <a:srgbClr val="1D36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0" y="502920"/>
            <a:ext cx="3959352" cy="7315"/>
          </a:xfrm>
          <a:prstGeom prst="rect">
            <a:avLst/>
          </a:prstGeom>
          <a:solidFill>
            <a:srgbClr val="1D36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1188720"/>
            <a:ext cx="3959352" cy="7315"/>
          </a:xfrm>
          <a:prstGeom prst="rect">
            <a:avLst/>
          </a:prstGeom>
          <a:solidFill>
            <a:srgbClr val="1D36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1874519"/>
            <a:ext cx="3959352" cy="7315"/>
          </a:xfrm>
          <a:prstGeom prst="rect">
            <a:avLst/>
          </a:prstGeom>
          <a:solidFill>
            <a:srgbClr val="1D36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2560320"/>
            <a:ext cx="3959352" cy="7315"/>
          </a:xfrm>
          <a:prstGeom prst="rect">
            <a:avLst/>
          </a:prstGeom>
          <a:solidFill>
            <a:srgbClr val="1D36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3246120"/>
            <a:ext cx="3959352" cy="7315"/>
          </a:xfrm>
          <a:prstGeom prst="rect">
            <a:avLst/>
          </a:prstGeom>
          <a:solidFill>
            <a:srgbClr val="1D36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931920"/>
            <a:ext cx="3959352" cy="7315"/>
          </a:xfrm>
          <a:prstGeom prst="rect">
            <a:avLst/>
          </a:prstGeom>
          <a:solidFill>
            <a:srgbClr val="1D36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4617720"/>
            <a:ext cx="3959352" cy="7315"/>
          </a:xfrm>
          <a:prstGeom prst="rect">
            <a:avLst/>
          </a:prstGeom>
          <a:solidFill>
            <a:srgbClr val="1D36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5303520"/>
            <a:ext cx="3959352" cy="7315"/>
          </a:xfrm>
          <a:prstGeom prst="rect">
            <a:avLst/>
          </a:prstGeom>
          <a:solidFill>
            <a:srgbClr val="1D36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5989320"/>
            <a:ext cx="3959352" cy="7315"/>
          </a:xfrm>
          <a:prstGeom prst="rect">
            <a:avLst/>
          </a:prstGeom>
          <a:solidFill>
            <a:srgbClr val="1D36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868680"/>
            <a:ext cx="3566160" cy="5120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5000" b="1" i="0">
                <a:solidFill>
                  <a:srgbClr val="233F5E"/>
                </a:solidFill>
                <a:latin typeface="Noto Serif SC"/>
                <a:ea typeface="Noto Serif SC"/>
              </a:rPr>
              <a:t>21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1115568"/>
            <a:ext cx="1234440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7863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227"/>
                </a:solidFill>
                <a:latin typeface="Noto Sans SC"/>
                <a:ea typeface="Noto Sans SC"/>
              </a:rPr>
              <a:t>2026  ·  上海高考数学  ·  第 21 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1417320"/>
            <a:ext cx="7498079" cy="1234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Noto Serif SC"/>
                <a:ea typeface="Noto Serif SC"/>
              </a:rPr>
              <a:t>函数序关系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Noto Serif SC"/>
                <a:ea typeface="Noto Serif SC"/>
              </a:rPr>
              <a:t>与 I 排列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288036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E8DFC8"/>
                </a:solidFill>
                <a:latin typeface="Noto Serif SC"/>
                <a:ea typeface="Noto Serif SC"/>
              </a:rPr>
              <a:t>从定义解码到存在性证明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3493008"/>
            <a:ext cx="4754880" cy="9144"/>
          </a:xfrm>
          <a:prstGeom prst="rect">
            <a:avLst/>
          </a:prstGeom>
          <a:solidFill>
            <a:srgbClr val="3A51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675887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9C3D2"/>
                </a:solidFill>
                <a:latin typeface="Noto Sans SC"/>
                <a:ea typeface="Noto Sans SC"/>
              </a:rPr>
              <a:t>解题过程  ·  完整答案  ·  方法提炼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114800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DFC8"/>
                </a:solidFill>
                <a:latin typeface="Noto Serif SC"/>
                <a:ea typeface="Noto Serif SC"/>
              </a:rPr>
              <a:t>把新定义翻译成三个开关，再用单调性控制它们。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07492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FA4C0"/>
                </a:solidFill>
                <a:latin typeface="Cambria Math"/>
                <a:ea typeface="Cambria Math"/>
              </a:rPr>
              <a:t>n</a:t>
            </a:r>
            <a:r>
              <a:rPr sz="1188" b="0" i="0" baseline="-25000">
                <a:solidFill>
                  <a:srgbClr val="8FA4C0"/>
                </a:solidFill>
                <a:latin typeface="Cambria Math"/>
                <a:ea typeface="Cambria Math"/>
              </a:rPr>
              <a:t>I</a:t>
            </a:r>
            <a:r>
              <a:rPr sz="1800" b="0" i="0">
                <a:solidFill>
                  <a:srgbClr val="8FA4C0"/>
                </a:solidFill>
                <a:latin typeface="Cambria Math"/>
                <a:ea typeface="Cambria Math"/>
              </a:rPr>
              <a:t>=1+A+AB+C+BC+B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562356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F84A2"/>
                </a:solidFill>
                <a:latin typeface="Noto Sans SC"/>
                <a:ea typeface="Noto Sans SC"/>
              </a:rPr>
              <a:t>A  f₁≤f₂     B  f₁≤f₃     C  f₂≤f₃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635508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91AC"/>
                </a:solidFill>
                <a:latin typeface="Noto Sans SC"/>
                <a:ea typeface="Noto Sans SC"/>
              </a:rPr>
              <a:t>2026 SHANGHAI  ·  PROBLEM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64008" cy="475488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10634472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1495B"/>
                </a:solidFill>
                <a:latin typeface="Noto Sans SC"/>
                <a:ea typeface="Noto Sans SC"/>
              </a:rPr>
              <a:t>PROBLEM STATEMENT  /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85216"/>
            <a:ext cx="10634472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Noto Serif SC"/>
                <a:ea typeface="Noto Serif SC"/>
              </a:rPr>
              <a:t>题目原文（一）：定义与第 (1)(2) 问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25296"/>
            <a:ext cx="10817352" cy="10972"/>
          </a:xfrm>
          <a:prstGeom prst="rect">
            <a:avLst/>
          </a:prstGeom>
          <a:solidFill>
            <a:srgbClr val="DCD5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80192" y="651967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Noto Sans SC"/>
                <a:ea typeface="Noto Sans SC"/>
              </a:rPr>
              <a:t>02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Noto Sans SC"/>
                <a:ea typeface="Noto Sans SC"/>
              </a:rPr>
              <a:t>函数序关系与 I 排列  ·  2026 上海高考数学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444752"/>
            <a:ext cx="10817352" cy="1938528"/>
          </a:xfrm>
          <a:prstGeom prst="rect">
            <a:avLst/>
          </a:prstGeom>
          <a:solidFill>
            <a:srgbClr val="FFFDF8"/>
          </a:solidFill>
          <a:ln w="9525">
            <a:solidFill>
              <a:srgbClr val="DCD5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44752"/>
            <a:ext cx="73152" cy="1938528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72768"/>
            <a:ext cx="1031443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1495B"/>
                </a:solidFill>
                <a:latin typeface="Noto Sans SC"/>
                <a:ea typeface="Noto Sans SC"/>
              </a:rPr>
              <a:t>定义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847088"/>
            <a:ext cx="10314432" cy="1600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4213D"/>
                </a:solidFill>
                <a:latin typeface="Noto Sans SC"/>
                <a:ea typeface="Noto Sans SC"/>
              </a:rPr>
              <a:t>已知 </a:t>
            </a:r>
            <a:r>
              <a:rPr sz="1550" b="0" i="0">
                <a:solidFill>
                  <a:srgbClr val="14213D"/>
                </a:solidFill>
                <a:latin typeface="Cambria Math"/>
                <a:ea typeface="Cambria Math"/>
              </a:rPr>
              <a:t>(i,j,k)</a:t>
            </a:r>
            <a:r>
              <a:rPr sz="1550" b="0" i="0">
                <a:solidFill>
                  <a:srgbClr val="14213D"/>
                </a:solidFill>
                <a:latin typeface="Noto Sans SC"/>
                <a:ea typeface="Noto Sans SC"/>
              </a:rPr>
              <a:t> 是 </a:t>
            </a:r>
            <a:r>
              <a:rPr sz="1550" b="0" i="0">
                <a:solidFill>
                  <a:srgbClr val="14213D"/>
                </a:solidFill>
                <a:latin typeface="Cambria Math"/>
                <a:ea typeface="Cambria Math"/>
              </a:rPr>
              <a:t>1,2,3</a:t>
            </a:r>
            <a:r>
              <a:rPr sz="1550" b="0" i="0">
                <a:solidFill>
                  <a:srgbClr val="14213D"/>
                </a:solidFill>
                <a:latin typeface="Noto Sans SC"/>
                <a:ea typeface="Noto Sans SC"/>
              </a:rPr>
              <a:t> 的一个排列。若函数 </a:t>
            </a:r>
            <a:r>
              <a:rPr sz="1550" b="0" i="0">
                <a:solidFill>
                  <a:srgbClr val="14213D"/>
                </a:solidFill>
                <a:latin typeface="Cambria Math"/>
                <a:ea typeface="Cambria Math"/>
              </a:rPr>
              <a:t>f</a:t>
            </a:r>
            <a:r>
              <a:rPr sz="1023" b="0" i="0" baseline="-25000">
                <a:solidFill>
                  <a:srgbClr val="14213D"/>
                </a:solidFill>
                <a:latin typeface="Cambria Math"/>
                <a:ea typeface="Cambria Math"/>
              </a:rPr>
              <a:t>1</a:t>
            </a:r>
            <a:r>
              <a:rPr sz="1550" b="0" i="0">
                <a:solidFill>
                  <a:srgbClr val="14213D"/>
                </a:solidFill>
                <a:latin typeface="Cambria Math"/>
                <a:ea typeface="Cambria Math"/>
              </a:rPr>
              <a:t>,f</a:t>
            </a:r>
            <a:r>
              <a:rPr sz="1023" b="0" i="0" baseline="-25000">
                <a:solidFill>
                  <a:srgbClr val="14213D"/>
                </a:solidFill>
                <a:latin typeface="Cambria Math"/>
                <a:ea typeface="Cambria Math"/>
              </a:rPr>
              <a:t>2</a:t>
            </a:r>
            <a:r>
              <a:rPr sz="1550" b="0" i="0">
                <a:solidFill>
                  <a:srgbClr val="14213D"/>
                </a:solidFill>
                <a:latin typeface="Cambria Math"/>
                <a:ea typeface="Cambria Math"/>
              </a:rPr>
              <a:t>,f</a:t>
            </a:r>
            <a:r>
              <a:rPr sz="1023" b="0" i="0" baseline="-25000">
                <a:solidFill>
                  <a:srgbClr val="14213D"/>
                </a:solidFill>
                <a:latin typeface="Cambria Math"/>
                <a:ea typeface="Cambria Math"/>
              </a:rPr>
              <a:t>3</a:t>
            </a:r>
            <a:r>
              <a:rPr sz="1550" b="0" i="0">
                <a:solidFill>
                  <a:srgbClr val="14213D"/>
                </a:solidFill>
                <a:latin typeface="Noto Sans SC"/>
                <a:ea typeface="Noto Sans SC"/>
              </a:rPr>
              <a:t> 对任意 </a:t>
            </a:r>
            <a:r>
              <a:rPr sz="1550" b="0" i="0">
                <a:solidFill>
                  <a:srgbClr val="14213D"/>
                </a:solidFill>
                <a:latin typeface="Cambria Math"/>
                <a:ea typeface="Cambria Math"/>
              </a:rPr>
              <a:t>x∈ I</a:t>
            </a:r>
            <a:r>
              <a:rPr sz="1550" b="0" i="0">
                <a:solidFill>
                  <a:srgbClr val="14213D"/>
                </a:solidFill>
                <a:latin typeface="Noto Sans SC"/>
                <a:ea typeface="Noto Sans SC"/>
              </a:rPr>
              <a:t> 都有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4213D"/>
                </a:solidFill>
                <a:latin typeface="Cambria Math"/>
                <a:ea typeface="Cambria Math"/>
              </a:rPr>
              <a:t>f</a:t>
            </a:r>
            <a:r>
              <a:rPr sz="1023" b="0" i="0" baseline="-25000">
                <a:solidFill>
                  <a:srgbClr val="14213D"/>
                </a:solidFill>
                <a:latin typeface="Cambria Math"/>
                <a:ea typeface="Cambria Math"/>
              </a:rPr>
              <a:t>1</a:t>
            </a:r>
            <a:r>
              <a:rPr sz="1550" b="0" i="0">
                <a:solidFill>
                  <a:srgbClr val="14213D"/>
                </a:solidFill>
                <a:latin typeface="Cambria Math"/>
                <a:ea typeface="Cambria Math"/>
              </a:rPr>
              <a:t>(x)≤ f</a:t>
            </a:r>
            <a:r>
              <a:rPr sz="1023" b="0" i="0" baseline="-25000">
                <a:solidFill>
                  <a:srgbClr val="14213D"/>
                </a:solidFill>
                <a:latin typeface="Cambria Math"/>
                <a:ea typeface="Cambria Math"/>
              </a:rPr>
              <a:t>i</a:t>
            </a:r>
            <a:r>
              <a:rPr sz="1550" b="0" i="0">
                <a:solidFill>
                  <a:srgbClr val="14213D"/>
                </a:solidFill>
                <a:latin typeface="Cambria Math"/>
                <a:ea typeface="Cambria Math"/>
              </a:rPr>
              <a:t>(x)</a:t>
            </a:r>
            <a:r>
              <a:rPr sz="1550" b="0" i="0">
                <a:solidFill>
                  <a:srgbClr val="14213D"/>
                </a:solidFill>
                <a:latin typeface="Noto Sans SC"/>
                <a:ea typeface="Noto Sans SC"/>
              </a:rPr>
              <a:t>  且  </a:t>
            </a:r>
            <a:r>
              <a:rPr sz="1550" b="0" i="0">
                <a:solidFill>
                  <a:srgbClr val="14213D"/>
                </a:solidFill>
                <a:latin typeface="Cambria Math"/>
                <a:ea typeface="Cambria Math"/>
              </a:rPr>
              <a:t>f</a:t>
            </a:r>
            <a:r>
              <a:rPr sz="1023" b="0" i="0" baseline="-25000">
                <a:solidFill>
                  <a:srgbClr val="14213D"/>
                </a:solidFill>
                <a:latin typeface="Cambria Math"/>
                <a:ea typeface="Cambria Math"/>
              </a:rPr>
              <a:t>1</a:t>
            </a:r>
            <a:r>
              <a:rPr sz="1550" b="0" i="0">
                <a:solidFill>
                  <a:srgbClr val="14213D"/>
                </a:solidFill>
                <a:latin typeface="Cambria Math"/>
                <a:ea typeface="Cambria Math"/>
              </a:rPr>
              <a:t>(x)+f</a:t>
            </a:r>
            <a:r>
              <a:rPr sz="1023" b="0" i="0" baseline="-25000">
                <a:solidFill>
                  <a:srgbClr val="14213D"/>
                </a:solidFill>
                <a:latin typeface="Cambria Math"/>
                <a:ea typeface="Cambria Math"/>
              </a:rPr>
              <a:t>2</a:t>
            </a:r>
            <a:r>
              <a:rPr sz="1550" b="0" i="0">
                <a:solidFill>
                  <a:srgbClr val="14213D"/>
                </a:solidFill>
                <a:latin typeface="Cambria Math"/>
                <a:ea typeface="Cambria Math"/>
              </a:rPr>
              <a:t>(x)≤ f</a:t>
            </a:r>
            <a:r>
              <a:rPr sz="1023" b="0" i="0" baseline="-25000">
                <a:solidFill>
                  <a:srgbClr val="14213D"/>
                </a:solidFill>
                <a:latin typeface="Cambria Math"/>
                <a:ea typeface="Cambria Math"/>
              </a:rPr>
              <a:t>i</a:t>
            </a:r>
            <a:r>
              <a:rPr sz="1550" b="0" i="0">
                <a:solidFill>
                  <a:srgbClr val="14213D"/>
                </a:solidFill>
                <a:latin typeface="Cambria Math"/>
                <a:ea typeface="Cambria Math"/>
              </a:rPr>
              <a:t>(x)+f</a:t>
            </a:r>
            <a:r>
              <a:rPr sz="1023" b="0" i="0" baseline="-25000">
                <a:solidFill>
                  <a:srgbClr val="14213D"/>
                </a:solidFill>
                <a:latin typeface="Cambria Math"/>
                <a:ea typeface="Cambria Math"/>
              </a:rPr>
              <a:t>j</a:t>
            </a:r>
            <a:r>
              <a:rPr sz="1550" b="0" i="0">
                <a:solidFill>
                  <a:srgbClr val="14213D"/>
                </a:solidFill>
                <a:latin typeface="Cambria Math"/>
                <a:ea typeface="Cambria Math"/>
              </a:rPr>
              <a:t>(x)</a:t>
            </a:r>
            <a:r>
              <a:rPr sz="1550" b="0" i="0">
                <a:solidFill>
                  <a:srgbClr val="14213D"/>
                </a:solidFill>
                <a:latin typeface="Noto Sans SC"/>
                <a:ea typeface="Noto Sans SC"/>
              </a:rPr>
              <a:t>，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4213D"/>
                </a:solidFill>
                <a:latin typeface="Noto Sans SC"/>
                <a:ea typeface="Noto Sans SC"/>
              </a:rPr>
              <a:t>则称 </a:t>
            </a:r>
            <a:r>
              <a:rPr sz="1550" b="0" i="0">
                <a:solidFill>
                  <a:srgbClr val="14213D"/>
                </a:solidFill>
                <a:latin typeface="Cambria Math"/>
                <a:ea typeface="Cambria Math"/>
              </a:rPr>
              <a:t>(i,j,k)</a:t>
            </a:r>
            <a:r>
              <a:rPr sz="1550" b="0" i="0">
                <a:solidFill>
                  <a:srgbClr val="14213D"/>
                </a:solidFill>
                <a:latin typeface="Noto Sans SC"/>
                <a:ea typeface="Noto Sans SC"/>
              </a:rPr>
              <a:t> 是关于 </a:t>
            </a:r>
            <a:r>
              <a:rPr sz="1550" b="0" i="0">
                <a:solidFill>
                  <a:srgbClr val="14213D"/>
                </a:solidFill>
                <a:latin typeface="Cambria Math"/>
                <a:ea typeface="Cambria Math"/>
              </a:rPr>
              <a:t>f</a:t>
            </a:r>
            <a:r>
              <a:rPr sz="1023" b="0" i="0" baseline="-25000">
                <a:solidFill>
                  <a:srgbClr val="14213D"/>
                </a:solidFill>
                <a:latin typeface="Cambria Math"/>
                <a:ea typeface="Cambria Math"/>
              </a:rPr>
              <a:t>1</a:t>
            </a:r>
            <a:r>
              <a:rPr sz="1550" b="0" i="0">
                <a:solidFill>
                  <a:srgbClr val="14213D"/>
                </a:solidFill>
                <a:latin typeface="Cambria Math"/>
                <a:ea typeface="Cambria Math"/>
              </a:rPr>
              <a:t>,f</a:t>
            </a:r>
            <a:r>
              <a:rPr sz="1023" b="0" i="0" baseline="-25000">
                <a:solidFill>
                  <a:srgbClr val="14213D"/>
                </a:solidFill>
                <a:latin typeface="Cambria Math"/>
                <a:ea typeface="Cambria Math"/>
              </a:rPr>
              <a:t>2</a:t>
            </a:r>
            <a:r>
              <a:rPr sz="1550" b="0" i="0">
                <a:solidFill>
                  <a:srgbClr val="14213D"/>
                </a:solidFill>
                <a:latin typeface="Cambria Math"/>
                <a:ea typeface="Cambria Math"/>
              </a:rPr>
              <a:t>,f</a:t>
            </a:r>
            <a:r>
              <a:rPr sz="1023" b="0" i="0" baseline="-25000">
                <a:solidFill>
                  <a:srgbClr val="14213D"/>
                </a:solidFill>
                <a:latin typeface="Cambria Math"/>
                <a:ea typeface="Cambria Math"/>
              </a:rPr>
              <a:t>3</a:t>
            </a:r>
            <a:r>
              <a:rPr sz="1550" b="0" i="0">
                <a:solidFill>
                  <a:srgbClr val="14213D"/>
                </a:solidFill>
                <a:latin typeface="Noto Sans SC"/>
                <a:ea typeface="Noto Sans SC"/>
              </a:rPr>
              <a:t> 的一个 </a:t>
            </a:r>
            <a:r>
              <a:rPr sz="1550" b="0" i="0">
                <a:solidFill>
                  <a:srgbClr val="14213D"/>
                </a:solidFill>
                <a:latin typeface="Cambria Math"/>
                <a:ea typeface="Cambria Math"/>
              </a:rPr>
              <a:t>I</a:t>
            </a:r>
            <a:r>
              <a:rPr sz="1550" b="0" i="0">
                <a:solidFill>
                  <a:srgbClr val="14213D"/>
                </a:solidFill>
                <a:latin typeface="Noto Sans SC"/>
                <a:ea typeface="Noto Sans SC"/>
              </a:rPr>
              <a:t> 排列，其总数记为 </a:t>
            </a:r>
            <a:r>
              <a:rPr sz="1550" b="0" i="0">
                <a:solidFill>
                  <a:srgbClr val="14213D"/>
                </a:solidFill>
                <a:latin typeface="Cambria Math"/>
                <a:ea typeface="Cambria Math"/>
              </a:rPr>
              <a:t>n</a:t>
            </a:r>
            <a:r>
              <a:rPr sz="1023" b="0" i="0" baseline="-25000">
                <a:solidFill>
                  <a:srgbClr val="14213D"/>
                </a:solidFill>
                <a:latin typeface="Cambria Math"/>
                <a:ea typeface="Cambria Math"/>
              </a:rPr>
              <a:t>I</a:t>
            </a:r>
            <a:r>
              <a:rPr sz="1550" b="0" i="0">
                <a:solidFill>
                  <a:srgbClr val="14213D"/>
                </a:solidFill>
                <a:latin typeface="Noto Sans SC"/>
                <a:ea typeface="Noto Sans SC"/>
              </a:rPr>
              <a:t>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611880"/>
            <a:ext cx="5285232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776472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1495B"/>
                </a:solidFill>
                <a:latin typeface="Noto Serif SC"/>
                <a:ea typeface="Noto Serif SC"/>
              </a:rPr>
              <a:t>（1）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114800"/>
            <a:ext cx="4773168" cy="1325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B3A55"/>
                </a:solidFill>
                <a:latin typeface="Noto Sans SC"/>
                <a:ea typeface="Noto Sans SC"/>
              </a:rPr>
              <a:t>已知 </a:t>
            </a:r>
            <a:r>
              <a:rPr sz="1500" b="0" i="0">
                <a:solidFill>
                  <a:srgbClr val="2B3A55"/>
                </a:solidFill>
                <a:latin typeface="Cambria Math"/>
                <a:ea typeface="Cambria Math"/>
              </a:rPr>
              <a:t>I=[3,+∞)</a:t>
            </a:r>
            <a:r>
              <a:rPr sz="1500" b="0" i="0">
                <a:solidFill>
                  <a:srgbClr val="2B3A55"/>
                </a:solidFill>
                <a:latin typeface="Noto Sans SC"/>
                <a:ea typeface="Noto Sans SC"/>
              </a:rPr>
              <a:t>，</a:t>
            </a:r>
            <a:r>
              <a:rPr sz="1500" b="0" i="0">
                <a:solidFill>
                  <a:srgbClr val="2B3A55"/>
                </a:solidFill>
                <a:latin typeface="Cambria Math"/>
                <a:ea typeface="Cambria Math"/>
              </a:rPr>
              <a:t>f</a:t>
            </a:r>
            <a:r>
              <a:rPr sz="990" b="0" i="0" baseline="-25000">
                <a:solidFill>
                  <a:srgbClr val="2B3A55"/>
                </a:solidFill>
                <a:latin typeface="Cambria Math"/>
                <a:ea typeface="Cambria Math"/>
              </a:rPr>
              <a:t>1</a:t>
            </a:r>
            <a:r>
              <a:rPr sz="1500" b="0" i="0">
                <a:solidFill>
                  <a:srgbClr val="2B3A55"/>
                </a:solidFill>
                <a:latin typeface="Cambria Math"/>
                <a:ea typeface="Cambria Math"/>
              </a:rPr>
              <a:t>(x)=x</a:t>
            </a:r>
            <a:r>
              <a:rPr sz="1500" b="0" i="0">
                <a:solidFill>
                  <a:srgbClr val="2B3A55"/>
                </a:solidFill>
                <a:latin typeface="Noto Sans SC"/>
                <a:ea typeface="Noto Sans SC"/>
              </a:rPr>
              <a:t>，</a:t>
            </a:r>
            <a:r>
              <a:rPr sz="1500" b="0" i="0">
                <a:solidFill>
                  <a:srgbClr val="2B3A55"/>
                </a:solidFill>
                <a:latin typeface="Cambria Math"/>
                <a:ea typeface="Cambria Math"/>
              </a:rPr>
              <a:t>f</a:t>
            </a:r>
            <a:r>
              <a:rPr sz="990" b="0" i="0" baseline="-25000">
                <a:solidFill>
                  <a:srgbClr val="2B3A55"/>
                </a:solidFill>
                <a:latin typeface="Cambria Math"/>
                <a:ea typeface="Cambria Math"/>
              </a:rPr>
              <a:t>2</a:t>
            </a:r>
            <a:r>
              <a:rPr sz="1500" b="0" i="0">
                <a:solidFill>
                  <a:srgbClr val="2B3A55"/>
                </a:solidFill>
                <a:latin typeface="Cambria Math"/>
                <a:ea typeface="Cambria Math"/>
              </a:rPr>
              <a:t>(x)=0</a:t>
            </a:r>
            <a:r>
              <a:rPr sz="1500" b="0" i="0">
                <a:solidFill>
                  <a:srgbClr val="2B3A55"/>
                </a:solidFill>
                <a:latin typeface="Noto Sans SC"/>
                <a:ea typeface="Noto Sans SC"/>
              </a:rPr>
              <a:t>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B3A55"/>
                </a:solidFill>
                <a:latin typeface="Cambria Math"/>
                <a:ea typeface="Cambria Math"/>
              </a:rPr>
              <a:t>f</a:t>
            </a:r>
            <a:r>
              <a:rPr sz="990" b="0" i="0" baseline="-25000">
                <a:solidFill>
                  <a:srgbClr val="2B3A55"/>
                </a:solidFill>
                <a:latin typeface="Cambria Math"/>
                <a:ea typeface="Cambria Math"/>
              </a:rPr>
              <a:t>3</a:t>
            </a:r>
            <a:r>
              <a:rPr sz="1500" b="0" i="0">
                <a:solidFill>
                  <a:srgbClr val="2B3A55"/>
                </a:solidFill>
                <a:latin typeface="Cambria Math"/>
                <a:ea typeface="Cambria Math"/>
              </a:rPr>
              <a:t>(x)=x</a:t>
            </a:r>
            <a:r>
              <a:rPr sz="1380" b="0" i="0">
                <a:solidFill>
                  <a:srgbClr val="2B3A55"/>
                </a:solidFill>
                <a:latin typeface="Cambria Math"/>
                <a:ea typeface="Cambria Math"/>
              </a:rPr>
              <a:t>²</a:t>
            </a:r>
            <a:r>
              <a:rPr sz="1500" b="0" i="0">
                <a:solidFill>
                  <a:srgbClr val="2B3A55"/>
                </a:solidFill>
                <a:latin typeface="Cambria Math"/>
                <a:ea typeface="Cambria Math"/>
              </a:rPr>
              <a:t>+1</a:t>
            </a:r>
            <a:r>
              <a:rPr sz="1500" b="0" i="0">
                <a:solidFill>
                  <a:srgbClr val="2B3A55"/>
                </a:solidFill>
                <a:latin typeface="Noto Sans SC"/>
                <a:ea typeface="Noto Sans SC"/>
              </a:rPr>
              <a:t>，判断 </a:t>
            </a:r>
            <a:r>
              <a:rPr sz="1500" b="0" i="0">
                <a:solidFill>
                  <a:srgbClr val="2B3A55"/>
                </a:solidFill>
                <a:latin typeface="Cambria Math"/>
                <a:ea typeface="Cambria Math"/>
              </a:rPr>
              <a:t>(3,1,2)</a:t>
            </a:r>
            <a:r>
              <a:rPr sz="1500" b="0" i="0">
                <a:solidFill>
                  <a:srgbClr val="2B3A55"/>
                </a:solidFill>
                <a:latin typeface="Noto Sans SC"/>
                <a:ea typeface="Noto Sans SC"/>
              </a:rPr>
              <a:t> 是否为 </a:t>
            </a:r>
            <a:r>
              <a:rPr sz="1500" b="0" i="0">
                <a:solidFill>
                  <a:srgbClr val="2B3A55"/>
                </a:solidFill>
                <a:latin typeface="Cambria Math"/>
                <a:ea typeface="Cambria Math"/>
              </a:rPr>
              <a:t>I</a:t>
            </a:r>
            <a:r>
              <a:rPr sz="1500" b="0" i="0">
                <a:solidFill>
                  <a:srgbClr val="2B3A55"/>
                </a:solidFill>
                <a:latin typeface="Noto Sans SC"/>
                <a:ea typeface="Noto Sans SC"/>
              </a:rPr>
              <a:t> 排列。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611880"/>
            <a:ext cx="5285232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776472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A6F6B"/>
                </a:solidFill>
                <a:latin typeface="Noto Serif SC"/>
                <a:ea typeface="Noto Serif SC"/>
              </a:rPr>
              <a:t>（2）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114800"/>
            <a:ext cx="4773168" cy="1325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B3A55"/>
                </a:solidFill>
                <a:latin typeface="Noto Sans SC"/>
                <a:ea typeface="Noto Sans SC"/>
              </a:rPr>
              <a:t>对 </a:t>
            </a:r>
            <a:r>
              <a:rPr sz="1500" b="0" i="0">
                <a:solidFill>
                  <a:srgbClr val="2B3A55"/>
                </a:solidFill>
                <a:latin typeface="Cambria Math"/>
                <a:ea typeface="Cambria Math"/>
              </a:rPr>
              <a:t>I=(0,+∞)</a:t>
            </a:r>
            <a:r>
              <a:rPr sz="1500" b="0" i="0">
                <a:solidFill>
                  <a:srgbClr val="2B3A55"/>
                </a:solidFill>
                <a:latin typeface="Noto Sans SC"/>
                <a:ea typeface="Noto Sans SC"/>
              </a:rPr>
              <a:t>，</a:t>
            </a:r>
            <a:r>
              <a:rPr sz="1500" b="0" i="0">
                <a:solidFill>
                  <a:srgbClr val="2B3A55"/>
                </a:solidFill>
                <a:latin typeface="Cambria Math"/>
                <a:ea typeface="Cambria Math"/>
              </a:rPr>
              <a:t>f</a:t>
            </a:r>
            <a:r>
              <a:rPr sz="990" b="0" i="0" baseline="-25000">
                <a:solidFill>
                  <a:srgbClr val="2B3A55"/>
                </a:solidFill>
                <a:latin typeface="Cambria Math"/>
                <a:ea typeface="Cambria Math"/>
              </a:rPr>
              <a:t>1</a:t>
            </a:r>
            <a:r>
              <a:rPr sz="1500" b="0" i="0">
                <a:solidFill>
                  <a:srgbClr val="2B3A55"/>
                </a:solidFill>
                <a:latin typeface="Cambria Math"/>
                <a:ea typeface="Cambria Math"/>
              </a:rPr>
              <a:t>(x)=x-1</a:t>
            </a:r>
            <a:r>
              <a:rPr sz="1500" b="0" i="0">
                <a:solidFill>
                  <a:srgbClr val="2B3A55"/>
                </a:solidFill>
                <a:latin typeface="Noto Sans SC"/>
                <a:ea typeface="Noto Sans SC"/>
              </a:rPr>
              <a:t>，</a:t>
            </a:r>
            <a:r>
              <a:rPr sz="1500" b="0" i="0">
                <a:solidFill>
                  <a:srgbClr val="2B3A55"/>
                </a:solidFill>
                <a:latin typeface="Cambria Math"/>
                <a:ea typeface="Cambria Math"/>
              </a:rPr>
              <a:t>f</a:t>
            </a:r>
            <a:r>
              <a:rPr sz="990" b="0" i="0" baseline="-25000">
                <a:solidFill>
                  <a:srgbClr val="2B3A55"/>
                </a:solidFill>
                <a:latin typeface="Cambria Math"/>
                <a:ea typeface="Cambria Math"/>
              </a:rPr>
              <a:t>2</a:t>
            </a:r>
            <a:r>
              <a:rPr sz="1500" b="0" i="0">
                <a:solidFill>
                  <a:srgbClr val="2B3A55"/>
                </a:solidFill>
                <a:latin typeface="Cambria Math"/>
                <a:ea typeface="Cambria Math"/>
              </a:rPr>
              <a:t>(x)=x+m</a:t>
            </a:r>
            <a:r>
              <a:rPr sz="1500" b="0" i="0">
                <a:solidFill>
                  <a:srgbClr val="2B3A55"/>
                </a:solidFill>
                <a:latin typeface="Noto Sans SC"/>
                <a:ea typeface="Noto Sans SC"/>
              </a:rPr>
              <a:t>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B3A55"/>
                </a:solidFill>
                <a:latin typeface="Cambria Math"/>
                <a:ea typeface="Cambria Math"/>
              </a:rPr>
              <a:t>f</a:t>
            </a:r>
            <a:r>
              <a:rPr sz="990" b="0" i="0" baseline="-25000">
                <a:solidFill>
                  <a:srgbClr val="2B3A55"/>
                </a:solidFill>
                <a:latin typeface="Cambria Math"/>
                <a:ea typeface="Cambria Math"/>
              </a:rPr>
              <a:t>3</a:t>
            </a:r>
            <a:r>
              <a:rPr sz="1500" b="0" i="0">
                <a:solidFill>
                  <a:srgbClr val="2B3A55"/>
                </a:solidFill>
                <a:latin typeface="Cambria Math"/>
                <a:ea typeface="Cambria Math"/>
              </a:rPr>
              <a:t>(x)=x</a:t>
            </a:r>
            <a:r>
              <a:rPr sz="1380" b="0" i="0">
                <a:solidFill>
                  <a:srgbClr val="2B3A55"/>
                </a:solidFill>
                <a:latin typeface="Cambria Math"/>
                <a:ea typeface="Cambria Math"/>
              </a:rPr>
              <a:t>²</a:t>
            </a:r>
            <a:r>
              <a:rPr sz="1500" b="0" i="0">
                <a:solidFill>
                  <a:srgbClr val="2B3A55"/>
                </a:solidFill>
                <a:latin typeface="Noto Sans SC"/>
                <a:ea typeface="Noto Sans SC"/>
              </a:rPr>
              <a:t> 满足条件的 </a:t>
            </a:r>
            <a:r>
              <a:rPr sz="1500" b="0" i="0">
                <a:solidFill>
                  <a:srgbClr val="2B3A55"/>
                </a:solidFill>
                <a:latin typeface="Cambria Math"/>
                <a:ea typeface="Cambria Math"/>
              </a:rPr>
              <a:t>n</a:t>
            </a:r>
            <a:r>
              <a:rPr sz="990" b="0" i="0" baseline="-25000">
                <a:solidFill>
                  <a:srgbClr val="2B3A55"/>
                </a:solidFill>
                <a:latin typeface="Cambria Math"/>
                <a:ea typeface="Cambria Math"/>
              </a:rPr>
              <a:t>I</a:t>
            </a:r>
            <a:r>
              <a:rPr sz="1500" b="0" i="0">
                <a:solidFill>
                  <a:srgbClr val="2B3A55"/>
                </a:solidFill>
                <a:latin typeface="Cambria Math"/>
                <a:ea typeface="Cambria Math"/>
              </a:rPr>
              <a:t>=6</a:t>
            </a:r>
            <a:r>
              <a:rPr sz="1500" b="0" i="0">
                <a:solidFill>
                  <a:srgbClr val="2B3A55"/>
                </a:solidFill>
                <a:latin typeface="Noto Sans SC"/>
                <a:ea typeface="Noto Sans SC"/>
              </a:rPr>
              <a:t>，求 </a:t>
            </a:r>
            <a:r>
              <a:rPr sz="1500" b="0" i="0">
                <a:solidFill>
                  <a:srgbClr val="2B3A55"/>
                </a:solidFill>
                <a:latin typeface="Cambria Math"/>
                <a:ea typeface="Cambria Math"/>
              </a:rPr>
              <a:t>m</a:t>
            </a:r>
            <a:r>
              <a:rPr sz="1500" b="0" i="0">
                <a:solidFill>
                  <a:srgbClr val="2B3A55"/>
                </a:solidFill>
                <a:latin typeface="Noto Sans SC"/>
                <a:ea typeface="Noto Sans SC"/>
              </a:rPr>
              <a:t> 的取值范围。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Noto Sans SC"/>
                <a:ea typeface="Noto Sans SC"/>
              </a:rPr>
              <a:t>提示：代入 </a:t>
            </a:r>
            <a:r>
              <a:rPr sz="1000" b="0" i="0">
                <a:solidFill>
                  <a:srgbClr val="6B7280"/>
                </a:solidFill>
                <a:latin typeface="Cambria Math"/>
                <a:ea typeface="Cambria Math"/>
              </a:rPr>
              <a:t>i=3,j=1</a:t>
            </a:r>
            <a:r>
              <a:rPr sz="1000" b="0" i="0">
                <a:solidFill>
                  <a:srgbClr val="6B7280"/>
                </a:solidFill>
                <a:latin typeface="Noto Sans SC"/>
                <a:ea typeface="Noto Sans SC"/>
              </a:rPr>
              <a:t>，逐条验证。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509320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Noto Sans SC"/>
                <a:ea typeface="Noto Sans SC"/>
              </a:rPr>
              <a:t>提示：</a:t>
            </a:r>
            <a:r>
              <a:rPr sz="1000" b="0" i="0">
                <a:solidFill>
                  <a:srgbClr val="6B7280"/>
                </a:solidFill>
                <a:latin typeface="Cambria Math"/>
                <a:ea typeface="Cambria Math"/>
              </a:rPr>
              <a:t>n</a:t>
            </a:r>
            <a:r>
              <a:rPr sz="660" b="0" i="0" baseline="-25000">
                <a:solidFill>
                  <a:srgbClr val="6B7280"/>
                </a:solidFill>
                <a:latin typeface="Cambria Math"/>
                <a:ea typeface="Cambria Math"/>
              </a:rPr>
              <a:t>I</a:t>
            </a:r>
            <a:r>
              <a:rPr sz="1000" b="0" i="0">
                <a:solidFill>
                  <a:srgbClr val="6B7280"/>
                </a:solidFill>
                <a:latin typeface="Cambria Math"/>
                <a:ea typeface="Cambria Math"/>
              </a:rPr>
              <a:t>=6⇔ A=B=C=1</a:t>
            </a:r>
            <a:r>
              <a:rPr sz="1000" b="0" i="0">
                <a:solidFill>
                  <a:srgbClr val="6B7280"/>
                </a:solidFill>
                <a:latin typeface="Noto Sans SC"/>
                <a:ea typeface="Noto Sans SC"/>
              </a:rPr>
              <a:t>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Noto Sans SC"/>
                <a:ea typeface="Noto Sans SC"/>
              </a:rPr>
              <a:t>注：条件中不出现 </a:t>
            </a:r>
            <a:r>
              <a:rPr sz="1050" b="0" i="0">
                <a:solidFill>
                  <a:srgbClr val="6B7280"/>
                </a:solidFill>
                <a:latin typeface="Cambria Math"/>
                <a:ea typeface="Cambria Math"/>
              </a:rPr>
              <a:t>f</a:t>
            </a:r>
            <a:r>
              <a:rPr sz="693" b="0" i="0" baseline="-25000">
                <a:solidFill>
                  <a:srgbClr val="6B7280"/>
                </a:solidFill>
                <a:latin typeface="Cambria Math"/>
                <a:ea typeface="Cambria Math"/>
              </a:rPr>
              <a:t>k</a:t>
            </a:r>
            <a:r>
              <a:rPr sz="1050" b="0" i="0">
                <a:solidFill>
                  <a:srgbClr val="6B7280"/>
                </a:solidFill>
                <a:latin typeface="Noto Sans SC"/>
                <a:ea typeface="Noto Sans SC"/>
              </a:rPr>
              <a:t>；</a:t>
            </a:r>
            <a:r>
              <a:rPr sz="1050" b="0" i="0">
                <a:solidFill>
                  <a:srgbClr val="6B7280"/>
                </a:solidFill>
                <a:latin typeface="Cambria Math"/>
                <a:ea typeface="Cambria Math"/>
              </a:rPr>
              <a:t>k</a:t>
            </a:r>
            <a:r>
              <a:rPr sz="1050" b="0" i="0">
                <a:solidFill>
                  <a:srgbClr val="6B7280"/>
                </a:solidFill>
                <a:latin typeface="Noto Sans SC"/>
                <a:ea typeface="Noto Sans SC"/>
              </a:rPr>
              <a:t> 由 </a:t>
            </a:r>
            <a:r>
              <a:rPr sz="1050" b="0" i="0">
                <a:solidFill>
                  <a:srgbClr val="6B7280"/>
                </a:solidFill>
                <a:latin typeface="Cambria Math"/>
                <a:ea typeface="Cambria Math"/>
              </a:rPr>
              <a:t>i,j</a:t>
            </a:r>
            <a:r>
              <a:rPr sz="1050" b="0" i="0">
                <a:solidFill>
                  <a:srgbClr val="6B7280"/>
                </a:solidFill>
                <a:latin typeface="Noto Sans SC"/>
                <a:ea typeface="Noto Sans SC"/>
              </a:rPr>
              <a:t> 唯一确定。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64008" cy="475488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10634472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A6F6B"/>
                </a:solidFill>
                <a:latin typeface="Noto Sans SC"/>
                <a:ea typeface="Noto Sans SC"/>
              </a:rPr>
              <a:t>PROBLEM STATEMENT  /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85216"/>
            <a:ext cx="10634472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Noto Serif SC"/>
                <a:ea typeface="Noto Serif SC"/>
              </a:rPr>
              <a:t>题目原文（二）：第 (3) 问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25296"/>
            <a:ext cx="10817352" cy="10972"/>
          </a:xfrm>
          <a:prstGeom prst="rect">
            <a:avLst/>
          </a:prstGeom>
          <a:solidFill>
            <a:srgbClr val="DCD5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80192" y="651967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Noto Sans SC"/>
                <a:ea typeface="Noto Sans SC"/>
              </a:rPr>
              <a:t>03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Noto Sans SC"/>
                <a:ea typeface="Noto Sans SC"/>
              </a:rPr>
              <a:t>函数序关系与 I 排列  ·  2026 上海高考数学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26464"/>
            <a:ext cx="10817352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B3A55"/>
                </a:solidFill>
                <a:latin typeface="Noto Sans SC"/>
                <a:ea typeface="Noto Sans SC"/>
              </a:rPr>
              <a:t>对 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x∈[0,+∞)</a:t>
            </a:r>
            <a:r>
              <a:rPr sz="1450" b="0" i="0">
                <a:solidFill>
                  <a:srgbClr val="2B3A55"/>
                </a:solidFill>
                <a:latin typeface="Noto Sans SC"/>
                <a:ea typeface="Noto Sans SC"/>
              </a:rPr>
              <a:t>，都有 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0&lt;F(x)&lt;1</a:t>
            </a:r>
            <a:r>
              <a:rPr sz="1450" b="0" i="0">
                <a:solidFill>
                  <a:srgbClr val="2B3A55"/>
                </a:solidFill>
                <a:latin typeface="Noto Sans SC"/>
                <a:ea typeface="Noto Sans SC"/>
              </a:rPr>
              <a:t>。令 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I=[a,+∞)</a:t>
            </a:r>
            <a:r>
              <a:rPr sz="1450" b="0" i="0">
                <a:solidFill>
                  <a:srgbClr val="2B3A55"/>
                </a:solidFill>
                <a:latin typeface="Noto Sans SC"/>
                <a:ea typeface="Noto Sans SC"/>
              </a:rPr>
              <a:t>（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a&gt;0</a:t>
            </a:r>
            <a:r>
              <a:rPr sz="1450" b="0" i="0">
                <a:solidFill>
                  <a:srgbClr val="2B3A55"/>
                </a:solidFill>
                <a:latin typeface="Noto Sans SC"/>
                <a:ea typeface="Noto Sans SC"/>
              </a:rPr>
              <a:t>），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47088"/>
            <a:ext cx="32461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956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1495B"/>
                </a:solidFill>
                <a:latin typeface="Noto Sans SC"/>
                <a:ea typeface="Noto Sans SC"/>
              </a:rPr>
              <a:t>f₁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231136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Cambria Math"/>
                <a:ea typeface="Cambria Math"/>
              </a:rPr>
              <a:t>f</a:t>
            </a:r>
            <a:r>
              <a:rPr sz="990" b="0" i="0" baseline="-25000">
                <a:solidFill>
                  <a:srgbClr val="14213D"/>
                </a:solidFill>
                <a:latin typeface="Cambria Math"/>
                <a:ea typeface="Cambria Math"/>
              </a:rPr>
              <a:t>1</a:t>
            </a:r>
            <a:r>
              <a:rPr sz="1500" b="0" i="0">
                <a:solidFill>
                  <a:srgbClr val="14213D"/>
                </a:solidFill>
                <a:latin typeface="Cambria Math"/>
                <a:ea typeface="Cambria Math"/>
              </a:rPr>
              <a:t>(x)=F(x)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606040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Noto Sans SC"/>
                <a:ea typeface="Noto Sans SC"/>
              </a:rPr>
              <a:t>原函数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78224" y="1847088"/>
            <a:ext cx="41605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2816" y="1956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6F6B"/>
                </a:solidFill>
                <a:latin typeface="Noto Sans SC"/>
                <a:ea typeface="Noto Sans SC"/>
              </a:rPr>
              <a:t>f₂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2816" y="2231136"/>
            <a:ext cx="38862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Cambria Math"/>
                <a:ea typeface="Cambria Math"/>
              </a:rPr>
              <a:t>f</a:t>
            </a:r>
            <a:r>
              <a:rPr sz="990" b="0" i="0" baseline="-25000">
                <a:solidFill>
                  <a:srgbClr val="14213D"/>
                </a:solidFill>
                <a:latin typeface="Cambria Math"/>
                <a:ea typeface="Cambria Math"/>
              </a:rPr>
              <a:t>2</a:t>
            </a:r>
            <a:r>
              <a:rPr sz="1500" b="0" i="0">
                <a:solidFill>
                  <a:srgbClr val="14213D"/>
                </a:solidFill>
                <a:latin typeface="Cambria Math"/>
                <a:ea typeface="Cambria Math"/>
              </a:rPr>
              <a:t>(x)=½[F(x+a)+F(x-a)]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2816" y="2606040"/>
            <a:ext cx="38862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Noto Sans SC"/>
                <a:ea typeface="Noto Sans SC"/>
              </a:rPr>
              <a:t>对称平均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85048" y="1847088"/>
            <a:ext cx="311810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1956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227"/>
                </a:solidFill>
                <a:latin typeface="Noto Sans SC"/>
                <a:ea typeface="Noto Sans SC"/>
              </a:rPr>
              <a:t>f₃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31136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Cambria Math"/>
                <a:ea typeface="Cambria Math"/>
              </a:rPr>
              <a:t>f</a:t>
            </a:r>
            <a:r>
              <a:rPr sz="990" b="0" i="0" baseline="-25000">
                <a:solidFill>
                  <a:srgbClr val="14213D"/>
                </a:solidFill>
                <a:latin typeface="Cambria Math"/>
                <a:ea typeface="Cambria Math"/>
              </a:rPr>
              <a:t>3</a:t>
            </a:r>
            <a:r>
              <a:rPr sz="1500" b="0" i="0">
                <a:solidFill>
                  <a:srgbClr val="14213D"/>
                </a:solidFill>
                <a:latin typeface="Cambria Math"/>
                <a:ea typeface="Cambria Math"/>
              </a:rPr>
              <a:t>(x)=1-e</a:t>
            </a:r>
            <a:r>
              <a:rPr sz="1170" b="0" i="0">
                <a:solidFill>
                  <a:srgbClr val="14213D"/>
                </a:solidFill>
                <a:latin typeface="Cambria Math"/>
                <a:ea typeface="Cambria Math"/>
              </a:rPr>
              <a:t>⁻ˣ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606040"/>
            <a:ext cx="283464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Noto Sans SC"/>
                <a:ea typeface="Noto Sans SC"/>
              </a:rPr>
              <a:t>指数参照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246120"/>
            <a:ext cx="528523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246120"/>
            <a:ext cx="5285232" cy="54864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465576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1495B"/>
                </a:solidFill>
                <a:latin typeface="Noto Sans SC"/>
                <a:ea typeface="Noto Sans SC"/>
              </a:rPr>
              <a:t>①  F 严格递减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959352"/>
            <a:ext cx="4663440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4213D"/>
                </a:solidFill>
                <a:latin typeface="Noto Serif SC"/>
                <a:ea typeface="Noto Serif SC"/>
              </a:rPr>
              <a:t>则存在 </a:t>
            </a:r>
            <a:r>
              <a:rPr sz="2200" b="0" i="0">
                <a:solidFill>
                  <a:srgbClr val="14213D"/>
                </a:solidFill>
                <a:latin typeface="Cambria Math"/>
                <a:ea typeface="Cambria Math"/>
              </a:rPr>
              <a:t>a&gt;0</a:t>
            </a:r>
            <a:r>
              <a:rPr sz="2200" b="0" i="0">
                <a:solidFill>
                  <a:srgbClr val="14213D"/>
                </a:solidFill>
                <a:latin typeface="Noto Serif SC"/>
                <a:ea typeface="Noto Serif SC"/>
              </a:rPr>
              <a:t>，使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4213D"/>
                </a:solidFill>
                <a:latin typeface="Cambria Math"/>
                <a:ea typeface="Cambria Math"/>
              </a:rPr>
              <a:t>n</a:t>
            </a:r>
            <a:r>
              <a:rPr sz="1452" b="0" i="0" baseline="-25000">
                <a:solidFill>
                  <a:srgbClr val="14213D"/>
                </a:solidFill>
                <a:latin typeface="Cambria Math"/>
                <a:ea typeface="Cambria Math"/>
              </a:rPr>
              <a:t>I</a:t>
            </a:r>
            <a:r>
              <a:rPr sz="2200" b="0" i="0">
                <a:solidFill>
                  <a:srgbClr val="14213D"/>
                </a:solidFill>
                <a:latin typeface="Cambria Math"/>
                <a:ea typeface="Cambria Math"/>
              </a:rPr>
              <a:t>≥ 4</a:t>
            </a:r>
            <a:r>
              <a:rPr sz="2200" b="0" i="0">
                <a:solidFill>
                  <a:srgbClr val="14213D"/>
                </a:solidFill>
                <a:latin typeface="Noto Serif SC"/>
                <a:ea typeface="Noto Serif SC"/>
              </a:rPr>
              <a:t>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246120"/>
            <a:ext cx="528523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3246120"/>
            <a:ext cx="5285232" cy="54864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465576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A6F6B"/>
                </a:solidFill>
                <a:latin typeface="Noto Sans SC"/>
                <a:ea typeface="Noto Sans SC"/>
              </a:rPr>
              <a:t>②  F 严格递增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959352"/>
            <a:ext cx="4663440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4213D"/>
                </a:solidFill>
                <a:latin typeface="Noto Serif SC"/>
                <a:ea typeface="Noto Serif SC"/>
              </a:rPr>
              <a:t>则存在 </a:t>
            </a:r>
            <a:r>
              <a:rPr sz="2200" b="0" i="0">
                <a:solidFill>
                  <a:srgbClr val="14213D"/>
                </a:solidFill>
                <a:latin typeface="Cambria Math"/>
                <a:ea typeface="Cambria Math"/>
              </a:rPr>
              <a:t>a∈(0,1)</a:t>
            </a:r>
            <a:r>
              <a:rPr sz="2200" b="0" i="0">
                <a:solidFill>
                  <a:srgbClr val="14213D"/>
                </a:solidFill>
                <a:latin typeface="Noto Serif SC"/>
                <a:ea typeface="Noto Serif SC"/>
              </a:rPr>
              <a:t>，使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4213D"/>
                </a:solidFill>
                <a:latin typeface="Cambria Math"/>
                <a:ea typeface="Cambria Math"/>
              </a:rPr>
              <a:t>n</a:t>
            </a:r>
            <a:r>
              <a:rPr sz="1452" b="0" i="0" baseline="-25000">
                <a:solidFill>
                  <a:srgbClr val="14213D"/>
                </a:solidFill>
                <a:latin typeface="Cambria Math"/>
                <a:ea typeface="Cambria Math"/>
              </a:rPr>
              <a:t>I</a:t>
            </a:r>
            <a:r>
              <a:rPr sz="2200" b="0" i="0">
                <a:solidFill>
                  <a:srgbClr val="14213D"/>
                </a:solidFill>
                <a:latin typeface="Cambria Math"/>
                <a:ea typeface="Cambria Math"/>
              </a:rPr>
              <a:t>≠ 2</a:t>
            </a:r>
            <a:r>
              <a:rPr sz="2200" b="0" i="0">
                <a:solidFill>
                  <a:srgbClr val="14213D"/>
                </a:solidFill>
                <a:latin typeface="Noto Serif SC"/>
                <a:ea typeface="Noto Serif SC"/>
              </a:rPr>
              <a:t>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12064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Noto Sans SC"/>
                <a:ea typeface="Noto Sans SC"/>
              </a:rPr>
              <a:t>方法：取大 </a:t>
            </a:r>
            <a:r>
              <a:rPr sz="1050" b="0" i="0">
                <a:solidFill>
                  <a:srgbClr val="6B7280"/>
                </a:solidFill>
                <a:latin typeface="Cambria Math"/>
                <a:ea typeface="Cambria Math"/>
              </a:rPr>
              <a:t>a</a:t>
            </a:r>
            <a:r>
              <a:rPr sz="1050" b="0" i="0">
                <a:solidFill>
                  <a:srgbClr val="6B7280"/>
                </a:solidFill>
                <a:latin typeface="Noto Sans SC"/>
                <a:ea typeface="Noto Sans SC"/>
              </a:rPr>
              <a:t>，让 </a:t>
            </a:r>
            <a:r>
              <a:rPr sz="1050" b="0" i="0">
                <a:solidFill>
                  <a:srgbClr val="6B7280"/>
                </a:solidFill>
                <a:latin typeface="Cambria Math"/>
                <a:ea typeface="Cambria Math"/>
              </a:rPr>
              <a:t>f</a:t>
            </a:r>
            <a:r>
              <a:rPr sz="693" b="0" i="0" baseline="-25000">
                <a:solidFill>
                  <a:srgbClr val="6B7280"/>
                </a:solidFill>
                <a:latin typeface="Cambria Math"/>
                <a:ea typeface="Cambria Math"/>
              </a:rPr>
              <a:t>3</a:t>
            </a:r>
            <a:r>
              <a:rPr sz="1050" b="0" i="0">
                <a:solidFill>
                  <a:srgbClr val="6B7280"/>
                </a:solidFill>
                <a:latin typeface="Noto Sans SC"/>
                <a:ea typeface="Noto Sans SC"/>
              </a:rPr>
              <a:t> 主导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12064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Noto Sans SC"/>
                <a:ea typeface="Noto Sans SC"/>
              </a:rPr>
              <a:t>方法：先证 </a:t>
            </a:r>
            <a:r>
              <a:rPr sz="1050" b="0" i="0">
                <a:solidFill>
                  <a:srgbClr val="6B7280"/>
                </a:solidFill>
                <a:latin typeface="Cambria Math"/>
                <a:ea typeface="Cambria Math"/>
              </a:rPr>
              <a:t>A=0</a:t>
            </a:r>
            <a:r>
              <a:rPr sz="1050" b="0" i="0">
                <a:solidFill>
                  <a:srgbClr val="6B7280"/>
                </a:solidFill>
                <a:latin typeface="Noto Sans SC"/>
                <a:ea typeface="Noto Sans SC"/>
              </a:rPr>
              <a:t>，再分两种情形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989320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Noto Sans SC"/>
                <a:ea typeface="Noto Sans SC"/>
              </a:rPr>
              <a:t>证明只依赖单调性与有界性：</a:t>
            </a:r>
            <a:r>
              <a:rPr sz="1100" b="0" i="0">
                <a:solidFill>
                  <a:srgbClr val="6B7280"/>
                </a:solidFill>
                <a:latin typeface="Cambria Math"/>
                <a:ea typeface="Cambria Math"/>
              </a:rPr>
              <a:t>0&lt;F&lt;1</a:t>
            </a:r>
            <a:r>
              <a:rPr sz="1100" b="0" i="0">
                <a:solidFill>
                  <a:srgbClr val="6B7280"/>
                </a:solidFill>
                <a:latin typeface="Noto Sans SC"/>
                <a:ea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64008" cy="4754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10634472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9A227"/>
                </a:solidFill>
                <a:latin typeface="Noto Sans SC"/>
                <a:ea typeface="Noto Sans SC"/>
              </a:rPr>
              <a:t>KEY STEP  /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85216"/>
            <a:ext cx="10634472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Noto Serif SC"/>
                <a:ea typeface="Noto Serif SC"/>
              </a:rPr>
              <a:t>第一步：把定义翻译成 6 个条件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25296"/>
            <a:ext cx="10817352" cy="10972"/>
          </a:xfrm>
          <a:prstGeom prst="rect">
            <a:avLst/>
          </a:prstGeom>
          <a:solidFill>
            <a:srgbClr val="DCD5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80192" y="651967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Noto Sans SC"/>
                <a:ea typeface="Noto Sans SC"/>
              </a:rPr>
              <a:t>04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Noto Sans SC"/>
                <a:ea typeface="Noto Sans SC"/>
              </a:rPr>
              <a:t>函数序关系与 I 排列  ·  2026 上海高考数学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481328"/>
            <a:ext cx="6675120" cy="43891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1481328"/>
            <a:ext cx="1691639" cy="43891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Noto Sans SC"/>
                <a:ea typeface="Noto Sans SC"/>
              </a:rPr>
              <a:t>排列 </a:t>
            </a:r>
            <a:r>
              <a:rPr sz="1150" b="1" i="0">
                <a:solidFill>
                  <a:srgbClr val="FFFFFF"/>
                </a:solidFill>
                <a:latin typeface="Cambria Math"/>
                <a:ea typeface="Cambria Math"/>
              </a:rPr>
              <a:t>(i,j,k)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6624" y="1481328"/>
            <a:ext cx="4617720" cy="43891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Noto Sans SC"/>
                <a:ea typeface="Noto Sans SC"/>
              </a:rPr>
              <a:t>等价条件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920240"/>
            <a:ext cx="6675120" cy="484632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395728"/>
            <a:ext cx="6675120" cy="9144"/>
          </a:xfrm>
          <a:prstGeom prst="rect">
            <a:avLst/>
          </a:prstGeom>
          <a:solidFill>
            <a:srgbClr val="DCD5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1920240"/>
            <a:ext cx="1691639" cy="4846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Cambria Math"/>
                <a:ea typeface="Cambria Math"/>
              </a:rPr>
              <a:t>(1,2,3)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6624" y="1920240"/>
            <a:ext cx="4617720" cy="4846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B3A55"/>
                </a:solidFill>
                <a:latin typeface="Noto Sans SC"/>
                <a:ea typeface="Noto Sans SC"/>
              </a:rPr>
              <a:t>恒成立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404872"/>
            <a:ext cx="6675120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2880360"/>
            <a:ext cx="6675120" cy="9144"/>
          </a:xfrm>
          <a:prstGeom prst="rect">
            <a:avLst/>
          </a:prstGeom>
          <a:solidFill>
            <a:srgbClr val="DCD5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2404872"/>
            <a:ext cx="1691639" cy="4846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Cambria Math"/>
                <a:ea typeface="Cambria Math"/>
              </a:rPr>
              <a:t>(1,3,2)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6624" y="2404872"/>
            <a:ext cx="4617720" cy="4846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f</a:t>
            </a:r>
            <a:r>
              <a:rPr sz="957" b="0" i="0" baseline="-25000">
                <a:solidFill>
                  <a:srgbClr val="2B3A55"/>
                </a:solidFill>
                <a:latin typeface="Cambria Math"/>
                <a:ea typeface="Cambria Math"/>
              </a:rPr>
              <a:t>2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≤ f</a:t>
            </a:r>
            <a:r>
              <a:rPr sz="957" b="0" i="0" baseline="-25000">
                <a:solidFill>
                  <a:srgbClr val="2B3A55"/>
                </a:solidFill>
                <a:latin typeface="Cambria Math"/>
                <a:ea typeface="Cambria Math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889504"/>
            <a:ext cx="6675120" cy="484632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364992"/>
            <a:ext cx="6675120" cy="9144"/>
          </a:xfrm>
          <a:prstGeom prst="rect">
            <a:avLst/>
          </a:prstGeom>
          <a:solidFill>
            <a:srgbClr val="DCD5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" y="2889504"/>
            <a:ext cx="1691639" cy="4846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Cambria Math"/>
                <a:ea typeface="Cambria Math"/>
              </a:rPr>
              <a:t>(2,1,3)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06624" y="2889504"/>
            <a:ext cx="4617720" cy="4846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f</a:t>
            </a:r>
            <a:r>
              <a:rPr sz="957" b="0" i="0" baseline="-25000">
                <a:solidFill>
                  <a:srgbClr val="2B3A55"/>
                </a:solidFill>
                <a:latin typeface="Cambria Math"/>
                <a:ea typeface="Cambria Math"/>
              </a:rPr>
              <a:t>1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≤ f</a:t>
            </a:r>
            <a:r>
              <a:rPr sz="957" b="0" i="0" baseline="-25000">
                <a:solidFill>
                  <a:srgbClr val="2B3A55"/>
                </a:solidFill>
                <a:latin typeface="Cambria Math"/>
                <a:ea typeface="Cambria Math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374136"/>
            <a:ext cx="6675120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3849624"/>
            <a:ext cx="6675120" cy="9144"/>
          </a:xfrm>
          <a:prstGeom prst="rect">
            <a:avLst/>
          </a:prstGeom>
          <a:solidFill>
            <a:srgbClr val="DCD5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" y="3374136"/>
            <a:ext cx="1691639" cy="4846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Cambria Math"/>
                <a:ea typeface="Cambria Math"/>
              </a:rPr>
              <a:t>(2,3,1)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06624" y="3374136"/>
            <a:ext cx="4617720" cy="4846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f</a:t>
            </a:r>
            <a:r>
              <a:rPr sz="957" b="0" i="0" baseline="-25000">
                <a:solidFill>
                  <a:srgbClr val="2B3A55"/>
                </a:solidFill>
                <a:latin typeface="Cambria Math"/>
                <a:ea typeface="Cambria Math"/>
              </a:rPr>
              <a:t>1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≤ f</a:t>
            </a:r>
            <a:r>
              <a:rPr sz="957" b="0" i="0" baseline="-25000">
                <a:solidFill>
                  <a:srgbClr val="2B3A55"/>
                </a:solidFill>
                <a:latin typeface="Cambria Math"/>
                <a:ea typeface="Cambria Math"/>
              </a:rPr>
              <a:t>2</a:t>
            </a:r>
            <a:r>
              <a:rPr sz="1450" b="0" i="0">
                <a:solidFill>
                  <a:srgbClr val="2B3A55"/>
                </a:solidFill>
                <a:latin typeface="Noto Sans SC"/>
                <a:ea typeface="Noto Sans SC"/>
              </a:rPr>
              <a:t> 且 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f</a:t>
            </a:r>
            <a:r>
              <a:rPr sz="957" b="0" i="0" baseline="-25000">
                <a:solidFill>
                  <a:srgbClr val="2B3A55"/>
                </a:solidFill>
                <a:latin typeface="Cambria Math"/>
                <a:ea typeface="Cambria Math"/>
              </a:rPr>
              <a:t>1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≤ f</a:t>
            </a:r>
            <a:r>
              <a:rPr sz="957" b="0" i="0" baseline="-25000">
                <a:solidFill>
                  <a:srgbClr val="2B3A55"/>
                </a:solidFill>
                <a:latin typeface="Cambria Math"/>
                <a:ea typeface="Cambria Math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3858768"/>
            <a:ext cx="6675120" cy="484632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4334256"/>
            <a:ext cx="6675120" cy="9144"/>
          </a:xfrm>
          <a:prstGeom prst="rect">
            <a:avLst/>
          </a:prstGeom>
          <a:solidFill>
            <a:srgbClr val="DCD5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3858768"/>
            <a:ext cx="1691639" cy="4846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Cambria Math"/>
                <a:ea typeface="Cambria Math"/>
              </a:rPr>
              <a:t>(3,1,2)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06624" y="3858768"/>
            <a:ext cx="4617720" cy="4846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f</a:t>
            </a:r>
            <a:r>
              <a:rPr sz="957" b="0" i="0" baseline="-25000">
                <a:solidFill>
                  <a:srgbClr val="2B3A55"/>
                </a:solidFill>
                <a:latin typeface="Cambria Math"/>
                <a:ea typeface="Cambria Math"/>
              </a:rPr>
              <a:t>1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≤ f</a:t>
            </a:r>
            <a:r>
              <a:rPr sz="957" b="0" i="0" baseline="-25000">
                <a:solidFill>
                  <a:srgbClr val="2B3A55"/>
                </a:solidFill>
                <a:latin typeface="Cambria Math"/>
                <a:ea typeface="Cambria Math"/>
              </a:rPr>
              <a:t>3</a:t>
            </a:r>
            <a:r>
              <a:rPr sz="1450" b="0" i="0">
                <a:solidFill>
                  <a:srgbClr val="2B3A55"/>
                </a:solidFill>
                <a:latin typeface="Noto Sans SC"/>
                <a:ea typeface="Noto Sans SC"/>
              </a:rPr>
              <a:t> 且 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f</a:t>
            </a:r>
            <a:r>
              <a:rPr sz="957" b="0" i="0" baseline="-25000">
                <a:solidFill>
                  <a:srgbClr val="2B3A55"/>
                </a:solidFill>
                <a:latin typeface="Cambria Math"/>
                <a:ea typeface="Cambria Math"/>
              </a:rPr>
              <a:t>2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≤ f</a:t>
            </a:r>
            <a:r>
              <a:rPr sz="957" b="0" i="0" baseline="-25000">
                <a:solidFill>
                  <a:srgbClr val="2B3A55"/>
                </a:solidFill>
                <a:latin typeface="Cambria Math"/>
                <a:ea typeface="Cambria Math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343400"/>
            <a:ext cx="6675120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4818888"/>
            <a:ext cx="6675120" cy="9144"/>
          </a:xfrm>
          <a:prstGeom prst="rect">
            <a:avLst/>
          </a:prstGeom>
          <a:solidFill>
            <a:srgbClr val="DCD5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" y="4343400"/>
            <a:ext cx="1691639" cy="4846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Cambria Math"/>
                <a:ea typeface="Cambria Math"/>
              </a:rPr>
              <a:t>(3,2,1)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06624" y="4343400"/>
            <a:ext cx="4617720" cy="4846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f</a:t>
            </a:r>
            <a:r>
              <a:rPr sz="957" b="0" i="0" baseline="-25000">
                <a:solidFill>
                  <a:srgbClr val="2B3A55"/>
                </a:solidFill>
                <a:latin typeface="Cambria Math"/>
                <a:ea typeface="Cambria Math"/>
              </a:rPr>
              <a:t>1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≤ f</a:t>
            </a:r>
            <a:r>
              <a:rPr sz="957" b="0" i="0" baseline="-25000">
                <a:solidFill>
                  <a:srgbClr val="2B3A55"/>
                </a:solidFill>
                <a:latin typeface="Cambria Math"/>
                <a:ea typeface="Cambria Math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1481328"/>
            <a:ext cx="6675120" cy="3346704"/>
          </a:xfrm>
          <a:prstGeom prst="rect">
            <a:avLst/>
          </a:prstGeom>
          <a:noFill/>
          <a:ln w="9525">
            <a:solidFill>
              <a:srgbClr val="DCD5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62672" y="1481328"/>
            <a:ext cx="3840480" cy="3346704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18704" y="164592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227"/>
                </a:solidFill>
                <a:latin typeface="Noto Sans SC"/>
                <a:ea typeface="Noto Sans SC"/>
              </a:rPr>
              <a:t>计数公式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18704" y="1984248"/>
            <a:ext cx="3383280" cy="594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DEE9"/>
                </a:solidFill>
                <a:latin typeface="Cambria Math"/>
                <a:ea typeface="Cambria Math"/>
              </a:rPr>
              <a:t>A=1</a:t>
            </a:r>
            <a:r>
              <a:rPr sz="1150" b="0" i="0">
                <a:solidFill>
                  <a:srgbClr val="D7DEE9"/>
                </a:solidFill>
                <a:latin typeface="Noto Sans SC"/>
                <a:ea typeface="Noto Sans SC"/>
              </a:rPr>
              <a:t> 当 </a:t>
            </a:r>
            <a:r>
              <a:rPr sz="1150" b="0" i="0">
                <a:solidFill>
                  <a:srgbClr val="D7DEE9"/>
                </a:solidFill>
                <a:latin typeface="Cambria Math"/>
                <a:ea typeface="Cambria Math"/>
              </a:rPr>
              <a:t>f</a:t>
            </a:r>
            <a:r>
              <a:rPr sz="759" b="0" i="0" baseline="-25000">
                <a:solidFill>
                  <a:srgbClr val="D7DEE9"/>
                </a:solidFill>
                <a:latin typeface="Cambria Math"/>
                <a:ea typeface="Cambria Math"/>
              </a:rPr>
              <a:t>1</a:t>
            </a:r>
            <a:r>
              <a:rPr sz="1150" b="0" i="0">
                <a:solidFill>
                  <a:srgbClr val="D7DEE9"/>
                </a:solidFill>
                <a:latin typeface="Cambria Math"/>
                <a:ea typeface="Cambria Math"/>
              </a:rPr>
              <a:t>≤ f</a:t>
            </a:r>
            <a:r>
              <a:rPr sz="759" b="0" i="0" baseline="-25000">
                <a:solidFill>
                  <a:srgbClr val="D7DEE9"/>
                </a:solidFill>
                <a:latin typeface="Cambria Math"/>
                <a:ea typeface="Cambria Math"/>
              </a:rPr>
              <a:t>2</a:t>
            </a:r>
            <a:r>
              <a:rPr sz="1150" b="0" i="0">
                <a:solidFill>
                  <a:srgbClr val="D7DEE9"/>
                </a:solidFill>
                <a:latin typeface="Noto Sans SC"/>
                <a:ea typeface="Noto Sans SC"/>
              </a:rPr>
              <a:t>，否则 </a:t>
            </a:r>
            <a:r>
              <a:rPr sz="1150" b="0" i="0">
                <a:solidFill>
                  <a:srgbClr val="D7DEE9"/>
                </a:solidFill>
                <a:latin typeface="Cambria Math"/>
                <a:ea typeface="Cambria Math"/>
              </a:rPr>
              <a:t>A=0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18704" y="2350008"/>
            <a:ext cx="3383280" cy="594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DEE9"/>
                </a:solidFill>
                <a:latin typeface="Cambria Math"/>
                <a:ea typeface="Cambria Math"/>
              </a:rPr>
              <a:t>B=1</a:t>
            </a:r>
            <a:r>
              <a:rPr sz="1150" b="0" i="0">
                <a:solidFill>
                  <a:srgbClr val="D7DEE9"/>
                </a:solidFill>
                <a:latin typeface="Noto Sans SC"/>
                <a:ea typeface="Noto Sans SC"/>
              </a:rPr>
              <a:t> 当 </a:t>
            </a:r>
            <a:r>
              <a:rPr sz="1150" b="0" i="0">
                <a:solidFill>
                  <a:srgbClr val="D7DEE9"/>
                </a:solidFill>
                <a:latin typeface="Cambria Math"/>
                <a:ea typeface="Cambria Math"/>
              </a:rPr>
              <a:t>f</a:t>
            </a:r>
            <a:r>
              <a:rPr sz="759" b="0" i="0" baseline="-25000">
                <a:solidFill>
                  <a:srgbClr val="D7DEE9"/>
                </a:solidFill>
                <a:latin typeface="Cambria Math"/>
                <a:ea typeface="Cambria Math"/>
              </a:rPr>
              <a:t>1</a:t>
            </a:r>
            <a:r>
              <a:rPr sz="1150" b="0" i="0">
                <a:solidFill>
                  <a:srgbClr val="D7DEE9"/>
                </a:solidFill>
                <a:latin typeface="Cambria Math"/>
                <a:ea typeface="Cambria Math"/>
              </a:rPr>
              <a:t>≤ f</a:t>
            </a:r>
            <a:r>
              <a:rPr sz="759" b="0" i="0" baseline="-25000">
                <a:solidFill>
                  <a:srgbClr val="D7DEE9"/>
                </a:solidFill>
                <a:latin typeface="Cambria Math"/>
                <a:ea typeface="Cambria Math"/>
              </a:rPr>
              <a:t>3</a:t>
            </a:r>
            <a:r>
              <a:rPr sz="1150" b="0" i="0">
                <a:solidFill>
                  <a:srgbClr val="D7DEE9"/>
                </a:solidFill>
                <a:latin typeface="Noto Sans SC"/>
                <a:ea typeface="Noto Sans SC"/>
              </a:rPr>
              <a:t>，否则 </a:t>
            </a:r>
            <a:r>
              <a:rPr sz="1150" b="0" i="0">
                <a:solidFill>
                  <a:srgbClr val="D7DEE9"/>
                </a:solidFill>
                <a:latin typeface="Cambria Math"/>
                <a:ea typeface="Cambria Math"/>
              </a:rPr>
              <a:t>B=0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18704" y="2715768"/>
            <a:ext cx="3383280" cy="594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7DEE9"/>
                </a:solidFill>
                <a:latin typeface="Cambria Math"/>
                <a:ea typeface="Cambria Math"/>
              </a:rPr>
              <a:t>C=1</a:t>
            </a:r>
            <a:r>
              <a:rPr sz="1150" b="0" i="0">
                <a:solidFill>
                  <a:srgbClr val="D7DEE9"/>
                </a:solidFill>
                <a:latin typeface="Noto Sans SC"/>
                <a:ea typeface="Noto Sans SC"/>
              </a:rPr>
              <a:t> 当 </a:t>
            </a:r>
            <a:r>
              <a:rPr sz="1150" b="0" i="0">
                <a:solidFill>
                  <a:srgbClr val="D7DEE9"/>
                </a:solidFill>
                <a:latin typeface="Cambria Math"/>
                <a:ea typeface="Cambria Math"/>
              </a:rPr>
              <a:t>f</a:t>
            </a:r>
            <a:r>
              <a:rPr sz="759" b="0" i="0" baseline="-25000">
                <a:solidFill>
                  <a:srgbClr val="D7DEE9"/>
                </a:solidFill>
                <a:latin typeface="Cambria Math"/>
                <a:ea typeface="Cambria Math"/>
              </a:rPr>
              <a:t>2</a:t>
            </a:r>
            <a:r>
              <a:rPr sz="1150" b="0" i="0">
                <a:solidFill>
                  <a:srgbClr val="D7DEE9"/>
                </a:solidFill>
                <a:latin typeface="Cambria Math"/>
                <a:ea typeface="Cambria Math"/>
              </a:rPr>
              <a:t>≤ f</a:t>
            </a:r>
            <a:r>
              <a:rPr sz="759" b="0" i="0" baseline="-25000">
                <a:solidFill>
                  <a:srgbClr val="D7DEE9"/>
                </a:solidFill>
                <a:latin typeface="Cambria Math"/>
                <a:ea typeface="Cambria Math"/>
              </a:rPr>
              <a:t>3</a:t>
            </a:r>
            <a:r>
              <a:rPr sz="1150" b="0" i="0">
                <a:solidFill>
                  <a:srgbClr val="D7DEE9"/>
                </a:solidFill>
                <a:latin typeface="Noto Sans SC"/>
                <a:ea typeface="Noto Sans SC"/>
              </a:rPr>
              <a:t>，否则 </a:t>
            </a:r>
            <a:r>
              <a:rPr sz="1150" b="0" i="0">
                <a:solidFill>
                  <a:srgbClr val="D7DEE9"/>
                </a:solidFill>
                <a:latin typeface="Cambria Math"/>
                <a:ea typeface="Cambria Math"/>
              </a:rPr>
              <a:t>C=0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18704" y="3264408"/>
            <a:ext cx="3328416" cy="10972"/>
          </a:xfrm>
          <a:prstGeom prst="rect">
            <a:avLst/>
          </a:prstGeom>
          <a:solidFill>
            <a:srgbClr val="3C55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18704" y="3401568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Cambria Math"/>
                <a:ea typeface="Cambria Math"/>
              </a:rPr>
              <a:t>n</a:t>
            </a:r>
            <a:r>
              <a:rPr sz="1122" b="0" i="0" baseline="-25000">
                <a:solidFill>
                  <a:srgbClr val="FFFFFF"/>
                </a:solidFill>
                <a:latin typeface="Cambria Math"/>
                <a:ea typeface="Cambria Math"/>
              </a:rPr>
              <a:t>I</a:t>
            </a:r>
            <a:r>
              <a:rPr sz="1700" b="0" i="0">
                <a:solidFill>
                  <a:srgbClr val="FFFFFF"/>
                </a:solidFill>
                <a:latin typeface="Cambria Math"/>
                <a:ea typeface="Cambria Math"/>
              </a:rPr>
              <a:t>=1+A+AB+C+BC+B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18704" y="402336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A227"/>
                </a:solidFill>
                <a:latin typeface="Cambria Math"/>
                <a:ea typeface="Cambria Math"/>
              </a:rPr>
              <a:t>n</a:t>
            </a:r>
            <a:r>
              <a:rPr sz="693" b="0" i="0" baseline="-25000">
                <a:solidFill>
                  <a:srgbClr val="C9A227"/>
                </a:solidFill>
                <a:latin typeface="Cambria Math"/>
                <a:ea typeface="Cambria Math"/>
              </a:rPr>
              <a:t>I</a:t>
            </a:r>
            <a:r>
              <a:rPr sz="1050" b="0" i="0">
                <a:solidFill>
                  <a:srgbClr val="C9A227"/>
                </a:solidFill>
                <a:latin typeface="Cambria Math"/>
                <a:ea typeface="Cambria Math"/>
              </a:rPr>
              <a:t>=6⇔ A=B=C=1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18704" y="4453128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0C7"/>
                </a:solidFill>
                <a:latin typeface="Noto Sans SC"/>
                <a:ea typeface="Noto Sans SC"/>
              </a:rPr>
              <a:t>三个开关，决定六个排列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138928"/>
            <a:ext cx="10817352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Noto Sans SC"/>
                <a:ea typeface="Noto Sans SC"/>
              </a:rPr>
              <a:t>例：</a:t>
            </a:r>
            <a:r>
              <a:rPr sz="1200" b="0" i="0">
                <a:solidFill>
                  <a:srgbClr val="6B7280"/>
                </a:solidFill>
                <a:latin typeface="Cambria Math"/>
                <a:ea typeface="Cambria Math"/>
              </a:rPr>
              <a:t>(3,1,2)</a:t>
            </a:r>
            <a:r>
              <a:rPr sz="1200" b="0" i="0">
                <a:solidFill>
                  <a:srgbClr val="6B7280"/>
                </a:solidFill>
                <a:latin typeface="Noto Sans SC"/>
                <a:ea typeface="Noto Sans SC"/>
              </a:rPr>
              <a:t> 需 </a:t>
            </a:r>
            <a:r>
              <a:rPr sz="1200" b="0" i="0">
                <a:solidFill>
                  <a:srgbClr val="6B7280"/>
                </a:solidFill>
                <a:latin typeface="Cambria Math"/>
                <a:ea typeface="Cambria Math"/>
              </a:rPr>
              <a:t>f</a:t>
            </a:r>
            <a:r>
              <a:rPr sz="792" b="0" i="0" baseline="-25000">
                <a:solidFill>
                  <a:srgbClr val="6B7280"/>
                </a:solidFill>
                <a:latin typeface="Cambria Math"/>
                <a:ea typeface="Cambria Math"/>
              </a:rPr>
              <a:t>1</a:t>
            </a:r>
            <a:r>
              <a:rPr sz="1200" b="0" i="0">
                <a:solidFill>
                  <a:srgbClr val="6B7280"/>
                </a:solidFill>
                <a:latin typeface="Cambria Math"/>
                <a:ea typeface="Cambria Math"/>
              </a:rPr>
              <a:t>≤ f</a:t>
            </a:r>
            <a:r>
              <a:rPr sz="792" b="0" i="0" baseline="-25000">
                <a:solidFill>
                  <a:srgbClr val="6B7280"/>
                </a:solidFill>
                <a:latin typeface="Cambria Math"/>
                <a:ea typeface="Cambria Math"/>
              </a:rPr>
              <a:t>3</a:t>
            </a:r>
            <a:r>
              <a:rPr sz="1200" b="0" i="0">
                <a:solidFill>
                  <a:srgbClr val="6B7280"/>
                </a:solidFill>
                <a:latin typeface="Noto Sans SC"/>
                <a:ea typeface="Noto Sans SC"/>
              </a:rPr>
              <a:t>，且 </a:t>
            </a:r>
            <a:r>
              <a:rPr sz="1200" b="0" i="0">
                <a:solidFill>
                  <a:srgbClr val="6B7280"/>
                </a:solidFill>
                <a:latin typeface="Cambria Math"/>
                <a:ea typeface="Cambria Math"/>
              </a:rPr>
              <a:t>f</a:t>
            </a:r>
            <a:r>
              <a:rPr sz="792" b="0" i="0" baseline="-25000">
                <a:solidFill>
                  <a:srgbClr val="6B7280"/>
                </a:solidFill>
                <a:latin typeface="Cambria Math"/>
                <a:ea typeface="Cambria Math"/>
              </a:rPr>
              <a:t>1</a:t>
            </a:r>
            <a:r>
              <a:rPr sz="1200" b="0" i="0">
                <a:solidFill>
                  <a:srgbClr val="6B7280"/>
                </a:solidFill>
                <a:latin typeface="Cambria Math"/>
                <a:ea typeface="Cambria Math"/>
              </a:rPr>
              <a:t>+f</a:t>
            </a:r>
            <a:r>
              <a:rPr sz="792" b="0" i="0" baseline="-25000">
                <a:solidFill>
                  <a:srgbClr val="6B7280"/>
                </a:solidFill>
                <a:latin typeface="Cambria Math"/>
                <a:ea typeface="Cambria Math"/>
              </a:rPr>
              <a:t>2</a:t>
            </a:r>
            <a:r>
              <a:rPr sz="1200" b="0" i="0">
                <a:solidFill>
                  <a:srgbClr val="6B7280"/>
                </a:solidFill>
                <a:latin typeface="Cambria Math"/>
                <a:ea typeface="Cambria Math"/>
              </a:rPr>
              <a:t>≤ f</a:t>
            </a:r>
            <a:r>
              <a:rPr sz="792" b="0" i="0" baseline="-25000">
                <a:solidFill>
                  <a:srgbClr val="6B7280"/>
                </a:solidFill>
                <a:latin typeface="Cambria Math"/>
                <a:ea typeface="Cambria Math"/>
              </a:rPr>
              <a:t>3</a:t>
            </a:r>
            <a:r>
              <a:rPr sz="1200" b="0" i="0">
                <a:solidFill>
                  <a:srgbClr val="6B7280"/>
                </a:solidFill>
                <a:latin typeface="Cambria Math"/>
                <a:ea typeface="Cambria Math"/>
              </a:rPr>
              <a:t>+f</a:t>
            </a:r>
            <a:r>
              <a:rPr sz="792" b="0" i="0" baseline="-25000">
                <a:solidFill>
                  <a:srgbClr val="6B7280"/>
                </a:solidFill>
                <a:latin typeface="Cambria Math"/>
                <a:ea typeface="Cambria Math"/>
              </a:rPr>
              <a:t>1</a:t>
            </a:r>
            <a:r>
              <a:rPr sz="1200" b="0" i="0">
                <a:solidFill>
                  <a:srgbClr val="6B7280"/>
                </a:solidFill>
                <a:latin typeface="Cambria Math"/>
                <a:ea typeface="Cambria Math"/>
              </a:rPr>
              <a:t>⇔ f</a:t>
            </a:r>
            <a:r>
              <a:rPr sz="792" b="0" i="0" baseline="-25000">
                <a:solidFill>
                  <a:srgbClr val="6B7280"/>
                </a:solidFill>
                <a:latin typeface="Cambria Math"/>
                <a:ea typeface="Cambria Math"/>
              </a:rPr>
              <a:t>2</a:t>
            </a:r>
            <a:r>
              <a:rPr sz="1200" b="0" i="0">
                <a:solidFill>
                  <a:srgbClr val="6B7280"/>
                </a:solidFill>
                <a:latin typeface="Cambria Math"/>
                <a:ea typeface="Cambria Math"/>
              </a:rPr>
              <a:t>≤ f</a:t>
            </a:r>
            <a:r>
              <a:rPr sz="792" b="0" i="0" baseline="-25000">
                <a:solidFill>
                  <a:srgbClr val="6B7280"/>
                </a:solidFill>
                <a:latin typeface="Cambria Math"/>
                <a:ea typeface="Cambria Math"/>
              </a:rPr>
              <a:t>3</a:t>
            </a:r>
            <a:r>
              <a:rPr sz="1200" b="0" i="0">
                <a:solidFill>
                  <a:srgbClr val="6B7280"/>
                </a:solidFill>
                <a:latin typeface="Noto Sans SC"/>
                <a:ea typeface="Noto Sans SC"/>
              </a:rPr>
              <a:t>。  </a:t>
            </a:r>
            <a:r>
              <a:rPr sz="1200" b="0" i="0">
                <a:solidFill>
                  <a:srgbClr val="6B7280"/>
                </a:solidFill>
                <a:latin typeface="Cambria Math"/>
                <a:ea typeface="Cambria Math"/>
              </a:rPr>
              <a:t>k</a:t>
            </a:r>
            <a:r>
              <a:rPr sz="1200" b="0" i="0">
                <a:solidFill>
                  <a:srgbClr val="6B7280"/>
                </a:solidFill>
                <a:latin typeface="Noto Sans SC"/>
                <a:ea typeface="Noto Sans SC"/>
              </a:rPr>
              <a:t> 不出现在不等式中，故只需看 </a:t>
            </a:r>
            <a:r>
              <a:rPr sz="1200" b="0" i="0">
                <a:solidFill>
                  <a:srgbClr val="6B7280"/>
                </a:solidFill>
                <a:latin typeface="Cambria Math"/>
                <a:ea typeface="Cambria Math"/>
              </a:rPr>
              <a:t>(i,j)</a:t>
            </a:r>
            <a:r>
              <a:rPr sz="1200" b="0" i="0">
                <a:solidFill>
                  <a:srgbClr val="6B7280"/>
                </a:solidFill>
                <a:latin typeface="Noto Sans SC"/>
                <a:ea typeface="Noto Sans SC"/>
              </a:rPr>
              <a:t>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760720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Noto Sans SC"/>
                <a:ea typeface="Noto Sans SC"/>
              </a:rPr>
              <a:t>六个排列对应三个开关；</a:t>
            </a:r>
            <a:r>
              <a:rPr sz="1050" b="0" i="0">
                <a:solidFill>
                  <a:srgbClr val="6B7280"/>
                </a:solidFill>
                <a:latin typeface="Cambria Math"/>
                <a:ea typeface="Cambria Math"/>
              </a:rPr>
              <a:t>n</a:t>
            </a:r>
            <a:r>
              <a:rPr sz="693" b="0" i="0" baseline="-25000">
                <a:solidFill>
                  <a:srgbClr val="6B7280"/>
                </a:solidFill>
                <a:latin typeface="Cambria Math"/>
                <a:ea typeface="Cambria Math"/>
              </a:rPr>
              <a:t>I</a:t>
            </a:r>
            <a:r>
              <a:rPr sz="1050" b="0" i="0">
                <a:solidFill>
                  <a:srgbClr val="6B7280"/>
                </a:solidFill>
                <a:latin typeface="Noto Sans SC"/>
                <a:ea typeface="Noto Sans SC"/>
              </a:rPr>
              <a:t> 最大为 </a:t>
            </a:r>
            <a:r>
              <a:rPr sz="1050" b="0" i="0">
                <a:solidFill>
                  <a:srgbClr val="6B7280"/>
                </a:solidFill>
                <a:latin typeface="Cambria Math"/>
                <a:ea typeface="Cambria Math"/>
              </a:rPr>
              <a:t>6</a:t>
            </a:r>
            <a:r>
              <a:rPr sz="1050" b="0" i="0">
                <a:solidFill>
                  <a:srgbClr val="6B7280"/>
                </a:solidFill>
                <a:latin typeface="Noto Sans SC"/>
                <a:ea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64008" cy="475488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10634472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1495B"/>
                </a:solidFill>
                <a:latin typeface="Noto Sans SC"/>
                <a:ea typeface="Noto Sans SC"/>
              </a:rPr>
              <a:t>PART  (1)  / 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85216"/>
            <a:ext cx="10634472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Noto Serif SC"/>
                <a:ea typeface="Noto Serif SC"/>
              </a:rPr>
              <a:t>第 (1) 问：直接验证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25296"/>
            <a:ext cx="10817352" cy="10972"/>
          </a:xfrm>
          <a:prstGeom prst="rect">
            <a:avLst/>
          </a:prstGeom>
          <a:solidFill>
            <a:srgbClr val="DCD5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80192" y="651967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Noto Sans SC"/>
                <a:ea typeface="Noto Sans SC"/>
              </a:rPr>
              <a:t>05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Noto Sans SC"/>
                <a:ea typeface="Noto Sans SC"/>
              </a:rPr>
              <a:t>函数序关系与 I 排列  ·  2026 上海高考数学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Cambria Math"/>
                <a:ea typeface="Cambria Math"/>
              </a:rPr>
              <a:t>(3,1,2)</a:t>
            </a:r>
            <a:r>
              <a:rPr sz="2000" b="1" i="0">
                <a:solidFill>
                  <a:srgbClr val="14213D"/>
                </a:solidFill>
                <a:latin typeface="Noto Serif SC"/>
                <a:ea typeface="Noto Serif SC"/>
              </a:rPr>
              <a:t> 是否为 </a:t>
            </a:r>
            <a:r>
              <a:rPr sz="2000" b="1" i="0">
                <a:solidFill>
                  <a:srgbClr val="14213D"/>
                </a:solidFill>
                <a:latin typeface="Cambria Math"/>
                <a:ea typeface="Cambria Math"/>
              </a:rPr>
              <a:t>I</a:t>
            </a:r>
            <a:r>
              <a:rPr sz="2000" b="1" i="0">
                <a:solidFill>
                  <a:srgbClr val="14213D"/>
                </a:solidFill>
                <a:latin typeface="Noto Serif SC"/>
                <a:ea typeface="Noto Serif SC"/>
              </a:rPr>
              <a:t> 排列？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993392"/>
            <a:ext cx="10817352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6968" y="2212848"/>
            <a:ext cx="502920" cy="502920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221991"/>
            <a:ext cx="502920" cy="4846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Noto Sans SC"/>
                <a:ea typeface="Noto Sans SC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12264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Cambria Math"/>
                <a:ea typeface="Cambria Math"/>
              </a:rPr>
              <a:t>f</a:t>
            </a:r>
            <a:r>
              <a:rPr sz="1056" b="1" i="0" baseline="-25000">
                <a:solidFill>
                  <a:srgbClr val="14213D"/>
                </a:solidFill>
                <a:latin typeface="Cambria Math"/>
                <a:ea typeface="Cambria Math"/>
              </a:rPr>
              <a:t>1</a:t>
            </a:r>
            <a:r>
              <a:rPr sz="1600" b="1" i="0">
                <a:solidFill>
                  <a:srgbClr val="14213D"/>
                </a:solidFill>
                <a:latin typeface="Cambria Math"/>
                <a:ea typeface="Cambria Math"/>
              </a:rPr>
              <a:t>(x)≤ f</a:t>
            </a:r>
            <a:r>
              <a:rPr sz="1056" b="1" i="0" baseline="-25000">
                <a:solidFill>
                  <a:srgbClr val="14213D"/>
                </a:solidFill>
                <a:latin typeface="Cambria Math"/>
                <a:ea typeface="Cambria Math"/>
              </a:rPr>
              <a:t>3</a:t>
            </a:r>
            <a:r>
              <a:rPr sz="1600" b="1" i="0">
                <a:solidFill>
                  <a:srgbClr val="14213D"/>
                </a:solidFill>
                <a:latin typeface="Cambria Math"/>
                <a:ea typeface="Cambria Math"/>
              </a:rPr>
              <a:t>(x)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496312"/>
            <a:ext cx="9720072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x≤ x</a:t>
            </a:r>
            <a:r>
              <a:rPr sz="1334" b="0" i="0">
                <a:solidFill>
                  <a:srgbClr val="2B3A55"/>
                </a:solidFill>
                <a:latin typeface="Cambria Math"/>
                <a:ea typeface="Cambria Math"/>
              </a:rPr>
              <a:t>²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+1 ⇔ x</a:t>
            </a:r>
            <a:r>
              <a:rPr sz="1334" b="0" i="0">
                <a:solidFill>
                  <a:srgbClr val="2B3A55"/>
                </a:solidFill>
                <a:latin typeface="Cambria Math"/>
                <a:ea typeface="Cambria Math"/>
              </a:rPr>
              <a:t>²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-x+1&gt;0</a:t>
            </a:r>
            <a:r>
              <a:rPr sz="1450" b="0" i="0">
                <a:solidFill>
                  <a:srgbClr val="2B3A55"/>
                </a:solidFill>
                <a:latin typeface="Noto Sans SC"/>
                <a:ea typeface="Noto Sans SC"/>
              </a:rPr>
              <a:t>，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Δ=-3&lt;0</a:t>
            </a:r>
            <a:r>
              <a:rPr sz="1450" b="0" i="0">
                <a:solidFill>
                  <a:srgbClr val="2B3A55"/>
                </a:solidFill>
                <a:latin typeface="Noto Sans SC"/>
                <a:ea typeface="Noto Sans SC"/>
              </a:rPr>
              <a:t>，恒成立。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182112"/>
            <a:ext cx="10817352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6968" y="3401568"/>
            <a:ext cx="502920" cy="502920"/>
          </a:xfrm>
          <a:prstGeom prst="ellipse">
            <a:avLst/>
          </a:prstGeom>
          <a:solidFill>
            <a:srgbClr val="2A6F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410712"/>
            <a:ext cx="502920" cy="4846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Noto Sans SC"/>
                <a:ea typeface="Noto Sans S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00984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Cambria Math"/>
                <a:ea typeface="Cambria Math"/>
              </a:rPr>
              <a:t>f</a:t>
            </a:r>
            <a:r>
              <a:rPr sz="1056" b="1" i="0" baseline="-25000">
                <a:solidFill>
                  <a:srgbClr val="14213D"/>
                </a:solidFill>
                <a:latin typeface="Cambria Math"/>
                <a:ea typeface="Cambria Math"/>
              </a:rPr>
              <a:t>2</a:t>
            </a:r>
            <a:r>
              <a:rPr sz="1600" b="1" i="0">
                <a:solidFill>
                  <a:srgbClr val="14213D"/>
                </a:solidFill>
                <a:latin typeface="Cambria Math"/>
                <a:ea typeface="Cambria Math"/>
              </a:rPr>
              <a:t>(x)≤ f</a:t>
            </a:r>
            <a:r>
              <a:rPr sz="1056" b="1" i="0" baseline="-25000">
                <a:solidFill>
                  <a:srgbClr val="14213D"/>
                </a:solidFill>
                <a:latin typeface="Cambria Math"/>
                <a:ea typeface="Cambria Math"/>
              </a:rPr>
              <a:t>3</a:t>
            </a:r>
            <a:r>
              <a:rPr sz="1600" b="1" i="0">
                <a:solidFill>
                  <a:srgbClr val="14213D"/>
                </a:solidFill>
                <a:latin typeface="Cambria Math"/>
                <a:ea typeface="Cambria Math"/>
              </a:rPr>
              <a:t>(x)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685032"/>
            <a:ext cx="9720072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0≤ x</a:t>
            </a:r>
            <a:r>
              <a:rPr sz="1334" b="0" i="0">
                <a:solidFill>
                  <a:srgbClr val="2B3A55"/>
                </a:solidFill>
                <a:latin typeface="Cambria Math"/>
                <a:ea typeface="Cambria Math"/>
              </a:rPr>
              <a:t>²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+1</a:t>
            </a:r>
            <a:r>
              <a:rPr sz="1450" b="0" i="0">
                <a:solidFill>
                  <a:srgbClr val="2B3A55"/>
                </a:solidFill>
                <a:latin typeface="Noto Sans SC"/>
                <a:ea typeface="Noto Sans SC"/>
              </a:rPr>
              <a:t>，恒成立。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526280"/>
            <a:ext cx="10817352" cy="1024128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526280"/>
            <a:ext cx="594360" cy="10241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Noto Sans SC"/>
                <a:ea typeface="Noto Sans SC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526280"/>
            <a:ext cx="9628632" cy="10241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Noto Serif SC"/>
                <a:ea typeface="Noto Serif SC"/>
              </a:rPr>
              <a:t>所以 </a:t>
            </a:r>
            <a:r>
              <a:rPr sz="2200" b="1" i="0">
                <a:solidFill>
                  <a:srgbClr val="FFFFFF"/>
                </a:solidFill>
                <a:latin typeface="Cambria Math"/>
                <a:ea typeface="Cambria Math"/>
              </a:rPr>
              <a:t>(3,1,2)</a:t>
            </a:r>
            <a:r>
              <a:rPr sz="2200" b="1" i="0">
                <a:solidFill>
                  <a:srgbClr val="FFFFFF"/>
                </a:solidFill>
                <a:latin typeface="Noto Serif SC"/>
                <a:ea typeface="Noto Serif SC"/>
              </a:rPr>
              <a:t> 是 </a:t>
            </a:r>
            <a:r>
              <a:rPr sz="2200" b="1" i="0">
                <a:solidFill>
                  <a:srgbClr val="FFFFFF"/>
                </a:solidFill>
                <a:latin typeface="Cambria Math"/>
                <a:ea typeface="Cambria Math"/>
              </a:rPr>
              <a:t>I</a:t>
            </a:r>
            <a:r>
              <a:rPr sz="2200" b="1" i="0">
                <a:solidFill>
                  <a:srgbClr val="FFFFFF"/>
                </a:solidFill>
                <a:latin typeface="Noto Serif SC"/>
                <a:ea typeface="Noto Serif SC"/>
              </a:rPr>
              <a:t> 排列。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06440"/>
            <a:ext cx="10817352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280"/>
                </a:solidFill>
                <a:latin typeface="Noto Sans SC"/>
                <a:ea typeface="Noto Sans SC"/>
              </a:rPr>
              <a:t>对应 </a:t>
            </a:r>
            <a:r>
              <a:rPr sz="1150" b="0" i="0">
                <a:solidFill>
                  <a:srgbClr val="6B7280"/>
                </a:solidFill>
                <a:latin typeface="Cambria Math"/>
                <a:ea typeface="Cambria Math"/>
              </a:rPr>
              <a:t>i=3,j=1</a:t>
            </a:r>
            <a:r>
              <a:rPr sz="1150" b="0" i="0">
                <a:solidFill>
                  <a:srgbClr val="6B7280"/>
                </a:solidFill>
                <a:latin typeface="Noto Sans SC"/>
                <a:ea typeface="Noto Sans SC"/>
              </a:rPr>
              <a:t>：第一式化为 </a:t>
            </a:r>
            <a:r>
              <a:rPr sz="1150" b="0" i="0">
                <a:solidFill>
                  <a:srgbClr val="6B7280"/>
                </a:solidFill>
                <a:latin typeface="Cambria Math"/>
                <a:ea typeface="Cambria Math"/>
              </a:rPr>
              <a:t>f</a:t>
            </a:r>
            <a:r>
              <a:rPr sz="759" b="0" i="0" baseline="-25000">
                <a:solidFill>
                  <a:srgbClr val="6B7280"/>
                </a:solidFill>
                <a:latin typeface="Cambria Math"/>
                <a:ea typeface="Cambria Math"/>
              </a:rPr>
              <a:t>1</a:t>
            </a:r>
            <a:r>
              <a:rPr sz="1150" b="0" i="0">
                <a:solidFill>
                  <a:srgbClr val="6B7280"/>
                </a:solidFill>
                <a:latin typeface="Cambria Math"/>
                <a:ea typeface="Cambria Math"/>
              </a:rPr>
              <a:t>≤ f</a:t>
            </a:r>
            <a:r>
              <a:rPr sz="759" b="0" i="0" baseline="-25000">
                <a:solidFill>
                  <a:srgbClr val="6B7280"/>
                </a:solidFill>
                <a:latin typeface="Cambria Math"/>
                <a:ea typeface="Cambria Math"/>
              </a:rPr>
              <a:t>3</a:t>
            </a:r>
            <a:r>
              <a:rPr sz="1150" b="0" i="0">
                <a:solidFill>
                  <a:srgbClr val="6B7280"/>
                </a:solidFill>
                <a:latin typeface="Noto Sans SC"/>
                <a:ea typeface="Noto Sans SC"/>
              </a:rPr>
              <a:t>，第二式化为 </a:t>
            </a:r>
            <a:r>
              <a:rPr sz="1150" b="0" i="0">
                <a:solidFill>
                  <a:srgbClr val="6B7280"/>
                </a:solidFill>
                <a:latin typeface="Cambria Math"/>
                <a:ea typeface="Cambria Math"/>
              </a:rPr>
              <a:t>f</a:t>
            </a:r>
            <a:r>
              <a:rPr sz="759" b="0" i="0" baseline="-25000">
                <a:solidFill>
                  <a:srgbClr val="6B7280"/>
                </a:solidFill>
                <a:latin typeface="Cambria Math"/>
                <a:ea typeface="Cambria Math"/>
              </a:rPr>
              <a:t>2</a:t>
            </a:r>
            <a:r>
              <a:rPr sz="1150" b="0" i="0">
                <a:solidFill>
                  <a:srgbClr val="6B7280"/>
                </a:solidFill>
                <a:latin typeface="Cambria Math"/>
                <a:ea typeface="Cambria Math"/>
              </a:rPr>
              <a:t>≤ f</a:t>
            </a:r>
            <a:r>
              <a:rPr sz="759" b="0" i="0" baseline="-25000">
                <a:solidFill>
                  <a:srgbClr val="6B7280"/>
                </a:solidFill>
                <a:latin typeface="Cambria Math"/>
                <a:ea typeface="Cambria Math"/>
              </a:rPr>
              <a:t>3</a:t>
            </a:r>
            <a:r>
              <a:rPr sz="1150" b="0" i="0">
                <a:solidFill>
                  <a:srgbClr val="6B7280"/>
                </a:solidFill>
                <a:latin typeface="Noto Sans SC"/>
                <a:ea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64008" cy="475488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10634472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A6F6B"/>
                </a:solidFill>
                <a:latin typeface="Noto Sans SC"/>
                <a:ea typeface="Noto Sans SC"/>
              </a:rPr>
              <a:t>PART  (2)  /  SIX SWITCHES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85216"/>
            <a:ext cx="10634472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Noto Serif SC"/>
                <a:ea typeface="Noto Serif SC"/>
              </a:rPr>
              <a:t>第 (2) 问：</a:t>
            </a:r>
            <a:r>
              <a:rPr sz="2700" b="1" i="0">
                <a:solidFill>
                  <a:srgbClr val="14213D"/>
                </a:solidFill>
                <a:latin typeface="Cambria Math"/>
                <a:ea typeface="Cambria Math"/>
              </a:rPr>
              <a:t>n</a:t>
            </a:r>
            <a:r>
              <a:rPr sz="1782" b="1" i="0" baseline="-25000">
                <a:solidFill>
                  <a:srgbClr val="14213D"/>
                </a:solidFill>
                <a:latin typeface="Cambria Math"/>
                <a:ea typeface="Cambria Math"/>
              </a:rPr>
              <a:t>I</a:t>
            </a:r>
            <a:r>
              <a:rPr sz="2700" b="1" i="0">
                <a:solidFill>
                  <a:srgbClr val="14213D"/>
                </a:solidFill>
                <a:latin typeface="Cambria Math"/>
                <a:ea typeface="Cambria Math"/>
              </a:rPr>
              <a:t>=6</a:t>
            </a:r>
            <a:r>
              <a:rPr sz="2700" b="1" i="0">
                <a:solidFill>
                  <a:srgbClr val="14213D"/>
                </a:solidFill>
                <a:latin typeface="Noto Serif SC"/>
                <a:ea typeface="Noto Serif SC"/>
              </a:rPr>
              <a:t> 意味着三个开关全开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25296"/>
            <a:ext cx="10817352" cy="10972"/>
          </a:xfrm>
          <a:prstGeom prst="rect">
            <a:avLst/>
          </a:prstGeom>
          <a:solidFill>
            <a:srgbClr val="DCD5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80192" y="651967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Noto Sans SC"/>
                <a:ea typeface="Noto Sans SC"/>
              </a:rPr>
              <a:t>06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Noto Sans SC"/>
                <a:ea typeface="Noto Sans SC"/>
              </a:rPr>
              <a:t>函数序关系与 I 排列  ·  2026 上海高考数学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B3A55"/>
                </a:solidFill>
                <a:latin typeface="Noto Sans SC"/>
                <a:ea typeface="Noto Sans SC"/>
              </a:rPr>
              <a:t>由计数公式，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n</a:t>
            </a:r>
            <a:r>
              <a:rPr sz="957" b="0" i="0" baseline="-25000">
                <a:solidFill>
                  <a:srgbClr val="2B3A55"/>
                </a:solidFill>
                <a:latin typeface="Cambria Math"/>
                <a:ea typeface="Cambria Math"/>
              </a:rPr>
              <a:t>I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=6 ⇔ A=B=C=1</a:t>
            </a:r>
            <a:r>
              <a:rPr sz="1450" b="0" i="0">
                <a:solidFill>
                  <a:srgbClr val="2B3A55"/>
                </a:solidFill>
                <a:latin typeface="Noto Sans SC"/>
                <a:ea typeface="Noto Sans SC"/>
              </a:rPr>
              <a:t>。逐一验证：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993392"/>
            <a:ext cx="1081735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6968" y="2167128"/>
            <a:ext cx="493776" cy="493776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176272"/>
            <a:ext cx="493776" cy="47548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84832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Noto Sans SC"/>
                <a:ea typeface="Noto Sans SC"/>
              </a:rPr>
              <a:t>A：</a:t>
            </a:r>
            <a:r>
              <a:rPr sz="1550" b="1" i="0">
                <a:solidFill>
                  <a:srgbClr val="14213D"/>
                </a:solidFill>
                <a:latin typeface="Cambria Math"/>
                <a:ea typeface="Cambria Math"/>
              </a:rPr>
              <a:t>f</a:t>
            </a:r>
            <a:r>
              <a:rPr sz="1023" b="1" i="0" baseline="-25000">
                <a:solidFill>
                  <a:srgbClr val="14213D"/>
                </a:solidFill>
                <a:latin typeface="Cambria Math"/>
                <a:ea typeface="Cambria Math"/>
              </a:rPr>
              <a:t>1</a:t>
            </a:r>
            <a:r>
              <a:rPr sz="1550" b="1" i="0">
                <a:solidFill>
                  <a:srgbClr val="14213D"/>
                </a:solidFill>
                <a:latin typeface="Cambria Math"/>
                <a:ea typeface="Cambria Math"/>
              </a:rPr>
              <a:t>≤ f</a:t>
            </a:r>
            <a:r>
              <a:rPr sz="1023" b="1" i="0" baseline="-25000">
                <a:solidFill>
                  <a:srgbClr val="14213D"/>
                </a:solidFill>
                <a:latin typeface="Cambria Math"/>
                <a:ea typeface="Cambria Math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432304"/>
            <a:ext cx="9765792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A55"/>
                </a:solidFill>
                <a:latin typeface="Cambria Math"/>
                <a:ea typeface="Cambria Math"/>
              </a:rPr>
              <a:t>x-1≤ x+m ⇔ m≥ -1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980944"/>
            <a:ext cx="1081735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6968" y="3154680"/>
            <a:ext cx="493776" cy="493776"/>
          </a:xfrm>
          <a:prstGeom prst="ellipse">
            <a:avLst/>
          </a:prstGeom>
          <a:solidFill>
            <a:srgbClr val="2A6F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163824"/>
            <a:ext cx="493776" cy="47548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072384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Noto Sans SC"/>
                <a:ea typeface="Noto Sans SC"/>
              </a:rPr>
              <a:t>B：</a:t>
            </a:r>
            <a:r>
              <a:rPr sz="1550" b="1" i="0">
                <a:solidFill>
                  <a:srgbClr val="14213D"/>
                </a:solidFill>
                <a:latin typeface="Cambria Math"/>
                <a:ea typeface="Cambria Math"/>
              </a:rPr>
              <a:t>f</a:t>
            </a:r>
            <a:r>
              <a:rPr sz="1023" b="1" i="0" baseline="-25000">
                <a:solidFill>
                  <a:srgbClr val="14213D"/>
                </a:solidFill>
                <a:latin typeface="Cambria Math"/>
                <a:ea typeface="Cambria Math"/>
              </a:rPr>
              <a:t>1</a:t>
            </a:r>
            <a:r>
              <a:rPr sz="1550" b="1" i="0">
                <a:solidFill>
                  <a:srgbClr val="14213D"/>
                </a:solidFill>
                <a:latin typeface="Cambria Math"/>
                <a:ea typeface="Cambria Math"/>
              </a:rPr>
              <a:t>≤ f</a:t>
            </a:r>
            <a:r>
              <a:rPr sz="1023" b="1" i="0" baseline="-25000">
                <a:solidFill>
                  <a:srgbClr val="14213D"/>
                </a:solidFill>
                <a:latin typeface="Cambria Math"/>
                <a:ea typeface="Cambria Math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419856"/>
            <a:ext cx="9765792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A55"/>
                </a:solidFill>
                <a:latin typeface="Cambria Math"/>
                <a:ea typeface="Cambria Math"/>
              </a:rPr>
              <a:t>x-1≤ x</a:t>
            </a:r>
            <a:r>
              <a:rPr sz="1242" b="0" i="0">
                <a:solidFill>
                  <a:srgbClr val="2B3A55"/>
                </a:solidFill>
                <a:latin typeface="Cambria Math"/>
                <a:ea typeface="Cambria Math"/>
              </a:rPr>
              <a:t>²</a:t>
            </a:r>
            <a:r>
              <a:rPr sz="1350" b="0" i="0">
                <a:solidFill>
                  <a:srgbClr val="2B3A55"/>
                </a:solidFill>
                <a:latin typeface="Cambria Math"/>
                <a:ea typeface="Cambria Math"/>
              </a:rPr>
              <a:t> ⇔ x</a:t>
            </a:r>
            <a:r>
              <a:rPr sz="1242" b="0" i="0">
                <a:solidFill>
                  <a:srgbClr val="2B3A55"/>
                </a:solidFill>
                <a:latin typeface="Cambria Math"/>
                <a:ea typeface="Cambria Math"/>
              </a:rPr>
              <a:t>²</a:t>
            </a:r>
            <a:r>
              <a:rPr sz="1350" b="0" i="0">
                <a:solidFill>
                  <a:srgbClr val="2B3A55"/>
                </a:solidFill>
                <a:latin typeface="Cambria Math"/>
                <a:ea typeface="Cambria Math"/>
              </a:rPr>
              <a:t>-x+1&gt;0</a:t>
            </a:r>
            <a:r>
              <a:rPr sz="1350" b="0" i="0">
                <a:solidFill>
                  <a:srgbClr val="2B3A55"/>
                </a:solidFill>
                <a:latin typeface="Noto Sans SC"/>
                <a:ea typeface="Noto Sans SC"/>
              </a:rPr>
              <a:t>，恒成立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968496"/>
            <a:ext cx="1081735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86968" y="4142232"/>
            <a:ext cx="493776" cy="49377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151376"/>
            <a:ext cx="493776" cy="47548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059935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Noto Sans SC"/>
                <a:ea typeface="Noto Sans SC"/>
              </a:rPr>
              <a:t>C：</a:t>
            </a:r>
            <a:r>
              <a:rPr sz="1550" b="1" i="0">
                <a:solidFill>
                  <a:srgbClr val="14213D"/>
                </a:solidFill>
                <a:latin typeface="Cambria Math"/>
                <a:ea typeface="Cambria Math"/>
              </a:rPr>
              <a:t>f</a:t>
            </a:r>
            <a:r>
              <a:rPr sz="1023" b="1" i="0" baseline="-25000">
                <a:solidFill>
                  <a:srgbClr val="14213D"/>
                </a:solidFill>
                <a:latin typeface="Cambria Math"/>
                <a:ea typeface="Cambria Math"/>
              </a:rPr>
              <a:t>2</a:t>
            </a:r>
            <a:r>
              <a:rPr sz="1550" b="1" i="0">
                <a:solidFill>
                  <a:srgbClr val="14213D"/>
                </a:solidFill>
                <a:latin typeface="Cambria Math"/>
                <a:ea typeface="Cambria Math"/>
              </a:rPr>
              <a:t>≤ f</a:t>
            </a:r>
            <a:r>
              <a:rPr sz="1023" b="1" i="0" baseline="-25000">
                <a:solidFill>
                  <a:srgbClr val="14213D"/>
                </a:solidFill>
                <a:latin typeface="Cambria Math"/>
                <a:ea typeface="Cambria Math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407408"/>
            <a:ext cx="9765792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A55"/>
                </a:solidFill>
                <a:latin typeface="Cambria Math"/>
                <a:ea typeface="Cambria Math"/>
              </a:rPr>
              <a:t>x+m≤ x</a:t>
            </a:r>
            <a:r>
              <a:rPr sz="1242" b="0" i="0">
                <a:solidFill>
                  <a:srgbClr val="2B3A55"/>
                </a:solidFill>
                <a:latin typeface="Cambria Math"/>
                <a:ea typeface="Cambria Math"/>
              </a:rPr>
              <a:t>²</a:t>
            </a:r>
            <a:r>
              <a:rPr sz="1350" b="0" i="0">
                <a:solidFill>
                  <a:srgbClr val="2B3A55"/>
                </a:solidFill>
                <a:latin typeface="Noto Sans SC"/>
                <a:ea typeface="Noto Sans SC"/>
              </a:rPr>
              <a:t> 对一切 </a:t>
            </a:r>
            <a:r>
              <a:rPr sz="1350" b="0" i="0">
                <a:solidFill>
                  <a:srgbClr val="2B3A55"/>
                </a:solidFill>
                <a:latin typeface="Cambria Math"/>
                <a:ea typeface="Cambria Math"/>
              </a:rPr>
              <a:t>x&gt;0</a:t>
            </a:r>
            <a:r>
              <a:rPr sz="1350" b="0" i="0">
                <a:solidFill>
                  <a:srgbClr val="2B3A55"/>
                </a:solidFill>
                <a:latin typeface="Noto Sans SC"/>
                <a:ea typeface="Noto Sans SC"/>
              </a:rPr>
              <a:t> 成立 </a:t>
            </a:r>
            <a:r>
              <a:rPr sz="1350" b="0" i="0">
                <a:solidFill>
                  <a:srgbClr val="2B3A55"/>
                </a:solidFill>
                <a:latin typeface="Cambria Math"/>
                <a:ea typeface="Cambria Math"/>
              </a:rPr>
              <a:t>⇔ m≤ -¼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892040"/>
            <a:ext cx="9811512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Noto Sans SC"/>
                <a:ea typeface="Noto Sans SC"/>
              </a:rPr>
              <a:t>因为 </a:t>
            </a:r>
            <a:r>
              <a:rPr sz="1050" b="0" i="0">
                <a:solidFill>
                  <a:srgbClr val="6B7280"/>
                </a:solidFill>
                <a:latin typeface="Cambria Math"/>
                <a:ea typeface="Cambria Math"/>
              </a:rPr>
              <a:t>x</a:t>
            </a:r>
            <a:r>
              <a:rPr sz="966" b="0" i="0">
                <a:solidFill>
                  <a:srgbClr val="6B7280"/>
                </a:solidFill>
                <a:latin typeface="Cambria Math"/>
                <a:ea typeface="Cambria Math"/>
              </a:rPr>
              <a:t>²</a:t>
            </a:r>
            <a:r>
              <a:rPr sz="1050" b="0" i="0">
                <a:solidFill>
                  <a:srgbClr val="6B7280"/>
                </a:solidFill>
                <a:latin typeface="Cambria Math"/>
                <a:ea typeface="Cambria Math"/>
              </a:rPr>
              <a:t>-x=(x-½)</a:t>
            </a:r>
            <a:r>
              <a:rPr sz="966" b="0" i="0">
                <a:solidFill>
                  <a:srgbClr val="6B7280"/>
                </a:solidFill>
                <a:latin typeface="Cambria Math"/>
                <a:ea typeface="Cambria Math"/>
              </a:rPr>
              <a:t>²</a:t>
            </a:r>
            <a:r>
              <a:rPr sz="1050" b="0" i="0">
                <a:solidFill>
                  <a:srgbClr val="6B7280"/>
                </a:solidFill>
                <a:latin typeface="Cambria Math"/>
                <a:ea typeface="Cambria Math"/>
              </a:rPr>
              <a:t>-¼</a:t>
            </a:r>
            <a:r>
              <a:rPr sz="1050" b="0" i="0">
                <a:solidFill>
                  <a:srgbClr val="6B7280"/>
                </a:solidFill>
                <a:latin typeface="Noto Sans SC"/>
                <a:ea typeface="Noto Sans SC"/>
              </a:rPr>
              <a:t>，最小值在 </a:t>
            </a:r>
            <a:r>
              <a:rPr sz="1050" b="0" i="0">
                <a:solidFill>
                  <a:srgbClr val="6B7280"/>
                </a:solidFill>
                <a:latin typeface="Cambria Math"/>
                <a:ea typeface="Cambria Math"/>
              </a:rPr>
              <a:t>x=½</a:t>
            </a:r>
            <a:r>
              <a:rPr sz="1050" b="0" i="0">
                <a:solidFill>
                  <a:srgbClr val="6B7280"/>
                </a:solidFill>
                <a:latin typeface="Noto Sans SC"/>
                <a:ea typeface="Noto Sans SC"/>
              </a:rPr>
              <a:t> 处取得。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413248"/>
            <a:ext cx="10817352" cy="71323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413248"/>
            <a:ext cx="2926080" cy="7132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9C3D2"/>
                </a:solidFill>
                <a:latin typeface="Noto Sans SC"/>
                <a:ea typeface="Noto Sans SC"/>
              </a:rPr>
              <a:t>取交集：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413248"/>
            <a:ext cx="8714232" cy="7132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mbria Math"/>
                <a:ea typeface="Cambria Math"/>
              </a:rPr>
              <a:t>-1≤ m≤ -¼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64008" cy="4754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10634472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9A227"/>
                </a:solidFill>
                <a:latin typeface="Noto Sans SC"/>
                <a:ea typeface="Noto Sans SC"/>
              </a:rPr>
              <a:t>PART  (2)  / 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85216"/>
            <a:ext cx="10634472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Noto Serif SC"/>
                <a:ea typeface="Noto Serif SC"/>
              </a:rPr>
              <a:t>第 (2) 问：答案与端点检验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25296"/>
            <a:ext cx="10817352" cy="10972"/>
          </a:xfrm>
          <a:prstGeom prst="rect">
            <a:avLst/>
          </a:prstGeom>
          <a:solidFill>
            <a:srgbClr val="DCD5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80192" y="651967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Noto Sans SC"/>
                <a:ea typeface="Noto Sans SC"/>
              </a:rPr>
              <a:t>07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Noto Sans SC"/>
                <a:ea typeface="Noto Sans SC"/>
              </a:rPr>
              <a:t>函数序关系与 I 排列  ·  2026 上海高考数学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481328"/>
            <a:ext cx="4526280" cy="210312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62763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227"/>
                </a:solidFill>
                <a:latin typeface="Noto Sans SC"/>
                <a:ea typeface="Noto Sans SC"/>
              </a:rPr>
              <a:t>m 的取值范围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38528"/>
            <a:ext cx="402336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 Math"/>
                <a:ea typeface="Cambria Math"/>
              </a:rPr>
              <a:t>m∈[-1,-¼]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52928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D2DF"/>
                </a:solidFill>
                <a:latin typeface="Noto Sans SC"/>
                <a:ea typeface="Noto Sans SC"/>
              </a:rPr>
              <a:t>闭区间：两个端点都能取到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2697480"/>
            <a:ext cx="5486400" cy="12801"/>
          </a:xfrm>
          <a:prstGeom prst="rect">
            <a:avLst/>
          </a:prstGeom>
          <a:solidFill>
            <a:srgbClr val="2B3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90211" y="2615184"/>
            <a:ext cx="2939142" cy="164592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2896" y="2569464"/>
            <a:ext cx="14630" cy="25603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58207" y="2665476"/>
            <a:ext cx="64008" cy="64008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8731" y="286207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Noto Sans SC"/>
                <a:ea typeface="Noto Sans SC"/>
              </a:rPr>
              <a:t>−1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22039" y="2569464"/>
            <a:ext cx="14630" cy="25603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97350" y="2665476"/>
            <a:ext cx="64008" cy="64008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7874" y="286207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Noto Sans SC"/>
                <a:ea typeface="Noto Sans SC"/>
              </a:rPr>
              <a:t>−¼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1611" y="2075688"/>
            <a:ext cx="339634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1495B"/>
                </a:solidFill>
                <a:latin typeface="Cambria Math"/>
                <a:ea typeface="Cambria Math"/>
              </a:rPr>
              <a:t>-1≤ m≤ -¼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251460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Noto Sans SC"/>
                <a:ea typeface="Noto Sans SC"/>
              </a:rPr>
              <a:t>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858768"/>
            <a:ext cx="528523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400507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Cambria Math"/>
                <a:ea typeface="Cambria Math"/>
              </a:rPr>
              <a:t>m=-1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334256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55"/>
                </a:solidFill>
                <a:latin typeface="Noto Sans SC"/>
                <a:ea typeface="Noto Sans SC"/>
              </a:rPr>
              <a:t>A 取等号；C 成立（</a:t>
            </a:r>
            <a:r>
              <a:rPr sz="1150" b="0" i="0">
                <a:solidFill>
                  <a:srgbClr val="2B3A55"/>
                </a:solidFill>
                <a:latin typeface="Cambria Math"/>
                <a:ea typeface="Cambria Math"/>
              </a:rPr>
              <a:t>-1≤ -¼</a:t>
            </a:r>
            <a:r>
              <a:rPr sz="1150" b="0" i="0">
                <a:solidFill>
                  <a:srgbClr val="2B3A55"/>
                </a:solidFill>
                <a:latin typeface="Noto Sans SC"/>
                <a:ea typeface="Noto Sans SC"/>
              </a:rPr>
              <a:t>）。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858768"/>
            <a:ext cx="528523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4005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Cambria Math"/>
                <a:ea typeface="Cambria Math"/>
              </a:rPr>
              <a:t>m=-¼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4334256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55"/>
                </a:solidFill>
                <a:latin typeface="Noto Sans SC"/>
                <a:ea typeface="Noto Sans SC"/>
              </a:rPr>
              <a:t>C 在 </a:t>
            </a:r>
            <a:r>
              <a:rPr sz="1150" b="0" i="0">
                <a:solidFill>
                  <a:srgbClr val="2B3A55"/>
                </a:solidFill>
                <a:latin typeface="Cambria Math"/>
                <a:ea typeface="Cambria Math"/>
              </a:rPr>
              <a:t>x=½</a:t>
            </a:r>
            <a:r>
              <a:rPr sz="1150" b="0" i="0">
                <a:solidFill>
                  <a:srgbClr val="2B3A55"/>
                </a:solidFill>
                <a:latin typeface="Noto Sans SC"/>
                <a:ea typeface="Noto Sans SC"/>
              </a:rPr>
              <a:t> 取等号；A 成立。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138928"/>
            <a:ext cx="10817352" cy="594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Noto Sans SC"/>
                <a:ea typeface="Noto Sans SC"/>
              </a:rPr>
              <a:t>两个端点都使 6 个排列全部成立，所以答案是闭区间 </a:t>
            </a:r>
            <a:r>
              <a:rPr sz="1450" b="0" i="0">
                <a:solidFill>
                  <a:srgbClr val="14213D"/>
                </a:solidFill>
                <a:latin typeface="Cambria Math"/>
                <a:ea typeface="Cambria Math"/>
              </a:rPr>
              <a:t>[-1,-¼]</a:t>
            </a:r>
            <a:r>
              <a:rPr sz="1450" b="0" i="0">
                <a:solidFill>
                  <a:srgbClr val="14213D"/>
                </a:solidFill>
                <a:latin typeface="Noto Sans SC"/>
                <a:ea typeface="Noto Sans SC"/>
              </a:rPr>
              <a:t>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897880"/>
            <a:ext cx="10817352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Noto Sans SC"/>
                <a:ea typeface="Noto Sans SC"/>
              </a:rPr>
              <a:t>记忆点：</a:t>
            </a:r>
            <a:r>
              <a:rPr sz="1050" b="0" i="0">
                <a:solidFill>
                  <a:srgbClr val="6B7280"/>
                </a:solidFill>
                <a:latin typeface="Cambria Math"/>
                <a:ea typeface="Cambria Math"/>
              </a:rPr>
              <a:t>m</a:t>
            </a:r>
            <a:r>
              <a:rPr sz="1050" b="0" i="0">
                <a:solidFill>
                  <a:srgbClr val="6B7280"/>
                </a:solidFill>
                <a:latin typeface="Noto Sans SC"/>
                <a:ea typeface="Noto Sans SC"/>
              </a:rPr>
              <a:t> 的上界由 </a:t>
            </a:r>
            <a:r>
              <a:rPr sz="1050" b="0" i="0">
                <a:solidFill>
                  <a:srgbClr val="6B7280"/>
                </a:solidFill>
                <a:latin typeface="Cambria Math"/>
                <a:ea typeface="Cambria Math"/>
              </a:rPr>
              <a:t>f</a:t>
            </a:r>
            <a:r>
              <a:rPr sz="693" b="0" i="0" baseline="-25000">
                <a:solidFill>
                  <a:srgbClr val="6B7280"/>
                </a:solidFill>
                <a:latin typeface="Cambria Math"/>
                <a:ea typeface="Cambria Math"/>
              </a:rPr>
              <a:t>2</a:t>
            </a:r>
            <a:r>
              <a:rPr sz="1050" b="0" i="0">
                <a:solidFill>
                  <a:srgbClr val="6B7280"/>
                </a:solidFill>
                <a:latin typeface="Cambria Math"/>
                <a:ea typeface="Cambria Math"/>
              </a:rPr>
              <a:t>≤ f</a:t>
            </a:r>
            <a:r>
              <a:rPr sz="693" b="0" i="0" baseline="-25000">
                <a:solidFill>
                  <a:srgbClr val="6B7280"/>
                </a:solidFill>
                <a:latin typeface="Cambria Math"/>
                <a:ea typeface="Cambria Math"/>
              </a:rPr>
              <a:t>3</a:t>
            </a:r>
            <a:r>
              <a:rPr sz="1050" b="0" i="0">
                <a:solidFill>
                  <a:srgbClr val="6B7280"/>
                </a:solidFill>
                <a:latin typeface="Noto Sans SC"/>
                <a:ea typeface="Noto Sans SC"/>
              </a:rPr>
              <a:t> 给出，下界由 </a:t>
            </a:r>
            <a:r>
              <a:rPr sz="1050" b="0" i="0">
                <a:solidFill>
                  <a:srgbClr val="6B7280"/>
                </a:solidFill>
                <a:latin typeface="Cambria Math"/>
                <a:ea typeface="Cambria Math"/>
              </a:rPr>
              <a:t>f</a:t>
            </a:r>
            <a:r>
              <a:rPr sz="693" b="0" i="0" baseline="-25000">
                <a:solidFill>
                  <a:srgbClr val="6B7280"/>
                </a:solidFill>
                <a:latin typeface="Cambria Math"/>
                <a:ea typeface="Cambria Math"/>
              </a:rPr>
              <a:t>1</a:t>
            </a:r>
            <a:r>
              <a:rPr sz="1050" b="0" i="0">
                <a:solidFill>
                  <a:srgbClr val="6B7280"/>
                </a:solidFill>
                <a:latin typeface="Cambria Math"/>
                <a:ea typeface="Cambria Math"/>
              </a:rPr>
              <a:t>≤ f</a:t>
            </a:r>
            <a:r>
              <a:rPr sz="693" b="0" i="0" baseline="-25000">
                <a:solidFill>
                  <a:srgbClr val="6B7280"/>
                </a:solidFill>
                <a:latin typeface="Cambria Math"/>
                <a:ea typeface="Cambria Math"/>
              </a:rPr>
              <a:t>2</a:t>
            </a:r>
            <a:r>
              <a:rPr sz="1050" b="0" i="0">
                <a:solidFill>
                  <a:srgbClr val="6B7280"/>
                </a:solidFill>
                <a:latin typeface="Noto Sans SC"/>
                <a:ea typeface="Noto Sans SC"/>
              </a:rPr>
              <a:t> 给出。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64008" cy="475488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10634472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1495B"/>
                </a:solidFill>
                <a:latin typeface="Noto Sans SC"/>
                <a:ea typeface="Noto Sans SC"/>
              </a:rPr>
              <a:t>PART  (3)  / 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85216"/>
            <a:ext cx="10634472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Noto Serif SC"/>
                <a:ea typeface="Noto Serif SC"/>
              </a:rPr>
              <a:t>第 (3) 问：两条证明路线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25296"/>
            <a:ext cx="10817352" cy="10972"/>
          </a:xfrm>
          <a:prstGeom prst="rect">
            <a:avLst/>
          </a:prstGeom>
          <a:solidFill>
            <a:srgbClr val="DCD5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80192" y="651967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Noto Sans SC"/>
                <a:ea typeface="Noto Sans SC"/>
              </a:rPr>
              <a:t>08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Noto Sans SC"/>
                <a:ea typeface="Noto Sans SC"/>
              </a:rPr>
              <a:t>函数序关系与 I 排列  ·  2026 上海高考数学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481328"/>
            <a:ext cx="5285232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81328"/>
            <a:ext cx="5285232" cy="64008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00784"/>
            <a:ext cx="4828032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1495B"/>
                </a:solidFill>
                <a:latin typeface="Noto Serif SC"/>
                <a:ea typeface="Noto Serif SC"/>
              </a:rPr>
              <a:t>F 严格递减</a:t>
            </a:r>
          </a:p>
        </p:txBody>
      </p:sp>
      <p:sp>
        <p:nvSpPr>
          <p:cNvPr id="11" name="Oval 10"/>
          <p:cNvSpPr/>
          <p:nvPr/>
        </p:nvSpPr>
        <p:spPr>
          <a:xfrm>
            <a:off x="978408" y="2322576"/>
            <a:ext cx="91440" cy="91440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16152" y="2231136"/>
            <a:ext cx="4507992" cy="594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A55"/>
                </a:solidFill>
                <a:latin typeface="Noto Sans SC"/>
                <a:ea typeface="Noto Sans SC"/>
              </a:rPr>
              <a:t>取 </a:t>
            </a:r>
            <a:r>
              <a:rPr sz="1350" b="0" i="0">
                <a:solidFill>
                  <a:srgbClr val="2B3A55"/>
                </a:solidFill>
                <a:latin typeface="Cambria Math"/>
                <a:ea typeface="Cambria Math"/>
              </a:rPr>
              <a:t>a&gt;0</a:t>
            </a:r>
            <a:r>
              <a:rPr sz="1350" b="0" i="0">
                <a:solidFill>
                  <a:srgbClr val="2B3A55"/>
                </a:solidFill>
                <a:latin typeface="Noto Sans SC"/>
                <a:ea typeface="Noto Sans SC"/>
              </a:rPr>
              <a:t> 充分大。</a:t>
            </a:r>
          </a:p>
        </p:txBody>
      </p:sp>
      <p:sp>
        <p:nvSpPr>
          <p:cNvPr id="13" name="Oval 12"/>
          <p:cNvSpPr/>
          <p:nvPr/>
        </p:nvSpPr>
        <p:spPr>
          <a:xfrm>
            <a:off x="978408" y="2980944"/>
            <a:ext cx="91440" cy="91440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2889504"/>
            <a:ext cx="4507992" cy="594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A55"/>
                </a:solidFill>
                <a:latin typeface="Noto Sans SC"/>
                <a:ea typeface="Noto Sans SC"/>
              </a:rPr>
              <a:t>让 </a:t>
            </a:r>
            <a:r>
              <a:rPr sz="1350" b="0" i="0">
                <a:solidFill>
                  <a:srgbClr val="2B3A55"/>
                </a:solidFill>
                <a:latin typeface="Cambria Math"/>
                <a:ea typeface="Cambria Math"/>
              </a:rPr>
              <a:t>f</a:t>
            </a:r>
            <a:r>
              <a:rPr sz="891" b="0" i="0" baseline="-25000">
                <a:solidFill>
                  <a:srgbClr val="2B3A55"/>
                </a:solidFill>
                <a:latin typeface="Cambria Math"/>
                <a:ea typeface="Cambria Math"/>
              </a:rPr>
              <a:t>3</a:t>
            </a:r>
            <a:r>
              <a:rPr sz="1350" b="0" i="0">
                <a:solidFill>
                  <a:srgbClr val="2B3A55"/>
                </a:solidFill>
                <a:latin typeface="Noto Sans SC"/>
                <a:ea typeface="Noto Sans SC"/>
              </a:rPr>
              <a:t> 同时高于 </a:t>
            </a:r>
            <a:r>
              <a:rPr sz="1350" b="0" i="0">
                <a:solidFill>
                  <a:srgbClr val="2B3A55"/>
                </a:solidFill>
                <a:latin typeface="Cambria Math"/>
                <a:ea typeface="Cambria Math"/>
              </a:rPr>
              <a:t>f</a:t>
            </a:r>
            <a:r>
              <a:rPr sz="891" b="0" i="0" baseline="-25000">
                <a:solidFill>
                  <a:srgbClr val="2B3A55"/>
                </a:solidFill>
                <a:latin typeface="Cambria Math"/>
                <a:ea typeface="Cambria Math"/>
              </a:rPr>
              <a:t>1</a:t>
            </a:r>
            <a:r>
              <a:rPr sz="1350" b="0" i="0">
                <a:solidFill>
                  <a:srgbClr val="2B3A55"/>
                </a:solidFill>
                <a:latin typeface="Cambria Math"/>
                <a:ea typeface="Cambria Math"/>
              </a:rPr>
              <a:t>,f</a:t>
            </a:r>
            <a:r>
              <a:rPr sz="891" b="0" i="0" baseline="-25000">
                <a:solidFill>
                  <a:srgbClr val="2B3A55"/>
                </a:solidFill>
                <a:latin typeface="Cambria Math"/>
                <a:ea typeface="Cambria Math"/>
              </a:rPr>
              <a:t>2</a:t>
            </a:r>
            <a:r>
              <a:rPr sz="1350" b="0" i="0">
                <a:solidFill>
                  <a:srgbClr val="2B3A55"/>
                </a:solidFill>
                <a:latin typeface="Noto Sans SC"/>
                <a:ea typeface="Noto Sans SC"/>
              </a:rPr>
              <a:t>。</a:t>
            </a:r>
          </a:p>
        </p:txBody>
      </p:sp>
      <p:sp>
        <p:nvSpPr>
          <p:cNvPr id="15" name="Oval 14"/>
          <p:cNvSpPr/>
          <p:nvPr/>
        </p:nvSpPr>
        <p:spPr>
          <a:xfrm>
            <a:off x="978408" y="3639312"/>
            <a:ext cx="91440" cy="91440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6152" y="3547872"/>
            <a:ext cx="4507992" cy="594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A55"/>
                </a:solidFill>
                <a:latin typeface="Noto Sans SC"/>
                <a:ea typeface="Noto Sans SC"/>
              </a:rPr>
              <a:t>于是 </a:t>
            </a:r>
            <a:r>
              <a:rPr sz="1350" b="0" i="0">
                <a:solidFill>
                  <a:srgbClr val="2B3A55"/>
                </a:solidFill>
                <a:latin typeface="Cambria Math"/>
                <a:ea typeface="Cambria Math"/>
              </a:rPr>
              <a:t>B=C=1</a:t>
            </a:r>
            <a:r>
              <a:rPr sz="1350" b="0" i="0">
                <a:solidFill>
                  <a:srgbClr val="2B3A55"/>
                </a:solidFill>
                <a:latin typeface="Noto Sans SC"/>
                <a:ea typeface="Noto Sans SC"/>
              </a:rPr>
              <a:t>。</a:t>
            </a:r>
          </a:p>
        </p:txBody>
      </p:sp>
      <p:sp>
        <p:nvSpPr>
          <p:cNvPr id="17" name="Oval 16"/>
          <p:cNvSpPr/>
          <p:nvPr/>
        </p:nvSpPr>
        <p:spPr>
          <a:xfrm>
            <a:off x="978408" y="4297679"/>
            <a:ext cx="91440" cy="91440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6152" y="4206240"/>
            <a:ext cx="4507992" cy="594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A55"/>
                </a:solidFill>
                <a:latin typeface="Noto Sans SC"/>
                <a:ea typeface="Noto Sans SC"/>
              </a:rPr>
              <a:t>计数公式给出 </a:t>
            </a:r>
            <a:r>
              <a:rPr sz="1350" b="0" i="0">
                <a:solidFill>
                  <a:srgbClr val="2B3A55"/>
                </a:solidFill>
                <a:latin typeface="Cambria Math"/>
                <a:ea typeface="Cambria Math"/>
              </a:rPr>
              <a:t>n</a:t>
            </a:r>
            <a:r>
              <a:rPr sz="891" b="0" i="0" baseline="-25000">
                <a:solidFill>
                  <a:srgbClr val="2B3A55"/>
                </a:solidFill>
                <a:latin typeface="Cambria Math"/>
                <a:ea typeface="Cambria Math"/>
              </a:rPr>
              <a:t>I</a:t>
            </a:r>
            <a:r>
              <a:rPr sz="1350" b="0" i="0">
                <a:solidFill>
                  <a:srgbClr val="2B3A55"/>
                </a:solidFill>
                <a:latin typeface="Cambria Math"/>
                <a:ea typeface="Cambria Math"/>
              </a:rPr>
              <a:t>=4+2A≥ 4</a:t>
            </a:r>
            <a:r>
              <a:rPr sz="1350" b="0" i="0">
                <a:solidFill>
                  <a:srgbClr val="2B3A55"/>
                </a:solidFill>
                <a:latin typeface="Noto Sans SC"/>
                <a:ea typeface="Noto Sans SC"/>
              </a:rPr>
              <a:t>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481328"/>
            <a:ext cx="5285232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481328"/>
            <a:ext cx="5285232" cy="64008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700784"/>
            <a:ext cx="4828032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A6F6B"/>
                </a:solidFill>
                <a:latin typeface="Noto Serif SC"/>
                <a:ea typeface="Noto Serif SC"/>
              </a:rPr>
              <a:t>F 严格递增</a:t>
            </a:r>
          </a:p>
        </p:txBody>
      </p:sp>
      <p:sp>
        <p:nvSpPr>
          <p:cNvPr id="22" name="Oval 21"/>
          <p:cNvSpPr/>
          <p:nvPr/>
        </p:nvSpPr>
        <p:spPr>
          <a:xfrm>
            <a:off x="6510528" y="2322576"/>
            <a:ext cx="91440" cy="91440"/>
          </a:xfrm>
          <a:prstGeom prst="ellipse">
            <a:avLst/>
          </a:prstGeom>
          <a:solidFill>
            <a:srgbClr val="2A6F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8272" y="2231136"/>
            <a:ext cx="4507992" cy="6583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A55"/>
                </a:solidFill>
                <a:latin typeface="Noto Sans SC"/>
                <a:ea typeface="Noto Sans SC"/>
              </a:rPr>
              <a:t>先证 </a:t>
            </a:r>
            <a:r>
              <a:rPr sz="1300" b="0" i="0">
                <a:solidFill>
                  <a:srgbClr val="2B3A55"/>
                </a:solidFill>
                <a:latin typeface="Cambria Math"/>
                <a:ea typeface="Cambria Math"/>
              </a:rPr>
              <a:t>A=0</a:t>
            </a:r>
            <a:r>
              <a:rPr sz="1300" b="0" i="0">
                <a:solidFill>
                  <a:srgbClr val="2B3A55"/>
                </a:solidFill>
                <a:latin typeface="Noto Sans SC"/>
                <a:ea typeface="Noto Sans SC"/>
              </a:rPr>
              <a:t> 对一切 </a:t>
            </a:r>
            <a:r>
              <a:rPr sz="1300" b="0" i="0">
                <a:solidFill>
                  <a:srgbClr val="2B3A55"/>
                </a:solidFill>
                <a:latin typeface="Cambria Math"/>
                <a:ea typeface="Cambria Math"/>
              </a:rPr>
              <a:t>a&gt;0</a:t>
            </a:r>
            <a:r>
              <a:rPr sz="1300" b="0" i="0">
                <a:solidFill>
                  <a:srgbClr val="2B3A55"/>
                </a:solidFill>
                <a:latin typeface="Noto Sans SC"/>
                <a:ea typeface="Noto Sans SC"/>
              </a:rPr>
              <a:t> 成立。</a:t>
            </a:r>
          </a:p>
        </p:txBody>
      </p:sp>
      <p:sp>
        <p:nvSpPr>
          <p:cNvPr id="24" name="Oval 23"/>
          <p:cNvSpPr/>
          <p:nvPr/>
        </p:nvSpPr>
        <p:spPr>
          <a:xfrm>
            <a:off x="6510528" y="2980944"/>
            <a:ext cx="91440" cy="91440"/>
          </a:xfrm>
          <a:prstGeom prst="ellipse">
            <a:avLst/>
          </a:prstGeom>
          <a:solidFill>
            <a:srgbClr val="2A6F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8272" y="2889504"/>
            <a:ext cx="4507992" cy="6583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A55"/>
                </a:solidFill>
                <a:latin typeface="Noto Sans SC"/>
                <a:ea typeface="Noto Sans SC"/>
              </a:rPr>
              <a:t>若存在 </a:t>
            </a:r>
            <a:r>
              <a:rPr sz="1300" b="0" i="0">
                <a:solidFill>
                  <a:srgbClr val="2B3A55"/>
                </a:solidFill>
                <a:latin typeface="Cambria Math"/>
                <a:ea typeface="Cambria Math"/>
              </a:rPr>
              <a:t>x</a:t>
            </a:r>
            <a:r>
              <a:rPr sz="1300" b="0" i="0">
                <a:solidFill>
                  <a:srgbClr val="2B3A55"/>
                </a:solidFill>
                <a:latin typeface="Noto Sans SC"/>
                <a:ea typeface="Noto Sans SC"/>
              </a:rPr>
              <a:t> 使 </a:t>
            </a:r>
            <a:r>
              <a:rPr sz="1300" b="0" i="0">
                <a:solidFill>
                  <a:srgbClr val="2B3A55"/>
                </a:solidFill>
                <a:latin typeface="Cambria Math"/>
                <a:ea typeface="Cambria Math"/>
              </a:rPr>
              <a:t>F(x)&gt;f</a:t>
            </a:r>
            <a:r>
              <a:rPr sz="858" b="0" i="0" baseline="-25000">
                <a:solidFill>
                  <a:srgbClr val="2B3A55"/>
                </a:solidFill>
                <a:latin typeface="Cambria Math"/>
                <a:ea typeface="Cambria Math"/>
              </a:rPr>
              <a:t>3</a:t>
            </a:r>
            <a:r>
              <a:rPr sz="1300" b="0" i="0">
                <a:solidFill>
                  <a:srgbClr val="2B3A55"/>
                </a:solidFill>
                <a:latin typeface="Cambria Math"/>
                <a:ea typeface="Cambria Math"/>
              </a:rPr>
              <a:t>(x)</a:t>
            </a:r>
            <a:r>
              <a:rPr sz="1300" b="0" i="0">
                <a:solidFill>
                  <a:srgbClr val="2B3A55"/>
                </a:solidFill>
                <a:latin typeface="Noto Sans SC"/>
                <a:ea typeface="Noto Sans SC"/>
              </a:rPr>
              <a:t>，取小 </a:t>
            </a:r>
            <a:r>
              <a:rPr sz="1300" b="0" i="0">
                <a:solidFill>
                  <a:srgbClr val="2B3A55"/>
                </a:solidFill>
                <a:latin typeface="Cambria Math"/>
                <a:ea typeface="Cambria Math"/>
              </a:rPr>
              <a:t>a</a:t>
            </a:r>
            <a:r>
              <a:rPr sz="1300" b="0" i="0">
                <a:solidFill>
                  <a:srgbClr val="2B3A55"/>
                </a:solidFill>
                <a:latin typeface="Noto Sans SC"/>
                <a:ea typeface="Noto Sans SC"/>
              </a:rPr>
              <a:t> 得 </a:t>
            </a:r>
            <a:r>
              <a:rPr sz="1300" b="0" i="0">
                <a:solidFill>
                  <a:srgbClr val="2B3A55"/>
                </a:solidFill>
                <a:latin typeface="Cambria Math"/>
                <a:ea typeface="Cambria Math"/>
              </a:rPr>
              <a:t>B=C=0</a:t>
            </a:r>
            <a:r>
              <a:rPr sz="1300" b="0" i="0">
                <a:solidFill>
                  <a:srgbClr val="2B3A55"/>
                </a:solidFill>
                <a:latin typeface="Noto Sans SC"/>
                <a:ea typeface="Noto Sans SC"/>
              </a:rPr>
              <a:t>。</a:t>
            </a:r>
          </a:p>
        </p:txBody>
      </p:sp>
      <p:sp>
        <p:nvSpPr>
          <p:cNvPr id="26" name="Oval 25"/>
          <p:cNvSpPr/>
          <p:nvPr/>
        </p:nvSpPr>
        <p:spPr>
          <a:xfrm>
            <a:off x="6510528" y="3639312"/>
            <a:ext cx="91440" cy="91440"/>
          </a:xfrm>
          <a:prstGeom prst="ellipse">
            <a:avLst/>
          </a:prstGeom>
          <a:solidFill>
            <a:srgbClr val="2A6F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48272" y="3547872"/>
            <a:ext cx="4507992" cy="6583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A55"/>
                </a:solidFill>
                <a:latin typeface="Noto Sans SC"/>
                <a:ea typeface="Noto Sans SC"/>
              </a:rPr>
              <a:t>若 </a:t>
            </a:r>
            <a:r>
              <a:rPr sz="1300" b="0" i="0">
                <a:solidFill>
                  <a:srgbClr val="2B3A55"/>
                </a:solidFill>
                <a:latin typeface="Cambria Math"/>
                <a:ea typeface="Cambria Math"/>
              </a:rPr>
              <a:t>F(x)≤ f</a:t>
            </a:r>
            <a:r>
              <a:rPr sz="858" b="0" i="0" baseline="-25000">
                <a:solidFill>
                  <a:srgbClr val="2B3A55"/>
                </a:solidFill>
                <a:latin typeface="Cambria Math"/>
                <a:ea typeface="Cambria Math"/>
              </a:rPr>
              <a:t>3</a:t>
            </a:r>
            <a:r>
              <a:rPr sz="1300" b="0" i="0">
                <a:solidFill>
                  <a:srgbClr val="2B3A55"/>
                </a:solidFill>
                <a:latin typeface="Cambria Math"/>
                <a:ea typeface="Cambria Math"/>
              </a:rPr>
              <a:t>(x)</a:t>
            </a:r>
            <a:r>
              <a:rPr sz="1300" b="0" i="0">
                <a:solidFill>
                  <a:srgbClr val="2B3A55"/>
                </a:solidFill>
                <a:latin typeface="Noto Sans SC"/>
                <a:ea typeface="Noto Sans SC"/>
              </a:rPr>
              <a:t> 恒成立，则 </a:t>
            </a:r>
            <a:r>
              <a:rPr sz="1300" b="0" i="0">
                <a:solidFill>
                  <a:srgbClr val="2B3A55"/>
                </a:solidFill>
                <a:latin typeface="Cambria Math"/>
                <a:ea typeface="Cambria Math"/>
              </a:rPr>
              <a:t>B=C=1</a:t>
            </a:r>
            <a:r>
              <a:rPr sz="1300" b="0" i="0">
                <a:solidFill>
                  <a:srgbClr val="2B3A55"/>
                </a:solidFill>
                <a:latin typeface="Noto Sans SC"/>
                <a:ea typeface="Noto Sans SC"/>
              </a:rPr>
              <a:t>。</a:t>
            </a:r>
          </a:p>
        </p:txBody>
      </p:sp>
      <p:sp>
        <p:nvSpPr>
          <p:cNvPr id="28" name="Oval 27"/>
          <p:cNvSpPr/>
          <p:nvPr/>
        </p:nvSpPr>
        <p:spPr>
          <a:xfrm>
            <a:off x="6510528" y="4297679"/>
            <a:ext cx="91440" cy="91440"/>
          </a:xfrm>
          <a:prstGeom prst="ellipse">
            <a:avLst/>
          </a:prstGeom>
          <a:solidFill>
            <a:srgbClr val="2A6F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4206240"/>
            <a:ext cx="4507992" cy="6583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A55"/>
                </a:solidFill>
                <a:latin typeface="Noto Sans SC"/>
                <a:ea typeface="Noto Sans SC"/>
              </a:rPr>
              <a:t>两种情形分别得到 </a:t>
            </a:r>
            <a:r>
              <a:rPr sz="1300" b="0" i="0">
                <a:solidFill>
                  <a:srgbClr val="2B3A55"/>
                </a:solidFill>
                <a:latin typeface="Cambria Math"/>
                <a:ea typeface="Cambria Math"/>
              </a:rPr>
              <a:t>n</a:t>
            </a:r>
            <a:r>
              <a:rPr sz="858" b="0" i="0" baseline="-25000">
                <a:solidFill>
                  <a:srgbClr val="2B3A55"/>
                </a:solidFill>
                <a:latin typeface="Cambria Math"/>
                <a:ea typeface="Cambria Math"/>
              </a:rPr>
              <a:t>I</a:t>
            </a:r>
            <a:r>
              <a:rPr sz="1300" b="0" i="0">
                <a:solidFill>
                  <a:srgbClr val="2B3A55"/>
                </a:solidFill>
                <a:latin typeface="Cambria Math"/>
                <a:ea typeface="Cambria Math"/>
              </a:rPr>
              <a:t>=1</a:t>
            </a:r>
            <a:r>
              <a:rPr sz="1300" b="0" i="0">
                <a:solidFill>
                  <a:srgbClr val="2B3A55"/>
                </a:solidFill>
                <a:latin typeface="Noto Sans SC"/>
                <a:ea typeface="Noto Sans SC"/>
              </a:rPr>
              <a:t> 或 </a:t>
            </a:r>
            <a:r>
              <a:rPr sz="1300" b="0" i="0">
                <a:solidFill>
                  <a:srgbClr val="2B3A55"/>
                </a:solidFill>
                <a:latin typeface="Cambria Math"/>
                <a:ea typeface="Cambria Math"/>
              </a:rPr>
              <a:t>n</a:t>
            </a:r>
            <a:r>
              <a:rPr sz="858" b="0" i="0" baseline="-25000">
                <a:solidFill>
                  <a:srgbClr val="2B3A55"/>
                </a:solidFill>
                <a:latin typeface="Cambria Math"/>
                <a:ea typeface="Cambria Math"/>
              </a:rPr>
              <a:t>I</a:t>
            </a:r>
            <a:r>
              <a:rPr sz="1300" b="0" i="0">
                <a:solidFill>
                  <a:srgbClr val="2B3A55"/>
                </a:solidFill>
                <a:latin typeface="Cambria Math"/>
                <a:ea typeface="Cambria Math"/>
              </a:rPr>
              <a:t>≥ 4</a:t>
            </a:r>
            <a:r>
              <a:rPr sz="1300" b="0" i="0">
                <a:solidFill>
                  <a:srgbClr val="2B3A55"/>
                </a:solidFill>
                <a:latin typeface="Noto Sans SC"/>
                <a:ea typeface="Noto Sans SC"/>
              </a:rPr>
              <a:t>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5074920"/>
            <a:ext cx="4736592" cy="365760"/>
          </a:xfrm>
          <a:prstGeom prst="rect">
            <a:avLst/>
          </a:prstGeom>
          <a:solidFill>
            <a:srgbClr val="F7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24712" y="5074920"/>
            <a:ext cx="4507992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1495B"/>
                </a:solidFill>
                <a:latin typeface="Noto Sans SC"/>
                <a:ea typeface="Noto Sans SC"/>
              </a:rPr>
              <a:t>取大 </a:t>
            </a:r>
            <a:r>
              <a:rPr sz="1050" b="1" i="0">
                <a:solidFill>
                  <a:srgbClr val="D1495B"/>
                </a:solidFill>
                <a:latin typeface="Cambria Math"/>
                <a:ea typeface="Cambria Math"/>
              </a:rPr>
              <a:t>a</a:t>
            </a:r>
            <a:r>
              <a:rPr sz="1050" b="1" i="0">
                <a:solidFill>
                  <a:srgbClr val="D1495B"/>
                </a:solidFill>
                <a:latin typeface="Noto Sans SC"/>
                <a:ea typeface="Noto Sans SC"/>
              </a:rPr>
              <a:t>：</a:t>
            </a:r>
            <a:r>
              <a:rPr sz="1050" b="1" i="0">
                <a:solidFill>
                  <a:srgbClr val="D1495B"/>
                </a:solidFill>
                <a:latin typeface="Cambria Math"/>
                <a:ea typeface="Cambria Math"/>
              </a:rPr>
              <a:t>f</a:t>
            </a:r>
            <a:r>
              <a:rPr sz="693" b="1" i="0" baseline="-25000">
                <a:solidFill>
                  <a:srgbClr val="D1495B"/>
                </a:solidFill>
                <a:latin typeface="Cambria Math"/>
                <a:ea typeface="Cambria Math"/>
              </a:rPr>
              <a:t>3</a:t>
            </a:r>
            <a:r>
              <a:rPr sz="1050" b="1" i="0">
                <a:solidFill>
                  <a:srgbClr val="D1495B"/>
                </a:solidFill>
                <a:latin typeface="Noto Sans SC"/>
                <a:ea typeface="Noto Sans SC"/>
              </a:rPr>
              <a:t> 压住 </a:t>
            </a:r>
            <a:r>
              <a:rPr sz="1050" b="1" i="0">
                <a:solidFill>
                  <a:srgbClr val="D1495B"/>
                </a:solidFill>
                <a:latin typeface="Cambria Math"/>
                <a:ea typeface="Cambria Math"/>
              </a:rPr>
              <a:t>f</a:t>
            </a:r>
            <a:r>
              <a:rPr sz="693" b="1" i="0" baseline="-25000">
                <a:solidFill>
                  <a:srgbClr val="D1495B"/>
                </a:solidFill>
                <a:latin typeface="Cambria Math"/>
                <a:ea typeface="Cambria Math"/>
              </a:rPr>
              <a:t>1</a:t>
            </a:r>
            <a:r>
              <a:rPr sz="1050" b="1" i="0">
                <a:solidFill>
                  <a:srgbClr val="D1495B"/>
                </a:solidFill>
                <a:latin typeface="Cambria Math"/>
                <a:ea typeface="Cambria Math"/>
              </a:rPr>
              <a:t>,f</a:t>
            </a:r>
            <a:r>
              <a:rPr sz="693" b="1" i="0" baseline="-25000">
                <a:solidFill>
                  <a:srgbClr val="D1495B"/>
                </a:solidFill>
                <a:latin typeface="Cambria Math"/>
                <a:ea typeface="Cambria Math"/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5074920"/>
            <a:ext cx="4736592" cy="365760"/>
          </a:xfrm>
          <a:prstGeom prst="rect">
            <a:avLst/>
          </a:prstGeom>
          <a:solidFill>
            <a:srgbClr val="DEE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56831" y="5074920"/>
            <a:ext cx="4507992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6F6B"/>
                </a:solidFill>
                <a:latin typeface="Noto Sans SC"/>
                <a:ea typeface="Noto Sans SC"/>
              </a:rPr>
              <a:t>取小 </a:t>
            </a:r>
            <a:r>
              <a:rPr sz="1050" b="1" i="0">
                <a:solidFill>
                  <a:srgbClr val="2A6F6B"/>
                </a:solidFill>
                <a:latin typeface="Cambria Math"/>
                <a:ea typeface="Cambria Math"/>
              </a:rPr>
              <a:t>a</a:t>
            </a:r>
            <a:r>
              <a:rPr sz="1050" b="1" i="0">
                <a:solidFill>
                  <a:srgbClr val="2A6F6B"/>
                </a:solidFill>
                <a:latin typeface="Noto Sans SC"/>
                <a:ea typeface="Noto Sans SC"/>
              </a:rPr>
              <a:t>：在 </a:t>
            </a:r>
            <a:r>
              <a:rPr sz="1050" b="1" i="0">
                <a:solidFill>
                  <a:srgbClr val="2A6F6B"/>
                </a:solidFill>
                <a:latin typeface="Cambria Math"/>
                <a:ea typeface="Cambria Math"/>
              </a:rPr>
              <a:t>x=a</a:t>
            </a:r>
            <a:r>
              <a:rPr sz="1050" b="1" i="0">
                <a:solidFill>
                  <a:srgbClr val="2A6F6B"/>
                </a:solidFill>
                <a:latin typeface="Noto Sans SC"/>
                <a:ea typeface="Noto Sans SC"/>
              </a:rPr>
              <a:t> 处比较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5833872"/>
            <a:ext cx="10817352" cy="502920"/>
          </a:xfrm>
          <a:prstGeom prst="rect">
            <a:avLst/>
          </a:prstGeom>
          <a:solidFill>
            <a:srgbClr val="F4EC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833872"/>
            <a:ext cx="10405872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Noto Sans SC"/>
                <a:ea typeface="Noto Sans SC"/>
              </a:rPr>
              <a:t>共同点：不硬算 </a:t>
            </a:r>
            <a:r>
              <a:rPr sz="1250" b="1" i="0">
                <a:solidFill>
                  <a:srgbClr val="14213D"/>
                </a:solidFill>
                <a:latin typeface="Cambria Math"/>
                <a:ea typeface="Cambria Math"/>
              </a:rPr>
              <a:t>n</a:t>
            </a:r>
            <a:r>
              <a:rPr sz="825" b="1" i="0" baseline="-25000">
                <a:solidFill>
                  <a:srgbClr val="14213D"/>
                </a:solidFill>
                <a:latin typeface="Cambria Math"/>
                <a:ea typeface="Cambria Math"/>
              </a:rPr>
              <a:t>I</a:t>
            </a:r>
            <a:r>
              <a:rPr sz="1250" b="1" i="0">
                <a:solidFill>
                  <a:srgbClr val="14213D"/>
                </a:solidFill>
                <a:latin typeface="Noto Sans SC"/>
                <a:ea typeface="Noto Sans SC"/>
              </a:rPr>
              <a:t>，而是控制 </a:t>
            </a:r>
            <a:r>
              <a:rPr sz="1250" b="1" i="0">
                <a:solidFill>
                  <a:srgbClr val="14213D"/>
                </a:solidFill>
                <a:latin typeface="Cambria Math"/>
                <a:ea typeface="Cambria Math"/>
              </a:rPr>
              <a:t>A,B,C</a:t>
            </a:r>
            <a:r>
              <a:rPr sz="1250" b="1" i="0">
                <a:solidFill>
                  <a:srgbClr val="14213D"/>
                </a:solidFill>
                <a:latin typeface="Noto Sans SC"/>
                <a:ea typeface="Noto Sans SC"/>
              </a:rPr>
              <a:t> 三个开关。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64008" cy="475488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10634472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A6F6B"/>
                </a:solidFill>
                <a:latin typeface="Noto Sans SC"/>
                <a:ea typeface="Noto Sans SC"/>
              </a:rPr>
              <a:t>PART  (3)  /  LEMMA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85216"/>
            <a:ext cx="10634472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Noto Serif SC"/>
                <a:ea typeface="Noto Serif SC"/>
              </a:rPr>
              <a:t>关键引理：F 递增时，A=0 恒成立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25296"/>
            <a:ext cx="10817352" cy="10972"/>
          </a:xfrm>
          <a:prstGeom prst="rect">
            <a:avLst/>
          </a:prstGeom>
          <a:solidFill>
            <a:srgbClr val="DCD5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80192" y="651967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Noto Sans SC"/>
                <a:ea typeface="Noto Sans SC"/>
              </a:rPr>
              <a:t>09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Noto Sans SC"/>
                <a:ea typeface="Noto Sans SC"/>
              </a:rPr>
              <a:t>函数序关系与 I 排列  ·  2026 上海高考数学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444752"/>
            <a:ext cx="10817352" cy="804672"/>
          </a:xfrm>
          <a:prstGeom prst="rect">
            <a:avLst/>
          </a:prstGeom>
          <a:solidFill>
            <a:srgbClr val="DEEEEA"/>
          </a:solidFill>
          <a:ln w="9525">
            <a:solidFill>
              <a:srgbClr val="2A6F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444752"/>
            <a:ext cx="10360152" cy="8046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Noto Sans SC"/>
                <a:ea typeface="Noto Sans SC"/>
              </a:rPr>
              <a:t>对任意 </a:t>
            </a:r>
            <a:r>
              <a:rPr sz="1550" b="1" i="0">
                <a:solidFill>
                  <a:srgbClr val="14213D"/>
                </a:solidFill>
                <a:latin typeface="Cambria Math"/>
                <a:ea typeface="Cambria Math"/>
              </a:rPr>
              <a:t>a&gt;0</a:t>
            </a:r>
            <a:r>
              <a:rPr sz="1550" b="1" i="0">
                <a:solidFill>
                  <a:srgbClr val="14213D"/>
                </a:solidFill>
                <a:latin typeface="Noto Sans SC"/>
                <a:ea typeface="Noto Sans SC"/>
              </a:rPr>
              <a:t>，</a:t>
            </a:r>
            <a:r>
              <a:rPr sz="1550" b="1" i="0">
                <a:solidFill>
                  <a:srgbClr val="14213D"/>
                </a:solidFill>
                <a:latin typeface="Cambria Math"/>
                <a:ea typeface="Cambria Math"/>
              </a:rPr>
              <a:t>f</a:t>
            </a:r>
            <a:r>
              <a:rPr sz="1023" b="1" i="0" baseline="-25000">
                <a:solidFill>
                  <a:srgbClr val="14213D"/>
                </a:solidFill>
                <a:latin typeface="Cambria Math"/>
                <a:ea typeface="Cambria Math"/>
              </a:rPr>
              <a:t>1</a:t>
            </a:r>
            <a:r>
              <a:rPr sz="1550" b="1" i="0">
                <a:solidFill>
                  <a:srgbClr val="14213D"/>
                </a:solidFill>
                <a:latin typeface="Cambria Math"/>
                <a:ea typeface="Cambria Math"/>
              </a:rPr>
              <a:t>≤ f</a:t>
            </a:r>
            <a:r>
              <a:rPr sz="1023" b="1" i="0" baseline="-25000">
                <a:solidFill>
                  <a:srgbClr val="14213D"/>
                </a:solidFill>
                <a:latin typeface="Cambria Math"/>
                <a:ea typeface="Cambria Math"/>
              </a:rPr>
              <a:t>2</a:t>
            </a:r>
            <a:r>
              <a:rPr sz="1550" b="1" i="0">
                <a:solidFill>
                  <a:srgbClr val="14213D"/>
                </a:solidFill>
                <a:latin typeface="Noto Sans SC"/>
                <a:ea typeface="Noto Sans SC"/>
              </a:rPr>
              <a:t> 不可能在 </a:t>
            </a:r>
            <a:r>
              <a:rPr sz="1550" b="1" i="0">
                <a:solidFill>
                  <a:srgbClr val="14213D"/>
                </a:solidFill>
                <a:latin typeface="Cambria Math"/>
                <a:ea typeface="Cambria Math"/>
              </a:rPr>
              <a:t>[a,+∞)</a:t>
            </a:r>
            <a:r>
              <a:rPr sz="1550" b="1" i="0">
                <a:solidFill>
                  <a:srgbClr val="14213D"/>
                </a:solidFill>
                <a:latin typeface="Noto Sans SC"/>
                <a:ea typeface="Noto Sans SC"/>
              </a:rPr>
              <a:t> 上恒成立。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578608"/>
            <a:ext cx="438912" cy="438912"/>
          </a:xfrm>
          <a:prstGeom prst="ellipse">
            <a:avLst/>
          </a:prstGeom>
          <a:solidFill>
            <a:srgbClr val="2A6F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87751"/>
            <a:ext cx="438912" cy="420623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560320"/>
            <a:ext cx="9994392" cy="60350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B3A55"/>
                </a:solidFill>
                <a:latin typeface="Noto Sans SC"/>
                <a:ea typeface="Noto Sans SC"/>
              </a:rPr>
              <a:t>反设 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2F(x)≤ F(x-a)+F(x+a)</a:t>
            </a:r>
            <a:r>
              <a:rPr sz="1450" b="0" i="0">
                <a:solidFill>
                  <a:srgbClr val="2B3A55"/>
                </a:solidFill>
                <a:latin typeface="Noto Sans SC"/>
                <a:ea typeface="Noto Sans SC"/>
              </a:rPr>
              <a:t> 对一切 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x≥ a</a:t>
            </a:r>
            <a:r>
              <a:rPr sz="1450" b="0" i="0">
                <a:solidFill>
                  <a:srgbClr val="2B3A55"/>
                </a:solidFill>
                <a:latin typeface="Noto Sans SC"/>
                <a:ea typeface="Noto Sans SC"/>
              </a:rPr>
              <a:t> 成立。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291840"/>
            <a:ext cx="438912" cy="438912"/>
          </a:xfrm>
          <a:prstGeom prst="ellipse">
            <a:avLst/>
          </a:prstGeom>
          <a:solidFill>
            <a:srgbClr val="2A6F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00984"/>
            <a:ext cx="438912" cy="420623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273552"/>
            <a:ext cx="9994392" cy="60350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B3A55"/>
                </a:solidFill>
                <a:latin typeface="Noto Sans SC"/>
                <a:ea typeface="Noto Sans SC"/>
              </a:rPr>
              <a:t>令 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u</a:t>
            </a:r>
            <a:r>
              <a:rPr sz="957" b="0" i="0" baseline="-25000">
                <a:solidFill>
                  <a:srgbClr val="2B3A55"/>
                </a:solidFill>
                <a:latin typeface="Cambria Math"/>
                <a:ea typeface="Cambria Math"/>
              </a:rPr>
              <a:t>n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=F((n+1)a)</a:t>
            </a:r>
            <a:r>
              <a:rPr sz="1450" b="0" i="0">
                <a:solidFill>
                  <a:srgbClr val="2B3A55"/>
                </a:solidFill>
                <a:latin typeface="Noto Sans SC"/>
                <a:ea typeface="Noto Sans SC"/>
              </a:rPr>
              <a:t>，则 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2u</a:t>
            </a:r>
            <a:r>
              <a:rPr sz="957" b="0" i="0" baseline="-25000">
                <a:solidFill>
                  <a:srgbClr val="2B3A55"/>
                </a:solidFill>
                <a:latin typeface="Cambria Math"/>
                <a:ea typeface="Cambria Math"/>
              </a:rPr>
              <a:t>n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≤ u</a:t>
            </a:r>
            <a:r>
              <a:rPr sz="957" b="0" i="0" baseline="-25000">
                <a:solidFill>
                  <a:srgbClr val="2B3A55"/>
                </a:solidFill>
                <a:latin typeface="Cambria Math"/>
                <a:ea typeface="Cambria Math"/>
              </a:rPr>
              <a:t>n-1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+u</a:t>
            </a:r>
            <a:r>
              <a:rPr sz="957" b="0" i="0" baseline="-25000">
                <a:solidFill>
                  <a:srgbClr val="2B3A55"/>
                </a:solidFill>
                <a:latin typeface="Cambria Math"/>
                <a:ea typeface="Cambria Math"/>
              </a:rPr>
              <a:t>n+1</a:t>
            </a:r>
            <a:r>
              <a:rPr sz="1450" b="0" i="0">
                <a:solidFill>
                  <a:srgbClr val="2B3A55"/>
                </a:solidFill>
                <a:latin typeface="Noto Sans SC"/>
                <a:ea typeface="Noto Sans SC"/>
              </a:rPr>
              <a:t>（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n≥ 1</a:t>
            </a:r>
            <a:r>
              <a:rPr sz="1450" b="0" i="0">
                <a:solidFill>
                  <a:srgbClr val="2B3A55"/>
                </a:solidFill>
                <a:latin typeface="Noto Sans SC"/>
                <a:ea typeface="Noto Sans SC"/>
              </a:rPr>
              <a:t>）。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005071"/>
            <a:ext cx="438912" cy="438912"/>
          </a:xfrm>
          <a:prstGeom prst="ellipse">
            <a:avLst/>
          </a:prstGeom>
          <a:solidFill>
            <a:srgbClr val="2A6F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14215"/>
            <a:ext cx="438912" cy="420623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986783"/>
            <a:ext cx="9994392" cy="60350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B3A55"/>
                </a:solidFill>
                <a:latin typeface="Noto Sans SC"/>
                <a:ea typeface="Noto Sans SC"/>
              </a:rPr>
              <a:t>差 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d</a:t>
            </a:r>
            <a:r>
              <a:rPr sz="957" b="0" i="0" baseline="-25000">
                <a:solidFill>
                  <a:srgbClr val="2B3A55"/>
                </a:solidFill>
                <a:latin typeface="Cambria Math"/>
                <a:ea typeface="Cambria Math"/>
              </a:rPr>
              <a:t>n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=u</a:t>
            </a:r>
            <a:r>
              <a:rPr sz="957" b="0" i="0" baseline="-25000">
                <a:solidFill>
                  <a:srgbClr val="2B3A55"/>
                </a:solidFill>
                <a:latin typeface="Cambria Math"/>
                <a:ea typeface="Cambria Math"/>
              </a:rPr>
              <a:t>n+1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-u</a:t>
            </a:r>
            <a:r>
              <a:rPr sz="957" b="0" i="0" baseline="-25000">
                <a:solidFill>
                  <a:srgbClr val="2B3A55"/>
                </a:solidFill>
                <a:latin typeface="Cambria Math"/>
                <a:ea typeface="Cambria Math"/>
              </a:rPr>
              <a:t>n</a:t>
            </a:r>
            <a:r>
              <a:rPr sz="1450" b="0" i="0">
                <a:solidFill>
                  <a:srgbClr val="2B3A55"/>
                </a:solidFill>
                <a:latin typeface="Noto Sans SC"/>
                <a:ea typeface="Noto Sans SC"/>
              </a:rPr>
              <a:t> 单调不减，且 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d</a:t>
            </a:r>
            <a:r>
              <a:rPr sz="957" b="0" i="0" baseline="-25000">
                <a:solidFill>
                  <a:srgbClr val="2B3A55"/>
                </a:solidFill>
                <a:latin typeface="Cambria Math"/>
                <a:ea typeface="Cambria Math"/>
              </a:rPr>
              <a:t>0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=F(2a)-F(a)&gt;0</a:t>
            </a:r>
            <a:r>
              <a:rPr sz="1450" b="0" i="0">
                <a:solidFill>
                  <a:srgbClr val="2B3A55"/>
                </a:solidFill>
                <a:latin typeface="Noto Sans SC"/>
                <a:ea typeface="Noto Sans SC"/>
              </a:rPr>
              <a:t>。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718303"/>
            <a:ext cx="438912" cy="438912"/>
          </a:xfrm>
          <a:prstGeom prst="ellipse">
            <a:avLst/>
          </a:prstGeom>
          <a:solidFill>
            <a:srgbClr val="2A6F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27447"/>
            <a:ext cx="438912" cy="420623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700016"/>
            <a:ext cx="9994392" cy="60350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B3A55"/>
                </a:solidFill>
                <a:latin typeface="Noto Sans SC"/>
                <a:ea typeface="Noto Sans SC"/>
              </a:rPr>
              <a:t>故 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u</a:t>
            </a:r>
            <a:r>
              <a:rPr sz="957" b="0" i="0" baseline="-25000">
                <a:solidFill>
                  <a:srgbClr val="2B3A55"/>
                </a:solidFill>
                <a:latin typeface="Cambria Math"/>
                <a:ea typeface="Cambria Math"/>
              </a:rPr>
              <a:t>n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≥ u</a:t>
            </a:r>
            <a:r>
              <a:rPr sz="957" b="0" i="0" baseline="-25000">
                <a:solidFill>
                  <a:srgbClr val="2B3A55"/>
                </a:solidFill>
                <a:latin typeface="Cambria Math"/>
                <a:ea typeface="Cambria Math"/>
              </a:rPr>
              <a:t>0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+n d</a:t>
            </a:r>
            <a:r>
              <a:rPr sz="957" b="0" i="0" baseline="-25000">
                <a:solidFill>
                  <a:srgbClr val="2B3A55"/>
                </a:solidFill>
                <a:latin typeface="Cambria Math"/>
                <a:ea typeface="Cambria Math"/>
              </a:rPr>
              <a:t>0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→+∞</a:t>
            </a:r>
            <a:r>
              <a:rPr sz="1450" b="0" i="0">
                <a:solidFill>
                  <a:srgbClr val="2B3A55"/>
                </a:solidFill>
                <a:latin typeface="Noto Sans SC"/>
                <a:ea typeface="Noto Sans SC"/>
              </a:rPr>
              <a:t>，与 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u</a:t>
            </a:r>
            <a:r>
              <a:rPr sz="957" b="0" i="0" baseline="-25000">
                <a:solidFill>
                  <a:srgbClr val="2B3A55"/>
                </a:solidFill>
                <a:latin typeface="Cambria Math"/>
                <a:ea typeface="Cambria Math"/>
              </a:rPr>
              <a:t>n</a:t>
            </a:r>
            <a:r>
              <a:rPr sz="1450" b="0" i="0">
                <a:solidFill>
                  <a:srgbClr val="2B3A55"/>
                </a:solidFill>
                <a:latin typeface="Cambria Math"/>
                <a:ea typeface="Cambria Math"/>
              </a:rPr>
              <a:t>&lt;1</a:t>
            </a:r>
            <a:r>
              <a:rPr sz="1450" b="0" i="0">
                <a:solidFill>
                  <a:srgbClr val="2B3A55"/>
                </a:solidFill>
                <a:latin typeface="Noto Sans SC"/>
                <a:ea typeface="Noto Sans SC"/>
              </a:rPr>
              <a:t> 矛盾。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596128"/>
            <a:ext cx="10817352" cy="5669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5596128"/>
            <a:ext cx="10360152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Noto Sans SC"/>
                <a:ea typeface="Noto Sans SC"/>
              </a:rPr>
              <a:t>所以 </a:t>
            </a:r>
            <a:r>
              <a:rPr sz="1350" b="1" i="0">
                <a:solidFill>
                  <a:srgbClr val="FFFFFF"/>
                </a:solidFill>
                <a:latin typeface="Cambria Math"/>
                <a:ea typeface="Cambria Math"/>
              </a:rPr>
              <a:t>A=0</a:t>
            </a:r>
            <a:r>
              <a:rPr sz="1350" b="1" i="0">
                <a:solidFill>
                  <a:srgbClr val="FFFFFF"/>
                </a:solidFill>
                <a:latin typeface="Noto Sans SC"/>
                <a:ea typeface="Noto Sans SC"/>
              </a:rPr>
              <a:t>：对每个 </a:t>
            </a:r>
            <a:r>
              <a:rPr sz="1350" b="1" i="0">
                <a:solidFill>
                  <a:srgbClr val="FFFFFF"/>
                </a:solidFill>
                <a:latin typeface="Cambria Math"/>
                <a:ea typeface="Cambria Math"/>
              </a:rPr>
              <a:t>a&gt;0</a:t>
            </a:r>
            <a:r>
              <a:rPr sz="1350" b="1" i="0">
                <a:solidFill>
                  <a:srgbClr val="FFFFFF"/>
                </a:solidFill>
                <a:latin typeface="Noto Sans SC"/>
                <a:ea typeface="Noto Sans SC"/>
              </a:rPr>
              <a:t>，总存在 </a:t>
            </a:r>
            <a:r>
              <a:rPr sz="1350" b="1" i="0">
                <a:solidFill>
                  <a:srgbClr val="FFFFFF"/>
                </a:solidFill>
                <a:latin typeface="Cambria Math"/>
                <a:ea typeface="Cambria Math"/>
              </a:rPr>
              <a:t>x≥ a</a:t>
            </a:r>
            <a:r>
              <a:rPr sz="1350" b="1" i="0">
                <a:solidFill>
                  <a:srgbClr val="FFFFFF"/>
                </a:solidFill>
                <a:latin typeface="Noto Sans SC"/>
                <a:ea typeface="Noto Sans SC"/>
              </a:rPr>
              <a:t> 使 </a:t>
            </a:r>
            <a:r>
              <a:rPr sz="1350" b="1" i="0">
                <a:solidFill>
                  <a:srgbClr val="FFFFFF"/>
                </a:solidFill>
                <a:latin typeface="Cambria Math"/>
                <a:ea typeface="Cambria Math"/>
              </a:rPr>
              <a:t>f</a:t>
            </a:r>
            <a:r>
              <a:rPr sz="891" b="1" i="0" baseline="-25000">
                <a:solidFill>
                  <a:srgbClr val="FFFFFF"/>
                </a:solidFill>
                <a:latin typeface="Cambria Math"/>
                <a:ea typeface="Cambria Math"/>
              </a:rPr>
              <a:t>1</a:t>
            </a:r>
            <a:r>
              <a:rPr sz="1350" b="1" i="0">
                <a:solidFill>
                  <a:srgbClr val="FFFFFF"/>
                </a:solidFill>
                <a:latin typeface="Cambria Math"/>
                <a:ea typeface="Cambria Math"/>
              </a:rPr>
              <a:t>(x)&gt;f</a:t>
            </a:r>
            <a:r>
              <a:rPr sz="891" b="1" i="0" baseline="-25000">
                <a:solidFill>
                  <a:srgbClr val="FFFFFF"/>
                </a:solidFill>
                <a:latin typeface="Cambria Math"/>
                <a:ea typeface="Cambria Math"/>
              </a:rPr>
              <a:t>2</a:t>
            </a:r>
            <a:r>
              <a:rPr sz="1350" b="1" i="0">
                <a:solidFill>
                  <a:srgbClr val="FFFFFF"/>
                </a:solidFill>
                <a:latin typeface="Cambria Math"/>
                <a:ea typeface="Cambria Math"/>
              </a:rPr>
              <a:t>(x)</a:t>
            </a:r>
            <a:r>
              <a:rPr sz="1350" b="1" i="0">
                <a:solidFill>
                  <a:srgbClr val="FFFFFF"/>
                </a:solidFill>
                <a:latin typeface="Noto Sans SC"/>
                <a:ea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64008" cy="475488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10634472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1495B"/>
                </a:solidFill>
                <a:latin typeface="Noto Sans SC"/>
                <a:ea typeface="Noto Sans SC"/>
              </a:rPr>
              <a:t>PART  (3)  /  DECREASING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85216"/>
            <a:ext cx="10634472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Noto Serif SC"/>
                <a:ea typeface="Noto Serif SC"/>
              </a:rPr>
              <a:t>第 (3) 问①：F 严格递减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25296"/>
            <a:ext cx="10817352" cy="10972"/>
          </a:xfrm>
          <a:prstGeom prst="rect">
            <a:avLst/>
          </a:prstGeom>
          <a:solidFill>
            <a:srgbClr val="DCD5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80192" y="651967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Noto Sans SC"/>
                <a:ea typeface="Noto Sans SC"/>
              </a:rPr>
              <a:t>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Noto Sans SC"/>
                <a:ea typeface="Noto Sans SC"/>
              </a:rPr>
              <a:t>函数序关系与 I 排列  ·  2026 上海高考数学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1495B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1389888"/>
            <a:ext cx="10268712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A55"/>
                </a:solidFill>
                <a:latin typeface="Noto Sans SC"/>
                <a:ea typeface="Noto Sans SC"/>
              </a:rPr>
              <a:t>设 </a:t>
            </a:r>
            <a:r>
              <a:rPr sz="1350" b="0" i="0">
                <a:solidFill>
                  <a:srgbClr val="2B3A55"/>
                </a:solidFill>
                <a:latin typeface="Cambria Math"/>
                <a:ea typeface="Cambria Math"/>
              </a:rPr>
              <a:t>L</a:t>
            </a:r>
            <a:r>
              <a:rPr sz="1350" b="0" i="0">
                <a:solidFill>
                  <a:srgbClr val="2B3A55"/>
                </a:solidFill>
                <a:latin typeface="Noto Sans SC"/>
                <a:ea typeface="Noto Sans SC"/>
              </a:rPr>
              <a:t> 为 </a:t>
            </a:r>
            <a:r>
              <a:rPr sz="1350" b="0" i="0">
                <a:solidFill>
                  <a:srgbClr val="2B3A55"/>
                </a:solidFill>
                <a:latin typeface="Cambria Math"/>
                <a:ea typeface="Cambria Math"/>
              </a:rPr>
              <a:t>F(x)</a:t>
            </a:r>
            <a:r>
              <a:rPr sz="1350" b="0" i="0">
                <a:solidFill>
                  <a:srgbClr val="2B3A55"/>
                </a:solidFill>
                <a:latin typeface="Noto Sans SC"/>
                <a:ea typeface="Noto Sans SC"/>
              </a:rPr>
              <a:t> 当 </a:t>
            </a:r>
            <a:r>
              <a:rPr sz="1350" b="0" i="0">
                <a:solidFill>
                  <a:srgbClr val="2B3A55"/>
                </a:solidFill>
                <a:latin typeface="Cambria Math"/>
                <a:ea typeface="Cambria Math"/>
              </a:rPr>
              <a:t>x→+∞</a:t>
            </a:r>
            <a:r>
              <a:rPr sz="1350" b="0" i="0">
                <a:solidFill>
                  <a:srgbClr val="2B3A55"/>
                </a:solidFill>
                <a:latin typeface="Noto Sans SC"/>
                <a:ea typeface="Noto Sans SC"/>
              </a:rPr>
              <a:t> 时的极限。因 </a:t>
            </a:r>
            <a:r>
              <a:rPr sz="1350" b="0" i="0">
                <a:solidFill>
                  <a:srgbClr val="2B3A55"/>
                </a:solidFill>
                <a:latin typeface="Cambria Math"/>
                <a:ea typeface="Cambria Math"/>
              </a:rPr>
              <a:t>F</a:t>
            </a:r>
            <a:r>
              <a:rPr sz="1350" b="0" i="0">
                <a:solidFill>
                  <a:srgbClr val="2B3A55"/>
                </a:solidFill>
                <a:latin typeface="Noto Sans SC"/>
                <a:ea typeface="Noto Sans SC"/>
              </a:rPr>
              <a:t> 严格递减且 </a:t>
            </a:r>
            <a:r>
              <a:rPr sz="1350" b="0" i="0">
                <a:solidFill>
                  <a:srgbClr val="2B3A55"/>
                </a:solidFill>
                <a:latin typeface="Cambria Math"/>
                <a:ea typeface="Cambria Math"/>
              </a:rPr>
              <a:t>F(0)&lt;1</a:t>
            </a:r>
            <a:r>
              <a:rPr sz="1350" b="0" i="0">
                <a:solidFill>
                  <a:srgbClr val="2B3A55"/>
                </a:solidFill>
                <a:latin typeface="Noto Sans SC"/>
                <a:ea typeface="Noto Sans SC"/>
              </a:rPr>
              <a:t>，故 </a:t>
            </a:r>
            <a:r>
              <a:rPr sz="1350" b="0" i="0">
                <a:solidFill>
                  <a:srgbClr val="2B3A55"/>
                </a:solidFill>
                <a:latin typeface="Cambria Math"/>
                <a:ea typeface="Cambria Math"/>
              </a:rPr>
              <a:t>L≤ F(0)&lt;1</a:t>
            </a:r>
            <a:r>
              <a:rPr sz="1350" b="0" i="0">
                <a:solidFill>
                  <a:srgbClr val="2B3A55"/>
                </a:solidFill>
                <a:latin typeface="Noto Sans SC"/>
                <a:ea typeface="Noto Sans SC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2996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1495B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1993392"/>
            <a:ext cx="10268712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A55"/>
                </a:solidFill>
                <a:latin typeface="Noto Sans SC"/>
                <a:ea typeface="Noto Sans SC"/>
              </a:rPr>
              <a:t>取 </a:t>
            </a:r>
            <a:r>
              <a:rPr sz="1350" b="0" i="0">
                <a:solidFill>
                  <a:srgbClr val="2B3A55"/>
                </a:solidFill>
                <a:latin typeface="Cambria Math"/>
                <a:ea typeface="Cambria Math"/>
              </a:rPr>
              <a:t>a&gt;0</a:t>
            </a:r>
            <a:r>
              <a:rPr sz="1350" b="0" i="0">
                <a:solidFill>
                  <a:srgbClr val="2B3A55"/>
                </a:solidFill>
                <a:latin typeface="Noto Sans SC"/>
                <a:ea typeface="Noto Sans SC"/>
              </a:rPr>
              <a:t> 充分大，使下面两式同时成立：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61288" y="2450592"/>
            <a:ext cx="58521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487168"/>
            <a:ext cx="5486400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Cambria Math"/>
                <a:ea typeface="Cambria Math"/>
              </a:rPr>
              <a:t>F(a)+e</a:t>
            </a:r>
            <a:r>
              <a:rPr sz="1092" b="0" i="0">
                <a:solidFill>
                  <a:srgbClr val="14213D"/>
                </a:solidFill>
                <a:latin typeface="Cambria Math"/>
                <a:ea typeface="Cambria Math"/>
              </a:rPr>
              <a:t>⁻ᵃ</a:t>
            </a:r>
            <a:r>
              <a:rPr sz="1400" b="0" i="0">
                <a:solidFill>
                  <a:srgbClr val="14213D"/>
                </a:solidFill>
                <a:latin typeface="Cambria Math"/>
                <a:ea typeface="Cambria Math"/>
              </a:rPr>
              <a:t>&lt;1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852928"/>
            <a:ext cx="5486400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Cambria Math"/>
                <a:ea typeface="Cambria Math"/>
              </a:rPr>
              <a:t>½[F(0)+F(a)]+e</a:t>
            </a:r>
            <a:r>
              <a:rPr sz="1092" b="0" i="0">
                <a:solidFill>
                  <a:srgbClr val="14213D"/>
                </a:solidFill>
                <a:latin typeface="Cambria Math"/>
                <a:ea typeface="Cambria Math"/>
              </a:rPr>
              <a:t>⁻ᵃ</a:t>
            </a:r>
            <a:r>
              <a:rPr sz="1400" b="0" i="0">
                <a:solidFill>
                  <a:srgbClr val="14213D"/>
                </a:solidFill>
                <a:latin typeface="Cambria Math"/>
                <a:ea typeface="Cambria Math"/>
              </a:rPr>
              <a:t>&lt;1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542032"/>
            <a:ext cx="420624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Noto Sans SC"/>
                <a:ea typeface="Noto Sans SC"/>
              </a:rPr>
              <a:t>两式左边当 </a:t>
            </a:r>
            <a:r>
              <a:rPr sz="1050" b="0" i="0">
                <a:solidFill>
                  <a:srgbClr val="6B7280"/>
                </a:solidFill>
                <a:latin typeface="Cambria Math"/>
                <a:ea typeface="Cambria Math"/>
              </a:rPr>
              <a:t>a→+∞</a:t>
            </a:r>
            <a:r>
              <a:rPr sz="1050" b="0" i="0">
                <a:solidFill>
                  <a:srgbClr val="6B7280"/>
                </a:solidFill>
                <a:latin typeface="Noto Sans SC"/>
                <a:ea typeface="Noto Sans SC"/>
              </a:rPr>
              <a:t> 时分别趋于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Cambria Math"/>
                <a:ea typeface="Cambria Math"/>
              </a:rPr>
              <a:t>L</a:t>
            </a:r>
            <a:r>
              <a:rPr sz="1050" b="0" i="0">
                <a:solidFill>
                  <a:srgbClr val="6B7280"/>
                </a:solidFill>
                <a:latin typeface="Noto Sans SC"/>
                <a:ea typeface="Noto Sans SC"/>
              </a:rPr>
              <a:t> 与 </a:t>
            </a:r>
            <a:r>
              <a:rPr sz="1050" b="0" i="0">
                <a:solidFill>
                  <a:srgbClr val="6B7280"/>
                </a:solidFill>
                <a:latin typeface="Cambria Math"/>
                <a:ea typeface="Cambria Math"/>
              </a:rPr>
              <a:t>½[F(0)+L]</a:t>
            </a:r>
            <a:r>
              <a:rPr sz="1050" b="0" i="0">
                <a:solidFill>
                  <a:srgbClr val="6B7280"/>
                </a:solidFill>
                <a:latin typeface="Noto Sans SC"/>
                <a:ea typeface="Noto Sans SC"/>
              </a:rPr>
              <a:t>，均小于 1。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6616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1495B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3529584"/>
            <a:ext cx="10268712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A55"/>
                </a:solidFill>
                <a:latin typeface="Noto Sans SC"/>
                <a:ea typeface="Noto Sans SC"/>
              </a:rPr>
              <a:t>对 </a:t>
            </a:r>
            <a:r>
              <a:rPr sz="1350" b="0" i="0">
                <a:solidFill>
                  <a:srgbClr val="2B3A55"/>
                </a:solidFill>
                <a:latin typeface="Cambria Math"/>
                <a:ea typeface="Cambria Math"/>
              </a:rPr>
              <a:t>x≥ a</a:t>
            </a:r>
            <a:r>
              <a:rPr sz="1350" b="0" i="0">
                <a:solidFill>
                  <a:srgbClr val="2B3A55"/>
                </a:solidFill>
                <a:latin typeface="Noto Sans SC"/>
                <a:ea typeface="Noto Sans SC"/>
              </a:rPr>
              <a:t>，由单调性估计：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61288" y="3931920"/>
            <a:ext cx="10341864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20" y="4005072"/>
            <a:ext cx="9857232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Cambria Math"/>
                <a:ea typeface="Cambria Math"/>
              </a:rPr>
              <a:t>f</a:t>
            </a:r>
            <a:r>
              <a:rPr sz="924" b="0" i="0" baseline="-25000">
                <a:solidFill>
                  <a:srgbClr val="14213D"/>
                </a:solidFill>
                <a:latin typeface="Cambria Math"/>
                <a:ea typeface="Cambria Math"/>
              </a:rPr>
              <a:t>1</a:t>
            </a:r>
            <a:r>
              <a:rPr sz="1400" b="0" i="0">
                <a:solidFill>
                  <a:srgbClr val="14213D"/>
                </a:solidFill>
                <a:latin typeface="Cambria Math"/>
                <a:ea typeface="Cambria Math"/>
              </a:rPr>
              <a:t>(x)=F(x)≤ F(a)&lt;1-e</a:t>
            </a:r>
            <a:r>
              <a:rPr sz="1092" b="0" i="0">
                <a:solidFill>
                  <a:srgbClr val="14213D"/>
                </a:solidFill>
                <a:latin typeface="Cambria Math"/>
                <a:ea typeface="Cambria Math"/>
              </a:rPr>
              <a:t>⁻ᵃ</a:t>
            </a:r>
            <a:r>
              <a:rPr sz="1400" b="0" i="0">
                <a:solidFill>
                  <a:srgbClr val="14213D"/>
                </a:solidFill>
                <a:latin typeface="Cambria Math"/>
                <a:ea typeface="Cambria Math"/>
              </a:rPr>
              <a:t>≤ 1-e</a:t>
            </a:r>
            <a:r>
              <a:rPr sz="1092" b="0" i="0">
                <a:solidFill>
                  <a:srgbClr val="14213D"/>
                </a:solidFill>
                <a:latin typeface="Cambria Math"/>
                <a:ea typeface="Cambria Math"/>
              </a:rPr>
              <a:t>⁻ˣ</a:t>
            </a:r>
            <a:r>
              <a:rPr sz="1400" b="0" i="0">
                <a:solidFill>
                  <a:srgbClr val="14213D"/>
                </a:solidFill>
                <a:latin typeface="Cambria Math"/>
                <a:ea typeface="Cambria Math"/>
              </a:rPr>
              <a:t>=f</a:t>
            </a:r>
            <a:r>
              <a:rPr sz="924" b="0" i="0" baseline="-25000">
                <a:solidFill>
                  <a:srgbClr val="14213D"/>
                </a:solidFill>
                <a:latin typeface="Cambria Math"/>
                <a:ea typeface="Cambria Math"/>
              </a:rPr>
              <a:t>3</a:t>
            </a:r>
            <a:r>
              <a:rPr sz="1400" b="0" i="0">
                <a:solidFill>
                  <a:srgbClr val="14213D"/>
                </a:solidFill>
                <a:latin typeface="Cambria Math"/>
                <a:ea typeface="Cambria Math"/>
              </a:rPr>
              <a:t>(x)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462272"/>
            <a:ext cx="9857232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Cambria Math"/>
                <a:ea typeface="Cambria Math"/>
              </a:rPr>
              <a:t>f</a:t>
            </a:r>
            <a:r>
              <a:rPr sz="924" b="0" i="0" baseline="-25000">
                <a:solidFill>
                  <a:srgbClr val="14213D"/>
                </a:solidFill>
                <a:latin typeface="Cambria Math"/>
                <a:ea typeface="Cambria Math"/>
              </a:rPr>
              <a:t>2</a:t>
            </a:r>
            <a:r>
              <a:rPr sz="1400" b="0" i="0">
                <a:solidFill>
                  <a:srgbClr val="14213D"/>
                </a:solidFill>
                <a:latin typeface="Cambria Math"/>
                <a:ea typeface="Cambria Math"/>
              </a:rPr>
              <a:t>(x)=½[F(x+a)+F(x-a)]≤½[F(a)+F(0)]&lt;1-e</a:t>
            </a:r>
            <a:r>
              <a:rPr sz="1092" b="0" i="0">
                <a:solidFill>
                  <a:srgbClr val="14213D"/>
                </a:solidFill>
                <a:latin typeface="Cambria Math"/>
                <a:ea typeface="Cambria Math"/>
              </a:rPr>
              <a:t>⁻ᵃ</a:t>
            </a:r>
            <a:r>
              <a:rPr sz="1400" b="0" i="0">
                <a:solidFill>
                  <a:srgbClr val="14213D"/>
                </a:solidFill>
                <a:latin typeface="Cambria Math"/>
                <a:ea typeface="Cambria Math"/>
              </a:rPr>
              <a:t>≤ f</a:t>
            </a:r>
            <a:r>
              <a:rPr sz="924" b="0" i="0" baseline="-25000">
                <a:solidFill>
                  <a:srgbClr val="14213D"/>
                </a:solidFill>
                <a:latin typeface="Cambria Math"/>
                <a:ea typeface="Cambria Math"/>
              </a:rPr>
              <a:t>3</a:t>
            </a:r>
            <a:r>
              <a:rPr sz="1400" b="0" i="0">
                <a:solidFill>
                  <a:srgbClr val="14213D"/>
                </a:solidFill>
                <a:latin typeface="Cambria Math"/>
                <a:ea typeface="Cambria Math"/>
              </a:rPr>
              <a:t>(x)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23036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1495B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5193792"/>
            <a:ext cx="10268712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A55"/>
                </a:solidFill>
                <a:latin typeface="Noto Sans SC"/>
                <a:ea typeface="Noto Sans SC"/>
              </a:rPr>
              <a:t>所以 </a:t>
            </a:r>
            <a:r>
              <a:rPr sz="1350" b="0" i="0">
                <a:solidFill>
                  <a:srgbClr val="2B3A55"/>
                </a:solidFill>
                <a:latin typeface="Cambria Math"/>
                <a:ea typeface="Cambria Math"/>
              </a:rPr>
              <a:t>B=C=1</a:t>
            </a:r>
            <a:r>
              <a:rPr sz="1350" b="0" i="0">
                <a:solidFill>
                  <a:srgbClr val="2B3A55"/>
                </a:solidFill>
                <a:latin typeface="Noto Sans SC"/>
                <a:ea typeface="Noto Sans SC"/>
              </a:rPr>
              <a:t>，代入计数公式：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61288" y="5614416"/>
            <a:ext cx="10341864" cy="54864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17320" y="5614416"/>
            <a:ext cx="9902952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 Math"/>
                <a:ea typeface="Cambria Math"/>
              </a:rPr>
              <a:t>n</a:t>
            </a:r>
            <a:r>
              <a:rPr sz="1122" b="1" i="0" baseline="-25000">
                <a:solidFill>
                  <a:srgbClr val="FFFFFF"/>
                </a:solidFill>
                <a:latin typeface="Cambria Math"/>
                <a:ea typeface="Cambria Math"/>
              </a:rPr>
              <a:t>I</a:t>
            </a:r>
            <a:r>
              <a:rPr sz="1700" b="1" i="0">
                <a:solidFill>
                  <a:srgbClr val="FFFFFF"/>
                </a:solidFill>
                <a:latin typeface="Cambria Math"/>
                <a:ea typeface="Cambria Math"/>
              </a:rPr>
              <a:t>=1+A+A+1+1+1=4+2A≥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64008" cy="475488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10634472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A6F6B"/>
                </a:solidFill>
                <a:latin typeface="Noto Sans SC"/>
                <a:ea typeface="Noto Sans SC"/>
              </a:rPr>
              <a:t>PART  (3)  /  INCREASING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85216"/>
            <a:ext cx="10634472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Noto Serif SC"/>
                <a:ea typeface="Noto Serif SC"/>
              </a:rPr>
              <a:t>第 (3) 问②：F 严格递增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25296"/>
            <a:ext cx="10817352" cy="10972"/>
          </a:xfrm>
          <a:prstGeom prst="rect">
            <a:avLst/>
          </a:prstGeom>
          <a:solidFill>
            <a:srgbClr val="DCD5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80192" y="651967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Noto Sans SC"/>
                <a:ea typeface="Noto Sans SC"/>
              </a:rPr>
              <a:t>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Noto Sans SC"/>
                <a:ea typeface="Noto Sans SC"/>
              </a:rPr>
              <a:t>函数序关系与 I 排列  ·  2026 上海高考数学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817352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A55"/>
                </a:solidFill>
                <a:latin typeface="Noto Sans SC"/>
                <a:ea typeface="Noto Sans SC"/>
              </a:rPr>
              <a:t>由引理，</a:t>
            </a:r>
            <a:r>
              <a:rPr sz="1250" b="0" i="0">
                <a:solidFill>
                  <a:srgbClr val="2B3A55"/>
                </a:solidFill>
                <a:latin typeface="Cambria Math"/>
                <a:ea typeface="Cambria Math"/>
              </a:rPr>
              <a:t>A=0</a:t>
            </a:r>
            <a:r>
              <a:rPr sz="1250" b="0" i="0">
                <a:solidFill>
                  <a:srgbClr val="2B3A55"/>
                </a:solidFill>
                <a:latin typeface="Noto Sans SC"/>
                <a:ea typeface="Noto Sans SC"/>
              </a:rPr>
              <a:t> 对一切 </a:t>
            </a:r>
            <a:r>
              <a:rPr sz="1250" b="0" i="0">
                <a:solidFill>
                  <a:srgbClr val="2B3A55"/>
                </a:solidFill>
                <a:latin typeface="Cambria Math"/>
                <a:ea typeface="Cambria Math"/>
              </a:rPr>
              <a:t>a&gt;0</a:t>
            </a:r>
            <a:r>
              <a:rPr sz="1250" b="0" i="0">
                <a:solidFill>
                  <a:srgbClr val="2B3A55"/>
                </a:solidFill>
                <a:latin typeface="Noto Sans SC"/>
                <a:ea typeface="Noto Sans SC"/>
              </a:rPr>
              <a:t> 成立。下面按 </a:t>
            </a:r>
            <a:r>
              <a:rPr sz="1250" b="0" i="0">
                <a:solidFill>
                  <a:srgbClr val="2B3A55"/>
                </a:solidFill>
                <a:latin typeface="Cambria Math"/>
                <a:ea typeface="Cambria Math"/>
              </a:rPr>
              <a:t>F</a:t>
            </a:r>
            <a:r>
              <a:rPr sz="1250" b="0" i="0">
                <a:solidFill>
                  <a:srgbClr val="2B3A55"/>
                </a:solidFill>
                <a:latin typeface="Noto Sans SC"/>
                <a:ea typeface="Noto Sans SC"/>
              </a:rPr>
              <a:t> 与 </a:t>
            </a:r>
            <a:r>
              <a:rPr sz="1250" b="0" i="0">
                <a:solidFill>
                  <a:srgbClr val="2B3A55"/>
                </a:solidFill>
                <a:latin typeface="Cambria Math"/>
                <a:ea typeface="Cambria Math"/>
              </a:rPr>
              <a:t>f</a:t>
            </a:r>
            <a:r>
              <a:rPr sz="825" b="0" i="0" baseline="-25000">
                <a:solidFill>
                  <a:srgbClr val="2B3A55"/>
                </a:solidFill>
                <a:latin typeface="Cambria Math"/>
                <a:ea typeface="Cambria Math"/>
              </a:rPr>
              <a:t>3</a:t>
            </a:r>
            <a:r>
              <a:rPr sz="1250" b="0" i="0">
                <a:solidFill>
                  <a:srgbClr val="2B3A55"/>
                </a:solidFill>
                <a:latin typeface="Noto Sans SC"/>
                <a:ea typeface="Noto Sans SC"/>
              </a:rPr>
              <a:t> 的位置关系分两种情形。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47088"/>
            <a:ext cx="528523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975104"/>
            <a:ext cx="491947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1495B"/>
                </a:solidFill>
                <a:latin typeface="Noto Sans SC"/>
                <a:ea typeface="Noto Sans SC"/>
              </a:rPr>
              <a:t>情形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212848"/>
            <a:ext cx="4873752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Noto Serif SC"/>
                <a:ea typeface="Noto Serif SC"/>
              </a:rPr>
              <a:t>存在 </a:t>
            </a:r>
            <a:r>
              <a:rPr sz="1300" b="1" i="0">
                <a:solidFill>
                  <a:srgbClr val="14213D"/>
                </a:solidFill>
                <a:latin typeface="Cambria Math"/>
                <a:ea typeface="Cambria Math"/>
              </a:rPr>
              <a:t>x</a:t>
            </a:r>
            <a:r>
              <a:rPr sz="858" b="1" i="0" baseline="-25000">
                <a:solidFill>
                  <a:srgbClr val="14213D"/>
                </a:solidFill>
                <a:latin typeface="Cambria Math"/>
                <a:ea typeface="Cambria Math"/>
              </a:rPr>
              <a:t>0</a:t>
            </a:r>
            <a:r>
              <a:rPr sz="1300" b="1" i="0">
                <a:solidFill>
                  <a:srgbClr val="14213D"/>
                </a:solidFill>
                <a:latin typeface="Cambria Math"/>
                <a:ea typeface="Cambria Math"/>
              </a:rPr>
              <a:t>&gt;0</a:t>
            </a:r>
            <a:r>
              <a:rPr sz="1300" b="1" i="0">
                <a:solidFill>
                  <a:srgbClr val="14213D"/>
                </a:solidFill>
                <a:latin typeface="Noto Serif SC"/>
                <a:ea typeface="Noto Serif SC"/>
              </a:rPr>
              <a:t> 使 </a:t>
            </a:r>
            <a:r>
              <a:rPr sz="1300" b="1" i="0">
                <a:solidFill>
                  <a:srgbClr val="14213D"/>
                </a:solidFill>
                <a:latin typeface="Cambria Math"/>
                <a:ea typeface="Cambria Math"/>
              </a:rPr>
              <a:t>F(x</a:t>
            </a:r>
            <a:r>
              <a:rPr sz="858" b="1" i="0" baseline="-25000">
                <a:solidFill>
                  <a:srgbClr val="14213D"/>
                </a:solidFill>
                <a:latin typeface="Cambria Math"/>
                <a:ea typeface="Cambria Math"/>
              </a:rPr>
              <a:t>0</a:t>
            </a:r>
            <a:r>
              <a:rPr sz="1300" b="1" i="0">
                <a:solidFill>
                  <a:srgbClr val="14213D"/>
                </a:solidFill>
                <a:latin typeface="Cambria Math"/>
                <a:ea typeface="Cambria Math"/>
              </a:rPr>
              <a:t>)&gt;f</a:t>
            </a:r>
            <a:r>
              <a:rPr sz="858" b="1" i="0" baseline="-25000">
                <a:solidFill>
                  <a:srgbClr val="14213D"/>
                </a:solidFill>
                <a:latin typeface="Cambria Math"/>
                <a:ea typeface="Cambria Math"/>
              </a:rPr>
              <a:t>3</a:t>
            </a:r>
            <a:r>
              <a:rPr sz="1300" b="1" i="0">
                <a:solidFill>
                  <a:srgbClr val="14213D"/>
                </a:solidFill>
                <a:latin typeface="Cambria Math"/>
                <a:ea typeface="Cambria Math"/>
              </a:rPr>
              <a:t>(x</a:t>
            </a:r>
            <a:r>
              <a:rPr sz="858" b="1" i="0" baseline="-25000">
                <a:solidFill>
                  <a:srgbClr val="14213D"/>
                </a:solidFill>
                <a:latin typeface="Cambria Math"/>
                <a:ea typeface="Cambria Math"/>
              </a:rPr>
              <a:t>0</a:t>
            </a:r>
            <a:r>
              <a:rPr sz="1300" b="1" i="0">
                <a:solidFill>
                  <a:srgbClr val="14213D"/>
                </a:solidFill>
                <a:latin typeface="Cambria Math"/>
                <a:ea typeface="Cambria Math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743200"/>
            <a:ext cx="4828032" cy="2148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B3A55"/>
                </a:solidFill>
                <a:latin typeface="Noto Sans SC"/>
                <a:ea typeface="Noto Sans SC"/>
              </a:rPr>
              <a:t>取 </a:t>
            </a: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x</a:t>
            </a:r>
            <a:r>
              <a:rPr sz="805" b="0" i="0" baseline="-25000">
                <a:solidFill>
                  <a:srgbClr val="2B3A55"/>
                </a:solidFill>
                <a:latin typeface="Cambria Math"/>
                <a:ea typeface="Cambria Math"/>
              </a:rPr>
              <a:t>0</a:t>
            </a:r>
            <a:r>
              <a:rPr sz="1220" b="0" i="0">
                <a:solidFill>
                  <a:srgbClr val="2B3A55"/>
                </a:solidFill>
                <a:latin typeface="Noto Sans SC"/>
                <a:ea typeface="Noto Sans SC"/>
              </a:rPr>
              <a:t> 为连续点。令 </a:t>
            </a: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a→0</a:t>
            </a:r>
            <a:r>
              <a:rPr sz="951" b="0" i="0">
                <a:solidFill>
                  <a:srgbClr val="2B3A55"/>
                </a:solidFill>
                <a:latin typeface="Cambria Math"/>
                <a:ea typeface="Cambria Math"/>
              </a:rPr>
              <a:t>⁺</a:t>
            </a:r>
            <a:r>
              <a:rPr sz="1220" b="0" i="0">
                <a:solidFill>
                  <a:srgbClr val="2B3A55"/>
                </a:solidFill>
                <a:latin typeface="Noto Sans SC"/>
                <a:ea typeface="Noto Sans SC"/>
              </a:rPr>
              <a:t>，则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f</a:t>
            </a:r>
            <a:r>
              <a:rPr sz="805" b="0" i="0" baseline="-25000">
                <a:solidFill>
                  <a:srgbClr val="2B3A55"/>
                </a:solidFill>
                <a:latin typeface="Cambria Math"/>
                <a:ea typeface="Cambria Math"/>
              </a:rPr>
              <a:t>2</a:t>
            </a: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(x</a:t>
            </a:r>
            <a:r>
              <a:rPr sz="805" b="0" i="0" baseline="-25000">
                <a:solidFill>
                  <a:srgbClr val="2B3A55"/>
                </a:solidFill>
                <a:latin typeface="Cambria Math"/>
                <a:ea typeface="Cambria Math"/>
              </a:rPr>
              <a:t>0</a:t>
            </a: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)→ F(x</a:t>
            </a:r>
            <a:r>
              <a:rPr sz="805" b="0" i="0" baseline="-25000">
                <a:solidFill>
                  <a:srgbClr val="2B3A55"/>
                </a:solidFill>
                <a:latin typeface="Cambria Math"/>
                <a:ea typeface="Cambria Math"/>
              </a:rPr>
              <a:t>0</a:t>
            </a: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)&gt;f</a:t>
            </a:r>
            <a:r>
              <a:rPr sz="805" b="0" i="0" baseline="-25000">
                <a:solidFill>
                  <a:srgbClr val="2B3A55"/>
                </a:solidFill>
                <a:latin typeface="Cambria Math"/>
                <a:ea typeface="Cambria Math"/>
              </a:rPr>
              <a:t>3</a:t>
            </a: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(x</a:t>
            </a:r>
            <a:r>
              <a:rPr sz="805" b="0" i="0" baseline="-25000">
                <a:solidFill>
                  <a:srgbClr val="2B3A55"/>
                </a:solidFill>
                <a:latin typeface="Cambria Math"/>
                <a:ea typeface="Cambria Math"/>
              </a:rPr>
              <a:t>0</a:t>
            </a: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)</a:t>
            </a:r>
            <a:r>
              <a:rPr sz="1220" b="0" i="0">
                <a:solidFill>
                  <a:srgbClr val="2B3A55"/>
                </a:solidFill>
                <a:latin typeface="Noto Sans SC"/>
                <a:ea typeface="Noto Sans SC"/>
              </a:rPr>
              <a:t>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B3A55"/>
                </a:solidFill>
                <a:latin typeface="Noto Sans SC"/>
                <a:ea typeface="Noto Sans SC"/>
              </a:rPr>
              <a:t>取 </a:t>
            </a: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0&lt;a&lt;min{1,x</a:t>
            </a:r>
            <a:r>
              <a:rPr sz="805" b="0" i="0" baseline="-25000">
                <a:solidFill>
                  <a:srgbClr val="2B3A55"/>
                </a:solidFill>
                <a:latin typeface="Cambria Math"/>
                <a:ea typeface="Cambria Math"/>
              </a:rPr>
              <a:t>0</a:t>
            </a: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}</a:t>
            </a:r>
            <a:r>
              <a:rPr sz="1220" b="0" i="0">
                <a:solidFill>
                  <a:srgbClr val="2B3A55"/>
                </a:solidFill>
                <a:latin typeface="Noto Sans SC"/>
                <a:ea typeface="Noto Sans SC"/>
              </a:rPr>
              <a:t> 充分小，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B3A55"/>
                </a:solidFill>
                <a:latin typeface="Noto Sans SC"/>
                <a:ea typeface="Noto Sans SC"/>
              </a:rPr>
              <a:t>在 </a:t>
            </a: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x=x</a:t>
            </a:r>
            <a:r>
              <a:rPr sz="805" b="0" i="0" baseline="-25000">
                <a:solidFill>
                  <a:srgbClr val="2B3A55"/>
                </a:solidFill>
                <a:latin typeface="Cambria Math"/>
                <a:ea typeface="Cambria Math"/>
              </a:rPr>
              <a:t>0</a:t>
            </a:r>
            <a:r>
              <a:rPr sz="1220" b="0" i="0">
                <a:solidFill>
                  <a:srgbClr val="2B3A55"/>
                </a:solidFill>
                <a:latin typeface="Noto Sans SC"/>
                <a:ea typeface="Noto Sans SC"/>
              </a:rPr>
              <a:t> 处有 </a:t>
            </a: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f</a:t>
            </a:r>
            <a:r>
              <a:rPr sz="805" b="0" i="0" baseline="-25000">
                <a:solidFill>
                  <a:srgbClr val="2B3A55"/>
                </a:solidFill>
                <a:latin typeface="Cambria Math"/>
                <a:ea typeface="Cambria Math"/>
              </a:rPr>
              <a:t>1</a:t>
            </a: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&gt;f</a:t>
            </a:r>
            <a:r>
              <a:rPr sz="805" b="0" i="0" baseline="-25000">
                <a:solidFill>
                  <a:srgbClr val="2B3A55"/>
                </a:solidFill>
                <a:latin typeface="Cambria Math"/>
                <a:ea typeface="Cambria Math"/>
              </a:rPr>
              <a:t>3</a:t>
            </a:r>
            <a:r>
              <a:rPr sz="1220" b="0" i="0">
                <a:solidFill>
                  <a:srgbClr val="2B3A55"/>
                </a:solidFill>
                <a:latin typeface="Noto Sans SC"/>
                <a:ea typeface="Noto Sans SC"/>
              </a:rPr>
              <a:t>，</a:t>
            </a: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f</a:t>
            </a:r>
            <a:r>
              <a:rPr sz="805" b="0" i="0" baseline="-25000">
                <a:solidFill>
                  <a:srgbClr val="2B3A55"/>
                </a:solidFill>
                <a:latin typeface="Cambria Math"/>
                <a:ea typeface="Cambria Math"/>
              </a:rPr>
              <a:t>2</a:t>
            </a: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&gt;f</a:t>
            </a:r>
            <a:r>
              <a:rPr sz="805" b="0" i="0" baseline="-25000">
                <a:solidFill>
                  <a:srgbClr val="2B3A55"/>
                </a:solidFill>
                <a:latin typeface="Cambria Math"/>
                <a:ea typeface="Cambria Math"/>
              </a:rPr>
              <a:t>3</a:t>
            </a:r>
            <a:r>
              <a:rPr sz="1220" b="0" i="0">
                <a:solidFill>
                  <a:srgbClr val="2B3A55"/>
                </a:solidFill>
                <a:latin typeface="Noto Sans SC"/>
                <a:ea typeface="Noto Sans SC"/>
              </a:rPr>
              <a:t>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B3A55"/>
                </a:solidFill>
                <a:latin typeface="Noto Sans SC"/>
                <a:ea typeface="Noto Sans SC"/>
              </a:rPr>
              <a:t>故 </a:t>
            </a: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B=C=0</a:t>
            </a:r>
            <a:r>
              <a:rPr sz="1220" b="0" i="0">
                <a:solidFill>
                  <a:srgbClr val="2B3A55"/>
                </a:solidFill>
                <a:latin typeface="Noto Sans SC"/>
                <a:ea typeface="Noto Sans SC"/>
              </a:rPr>
              <a:t>。又 </a:t>
            </a: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A=0</a:t>
            </a:r>
            <a:r>
              <a:rPr sz="1220" b="0" i="0">
                <a:solidFill>
                  <a:srgbClr val="2B3A55"/>
                </a:solidFill>
                <a:latin typeface="Noto Sans SC"/>
                <a:ea typeface="Noto Sans SC"/>
              </a:rPr>
              <a:t>，所以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n</a:t>
            </a:r>
            <a:r>
              <a:rPr sz="805" b="0" i="0" baseline="-25000">
                <a:solidFill>
                  <a:srgbClr val="2B3A55"/>
                </a:solidFill>
                <a:latin typeface="Cambria Math"/>
                <a:ea typeface="Cambria Math"/>
              </a:rPr>
              <a:t>I</a:t>
            </a: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=1</a:t>
            </a:r>
            <a:r>
              <a:rPr sz="1220" b="0" i="0">
                <a:solidFill>
                  <a:srgbClr val="2B3A55"/>
                </a:solidFill>
                <a:latin typeface="Noto Sans SC"/>
                <a:ea typeface="Noto Sans SC"/>
              </a:rPr>
              <a:t>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" y="4663440"/>
            <a:ext cx="4809744" cy="329184"/>
          </a:xfrm>
          <a:prstGeom prst="rect">
            <a:avLst/>
          </a:prstGeom>
          <a:solidFill>
            <a:srgbClr val="F7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4663440"/>
            <a:ext cx="4553712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495B"/>
                </a:solidFill>
                <a:latin typeface="Noto Sans SC"/>
                <a:ea typeface="Noto Sans SC"/>
              </a:rPr>
              <a:t>结果：</a:t>
            </a:r>
            <a:r>
              <a:rPr sz="1100" b="1" i="0">
                <a:solidFill>
                  <a:srgbClr val="D1495B"/>
                </a:solidFill>
                <a:latin typeface="Cambria Math"/>
                <a:ea typeface="Cambria Math"/>
              </a:rPr>
              <a:t>n</a:t>
            </a:r>
            <a:r>
              <a:rPr sz="726" b="1" i="0" baseline="-25000">
                <a:solidFill>
                  <a:srgbClr val="D1495B"/>
                </a:solidFill>
                <a:latin typeface="Cambria Math"/>
                <a:ea typeface="Cambria Math"/>
              </a:rPr>
              <a:t>I</a:t>
            </a:r>
            <a:r>
              <a:rPr sz="1100" b="1" i="0">
                <a:solidFill>
                  <a:srgbClr val="D1495B"/>
                </a:solidFill>
                <a:latin typeface="Cambria Math"/>
                <a:ea typeface="Cambria Math"/>
              </a:rPr>
              <a:t>=1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847088"/>
            <a:ext cx="528523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975104"/>
            <a:ext cx="491947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A6F6B"/>
                </a:solidFill>
                <a:latin typeface="Noto Sans SC"/>
                <a:ea typeface="Noto Sans SC"/>
              </a:rPr>
              <a:t>情形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212848"/>
            <a:ext cx="4873752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Noto Serif SC"/>
                <a:ea typeface="Noto Serif SC"/>
              </a:rPr>
              <a:t>对一切 </a:t>
            </a:r>
            <a:r>
              <a:rPr sz="1300" b="1" i="0">
                <a:solidFill>
                  <a:srgbClr val="14213D"/>
                </a:solidFill>
                <a:latin typeface="Cambria Math"/>
                <a:ea typeface="Cambria Math"/>
              </a:rPr>
              <a:t>x</a:t>
            </a:r>
            <a:r>
              <a:rPr sz="1300" b="1" i="0">
                <a:solidFill>
                  <a:srgbClr val="14213D"/>
                </a:solidFill>
                <a:latin typeface="Noto Serif SC"/>
                <a:ea typeface="Noto Serif SC"/>
              </a:rPr>
              <a:t>，</a:t>
            </a:r>
            <a:r>
              <a:rPr sz="1300" b="1" i="0">
                <a:solidFill>
                  <a:srgbClr val="14213D"/>
                </a:solidFill>
                <a:latin typeface="Cambria Math"/>
                <a:ea typeface="Cambria Math"/>
              </a:rPr>
              <a:t>F(x)≤ f</a:t>
            </a:r>
            <a:r>
              <a:rPr sz="858" b="1" i="0" baseline="-25000">
                <a:solidFill>
                  <a:srgbClr val="14213D"/>
                </a:solidFill>
                <a:latin typeface="Cambria Math"/>
                <a:ea typeface="Cambria Math"/>
              </a:rPr>
              <a:t>3</a:t>
            </a:r>
            <a:r>
              <a:rPr sz="1300" b="1" i="0">
                <a:solidFill>
                  <a:srgbClr val="14213D"/>
                </a:solidFill>
                <a:latin typeface="Cambria Math"/>
                <a:ea typeface="Cambria Math"/>
              </a:rPr>
              <a:t>(x)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743200"/>
            <a:ext cx="4828032" cy="2148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B3A55"/>
                </a:solidFill>
                <a:latin typeface="Noto Sans SC"/>
                <a:ea typeface="Noto Sans SC"/>
              </a:rPr>
              <a:t>此时 </a:t>
            </a: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B=1</a:t>
            </a:r>
            <a:r>
              <a:rPr sz="1220" b="0" i="0">
                <a:solidFill>
                  <a:srgbClr val="2B3A55"/>
                </a:solidFill>
                <a:latin typeface="Noto Sans SC"/>
                <a:ea typeface="Noto Sans SC"/>
              </a:rPr>
              <a:t>。对 </a:t>
            </a: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x≥ a</a:t>
            </a:r>
            <a:r>
              <a:rPr sz="1220" b="0" i="0">
                <a:solidFill>
                  <a:srgbClr val="2B3A55"/>
                </a:solidFill>
                <a:latin typeface="Noto Sans SC"/>
                <a:ea typeface="Noto Sans SC"/>
              </a:rPr>
              <a:t>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f</a:t>
            </a:r>
            <a:r>
              <a:rPr sz="805" b="0" i="0" baseline="-25000">
                <a:solidFill>
                  <a:srgbClr val="2B3A55"/>
                </a:solidFill>
                <a:latin typeface="Cambria Math"/>
                <a:ea typeface="Cambria Math"/>
              </a:rPr>
              <a:t>2</a:t>
            </a: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(x)≤½[f</a:t>
            </a:r>
            <a:r>
              <a:rPr sz="805" b="0" i="0" baseline="-25000">
                <a:solidFill>
                  <a:srgbClr val="2B3A55"/>
                </a:solidFill>
                <a:latin typeface="Cambria Math"/>
                <a:ea typeface="Cambria Math"/>
              </a:rPr>
              <a:t>3</a:t>
            </a: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(x+a)+f</a:t>
            </a:r>
            <a:r>
              <a:rPr sz="805" b="0" i="0" baseline="-25000">
                <a:solidFill>
                  <a:srgbClr val="2B3A55"/>
                </a:solidFill>
                <a:latin typeface="Cambria Math"/>
                <a:ea typeface="Cambria Math"/>
              </a:rPr>
              <a:t>3</a:t>
            </a: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(x-a)]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=1-e</a:t>
            </a:r>
            <a:r>
              <a:rPr sz="951" b="0" i="0">
                <a:solidFill>
                  <a:srgbClr val="2B3A55"/>
                </a:solidFill>
                <a:latin typeface="Cambria Math"/>
                <a:ea typeface="Cambria Math"/>
              </a:rPr>
              <a:t>⁻ˣ</a:t>
            </a: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cosh a&lt;1-e</a:t>
            </a:r>
            <a:r>
              <a:rPr sz="951" b="0" i="0">
                <a:solidFill>
                  <a:srgbClr val="2B3A55"/>
                </a:solidFill>
                <a:latin typeface="Cambria Math"/>
                <a:ea typeface="Cambria Math"/>
              </a:rPr>
              <a:t>⁻ˣ</a:t>
            </a: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=f</a:t>
            </a:r>
            <a:r>
              <a:rPr sz="805" b="0" i="0" baseline="-25000">
                <a:solidFill>
                  <a:srgbClr val="2B3A55"/>
                </a:solidFill>
                <a:latin typeface="Cambria Math"/>
                <a:ea typeface="Cambria Math"/>
              </a:rPr>
              <a:t>3</a:t>
            </a: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(x)</a:t>
            </a:r>
            <a:r>
              <a:rPr sz="1220" b="0" i="0">
                <a:solidFill>
                  <a:srgbClr val="2B3A55"/>
                </a:solidFill>
                <a:latin typeface="Noto Sans SC"/>
                <a:ea typeface="Noto Sans SC"/>
              </a:rPr>
              <a:t>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B3A55"/>
                </a:solidFill>
                <a:latin typeface="Noto Sans SC"/>
                <a:ea typeface="Noto Sans SC"/>
              </a:rPr>
              <a:t>故 </a:t>
            </a: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C=1</a:t>
            </a:r>
            <a:r>
              <a:rPr sz="1220" b="0" i="0">
                <a:solidFill>
                  <a:srgbClr val="2B3A55"/>
                </a:solidFill>
                <a:latin typeface="Noto Sans SC"/>
                <a:ea typeface="Noto Sans SC"/>
              </a:rPr>
              <a:t>。于是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n</a:t>
            </a:r>
            <a:r>
              <a:rPr sz="805" b="0" i="0" baseline="-25000">
                <a:solidFill>
                  <a:srgbClr val="2B3A55"/>
                </a:solidFill>
                <a:latin typeface="Cambria Math"/>
                <a:ea typeface="Cambria Math"/>
              </a:rPr>
              <a:t>I</a:t>
            </a: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=4+2A≥ 4</a:t>
            </a:r>
            <a:r>
              <a:rPr sz="1220" b="0" i="0">
                <a:solidFill>
                  <a:srgbClr val="2B3A55"/>
                </a:solidFill>
                <a:latin typeface="Noto Sans SC"/>
                <a:ea typeface="Noto Sans SC"/>
              </a:rPr>
              <a:t>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55664" y="4663440"/>
            <a:ext cx="4809744" cy="329184"/>
          </a:xfrm>
          <a:prstGeom prst="rect">
            <a:avLst/>
          </a:prstGeom>
          <a:solidFill>
            <a:srgbClr val="DEE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4663440"/>
            <a:ext cx="4553712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6F6B"/>
                </a:solidFill>
                <a:latin typeface="Noto Sans SC"/>
                <a:ea typeface="Noto Sans SC"/>
              </a:rPr>
              <a:t>结果：</a:t>
            </a:r>
            <a:r>
              <a:rPr sz="1100" b="1" i="0">
                <a:solidFill>
                  <a:srgbClr val="2A6F6B"/>
                </a:solidFill>
                <a:latin typeface="Cambria Math"/>
                <a:ea typeface="Cambria Math"/>
              </a:rPr>
              <a:t>n</a:t>
            </a:r>
            <a:r>
              <a:rPr sz="726" b="1" i="0" baseline="-25000">
                <a:solidFill>
                  <a:srgbClr val="2A6F6B"/>
                </a:solidFill>
                <a:latin typeface="Cambria Math"/>
                <a:ea typeface="Cambria Math"/>
              </a:rPr>
              <a:t>I</a:t>
            </a:r>
            <a:r>
              <a:rPr sz="1100" b="1" i="0">
                <a:solidFill>
                  <a:srgbClr val="2A6F6B"/>
                </a:solidFill>
                <a:latin typeface="Cambria Math"/>
                <a:ea typeface="Cambria Math"/>
              </a:rPr>
              <a:t>=4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285232"/>
            <a:ext cx="10817352" cy="685800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285232"/>
            <a:ext cx="10360152" cy="6858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Noto Sans SC"/>
                <a:ea typeface="Noto Sans SC"/>
              </a:rPr>
              <a:t>两种情形都有 </a:t>
            </a:r>
            <a:r>
              <a:rPr sz="1600" b="1" i="0">
                <a:solidFill>
                  <a:srgbClr val="FFFFFF"/>
                </a:solidFill>
                <a:latin typeface="Cambria Math"/>
                <a:ea typeface="Cambria Math"/>
              </a:rPr>
              <a:t>n</a:t>
            </a:r>
            <a:r>
              <a:rPr sz="1056" b="1" i="0" baseline="-25000">
                <a:solidFill>
                  <a:srgbClr val="FFFFFF"/>
                </a:solidFill>
                <a:latin typeface="Cambria Math"/>
                <a:ea typeface="Cambria Math"/>
              </a:rPr>
              <a:t>I</a:t>
            </a:r>
            <a:r>
              <a:rPr sz="1600" b="1" i="0">
                <a:solidFill>
                  <a:srgbClr val="FFFFFF"/>
                </a:solidFill>
                <a:latin typeface="Cambria Math"/>
                <a:ea typeface="Cambria Math"/>
              </a:rPr>
              <a:t>≠ 2</a:t>
            </a:r>
            <a:r>
              <a:rPr sz="1600" b="1" i="0">
                <a:solidFill>
                  <a:srgbClr val="FFFFFF"/>
                </a:solidFill>
                <a:latin typeface="Noto Sans SC"/>
                <a:ea typeface="Noto Sans SC"/>
              </a:rPr>
              <a:t>，所以②得证。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108192"/>
            <a:ext cx="10817352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Noto Sans SC"/>
                <a:ea typeface="Noto Sans SC"/>
              </a:rPr>
              <a:t>注：单调函数的连续点稠密；若 </a:t>
            </a:r>
            <a:r>
              <a:rPr sz="950" b="0" i="0">
                <a:solidFill>
                  <a:srgbClr val="6B7280"/>
                </a:solidFill>
                <a:latin typeface="Cambria Math"/>
                <a:ea typeface="Cambria Math"/>
              </a:rPr>
              <a:t>x</a:t>
            </a:r>
            <a:r>
              <a:rPr sz="627" b="0" i="0" baseline="-25000">
                <a:solidFill>
                  <a:srgbClr val="6B7280"/>
                </a:solidFill>
                <a:latin typeface="Cambria Math"/>
                <a:ea typeface="Cambria Math"/>
              </a:rPr>
              <a:t>0</a:t>
            </a:r>
            <a:r>
              <a:rPr sz="950" b="0" i="0">
                <a:solidFill>
                  <a:srgbClr val="6B7280"/>
                </a:solidFill>
                <a:latin typeface="Noto Sans SC"/>
                <a:ea typeface="Noto Sans SC"/>
              </a:rPr>
              <a:t> 为间断点，在它右侧附近仍保持 </a:t>
            </a:r>
            <a:r>
              <a:rPr sz="950" b="0" i="0">
                <a:solidFill>
                  <a:srgbClr val="6B7280"/>
                </a:solidFill>
                <a:latin typeface="Cambria Math"/>
                <a:ea typeface="Cambria Math"/>
              </a:rPr>
              <a:t>F&gt;f</a:t>
            </a:r>
            <a:r>
              <a:rPr sz="627" b="0" i="0" baseline="-25000">
                <a:solidFill>
                  <a:srgbClr val="6B7280"/>
                </a:solidFill>
                <a:latin typeface="Cambria Math"/>
                <a:ea typeface="Cambria Math"/>
              </a:rPr>
              <a:t>3</a:t>
            </a:r>
            <a:r>
              <a:rPr sz="950" b="0" i="0">
                <a:solidFill>
                  <a:srgbClr val="6B7280"/>
                </a:solidFill>
                <a:latin typeface="Noto Sans SC"/>
                <a:ea typeface="Noto Sans SC"/>
              </a:rPr>
              <a:t>，取其中的连续点即可。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64008" cy="4754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10634472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9A227"/>
                </a:solidFill>
                <a:latin typeface="Noto Sans SC"/>
                <a:ea typeface="Noto Sans SC"/>
              </a:rPr>
              <a:t>REVIEW  /  THREE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85216"/>
            <a:ext cx="10634472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Noto Serif SC"/>
                <a:ea typeface="Noto Serif SC"/>
              </a:rPr>
              <a:t>复盘：这道压轴题在考什么？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25296"/>
            <a:ext cx="10817352" cy="10972"/>
          </a:xfrm>
          <a:prstGeom prst="rect">
            <a:avLst/>
          </a:prstGeom>
          <a:solidFill>
            <a:srgbClr val="DCD5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80192" y="651967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Noto Sans SC"/>
                <a:ea typeface="Noto Sans SC"/>
              </a:rPr>
              <a:t>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Noto Sans SC"/>
                <a:ea typeface="Noto Sans SC"/>
              </a:rPr>
              <a:t>函数序关系与 I 排列  ·  2026 上海高考数学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3456432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6642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1495B"/>
                </a:solidFill>
                <a:latin typeface="Noto Sans SC"/>
                <a:ea typeface="Noto Sans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1938528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Noto Serif SC"/>
                <a:ea typeface="Noto Serif SC"/>
              </a:rPr>
              <a:t>翻译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487168"/>
            <a:ext cx="297180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B3A55"/>
                </a:solidFill>
                <a:latin typeface="Noto Sans SC"/>
                <a:ea typeface="Noto Sans SC"/>
              </a:rPr>
              <a:t>6 个排列 → 3 个开关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A,B,C</a:t>
            </a:r>
            <a:r>
              <a:rPr sz="1220" b="0" i="0">
                <a:solidFill>
                  <a:srgbClr val="2B3A55"/>
                </a:solidFill>
                <a:latin typeface="Noto Sans SC"/>
                <a:ea typeface="Noto Sans SC"/>
              </a:rPr>
              <a:t> 把定义变成计数。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" y="3639312"/>
            <a:ext cx="502920" cy="10972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3721608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Noto Sans SC"/>
                <a:ea typeface="Noto Sans SC"/>
              </a:rPr>
              <a:t>对应第 (1) 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1688" y="1508760"/>
            <a:ext cx="3456432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1" y="16642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6F6B"/>
                </a:solidFill>
                <a:latin typeface="Noto Sans SC"/>
                <a:ea typeface="Noto Sans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1" y="1938528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Noto Serif SC"/>
                <a:ea typeface="Noto Serif SC"/>
              </a:rPr>
              <a:t>计数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1" y="2487168"/>
            <a:ext cx="297180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n</a:t>
            </a:r>
            <a:r>
              <a:rPr sz="805" b="0" i="0" baseline="-25000">
                <a:solidFill>
                  <a:srgbClr val="2B3A55"/>
                </a:solidFill>
                <a:latin typeface="Cambria Math"/>
                <a:ea typeface="Cambria Math"/>
              </a:rPr>
              <a:t>I</a:t>
            </a: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=1+A+AB+C+BC+B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n=6</a:t>
            </a:r>
            <a:r>
              <a:rPr sz="1220" b="0" i="0">
                <a:solidFill>
                  <a:srgbClr val="2B3A55"/>
                </a:solidFill>
                <a:latin typeface="Noto Sans SC"/>
                <a:ea typeface="Noto Sans SC"/>
              </a:rPr>
              <a:t> 要全开；</a:t>
            </a: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n≥4</a:t>
            </a:r>
            <a:r>
              <a:rPr sz="1220" b="0" i="0">
                <a:solidFill>
                  <a:srgbClr val="2B3A55"/>
                </a:solidFill>
                <a:latin typeface="Noto Sans SC"/>
                <a:ea typeface="Noto Sans SC"/>
              </a:rPr>
              <a:t> 有通道。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9431" y="3639312"/>
            <a:ext cx="502920" cy="10972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1" y="3721608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Noto Sans SC"/>
                <a:ea typeface="Noto Sans SC"/>
              </a:rPr>
              <a:t>对应第 (2) 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37575" y="1508760"/>
            <a:ext cx="3456432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DCD5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19" y="16642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227"/>
                </a:solidFill>
                <a:latin typeface="Noto Sans SC"/>
                <a:ea typeface="Noto Sans S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1938528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Noto Serif SC"/>
                <a:ea typeface="Noto Serif SC"/>
              </a:rPr>
              <a:t>控制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2487168"/>
            <a:ext cx="297180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B3A55"/>
                </a:solidFill>
                <a:latin typeface="Noto Sans SC"/>
                <a:ea typeface="Noto Sans SC"/>
              </a:rPr>
              <a:t>递减取大 </a:t>
            </a: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a</a:t>
            </a:r>
            <a:r>
              <a:rPr sz="1220" b="0" i="0">
                <a:solidFill>
                  <a:srgbClr val="2B3A55"/>
                </a:solidFill>
                <a:latin typeface="Noto Sans SC"/>
                <a:ea typeface="Noto Sans SC"/>
              </a:rPr>
              <a:t>；递增取小 </a:t>
            </a: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a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B3A55"/>
                </a:solidFill>
                <a:latin typeface="Noto Sans SC"/>
                <a:ea typeface="Noto Sans SC"/>
              </a:rPr>
              <a:t>再用离散凸序列排除 </a:t>
            </a:r>
            <a:r>
              <a:rPr sz="1220" b="0" i="0">
                <a:solidFill>
                  <a:srgbClr val="2B3A55"/>
                </a:solidFill>
                <a:latin typeface="Cambria Math"/>
                <a:ea typeface="Cambria Math"/>
              </a:rPr>
              <a:t>A=1</a:t>
            </a:r>
            <a:r>
              <a:rPr sz="1220" b="0" i="0">
                <a:solidFill>
                  <a:srgbClr val="2B3A55"/>
                </a:solidFill>
                <a:latin typeface="Noto Sans SC"/>
                <a:ea typeface="Noto Sans SC"/>
              </a:rPr>
              <a:t>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19" y="3639312"/>
            <a:ext cx="502920" cy="109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19" y="3721608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Noto Sans SC"/>
                <a:ea typeface="Noto Sans SC"/>
              </a:rPr>
              <a:t>对应第 (3) 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389120"/>
            <a:ext cx="10817352" cy="109728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8056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9A227"/>
                </a:solidFill>
                <a:latin typeface="Noto Sans SC"/>
                <a:ea typeface="Noto Sans SC"/>
              </a:rPr>
              <a:t>答案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6817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9C3D2"/>
                </a:solidFill>
                <a:latin typeface="Noto Sans SC"/>
                <a:ea typeface="Noto Sans SC"/>
              </a:rPr>
              <a:t>(1)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3776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Noto Sans SC"/>
                <a:ea typeface="Noto Sans SC"/>
              </a:rPr>
              <a:t>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46817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9C3D2"/>
                </a:solidFill>
                <a:latin typeface="Noto Sans SC"/>
                <a:ea typeface="Noto Sans SC"/>
              </a:rPr>
              <a:t>(2)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493776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 Math"/>
                <a:ea typeface="Cambria Math"/>
              </a:rPr>
              <a:t>[-1, -¼]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68172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9C3D2"/>
                </a:solidFill>
                <a:latin typeface="Noto Sans SC"/>
                <a:ea typeface="Noto Sans SC"/>
              </a:rPr>
              <a:t>(3)①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93776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 Math"/>
                <a:ea typeface="Cambria Math"/>
              </a:rPr>
              <a:t>n</a:t>
            </a:r>
            <a:r>
              <a:rPr sz="1122" b="1" i="0" baseline="-25000">
                <a:solidFill>
                  <a:srgbClr val="FFFFFF"/>
                </a:solidFill>
                <a:latin typeface="Cambria Math"/>
                <a:ea typeface="Cambria Math"/>
              </a:rPr>
              <a:t>I</a:t>
            </a:r>
            <a:r>
              <a:rPr sz="1700" b="1" i="0">
                <a:solidFill>
                  <a:srgbClr val="FFFFFF"/>
                </a:solidFill>
                <a:latin typeface="Cambria Math"/>
                <a:ea typeface="Cambria Math"/>
              </a:rPr>
              <a:t>≥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46817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9C3D2"/>
                </a:solidFill>
                <a:latin typeface="Noto Sans SC"/>
                <a:ea typeface="Noto Sans SC"/>
              </a:rPr>
              <a:t>(3)②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93776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 Math"/>
                <a:ea typeface="Cambria Math"/>
              </a:rPr>
              <a:t>n</a:t>
            </a:r>
            <a:r>
              <a:rPr sz="1122" b="1" i="0" baseline="-25000">
                <a:solidFill>
                  <a:srgbClr val="FFFFFF"/>
                </a:solidFill>
                <a:latin typeface="Cambria Math"/>
                <a:ea typeface="Cambria Math"/>
              </a:rPr>
              <a:t>I</a:t>
            </a:r>
            <a:r>
              <a:rPr sz="1700" b="1" i="0">
                <a:solidFill>
                  <a:srgbClr val="FFFFFF"/>
                </a:solidFill>
                <a:latin typeface="Cambria Math"/>
                <a:ea typeface="Cambria Math"/>
              </a:rPr>
              <a:t>≠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742432"/>
            <a:ext cx="10817352" cy="594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Noto Serif SC"/>
                <a:ea typeface="Noto Serif SC"/>
              </a:rPr>
              <a:t>新定义题的通用路径：先翻译，再计数，最后用单调性控制关键开关。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199632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Noto Sans SC"/>
                <a:ea typeface="Noto Sans SC"/>
              </a:rPr>
              <a:t>2026 上海高考数学 · 第 21 题 · 解析完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2026上海高考数学第21题解析</dc:title>
  <dc:subject>函数序关系与 I 排列</dc:subject>
  <dc:creator>DeepSeek Harness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