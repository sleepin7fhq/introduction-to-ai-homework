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35240" y="2331720"/>
            <a:ext cx="3931920" cy="3108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0" b="1" i="0">
                <a:solidFill>
                  <a:srgbClr val="142338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3" name="Rectangle 2"/>
          <p:cNvSpPr/>
          <p:nvPr/>
        </p:nvSpPr>
        <p:spPr>
          <a:xfrm>
            <a:off x="813816" y="2103120"/>
            <a:ext cx="41148" cy="2377440"/>
          </a:xfrm>
          <a:prstGeom prst="rect">
            <a:avLst/>
          </a:prstGeom>
          <a:solidFill>
            <a:srgbClr val="BA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2066543"/>
            <a:ext cx="6949440" cy="2651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A8A3A"/>
                </a:solidFill>
                <a:latin typeface="Microsoft YaHei"/>
                <a:ea typeface="Microsoft YaHei"/>
              </a:rPr>
              <a:t>2024 年 · 新课标 Ⅱ 卷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</a:rPr>
              <a:t>双曲线与数列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1700" b="0" i="0">
                <a:solidFill>
                  <a:srgbClr val="C8D2E0"/>
                </a:solidFill>
                <a:latin typeface="Microsoft YaHei"/>
                <a:ea typeface="Microsoft YaHei"/>
              </a:rPr>
              <a:t>压轴第 19 题 · 一题三问，一条主线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" y="5138928"/>
            <a:ext cx="2377440" cy="7315"/>
          </a:xfrm>
          <a:prstGeom prst="rect">
            <a:avLst/>
          </a:prstGeom>
          <a:solidFill>
            <a:srgbClr val="3A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5285232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7AA"/>
                </a:solidFill>
                <a:latin typeface="Microsoft YaHei"/>
                <a:ea typeface="Microsoft YaHei"/>
              </a:rPr>
              <a:t>17 分　·　解析几何 + 数列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" y="502920"/>
            <a:ext cx="100584" cy="100584"/>
          </a:xfrm>
          <a:prstGeom prst="rect">
            <a:avLst/>
          </a:prstGeom>
          <a:solidFill>
            <a:srgbClr val="BA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3891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A8A3A"/>
                </a:solidFill>
                <a:latin typeface="Microsoft YaHei"/>
                <a:ea typeface="Microsoft YaHei"/>
              </a:rPr>
              <a:t>原题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38912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896"/>
                </a:solidFill>
                <a:latin typeface="Microsoft YaHei"/>
                <a:ea typeface="Microsoft YaHei"/>
              </a:rPr>
              <a:t>02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3152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1C2A"/>
                </a:solidFill>
                <a:latin typeface="Microsoft YaHei"/>
                <a:ea typeface="Microsoft YaHei"/>
              </a:rPr>
              <a:t>题目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" y="1389888"/>
            <a:ext cx="566928" cy="41148"/>
          </a:xfrm>
          <a:prstGeom prst="rect">
            <a:avLst/>
          </a:prstGeom>
          <a:solidFill>
            <a:srgbClr val="BA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" y="6336792"/>
            <a:ext cx="10561320" cy="7315"/>
          </a:xfrm>
          <a:prstGeom prst="rect">
            <a:avLst/>
          </a:prstGeom>
          <a:solidFill>
            <a:srgbClr val="E6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64465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896"/>
                </a:solidFill>
                <a:latin typeface="Microsoft YaHei"/>
                <a:ea typeface="Microsoft YaHei"/>
              </a:rPr>
              <a:t>2024 新课标 Ⅱ 卷 · 第 19 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1627632"/>
            <a:ext cx="1056132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1920240"/>
            <a:ext cx="101041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C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: 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x</a:t>
            </a:r>
            <a:r>
              <a:rPr sz="1500" b="0" i="0" baseline="30000">
                <a:solidFill>
                  <a:srgbClr val="121C2A"/>
                </a:solidFill>
                <a:latin typeface="Microsoft YaHei"/>
                <a:ea typeface="Microsoft YaHei"/>
              </a:rPr>
              <a:t>2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 − 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y</a:t>
            </a:r>
            <a:r>
              <a:rPr sz="1500" b="0" i="0" baseline="30000">
                <a:solidFill>
                  <a:srgbClr val="121C2A"/>
                </a:solidFill>
                <a:latin typeface="Microsoft YaHei"/>
                <a:ea typeface="Microsoft YaHei"/>
              </a:rPr>
              <a:t>2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 = 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m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 (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m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 &gt; 0)，点 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P</a:t>
            </a:r>
            <a:r>
              <a:rPr sz="15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1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(5, 4) 在 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C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 上，0 &lt; 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k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 &lt; 1．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过 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P</a:t>
            </a:r>
            <a:r>
              <a:rPr sz="15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5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−1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 作斜率为 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k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 的直线，交左支于 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Q</a:t>
            </a:r>
            <a:r>
              <a:rPr sz="15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5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−1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；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P</a:t>
            </a:r>
            <a:r>
              <a:rPr sz="15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 为 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Q</a:t>
            </a:r>
            <a:r>
              <a:rPr sz="15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5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−1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 关于 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y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 轴的对称点．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" y="3017520"/>
            <a:ext cx="10561320" cy="2578608"/>
          </a:xfrm>
          <a:prstGeom prst="roundRect">
            <a:avLst>
              <a:gd name="adj" fmla="val 5000"/>
            </a:avLst>
          </a:prstGeom>
          <a:solidFill>
            <a:srgbClr val="FAF3E5"/>
          </a:solidFill>
          <a:ln w="9525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2415" y="3438144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BA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C2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419856"/>
            <a:ext cx="9509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21C2A"/>
                </a:solidFill>
                <a:latin typeface="Microsoft YaHei"/>
                <a:ea typeface="Microsoft YaHei"/>
              </a:rPr>
              <a:t>若 </a:t>
            </a:r>
            <a:r>
              <a:rPr sz="1450" b="0" i="1">
                <a:solidFill>
                  <a:srgbClr val="121C2A"/>
                </a:solidFill>
                <a:latin typeface="Microsoft YaHei"/>
                <a:ea typeface="Microsoft YaHei"/>
              </a:rPr>
              <a:t>k</a:t>
            </a:r>
            <a:r>
              <a:rPr sz="1450" b="0" i="0">
                <a:solidFill>
                  <a:srgbClr val="121C2A"/>
                </a:solidFill>
                <a:latin typeface="Microsoft YaHei"/>
                <a:ea typeface="Microsoft YaHei"/>
              </a:rPr>
              <a:t> = 1/2，求 </a:t>
            </a:r>
            <a:r>
              <a:rPr sz="1450" b="0" i="1">
                <a:solidFill>
                  <a:srgbClr val="121C2A"/>
                </a:solidFill>
                <a:latin typeface="Microsoft YaHei"/>
                <a:ea typeface="Microsoft YaHei"/>
              </a:rPr>
              <a:t>x</a:t>
            </a:r>
            <a:r>
              <a:rPr sz="145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2</a:t>
            </a:r>
            <a:r>
              <a:rPr sz="1450" b="0" i="0">
                <a:solidFill>
                  <a:srgbClr val="121C2A"/>
                </a:solidFill>
                <a:latin typeface="Microsoft YaHei"/>
                <a:ea typeface="Microsoft YaHei"/>
              </a:rPr>
              <a:t>，</a:t>
            </a:r>
            <a:r>
              <a:rPr sz="1450" b="0" i="1">
                <a:solidFill>
                  <a:srgbClr val="121C2A"/>
                </a:solidFill>
                <a:latin typeface="Microsoft YaHei"/>
                <a:ea typeface="Microsoft YaHei"/>
              </a:rPr>
              <a:t>y</a:t>
            </a:r>
            <a:r>
              <a:rPr sz="145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2</a:t>
            </a:r>
            <a:r>
              <a:rPr sz="1450" b="0" i="0">
                <a:solidFill>
                  <a:srgbClr val="121C2A"/>
                </a:solidFill>
                <a:latin typeface="Microsoft YaHei"/>
                <a:ea typeface="Microsoft YaHei"/>
              </a:rPr>
              <a:t>．</a:t>
            </a:r>
          </a:p>
        </p:txBody>
      </p:sp>
      <p:sp>
        <p:nvSpPr>
          <p:cNvPr id="14" name="Oval 13"/>
          <p:cNvSpPr/>
          <p:nvPr/>
        </p:nvSpPr>
        <p:spPr>
          <a:xfrm>
            <a:off x="1042415" y="4151376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BA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C2A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4133088"/>
            <a:ext cx="9509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21C2A"/>
                </a:solidFill>
                <a:latin typeface="Microsoft YaHei"/>
                <a:ea typeface="Microsoft YaHei"/>
              </a:rPr>
              <a:t>证明：数列 </a:t>
            </a:r>
            <a:r>
              <a:rPr sz="1450" b="0" i="1">
                <a:solidFill>
                  <a:srgbClr val="121C2A"/>
                </a:solidFill>
                <a:latin typeface="Microsoft YaHei"/>
                <a:ea typeface="Microsoft YaHei"/>
              </a:rPr>
              <a:t>x</a:t>
            </a:r>
            <a:r>
              <a:rPr sz="145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450" b="0" i="0">
                <a:solidFill>
                  <a:srgbClr val="121C2A"/>
                </a:solidFill>
                <a:latin typeface="Microsoft YaHei"/>
                <a:ea typeface="Microsoft YaHei"/>
              </a:rPr>
              <a:t> − </a:t>
            </a:r>
            <a:r>
              <a:rPr sz="1450" b="0" i="1">
                <a:solidFill>
                  <a:srgbClr val="121C2A"/>
                </a:solidFill>
                <a:latin typeface="Microsoft YaHei"/>
                <a:ea typeface="Microsoft YaHei"/>
              </a:rPr>
              <a:t>y</a:t>
            </a:r>
            <a:r>
              <a:rPr sz="145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450" b="0" i="0">
                <a:solidFill>
                  <a:srgbClr val="121C2A"/>
                </a:solidFill>
                <a:latin typeface="Microsoft YaHei"/>
                <a:ea typeface="Microsoft YaHei"/>
              </a:rPr>
              <a:t> 是公比为 (1 + </a:t>
            </a:r>
            <a:r>
              <a:rPr sz="1450" b="0" i="1">
                <a:solidFill>
                  <a:srgbClr val="121C2A"/>
                </a:solidFill>
                <a:latin typeface="Microsoft YaHei"/>
                <a:ea typeface="Microsoft YaHei"/>
              </a:rPr>
              <a:t>k</a:t>
            </a:r>
            <a:r>
              <a:rPr sz="1450" b="0" i="0">
                <a:solidFill>
                  <a:srgbClr val="121C2A"/>
                </a:solidFill>
                <a:latin typeface="Microsoft YaHei"/>
                <a:ea typeface="Microsoft YaHei"/>
              </a:rPr>
              <a:t>)/(1 − </a:t>
            </a:r>
            <a:r>
              <a:rPr sz="1450" b="0" i="1">
                <a:solidFill>
                  <a:srgbClr val="121C2A"/>
                </a:solidFill>
                <a:latin typeface="Microsoft YaHei"/>
                <a:ea typeface="Microsoft YaHei"/>
              </a:rPr>
              <a:t>k</a:t>
            </a:r>
            <a:r>
              <a:rPr sz="1450" b="0" i="0">
                <a:solidFill>
                  <a:srgbClr val="121C2A"/>
                </a:solidFill>
                <a:latin typeface="Microsoft YaHei"/>
                <a:ea typeface="Microsoft YaHei"/>
              </a:rPr>
              <a:t>) 的等比数列．</a:t>
            </a:r>
          </a:p>
        </p:txBody>
      </p:sp>
      <p:sp>
        <p:nvSpPr>
          <p:cNvPr id="16" name="Oval 15"/>
          <p:cNvSpPr/>
          <p:nvPr/>
        </p:nvSpPr>
        <p:spPr>
          <a:xfrm>
            <a:off x="1042415" y="4864608"/>
            <a:ext cx="310896" cy="3108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BA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21C2A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4846320"/>
            <a:ext cx="9509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21C2A"/>
                </a:solidFill>
                <a:latin typeface="Microsoft YaHei"/>
                <a:ea typeface="Microsoft YaHei"/>
              </a:rPr>
              <a:t>设 </a:t>
            </a:r>
            <a:r>
              <a:rPr sz="1450" b="0" i="1">
                <a:solidFill>
                  <a:srgbClr val="121C2A"/>
                </a:solidFill>
                <a:latin typeface="Microsoft YaHei"/>
                <a:ea typeface="Microsoft YaHei"/>
              </a:rPr>
              <a:t>S</a:t>
            </a:r>
            <a:r>
              <a:rPr sz="145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450" b="0" i="0">
                <a:solidFill>
                  <a:srgbClr val="121C2A"/>
                </a:solidFill>
                <a:latin typeface="Microsoft YaHei"/>
                <a:ea typeface="Microsoft YaHei"/>
              </a:rPr>
              <a:t> 为 △</a:t>
            </a:r>
            <a:r>
              <a:rPr sz="1450" b="0" i="1">
                <a:solidFill>
                  <a:srgbClr val="121C2A"/>
                </a:solidFill>
                <a:latin typeface="Microsoft YaHei"/>
                <a:ea typeface="Microsoft YaHei"/>
              </a:rPr>
              <a:t>P</a:t>
            </a:r>
            <a:r>
              <a:rPr sz="145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450" b="0" i="1">
                <a:solidFill>
                  <a:srgbClr val="121C2A"/>
                </a:solidFill>
                <a:latin typeface="Microsoft YaHei"/>
                <a:ea typeface="Microsoft YaHei"/>
              </a:rPr>
              <a:t>P</a:t>
            </a:r>
            <a:r>
              <a:rPr sz="145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45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+1</a:t>
            </a:r>
            <a:r>
              <a:rPr sz="1450" b="0" i="1">
                <a:solidFill>
                  <a:srgbClr val="121C2A"/>
                </a:solidFill>
                <a:latin typeface="Microsoft YaHei"/>
                <a:ea typeface="Microsoft YaHei"/>
              </a:rPr>
              <a:t>P</a:t>
            </a:r>
            <a:r>
              <a:rPr sz="145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45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+2</a:t>
            </a:r>
            <a:r>
              <a:rPr sz="1450" b="0" i="0">
                <a:solidFill>
                  <a:srgbClr val="121C2A"/>
                </a:solidFill>
                <a:latin typeface="Microsoft YaHei"/>
                <a:ea typeface="Microsoft YaHei"/>
              </a:rPr>
              <a:t> 的面积，证明：</a:t>
            </a:r>
            <a:r>
              <a:rPr sz="1450" b="0" i="1">
                <a:solidFill>
                  <a:srgbClr val="121C2A"/>
                </a:solidFill>
                <a:latin typeface="Microsoft YaHei"/>
                <a:ea typeface="Microsoft YaHei"/>
              </a:rPr>
              <a:t>S</a:t>
            </a:r>
            <a:r>
              <a:rPr sz="145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450" b="0" i="0">
                <a:solidFill>
                  <a:srgbClr val="121C2A"/>
                </a:solidFill>
                <a:latin typeface="Microsoft YaHei"/>
                <a:ea typeface="Microsoft YaHei"/>
              </a:rPr>
              <a:t> = </a:t>
            </a:r>
            <a:r>
              <a:rPr sz="1450" b="0" i="1">
                <a:solidFill>
                  <a:srgbClr val="121C2A"/>
                </a:solidFill>
                <a:latin typeface="Microsoft YaHei"/>
                <a:ea typeface="Microsoft YaHei"/>
              </a:rPr>
              <a:t>S</a:t>
            </a:r>
            <a:r>
              <a:rPr sz="145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45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+1</a:t>
            </a:r>
            <a:r>
              <a:rPr sz="1450" b="0" i="0">
                <a:solidFill>
                  <a:srgbClr val="121C2A"/>
                </a:solidFill>
                <a:latin typeface="Microsoft YaHei"/>
                <a:ea typeface="Microsoft YaHei"/>
              </a:rPr>
              <a:t>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5888736"/>
            <a:ext cx="10561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E8896"/>
                </a:solidFill>
                <a:latin typeface="Microsoft YaHei"/>
                <a:ea typeface="Microsoft YaHei"/>
              </a:rPr>
              <a:t>提示：先证 </a:t>
            </a:r>
            <a:r>
              <a:rPr sz="1000" b="0" i="1">
                <a:solidFill>
                  <a:srgbClr val="7E8896"/>
                </a:solidFill>
                <a:latin typeface="Microsoft YaHei"/>
                <a:ea typeface="Microsoft YaHei"/>
              </a:rPr>
              <a:t>P</a:t>
            </a:r>
            <a:r>
              <a:rPr sz="1000" b="0" i="1" baseline="-25000">
                <a:solidFill>
                  <a:srgbClr val="7E8896"/>
                </a:solidFill>
                <a:latin typeface="Microsoft YaHei"/>
                <a:ea typeface="Microsoft YaHei"/>
              </a:rPr>
              <a:t>n</a:t>
            </a:r>
            <a:r>
              <a:rPr sz="1000" b="0" i="0">
                <a:solidFill>
                  <a:srgbClr val="7E8896"/>
                </a:solidFill>
                <a:latin typeface="Microsoft YaHei"/>
                <a:ea typeface="Microsoft YaHei"/>
              </a:rPr>
              <a:t> 都在右支上，后面才敢作除法．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" y="502920"/>
            <a:ext cx="100584" cy="100584"/>
          </a:xfrm>
          <a:prstGeom prst="rect">
            <a:avLst/>
          </a:prstGeom>
          <a:solidFill>
            <a:srgbClr val="BA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3891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A8A3A"/>
                </a:solidFill>
                <a:latin typeface="Microsoft YaHei"/>
                <a:ea typeface="Microsoft YaHei"/>
              </a:rPr>
              <a:t>第 (1) (2) 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38912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896"/>
                </a:solidFill>
                <a:latin typeface="Microsoft YaHei"/>
                <a:ea typeface="Microsoft YaHei"/>
              </a:rPr>
              <a:t>03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3152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1C2A"/>
                </a:solidFill>
                <a:latin typeface="Microsoft YaHei"/>
                <a:ea typeface="Microsoft YaHei"/>
              </a:rPr>
              <a:t>先算出来，再证明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" y="1389888"/>
            <a:ext cx="566928" cy="41148"/>
          </a:xfrm>
          <a:prstGeom prst="rect">
            <a:avLst/>
          </a:prstGeom>
          <a:solidFill>
            <a:srgbClr val="BA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" y="6336792"/>
            <a:ext cx="10561320" cy="7315"/>
          </a:xfrm>
          <a:prstGeom prst="rect">
            <a:avLst/>
          </a:prstGeom>
          <a:solidFill>
            <a:srgbClr val="E6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64465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896"/>
                </a:solidFill>
                <a:latin typeface="Microsoft YaHei"/>
                <a:ea typeface="Microsoft YaHei"/>
              </a:rPr>
              <a:t>2024 新课标 Ⅱ 卷 · 第 19 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1627632"/>
            <a:ext cx="5074920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179222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A8A3A"/>
                </a:solidFill>
                <a:latin typeface="Microsoft YaHei"/>
                <a:ea typeface="Microsoft YaHei"/>
              </a:rPr>
              <a:t>(1)　k = 1/2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2121408"/>
            <a:ext cx="4626864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121C2A"/>
                </a:solidFill>
                <a:latin typeface="Microsoft YaHei"/>
                <a:ea typeface="Microsoft YaHei"/>
              </a:rPr>
              <a:t>y</a:t>
            </a:r>
            <a:r>
              <a:rPr sz="1400" b="0" i="0">
                <a:solidFill>
                  <a:srgbClr val="121C2A"/>
                </a:solidFill>
                <a:latin typeface="Microsoft YaHei"/>
                <a:ea typeface="Microsoft YaHei"/>
              </a:rPr>
              <a:t> = (</a:t>
            </a:r>
            <a:r>
              <a:rPr sz="1400" b="0" i="1">
                <a:solidFill>
                  <a:srgbClr val="121C2A"/>
                </a:solidFill>
                <a:latin typeface="Microsoft YaHei"/>
                <a:ea typeface="Microsoft YaHei"/>
              </a:rPr>
              <a:t>x</a:t>
            </a:r>
            <a:r>
              <a:rPr sz="1400" b="0" i="0">
                <a:solidFill>
                  <a:srgbClr val="121C2A"/>
                </a:solidFill>
                <a:latin typeface="Microsoft YaHei"/>
                <a:ea typeface="Microsoft YaHei"/>
              </a:rPr>
              <a:t> + 3)/2　代入　</a:t>
            </a:r>
            <a:r>
              <a:rPr sz="1400" b="0" i="1">
                <a:solidFill>
                  <a:srgbClr val="121C2A"/>
                </a:solidFill>
                <a:latin typeface="Microsoft YaHei"/>
                <a:ea typeface="Microsoft YaHei"/>
              </a:rPr>
              <a:t>x</a:t>
            </a:r>
            <a:r>
              <a:rPr sz="1400" b="0" i="0" baseline="30000">
                <a:solidFill>
                  <a:srgbClr val="121C2A"/>
                </a:solidFill>
                <a:latin typeface="Microsoft YaHei"/>
                <a:ea typeface="Microsoft YaHei"/>
              </a:rPr>
              <a:t>2</a:t>
            </a:r>
            <a:r>
              <a:rPr sz="1400" b="0" i="0">
                <a:solidFill>
                  <a:srgbClr val="121C2A"/>
                </a:solidFill>
                <a:latin typeface="Microsoft YaHei"/>
                <a:ea typeface="Microsoft YaHei"/>
              </a:rPr>
              <a:t> − </a:t>
            </a:r>
            <a:r>
              <a:rPr sz="1400" b="0" i="1">
                <a:solidFill>
                  <a:srgbClr val="121C2A"/>
                </a:solidFill>
                <a:latin typeface="Microsoft YaHei"/>
                <a:ea typeface="Microsoft YaHei"/>
              </a:rPr>
              <a:t>y</a:t>
            </a:r>
            <a:r>
              <a:rPr sz="1400" b="0" i="0" baseline="30000">
                <a:solidFill>
                  <a:srgbClr val="121C2A"/>
                </a:solidFill>
                <a:latin typeface="Microsoft YaHei"/>
                <a:ea typeface="Microsoft YaHei"/>
              </a:rPr>
              <a:t>2</a:t>
            </a:r>
            <a:r>
              <a:rPr sz="1400" b="0" i="0">
                <a:solidFill>
                  <a:srgbClr val="121C2A"/>
                </a:solidFill>
                <a:latin typeface="Microsoft YaHei"/>
                <a:ea typeface="Microsoft YaHei"/>
              </a:rPr>
              <a:t> = 9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x</a:t>
            </a:r>
            <a:r>
              <a:rPr sz="1500" b="0" i="0" baseline="30000">
                <a:solidFill>
                  <a:srgbClr val="121C2A"/>
                </a:solidFill>
                <a:latin typeface="Microsoft YaHei"/>
                <a:ea typeface="Microsoft YaHei"/>
              </a:rPr>
              <a:t>2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 − 2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x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 − 15 = 0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0" i="1">
                <a:solidFill>
                  <a:srgbClr val="121C2A"/>
                </a:solidFill>
                <a:latin typeface="Microsoft YaHei"/>
                <a:ea typeface="Microsoft YaHei"/>
              </a:rPr>
              <a:t>x</a:t>
            </a:r>
            <a:r>
              <a:rPr sz="1400" b="0" i="0">
                <a:solidFill>
                  <a:srgbClr val="121C2A"/>
                </a:solidFill>
                <a:latin typeface="Microsoft YaHei"/>
                <a:ea typeface="Microsoft YaHei"/>
              </a:rPr>
              <a:t> = −3　⇒　</a:t>
            </a:r>
            <a:r>
              <a:rPr sz="1400" b="0" i="1">
                <a:solidFill>
                  <a:srgbClr val="121C2A"/>
                </a:solidFill>
                <a:latin typeface="Microsoft YaHei"/>
                <a:ea typeface="Microsoft YaHei"/>
              </a:rPr>
              <a:t>Q</a:t>
            </a:r>
            <a:r>
              <a:rPr sz="14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1</a:t>
            </a:r>
            <a:r>
              <a:rPr sz="1400" b="0" i="0">
                <a:solidFill>
                  <a:srgbClr val="121C2A"/>
                </a:solidFill>
                <a:latin typeface="Microsoft YaHei"/>
                <a:ea typeface="Microsoft YaHei"/>
              </a:rPr>
              <a:t>(−3, 0)　⇒　</a:t>
            </a:r>
            <a:r>
              <a:rPr sz="1400" b="0" i="1">
                <a:solidFill>
                  <a:srgbClr val="121C2A"/>
                </a:solidFill>
                <a:latin typeface="Microsoft YaHei"/>
                <a:ea typeface="Microsoft YaHei"/>
              </a:rPr>
              <a:t>P</a:t>
            </a:r>
            <a:r>
              <a:rPr sz="14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2</a:t>
            </a:r>
            <a:r>
              <a:rPr sz="1400" b="0" i="0">
                <a:solidFill>
                  <a:srgbClr val="121C2A"/>
                </a:solidFill>
                <a:latin typeface="Microsoft YaHei"/>
                <a:ea typeface="Microsoft YaHei"/>
              </a:rPr>
              <a:t>(3, 0)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2415" y="4224528"/>
            <a:ext cx="4626864" cy="1170432"/>
          </a:xfrm>
          <a:prstGeom prst="roundRect">
            <a:avLst>
              <a:gd name="adj" fmla="val 6000"/>
            </a:avLst>
          </a:prstGeom>
          <a:solidFill>
            <a:srgbClr val="FAF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4370832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A8A3A"/>
                </a:solidFill>
                <a:latin typeface="Microsoft YaHei"/>
                <a:ea typeface="Microsoft YaHei"/>
              </a:rPr>
              <a:t>答案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590288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21C2A"/>
                </a:solidFill>
                <a:latin typeface="Microsoft YaHei"/>
                <a:ea typeface="Microsoft YaHei"/>
              </a:rPr>
              <a:t>x</a:t>
            </a:r>
            <a:r>
              <a:rPr sz="24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2</a:t>
            </a:r>
            <a:r>
              <a:rPr sz="2400" b="0" i="0">
                <a:solidFill>
                  <a:srgbClr val="121C2A"/>
                </a:solidFill>
                <a:latin typeface="Microsoft YaHei"/>
                <a:ea typeface="Microsoft YaHei"/>
              </a:rPr>
              <a:t> = 3，</a:t>
            </a:r>
            <a:r>
              <a:rPr sz="2400" b="0" i="1">
                <a:solidFill>
                  <a:srgbClr val="121C2A"/>
                </a:solidFill>
                <a:latin typeface="Microsoft YaHei"/>
                <a:ea typeface="Microsoft YaHei"/>
              </a:rPr>
              <a:t>y</a:t>
            </a:r>
            <a:r>
              <a:rPr sz="24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2</a:t>
            </a:r>
            <a:r>
              <a:rPr sz="2400" b="0" i="0">
                <a:solidFill>
                  <a:srgbClr val="121C2A"/>
                </a:solidFill>
                <a:latin typeface="Microsoft YaHei"/>
                <a:ea typeface="Microsoft YaHei"/>
              </a:rPr>
              <a:t> =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0216" y="1627632"/>
            <a:ext cx="5074920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179222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A8A3A"/>
                </a:solidFill>
                <a:latin typeface="Microsoft YaHei"/>
                <a:ea typeface="Microsoft YaHei"/>
              </a:rPr>
              <a:t>(2)　点差法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139696"/>
            <a:ext cx="4626864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E8896"/>
                </a:solidFill>
                <a:latin typeface="Microsoft YaHei"/>
                <a:ea typeface="Microsoft YaHei"/>
              </a:rPr>
              <a:t>把“在直线上”和“在双曲线上”各写一遍，再相减：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28816" y="2670048"/>
            <a:ext cx="32004" cy="1207008"/>
          </a:xfrm>
          <a:prstGeom prst="rect">
            <a:avLst/>
          </a:prstGeom>
          <a:solidFill>
            <a:srgbClr val="BA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2688336"/>
            <a:ext cx="440740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(1 − 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k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)(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x</a:t>
            </a:r>
            <a:r>
              <a:rPr sz="15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 − 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y</a:t>
            </a:r>
            <a:r>
              <a:rPr sz="15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= (1 + 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k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)(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x</a:t>
            </a:r>
            <a:r>
              <a:rPr sz="15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5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−1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 − </a:t>
            </a:r>
            <a:r>
              <a:rPr sz="1500" b="0" i="1">
                <a:solidFill>
                  <a:srgbClr val="121C2A"/>
                </a:solidFill>
                <a:latin typeface="Microsoft YaHei"/>
                <a:ea typeface="Microsoft YaHei"/>
              </a:rPr>
              <a:t>y</a:t>
            </a:r>
            <a:r>
              <a:rPr sz="15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5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−1</a:t>
            </a:r>
            <a:r>
              <a:rPr sz="1500" b="0" i="0">
                <a:solidFill>
                  <a:srgbClr val="121C2A"/>
                </a:solidFill>
                <a:latin typeface="Microsoft YaHei"/>
                <a:ea typeface="Microsoft YaHei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4041648"/>
            <a:ext cx="462686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E8896"/>
                </a:solidFill>
                <a:latin typeface="Microsoft YaHei"/>
                <a:ea typeface="Microsoft YaHei"/>
              </a:rPr>
              <a:t>于是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4315968"/>
            <a:ext cx="462686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21C2A"/>
                </a:solidFill>
                <a:latin typeface="Microsoft YaHei"/>
                <a:ea typeface="Microsoft YaHei"/>
              </a:rPr>
              <a:t>公比　</a:t>
            </a:r>
            <a:r>
              <a:rPr sz="2100" b="0" i="1">
                <a:solidFill>
                  <a:srgbClr val="121C2A"/>
                </a:solidFill>
                <a:latin typeface="Microsoft YaHei"/>
                <a:ea typeface="Microsoft YaHei"/>
              </a:rPr>
              <a:t>t</a:t>
            </a:r>
            <a:r>
              <a:rPr sz="2100" b="0" i="0">
                <a:solidFill>
                  <a:srgbClr val="121C2A"/>
                </a:solidFill>
                <a:latin typeface="Microsoft YaHei"/>
                <a:ea typeface="Microsoft YaHei"/>
              </a:rPr>
              <a:t> = (1 + </a:t>
            </a:r>
            <a:r>
              <a:rPr sz="2100" b="0" i="1">
                <a:solidFill>
                  <a:srgbClr val="121C2A"/>
                </a:solidFill>
                <a:latin typeface="Microsoft YaHei"/>
                <a:ea typeface="Microsoft YaHei"/>
              </a:rPr>
              <a:t>k</a:t>
            </a:r>
            <a:r>
              <a:rPr sz="2100" b="0" i="0">
                <a:solidFill>
                  <a:srgbClr val="121C2A"/>
                </a:solidFill>
                <a:latin typeface="Microsoft YaHei"/>
                <a:ea typeface="Microsoft YaHei"/>
              </a:rPr>
              <a:t>)/(1 − </a:t>
            </a:r>
            <a:r>
              <a:rPr sz="2100" b="0" i="1">
                <a:solidFill>
                  <a:srgbClr val="121C2A"/>
                </a:solidFill>
                <a:latin typeface="Microsoft YaHei"/>
                <a:ea typeface="Microsoft YaHei"/>
              </a:rPr>
              <a:t>k</a:t>
            </a:r>
            <a:r>
              <a:rPr sz="2100" b="0" i="0">
                <a:solidFill>
                  <a:srgbClr val="121C2A"/>
                </a:solidFill>
                <a:latin typeface="Microsoft YaHei"/>
                <a:ea typeface="Microsoft YaHei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4974336"/>
            <a:ext cx="462686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E8896"/>
                </a:solidFill>
                <a:latin typeface="Microsoft YaHei"/>
                <a:ea typeface="Microsoft YaHei"/>
              </a:rPr>
              <a:t>首项 </a:t>
            </a:r>
            <a:r>
              <a:rPr sz="1100" b="0" i="1">
                <a:solidFill>
                  <a:srgbClr val="7E8896"/>
                </a:solidFill>
                <a:latin typeface="Microsoft YaHei"/>
                <a:ea typeface="Microsoft YaHei"/>
              </a:rPr>
              <a:t>x</a:t>
            </a:r>
            <a:r>
              <a:rPr sz="1100" b="0" i="0" baseline="-25000">
                <a:solidFill>
                  <a:srgbClr val="7E8896"/>
                </a:solidFill>
                <a:latin typeface="Microsoft YaHei"/>
                <a:ea typeface="Microsoft YaHei"/>
              </a:rPr>
              <a:t>1</a:t>
            </a:r>
            <a:r>
              <a:rPr sz="1100" b="0" i="0">
                <a:solidFill>
                  <a:srgbClr val="7E8896"/>
                </a:solidFill>
                <a:latin typeface="Microsoft YaHei"/>
                <a:ea typeface="Microsoft YaHei"/>
              </a:rPr>
              <a:t> − </a:t>
            </a:r>
            <a:r>
              <a:rPr sz="1100" b="0" i="1">
                <a:solidFill>
                  <a:srgbClr val="7E8896"/>
                </a:solidFill>
                <a:latin typeface="Microsoft YaHei"/>
                <a:ea typeface="Microsoft YaHei"/>
              </a:rPr>
              <a:t>y</a:t>
            </a:r>
            <a:r>
              <a:rPr sz="1100" b="0" i="0" baseline="-25000">
                <a:solidFill>
                  <a:srgbClr val="7E8896"/>
                </a:solidFill>
                <a:latin typeface="Microsoft YaHei"/>
                <a:ea typeface="Microsoft YaHei"/>
              </a:rPr>
              <a:t>1</a:t>
            </a:r>
            <a:r>
              <a:rPr sz="1100" b="0" i="0">
                <a:solidFill>
                  <a:srgbClr val="7E8896"/>
                </a:solidFill>
                <a:latin typeface="Microsoft YaHei"/>
                <a:ea typeface="Microsoft YaHei"/>
              </a:rPr>
              <a:t> = 1 ≠ 0，故为等比数列．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" y="502920"/>
            <a:ext cx="100584" cy="100584"/>
          </a:xfrm>
          <a:prstGeom prst="rect">
            <a:avLst/>
          </a:prstGeom>
          <a:solidFill>
            <a:srgbClr val="BA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3891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A8A3A"/>
                </a:solidFill>
                <a:latin typeface="Microsoft YaHei"/>
                <a:ea typeface="Microsoft YaHei"/>
              </a:rPr>
              <a:t>第 (3) 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438912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896"/>
                </a:solidFill>
                <a:latin typeface="Microsoft YaHei"/>
                <a:ea typeface="Microsoft YaHei"/>
              </a:rPr>
              <a:t>04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73152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21C2A"/>
                </a:solidFill>
                <a:latin typeface="Microsoft YaHei"/>
                <a:ea typeface="Microsoft YaHei"/>
              </a:rPr>
              <a:t>面积为什么不变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" y="1389888"/>
            <a:ext cx="566928" cy="41148"/>
          </a:xfrm>
          <a:prstGeom prst="rect">
            <a:avLst/>
          </a:prstGeom>
          <a:solidFill>
            <a:srgbClr val="BA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" y="6336792"/>
            <a:ext cx="10561320" cy="7315"/>
          </a:xfrm>
          <a:prstGeom prst="rect">
            <a:avLst/>
          </a:prstGeom>
          <a:solidFill>
            <a:srgbClr val="E6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64465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E8896"/>
                </a:solidFill>
                <a:latin typeface="Microsoft YaHei"/>
                <a:ea typeface="Microsoft YaHei"/>
              </a:rPr>
              <a:t>2024 新课标 Ⅱ 卷 · 第 19 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1700784"/>
            <a:ext cx="3246120" cy="2615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" y="1975104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A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A8A3A"/>
                </a:solidFill>
                <a:latin typeface="Microsoft YaHei"/>
                <a:ea typeface="Microsoft YaHe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560320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C2A"/>
                </a:solidFill>
                <a:latin typeface="Microsoft YaHei"/>
                <a:ea typeface="Microsoft YaHei"/>
              </a:rPr>
              <a:t>等比结构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4712" y="2980944"/>
            <a:ext cx="365760" cy="32004"/>
          </a:xfrm>
          <a:prstGeom prst="rect">
            <a:avLst/>
          </a:prstGeom>
          <a:solidFill>
            <a:srgbClr val="BA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3182112"/>
            <a:ext cx="2624327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E8896"/>
                </a:solidFill>
                <a:latin typeface="Microsoft YaHei"/>
                <a:ea typeface="Microsoft YaHei"/>
              </a:rPr>
              <a:t>p</a:t>
            </a:r>
            <a:r>
              <a:rPr sz="1050" b="0" i="1" baseline="-25000">
                <a:solidFill>
                  <a:srgbClr val="7E8896"/>
                </a:solidFill>
                <a:latin typeface="Microsoft YaHei"/>
                <a:ea typeface="Microsoft YaHei"/>
              </a:rPr>
              <a:t>n</a:t>
            </a:r>
            <a:r>
              <a:rPr sz="1050" b="0" i="0">
                <a:solidFill>
                  <a:srgbClr val="7E8896"/>
                </a:solidFill>
                <a:latin typeface="Microsoft YaHei"/>
                <a:ea typeface="Microsoft YaHei"/>
              </a:rPr>
              <a:t> = </a:t>
            </a:r>
            <a:r>
              <a:rPr sz="1050" b="0" i="1">
                <a:solidFill>
                  <a:srgbClr val="7E8896"/>
                </a:solidFill>
                <a:latin typeface="Microsoft YaHei"/>
                <a:ea typeface="Microsoft YaHei"/>
              </a:rPr>
              <a:t>x</a:t>
            </a:r>
            <a:r>
              <a:rPr sz="1050" b="0" i="1" baseline="-25000">
                <a:solidFill>
                  <a:srgbClr val="7E8896"/>
                </a:solidFill>
                <a:latin typeface="Microsoft YaHei"/>
                <a:ea typeface="Microsoft YaHei"/>
              </a:rPr>
              <a:t>n</a:t>
            </a:r>
            <a:r>
              <a:rPr sz="1050" b="0" i="0">
                <a:solidFill>
                  <a:srgbClr val="7E8896"/>
                </a:solidFill>
                <a:latin typeface="Microsoft YaHei"/>
                <a:ea typeface="Microsoft YaHei"/>
              </a:rPr>
              <a:t> − </a:t>
            </a:r>
            <a:r>
              <a:rPr sz="1050" b="0" i="1">
                <a:solidFill>
                  <a:srgbClr val="7E8896"/>
                </a:solidFill>
                <a:latin typeface="Microsoft YaHei"/>
                <a:ea typeface="Microsoft YaHei"/>
              </a:rPr>
              <a:t>y</a:t>
            </a:r>
            <a:r>
              <a:rPr sz="1050" b="0" i="1" baseline="-25000">
                <a:solidFill>
                  <a:srgbClr val="7E8896"/>
                </a:solidFill>
                <a:latin typeface="Microsoft YaHei"/>
                <a:ea typeface="Microsoft YaHei"/>
              </a:rPr>
              <a:t>n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1">
                <a:solidFill>
                  <a:srgbClr val="121C2A"/>
                </a:solidFill>
                <a:latin typeface="Microsoft YaHei"/>
                <a:ea typeface="Microsoft YaHei"/>
              </a:rPr>
              <a:t>p</a:t>
            </a:r>
            <a:r>
              <a:rPr sz="13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300" b="0" i="0">
                <a:solidFill>
                  <a:srgbClr val="121C2A"/>
                </a:solidFill>
                <a:latin typeface="Microsoft YaHei"/>
                <a:ea typeface="Microsoft YaHei"/>
              </a:rPr>
              <a:t>·</a:t>
            </a:r>
            <a:r>
              <a:rPr sz="1300" b="0" i="1">
                <a:solidFill>
                  <a:srgbClr val="121C2A"/>
                </a:solidFill>
                <a:latin typeface="Microsoft YaHei"/>
                <a:ea typeface="Microsoft YaHei"/>
              </a:rPr>
              <a:t>p</a:t>
            </a:r>
            <a:r>
              <a:rPr sz="13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3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+3</a:t>
            </a:r>
            <a:r>
              <a:rPr sz="1300" b="0" i="0">
                <a:solidFill>
                  <a:srgbClr val="121C2A"/>
                </a:solidFill>
                <a:latin typeface="Microsoft YaHei"/>
                <a:ea typeface="Microsoft YaHei"/>
              </a:rPr>
              <a:t> = </a:t>
            </a:r>
            <a:r>
              <a:rPr sz="1300" b="0" i="1">
                <a:solidFill>
                  <a:srgbClr val="121C2A"/>
                </a:solidFill>
                <a:latin typeface="Microsoft YaHei"/>
                <a:ea typeface="Microsoft YaHei"/>
              </a:rPr>
              <a:t>p</a:t>
            </a:r>
            <a:r>
              <a:rPr sz="13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3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+1</a:t>
            </a:r>
            <a:r>
              <a:rPr sz="1300" b="0" i="0">
                <a:solidFill>
                  <a:srgbClr val="121C2A"/>
                </a:solidFill>
                <a:latin typeface="Microsoft YaHei"/>
                <a:ea typeface="Microsoft YaHei"/>
              </a:rPr>
              <a:t>·</a:t>
            </a:r>
            <a:r>
              <a:rPr sz="1300" b="0" i="1">
                <a:solidFill>
                  <a:srgbClr val="121C2A"/>
                </a:solidFill>
                <a:latin typeface="Microsoft YaHei"/>
                <a:ea typeface="Microsoft YaHei"/>
              </a:rPr>
              <a:t>p</a:t>
            </a:r>
            <a:r>
              <a:rPr sz="13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3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+2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1700784"/>
            <a:ext cx="3246120" cy="2615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82312" y="1975104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A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A8A3A"/>
                </a:solidFill>
                <a:latin typeface="Microsoft YaHei"/>
                <a:ea typeface="Microsoft YaHei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560320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C2A"/>
                </a:solidFill>
                <a:latin typeface="Microsoft YaHei"/>
                <a:ea typeface="Microsoft YaHei"/>
              </a:rPr>
              <a:t>两弦平行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82312" y="2980944"/>
            <a:ext cx="365760" cy="32004"/>
          </a:xfrm>
          <a:prstGeom prst="rect">
            <a:avLst/>
          </a:prstGeom>
          <a:solidFill>
            <a:srgbClr val="BA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3182112"/>
            <a:ext cx="2624327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E8896"/>
                </a:solidFill>
                <a:latin typeface="Microsoft YaHei"/>
                <a:ea typeface="Microsoft YaHei"/>
              </a:rPr>
              <a:t>p</a:t>
            </a:r>
            <a:r>
              <a:rPr sz="1050" b="0" i="1">
                <a:solidFill>
                  <a:srgbClr val="7E8896"/>
                </a:solidFill>
                <a:latin typeface="Microsoft YaHei"/>
                <a:ea typeface="Microsoft YaHei"/>
              </a:rPr>
              <a:t>q</a:t>
            </a:r>
            <a:r>
              <a:rPr sz="1050" b="0" i="0">
                <a:solidFill>
                  <a:srgbClr val="7E8896"/>
                </a:solidFill>
                <a:latin typeface="Microsoft YaHei"/>
                <a:ea typeface="Microsoft YaHei"/>
              </a:rPr>
              <a:t> 相同 ⇒ 方向相同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1">
                <a:solidFill>
                  <a:srgbClr val="121C2A"/>
                </a:solidFill>
                <a:latin typeface="Microsoft YaHei"/>
                <a:ea typeface="Microsoft YaHei"/>
              </a:rPr>
              <a:t>P</a:t>
            </a:r>
            <a:r>
              <a:rPr sz="13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300" b="0" i="1">
                <a:solidFill>
                  <a:srgbClr val="121C2A"/>
                </a:solidFill>
                <a:latin typeface="Microsoft YaHei"/>
                <a:ea typeface="Microsoft YaHei"/>
              </a:rPr>
              <a:t>P</a:t>
            </a:r>
            <a:r>
              <a:rPr sz="13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3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+3</a:t>
            </a:r>
            <a:r>
              <a:rPr sz="1300" b="0" i="0">
                <a:solidFill>
                  <a:srgbClr val="121C2A"/>
                </a:solidFill>
                <a:latin typeface="Microsoft YaHei"/>
                <a:ea typeface="Microsoft YaHei"/>
              </a:rPr>
              <a:t> ∥ </a:t>
            </a:r>
            <a:r>
              <a:rPr sz="1300" b="0" i="1">
                <a:solidFill>
                  <a:srgbClr val="121C2A"/>
                </a:solidFill>
                <a:latin typeface="Microsoft YaHei"/>
                <a:ea typeface="Microsoft YaHei"/>
              </a:rPr>
              <a:t>P</a:t>
            </a:r>
            <a:r>
              <a:rPr sz="13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3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+1</a:t>
            </a:r>
            <a:r>
              <a:rPr sz="1300" b="0" i="1">
                <a:solidFill>
                  <a:srgbClr val="121C2A"/>
                </a:solidFill>
                <a:latin typeface="Microsoft YaHei"/>
                <a:ea typeface="Microsoft YaHei"/>
              </a:rPr>
              <a:t>P</a:t>
            </a:r>
            <a:r>
              <a:rPr sz="13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3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+2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9016" y="1700784"/>
            <a:ext cx="3246120" cy="2615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39912" y="1975104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A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A8A3A"/>
                </a:solidFill>
                <a:latin typeface="Microsoft YaHei"/>
                <a:ea typeface="Microsoft YaHei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2560320"/>
            <a:ext cx="2624327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C2A"/>
                </a:solidFill>
                <a:latin typeface="Microsoft YaHei"/>
                <a:ea typeface="Microsoft YaHei"/>
              </a:rPr>
              <a:t>同底等高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9912" y="2980944"/>
            <a:ext cx="365760" cy="32004"/>
          </a:xfrm>
          <a:prstGeom prst="rect">
            <a:avLst/>
          </a:prstGeom>
          <a:solidFill>
            <a:srgbClr val="BA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3182112"/>
            <a:ext cx="2624327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E8896"/>
                </a:solidFill>
                <a:latin typeface="Microsoft YaHei"/>
                <a:ea typeface="Microsoft YaHei"/>
              </a:rPr>
              <a:t>共用底边 </a:t>
            </a:r>
            <a:r>
              <a:rPr sz="1050" b="0" i="1">
                <a:solidFill>
                  <a:srgbClr val="7E8896"/>
                </a:solidFill>
                <a:latin typeface="Microsoft YaHei"/>
                <a:ea typeface="Microsoft YaHei"/>
              </a:rPr>
              <a:t>P</a:t>
            </a:r>
            <a:r>
              <a:rPr sz="1050" b="0" i="1" baseline="-25000">
                <a:solidFill>
                  <a:srgbClr val="7E8896"/>
                </a:solidFill>
                <a:latin typeface="Microsoft YaHei"/>
                <a:ea typeface="Microsoft YaHei"/>
              </a:rPr>
              <a:t>n</a:t>
            </a:r>
            <a:r>
              <a:rPr sz="1050" b="0" i="0" baseline="-25000">
                <a:solidFill>
                  <a:srgbClr val="7E8896"/>
                </a:solidFill>
                <a:latin typeface="Microsoft YaHei"/>
                <a:ea typeface="Microsoft YaHei"/>
              </a:rPr>
              <a:t>+1</a:t>
            </a:r>
            <a:r>
              <a:rPr sz="1050" b="0" i="1">
                <a:solidFill>
                  <a:srgbClr val="7E8896"/>
                </a:solidFill>
                <a:latin typeface="Microsoft YaHei"/>
                <a:ea typeface="Microsoft YaHei"/>
              </a:rPr>
              <a:t>P</a:t>
            </a:r>
            <a:r>
              <a:rPr sz="1050" b="0" i="1" baseline="-25000">
                <a:solidFill>
                  <a:srgbClr val="7E8896"/>
                </a:solidFill>
                <a:latin typeface="Microsoft YaHei"/>
                <a:ea typeface="Microsoft YaHei"/>
              </a:rPr>
              <a:t>n</a:t>
            </a:r>
            <a:r>
              <a:rPr sz="1050" b="0" i="0" baseline="-25000">
                <a:solidFill>
                  <a:srgbClr val="7E8896"/>
                </a:solidFill>
                <a:latin typeface="Microsoft YaHei"/>
                <a:ea typeface="Microsoft YaHei"/>
              </a:rPr>
              <a:t>+2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1">
                <a:solidFill>
                  <a:srgbClr val="121C2A"/>
                </a:solidFill>
                <a:latin typeface="Microsoft YaHei"/>
                <a:ea typeface="Microsoft YaHei"/>
              </a:rPr>
              <a:t>S</a:t>
            </a:r>
            <a:r>
              <a:rPr sz="13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300" b="0" i="0">
                <a:solidFill>
                  <a:srgbClr val="121C2A"/>
                </a:solidFill>
                <a:latin typeface="Microsoft YaHei"/>
                <a:ea typeface="Microsoft YaHei"/>
              </a:rPr>
              <a:t> = </a:t>
            </a:r>
            <a:r>
              <a:rPr sz="1300" b="0" i="1">
                <a:solidFill>
                  <a:srgbClr val="121C2A"/>
                </a:solidFill>
                <a:latin typeface="Microsoft YaHei"/>
                <a:ea typeface="Microsoft YaHei"/>
              </a:rPr>
              <a:t>S</a:t>
            </a:r>
            <a:r>
              <a:rPr sz="1300" b="0" i="1" baseline="-25000">
                <a:solidFill>
                  <a:srgbClr val="121C2A"/>
                </a:solidFill>
                <a:latin typeface="Microsoft YaHei"/>
                <a:ea typeface="Microsoft YaHei"/>
              </a:rPr>
              <a:t>n</a:t>
            </a:r>
            <a:r>
              <a:rPr sz="1300" b="0" i="0" baseline="-25000">
                <a:solidFill>
                  <a:srgbClr val="121C2A"/>
                </a:solidFill>
                <a:latin typeface="Microsoft YaHei"/>
                <a:ea typeface="Microsoft YaHei"/>
              </a:rPr>
              <a:t>+1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" y="4626864"/>
            <a:ext cx="10561320" cy="841248"/>
          </a:xfrm>
          <a:prstGeom prst="roundRect">
            <a:avLst>
              <a:gd name="adj" fmla="val 6000"/>
            </a:avLst>
          </a:prstGeom>
          <a:solidFill>
            <a:srgbClr val="FAF3E5"/>
          </a:solidFill>
          <a:ln w="9525">
            <a:solidFill>
              <a:srgbClr val="E6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5" y="4773168"/>
            <a:ext cx="1010412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21C2A"/>
                </a:solidFill>
                <a:latin typeface="Microsoft YaHei"/>
                <a:ea typeface="Microsoft YaHei"/>
              </a:rPr>
              <a:t>两个三角形共用底边，第三个顶点在同一条平行线上 —— 底相同、高相同，面积自然相同．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5760720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E8896"/>
                </a:solidFill>
                <a:latin typeface="Microsoft YaHei"/>
                <a:ea typeface="Microsoft YaHei"/>
              </a:rPr>
              <a:t>（顺便：</a:t>
            </a:r>
            <a:r>
              <a:rPr sz="950" b="0" i="1">
                <a:solidFill>
                  <a:srgbClr val="7E8896"/>
                </a:solidFill>
                <a:latin typeface="Microsoft YaHei"/>
                <a:ea typeface="Microsoft YaHei"/>
              </a:rPr>
              <a:t>p</a:t>
            </a:r>
            <a:r>
              <a:rPr sz="950" b="0" i="1" baseline="-25000">
                <a:solidFill>
                  <a:srgbClr val="7E8896"/>
                </a:solidFill>
                <a:latin typeface="Microsoft YaHei"/>
                <a:ea typeface="Microsoft YaHei"/>
              </a:rPr>
              <a:t>n</a:t>
            </a:r>
            <a:r>
              <a:rPr sz="950" b="0" i="1">
                <a:solidFill>
                  <a:srgbClr val="7E8896"/>
                </a:solidFill>
                <a:latin typeface="Microsoft YaHei"/>
                <a:ea typeface="Microsoft YaHei"/>
              </a:rPr>
              <a:t>p</a:t>
            </a:r>
            <a:r>
              <a:rPr sz="950" b="0" i="1" baseline="-25000">
                <a:solidFill>
                  <a:srgbClr val="7E8896"/>
                </a:solidFill>
                <a:latin typeface="Microsoft YaHei"/>
                <a:ea typeface="Microsoft YaHei"/>
              </a:rPr>
              <a:t>n</a:t>
            </a:r>
            <a:r>
              <a:rPr sz="950" b="0" i="0" baseline="-25000">
                <a:solidFill>
                  <a:srgbClr val="7E8896"/>
                </a:solidFill>
                <a:latin typeface="Microsoft YaHei"/>
                <a:ea typeface="Microsoft YaHei"/>
              </a:rPr>
              <a:t>+1</a:t>
            </a:r>
            <a:r>
              <a:rPr sz="950" b="0" i="0">
                <a:solidFill>
                  <a:srgbClr val="7E8896"/>
                </a:solidFill>
                <a:latin typeface="Microsoft YaHei"/>
                <a:ea typeface="Microsoft YaHei"/>
              </a:rPr>
              <a:t> ≠ </a:t>
            </a:r>
            <a:r>
              <a:rPr sz="950" b="0" i="1">
                <a:solidFill>
                  <a:srgbClr val="7E8896"/>
                </a:solidFill>
                <a:latin typeface="Microsoft YaHei"/>
                <a:ea typeface="Microsoft YaHei"/>
              </a:rPr>
              <a:t>p</a:t>
            </a:r>
            <a:r>
              <a:rPr sz="950" b="0" i="1" baseline="-25000">
                <a:solidFill>
                  <a:srgbClr val="7E8896"/>
                </a:solidFill>
                <a:latin typeface="Microsoft YaHei"/>
                <a:ea typeface="Microsoft YaHei"/>
              </a:rPr>
              <a:t>n</a:t>
            </a:r>
            <a:r>
              <a:rPr sz="950" b="0" i="1">
                <a:solidFill>
                  <a:srgbClr val="7E8896"/>
                </a:solidFill>
                <a:latin typeface="Microsoft YaHei"/>
                <a:ea typeface="Microsoft YaHei"/>
              </a:rPr>
              <a:t>p</a:t>
            </a:r>
            <a:r>
              <a:rPr sz="950" b="0" i="1" baseline="-25000">
                <a:solidFill>
                  <a:srgbClr val="7E8896"/>
                </a:solidFill>
                <a:latin typeface="Microsoft YaHei"/>
                <a:ea typeface="Microsoft YaHei"/>
              </a:rPr>
              <a:t>n</a:t>
            </a:r>
            <a:r>
              <a:rPr sz="950" b="0" i="0" baseline="-25000">
                <a:solidFill>
                  <a:srgbClr val="7E8896"/>
                </a:solidFill>
                <a:latin typeface="Microsoft YaHei"/>
                <a:ea typeface="Microsoft YaHei"/>
              </a:rPr>
              <a:t>+2</a:t>
            </a:r>
            <a:r>
              <a:rPr sz="950" b="0" i="0">
                <a:solidFill>
                  <a:srgbClr val="7E8896"/>
                </a:solidFill>
                <a:latin typeface="Microsoft YaHei"/>
                <a:ea typeface="Microsoft YaHei"/>
              </a:rPr>
              <a:t>，三点不共线，三角形不会退化．）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" y="2331720"/>
            <a:ext cx="41148" cy="1463040"/>
          </a:xfrm>
          <a:prstGeom prst="rect">
            <a:avLst/>
          </a:prstGeom>
          <a:solidFill>
            <a:srgbClr val="BA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22677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A8A3A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596896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1">
                <a:solidFill>
                  <a:srgbClr val="FFFFFF"/>
                </a:solidFill>
                <a:latin typeface="Microsoft YaHei"/>
                <a:ea typeface="Microsoft YaHei"/>
              </a:rPr>
              <a:t>S</a:t>
            </a:r>
            <a:r>
              <a:rPr sz="3600" b="0" i="1" baseline="-25000">
                <a:solidFill>
                  <a:srgbClr val="FFFFFF"/>
                </a:solidFill>
                <a:latin typeface="Microsoft YaHei"/>
                <a:ea typeface="Microsoft YaHei"/>
              </a:rPr>
              <a:t>n</a:t>
            </a:r>
            <a:r>
              <a:rPr sz="3600" b="0" i="0">
                <a:solidFill>
                  <a:srgbClr val="FFFFFF"/>
                </a:solidFill>
                <a:latin typeface="Microsoft YaHei"/>
                <a:ea typeface="Microsoft YaHei"/>
              </a:rPr>
              <a:t> = 36</a:t>
            </a:r>
            <a:r>
              <a:rPr sz="3600" b="0" i="1">
                <a:solidFill>
                  <a:srgbClr val="FFFFFF"/>
                </a:solidFill>
                <a:latin typeface="Microsoft YaHei"/>
                <a:ea typeface="Microsoft YaHei"/>
              </a:rPr>
              <a:t>k</a:t>
            </a:r>
            <a:r>
              <a:rPr sz="3600" b="0" i="0" baseline="3000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r>
              <a:rPr sz="3600" b="0" i="0">
                <a:solidFill>
                  <a:srgbClr val="FFFFFF"/>
                </a:solidFill>
                <a:latin typeface="Microsoft YaHei"/>
                <a:ea typeface="Microsoft YaHei"/>
              </a:rPr>
              <a:t> / (1 − </a:t>
            </a:r>
            <a:r>
              <a:rPr sz="3600" b="0" i="1">
                <a:solidFill>
                  <a:srgbClr val="FFFFFF"/>
                </a:solidFill>
                <a:latin typeface="Microsoft YaHei"/>
                <a:ea typeface="Microsoft YaHei"/>
              </a:rPr>
              <a:t>k</a:t>
            </a:r>
            <a:r>
              <a:rPr sz="3600" b="0" i="0" baseline="3000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r>
              <a:rPr sz="3600" b="0" i="0">
                <a:solidFill>
                  <a:srgbClr val="FFFFFF"/>
                </a:solidFill>
                <a:latin typeface="Microsoft YaHei"/>
                <a:ea typeface="Microsoft YaHei"/>
              </a:rPr>
              <a:t>)</a:t>
            </a:r>
            <a:r>
              <a:rPr sz="3600" b="0" i="0" baseline="3000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3621024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2CDDC"/>
                </a:solidFill>
                <a:latin typeface="Microsoft YaHei"/>
                <a:ea typeface="Microsoft YaHei"/>
              </a:rPr>
              <a:t>与 </a:t>
            </a:r>
            <a:r>
              <a:rPr sz="1400" b="0" i="1">
                <a:solidFill>
                  <a:srgbClr val="C2CDDC"/>
                </a:solidFill>
                <a:latin typeface="Microsoft YaHei"/>
                <a:ea typeface="Microsoft YaHei"/>
              </a:rPr>
              <a:t>n</a:t>
            </a:r>
            <a:r>
              <a:rPr sz="1400" b="0" i="0">
                <a:solidFill>
                  <a:srgbClr val="C2CDDC"/>
                </a:solidFill>
                <a:latin typeface="Microsoft YaHei"/>
                <a:ea typeface="Microsoft YaHei"/>
              </a:rPr>
              <a:t> 无关：每个 △</a:t>
            </a:r>
            <a:r>
              <a:rPr sz="1400" b="0" i="1">
                <a:solidFill>
                  <a:srgbClr val="C2CDDC"/>
                </a:solidFill>
                <a:latin typeface="Microsoft YaHei"/>
                <a:ea typeface="Microsoft YaHei"/>
              </a:rPr>
              <a:t>P</a:t>
            </a:r>
            <a:r>
              <a:rPr sz="1400" b="0" i="1" baseline="-25000">
                <a:solidFill>
                  <a:srgbClr val="C2CDDC"/>
                </a:solidFill>
                <a:latin typeface="Microsoft YaHei"/>
                <a:ea typeface="Microsoft YaHei"/>
              </a:rPr>
              <a:t>n</a:t>
            </a:r>
            <a:r>
              <a:rPr sz="1400" b="0" i="1">
                <a:solidFill>
                  <a:srgbClr val="C2CDDC"/>
                </a:solidFill>
                <a:latin typeface="Microsoft YaHei"/>
                <a:ea typeface="Microsoft YaHei"/>
              </a:rPr>
              <a:t>P</a:t>
            </a:r>
            <a:r>
              <a:rPr sz="1400" b="0" i="1" baseline="-25000">
                <a:solidFill>
                  <a:srgbClr val="C2CDDC"/>
                </a:solidFill>
                <a:latin typeface="Microsoft YaHei"/>
                <a:ea typeface="Microsoft YaHei"/>
              </a:rPr>
              <a:t>n</a:t>
            </a:r>
            <a:r>
              <a:rPr sz="1400" b="0" i="0" baseline="-25000">
                <a:solidFill>
                  <a:srgbClr val="C2CDDC"/>
                </a:solidFill>
                <a:latin typeface="Microsoft YaHei"/>
                <a:ea typeface="Microsoft YaHei"/>
              </a:rPr>
              <a:t>+1</a:t>
            </a:r>
            <a:r>
              <a:rPr sz="1400" b="0" i="1">
                <a:solidFill>
                  <a:srgbClr val="C2CDDC"/>
                </a:solidFill>
                <a:latin typeface="Microsoft YaHei"/>
                <a:ea typeface="Microsoft YaHei"/>
              </a:rPr>
              <a:t>P</a:t>
            </a:r>
            <a:r>
              <a:rPr sz="1400" b="0" i="1" baseline="-25000">
                <a:solidFill>
                  <a:srgbClr val="C2CDDC"/>
                </a:solidFill>
                <a:latin typeface="Microsoft YaHei"/>
                <a:ea typeface="Microsoft YaHei"/>
              </a:rPr>
              <a:t>n</a:t>
            </a:r>
            <a:r>
              <a:rPr sz="1400" b="0" i="0" baseline="-25000">
                <a:solidFill>
                  <a:srgbClr val="C2CDDC"/>
                </a:solidFill>
                <a:latin typeface="Microsoft YaHei"/>
                <a:ea typeface="Microsoft YaHei"/>
              </a:rPr>
              <a:t>+2</a:t>
            </a:r>
            <a:r>
              <a:rPr sz="1400" b="0" i="0">
                <a:solidFill>
                  <a:srgbClr val="C2CDDC"/>
                </a:solidFill>
                <a:latin typeface="Microsoft YaHei"/>
                <a:ea typeface="Microsoft YaHei"/>
              </a:rPr>
              <a:t> 的面积都一样．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5568" y="4663440"/>
            <a:ext cx="2377440" cy="7315"/>
          </a:xfrm>
          <a:prstGeom prst="rect">
            <a:avLst/>
          </a:prstGeom>
          <a:solidFill>
            <a:srgbClr val="3A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480974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97AA"/>
                </a:solidFill>
                <a:latin typeface="Microsoft YaHei"/>
                <a:ea typeface="Microsoft YaHei"/>
              </a:rPr>
              <a:t>k = 1/2 时，</a:t>
            </a:r>
            <a:r>
              <a:rPr sz="1050" b="0" i="1">
                <a:solidFill>
                  <a:srgbClr val="8A97AA"/>
                </a:solidFill>
                <a:latin typeface="Microsoft YaHei"/>
                <a:ea typeface="Microsoft YaHei"/>
              </a:rPr>
              <a:t>S</a:t>
            </a:r>
            <a:r>
              <a:rPr sz="1050" b="0" i="1" baseline="-25000">
                <a:solidFill>
                  <a:srgbClr val="8A97AA"/>
                </a:solidFill>
                <a:latin typeface="Microsoft YaHei"/>
                <a:ea typeface="Microsoft YaHei"/>
              </a:rPr>
              <a:t>n</a:t>
            </a:r>
            <a:r>
              <a:rPr sz="1050" b="0" i="0">
                <a:solidFill>
                  <a:srgbClr val="8A97AA"/>
                </a:solidFill>
                <a:latin typeface="Microsoft YaHei"/>
                <a:ea typeface="Microsoft YaHei"/>
              </a:rPr>
              <a:t> ≡ 8．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