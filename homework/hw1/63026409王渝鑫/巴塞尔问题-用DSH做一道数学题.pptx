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9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custDataLst>
    <p:tags r:id="rId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672"/>
            <p14:sldId id="696"/>
            <p14:sldId id="699"/>
            <p14:sldId id="673"/>
            <p14:sldId id="697"/>
            <p14:sldId id="682"/>
            <p14:sldId id="684"/>
            <p14:sldId id="559"/>
            <p14:sldId id="592"/>
            <p14:sldId id="544"/>
            <p14:sldId id="706"/>
            <p14:sldId id="674"/>
            <p14:sldId id="676"/>
            <p14:sldId id="560"/>
            <p14:sldId id="651"/>
            <p14:sldId id="547"/>
            <p14:sldId id="548"/>
            <p14:sldId id="549"/>
            <p14:sldId id="550"/>
            <p14:sldId id="692"/>
            <p14:sldId id="695"/>
            <p14:sldId id="571"/>
            <p14:sldId id="567"/>
            <p14:sldId id="569"/>
            <p14:sldId id="563"/>
            <p14:sldId id="564"/>
            <p14:sldId id="561"/>
            <p14:sldId id="690"/>
            <p14:sldId id="691"/>
            <p14:sldId id="562"/>
            <p14:sldId id="700"/>
            <p14:sldId id="573"/>
            <p14:sldId id="575"/>
            <p14:sldId id="576"/>
            <p14:sldId id="574"/>
            <p14:sldId id="653"/>
            <p14:sldId id="580"/>
            <p14:sldId id="581"/>
            <p14:sldId id="582"/>
            <p14:sldId id="587"/>
            <p14:sldId id="584"/>
            <p14:sldId id="585"/>
            <p14:sldId id="588"/>
            <p14:sldId id="586"/>
            <p14:sldId id="590"/>
            <p14:sldId id="675"/>
            <p14:sldId id="654"/>
            <p14:sldId id="656"/>
            <p14:sldId id="698"/>
          </p14:sldIdLst>
        </p14:section>
        <p14:section name="附录-素材" id="{3050140B-5B37-47BE-8423-F6A0577ED44C}">
          <p14:sldIdLst>
            <p14:sldId id="645"/>
            <p14:sldId id="262"/>
            <p14:sldId id="597"/>
            <p14:sldId id="598"/>
            <p14:sldId id="646"/>
            <p14:sldId id="705"/>
            <p14:sldId id="669"/>
            <p14:sldId id="671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</p14:sldIdLst>
        </p14:section>
        <p14:section name="使用规范" id="{47918508-6F2A-4DC8-ACB3-0B9712E4E205}">
          <p14:sldIdLst>
            <p14:sldId id="612"/>
            <p14:sldId id="611"/>
            <p14:sldId id="505"/>
            <p14:sldId id="613"/>
            <p14:sldId id="506"/>
            <p14:sldId id="614"/>
            <p14:sldId id="615"/>
            <p14:sldId id="616"/>
            <p14:sldId id="679"/>
            <p14:sldId id="678"/>
            <p14:sldId id="619"/>
            <p14:sldId id="620"/>
            <p14:sldId id="622"/>
            <p14:sldId id="677"/>
            <p14:sldId id="623"/>
            <p14:sldId id="624"/>
            <p14:sldId id="640"/>
            <p14:sldId id="627"/>
            <p14:sldId id="629"/>
            <p14:sldId id="633"/>
            <p14:sldId id="631"/>
            <p14:sldId id="636"/>
            <p14:sldId id="637"/>
            <p14:sldId id="643"/>
            <p14:sldId id="644"/>
            <p14:sldId id="7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>
        <p:scale>
          <a:sx n="75" d="100"/>
          <a:sy n="75" d="100"/>
        </p:scale>
        <p:origin x="12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94" Type="http://schemas.openxmlformats.org/officeDocument/2006/relationships/notesMaster" Target="notesMasters/notesMaster1.xml"/><Relationship Id="rId95" Type="http://schemas.openxmlformats.org/officeDocument/2006/relationships/tags" Target="tags/tag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54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巴塞尔问题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《人工智能导论》第二次作业 · 实践题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Σ 1/n² = π²/6 —— 用 DeepSeek Harness 完成的一次数学探究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5004000"/>
            <a:ext cx="6480000" cy="10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姓名：＿＿＿＿＿＿　　学号：＿＿＿＿＿＿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0" y="1655999"/>
            <a:ext cx="5256000" cy="39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01　</a:t>
            </a:r>
            <a:r>
              <a:rPr sz="2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原题与来源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02　</a:t>
            </a:r>
            <a:r>
              <a:rPr sz="2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从欧拉到傅里叶：两种证明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03　</a:t>
            </a:r>
            <a:r>
              <a:rPr sz="2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数值验证：三种独立检验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04　</a:t>
            </a:r>
            <a:r>
              <a:rPr sz="2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提示词与核心代码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05　</a:t>
            </a:r>
            <a:r>
              <a:rPr sz="20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结论与体会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0" y="5256000"/>
            <a:ext cx="52560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DeepSeek Harness × 数学分析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40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01　原题与来源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The Basel Problem · 1644—1735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一、原题与来源</a:t>
            </a:r>
          </a:p>
        </p:txBody>
      </p:sp>
      <p:pic>
        <p:nvPicPr>
          <p:cNvPr id="3" name="Picture 2" descr="f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544276"/>
            <a:ext cx="5580000" cy="1159446"/>
          </a:xfrm>
          <a:prstGeom prst="rect">
            <a:avLst/>
          </a:prstGeom>
        </p:spPr>
      </p:pic>
      <p:pic>
        <p:nvPicPr>
          <p:cNvPr id="4" name="Picture 3" descr="f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3377694"/>
            <a:ext cx="5580000" cy="732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4464000"/>
            <a:ext cx="5580000" cy="12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出自华东师范大学版《数学分析》下册傅里叶级数一章的例题，也是数学史上著名的“巴塞尔问题”。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8000" y="1224000"/>
            <a:ext cx="4824000" cy="46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提出：1644 年，意大利数学家 Pietro Mengoli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经过：难倒 Bernoulli 家族与 18 世纪数学界近百年。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解决：1735 年 Leonhard Euler（28 岁）算出其值为 π²/6，由此一举成名。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来源：Wikipedia “Basel problem”；《数学分析》下册 傅里叶级数章节。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5868000"/>
            <a:ext cx="10800000" cy="32400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2000" y="5886000"/>
            <a:ext cx="1065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为什么著名：纯粹由整数构成的和，结果里却冒出圆周率 π —— 数论与分析的第一次深刻握手。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40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02　从欧拉到傅里叶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Two Proofs · Heuristic and Rigorous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二、解题思路总览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296000"/>
            <a:ext cx="3420000" cy="3816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20000" y="1296000"/>
            <a:ext cx="3420000" cy="503999"/>
          </a:xfrm>
          <a:prstGeom prst="rect">
            <a:avLst/>
          </a:prstGeom>
          <a:solidFill>
            <a:srgbClr val="28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7999" y="1332000"/>
            <a:ext cx="3204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数值观察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1944000"/>
            <a:ext cx="3168000" cy="30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先算前 N 项和：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S₁₀ = 1.5498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S₁₀₀ = 1.6350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S₁₀₀₀ = 1.6439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看起来稳定在 1.6449 附近，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但需要精确值。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4000" y="1296000"/>
            <a:ext cx="3420000" cy="3816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464000" y="1296000"/>
            <a:ext cx="3420000" cy="503999"/>
          </a:xfrm>
          <a:prstGeom prst="rect">
            <a:avLst/>
          </a:prstGeom>
          <a:solidFill>
            <a:srgbClr val="FCB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0" y="1332000"/>
            <a:ext cx="3204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欧拉的启发式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000" y="1944000"/>
            <a:ext cx="3168000" cy="30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把 sin x / x 看成无穷乘积，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展开后比较 x² 的系数，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即可读出 Σ1/n² = π²/6。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(当时并不严格)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8000" y="1296000"/>
            <a:ext cx="3420000" cy="3816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208000" y="1296000"/>
            <a:ext cx="3420000" cy="503999"/>
          </a:xfrm>
          <a:prstGeom prst="rect">
            <a:avLst/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16000" y="1332000"/>
            <a:ext cx="3204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严格证明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2000" y="1944000"/>
            <a:ext cx="3168000" cy="30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把 x 在 (−π, π) 上展成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傅里叶级数，用 Parseval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等式把级数平方和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与积分直接对应。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328000"/>
            <a:ext cx="10800000" cy="64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三条路径互相印证 —— 这也是本次“用 AI 做数学”的基本方法：先由数值发现规律，再找结构给出推导，最后补上严格证明与独立验证。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证明一：欧拉的启发式（1735）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116000"/>
            <a:ext cx="10800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思路：把 sin x / x 既按泰勒级数展开，又按它的零点写成无穷乘积，然后比较两边 x² 的系数。</a:t>
            </a:r>
          </a:p>
        </p:txBody>
      </p:sp>
      <p:pic>
        <p:nvPicPr>
          <p:cNvPr id="4" name="Picture 3" descr="f_e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870" y="1620000"/>
            <a:ext cx="3856258" cy="1224000"/>
          </a:xfrm>
          <a:prstGeom prst="rect">
            <a:avLst/>
          </a:prstGeom>
        </p:spPr>
      </p:pic>
      <p:pic>
        <p:nvPicPr>
          <p:cNvPr id="5" name="Picture 4" descr="f_sin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000" y="1845861"/>
            <a:ext cx="4752000" cy="7722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6000" y="2988000"/>
            <a:ext cx="4536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无穷乘积（右边）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6000" y="2844000"/>
            <a:ext cx="4752000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泰勒展开（左边）</a:t>
            </a:r>
          </a:p>
        </p:txBody>
      </p:sp>
      <p:pic>
        <p:nvPicPr>
          <p:cNvPr id="8" name="Picture 7" descr="f_euler_co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223" y="3816000"/>
            <a:ext cx="5489553" cy="115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0000" y="5256000"/>
            <a:ext cx="10800000" cy="72000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999" y="5292000"/>
            <a:ext cx="10584000" cy="64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6B00"/>
                </a:solidFill>
                <a:latin typeface="Microsoft YaHei"/>
                <a:ea typeface="Microsoft YaHei"/>
                <a:cs typeface="Microsoft YaHei"/>
              </a:rPr>
              <a:t>注意：这一步当时并不严格。欧拉默认无穷乘积可以像有限乘积一样展开并比较系数，该步骤直到 19 世纪 Weierstrass 分解定理才被补齐。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证明二：傅里叶级数与 Parseval 等式（严谨）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5903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① 把 f(x) = x 在 (−π, π) 上展成傅里叶级数：</a:t>
            </a:r>
          </a:p>
        </p:txBody>
      </p:sp>
      <p:pic>
        <p:nvPicPr>
          <p:cNvPr id="4" name="Picture 3" descr="f_four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77" y="1440000"/>
            <a:ext cx="5498445" cy="93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2520000"/>
            <a:ext cx="59039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② 代入 Parseval 等式（左边可直接积出 2π²/3）：</a:t>
            </a:r>
          </a:p>
        </p:txBody>
      </p:sp>
      <p:pic>
        <p:nvPicPr>
          <p:cNvPr id="6" name="Picture 5" descr="f_pars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578" y="2880000"/>
            <a:ext cx="3136842" cy="1080000"/>
          </a:xfrm>
          <a:prstGeom prst="rect">
            <a:avLst/>
          </a:prstGeom>
        </p:spPr>
      </p:pic>
      <p:pic>
        <p:nvPicPr>
          <p:cNvPr id="7" name="Picture 6" descr="f_parseva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338" y="4104000"/>
            <a:ext cx="4739322" cy="10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0000" y="5328000"/>
            <a:ext cx="5903999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该证明只用微积分基本工具，逻辑完整、无循环论证。</a:t>
            </a:r>
          </a:p>
        </p:txBody>
      </p:sp>
      <p:pic>
        <p:nvPicPr>
          <p:cNvPr id="9" name="Picture 8" descr="fig4_fouri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999" y="1648000"/>
            <a:ext cx="4680000" cy="239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83999" y="4608000"/>
            <a:ext cx="4680000" cy="14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右侧为级数部分和逐点逼近 f(x) = x 的过程：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项数越多越贴合，仅在端点 x = ±π 处出现吉布斯现象（跳跃间断），不影响平方可积意义下的收敛。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sz="40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03　数值验证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Numerical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验证一：部分和收敛到 π²/6</a:t>
            </a:r>
          </a:p>
        </p:txBody>
      </p:sp>
      <p:pic>
        <p:nvPicPr>
          <p:cNvPr id="3" name="Picture 2" descr="fig1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744799"/>
            <a:ext cx="6696000" cy="3422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03999" y="1440000"/>
          <a:ext cx="3887998" cy="259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0810"/>
                <a:gridCol w="1576216"/>
                <a:gridCol w="1260972"/>
              </a:tblGrid>
              <a:tr h="370285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54000" marR="54000" marT="10800" marB="10800" anchor="ctr">
                    <a:solidFill>
                      <a:srgbClr val="2872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S_N</a:t>
                      </a:r>
                    </a:p>
                  </a:txBody>
                  <a:tcPr marL="54000" marR="54000" marT="10800" marB="10800" anchor="ctr">
                    <a:solidFill>
                      <a:srgbClr val="2872A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</a:p>
                  </a:txBody>
                  <a:tcPr marL="54000" marR="54000" marT="10800" marB="10800" anchor="ctr">
                    <a:solidFill>
                      <a:srgbClr val="2872A1"/>
                    </a:solidFill>
                  </a:tcPr>
                </a:tc>
              </a:tr>
              <a:tr h="37028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1.549768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9.5e-02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7028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1.634984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1.0e-02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</a:tr>
              <a:tr h="37028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1.643935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1.0e-03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7028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10,000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1.644834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1.0e-04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</a:tr>
              <a:tr h="370285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100,000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1.644924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1.0e-05</a:t>
                      </a:r>
                    </a:p>
                  </a:txBody>
                  <a:tcPr marL="54000" marR="54000" marT="10800" marB="10800" anchor="ctr">
                    <a:solidFill>
                      <a:srgbClr val="FFFFFF"/>
                    </a:solidFill>
                  </a:tcPr>
                </a:tc>
              </a:tr>
              <a:tr h="3702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1,000,000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1.644933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44546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1.0e-06</a:t>
                      </a:r>
                    </a:p>
                  </a:txBody>
                  <a:tcPr marL="54000" marR="54000" marT="10800" marB="10800" anchor="ctr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03999" y="4248000"/>
            <a:ext cx="3888000" cy="136800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6000" y="4284000"/>
            <a:ext cx="3744000" cy="129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π²/6 = 1.644934066848226…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 math.fsum 补偿求和，误差已排除浮点累加带来的干扰。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验证二：误差以 1/N 衰减</a:t>
            </a:r>
          </a:p>
        </p:txBody>
      </p:sp>
      <p:pic>
        <p:nvPicPr>
          <p:cNvPr id="3" name="Picture 2" descr="fig2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703720"/>
            <a:ext cx="6552000" cy="350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60000" y="1512000"/>
            <a:ext cx="4031999" cy="43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双对数坐标下是一条斜率 −1 的直线，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5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即</a:t>
            </a:r>
            <a:r>
              <a:rPr sz="16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  |π²/6 − S_N| ≈ 1/N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实测数据：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N = 10⁶ 时误差 1.00×10⁻⁶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N = 10⁷ 时误差 1.00×10⁻⁷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400" b="1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且 N ×(误差) → 1.000000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这与积分判别法的结论完全一致，说明数值结果不仅“看起来像”，而且收敛速度也符合理论预期。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验证三：随机两整数互质的概率</a:t>
            </a:r>
          </a:p>
        </p:txBody>
      </p:sp>
      <p:pic>
        <p:nvPicPr>
          <p:cNvPr id="3" name="Picture 2" descr="f_copr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454" y="1152000"/>
            <a:ext cx="8869090" cy="792000"/>
          </a:xfrm>
          <a:prstGeom prst="rect">
            <a:avLst/>
          </a:prstGeom>
        </p:spPr>
      </p:pic>
      <p:pic>
        <p:nvPicPr>
          <p:cNvPr id="4" name="Picture 3" descr="fig3_copr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2231200"/>
            <a:ext cx="6623999" cy="3385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2000" y="2088000"/>
            <a:ext cx="3960000" cy="38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为什么是 1/ζ(2)：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3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一对数同时被素数 p 整除的概率是 1/p²，对全体素数取乘积即得 Π(1 − 1/p²) = 1/ζ(2)。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两种独立验证：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① 蒙特卡洛 2×10⁶ 对：0.607772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② 精确枚举 1200² 对：0.608035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2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（相对误差 0.018%）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这条推论把 ζ(2) 与互质这一纯数论性质联系起来，也是巴塞尔问题最出圈的“副产品”。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提示词（Prompt）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52000"/>
            <a:ext cx="10800000" cy="3024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7999" y="1206000"/>
            <a:ext cx="10584000" cy="29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第一轮（任务定义）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用 DeepSeek Harness 完成一道数学题并整理成 PPT。题目：巴塞尔问题，求 Σ(n≥1) 1/n² 的精确值。要求：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1) 给出原题表述与出处（人名、年份、来源）；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2) 至少给两条思路：欧拉 1735 年的启发式推导，以及一条严格的解析证明；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3) 写可运行代码做数值验证，并报告误差随 N 的衰减阶；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4) 再给一个独立验证（我选：随机两整数互质的概率 = 6/π²）；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5) 公式渲染成图片、结果画成图，最后生成约 15 页的 PPT。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4320000"/>
            <a:ext cx="10800000" cy="1655999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7999" y="4374000"/>
            <a:ext cx="10584000" cy="154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第二轮（版式与风格）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PPT 套用《东南大学》答辩模板；配色沿用模板主题色；手写部分尽量简短。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经验：把“要求”写成可检验的条目（要出处、要两条思路、要独立的第二种验证），比只说“帮我做一道数学题”得到的结果可靠得多。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核心代码（完整源码见 basel.py）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84000" y="1116000"/>
            <a:ext cx="6696000" cy="334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56000" y="1159200"/>
            <a:ext cx="6552000" cy="3261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PI2_6 = math.pi ** 2 / 6          # 1.6449340668482264...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def partial_sum(N):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"""S_N = sum 1/n^2，用 fsum 补偿求和提高精度"""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return math.fsum(1.0 / (n * n) for n in range(1, N + 1))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def mc_coprime(M, seed=20261013, hi=10 ** 6):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"""随机 M 对整数，统计互质比例 -&gt; 6/pi^2"""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rng = random.Random(seed)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hit = 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for i in range(1, M + 1):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if math.gcd(rng.randrange(1, hi), rng.randrange(1, hi)) == 1: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hit += 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return hit / 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 结果：N=10^7 时 N*(pi^2/6 - S_N) = 1.000000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       M=2e6 时互质比例 = 0.607772 (真值 0.607927)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60000" y="1116000"/>
            <a:ext cx="4031999" cy="1440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32000" y="1159200"/>
            <a:ext cx="3887999" cy="1353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 欧拉乘积验证，取 x = pi/2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prod = 1.0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for n in range(1, 2001):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t = (math.pi/2)**2 / (n*n*math.pi**2)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prod *= (1 - 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 n&lt;=2000 时 prod = 0.636699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 2/pi = 0.636620，相差 8e-5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0" y="2700000"/>
            <a:ext cx="4031999" cy="1764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32000" y="2743200"/>
            <a:ext cx="3887999" cy="16776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 精确枚举 [1,N]^2 的互质对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coprime = 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for a in range(1, N+1):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for b in range(1, N+1):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if math.gcd(a, b) == 1: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coprime += 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ratio = coprime / (N * N)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 N=1200 -&gt; 0.608035（误差 0.018%）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" y="4644000"/>
            <a:ext cx="10908000" cy="133200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6000" y="4680000"/>
            <a:ext cx="10764000" cy="12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可复现性说明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全部数值由 basel.py 单独生成并写入 results.json，PPT 中的表格与图直接读取该文件，避免正文数字与图表不一致。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随机数使用固定种子 20261013，任何人重跑都得到同一组结果。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22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结论与体会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52000"/>
            <a:ext cx="10800000" cy="936000"/>
          </a:xfrm>
          <a:prstGeom prst="rect">
            <a:avLst/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7999" y="1188000"/>
            <a:ext cx="105840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2872A1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6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Σ(n≥1) 1/n² = π²/6 = 1.644934066848226…，由启发式推导、傅里叶级数严格证明与三类数值实验共同印证。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999" y="2268000"/>
            <a:ext cx="1058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1. 先算再证　</a:t>
            </a: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AI 最直接的价值是快速给出数值方向；但“看起来收敛”不等于证明，严格性仍要人来要求。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999" y="3204000"/>
            <a:ext cx="1058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2. 要求可检验的步骤　</a:t>
            </a: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在提示词里明确要求出处、两条独立思路、以及独立的第二种验证，能显著降低被“一本正经胡说”的概率。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999" y="4140000"/>
            <a:ext cx="1058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3. 交叉验证　</a:t>
            </a: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解析推导、浮点数值、精确计数、蒙特卡洛四条线索互相吻合，才真正说明结果可信。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999" y="5076000"/>
            <a:ext cx="1058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CB322"/>
                </a:solidFill>
                <a:latin typeface="Microsoft YaHei"/>
                <a:ea typeface="Microsoft YaHei"/>
                <a:cs typeface="Microsoft YaHei"/>
              </a:rPr>
              <a:t>4. 数学上的收获　</a:t>
            </a:r>
            <a:r>
              <a:rPr sz="1400" b="0" i="0">
                <a:solidFill>
                  <a:srgbClr val="44546A"/>
                </a:solidFill>
                <a:latin typeface="Microsoft YaHei"/>
                <a:ea typeface="Microsoft YaHei"/>
                <a:cs typeface="Microsoft YaHei"/>
              </a:rPr>
              <a:t>巴塞尔问题展示了分析工具（傅里叶级数）如何解决数论问题，并自然引出 ζ(2) 与互质概率的联系。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5400" b="1" i="0">
                <a:solidFill>
                  <a:srgbClr val="445437"/>
                </a:solidFill>
                <a:latin typeface="Microsoft YaHei"/>
                <a:ea typeface="Microsoft YaHei"/>
                <a:cs typeface="Microsoft YaHei"/>
              </a:rPr>
              <a:t>谢谢观看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6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恳请老师与同学批评指正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7266</Words>
  <Application>Microsoft Office PowerPoint</Application>
  <PresentationFormat>宽屏</PresentationFormat>
  <Paragraphs>1267</Paragraphs>
  <Slides>91</Slides>
  <Notes>78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91</vt:i4>
      </vt:variant>
    </vt:vector>
  </HeadingPairs>
  <TitlesOfParts>
    <vt:vector size="93" baseType="lpstr"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冠镔 丁</cp:lastModifiedBy>
  <cp:revision>31</cp:revision>
  <dcterms:created xsi:type="dcterms:W3CDTF">2019-03-11T14:11:00Z</dcterms:created>
  <dcterms:modified xsi:type="dcterms:W3CDTF">2023-10-08T08:50:29Z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2052-11.1.0.10132</vt:lpwstr>
  </property>
</Properties>
</file>