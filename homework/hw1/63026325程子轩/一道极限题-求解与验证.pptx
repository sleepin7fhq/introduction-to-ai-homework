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f(x)/x²</c:v>
                </c:pt>
              </c:strCache>
            </c:strRef>
          </c:tx>
          <c:spPr>
            <a:solidFill>
              <a:srgbClr val="E3B25A"/>
            </a:solidFill>
            <a:ln w="30480" cap="flat">
              <a:solidFill>
                <a:srgbClr val="E3B2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B25A"/>
              </a:solidFill>
              <a:ln w="9525" cap="flat">
                <a:solidFill>
                  <a:srgbClr val="E3B2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0.3</c:v>
                  </c:pt>
                  <c:pt idx="1">
                    <c:v>0.2</c:v>
                  </c:pt>
                  <c:pt idx="2">
                    <c:v>0.13</c:v>
                  </c:pt>
                  <c:pt idx="3">
                    <c:v>0.08</c:v>
                  </c:pt>
                  <c:pt idx="4">
                    <c:v>0.05</c:v>
                  </c:pt>
                  <c:pt idx="5">
                    <c:v>0.03</c:v>
                  </c:pt>
                  <c:pt idx="6">
                    <c:v>0.015</c:v>
                  </c:pt>
                  <c:pt idx="7">
                    <c:v>0.006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101.511</c:v>
                </c:pt>
                <c:pt idx="1">
                  <c:v>62.144</c:v>
                </c:pt>
                <c:pt idx="2">
                  <c:v>41.228</c:v>
                </c:pt>
                <c:pt idx="3">
                  <c:v>29.316</c:v>
                </c:pt>
                <c:pt idx="4">
                  <c:v>23.293</c:v>
                </c:pt>
                <c:pt idx="5">
                  <c:v>19.721</c:v>
                </c:pt>
                <c:pt idx="6">
                  <c:v>17.267</c:v>
                </c:pt>
                <c:pt idx="7">
                  <c:v>15.885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极限值 15</c:v>
                </c:pt>
              </c:strCache>
            </c:strRef>
          </c:tx>
          <c:spPr>
            <a:solidFill>
              <a:srgbClr val="57C4E5"/>
            </a:solidFill>
            <a:ln w="30480" cap="flat">
              <a:solidFill>
                <a:srgbClr val="57C4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7C4E5"/>
              </a:solidFill>
              <a:ln w="9525" cap="flat">
                <a:solidFill>
                  <a:srgbClr val="57C4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0.3</c:v>
                  </c:pt>
                  <c:pt idx="1">
                    <c:v>0.2</c:v>
                  </c:pt>
                  <c:pt idx="2">
                    <c:v>0.13</c:v>
                  </c:pt>
                  <c:pt idx="3">
                    <c:v>0.08</c:v>
                  </c:pt>
                  <c:pt idx="4">
                    <c:v>0.05</c:v>
                  </c:pt>
                  <c:pt idx="5">
                    <c:v>0.03</c:v>
                  </c:pt>
                  <c:pt idx="6">
                    <c:v>0.015</c:v>
                  </c:pt>
                  <c:pt idx="7">
                    <c:v>0.006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76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12700" cap="flat">
              <a:solidFill>
                <a:srgbClr val="1B31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6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DCE6F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2801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实践 · 数学题求解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0/0 型极限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58368" y="254203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看起来要用两次洛必达，其实一次展开就够了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6656" y="3127248"/>
            <a:ext cx="1371600" cy="45720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5295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CE6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lim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8" y="38221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x→0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34015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(1+mx)ⁿ − (1+nx)ᵐ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828800" y="3840480"/>
            <a:ext cx="4297680" cy="20117"/>
          </a:xfrm>
          <a:prstGeom prst="rect">
            <a:avLst/>
          </a:prstGeom>
          <a:solidFill>
            <a:srgbClr val="DCE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389534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x²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FA3B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0" y="34015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3B2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mn(n−m)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821424" y="3840480"/>
            <a:ext cx="1847088" cy="20117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2944" y="389534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3B2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98280" y="352958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m, n ∈ ℕ₊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" y="4736592"/>
            <a:ext cx="10863072" cy="914400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5047488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 </a:t>
            </a:r>
            <a:pPr indent="0" marL="0">
              <a:buNone/>
            </a:pPr>
            <a:r>
              <a:rPr lang="en-US" sz="1200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Harness（dsh）</a:t>
            </a:r>
            <a:pPr indent="0" marL="0">
              <a:buNone/>
            </a:pPr>
            <a:r>
              <a:rPr lang="en-US" sz="120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方法  </a:t>
            </a:r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三种解法互相印证 + 数值实验</a:t>
            </a:r>
            <a:pPr indent="0" marL="0">
              <a:buNone/>
            </a:pPr>
            <a:r>
              <a:rPr lang="en-US" sz="120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代码  </a:t>
            </a:r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59253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高等数学 · 极限习题（b） · 课堂 Demo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原题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题目：一个“看起来是 0/0”的极限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261872"/>
            <a:ext cx="786384" cy="41148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72768"/>
            <a:ext cx="10972800" cy="2395728"/>
          </a:xfrm>
          <a:prstGeom prst="roundRect">
            <a:avLst>
              <a:gd name="adj" fmla="val 2290"/>
            </a:avLst>
          </a:prstGeom>
          <a:solidFill>
            <a:srgbClr val="122334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7556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求极限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21284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CE6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lim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17904" y="2560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x→0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(1+mx)ⁿ − (1+nx)ᵐ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286000" y="2615184"/>
            <a:ext cx="4846320" cy="20117"/>
          </a:xfrm>
          <a:prstGeom prst="rect">
            <a:avLst/>
          </a:prstGeom>
          <a:solidFill>
            <a:srgbClr val="DCE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670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x²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9808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B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（m, n ∈ ℕ₊）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33101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来源：高等数学“函数与极限”一章的课后习题（第 (b) 小题），题设 m、n 为正整数。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4242816"/>
            <a:ext cx="3584448" cy="1417320"/>
          </a:xfrm>
          <a:prstGeom prst="roundRect">
            <a:avLst>
              <a:gd name="adj" fmla="val 3871"/>
            </a:avLst>
          </a:prstGeom>
          <a:solidFill>
            <a:srgbClr val="0F1E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389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是 0/0 吗？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6112" y="4718304"/>
            <a:ext cx="3127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x→0 时两个括号都 → 1，分子 → 0、分母 → 0，确实是不定式。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0" y="4242816"/>
            <a:ext cx="3584448" cy="1417320"/>
          </a:xfrm>
          <a:prstGeom prst="roundRect">
            <a:avLst>
              <a:gd name="adj" fmla="val 3871"/>
            </a:avLst>
          </a:prstGeom>
          <a:solidFill>
            <a:srgbClr val="16283C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4389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一次项去哪了？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26864" y="4718304"/>
            <a:ext cx="3127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(1+mx)ⁿ 的一次项是 nmx，(1+nx)ᵐ 的一次项是 mnx —— 恰好相同，相减抵消。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19872" y="4242816"/>
            <a:ext cx="3584448" cy="1417320"/>
          </a:xfrm>
          <a:prstGeom prst="roundRect">
            <a:avLst>
              <a:gd name="adj" fmla="val 3871"/>
            </a:avLst>
          </a:prstGeom>
          <a:solidFill>
            <a:srgbClr val="0F1E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616" y="4389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那还剩什么？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57616" y="4718304"/>
            <a:ext cx="3127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最低阶只剩 x² 项，除以 x² 后不为零，极限才是个有限数。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63367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0/0 型极限 · mn(n−m)/2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801807" y="63367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解法一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把括号拆开：谁活得下来，谁就说了算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261872"/>
            <a:ext cx="786384" cy="41148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81328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核心工具：二项式定理　(1+u)^k = 1 + ku + k(k−1)u²/2 + O(u³)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5138928" cy="2084832"/>
          </a:xfrm>
          <a:prstGeom prst="roundRect">
            <a:avLst>
              <a:gd name="adj" fmla="val 2632"/>
            </a:avLst>
          </a:prstGeom>
          <a:solidFill>
            <a:srgbClr val="0F1E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分子第一项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(1+mx)ⁿ = 1 + nmx + C(n,2)m²x² + O(x³)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分子第二项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(1+nx)ᵐ = 1 + mnx + C(m,2)n²x² + O(x³)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5112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常数与一次项完全相同 → 相减后消失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3B2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565392" y="1883664"/>
            <a:ext cx="4956048" cy="2084832"/>
          </a:xfrm>
          <a:prstGeom prst="roundRect">
            <a:avLst>
              <a:gd name="adj" fmla="val 2632"/>
            </a:avLst>
          </a:prstGeom>
          <a:solidFill>
            <a:srgbClr val="16283C"/>
          </a:solidFill>
          <a:ln w="12700">
            <a:solidFill>
              <a:srgbClr val="E3B2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只剩 x² 项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03136" y="230428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分子 = [C(n,2)m² − C(m,2)n²] x² + O(x³)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03136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两边同除 x²，再让 x→0：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03136" y="301752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C(n,2)m² − C(m,2)n²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03136" y="338328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m²n(n−1)/2 − n²m(m−1)/2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4206240"/>
            <a:ext cx="10972800" cy="1060704"/>
          </a:xfrm>
          <a:prstGeom prst="roundRect">
            <a:avLst>
              <a:gd name="adj" fmla="val 5172"/>
            </a:avLst>
          </a:prstGeom>
          <a:solidFill>
            <a:srgbClr val="0E1D2C"/>
          </a:solidFill>
          <a:ln w="12700">
            <a:solidFill>
              <a:srgbClr val="E3B2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42569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CE6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</a:t>
            </a:r>
            <a:pPr indent="0" marL="0">
              <a:buNone/>
            </a:pPr>
            <a:r>
              <a:rPr lang="en-US" sz="2600" b="1" dirty="0">
                <a:solidFill>
                  <a:srgbClr val="E3B2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mn(n−m)/2</a:t>
            </a:r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（把公因子 mn/2 提出来：m(n−1) − n(m−1) = n − m）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8368" y="54681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这一步没有任何技巧，只有一条纪律：把与 x² 同阶的项一个不漏地写出来。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63367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0/0 型极限 · mn(n−m)/2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801807" y="63367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解法二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换个视角：分子在 0 处有个“二阶零点”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261872"/>
            <a:ext cx="786384" cy="41148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6304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 f(x) = (1+mx)ⁿ − (1+nx)ᵐ，则极限就是 f(x)/x² 在 0 处的极限。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4944" y="1920240"/>
            <a:ext cx="274320" cy="274320"/>
          </a:xfrm>
          <a:prstGeom prst="ellipse">
            <a:avLst/>
          </a:prstGeom>
          <a:solidFill>
            <a:srgbClr val="16283C"/>
          </a:solidFill>
          <a:ln w="15240">
            <a:solidFill>
              <a:srgbClr val="E3B2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93852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2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" y="182880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f(0) = 1ⁿ − 1ᵐ = 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15568" y="24688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分子在 0 处为 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3072384"/>
            <a:ext cx="274320" cy="274320"/>
          </a:xfrm>
          <a:prstGeom prst="ellipse">
            <a:avLst/>
          </a:prstGeom>
          <a:solidFill>
            <a:srgbClr val="16283C"/>
          </a:solidFill>
          <a:ln w="15240">
            <a:solidFill>
              <a:srgbClr val="E3B2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309067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2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2980944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f′(x) = nm(1+mx)ⁿ⁻¹ − mn(1+nx)ᵐ⁻¹，f′(0) = nm − mn = 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15568" y="362102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斜率也相同，两条曲线在 0 处相切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" y="4224528"/>
            <a:ext cx="274320" cy="274320"/>
          </a:xfrm>
          <a:prstGeom prst="ellipse">
            <a:avLst/>
          </a:prstGeom>
          <a:solidFill>
            <a:srgbClr val="16283C"/>
          </a:solidFill>
          <a:ln w="15240">
            <a:solidFill>
              <a:srgbClr val="E3B2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424281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2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" y="4133088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f″(0) = m²n(n−1) − n²m(m−1) = mn(n−m)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5568" y="47731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真正的差别从二阶开始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1920240"/>
            <a:ext cx="3913632" cy="2651760"/>
          </a:xfrm>
          <a:prstGeom prst="roundRect">
            <a:avLst>
              <a:gd name="adj" fmla="val 2069"/>
            </a:avLst>
          </a:prstGeom>
          <a:solidFill>
            <a:srgbClr val="16283C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08976" y="20482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于是（泰勒展开）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08976" y="2359152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6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f(0) + f′(0)x + f″(0)x²/2 + o(x²)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08976" y="296265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6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前两项都是 0 ⇒ f(x) = mn(n−m)x²/2 + o(x²)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08976" y="367588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2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f″(0)/2 = mn(n−m)/2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5138928"/>
            <a:ext cx="10972800" cy="786384"/>
          </a:xfrm>
          <a:prstGeom prst="roundRect">
            <a:avLst>
              <a:gd name="adj" fmla="val 6977"/>
            </a:avLst>
          </a:prstGeom>
          <a:solidFill>
            <a:srgbClr val="0E1D2C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为什么分母偏偏是 x²？</a:t>
            </a:r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因为 f 在 0 处的前两阶导都为 0 ——x² 正是这个“二阶零点”的阶数。若分母换成 x，极限会是 0；换成 x³，则发散。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63367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0/0 型极限 · mn(n−m)/2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801807" y="63367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解法三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洛必达也能做，但要老老实实做两次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261872"/>
            <a:ext cx="786384" cy="41148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179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第一次洛必达（仍是 0/0）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810512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分子′ = nm(1+mx)ⁿ⁻¹ − mn(1+nx)ᵐ⁻¹　→　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分母′ = 2x　→　0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4688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注意：此时上下仍都是 0，直接代入会得到无意义的 0/0，必须再来一次。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8895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第二次洛必达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3182112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分子″ = n(n−1)m²(1+mx)ⁿ⁻² − m(m−1)n²(1+nx)ᵐ⁻²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352958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分母″ = 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858768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= 0 处：分子″ = m²n(n−1) − n²m(m−1) = mn(n−m)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4407408"/>
            <a:ext cx="7223760" cy="841248"/>
          </a:xfrm>
          <a:prstGeom prst="roundRect">
            <a:avLst>
              <a:gd name="adj" fmla="val 6522"/>
            </a:avLst>
          </a:prstGeom>
          <a:solidFill>
            <a:srgbClr val="0E1D2C"/>
          </a:solidFill>
          <a:ln w="12700">
            <a:solidFill>
              <a:srgbClr val="E3B2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59028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6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</a:t>
            </a:r>
            <a:pPr indent="0" marL="0">
              <a:buNone/>
            </a:pPr>
            <a:r>
              <a:rPr lang="en-US" sz="2200" dirty="0">
                <a:solidFill>
                  <a:srgbClr val="E3B2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mn(n−m)/2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" y="550468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操作提示：第一次求导后不必急着化简，直接连做第二次，可以少犯符号错误。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517904"/>
            <a:ext cx="3364992" cy="3730752"/>
          </a:xfrm>
          <a:prstGeom prst="roundRect">
            <a:avLst>
              <a:gd name="adj" fmla="val 1630"/>
            </a:avLst>
          </a:prstGeom>
          <a:solidFill>
            <a:srgbClr val="0F1E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6824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三种方法，一个答案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39328" y="2011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二项式展开：看得最清楚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二阶导数：最短，但要知道泰勒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洛必达：最机械，两次才对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39328" y="3291840"/>
            <a:ext cx="29626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三者本质相同：都在提取 x² 的系数。洛必达只是把“展开”写成了“求导”。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9328" y="4517136"/>
            <a:ext cx="2962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可行前提：m, n ≥ 1 时 (1+mx)ⁿ 是多项式，在 0 的邻域内任意阶可导，洛必达条件成立。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63367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0/0 型极限 · mn(n−m)/2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801807" y="63367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结果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答案：mn(n−m)/2，注意它不对称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261872"/>
            <a:ext cx="786384" cy="41148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10972800" cy="1298448"/>
          </a:xfrm>
          <a:prstGeom prst="roundRect">
            <a:avLst>
              <a:gd name="adj" fmla="val 4225"/>
            </a:avLst>
          </a:prstGeom>
          <a:solidFill>
            <a:srgbClr val="0E1D2C"/>
          </a:solidFill>
          <a:ln w="19050">
            <a:solidFill>
              <a:srgbClr val="E3B2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5564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E6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 =  </a:t>
            </a:r>
            <a:pPr algn="ctr" indent="0" marL="0">
              <a:buNone/>
            </a:pPr>
            <a:r>
              <a:rPr lang="en-US" sz="3200" b="1" dirty="0">
                <a:solidFill>
                  <a:srgbClr val="E3B2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mn(n − m) / 2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3054096"/>
            <a:ext cx="2615184" cy="1517904"/>
          </a:xfrm>
          <a:prstGeom prst="roundRect">
            <a:avLst>
              <a:gd name="adj" fmla="val 3614"/>
            </a:avLst>
          </a:prstGeom>
          <a:solidFill>
            <a:srgbClr val="122334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C4E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" y="343814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B2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3913632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分子恒等于 0，商恒为 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19856" y="3054096"/>
            <a:ext cx="2615184" cy="1517904"/>
          </a:xfrm>
          <a:prstGeom prst="roundRect">
            <a:avLst>
              <a:gd name="adj" fmla="val 3614"/>
            </a:avLst>
          </a:prstGeom>
          <a:solidFill>
            <a:srgbClr val="122334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C4E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(m,n) = (1,2)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21024" y="343814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B2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21024" y="3913632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只剩 x²，除完正好是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3054096"/>
            <a:ext cx="2615184" cy="1517904"/>
          </a:xfrm>
          <a:prstGeom prst="roundRect">
            <a:avLst>
              <a:gd name="adj" fmla="val 3614"/>
            </a:avLst>
          </a:prstGeom>
          <a:solidFill>
            <a:srgbClr val="122334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C4E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(2,1)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343814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B2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3913632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 m、n 会变号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42832" y="3054096"/>
            <a:ext cx="2615184" cy="1517904"/>
          </a:xfrm>
          <a:prstGeom prst="roundRect">
            <a:avLst>
              <a:gd name="adj" fmla="val 3614"/>
            </a:avLst>
          </a:prstGeom>
          <a:solidFill>
            <a:srgbClr val="122334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C4E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(3,5)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0" y="343814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B2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0" y="3913632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非对称的普通情形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" y="4791456"/>
            <a:ext cx="10972800" cy="1005840"/>
          </a:xfrm>
          <a:prstGeom prst="roundRect">
            <a:avLst>
              <a:gd name="adj" fmla="val 5455"/>
            </a:avLst>
          </a:prstGeom>
          <a:solidFill>
            <a:srgbClr val="0F1E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9560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反对称性：</a:t>
            </a:r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 和 n 对调，极限值变号 —— 这与“分子把 m、n 角色互换”一致，也是检查答案的免费验算。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5358384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</a:t>
            </a:r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题设 m, n ∈ ℕ₊ 只用于保证幂次是整数；用广义二项式系数，结论对任意实数 m, n 同样成立。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63367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0/0 型极限 · mn(n−m)/2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801807" y="63367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代码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二十行：让数字自己开口说话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261872"/>
            <a:ext cx="786384" cy="41148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7360920" cy="379476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37360"/>
            <a:ext cx="6858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 = mn(n−m)/2 ，用最朴素的方式算一遍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exact = (m, n) =&gt; m * n * (n - m) / 2;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直接代值：分子两个数几乎相等，减法会吃掉有效位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naive = (m, n, x) =&gt;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(Math.pow(1 + m * x, n) - Math.pow(1 + n * x, m)) / (x * x);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tests = [[1,2],[2,3],[3,5],[4,4],[2,1],[3,2]];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[m, n] of tests) {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row = [1e-2, 1e-4, 1e-6, 1e-8]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.map(x =&gt; naive(m, n, x).toFixed(4));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console.log(m, n, exact(m, n), row.join("  "));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输出（节选）</a:t>
            </a:r>
            <a:endParaRPr lang="en-US" sz="1020" dirty="0"/>
          </a:p>
          <a:p>
            <a:pPr indent="0" marL="0">
              <a:lnSpc>
                <a:spcPts val="1460"/>
              </a:lnSpc>
              <a:buNone/>
            </a:pPr>
            <a:r>
              <a:rPr lang="en-US" sz="1020" dirty="0">
                <a:solidFill>
                  <a:srgbClr val="E3B2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5 15  16.4907  15.0145  14.9998  19.9840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58368" y="5486400"/>
            <a:ext cx="7360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运行：node generate.mjs　（Node 18+，只需 pptxgenjs）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7532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看输出，两件事同时发生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75320" y="1956816"/>
            <a:ext cx="3246120" cy="1481328"/>
          </a:xfrm>
          <a:prstGeom prst="rect">
            <a:avLst/>
          </a:prstGeom>
          <a:solidFill>
            <a:srgbClr val="0D1826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21031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x=1e-2   16.4907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x=1e-4   15.0145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x=1e-6   14.9998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E3B2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x=1e-8   19.9840  ← 崩了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75320" y="351129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(m,n)=(3,5)，精确值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75320" y="38770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数学上收敛：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前三列稳稳逼近 15，公式得到验证。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75320" y="449884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机器上发散：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再小，两个括号的差被浮点舍入淹没，1e-8 时错到 33%。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63367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0/0 型极限 · mn(n−m)/2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801807" y="63367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验证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六组数据，两种命运：前三列收敛，最后一列崩坏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261872"/>
            <a:ext cx="786384" cy="41148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27632"/>
          <a:ext cx="10881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783080"/>
                <a:gridCol w="1783080"/>
                <a:gridCol w="1783080"/>
                <a:gridCol w="1783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25A"/>
                          </a:solidFill>
                        </a:rPr>
                        <a:t>(m, n)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25A"/>
                          </a:solidFill>
                        </a:rPr>
                        <a:t>精确值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25A"/>
                          </a:solidFill>
                        </a:rPr>
                        <a:t>x = 1e-2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25A"/>
                          </a:solidFill>
                        </a:rPr>
                        <a:t>x = 1e-4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25A"/>
                          </a:solidFill>
                        </a:rPr>
                        <a:t>x = 1e-6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25A"/>
                          </a:solidFill>
                        </a:rPr>
                        <a:t>x = 1e-8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6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2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C4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-2.2204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6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(2, 3)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2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3.0800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3.0008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C4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4.4409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6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(3, 5)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2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16.4907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15.0145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14.9998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C4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19.9840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6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(4, 4)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2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C4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6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(2, 1)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2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-0.9999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C4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2.2204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6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2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-3.0800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-3.0008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-3.0003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C4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-4.4409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" y="4443984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0E1D2C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" y="4608576"/>
            <a:ext cx="10241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</a:t>
            </a:r>
            <a:pPr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从 10⁻² 到 10⁻⁶，数值一路贴着“精确值”，说明极限确实是 mn(n−m)/2；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50976" y="4974336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x = 10⁻⁸ 一列全部离谱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（(1,2) 甚至算出 −2.22）：不是数学错了，是双精度只有 16 位有效数字 —— 两个几乎相等的数相减，前面的位全被“抵消”掉。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59618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这也反过来解释了：为什么必须用“展开”这种解析手法，而不是靠数值硬算。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8368" y="63367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0/0 型极限 · mn(n−m)/2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801807" y="63367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验证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(3,5) 的逼近过程画成一条曲线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261872"/>
            <a:ext cx="786384" cy="41148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663440" y="1481328"/>
          <a:ext cx="6903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5541264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横轴：x 的取值（从 0.30 递减到 0.003）　纵轴：f(x)/x²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58368" y="1627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曲线告诉我们的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2084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从上方逼近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235915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越小，f(x)/x² 越贴近 15，而且始终在 15 之上——比极限“大一点点”。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8368" y="3328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误差是 145x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8368" y="3602736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差值约等于 145x：x=0.01 时理论差 1.45，实测 16.4907，多出来的就是更高阶项。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验证了展开的阶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8368" y="48463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这说明分子 = 15x² + O(x³)，即 x² 是很确切的“最低阶”。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" y="63367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0/0 型极限 · mn(n−m)/2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801807" y="63367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全景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m、n 从 1 取到 8：一张反对称的相图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261872"/>
            <a:ext cx="786384" cy="41148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2103120"/>
            <a:ext cx="521208" cy="338328"/>
          </a:xfrm>
          <a:prstGeom prst="rect">
            <a:avLst/>
          </a:prstGeom>
          <a:solidFill>
            <a:srgbClr val="1A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21579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2103120"/>
            <a:ext cx="521208" cy="338328"/>
          </a:xfrm>
          <a:prstGeom prst="rect">
            <a:avLst/>
          </a:prstGeom>
          <a:solidFill>
            <a:srgbClr val="6E55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1579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2103120"/>
            <a:ext cx="521208" cy="338328"/>
          </a:xfrm>
          <a:prstGeom prst="rect">
            <a:avLst/>
          </a:prstGeom>
          <a:solidFill>
            <a:srgbClr val="77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1579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2103120"/>
            <a:ext cx="521208" cy="338328"/>
          </a:xfrm>
          <a:prstGeom prst="rect">
            <a:avLst/>
          </a:prstGeom>
          <a:solidFill>
            <a:srgbClr val="816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1579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0" y="2103120"/>
            <a:ext cx="521208" cy="338328"/>
          </a:xfrm>
          <a:prstGeom prst="rect">
            <a:avLst/>
          </a:prstGeom>
          <a:solidFill>
            <a:srgbClr val="8D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1579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103120"/>
            <a:ext cx="521208" cy="338328"/>
          </a:xfrm>
          <a:prstGeom prst="rect">
            <a:avLst/>
          </a:prstGeom>
          <a:solidFill>
            <a:srgbClr val="9A7A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1579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0" y="2103120"/>
            <a:ext cx="521208" cy="338328"/>
          </a:xfrm>
          <a:prstGeom prst="rect">
            <a:avLst/>
          </a:prstGeom>
          <a:solidFill>
            <a:srgbClr val="A78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1579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2103120"/>
            <a:ext cx="521208" cy="338328"/>
          </a:xfrm>
          <a:prstGeom prst="rect">
            <a:avLst/>
          </a:prstGeom>
          <a:solidFill>
            <a:srgbClr val="B693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1579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2468880"/>
            <a:ext cx="521208" cy="338328"/>
          </a:xfrm>
          <a:prstGeom prst="rect">
            <a:avLst/>
          </a:prstGeom>
          <a:solidFill>
            <a:srgbClr val="2754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25237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0" y="2468880"/>
            <a:ext cx="521208" cy="338328"/>
          </a:xfrm>
          <a:prstGeom prst="rect">
            <a:avLst/>
          </a:prstGeom>
          <a:solidFill>
            <a:srgbClr val="1A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5237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08960" y="2468880"/>
            <a:ext cx="521208" cy="338328"/>
          </a:xfrm>
          <a:prstGeom prst="rect">
            <a:avLst/>
          </a:prstGeom>
          <a:solidFill>
            <a:srgbClr val="77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25237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0" y="2468880"/>
            <a:ext cx="521208" cy="338328"/>
          </a:xfrm>
          <a:prstGeom prst="rect">
            <a:avLst/>
          </a:prstGeom>
          <a:solidFill>
            <a:srgbClr val="876B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5237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06240" y="2468880"/>
            <a:ext cx="521208" cy="338328"/>
          </a:xfrm>
          <a:prstGeom prst="rect">
            <a:avLst/>
          </a:prstGeom>
          <a:solidFill>
            <a:srgbClr val="9A7A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25237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468880"/>
            <a:ext cx="521208" cy="338328"/>
          </a:xfrm>
          <a:prstGeom prst="rect">
            <a:avLst/>
          </a:prstGeom>
          <a:solidFill>
            <a:srgbClr val="AE8C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5237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03520" y="2468880"/>
            <a:ext cx="521208" cy="338328"/>
          </a:xfrm>
          <a:prstGeom prst="rect">
            <a:avLst/>
          </a:prstGeom>
          <a:solidFill>
            <a:srgbClr val="C39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25237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52160" y="2468880"/>
            <a:ext cx="521208" cy="338328"/>
          </a:xfrm>
          <a:prstGeom prst="rect">
            <a:avLst/>
          </a:prstGeom>
          <a:solidFill>
            <a:srgbClr val="DAB2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25237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11680" y="2834640"/>
            <a:ext cx="521208" cy="338328"/>
          </a:xfrm>
          <a:prstGeom prst="rect">
            <a:avLst/>
          </a:prstGeom>
          <a:solidFill>
            <a:srgbClr val="2C5D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28895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0" y="2834640"/>
            <a:ext cx="521208" cy="338328"/>
          </a:xfrm>
          <a:prstGeom prst="rect">
            <a:avLst/>
          </a:prstGeom>
          <a:solidFill>
            <a:srgbClr val="2C5D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28895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08960" y="2834640"/>
            <a:ext cx="521208" cy="338328"/>
          </a:xfrm>
          <a:prstGeom prst="rect">
            <a:avLst/>
          </a:prstGeom>
          <a:solidFill>
            <a:srgbClr val="1A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8895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0" y="2834640"/>
            <a:ext cx="521208" cy="338328"/>
          </a:xfrm>
          <a:prstGeom prst="rect">
            <a:avLst/>
          </a:prstGeom>
          <a:solidFill>
            <a:srgbClr val="816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0" y="28895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06240" y="2834640"/>
            <a:ext cx="521208" cy="338328"/>
          </a:xfrm>
          <a:prstGeom prst="rect">
            <a:avLst/>
          </a:prstGeom>
          <a:solidFill>
            <a:srgbClr val="9A7A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28895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2834640"/>
            <a:ext cx="521208" cy="338328"/>
          </a:xfrm>
          <a:prstGeom prst="rect">
            <a:avLst/>
          </a:prstGeom>
          <a:solidFill>
            <a:srgbClr val="B491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8895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03520" y="2834640"/>
            <a:ext cx="521208" cy="338328"/>
          </a:xfrm>
          <a:prstGeom prst="rect">
            <a:avLst/>
          </a:prstGeom>
          <a:solidFill>
            <a:srgbClr val="D0A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0" y="28895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52160" y="2834640"/>
            <a:ext cx="521208" cy="338328"/>
          </a:xfrm>
          <a:prstGeom prst="rect">
            <a:avLst/>
          </a:prstGeom>
          <a:solidFill>
            <a:srgbClr val="EEC3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28895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011680" y="3200400"/>
            <a:ext cx="521208" cy="338328"/>
          </a:xfrm>
          <a:prstGeom prst="rect">
            <a:avLst/>
          </a:prstGeom>
          <a:solidFill>
            <a:srgbClr val="3267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0" y="325526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0" y="3200400"/>
            <a:ext cx="521208" cy="338328"/>
          </a:xfrm>
          <a:prstGeom prst="rect">
            <a:avLst/>
          </a:prstGeom>
          <a:solidFill>
            <a:srgbClr val="356C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0" y="325526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108960" y="3200400"/>
            <a:ext cx="521208" cy="338328"/>
          </a:xfrm>
          <a:prstGeom prst="rect">
            <a:avLst/>
          </a:prstGeom>
          <a:solidFill>
            <a:srgbClr val="3267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0" y="325526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0" y="3200400"/>
            <a:ext cx="521208" cy="338328"/>
          </a:xfrm>
          <a:prstGeom prst="rect">
            <a:avLst/>
          </a:prstGeom>
          <a:solidFill>
            <a:srgbClr val="1A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0" y="325526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206240" y="3200400"/>
            <a:ext cx="521208" cy="338328"/>
          </a:xfrm>
          <a:prstGeom prst="rect">
            <a:avLst/>
          </a:prstGeom>
          <a:solidFill>
            <a:srgbClr val="8D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06240" y="325526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54880" y="3200400"/>
            <a:ext cx="521208" cy="338328"/>
          </a:xfrm>
          <a:prstGeom prst="rect">
            <a:avLst/>
          </a:prstGeom>
          <a:solidFill>
            <a:srgbClr val="AE8C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325526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03520" y="3200400"/>
            <a:ext cx="521208" cy="338328"/>
          </a:xfrm>
          <a:prstGeom prst="rect">
            <a:avLst/>
          </a:prstGeom>
          <a:solidFill>
            <a:srgbClr val="D0A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0" y="325526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852160" y="3200400"/>
            <a:ext cx="521208" cy="338328"/>
          </a:xfrm>
          <a:prstGeom prst="rect">
            <a:avLst/>
          </a:prstGeom>
          <a:solidFill>
            <a:srgbClr val="F4C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52160" y="325526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011680" y="3566160"/>
            <a:ext cx="521208" cy="338328"/>
          </a:xfrm>
          <a:prstGeom prst="rect">
            <a:avLst/>
          </a:prstGeom>
          <a:solidFill>
            <a:srgbClr val="3971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11680" y="362102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560320" y="3566160"/>
            <a:ext cx="521208" cy="338328"/>
          </a:xfrm>
          <a:prstGeom prst="rect">
            <a:avLst/>
          </a:prstGeom>
          <a:solidFill>
            <a:srgbClr val="407D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60320" y="362102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108960" y="3566160"/>
            <a:ext cx="521208" cy="338328"/>
          </a:xfrm>
          <a:prstGeom prst="rect">
            <a:avLst/>
          </a:prstGeom>
          <a:solidFill>
            <a:srgbClr val="407D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08960" y="362102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657600" y="3566160"/>
            <a:ext cx="521208" cy="338328"/>
          </a:xfrm>
          <a:prstGeom prst="rect">
            <a:avLst/>
          </a:prstGeom>
          <a:solidFill>
            <a:srgbClr val="3971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0" y="362102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206240" y="3566160"/>
            <a:ext cx="521208" cy="338328"/>
          </a:xfrm>
          <a:prstGeom prst="rect">
            <a:avLst/>
          </a:prstGeom>
          <a:solidFill>
            <a:srgbClr val="1A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06240" y="362102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754880" y="3566160"/>
            <a:ext cx="521208" cy="338328"/>
          </a:xfrm>
          <a:prstGeom prst="rect">
            <a:avLst/>
          </a:prstGeom>
          <a:solidFill>
            <a:srgbClr val="9A7A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54880" y="362102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303520" y="3566160"/>
            <a:ext cx="521208" cy="338328"/>
          </a:xfrm>
          <a:prstGeom prst="rect">
            <a:avLst/>
          </a:prstGeom>
          <a:solidFill>
            <a:srgbClr val="C39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03520" y="362102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852160" y="3566160"/>
            <a:ext cx="521208" cy="338328"/>
          </a:xfrm>
          <a:prstGeom prst="rect">
            <a:avLst/>
          </a:prstGeom>
          <a:solidFill>
            <a:srgbClr val="EEC3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852160" y="362102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011680" y="3931920"/>
            <a:ext cx="521208" cy="338328"/>
          </a:xfrm>
          <a:prstGeom prst="rect">
            <a:avLst/>
          </a:prstGeom>
          <a:solidFill>
            <a:srgbClr val="407D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011680" y="39867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560320" y="3931920"/>
            <a:ext cx="521208" cy="338328"/>
          </a:xfrm>
          <a:prstGeom prst="rect">
            <a:avLst/>
          </a:prstGeom>
          <a:solidFill>
            <a:srgbClr val="4B90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560320" y="39867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-24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108960" y="3931920"/>
            <a:ext cx="521208" cy="338328"/>
          </a:xfrm>
          <a:prstGeom prst="rect">
            <a:avLst/>
          </a:prstGeom>
          <a:solidFill>
            <a:srgbClr val="4F9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08960" y="39867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-27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657600" y="3931920"/>
            <a:ext cx="521208" cy="338328"/>
          </a:xfrm>
          <a:prstGeom prst="rect">
            <a:avLst/>
          </a:prstGeom>
          <a:solidFill>
            <a:srgbClr val="4B90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57600" y="39867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-24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206240" y="3931920"/>
            <a:ext cx="521208" cy="338328"/>
          </a:xfrm>
          <a:prstGeom prst="rect">
            <a:avLst/>
          </a:prstGeom>
          <a:solidFill>
            <a:srgbClr val="407D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206240" y="39867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754880" y="3931920"/>
            <a:ext cx="521208" cy="338328"/>
          </a:xfrm>
          <a:prstGeom prst="rect">
            <a:avLst/>
          </a:prstGeom>
          <a:solidFill>
            <a:srgbClr val="1A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754880" y="39867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303520" y="3931920"/>
            <a:ext cx="521208" cy="338328"/>
          </a:xfrm>
          <a:prstGeom prst="rect">
            <a:avLst/>
          </a:prstGeom>
          <a:solidFill>
            <a:srgbClr val="A78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303520" y="39867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5852160" y="3931920"/>
            <a:ext cx="521208" cy="338328"/>
          </a:xfrm>
          <a:prstGeom prst="rect">
            <a:avLst/>
          </a:prstGeom>
          <a:solidFill>
            <a:srgbClr val="DAB2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852160" y="398678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011680" y="4297680"/>
            <a:ext cx="521208" cy="338328"/>
          </a:xfrm>
          <a:prstGeom prst="rect">
            <a:avLst/>
          </a:prstGeom>
          <a:solidFill>
            <a:srgbClr val="488A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011680" y="43525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-21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560320" y="4297680"/>
            <a:ext cx="521208" cy="338328"/>
          </a:xfrm>
          <a:prstGeom prst="rect">
            <a:avLst/>
          </a:prstGeom>
          <a:solidFill>
            <a:srgbClr val="58A4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560320" y="43525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-35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108960" y="4297680"/>
            <a:ext cx="521208" cy="338328"/>
          </a:xfrm>
          <a:prstGeom prst="rect">
            <a:avLst/>
          </a:prstGeom>
          <a:solidFill>
            <a:srgbClr val="5FB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108960" y="43525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-42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3657600" y="4297680"/>
            <a:ext cx="521208" cy="338328"/>
          </a:xfrm>
          <a:prstGeom prst="rect">
            <a:avLst/>
          </a:prstGeom>
          <a:solidFill>
            <a:srgbClr val="5FB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657600" y="43525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-42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206240" y="4297680"/>
            <a:ext cx="521208" cy="338328"/>
          </a:xfrm>
          <a:prstGeom prst="rect">
            <a:avLst/>
          </a:prstGeom>
          <a:solidFill>
            <a:srgbClr val="58A4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206240" y="43525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-35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754880" y="4297680"/>
            <a:ext cx="521208" cy="338328"/>
          </a:xfrm>
          <a:prstGeom prst="rect">
            <a:avLst/>
          </a:prstGeom>
          <a:solidFill>
            <a:srgbClr val="488A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754880" y="43525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-21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303520" y="4297680"/>
            <a:ext cx="521208" cy="338328"/>
          </a:xfrm>
          <a:prstGeom prst="rect">
            <a:avLst/>
          </a:prstGeom>
          <a:solidFill>
            <a:srgbClr val="1A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303520" y="43525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5852160" y="4297680"/>
            <a:ext cx="521208" cy="338328"/>
          </a:xfrm>
          <a:prstGeom prst="rect">
            <a:avLst/>
          </a:prstGeom>
          <a:solidFill>
            <a:srgbClr val="B693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852160" y="435254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2011680" y="4663440"/>
            <a:ext cx="521208" cy="338328"/>
          </a:xfrm>
          <a:prstGeom prst="rect">
            <a:avLst/>
          </a:prstGeom>
          <a:solidFill>
            <a:srgbClr val="509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011680" y="47183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-28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2560320" y="4663440"/>
            <a:ext cx="521208" cy="338328"/>
          </a:xfrm>
          <a:prstGeom prst="rect">
            <a:avLst/>
          </a:prstGeom>
          <a:solidFill>
            <a:srgbClr val="65BA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560320" y="47183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-48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3108960" y="4663440"/>
            <a:ext cx="521208" cy="338328"/>
          </a:xfrm>
          <a:prstGeom prst="rect">
            <a:avLst/>
          </a:prstGeom>
          <a:solidFill>
            <a:srgbClr val="70C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108960" y="47183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-60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3657600" y="4663440"/>
            <a:ext cx="521208" cy="338328"/>
          </a:xfrm>
          <a:prstGeom prst="rect">
            <a:avLst/>
          </a:prstGeom>
          <a:solidFill>
            <a:srgbClr val="74D2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657600" y="47183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-64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4206240" y="4663440"/>
            <a:ext cx="521208" cy="338328"/>
          </a:xfrm>
          <a:prstGeom prst="rect">
            <a:avLst/>
          </a:prstGeom>
          <a:solidFill>
            <a:srgbClr val="70C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206240" y="47183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-60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4754880" y="4663440"/>
            <a:ext cx="521208" cy="338328"/>
          </a:xfrm>
          <a:prstGeom prst="rect">
            <a:avLst/>
          </a:prstGeom>
          <a:solidFill>
            <a:srgbClr val="65BA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754880" y="47183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11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-48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5303520" y="4663440"/>
            <a:ext cx="521208" cy="338328"/>
          </a:xfrm>
          <a:prstGeom prst="rect">
            <a:avLst/>
          </a:prstGeom>
          <a:solidFill>
            <a:srgbClr val="509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303520" y="47183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-28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5852160" y="4663440"/>
            <a:ext cx="521208" cy="338328"/>
          </a:xfrm>
          <a:prstGeom prst="rect">
            <a:avLst/>
          </a:prstGeom>
          <a:solidFill>
            <a:srgbClr val="1A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852160" y="4718304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2011680" y="5303520"/>
            <a:ext cx="164592" cy="164592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249424" y="52486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 · m &lt; n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3840480" y="5303520"/>
            <a:ext cx="164592" cy="164592"/>
          </a:xfrm>
          <a:prstGeom prst="rect">
            <a:avLst/>
          </a:prstGeom>
          <a:solidFill>
            <a:srgbClr val="57C4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078224" y="52486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 · m &gt; n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5669280" y="5303520"/>
            <a:ext cx="164592" cy="164592"/>
          </a:xfrm>
          <a:prstGeom prst="rect">
            <a:avLst/>
          </a:prstGeom>
          <a:solidFill>
            <a:srgbClr val="1A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907024" y="52486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 · m = n</a:t>
            </a:r>
            <a:endParaRPr lang="en-US" sz="950" dirty="0"/>
          </a:p>
        </p:txBody>
      </p:sp>
      <p:sp>
        <p:nvSpPr>
          <p:cNvPr id="139" name="Text 137"/>
          <p:cNvSpPr/>
          <p:nvPr/>
        </p:nvSpPr>
        <p:spPr>
          <a:xfrm>
            <a:off x="2011680" y="1847088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2560320" y="1847088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3108960" y="1847088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3657600" y="1847088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4206240" y="1847088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4754880" y="1847088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5303520" y="1847088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146" name="Text 144"/>
          <p:cNvSpPr/>
          <p:nvPr/>
        </p:nvSpPr>
        <p:spPr>
          <a:xfrm>
            <a:off x="5852160" y="1847088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1627632" y="2167128"/>
            <a:ext cx="310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1627632" y="2532888"/>
            <a:ext cx="310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1627632" y="2898648"/>
            <a:ext cx="310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50" name="Text 148"/>
          <p:cNvSpPr/>
          <p:nvPr/>
        </p:nvSpPr>
        <p:spPr>
          <a:xfrm>
            <a:off x="1627632" y="3264408"/>
            <a:ext cx="310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1627632" y="3630168"/>
            <a:ext cx="310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152" name="Text 150"/>
          <p:cNvSpPr/>
          <p:nvPr/>
        </p:nvSpPr>
        <p:spPr>
          <a:xfrm>
            <a:off x="1627632" y="3995928"/>
            <a:ext cx="310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1627632" y="4361688"/>
            <a:ext cx="310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1627632" y="4727448"/>
            <a:ext cx="310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155" name="Text 153"/>
          <p:cNvSpPr/>
          <p:nvPr/>
        </p:nvSpPr>
        <p:spPr>
          <a:xfrm>
            <a:off x="6309360" y="15361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</a:t>
            </a:r>
            <a:endParaRPr lang="en-US" sz="950" dirty="0"/>
          </a:p>
        </p:txBody>
      </p:sp>
      <p:sp>
        <p:nvSpPr>
          <p:cNvPr id="156" name="Text 154"/>
          <p:cNvSpPr/>
          <p:nvPr/>
        </p:nvSpPr>
        <p:spPr>
          <a:xfrm>
            <a:off x="1143000" y="179222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↓</a:t>
            </a:r>
            <a:endParaRPr lang="en-US" sz="950" dirty="0"/>
          </a:p>
        </p:txBody>
      </p:sp>
      <p:sp>
        <p:nvSpPr>
          <p:cNvPr id="157" name="Text 155"/>
          <p:cNvSpPr/>
          <p:nvPr/>
        </p:nvSpPr>
        <p:spPr>
          <a:xfrm>
            <a:off x="7635240" y="1627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</a:t>
            </a:r>
            <a:endParaRPr lang="en-US" sz="1300" dirty="0"/>
          </a:p>
        </p:txBody>
      </p:sp>
      <p:sp>
        <p:nvSpPr>
          <p:cNvPr id="158" name="Text 156"/>
          <p:cNvSpPr/>
          <p:nvPr/>
        </p:nvSpPr>
        <p:spPr>
          <a:xfrm>
            <a:off x="7635240" y="1956816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对角线全 0：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n 时分子恒为 0。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反对称：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L(m,n) = −L(n,m)，颜色沿对角线镜像翻转。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极值在角上：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(1,8) 取到 +28，(8,1) 取到 −28。</a:t>
            </a:r>
            <a:endParaRPr lang="en-US" sz="1050" dirty="0"/>
          </a:p>
        </p:txBody>
      </p:sp>
      <p:sp>
        <p:nvSpPr>
          <p:cNvPr id="159" name="Shape 157"/>
          <p:cNvSpPr/>
          <p:nvPr/>
        </p:nvSpPr>
        <p:spPr>
          <a:xfrm>
            <a:off x="7635240" y="3877056"/>
            <a:ext cx="3886200" cy="1170432"/>
          </a:xfrm>
          <a:prstGeom prst="roundRect">
            <a:avLst>
              <a:gd name="adj" fmla="val 4688"/>
            </a:avLst>
          </a:prstGeom>
          <a:solidFill>
            <a:srgbClr val="0E1D2C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818120" y="4041648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一个推论：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&lt; n 时极限为正，m &gt; n 时为负，m = n 时为 0 —— 符号只取决于两个幂次谁大。</a:t>
            </a:r>
            <a:endParaRPr lang="en-US" sz="1050" dirty="0"/>
          </a:p>
        </p:txBody>
      </p:sp>
      <p:sp>
        <p:nvSpPr>
          <p:cNvPr id="161" name="Text 159"/>
          <p:cNvSpPr/>
          <p:nvPr/>
        </p:nvSpPr>
        <p:spPr>
          <a:xfrm>
            <a:off x="658368" y="63367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0/0 型极限 · mn(n−m)/2</a:t>
            </a:r>
            <a:endParaRPr lang="en-US" sz="950" dirty="0"/>
          </a:p>
        </p:txBody>
      </p:sp>
      <p:sp>
        <p:nvSpPr>
          <p:cNvPr id="162" name="Text 160"/>
          <p:cNvSpPr/>
          <p:nvPr/>
        </p:nvSpPr>
        <p:spPr>
          <a:xfrm>
            <a:off x="10801807" y="63367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复盘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四个坑，最后一个最隐蔽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261872"/>
            <a:ext cx="786384" cy="41148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17904"/>
            <a:ext cx="10972800" cy="1024128"/>
          </a:xfrm>
          <a:prstGeom prst="roundRect">
            <a:avLst>
              <a:gd name="adj" fmla="val 5357"/>
            </a:avLst>
          </a:prstGeom>
          <a:solidFill>
            <a:srgbClr val="0F1E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093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2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15910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只洛一次就代入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16736" y="188366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第一次洛必达后上下仍是 0/0，直接代 0 会得到“0/0”这种无意义的东西。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46920" y="18288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必须做两次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2688336"/>
            <a:ext cx="10972800" cy="1024128"/>
          </a:xfrm>
          <a:prstGeom prst="roundRect">
            <a:avLst>
              <a:gd name="adj" fmla="val 5357"/>
            </a:avLst>
          </a:prstGeom>
          <a:solidFill>
            <a:srgbClr val="0F1E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797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2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16736" y="27614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先等价再相减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16736" y="305409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(1+mx)ⁿ 换成 1+nmx、(1+nx)ᵐ 换成 1+mnx，相减恰好是 0 —— x² 项被扔掉了。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46920" y="29992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减法不能先近似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3858768"/>
            <a:ext cx="10972800" cy="1024128"/>
          </a:xfrm>
          <a:prstGeom prst="roundRect">
            <a:avLst>
              <a:gd name="adj" fmla="val 5357"/>
            </a:avLst>
          </a:prstGeom>
          <a:solidFill>
            <a:srgbClr val="0F1E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950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2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16736" y="3931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用数值代替证明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16736" y="422452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取到 10⁻⁸ 时机器算出 19.98，离 15 有 33% 的偏差，但这不是数学的错。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46920" y="41696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C4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要算到 10⁻⁶ 以内再谈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" y="5029200"/>
            <a:ext cx="10972800" cy="1024128"/>
          </a:xfrm>
          <a:prstGeom prst="roundRect">
            <a:avLst>
              <a:gd name="adj" fmla="val 5357"/>
            </a:avLst>
          </a:prstGeom>
          <a:solidFill>
            <a:srgbClr val="16283C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120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2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16736" y="51023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 m = 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16736" y="53949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此时分子恒为 0，极限是 0 而不是“公式算不出的东西”。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46920" y="534009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先看退化情形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63367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0/0 型极限 · mn(n−m)/2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801807" y="63367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小结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带走三句话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261872"/>
            <a:ext cx="786384" cy="41148"/>
          </a:xfrm>
          <a:prstGeom prst="rect">
            <a:avLst/>
          </a:prstGeom>
          <a:solidFill>
            <a:srgbClr val="E3B2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9105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35608" y="1645920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看清楚谁在和谁抵消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35608" y="1984248"/>
            <a:ext cx="5943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全部难度就是发现两个括号的“一次项”都是 mnx；看清了，剩下只是算术。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27797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35608" y="2834640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“阶”比“值”重要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35608" y="3172968"/>
            <a:ext cx="5943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极限存在，是因为分子的最低阶恰好是 2 阶；分母换成 x 或 x³，答案立刻变成 0 或 ∞。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96849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35608" y="4023360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数值是体检，不是证明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35608" y="4361688"/>
            <a:ext cx="5943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代码能在 10⁻² 到 10⁻⁶ 之间验证它，但到 10⁻⁸ 就失真——这恰好说明为什么需要解析推导。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80960" y="1627632"/>
            <a:ext cx="3931920" cy="3749040"/>
          </a:xfrm>
          <a:prstGeom prst="roundRect">
            <a:avLst>
              <a:gd name="adj" fmla="val 1463"/>
            </a:avLst>
          </a:prstGeom>
          <a:solidFill>
            <a:srgbClr val="0F1E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0416" y="17922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提交材料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0416" y="21031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原题与来源（本页 PPT）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提示词记录 prompt.md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生成脚本 generate.mjs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本 PPT（.pptx）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README 提交说明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00416" y="4206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3B2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mn(n−m)/2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900416" y="46085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m, n ∈ ℕ₊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谢谢 ——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63367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0/0 型极限 · mn(n−m)/2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801807" y="63367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一道 0/0 型极限：mn(n−m)/2</dc:title>
  <dc:subject>PptxGenJS Presentation</dc:subject>
  <dc:creator>DeepSeek Harness Demo</dc:creator>
  <cp:lastModifiedBy>DeepSeek Harness Demo</cp:lastModifiedBy>
  <cp:revision>1</cp:revision>
  <dcterms:created xsi:type="dcterms:W3CDTF">2026-10-17T07:54:43Z</dcterms:created>
  <dcterms:modified xsi:type="dcterms:W3CDTF">2026-10-17T07:54:43Z</dcterms:modified>
</cp:coreProperties>
</file>