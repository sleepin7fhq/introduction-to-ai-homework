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28589bde184f5b" /><Relationship Type="http://schemas.openxmlformats.org/officeDocument/2006/relationships/extended-properties" Target="/docProps/app.xml" Id="Rb557dd1f79b146b5" /><Relationship Type="http://schemas.openxmlformats.org/officeDocument/2006/relationships/officeDocument" Target="/ppt/presentation.xml" Id="Raaaa60589d0f48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0452c8ddfe473b"/>
  </p:sldMasterIdLst>
  <p:notesMasterIdLst>
    <p:notesMasterId xmlns:r="http://schemas.openxmlformats.org/officeDocument/2006/relationships" r:id="R46b6c78dea85400f"/>
  </p:notesMasterIdLst>
  <p:sldIdLst>
    <p:sldId xmlns:r="http://schemas.openxmlformats.org/officeDocument/2006/relationships" id="256" r:id="Raa9b8c06338c4b14"/>
    <p:sldId xmlns:r="http://schemas.openxmlformats.org/officeDocument/2006/relationships" id="257" r:id="R04ee98575e304cf6"/>
    <p:sldId xmlns:r="http://schemas.openxmlformats.org/officeDocument/2006/relationships" id="258" r:id="R6e70ca0e23d0476d"/>
    <p:sldId xmlns:r="http://schemas.openxmlformats.org/officeDocument/2006/relationships" id="259" r:id="R41e19327733d472a"/>
    <p:sldId xmlns:r="http://schemas.openxmlformats.org/officeDocument/2006/relationships" id="260" r:id="R99bc1ff15e604b5e"/>
    <p:sldId xmlns:r="http://schemas.openxmlformats.org/officeDocument/2006/relationships" id="261" r:id="Re401a0c55e194f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1913c777594874" /><Relationship Type="http://schemas.openxmlformats.org/officeDocument/2006/relationships/slideMaster" Target="/ppt/slideMasters/slideMaster1.xml" Id="R3a0452c8ddfe473b" /><Relationship Type="http://schemas.openxmlformats.org/officeDocument/2006/relationships/notesMaster" Target="/ppt/notesMasters/notesMaster1.xml" Id="R46b6c78dea85400f" /><Relationship Type="http://schemas.openxmlformats.org/officeDocument/2006/relationships/presProps" Target="/ppt/presProps.xml" Id="R790c7f95535e4866" /><Relationship Type="http://schemas.openxmlformats.org/officeDocument/2006/relationships/tableStyles" Target="/ppt/tableStyles.xml" Id="R180eaf2e6c9248e4" /><Relationship Type="http://schemas.openxmlformats.org/officeDocument/2006/relationships/slide" Target="/ppt/slides/slide1.xml" Id="Raa9b8c06338c4b14" /><Relationship Type="http://schemas.openxmlformats.org/officeDocument/2006/relationships/slide" Target="/ppt/slides/slide2.xml" Id="R04ee98575e304cf6" /><Relationship Type="http://schemas.openxmlformats.org/officeDocument/2006/relationships/slide" Target="/ppt/slides/slide3.xml" Id="R6e70ca0e23d0476d" /><Relationship Type="http://schemas.openxmlformats.org/officeDocument/2006/relationships/slide" Target="/ppt/slides/slide4.xml" Id="R41e19327733d472a" /><Relationship Type="http://schemas.openxmlformats.org/officeDocument/2006/relationships/slide" Target="/ppt/slides/slide5.xml" Id="R99bc1ff15e604b5e" /><Relationship Type="http://schemas.openxmlformats.org/officeDocument/2006/relationships/slide" Target="/ppt/slides/slide6.xml" Id="Re401a0c55e194f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f1cd10187342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cf3d1195d34d11" /><Relationship Type="http://schemas.openxmlformats.org/officeDocument/2006/relationships/notesMaster" Target="/ppt/notesMasters/notesMaster1.xml" Id="R1f263386313f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7cbf6d739a4c8b" /><Relationship Type="http://schemas.openxmlformats.org/officeDocument/2006/relationships/notesMaster" Target="/ppt/notesMasters/notesMaster1.xml" Id="Ra16fae37c66e42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4fd0d1a2e84e59" /><Relationship Type="http://schemas.openxmlformats.org/officeDocument/2006/relationships/notesMaster" Target="/ppt/notesMasters/notesMaster1.xml" Id="R50a9f164ea504b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b7fda65d0a4ff4" /><Relationship Type="http://schemas.openxmlformats.org/officeDocument/2006/relationships/notesMaster" Target="/ppt/notesMasters/notesMaster1.xml" Id="R2345e689290044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d75939d43c4658" /><Relationship Type="http://schemas.openxmlformats.org/officeDocument/2006/relationships/notesMaster" Target="/ppt/notesMasters/notesMaster1.xml" Id="Rd38c44bca1894a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fcc38351af4cb3" /><Relationship Type="http://schemas.openxmlformats.org/officeDocument/2006/relationships/notesMaster" Target="/ppt/notesMasters/notesMaster1.xml" Id="Re0c21348a5574e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来源：第 42 届国际数学奥林匹克 2001 年 Problem 3。官方题目 PDF：https://www.imo-official.org/problems/2001/eng.pdf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题目根据 IMO 官方英文题单作中文转述。链接：https://www.imo-official.org/problems/2001/eng.pdf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若一名女生解出 6 道男生稀少题，则每道至多由 2 名男生解出，这些题合计至多涉及 12 名男生。可题设要求她与 21 名男生都至少共享一道题。因此她不可能解出 6 道男生稀少题，最多解 5 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每名女生最多解出 5 道男生稀少题，而每道这样的题最多有 2 名男生，因此她至多通过这类题与 10 名男生组成搭档。21 名女生合计至多 21×10=210 对。若同一搭档被重复计算，上界只会更宽，不影响“至多 210”的结论。交换男女角色，同理得到共享女生稀少题的搭档至多 210 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共享过至少一类稀少题的搭档数至多是 210+210=420（两类可能重叠，因此相加仍是上界）。总共有 21×21=441 对，所以至少有一对不属于这两类。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至少一对搭档不共享任何稀少题，但由题目条件，他们仍然共享一道题。该共同题不是男生稀少题，故至少 3 名男生解出；也不是女生稀少题，故至少 3 名女生解出。证毕。来源：https://www.imo-official.org/problems/2001/eng.pdf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8b938d21f48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914d253bc4d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1836881384f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11ff1bfc547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a516682d9247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2793f987643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B1EBE4-BC7C-427A-9A2F-35C86E750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EBB801-FD3A-4F37-B660-EB5733281B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9493E8-A757-4AF3-88F0-197E7D6EA5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BD2FBD-F86D-4510-B77C-77F23F7AA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8BB48E-8980-448A-B0DA-D1F9BD9FD8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367032-74C0-4F7F-ADBE-3D6518E82A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AD2967-F7B3-4800-B74B-1EF1115D5C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0159CB-EEF0-42A0-BA26-534D0DA89D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AF5636-C920-4A6C-ACE9-829D4E1726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57866F-7F70-45F4-87EE-518B23F473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36ff36cbec4fe3" /><Relationship Type="http://schemas.openxmlformats.org/officeDocument/2006/relationships/slideLayout" Target="/ppt/slideLayouts/slideLayout1.xml" Id="Rba97e70851914e35" /><Relationship Type="http://schemas.openxmlformats.org/officeDocument/2006/relationships/slideLayout" Target="/ppt/slideLayouts/slideLayout2.xml" Id="R5a070e1b978f4dc5" /><Relationship Type="http://schemas.openxmlformats.org/officeDocument/2006/relationships/slideLayout" Target="/ppt/slideLayouts/slideLayout3.xml" Id="R5cf949a2c4464a07" /><Relationship Type="http://schemas.openxmlformats.org/officeDocument/2006/relationships/slideLayout" Target="/ppt/slideLayouts/slideLayout4.xml" Id="Rec3ec3359c7e4efd" /><Relationship Type="http://schemas.openxmlformats.org/officeDocument/2006/relationships/slideLayout" Target="/ppt/slideLayouts/slideLayout5.xml" Id="R5328a29d2a554463" /><Relationship Type="http://schemas.openxmlformats.org/officeDocument/2006/relationships/slideLayout" Target="/ppt/slideLayouts/slideLayout6.xml" Id="R00fb80e4c11c4a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97e70851914e35"/>
    <p:sldLayoutId xmlns:r="http://schemas.openxmlformats.org/officeDocument/2006/relationships" id="2147483650" r:id="R5a070e1b978f4dc5"/>
    <p:sldLayoutId xmlns:r="http://schemas.openxmlformats.org/officeDocument/2006/relationships" id="2147483651" r:id="R5cf949a2c4464a07"/>
    <p:sldLayoutId xmlns:r="http://schemas.openxmlformats.org/officeDocument/2006/relationships" id="2147483652" r:id="Rec3ec3359c7e4efd"/>
    <p:sldLayoutId xmlns:r="http://schemas.openxmlformats.org/officeDocument/2006/relationships" id="2147483653" r:id="R5328a29d2a554463"/>
    <p:sldLayoutId xmlns:r="http://schemas.openxmlformats.org/officeDocument/2006/relationships" id="2147483654" r:id="R00fb80e4c11c4a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5103dfe5ac45de" /><Relationship Type="http://schemas.openxmlformats.org/officeDocument/2006/relationships/notesSlide" Target="/ppt/notesSlides/notesSlide1.xml" Id="R8783db70a1d94c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3cc841f50412a" /><Relationship Type="http://schemas.openxmlformats.org/officeDocument/2006/relationships/notesSlide" Target="/ppt/notesSlides/notesSlide2.xml" Id="R84cc2de6f7764d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c6bbf309e74435" /><Relationship Type="http://schemas.openxmlformats.org/officeDocument/2006/relationships/notesSlide" Target="/ppt/notesSlides/notesSlide3.xml" Id="R1d8218c7f1b446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d558add60445e" /><Relationship Type="http://schemas.openxmlformats.org/officeDocument/2006/relationships/notesSlide" Target="/ppt/notesSlides/notesSlide4.xml" Id="Rb919bbe53db94f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5a2d21a2c4d76" /><Relationship Type="http://schemas.openxmlformats.org/officeDocument/2006/relationships/notesSlide" Target="/ppt/notesSlides/notesSlide5.xml" Id="R5960ee64943d48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d05321f4e4a37" /><Relationship Type="http://schemas.openxmlformats.org/officeDocument/2006/relationships/notesSlide" Target="/ppt/notesSlides/notesSlide6.xml" Id="Rafcbb68844b341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FCE97-9317-476F-9C66-51B8B3EF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424A1-FBBD-4A5F-A677-B166C7C3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rPr>
              <a:t>IMO 2001  ·  PROBLEM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62561-A15F-4359-BDD0-124EFE86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441 对搭档，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为什么一定有一道 3×3 题？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5607F-D47A-4E8A-85EC-0C6A2D07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rPr>
              <a:t>一题组合数学证明：把共同解题关系转化为计数。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08551-FCB5-4EC5-8EC1-ABA50331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rPr>
              <a:t>核心比较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D5EA4-2456-4E3A-9FBD-46BF2B43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 × 21 = 441   &gt;   210 + 210 = 420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4BC70-D2F0-4D42-AD4F-A1C683AF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rPr>
              <a:t>国际数学奥林匹克 · 2001</a:t>
            </a:r>
          </a:p>
        </p:txBody>
      </p:sp>
    </p:spTree>
    <p:extLst>
      <p:ext uri="{BB962C8B-B14F-4D97-AF65-F5344CB8AC3E}">
        <p14:creationId xmlns:p14="http://schemas.microsoft.com/office/powerpoint/2010/main" val="1153756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5847C-C9C4-41CC-B8B2-5910F4D2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EF4AE-B23B-49D6-AFDC-CE49AD60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42"/>
          </a:bodyPr>
          <a:lstStyle xmlns:a="http://schemas.openxmlformats.org/drawingml/2006/main">
            <a:def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题意与证明目标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120C9-B190-43F0-A559-7BD6601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3BFF5-ECC2-419D-9D42-304BAD97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706B0-DEE4-431E-B6F0-9B412709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21 名女生和 21 名男生参加数学竞赛。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FF271-5B23-416C-B114-9208219A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每名参赛者至多解出 6 道题。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BD460-A5B6-4E8F-B20A-33CFB2E2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任意一名女生和任意一名男生，至少共同解出一道题。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F5485-1176-457A-8469-08D46CCE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4535E-75BA-413D-84FA-4130141B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rPr>
              <a:t>证明目标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30246-2AFB-4AE0-83BC-C6D01D4B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存在一道题，至少 3 名女生、至少 3 名男生都解出。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9AB7E-1DCF-491B-9C6D-6DF89470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来源：IMO 2001 Problem 3 · 官方题目 PDF</a:t>
            </a:r>
          </a:p>
        </p:txBody>
      </p:sp>
    </p:spTree>
    <p:extLst>
      <p:ext uri="{BB962C8B-B14F-4D97-AF65-F5344CB8AC3E}">
        <p14:creationId xmlns:p14="http://schemas.microsoft.com/office/powerpoint/2010/main" val="811787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815BA-4FC4-45B8-8AA3-E5C6FBA7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关键观察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425A1-752B-4B41-A879-B6737CE3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42"/>
          </a:bodyPr>
          <a:lstStyle xmlns:a="http://schemas.openxmlformats.org/drawingml/2006/main">
            <a:def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一名女生至多解 5 道“男生稀少题”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26F88-49B1-45D2-BF04-A43ED90B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C6397-A809-4B2E-92AF-A67573EA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04803-1F0E-4AEF-854F-139032A7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定义：一道题若至多 2 名男生解出，就称它是“男生稀少题”。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C5307-EAD9-422F-854B-973A6E32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固定一名女生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9C2C5-1961-45A1-B1E5-068739D7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她最多解 6 道题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1C2D3-5DCB-4192-BC50-41A0D643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若这 6 道全是男生稀少题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BE595-42D8-4D43-9B0A-35259910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rPr>
              <a:t>最多覆盖 6 × 2 = 12 名男生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0789A-F49B-4315-9225-D0C14EE7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95395-871C-4933-9B7B-90C565CF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但题目条件要求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57764-52FC-4B85-BDBC-27A182D6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她必须与全部 21 名男生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各自共享至少一道题。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7FEAB-2C2F-4D4A-ADC6-84E91C39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005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矛盾：12 &lt; 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42F51-A641-4055-9965-7C6D66E8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所以她解出的男生稀少题最多只有 5 道。</a:t>
            </a:r>
          </a:p>
        </p:txBody>
      </p:sp>
    </p:spTree>
    <p:extLst>
      <p:ext uri="{BB962C8B-B14F-4D97-AF65-F5344CB8AC3E}">
        <p14:creationId xmlns:p14="http://schemas.microsoft.com/office/powerpoint/2010/main" val="17259225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B09ED-64C4-4175-B29D-18017D4F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计数一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D560E-5BAB-468D-8741-7C858DDF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42"/>
          </a:bodyPr>
          <a:lstStyle xmlns:a="http://schemas.openxmlformats.org/drawingml/2006/main">
            <a:def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“稀少题搭档”至多 210 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177F2-3544-4D69-9921-6FA5D641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ECE7F-E428-4BBD-BB63-CA33F99D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AC2A1-8CC5-41F9-9C4C-DB041437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对固定的一名女生：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68D7D-7067-41EB-93D4-9BA56C7D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男生稀少题最多 5 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BC094-5F3A-44E0-9874-9EFC2A7E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每道题至多连接 2 名男生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B1557-5D0B-4BF2-91C1-7FF64CFA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因此至多 5 × 2 = 10 名搭档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BAE38-DB15-486E-9AE7-2A4636CE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90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A57F8-085B-45D4-ACBB-87777061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21 名女生合计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E7F66-A5AA-4937-8F2D-3B6F0991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21 × 5 ×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55BD9-AFC8-4072-B8BC-DAB5D6C3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= 210 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4A68C-2947-481F-8745-E7471B8C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所以：共享过男生稀少题的男女搭档 ≤ 210 对。</a:t>
            </a:r>
          </a:p>
        </p:txBody>
      </p:sp>
    </p:spTree>
    <p:extLst>
      <p:ext uri="{BB962C8B-B14F-4D97-AF65-F5344CB8AC3E}">
        <p14:creationId xmlns:p14="http://schemas.microsoft.com/office/powerpoint/2010/main" val="13313800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1F748-99E1-438D-8B57-C63986BA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计数二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EDCBD-3898-458B-9B26-1F3DE148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42"/>
          </a:bodyPr>
          <a:lstStyle xmlns:a="http://schemas.openxmlformats.org/drawingml/2006/main">
            <a:def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441 对中，至少有一对避开两类稀少题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CDC0B-D927-4581-9582-615393BB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D23BF-3BF0-4412-A7D1-1D0AE1CA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6B367-0618-4A3D-9913-9FF5D5FC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全部男女搭档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E0B98-204C-43DF-8C67-B582C42C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21 × 21 = 441 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739B6-4421-47D6-B5B9-5808DF0D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共享过男生稀少题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68C58-B018-45B0-B717-56FBD917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≤ 210 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83A0C-DB5A-4ACF-B5AB-4F46BD3F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9A3D"/>
                </a:solidFill>
                <a:latin typeface="Microsoft YaHei"/>
                <a:ea typeface="Microsoft YaHei"/>
                <a:cs typeface="Microsoft YaHei"/>
              </a:rPr>
              <a:t>共享过女生稀少题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A19E8-5F14-49B0-B914-F0BC5A9C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≤ 210 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A303E-1333-43E8-B457-5343E5C0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985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448EB-FD7A-4850-95B2-734EDE92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坏搭档至多 420 对，而 441 &gt; 420。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AF4E1-72D0-4D88-8562-659434AD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因此至少有一对男女搭档没有共享过任何稀少题。</a:t>
            </a:r>
          </a:p>
        </p:txBody>
      </p:sp>
    </p:spTree>
    <p:extLst>
      <p:ext uri="{BB962C8B-B14F-4D97-AF65-F5344CB8AC3E}">
        <p14:creationId xmlns:p14="http://schemas.microsoft.com/office/powerpoint/2010/main" val="10888485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C44F3-0793-45F7-B48C-627FCB2D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6F581-E7C1-43C7-8D2D-CDEFF034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26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把计数结果接回题目条件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BF851-7FA2-4EB4-AC80-77FEBCE4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rPr>
              <a:t>这对搭档仍然至少共享一道题。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2BED0-055B-4699-AD58-59CE4DD7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AF2F2"/>
                </a:solidFill>
                <a:latin typeface="Microsoft YaHei"/>
                <a:ea typeface="Microsoft YaHei"/>
                <a:cs typeface="Microsoft YaHei"/>
              </a:rPr>
              <a:t>它不是男生稀少题，也不是女生稀少题。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AA966-B7AA-4F74-92AE-FD478DEC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rPr>
              <a:t>所以共同题至少有 3 名女生，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DE6E2"/>
                </a:solidFill>
                <a:latin typeface="Microsoft YaHei"/>
                <a:ea typeface="Microsoft YaHei"/>
                <a:cs typeface="Microsoft YaHei"/>
              </a:rPr>
              <a:t>也至少有 3 名男生解出。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09D8E-8980-4226-BB4F-BE709B48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E1EDC-FB0E-428C-8A56-67E7CD90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数字核对：441 − 210 − 210 = 21 &gt;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0F7C1-ED49-4581-96EE-DED4E82A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722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FC4CD"/>
                </a:solidFill>
                <a:latin typeface="Microsoft YaHei"/>
                <a:ea typeface="Microsoft YaHei"/>
                <a:cs typeface="Microsoft YaHei"/>
              </a:rPr>
              <a:t>IMO 2001 Problem 3 · 官方题单</a:t>
            </a:r>
          </a:p>
        </p:txBody>
      </p:sp>
    </p:spTree>
    <p:extLst>
      <p:ext uri="{BB962C8B-B14F-4D97-AF65-F5344CB8AC3E}">
        <p14:creationId xmlns:p14="http://schemas.microsoft.com/office/powerpoint/2010/main" val="916519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2026-10-17T03:55:59.7160000Z</dcterms:created>
  <dcterms:modified xsi:type="dcterms:W3CDTF">2026-10-17T03:55:59.7160000Z</dcterms:modified>
</coreProperties>
</file>