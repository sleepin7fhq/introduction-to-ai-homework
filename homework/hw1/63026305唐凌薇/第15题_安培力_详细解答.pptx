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9281160" y="-1234440"/>
            <a:ext cx="3657600" cy="3657600"/>
          </a:xfrm>
          <a:prstGeom prst="diamond">
            <a:avLst/>
          </a:prstGeom>
          <a:solidFill>
            <a:srgbClr val="C5E0B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10378440" y="320040"/>
            <a:ext cx="2011680" cy="2011680"/>
          </a:xfrm>
          <a:prstGeom prst="diamond">
            <a:avLst/>
          </a:prstGeom>
          <a:noFill/>
          <a:ln w="1905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8366760" y="4892040"/>
            <a:ext cx="3200400" cy="3200400"/>
          </a:xfrm>
          <a:prstGeom prst="diamond">
            <a:avLst/>
          </a:prstGeom>
          <a:solidFill>
            <a:srgbClr val="FEE59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7818120" y="5806440"/>
            <a:ext cx="1828800" cy="1828800"/>
          </a:xfrm>
          <a:prstGeom prst="diamond">
            <a:avLst/>
          </a:prstGeom>
          <a:noFill/>
          <a:ln w="19050">
            <a:solidFill>
              <a:srgbClr val="FEE59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320040"/>
            <a:ext cx="2239566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41732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2BC00"/>
                </a:solidFill>
                <a:latin typeface="Microsoft YaHei"/>
                <a:ea typeface="微软雅黑"/>
              </a:rPr>
              <a:t>高中物理 · 磁场与安培力专题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8595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548134"/>
                </a:solidFill>
                <a:latin typeface="Microsoft YaHei"/>
                <a:ea typeface="微软雅黑"/>
              </a:rPr>
              <a:t>第 15 题　详细解答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F4D50"/>
                </a:solidFill>
                <a:latin typeface="Microsoft YaHei"/>
                <a:ea typeface="微软雅黑"/>
              </a:rPr>
              <a:t>安培力与变力做功：金属棒在等腰三角形导轨中的运动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3931920"/>
            <a:ext cx="2377440" cy="45720"/>
          </a:xfrm>
          <a:prstGeom prst="rect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微软雅黑"/>
              </a:rPr>
              <a:t>题目解读　·　模型建构　·　三问详解　·　变力做功　·　答案汇总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F7F7F"/>
                </a:solidFill>
                <a:latin typeface="Microsoft YaHei"/>
                <a:ea typeface="微软雅黑"/>
              </a:rPr>
              <a:t>物理解题精讲　|　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4210812" y="827532"/>
            <a:ext cx="3648456" cy="3648456"/>
          </a:xfrm>
          <a:prstGeom prst="diamond">
            <a:avLst/>
          </a:prstGeom>
          <a:solidFill>
            <a:srgbClr val="FEE59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026914" y="971549"/>
            <a:ext cx="2496312" cy="2496312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506973" y="1067562"/>
            <a:ext cx="2640330" cy="264033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179057" y="1422806"/>
            <a:ext cx="1008126" cy="1008126"/>
          </a:xfrm>
          <a:prstGeom prst="diamond">
            <a:avLst/>
          </a:prstGeom>
          <a:noFill/>
          <a:ln w="254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066794" y="1739645"/>
            <a:ext cx="1008126" cy="1008126"/>
          </a:xfrm>
          <a:prstGeom prst="diamond">
            <a:avLst/>
          </a:prstGeom>
          <a:noFill/>
          <a:ln w="25400">
            <a:solidFill>
              <a:srgbClr val="FEE59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6989" y="1739645"/>
            <a:ext cx="2400300" cy="1344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</a:rPr>
              <a:t>PART 01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4800600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F4D50"/>
                </a:solidFill>
                <a:latin typeface="Microsoft YaHei"/>
                <a:ea typeface="微软雅黑"/>
              </a:rPr>
              <a:t>题目与物理模型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F7F7F"/>
                </a:solidFill>
                <a:latin typeface="Microsoft YaHei"/>
                <a:ea typeface="微软雅黑"/>
              </a:rPr>
              <a:t>原题再现 · 有效长度 · 安培力是变力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01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01 ｜ 题目（原题再现）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97280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 lIns="256032" rIns="20116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在大小为 B 的竖直匀强磁场中，有水平导轨，导轨间距为 L，导轨左段的长度也为 L；导轨的右段是等腰三角形，三角形高为 h。导轨之间接有可改变电流大小的恒定电流源，初始提供的电流恒为 I = I</a:t>
            </a:r>
            <a:r>
              <a:rPr sz="125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0</a:t>
            </a: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。质量为 m 的金属棒 AB 放在导轨的中部（三角形底边处），金属棒与导轨间的动摩擦因数为 μ，其通过的电流由 A 到 B。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097280"/>
            <a:ext cx="68580" cy="2331720"/>
          </a:xfrm>
          <a:prstGeom prst="rect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5806440" cy="2331720"/>
          </a:xfrm>
          <a:prstGeom prst="rect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 lIns="201168" rIns="182880" tIns="73152" b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微软雅黑"/>
              </a:rPr>
              <a:t>（1）当 t = 0 s 时，求金属棒受到安培力的大小和方向；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微软雅黑"/>
              </a:rPr>
              <a:t>（2）当金属棒达到最大速度时，求此时的速度和运动过程的位移；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微软雅黑"/>
              </a:rPr>
              <a:t>（3）改变电流值 I，使金属棒恰好到达三角形顶点 O，求安培力做功与电流 I 的函数表达式，以及当棒不离开磁场时电流 I 的取值范围。</a:t>
            </a: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886968" y="5916168"/>
            <a:ext cx="365760" cy="182880"/>
          </a:xfrm>
          <a:prstGeom prst="triangle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slide_r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00200"/>
            <a:ext cx="4983480" cy="355171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0840" y="553212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图 1　导轨与金属棒（俯视图，“×”表示磁感线垂直纸面向里）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01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01 ｜ 模型建构：为什么安培力是变力？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5943600" cy="114300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618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48134"/>
                </a:solidFill>
                <a:latin typeface="Microsoft YaHei"/>
                <a:ea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261872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磁场竖直、电流 A→B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F4D50"/>
                </a:solidFill>
                <a:latin typeface="Microsoft YaHei"/>
                <a:ea typeface="微软雅黑"/>
              </a:rPr>
              <a:t>由左手定则，安培力垂直于棒、水平指向顶点 O；竖直方向 N = mg，滑动摩擦力 f = μmg。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41448"/>
            <a:ext cx="5943600" cy="114300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48134"/>
                </a:solidFill>
                <a:latin typeface="Microsoft YaHei"/>
                <a:ea typeface="微软雅黑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6032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有效长度随位置变化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F4D50"/>
                </a:solidFill>
                <a:latin typeface="Microsoft YaHei"/>
                <a:ea typeface="微软雅黑"/>
              </a:rPr>
              <a:t>棒从三角形底边向右移动 x 时，两导轨间距即有效长度 l(x) = L(1 − x/h)，随 x 线性减小。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39896"/>
            <a:ext cx="5943600" cy="114300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48134"/>
                </a:solidFill>
                <a:latin typeface="Microsoft YaHei"/>
                <a:ea typeface="微软雅黑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58768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安培力是变力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F4D50"/>
                </a:solidFill>
                <a:latin typeface="Microsoft YaHei"/>
                <a:ea typeface="微软雅黑"/>
              </a:rPr>
              <a:t>F(x) = B·I·l(x) = B I L (1 − x/h)：x = 0 处最大，到达顶点 O（x = h）时减为 0。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74920"/>
            <a:ext cx="5943600" cy="1051560"/>
          </a:xfrm>
          <a:prstGeom prst="rect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 lIns="201168" rIns="182880" tIns="73152" b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微软雅黑"/>
              </a:rPr>
              <a:t>结论：棒越靠近 O，安培力越小 —— 本题的核心是“变力做功”。</a:t>
            </a:r>
          </a:p>
        </p:txBody>
      </p:sp>
      <p:sp>
        <p:nvSpPr>
          <p:cNvPr id="20" name="Isosceles Triangle 19"/>
          <p:cNvSpPr/>
          <p:nvPr/>
        </p:nvSpPr>
        <p:spPr>
          <a:xfrm rot="10800000">
            <a:off x="886968" y="6099047"/>
            <a:ext cx="365760" cy="182880"/>
          </a:xfrm>
          <a:prstGeom prst="triangle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slide_f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34440"/>
            <a:ext cx="5029200" cy="3525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20840" y="5349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F4D50"/>
                </a:solidFill>
                <a:latin typeface="Microsoft YaHei"/>
                <a:ea typeface="微软雅黑"/>
              </a:rPr>
              <a:t>F–x 图线是一条斜直线：与横轴围成的三角形面积，就等于安培力做的功。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4210812" y="827532"/>
            <a:ext cx="3648456" cy="3648456"/>
          </a:xfrm>
          <a:prstGeom prst="diamond">
            <a:avLst/>
          </a:prstGeom>
          <a:solidFill>
            <a:srgbClr val="FEE59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026914" y="971549"/>
            <a:ext cx="2496312" cy="2496312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506973" y="1067562"/>
            <a:ext cx="2640330" cy="264033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179057" y="1422806"/>
            <a:ext cx="1008126" cy="1008126"/>
          </a:xfrm>
          <a:prstGeom prst="diamond">
            <a:avLst/>
          </a:prstGeom>
          <a:noFill/>
          <a:ln w="254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4066794" y="1739645"/>
            <a:ext cx="1008126" cy="1008126"/>
          </a:xfrm>
          <a:prstGeom prst="diamond">
            <a:avLst/>
          </a:prstGeom>
          <a:noFill/>
          <a:ln w="25400">
            <a:solidFill>
              <a:srgbClr val="FEE59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6989" y="1739645"/>
            <a:ext cx="2400300" cy="1344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</a:rPr>
              <a:t>PART 02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4800600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F4D50"/>
                </a:solidFill>
                <a:latin typeface="Microsoft YaHei"/>
                <a:ea typeface="微软雅黑"/>
              </a:rPr>
              <a:t>分步解答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F7F7F"/>
                </a:solidFill>
                <a:latin typeface="Microsoft YaHei"/>
                <a:ea typeface="微软雅黑"/>
              </a:rPr>
              <a:t>第（1）问 · 第（2）问 · 第（3）问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02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02 ｜ 第（1）问：t = 0 时的安培力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F4D50"/>
                </a:solidFill>
                <a:latin typeface="Microsoft YaHei"/>
                <a:ea typeface="微软雅黑"/>
              </a:rPr>
              <a:t>t = 0 时棒位于三角形底边，x = 0，有效长度 l = L。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45920"/>
            <a:ext cx="6035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D7C2B"/>
                </a:solidFill>
                <a:latin typeface="Cambria Math"/>
                <a:ea typeface="微软雅黑"/>
              </a:rPr>
              <a:t>F</a:t>
            </a:r>
            <a:r>
              <a:rPr sz="20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2000" b="1" i="0">
                <a:solidFill>
                  <a:srgbClr val="4D7C2B"/>
                </a:solidFill>
                <a:latin typeface="Cambria Math"/>
                <a:ea typeface="微软雅黑"/>
              </a:rPr>
              <a:t> = B I l = B I</a:t>
            </a:r>
            <a:r>
              <a:rPr sz="20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2000" b="1" i="0">
                <a:solidFill>
                  <a:srgbClr val="4D7C2B"/>
                </a:solidFill>
                <a:latin typeface="Cambria Math"/>
                <a:ea typeface="微软雅黑"/>
              </a:rPr>
              <a:t>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方向判定（左手定则）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电流方向 A→B、磁场竖直向下，伸开左手即可判定：安培力垂直于棒 AB，水平指向顶点 O（沿三角形的对称轴）。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补充说明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只有 B I</a:t>
            </a:r>
            <a:r>
              <a:rPr sz="125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0</a:t>
            </a: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 L &gt; μmg 时，棒才能被拉动，第（2）问默认该条件成立。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92040"/>
            <a:ext cx="6035040" cy="1097280"/>
          </a:xfrm>
          <a:prstGeom prst="rect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 lIns="201168" rIns="182880" tIns="73152" bIns="7315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mbria Math"/>
                <a:ea typeface="微软雅黑"/>
              </a:rPr>
              <a:t>F</a:t>
            </a:r>
            <a:r>
              <a:rPr sz="1900" b="1" i="0" baseline="-25000">
                <a:solidFill>
                  <a:srgbClr val="FFFFFF"/>
                </a:solidFill>
                <a:latin typeface="Cambria Math"/>
                <a:ea typeface="微软雅黑"/>
              </a:rPr>
              <a:t>0</a:t>
            </a:r>
            <a:r>
              <a:rPr sz="1900" b="1" i="0">
                <a:solidFill>
                  <a:srgbClr val="FFFFFF"/>
                </a:solidFill>
                <a:latin typeface="Cambria Math"/>
                <a:ea typeface="微软雅黑"/>
              </a:rPr>
              <a:t> = B I</a:t>
            </a:r>
            <a:r>
              <a:rPr sz="1900" b="1" i="0" baseline="-25000">
                <a:solidFill>
                  <a:srgbClr val="FFFFFF"/>
                </a:solidFill>
                <a:latin typeface="Cambria Math"/>
                <a:ea typeface="微软雅黑"/>
              </a:rPr>
              <a:t>0</a:t>
            </a:r>
            <a:r>
              <a:rPr sz="1900" b="1" i="0">
                <a:solidFill>
                  <a:srgbClr val="FFFFFF"/>
                </a:solidFill>
                <a:latin typeface="Cambria Math"/>
                <a:ea typeface="微软雅黑"/>
              </a:rPr>
              <a:t> 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  <a:ea typeface="微软雅黑"/>
              </a:rPr>
              <a:t>方向：垂直于棒 AB、指向顶点 O（水平向右）</a:t>
            </a:r>
          </a:p>
        </p:txBody>
      </p:sp>
      <p:sp>
        <p:nvSpPr>
          <p:cNvPr id="15" name="Isosceles Triangle 14"/>
          <p:cNvSpPr/>
          <p:nvPr/>
        </p:nvSpPr>
        <p:spPr>
          <a:xfrm rot="10800000">
            <a:off x="886968" y="5961888"/>
            <a:ext cx="365760" cy="182880"/>
          </a:xfrm>
          <a:prstGeom prst="triangle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slide_r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874519"/>
            <a:ext cx="4709160" cy="335620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95160" y="534924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图 2　t = 0 时棒位于三角形底边，有效长度为 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02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02 ｜ 第（2）问：运动过程与最大速度的位置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97280"/>
            <a:ext cx="64008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07008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D7C2B"/>
                </a:solidFill>
                <a:latin typeface="Cambria Math"/>
                <a:ea typeface="微软雅黑"/>
              </a:rPr>
              <a:t>m a = F(x) − μmg = B I</a:t>
            </a:r>
            <a:r>
              <a:rPr sz="17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1700" b="1" i="0">
                <a:solidFill>
                  <a:srgbClr val="4D7C2B"/>
                </a:solidFill>
                <a:latin typeface="Cambria Math"/>
                <a:ea typeface="微软雅黑"/>
              </a:rPr>
              <a:t> L (1 − x/h) − μmg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240280"/>
            <a:ext cx="1783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加速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F4D50"/>
                </a:solidFill>
                <a:latin typeface="Cambria Math"/>
                <a:ea typeface="微软雅黑"/>
              </a:rPr>
              <a:t>F &gt; μmg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a &gt; 0，速度增大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05456" y="2615184"/>
            <a:ext cx="292608" cy="301752"/>
          </a:xfrm>
          <a:prstGeom prst="rightArrow">
            <a:avLst/>
          </a:prstGeom>
          <a:solidFill>
            <a:srgbClr val="C5E0B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98063" y="214884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1" y="2240280"/>
            <a:ext cx="1783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2BC00"/>
                </a:solidFill>
                <a:latin typeface="Microsoft YaHei"/>
                <a:ea typeface="微软雅黑"/>
              </a:rPr>
              <a:t>速度最大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F4D50"/>
                </a:solidFill>
                <a:latin typeface="Cambria Math"/>
                <a:ea typeface="微软雅黑"/>
              </a:rPr>
              <a:t>F = μmg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a = 0，此时 v 最大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00600" y="2615184"/>
            <a:ext cx="292608" cy="301752"/>
          </a:xfrm>
          <a:prstGeom prst="rightArrow">
            <a:avLst/>
          </a:prstGeom>
          <a:solidFill>
            <a:srgbClr val="C5E0B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93207" y="214884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2936" y="2240280"/>
            <a:ext cx="1783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减速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F4D50"/>
                </a:solidFill>
                <a:latin typeface="Cambria Math"/>
                <a:ea typeface="微软雅黑"/>
              </a:rPr>
              <a:t>F &lt; μmg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a &lt; 0，速度减小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6616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令 a = 0，得到速度最大的位置：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B I</a:t>
            </a:r>
            <a:r>
              <a:rPr sz="15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 L (1 − x</a:t>
            </a:r>
            <a:r>
              <a:rPr sz="15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m</a:t>
            </a: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/h) = μmg　⟹　x</a:t>
            </a:r>
            <a:r>
              <a:rPr sz="15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m</a:t>
            </a: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 = h ( 1 − μmg/(B I</a:t>
            </a:r>
            <a:r>
              <a:rPr sz="15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 L) 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92040"/>
            <a:ext cx="6400800" cy="1325880"/>
          </a:xfrm>
          <a:prstGeom prst="rect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 lIns="201168" rIns="182880" tIns="73152" b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微软雅黑"/>
              </a:rPr>
              <a:t>记 λ = μmg/(B I</a:t>
            </a:r>
            <a:r>
              <a:rPr sz="1300" b="0" i="0" baseline="-25000">
                <a:solidFill>
                  <a:srgbClr val="FFFFFF"/>
                </a:solidFill>
                <a:latin typeface="Microsoft YaHei"/>
                <a:ea typeface="微软雅黑"/>
              </a:rPr>
              <a:t>0</a:t>
            </a:r>
            <a:r>
              <a:rPr sz="1300" b="0" i="0">
                <a:solidFill>
                  <a:srgbClr val="FFFFFF"/>
                </a:solidFill>
                <a:latin typeface="Microsoft YaHei"/>
                <a:ea typeface="微软雅黑"/>
              </a:rPr>
              <a:t> L)（需 λ &lt; 1，否则棒不动）：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  <a:ea typeface="微软雅黑"/>
              </a:rPr>
              <a:t>x</a:t>
            </a:r>
            <a:r>
              <a:rPr sz="1400" b="1" i="0" baseline="-25000">
                <a:solidFill>
                  <a:srgbClr val="FFFFFF"/>
                </a:solidFill>
                <a:latin typeface="Cambria Math"/>
                <a:ea typeface="微软雅黑"/>
              </a:rPr>
              <a:t>m</a:t>
            </a:r>
            <a:r>
              <a:rPr sz="1400" b="1" i="0">
                <a:solidFill>
                  <a:srgbClr val="FFFFFF"/>
                </a:solidFill>
                <a:latin typeface="Cambria Math"/>
                <a:ea typeface="微软雅黑"/>
              </a:rPr>
              <a:t> = h (1 − λ)　—— 这就是速度最大时的位移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886968" y="6190488"/>
            <a:ext cx="365760" cy="182880"/>
          </a:xfrm>
          <a:prstGeom prst="triangle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slide_v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37360"/>
            <a:ext cx="4526280" cy="27632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78040" y="5212080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F7F7F"/>
                </a:solidFill>
                <a:latin typeface="Microsoft YaHei"/>
                <a:ea typeface="微软雅黑"/>
              </a:rPr>
              <a:t>v–x 示意图：先加速、后减速，在 x</a:t>
            </a:r>
            <a:r>
              <a:rPr sz="1100" b="0" i="0" baseline="-25000">
                <a:solidFill>
                  <a:srgbClr val="7F7F7F"/>
                </a:solidFill>
                <a:latin typeface="Microsoft YaHei"/>
                <a:ea typeface="微软雅黑"/>
              </a:rPr>
              <a:t>m</a:t>
            </a:r>
            <a:r>
              <a:rPr sz="1100" b="0" i="0">
                <a:solidFill>
                  <a:srgbClr val="7F7F7F"/>
                </a:solidFill>
                <a:latin typeface="Microsoft YaHei"/>
                <a:ea typeface="微软雅黑"/>
              </a:rPr>
              <a:t> 处速度最大；越靠近 O 安培力越小。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02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02 ｜ 第（2）问：最大速度与位移的求解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97280"/>
            <a:ext cx="11201400" cy="118872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07008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动能定理（从 x = 0 到 x = x</a:t>
            </a:r>
            <a:r>
              <a:rPr sz="130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m</a:t>
            </a: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）：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½ m v</a:t>
            </a:r>
            <a:r>
              <a:rPr sz="15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m</a:t>
            </a: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² = ∫ [ B I</a:t>
            </a:r>
            <a:r>
              <a:rPr sz="15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 L (1 − x/h) − μmg ] dx = ½ B I</a:t>
            </a:r>
            <a:r>
              <a:rPr sz="15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 L h ( 1 − λ )²，　λ = μmg/(B I</a:t>
            </a:r>
            <a:r>
              <a:rPr sz="15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D7C2B"/>
                </a:solidFill>
                <a:latin typeface="Cambria Math"/>
                <a:ea typeface="微软雅黑"/>
              </a:rPr>
              <a:t> 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6888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51206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D7C2B"/>
                </a:solidFill>
                <a:latin typeface="Microsoft YaHei"/>
                <a:ea typeface="微软雅黑"/>
              </a:rPr>
              <a:t>最大速度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4D50"/>
                </a:solidFill>
                <a:latin typeface="Cambria Math"/>
                <a:ea typeface="微软雅黑"/>
              </a:rPr>
              <a:t>v</a:t>
            </a:r>
            <a:r>
              <a:rPr sz="1500" b="1" i="0" baseline="-25000">
                <a:solidFill>
                  <a:srgbClr val="4F4D50"/>
                </a:solidFill>
                <a:latin typeface="Cambria Math"/>
                <a:ea typeface="微软雅黑"/>
              </a:rPr>
              <a:t>m</a:t>
            </a:r>
            <a:r>
              <a:rPr sz="1500" b="1" i="0">
                <a:solidFill>
                  <a:srgbClr val="4F4D50"/>
                </a:solidFill>
                <a:latin typeface="Cambria Math"/>
                <a:ea typeface="微软雅黑"/>
              </a:rPr>
              <a:t> = ( 1 − μmg/(B I</a:t>
            </a:r>
            <a:r>
              <a:rPr sz="1500" b="1" i="0" baseline="-25000">
                <a:solidFill>
                  <a:srgbClr val="4F4D50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F4D50"/>
                </a:solidFill>
                <a:latin typeface="Cambria Math"/>
                <a:ea typeface="微软雅黑"/>
              </a:rPr>
              <a:t> L) ) √( B I</a:t>
            </a:r>
            <a:r>
              <a:rPr sz="1500" b="1" i="0" baseline="-25000">
                <a:solidFill>
                  <a:srgbClr val="4F4D50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F4D50"/>
                </a:solidFill>
                <a:latin typeface="Cambria Math"/>
                <a:ea typeface="微软雅黑"/>
              </a:rPr>
              <a:t> L h / m 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51206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D7C2B"/>
                </a:solidFill>
                <a:latin typeface="Microsoft YaHei"/>
                <a:ea typeface="微软雅黑"/>
              </a:rPr>
              <a:t>运动过程的位移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4D50"/>
                </a:solidFill>
                <a:latin typeface="Cambria Math"/>
                <a:ea typeface="微软雅黑"/>
              </a:rPr>
              <a:t>s = x</a:t>
            </a:r>
            <a:r>
              <a:rPr sz="1500" b="1" i="0" baseline="-25000">
                <a:solidFill>
                  <a:srgbClr val="4F4D50"/>
                </a:solidFill>
                <a:latin typeface="Cambria Math"/>
                <a:ea typeface="微软雅黑"/>
              </a:rPr>
              <a:t>m</a:t>
            </a:r>
            <a:r>
              <a:rPr sz="1500" b="1" i="0">
                <a:solidFill>
                  <a:srgbClr val="4F4D50"/>
                </a:solidFill>
                <a:latin typeface="Cambria Math"/>
                <a:ea typeface="微软雅黑"/>
              </a:rPr>
              <a:t> = h ( 1 − μmg/(B I</a:t>
            </a:r>
            <a:r>
              <a:rPr sz="1500" b="1" i="0" baseline="-25000">
                <a:solidFill>
                  <a:srgbClr val="4F4D50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F4D50"/>
                </a:solidFill>
                <a:latin typeface="Cambria Math"/>
                <a:ea typeface="微软雅黑"/>
              </a:rPr>
              <a:t> L) ) = h − μ m g h /(B I</a:t>
            </a:r>
            <a:r>
              <a:rPr sz="1500" b="1" i="0" baseline="-25000">
                <a:solidFill>
                  <a:srgbClr val="4F4D50"/>
                </a:solidFill>
                <a:latin typeface="Cambria Math"/>
                <a:ea typeface="微软雅黑"/>
              </a:rPr>
              <a:t>0</a:t>
            </a:r>
            <a:r>
              <a:rPr sz="1500" b="1" i="0">
                <a:solidFill>
                  <a:srgbClr val="4F4D50"/>
                </a:solidFill>
                <a:latin typeface="Cambria Math"/>
                <a:ea typeface="微软雅黑"/>
              </a:rPr>
              <a:t> 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69080"/>
            <a:ext cx="11201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检验与讨论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① 当 λ → 1（安培力刚好只能克服摩擦）时 v</a:t>
            </a:r>
            <a:r>
              <a:rPr sz="125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m</a:t>
            </a: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 → 0、s → 0，结果合理；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② B、I</a:t>
            </a:r>
            <a:r>
              <a:rPr sz="125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0</a:t>
            </a: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、L、h 越大，或 μ、m 越小，最大速度越大；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F4D50"/>
                </a:solidFill>
                <a:latin typeface="Microsoft YaHei"/>
                <a:ea typeface="微软雅黑"/>
              </a:rPr>
              <a:t>③ 达到最大速度后安培力继续减小，棒做减速运动（本题只要求到速度最大的过程）。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02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02 ｜ 第（3）问：安培力做功与“恰好到达 O”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97280"/>
            <a:ext cx="6675120" cy="132588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88720"/>
            <a:ext cx="6217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4D7C2B"/>
                </a:solidFill>
                <a:latin typeface="Microsoft YaHei"/>
                <a:ea typeface="微软雅黑"/>
              </a:rPr>
              <a:t>① 安培力做功（F–x 图线下面积）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4D7C2B"/>
                </a:solidFill>
                <a:latin typeface="Cambria Math"/>
                <a:ea typeface="微软雅黑"/>
              </a:rPr>
              <a:t>W(I) = ∫</a:t>
            </a:r>
            <a:r>
              <a:rPr sz="17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0</a:t>
            </a:r>
            <a:r>
              <a:rPr sz="1700" b="1" i="0" baseline="30000">
                <a:solidFill>
                  <a:srgbClr val="4D7C2B"/>
                </a:solidFill>
                <a:latin typeface="Cambria Math"/>
                <a:ea typeface="微软雅黑"/>
              </a:rPr>
              <a:t>h</a:t>
            </a:r>
            <a:r>
              <a:rPr sz="1700" b="1" i="0">
                <a:solidFill>
                  <a:srgbClr val="4D7C2B"/>
                </a:solidFill>
                <a:latin typeface="Cambria Math"/>
                <a:ea typeface="微软雅黑"/>
              </a:rPr>
              <a:t> B I L (1 − x/h) dx = ½ B L h 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F7F7F"/>
                </a:solidFill>
                <a:latin typeface="Microsoft YaHei"/>
                <a:ea typeface="微软雅黑"/>
              </a:rPr>
              <a:t>即 W 与电流 I 成正比。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66751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0B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06624"/>
            <a:ext cx="6217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4D7C2B"/>
                </a:solidFill>
                <a:latin typeface="Microsoft YaHei"/>
                <a:ea typeface="微软雅黑"/>
              </a:rPr>
              <a:t>② 恰好到达顶点 O：到 O 时速度恰为零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4D7C2B"/>
                </a:solidFill>
                <a:latin typeface="Cambria Math"/>
                <a:ea typeface="微软雅黑"/>
              </a:rPr>
              <a:t>½ B L h I − μ m g h = 0　⟹　I = 2μmg/(BL)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F7F7F"/>
                </a:solidFill>
                <a:latin typeface="Microsoft YaHei"/>
                <a:ea typeface="微软雅黑"/>
              </a:rPr>
              <a:t>全程摩擦力做功 W</a:t>
            </a:r>
            <a:r>
              <a:rPr sz="1150" b="0" i="0" baseline="-25000">
                <a:solidFill>
                  <a:srgbClr val="7F7F7F"/>
                </a:solidFill>
                <a:latin typeface="Microsoft YaHei"/>
                <a:ea typeface="微软雅黑"/>
              </a:rPr>
              <a:t>f</a:t>
            </a:r>
            <a:r>
              <a:rPr sz="1150" b="0" i="0">
                <a:solidFill>
                  <a:srgbClr val="7F7F7F"/>
                </a:solidFill>
                <a:latin typeface="Microsoft YaHei"/>
                <a:ea typeface="微软雅黑"/>
              </a:rPr>
              <a:t> = −μmg·h（棒移动 h）。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43400"/>
            <a:ext cx="6675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4D7C2B"/>
                </a:solidFill>
                <a:latin typeface="Microsoft YaHei"/>
                <a:ea typeface="微软雅黑"/>
              </a:rPr>
              <a:t>验证（a 是否变号）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4D50"/>
                </a:solidFill>
                <a:latin typeface="Microsoft YaHei"/>
                <a:ea typeface="微软雅黑"/>
              </a:rPr>
              <a:t>代入 I = 2μmg/(BL)：a = μg (1 − 2x/h)，在 x &lt; h/2 内加速、x &gt; h/2 内减速，到达 O 时速度恰好减为零，运动单调不反向 —— 符合“恰好到达”。</a:t>
            </a:r>
          </a:p>
        </p:txBody>
      </p:sp>
      <p:pic>
        <p:nvPicPr>
          <p:cNvPr id="15" name="Picture 14" descr="slide_f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4343400" cy="3044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0920" y="4892040"/>
            <a:ext cx="4343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F7F7F"/>
                </a:solidFill>
                <a:latin typeface="Microsoft YaHei"/>
                <a:ea typeface="微软雅黑"/>
              </a:rPr>
              <a:t>面积关系：W = ½ · BIL · h；令 W 等于克服摩擦力做的功，即得临界电流。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02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02 ｜ 第（3）问：棒不离开磁场时 I 的取值范围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97280"/>
            <a:ext cx="11201400" cy="118872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07008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设棒停下时的位置为 x</a:t>
            </a:r>
            <a:r>
              <a:rPr sz="130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s</a:t>
            </a: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，由动能定理（v = 0）：½ m v² = B I L x</a:t>
            </a:r>
            <a:r>
              <a:rPr sz="130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s</a:t>
            </a: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 − B I L x</a:t>
            </a:r>
            <a:r>
              <a:rPr sz="130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s</a:t>
            </a: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²/(2h) − μmg x</a:t>
            </a:r>
            <a:r>
              <a:rPr sz="1300" b="0" i="0" baseline="-25000">
                <a:solidFill>
                  <a:srgbClr val="4F4D50"/>
                </a:solidFill>
                <a:latin typeface="Microsoft YaHei"/>
                <a:ea typeface="微软雅黑"/>
              </a:rPr>
              <a:t>s</a:t>
            </a: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 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D7C2B"/>
                </a:solidFill>
                <a:latin typeface="Cambria Math"/>
                <a:ea typeface="微软雅黑"/>
              </a:rPr>
              <a:t>x</a:t>
            </a:r>
            <a:r>
              <a:rPr sz="1400" b="1" i="0" baseline="-25000">
                <a:solidFill>
                  <a:srgbClr val="4D7C2B"/>
                </a:solidFill>
                <a:latin typeface="Cambria Math"/>
                <a:ea typeface="微软雅黑"/>
              </a:rPr>
              <a:t>s</a:t>
            </a:r>
            <a:r>
              <a:rPr sz="1400" b="1" i="0">
                <a:solidFill>
                  <a:srgbClr val="4D7C2B"/>
                </a:solidFill>
                <a:latin typeface="Cambria Math"/>
                <a:ea typeface="微软雅黑"/>
              </a:rPr>
              <a:t> = 2h ( 1 − μmg/(B I L) ) ≤ h　⟹　I ≤ 2μmg/(BL)；又需 B I L &gt; μmg，即 I &gt; μmg/(BL)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11201400" cy="868680"/>
          </a:xfrm>
          <a:prstGeom prst="rect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 lIns="201168" rIns="182880" tIns="73152" bIns="7315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Cambria Math"/>
                <a:ea typeface="微软雅黑"/>
              </a:rPr>
              <a:t>μmg/(BL) &lt; I ≤ 2μmg/(BL)</a:t>
            </a: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886968" y="3310128"/>
            <a:ext cx="365760" cy="182880"/>
          </a:xfrm>
          <a:prstGeom prst="triangle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112014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讨论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① I = 2μmg/(BL)：临界情况，棒恰好到达顶点 O；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② I &lt; 2μmg/(BL)：棒在三角形内部某处停下，始终处于磁场之中；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③ I &gt; 2μmg/(BL)：棒到达 O 时仍有速度，将冲出 O 点而离开磁场（应排除）；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④ 若不以“棒必须运动”为前提，则只需 0 &lt; I ≤ 2μmg/(BL)：当 I ≤ μmg/(BL) 时棒静止不动，同样一直留在磁场内。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02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02 ｜ 答案汇总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325880"/>
          <a:ext cx="1092708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555480"/>
              </a:tblGrid>
              <a:tr h="5669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</a:rPr>
                        <a:t>问</a:t>
                      </a:r>
                    </a:p>
                  </a:txBody>
                  <a:tcPr anchor="ctr" marL="137160" marR="91440">
                    <a:solidFill>
                      <a:srgbClr val="5481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微软雅黑"/>
                        </a:rPr>
                        <a:t>结果</a:t>
                      </a:r>
                    </a:p>
                  </a:txBody>
                  <a:tcPr anchor="ctr" marL="137160" marR="91440">
                    <a:solidFill>
                      <a:srgbClr val="54813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D7C2B"/>
                          </a:solidFill>
                          <a:latin typeface="Microsoft YaHei"/>
                          <a:ea typeface="微软雅黑"/>
                        </a:rPr>
                        <a:t>（1）</a:t>
                      </a:r>
                    </a:p>
                  </a:txBody>
                  <a:tcPr anchor="ctr" marL="137160" marR="109728">
                    <a:solidFill>
                      <a:srgbClr val="EEF4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F</a:t>
                      </a:r>
                      <a:r>
                        <a:rPr sz="1300" b="0" i="0" baseline="-2500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0</a:t>
                      </a: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 = B I</a:t>
                      </a:r>
                      <a:r>
                        <a:rPr sz="1300" b="0" i="0" baseline="-2500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0</a:t>
                      </a: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 L，方向垂直于棒 AB、指向顶点 O（水平向右）</a:t>
                      </a:r>
                    </a:p>
                  </a:txBody>
                  <a:tcPr anchor="ctr" marL="137160" marR="109728">
                    <a:solidFill>
                      <a:srgbClr val="EEF4E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D7C2B"/>
                          </a:solidFill>
                          <a:latin typeface="Microsoft YaHei"/>
                          <a:ea typeface="微软雅黑"/>
                        </a:rPr>
                        <a:t>（2）</a:t>
                      </a:r>
                    </a:p>
                  </a:txBody>
                  <a:tcPr anchor="ctr" marL="137160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v</a:t>
                      </a:r>
                      <a:r>
                        <a:rPr sz="1300" b="0" i="0" baseline="-2500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m</a:t>
                      </a: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 = ( 1 − μmg/(B I</a:t>
                      </a:r>
                      <a:r>
                        <a:rPr sz="1300" b="0" i="0" baseline="-2500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0</a:t>
                      </a: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 L) ) √( B I</a:t>
                      </a:r>
                      <a:r>
                        <a:rPr sz="1300" b="0" i="0" baseline="-2500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0</a:t>
                      </a: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 L h / m )；位移 s = h ( 1 − μmg/(B I</a:t>
                      </a:r>
                      <a:r>
                        <a:rPr sz="1300" b="0" i="0" baseline="-2500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0</a:t>
                      </a: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 L) )　（需 B I</a:t>
                      </a:r>
                      <a:r>
                        <a:rPr sz="1300" b="0" i="0" baseline="-2500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0</a:t>
                      </a: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 L &gt; μmg）</a:t>
                      </a:r>
                    </a:p>
                  </a:txBody>
                  <a:tcPr anchor="ctr" marL="137160" marR="10972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D7C2B"/>
                          </a:solidFill>
                          <a:latin typeface="Microsoft YaHei"/>
                          <a:ea typeface="微软雅黑"/>
                        </a:rPr>
                        <a:t>（3）</a:t>
                      </a:r>
                    </a:p>
                  </a:txBody>
                  <a:tcPr anchor="ctr" marL="137160" marR="109728">
                    <a:solidFill>
                      <a:srgbClr val="EEF4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F4D50"/>
                          </a:solidFill>
                          <a:latin typeface="Cambria Math"/>
                          <a:ea typeface="微软雅黑"/>
                        </a:rPr>
                        <a:t>W(I) = ½ B L h I；恰好到达 O：I = 2μmg/(BL)；不离开磁场：μmg/(BL) &lt; I ≤ 2μmg/(BL)</a:t>
                      </a:r>
                    </a:p>
                  </a:txBody>
                  <a:tcPr anchor="ctr" marL="137160" marR="109728">
                    <a:solidFill>
                      <a:srgbClr val="EEF4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983480"/>
            <a:ext cx="10927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D7C2B"/>
                </a:solidFill>
                <a:latin typeface="Microsoft YaHei"/>
                <a:ea typeface="微软雅黑"/>
              </a:rPr>
              <a:t>一句话总结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4D50"/>
                </a:solidFill>
                <a:latin typeface="Microsoft YaHei"/>
                <a:ea typeface="微软雅黑"/>
              </a:rPr>
              <a:t>关键只有两点：一是“有效长度”随位置线性减小，安培力 F(x) = BIL(1 − x/h) 是变力；二是变力做功可用 F–x 图线面积（三角形面积 W = ½BIhL）或动能定理求解。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828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F1F1"/>
                </a:solidFill>
                <a:latin typeface="Arial"/>
                <a:ea typeface="Arial"/>
              </a:rPr>
              <a:t>PART 02</a:t>
            </a:r>
          </a:p>
        </p:txBody>
      </p:sp>
      <p:sp>
        <p:nvSpPr>
          <p:cNvPr id="3" name="Diamond 2"/>
          <p:cNvSpPr/>
          <p:nvPr/>
        </p:nvSpPr>
        <p:spPr>
          <a:xfrm>
            <a:off x="457200" y="219456"/>
            <a:ext cx="274320" cy="274320"/>
          </a:xfrm>
          <a:prstGeom prst="diamond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30352" y="301752"/>
            <a:ext cx="274320" cy="274320"/>
          </a:xfrm>
          <a:prstGeom prst="diamond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F4D50"/>
                </a:solidFill>
                <a:latin typeface="Microsoft YaHei"/>
                <a:ea typeface="微软雅黑"/>
              </a:rPr>
              <a:t>02 ｜ 方法小结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19456"/>
            <a:ext cx="2027396" cy="786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" y="6419088"/>
            <a:ext cx="11247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Microsoft YaHei"/>
                <a:ea typeface="微软雅黑"/>
              </a:rPr>
              <a:t>第 15 题　安培力与变力做功　|　详细解答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Microsoft YaHei"/>
                <a:ea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99032"/>
            <a:ext cx="1371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5E0B3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435608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4D7C2B"/>
                </a:solidFill>
                <a:latin typeface="Microsoft YaHei"/>
                <a:ea typeface="微软雅黑"/>
              </a:rPr>
              <a:t>题眼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4D50"/>
                </a:solidFill>
                <a:latin typeface="Microsoft YaHei"/>
                <a:ea typeface="微软雅黑"/>
              </a:rPr>
              <a:t>棒越靠近顶点 O，两导轨间距越小，棒在磁场中的有效长度线性减小，故安培力 F(x) = BIl(x) 是随位置均匀减小的变力。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15768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1371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5E0B3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16936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4D7C2B"/>
                </a:solidFill>
                <a:latin typeface="Microsoft YaHei"/>
                <a:ea typeface="微软雅黑"/>
              </a:rPr>
              <a:t>变力做功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4D50"/>
                </a:solidFill>
                <a:latin typeface="Microsoft YaHei"/>
                <a:ea typeface="微软雅黑"/>
              </a:rPr>
              <a:t>两条常用途径：① 作 F–x 图线，用图线与横轴围成的面积求功（本题恰为三角形，最简便）；② 用动能定理。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97096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EEF4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61688"/>
            <a:ext cx="1371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5E0B3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398264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4D7C2B"/>
                </a:solidFill>
                <a:latin typeface="Microsoft YaHei"/>
                <a:ea typeface="微软雅黑"/>
              </a:rPr>
              <a:t>三类问法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4D50"/>
                </a:solidFill>
                <a:latin typeface="Microsoft YaHei"/>
                <a:ea typeface="微软雅黑"/>
              </a:rPr>
              <a:t>求最大速度 → 合力为零（a = 0）；求“恰好到达某处” → 该处速度为零；求“不离开磁场” → 停止位置不超过顶点 O。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813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732520" y="-1051560"/>
            <a:ext cx="3291840" cy="3291840"/>
          </a:xfrm>
          <a:prstGeom prst="diamond">
            <a:avLst/>
          </a:prstGeom>
          <a:solidFill>
            <a:srgbClr val="C5E0B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-960120" y="4434840"/>
            <a:ext cx="3291840" cy="3291840"/>
          </a:xfrm>
          <a:prstGeom prst="diamond">
            <a:avLst/>
          </a:prstGeom>
          <a:solidFill>
            <a:srgbClr val="FEE59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320040"/>
            <a:ext cx="2239566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548134"/>
                </a:solidFill>
                <a:latin typeface="Microsoft YaHei"/>
                <a:ea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0" y="3611880"/>
            <a:ext cx="1828800" cy="45720"/>
          </a:xfrm>
          <a:prstGeom prst="rect">
            <a:avLst/>
          </a:prstGeom>
          <a:solidFill>
            <a:srgbClr val="FEC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4F4D50"/>
                </a:solidFill>
                <a:latin typeface="Microsoft YaHei"/>
                <a:ea typeface="微软雅黑"/>
              </a:rPr>
              <a:t>安培力与变力做功 —— 第 15 题详细解答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F7F7F"/>
                </a:solidFill>
                <a:latin typeface="Cambria Math"/>
                <a:ea typeface="微软雅黑"/>
              </a:rPr>
              <a:t>F(x) = B I L (1 − x/h)　|　W = ½ B L h I　|　μmg/(BL) &lt; I ≤ 2μmg/(BL)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