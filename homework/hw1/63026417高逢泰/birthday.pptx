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30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0"/>
            <a:ext cx="91440" cy="685800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1280160"/>
            <a:ext cx="4206240" cy="42062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20" y="3108960"/>
            <a:ext cx="3108960" cy="3108960"/>
          </a:xfrm>
          <a:prstGeom prst="ellipse">
            <a:avLst/>
          </a:prstGeom>
          <a:solidFill>
            <a:srgbClr val="246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051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AEE05A"/>
                </a:solidFill>
                <a:latin typeface="Microsoft YaHei"/>
                <a:ea typeface="Microsoft YaHei"/>
                <a:cs typeface="Microsoft YaHei"/>
              </a:rPr>
              <a:t>SASMO 2015 · 经典逻辑推理题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00200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生日逻辑谜题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27248"/>
            <a:ext cx="2011680" cy="64008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3401568"/>
            <a:ext cx="9326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AEE05A"/>
                </a:solidFill>
                <a:latin typeface="Microsoft YaHei"/>
                <a:ea typeface="Microsoft YaHei"/>
                <a:cs typeface="Microsoft YaHei"/>
              </a:rPr>
              <a:t>Cheryl 生日问题 —— 从三句话中锁定唯一答案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69080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8E6C9"/>
                </a:solidFill>
                <a:latin typeface="Microsoft YaHei"/>
                <a:ea typeface="Microsoft YaHei"/>
                <a:cs typeface="Microsoft YaHei"/>
              </a:rPr>
              <a:t>逐步排除 ｜ 二阶知识推理 ｜ Python 枚举验证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4800600"/>
            <a:ext cx="5120640" cy="27432"/>
          </a:xfrm>
          <a:prstGeom prst="rect">
            <a:avLst/>
          </a:prstGeom>
          <a:solidFill>
            <a:srgbClr val="4C8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502920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FDBC0"/>
                </a:solidFill>
                <a:latin typeface="Microsoft YaHei"/>
                <a:ea typeface="Microsoft YaHei"/>
                <a:cs typeface="Microsoft YaHei"/>
              </a:rPr>
              <a:t>内容：题目与来源 → 三句话逐步推理 → Python 验证 → 逻辑启示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FDBC0"/>
                </a:solidFill>
                <a:latin typeface="Microsoft YaHei"/>
                <a:ea typeface="Microsoft YaHei"/>
                <a:cs typeface="Microsoft YaHei"/>
              </a:rPr>
              <a:t>适用：课堂讲解 / 小组展示 ｜ 时长约 15–20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46304" cy="566928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948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题目原文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90127" y="4754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先读懂每一句话是谁说的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15568"/>
            <a:ext cx="10874959" cy="32004"/>
          </a:xfrm>
          <a:prstGeom prst="rect">
            <a:avLst/>
          </a:prstGeom>
          <a:solidFill>
            <a:srgbClr val="E9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115568"/>
            <a:ext cx="2377440" cy="32004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甲、乙、丙三人是刚刚认识的朋友。甲列出自己生日的范围（共 10 个可能日期）：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39496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82296" cy="3520439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甲给出的 10 个候选日期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395728"/>
            <a:ext cx="1542287" cy="475488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2688" y="2459736"/>
            <a:ext cx="64008" cy="34747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2468880"/>
            <a:ext cx="1322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5月15日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84704" y="2395728"/>
            <a:ext cx="1542287" cy="475488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84704" y="2459736"/>
            <a:ext cx="64008" cy="34747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31008" y="2468880"/>
            <a:ext cx="1322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5月16日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6720" y="2395728"/>
            <a:ext cx="1542287" cy="475488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36720" y="2459736"/>
            <a:ext cx="64008" cy="34747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3024" y="2468880"/>
            <a:ext cx="1322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5月19日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2980944"/>
            <a:ext cx="1542287" cy="475488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" y="3044952"/>
            <a:ext cx="64008" cy="34747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3054096"/>
            <a:ext cx="1322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6月17日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84704" y="2980944"/>
            <a:ext cx="1542287" cy="475488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84704" y="3044952"/>
            <a:ext cx="64008" cy="34747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31008" y="3054096"/>
            <a:ext cx="1322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6月18日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36720" y="2980944"/>
            <a:ext cx="1542287" cy="475488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36720" y="3044952"/>
            <a:ext cx="64008" cy="34747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3024" y="3054096"/>
            <a:ext cx="1322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7月14日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3566160"/>
            <a:ext cx="1542287" cy="475488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2688" y="3630168"/>
            <a:ext cx="64008" cy="34747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992" y="3639312"/>
            <a:ext cx="1322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7月16日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84704" y="3566160"/>
            <a:ext cx="1542287" cy="475488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584704" y="3630168"/>
            <a:ext cx="64008" cy="34747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31008" y="3639312"/>
            <a:ext cx="1322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8月14日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36720" y="3566160"/>
            <a:ext cx="1542287" cy="475488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36720" y="3630168"/>
            <a:ext cx="64008" cy="34747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3024" y="3639312"/>
            <a:ext cx="1322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8月15日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" y="4151376"/>
            <a:ext cx="1542287" cy="475488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32688" y="4215384"/>
            <a:ext cx="64008" cy="34747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" y="4224528"/>
            <a:ext cx="1322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8月17日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75488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① 甲把「月份」只告诉乙，把「日子」只告诉丙；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② 因此乙知道「月」，丙知道「日」，但两人都不知道具体日期。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1828800"/>
            <a:ext cx="516636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55080" y="1920240"/>
            <a:ext cx="82296" cy="3520439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11112" y="1993392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三句对话（顺序很重要）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2395728"/>
            <a:ext cx="466344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① 乙：我不知道甲的生日，但我知道丙也不知道。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15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② 丙：我一开始不知道甲的生日，但是现在我知道了。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15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③ 乙：现在我也知道了。</a:t>
            </a:r>
          </a:p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sz="1600" b="1">
                <a:solidFill>
                  <a:srgbClr val="F2A61D"/>
                </a:solidFill>
                <a:latin typeface="Microsoft YaHei"/>
                <a:ea typeface="Microsoft YaHei"/>
                <a:cs typeface="Microsoft YaHei"/>
              </a:rPr>
              <a:t>★ 问题：甲的生日到底是哪一天？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Cheryl 生日问题（SASMO 2015）· 逻辑推理与 Python 验证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4527" y="6419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46304" cy="566928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948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题目来源与背景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90127" y="4754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为什么它被称为“难倒世界的数学题”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15568"/>
            <a:ext cx="10874959" cy="32004"/>
          </a:xfrm>
          <a:prstGeom prst="rect">
            <a:avLst/>
          </a:prstGeom>
          <a:solidFill>
            <a:srgbClr val="E9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115568"/>
            <a:ext cx="2377440" cy="32004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1087495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508760"/>
            <a:ext cx="82296" cy="123444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104177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103720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本题是经典“Cheryl 生日问题”，源自 2015 年新加坡暨亚洲学校数学奥林匹克竞赛（SASMO，Singapore and Asian Schools Math Olympiad）。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原题人物名为 Albert（乙）与 Bernard（丙），答案是 7 月 16 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17520"/>
            <a:ext cx="539496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108960"/>
            <a:ext cx="82296" cy="233172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传播背景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4892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2015 年 4 月，新加坡媒体与社交网络转载后迅速走红，被冠以“难倒世界的数学题”。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“难”不在计算，而在读懂“我知道你不知道”这类关于他人知识的信息。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全球网友给出的错误答案多为 8 月 17 日 —— 只用了前两句话就停下。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017520"/>
            <a:ext cx="516636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3108960"/>
            <a:ext cx="82296" cy="233172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3182112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考查的知识点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56616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信息 = 排除可能性：每句话都是对候选集合的一次筛选。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二阶知识：不仅知道自己知道什么，还能推断“别人知道/不知道什么”。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公共知识（common knowledge）：三人都听到并相信前面每一句话。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Cheryl 生日问题（SASMO 2015）· 逻辑推理与 Python 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04527" y="6419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46304" cy="566928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948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关键信息表：先做“全集统计”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90127" y="4754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只出现一次的日子，就是全题的钥匙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15568"/>
            <a:ext cx="10874959" cy="32004"/>
          </a:xfrm>
          <a:prstGeom prst="rect">
            <a:avLst/>
          </a:prstGeom>
          <a:solidFill>
            <a:srgbClr val="E9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115568"/>
            <a:ext cx="2377440" cy="32004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371600"/>
          <a:ext cx="6400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月份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该月候选日期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候选个数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关键特征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月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日 / 16 日 / 19 日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含唯一日子 19 日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月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日 / 18 日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含唯一日子 18 日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日 / 16 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无唯一日子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月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日 / 15 日 / 17 日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无唯一日子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60920" y="1371600"/>
          <a:ext cx="4169664" cy="2944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日子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出现次数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对应日期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7月14日 / 8月14日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日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次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5月15日 / 8月15日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5月16日 / 7月16日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日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次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6月17日 / 8月17日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日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次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6月18日（唯一）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日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次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5月19日（唯一）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029200"/>
            <a:ext cx="1087495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5120640"/>
            <a:ext cx="82296" cy="105156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193792"/>
            <a:ext cx="104177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读表要点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37203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若丙拿到的日子是 18 或 19，他不需要任何对话就能立刻说出答案 → 这两个日子是「危险信号」。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4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• 乙能说「我知道丙也不知道」，就等于宣布：他那个月份里绝对没有 18 日或 19 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Cheryl 生日问题（SASMO 2015）· 逻辑推理与 Python 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4527" y="6419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46304" cy="566928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948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第 1 步：乙的第一句话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90127" y="4754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排除 5 月与 6 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15568"/>
            <a:ext cx="10874959" cy="32004"/>
          </a:xfrm>
          <a:prstGeom prst="rect">
            <a:avLst/>
          </a:prstGeom>
          <a:solidFill>
            <a:srgbClr val="E9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115568"/>
            <a:ext cx="2377440" cy="32004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63040"/>
            <a:ext cx="82296" cy="4023359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乙的话拆成两个条件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754880" cy="3520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乙知道的是「月份」。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00" b="1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① “我不知道” → 该月份的候选日期必须多于 1 个。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00" b="1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② “我知道丙也不知道” → 该月份里所有日子的「日」，在 10 个候选日期中都必须重复出现过；否则丙可能拿到 18 日或 19 日而当场知道，乙就不敢打包票。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1400" b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逐月检验：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✘ 5 月含 19 日（全局唯一）→ 排除；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✘ 6 月含 18 日（全局唯一）→ 排除；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✔ 7 月（14/16 日都重复）→ 保留；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✔ 8 月（14/15/17 日都重复）→ 保留。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63640" y="1371600"/>
          <a:ext cx="5266944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9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月份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候选日期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乙是否知道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丙是否可能知道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/ 16 / 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不知道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可能（19 日唯一）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月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/ 18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不知道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可能（18 日唯一）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月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/ 16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不知道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不可能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月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/ 15 / 17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不知道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不可能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63640" y="3858768"/>
            <a:ext cx="5266944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3950207"/>
            <a:ext cx="82296" cy="153619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4023359"/>
            <a:ext cx="48097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第 1 步后剩余候选：5 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526280"/>
            <a:ext cx="1511808" cy="420624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37960" y="4590288"/>
            <a:ext cx="64008" cy="292608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84264" y="4599432"/>
            <a:ext cx="129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7月14日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9496" y="4526280"/>
            <a:ext cx="1511808" cy="420624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59496" y="4590288"/>
            <a:ext cx="64008" cy="292608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5800" y="4599432"/>
            <a:ext cx="129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7月16日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1032" y="4526280"/>
            <a:ext cx="1511808" cy="420624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81032" y="4590288"/>
            <a:ext cx="64008" cy="292608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27336" y="4599432"/>
            <a:ext cx="129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8月14日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5056632"/>
            <a:ext cx="1511808" cy="420624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37960" y="5120640"/>
            <a:ext cx="64008" cy="292608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5129784"/>
            <a:ext cx="129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8月15日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9496" y="5056632"/>
            <a:ext cx="1511808" cy="420624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59496" y="5120640"/>
            <a:ext cx="64008" cy="292608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05800" y="5129784"/>
            <a:ext cx="129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8月17日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715000"/>
            <a:ext cx="2581579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5715000"/>
            <a:ext cx="91440" cy="45720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9536" y="5769864"/>
            <a:ext cx="22158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初始候选 10 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934456"/>
            <a:ext cx="22158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10 个候选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2827" y="5715000"/>
            <a:ext cx="2581579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422827" y="5715000"/>
            <a:ext cx="91440" cy="45720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23995" y="5769864"/>
            <a:ext cx="22158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步后 5 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23995" y="5934456"/>
            <a:ext cx="22158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EE05A"/>
                </a:solidFill>
                <a:latin typeface="Microsoft YaHei"/>
                <a:ea typeface="Microsoft YaHei"/>
                <a:cs typeface="Microsoft YaHei"/>
              </a:rPr>
              <a:t>5 个候选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7287" y="5715000"/>
            <a:ext cx="2581579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87287" y="5715000"/>
            <a:ext cx="91440" cy="45720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88455" y="5769864"/>
            <a:ext cx="22158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第 2 步后 3 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8455" y="5934456"/>
            <a:ext cx="22158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3 个候选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51747" y="5715000"/>
            <a:ext cx="2581579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951747" y="5715000"/>
            <a:ext cx="91440" cy="45720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52915" y="5769864"/>
            <a:ext cx="22158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第 3 步后 1 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2915" y="5934456"/>
            <a:ext cx="22158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1 个候选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Cheryl 生日问题（SASMO 2015）· 逻辑推理与 Python 验证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4527" y="6419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46304" cy="566928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948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第 2 步：丙的第二句话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90127" y="4754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排除 14 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15568"/>
            <a:ext cx="10874959" cy="32004"/>
          </a:xfrm>
          <a:prstGeom prst="rect">
            <a:avLst/>
          </a:prstGeom>
          <a:solidFill>
            <a:srgbClr val="E9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115568"/>
            <a:ext cx="2377440" cy="32004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63040"/>
            <a:ext cx="82296" cy="4023359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丙的话拆成两个条件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754880" cy="3520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丙知道的是「日子」，且他听到了乙的第一句话。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00" b="1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① “我一开始不知道” → 他的日子在 10 个候选日期中不是唯一的（排除 18、19 日后自动成立）。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00" b="1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② “现在我知道了” → 在乙压缩后的 5 个候选日期中，他那个日子必须只剩 1 个可能日期。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1400" b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逐个日子检验（对照第 1 步后的 5 个候选）：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✘ 14 日 → 7月14日 与 8月14日 仍然并存 → 丙不可能知道，排除；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✔ 15 日 → 只剩 8月15日；16 日 → 只剩 7月16日；17 日 → 只剩 8月17日。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63640" y="1371600"/>
          <a:ext cx="5266944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丙拿到的日子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步后对应的候选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丙能否说“我知道了”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日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7月14日 / 8月14日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不能（仍有两种可能）→ 排除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日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8月15日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 ✔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7月16日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 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日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8月17日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 ✔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63640" y="3858768"/>
            <a:ext cx="5266944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3950207"/>
            <a:ext cx="82296" cy="1536192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4023359"/>
            <a:ext cx="48097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第 2 步后剩余候选：3 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526280"/>
            <a:ext cx="1511808" cy="420624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37960" y="4590288"/>
            <a:ext cx="64008" cy="292608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84264" y="4599432"/>
            <a:ext cx="129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7月16日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9496" y="4526280"/>
            <a:ext cx="1511808" cy="420624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59496" y="4590288"/>
            <a:ext cx="64008" cy="292608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5800" y="4599432"/>
            <a:ext cx="129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8月15日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1032" y="4526280"/>
            <a:ext cx="1511808" cy="420624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81032" y="4590288"/>
            <a:ext cx="64008" cy="292608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27336" y="4599432"/>
            <a:ext cx="129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8月17日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715000"/>
            <a:ext cx="2581579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5715000"/>
            <a:ext cx="91440" cy="45720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5769864"/>
            <a:ext cx="22158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初始候选 10 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934456"/>
            <a:ext cx="22158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10 个候选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2827" y="5715000"/>
            <a:ext cx="2581579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22827" y="5715000"/>
            <a:ext cx="91440" cy="45720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23995" y="5769864"/>
            <a:ext cx="22158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第 1 步后 5 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3995" y="5934456"/>
            <a:ext cx="22158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5 个候选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7287" y="5715000"/>
            <a:ext cx="2581579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87287" y="5715000"/>
            <a:ext cx="91440" cy="45720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88455" y="5769864"/>
            <a:ext cx="22158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步后 3 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8455" y="5934456"/>
            <a:ext cx="22158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EE05A"/>
                </a:solidFill>
                <a:latin typeface="Microsoft YaHei"/>
                <a:ea typeface="Microsoft YaHei"/>
                <a:cs typeface="Microsoft YaHei"/>
              </a:rPr>
              <a:t>3 个候选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51747" y="5715000"/>
            <a:ext cx="2581579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51747" y="5715000"/>
            <a:ext cx="91440" cy="45720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52915" y="5769864"/>
            <a:ext cx="22158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第 3 步后 1 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52915" y="5934456"/>
            <a:ext cx="22158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1 个候选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Cheryl 生日问题（SASMO 2015）· 逻辑推理与 Python 验证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04527" y="6419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46304" cy="566928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948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第 3 步：乙的第三句话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90127" y="4754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锁定 7 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15568"/>
            <a:ext cx="10874959" cy="32004"/>
          </a:xfrm>
          <a:prstGeom prst="rect">
            <a:avLst/>
          </a:prstGeom>
          <a:solidFill>
            <a:srgbClr val="E9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115568"/>
            <a:ext cx="2377440" cy="32004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63040"/>
            <a:ext cx="82296" cy="4023359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乙的话只用一个条件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754880" cy="3520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乙知道的是「月份」，他听到了丙的第二句话。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00" b="1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① “现在我也知道了” → 在第 2 步剩下的 3 个候选日期中，他那个月份必须只剩 1 个候选日期。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15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✔ 7 月：只剩 7月16日 1 个 → 乙立刻知道 ✔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✘ 8 月：还剩 8月15日、8月17日 2 个 → 乙仍然无法确定 ✘ 排除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1350" b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注意：如果答案是 8 月，乙在丙说完之后仍然分不清 15 日与 17 日，他就不可能说“现在我也知道了”。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63640" y="1371600"/>
          <a:ext cx="5266944" cy="1508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乙拿到的月份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 步后该月剩余候选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候选个数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月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7月16日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5E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乙能确定 ✔</a:t>
                      </a:r>
                    </a:p>
                  </a:txBody>
                  <a:tcPr marL="73152" marR="73152" marT="27432" marB="27432" anchor="ctr">
                    <a:solidFill>
                      <a:srgbClr val="FFF4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月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8月15日 / 8月17日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乙仍不确定 ✘ 排除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63640" y="3291840"/>
            <a:ext cx="526694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3383280"/>
            <a:ext cx="82296" cy="210312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3456432"/>
            <a:ext cx="48097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第 3 步后：候选唯一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840480"/>
            <a:ext cx="4764024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10 个候选日期经过三次筛选：10 → 5 → 3 → 1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唯一的幸存者就是甲的生日。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892040"/>
            <a:ext cx="4754880" cy="502920"/>
          </a:xfrm>
          <a:prstGeom prst="roundRect">
            <a:avLst>
              <a:gd name="adj" fmla="val 25000"/>
            </a:avLst>
          </a:prstGeom>
          <a:solidFill>
            <a:srgbClr val="FF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37960" y="4956048"/>
            <a:ext cx="64008" cy="374904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84264" y="4965192"/>
            <a:ext cx="4535424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7月16日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715000"/>
            <a:ext cx="2581579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5715000"/>
            <a:ext cx="91440" cy="45720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5769864"/>
            <a:ext cx="22158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初始候选 10 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934456"/>
            <a:ext cx="22158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10 个候选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2827" y="5715000"/>
            <a:ext cx="2581579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22827" y="5715000"/>
            <a:ext cx="91440" cy="45720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23995" y="5769864"/>
            <a:ext cx="22158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第 1 步后 5 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3995" y="5934456"/>
            <a:ext cx="22158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5 个候选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7287" y="5715000"/>
            <a:ext cx="2581579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87287" y="5715000"/>
            <a:ext cx="91440" cy="45720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88455" y="5769864"/>
            <a:ext cx="22158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第 2 步后 3 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8455" y="5934456"/>
            <a:ext cx="22158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3 个候选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1747" y="5715000"/>
            <a:ext cx="2581579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51747" y="5715000"/>
            <a:ext cx="91440" cy="45720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52915" y="5769864"/>
            <a:ext cx="22158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步后 1 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2915" y="5934456"/>
            <a:ext cx="22158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EE05A"/>
                </a:solidFill>
                <a:latin typeface="Microsoft YaHei"/>
                <a:ea typeface="Microsoft YaHei"/>
                <a:cs typeface="Microsoft YaHei"/>
              </a:rPr>
              <a:t>1 个候选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Cheryl 生日问题（SASMO 2015）· 逻辑推理与 Python 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04527" y="6419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46304" cy="566928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948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最终答案：7 月 16 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90127" y="4754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三句话把 10 个候选压缩成 1 个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15568"/>
            <a:ext cx="10874959" cy="32004"/>
          </a:xfrm>
          <a:prstGeom prst="rect">
            <a:avLst/>
          </a:prstGeom>
          <a:solidFill>
            <a:srgbClr val="E9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115568"/>
            <a:ext cx="2377440" cy="32004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0874959" cy="1234440"/>
          </a:xfrm>
          <a:prstGeom prst="roundRect">
            <a:avLst>
              <a:gd name="adj" fmla="val 12000"/>
            </a:avLst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146304" cy="123444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1536192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甲的生日是：7 月 16 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0" i="0">
                <a:solidFill>
                  <a:srgbClr val="AEE05A"/>
                </a:solidFill>
                <a:latin typeface="Microsoft YaHei"/>
                <a:ea typeface="Microsoft YaHei"/>
                <a:cs typeface="Microsoft YaHei"/>
              </a:rPr>
              <a:t>July 16 ｜ Cheryl's birthday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2834640"/>
          <a:ext cx="10872216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假设生日 = 7月16日 时，说话人掌握的信息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乙①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拿到 7 月：该月 14 日、16 日都不是全局唯一日子 → 乙不知道，</a:t>
                      </a:r>
                      <a:br/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且能确定丙（无论拿到 14 还是 16）也不知道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成立 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丙②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拿到 16 日：全局有两处（5月16日、7月16日）→ 一开始不知道；</a:t>
                      </a:r>
                      <a:br/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乙排除 5 月后只剩 7月16日 → 现在知道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成立 ✔</a:t>
                      </a:r>
                    </a:p>
                  </a:txBody>
                  <a:tcPr marL="73152" marR="73152" marT="27432" marB="27432" anchor="ctr">
                    <a:solidFill>
                      <a:srgbClr val="E9F6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乙③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拿到 7 月：丙排除 14 日后，7 月只剩 7月16日 → 乙也知道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A33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成立 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" y="5532120"/>
            <a:ext cx="10874959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5623559"/>
            <a:ext cx="82296" cy="54864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696712"/>
            <a:ext cx="10372039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反向自检：三句话必须同时成立；若假设 8 月 17 日，第三句话就不成立 —— 这是最常见的错误答案。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Cheryl 生日问题（SASMO 2015）· 逻辑推理与 Python 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04527" y="6419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46304" cy="566928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948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Python 代码验证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90127" y="4754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把三句话翻译成三个集合筛选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15568"/>
            <a:ext cx="10874959" cy="32004"/>
          </a:xfrm>
          <a:prstGeom prst="rect">
            <a:avLst/>
          </a:prstGeom>
          <a:solidFill>
            <a:srgbClr val="E9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115568"/>
            <a:ext cx="2377440" cy="32004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7086600" cy="4526280"/>
          </a:xfrm>
          <a:prstGeom prst="roundRect">
            <a:avLst>
              <a:gd name="adj" fmla="val 5000"/>
            </a:avLst>
          </a:prstGeom>
          <a:solidFill>
            <a:srgbClr val="152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4813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EE05A"/>
                </a:solidFill>
                <a:latin typeface="Microsoft YaHei"/>
                <a:ea typeface="Microsoft YaHei"/>
                <a:cs typeface="Microsoft YaHei"/>
              </a:rPr>
              <a:t>birthday_solve.py（核心逻辑）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783080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9ECC6"/>
                </a:solidFill>
                <a:latin typeface="Consolas"/>
                <a:ea typeface="Consolas"/>
                <a:cs typeface="Consolas"/>
              </a:rPr>
              <a:t>CAND = [("5月",15),("5月",16),("5月",19),("6月",17),("6月",18),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011680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9ECC6"/>
                </a:solidFill>
                <a:latin typeface="Consolas"/>
                <a:ea typeface="Consolas"/>
                <a:cs typeface="Consolas"/>
              </a:rPr>
              <a:t>        ("7月",14),("7月",16),("8月",14),("8月",15),("8月",17)]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240280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9ECC6"/>
                </a:solidFill>
                <a:latin typeface="Consolas"/>
                <a:ea typeface="Consolas"/>
                <a:cs typeface="Consolas"/>
              </a:rPr>
              <a:t>day_cnt = {d: sum(1 for _, x in CAND if x == d) for _, d in CAND}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697480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第 1 步 乙：该月候选 &gt;1，且该月所有日子在全局都重复出现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926080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9ECC6"/>
                </a:solidFill>
                <a:latin typeface="Consolas"/>
                <a:ea typeface="Consolas"/>
                <a:cs typeface="Consolas"/>
              </a:rPr>
              <a:t>s1 = [c for c in CAND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154680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9ECC6"/>
                </a:solidFill>
                <a:latin typeface="Consolas"/>
                <a:ea typeface="Consolas"/>
                <a:cs typeface="Consolas"/>
              </a:rPr>
              <a:t>      if len([x for x in CAND if x[0] == c[0]]) &gt;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383280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9ECC6"/>
                </a:solidFill>
                <a:latin typeface="Consolas"/>
                <a:ea typeface="Consolas"/>
                <a:cs typeface="Consolas"/>
              </a:rPr>
              <a:t>      and all(day_cnt[d] &gt; 1 for m, d in CAND if m == c[0])]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840480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第 2 步 丙：剩余集合中，该日子只剩一个可能日期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069080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9ECC6"/>
                </a:solidFill>
                <a:latin typeface="Consolas"/>
                <a:ea typeface="Consolas"/>
                <a:cs typeface="Consolas"/>
              </a:rPr>
              <a:t>s2 = [c for c in s1 if len([x for x in s1 if x[1] == c[1]]) == 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526280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第 3 步 乙：剩余集合中，该月份只剩一个可能日期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754880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9ECC6"/>
                </a:solidFill>
                <a:latin typeface="Consolas"/>
                <a:ea typeface="Consolas"/>
                <a:cs typeface="Consolas"/>
              </a:rPr>
              <a:t>s3 = [c for c in s2 if len([x for x in s2 if x[0] == c[0]]) == 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5212080"/>
            <a:ext cx="6492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9ECC6"/>
                </a:solidFill>
                <a:latin typeface="Consolas"/>
                <a:ea typeface="Consolas"/>
                <a:cs typeface="Consolas"/>
              </a:rPr>
              <a:t>print(len(s1), s1); print(len(s2), s2); print(len(s3), s3)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371600"/>
            <a:ext cx="3438144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1463040"/>
            <a:ext cx="82296" cy="2697479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1" y="1536192"/>
            <a:ext cx="29809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运行输出（每步剩余）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1920240"/>
            <a:ext cx="293522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第 0 步：10 个候选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S1 后：5 个（7/14、7/16、8/14、8/15、8/17）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S2 后：3 个（7/16、8/15、8/17）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• S3 后：1 个 → 7月16日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4389120"/>
            <a:ext cx="3438144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2440" y="4480559"/>
            <a:ext cx="82296" cy="132588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1" y="4553712"/>
            <a:ext cx="29809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验证结论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4937759"/>
            <a:ext cx="2935224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枚举 + 逐步筛选，程序独立得到 7月16日，与逻辑推理完全一致；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25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若改动候选集，程序会给出不同答案，可作课堂变式练习。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Cheryl 生日问题（SASMO 2015）· 逻辑推理与 Python 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4527" y="6419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46304" cy="566928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9488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总结与逻辑启示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90127" y="4754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69933"/>
                </a:solidFill>
                <a:latin typeface="Microsoft YaHei"/>
                <a:ea typeface="Microsoft YaHei"/>
                <a:cs typeface="Microsoft YaHei"/>
              </a:rPr>
              <a:t>信息 = 排除掉的可能性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15568"/>
            <a:ext cx="10874959" cy="32004"/>
          </a:xfrm>
          <a:prstGeom prst="rect">
            <a:avLst/>
          </a:prstGeom>
          <a:solidFill>
            <a:srgbClr val="E9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115568"/>
            <a:ext cx="2377440" cy="32004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63040"/>
            <a:ext cx="82296" cy="178308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三个关键动作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920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① 第 1 步：用“我知道你不知道”排除 5 月、6 月；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5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② 第 2 步：用“我现在知道了”排除 14 日；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5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③ 第 3 步：用“我也知道了”排除 8 月，锁定 7月16日。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71600"/>
            <a:ext cx="51663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463040"/>
            <a:ext cx="82296" cy="178308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536192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四个思维方法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192024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集合/筛选视角：每句话都是对候选集的一次条件过滤；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5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站在对方角度推理：识别“二阶知识”；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5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公共知识：所有发言都被所有人听到并采信。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7472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3566160"/>
            <a:ext cx="82296" cy="1828800"/>
          </a:xfrm>
          <a:prstGeom prst="rect">
            <a:avLst/>
          </a:prstGeom>
          <a:solidFill>
            <a:srgbClr val="F2A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4892040" cy="1325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★ 甲的生日是 2015 年 7 月 16 日。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35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• 10 个候选 → 5 → 3 → 1：三句话恰好完成三次排除，信息不多不少，答案唯一。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474720"/>
            <a:ext cx="51663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F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5080" y="3566160"/>
            <a:ext cx="82296" cy="1828800"/>
          </a:xfrm>
          <a:prstGeom prst="rect">
            <a:avLst/>
          </a:prstGeom>
          <a:solidFill>
            <a:srgbClr val="AE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3639312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课堂延伸思考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023360"/>
            <a:ext cx="4663440" cy="1325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? 若删掉 5月19日，答案还会是 7月16日吗？（用程序跑一跑）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35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? 为什么错误答案 8月17日 看上去也很“合理”？它漏掉了哪一句话？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350" b="0">
                <a:solidFill>
                  <a:srgbClr val="2A332A"/>
                </a:solidFill>
                <a:latin typeface="Microsoft YaHei"/>
                <a:ea typeface="Microsoft YaHei"/>
                <a:cs typeface="Microsoft YaHei"/>
              </a:rPr>
              <a:t>? 改为“我知道你知道我不知道”，还能推出唯一答案吗？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669280"/>
            <a:ext cx="10874959" cy="502920"/>
          </a:xfrm>
          <a:prstGeom prst="roundRect">
            <a:avLst>
              <a:gd name="adj" fmla="val 30000"/>
            </a:avLst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" y="5769864"/>
            <a:ext cx="101434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逻辑不是猜得更准，而是把“不可能”一个个删掉 —— 剩下的就是答案。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Cheryl 生日问题（SASMO 2015）· 逻辑推理与 Python 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4527" y="6419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E7A6E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1642</Words>
  <Application>Microsoft Office PowerPoint</Application>
  <PresentationFormat>宽屏</PresentationFormat>
  <Paragraphs>280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feng'tai gao</cp:lastModifiedBy>
  <cp:revision>1</cp:revision>
  <dcterms:created xsi:type="dcterms:W3CDTF">2013-01-27T09:14:16Z</dcterms:created>
  <dcterms:modified xsi:type="dcterms:W3CDTF">2026-10-13T14:32:08Z</dcterms:modified>
  <cp:category/>
</cp:coreProperties>
</file>