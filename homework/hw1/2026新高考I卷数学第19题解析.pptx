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本题是 2026 年新高考Ⅰ卷压轴题（第 19 题，17 分）。全课主线：把新定义翻译成函数值的大小比较。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读题要点：x&lt;0 段的解析式已经给死（2^x）；x≥0 段在三个小问里分别是具体、半具体、完全抽象。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看到 D 的包含关系，第一反应是把它翻译成 f 值的大小关系；反之亦然。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本题送分，但要讲清楚开闭区间：等号不成立，端点全部剔除。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关键：x₀&gt;0 时 D 多出 (−∞,−x₀] 这一段，是因为负半轴上 f&gt;0 恒成立。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四类讨论的关键：奇函数在正负两侧单调性各自成立，但两侧之间不可比，所以要分同号和异号四类。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(i) 的核心：用极限找到负半轴上比 f(0) 大的点，这是全题第一个构造取点。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引理 1 是整道 (ii) 的第一块基石：正半轴靠近原点的部分，f 不能为正。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引理 2 是一个“传染引理”：只要有一个正值的点，它右边的所有位移都进 D(x)，再用 (0,1) 的结论一网打尽。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最后一步是“平移把 f(0) 接进来”：以 x₁−x₂ 为基点，因为 f(x₁−x₂) 与 f(0)、f(x₁) 的大小关系都已知道。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969264"/>
            <a:ext cx="6400800" cy="365760"/>
          </a:xfrm>
          <a:prstGeom prst="rect">
            <a:avLst/>
          </a:prstGeom>
          <a:noFill/>
        </p:spPr>
        <p:txBody>
          <a:bodyPr wrap="square" anchor="t" lIns="18288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4883C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1300" b="0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年普通高等学校招生全国统一考试</a:t>
            </a:r>
            <a:r>
              <a:rPr sz="1300" b="0">
                <a:solidFill>
                  <a:srgbClr val="B4883C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1300" b="0">
                <a:solidFill>
                  <a:srgbClr val="B4883C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新高考Ⅰ卷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26464"/>
            <a:ext cx="6492240" cy="960120"/>
          </a:xfrm>
          <a:prstGeom prst="rect">
            <a:avLst/>
          </a:prstGeom>
          <a:noFill/>
        </p:spPr>
        <p:txBody>
          <a:bodyPr wrap="square" anchor="t" lIns="18288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4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4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4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4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4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4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完整解析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87168"/>
            <a:ext cx="6309360" cy="868680"/>
          </a:xfrm>
          <a:prstGeom prst="rect">
            <a:avLst/>
          </a:prstGeom>
          <a:noFill/>
        </p:spPr>
        <p:txBody>
          <a:bodyPr wrap="square" anchor="t" lIns="18288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B4C6F"/>
                </a:solidFill>
                <a:latin typeface="微软雅黑"/>
                <a:ea typeface="微软雅黑"/>
                <a:cs typeface="微软雅黑"/>
              </a:rPr>
              <a:t>抽象函数与新定义集合</a:t>
            </a:r>
            <a:r>
              <a:rPr sz="2500" b="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 D(x</a:t>
            </a:r>
            <a:r>
              <a:rPr sz="2500" b="0" baseline="-2500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500" b="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346704"/>
            <a:ext cx="2377440" cy="45720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29584"/>
            <a:ext cx="6126480" cy="868680"/>
          </a:xfrm>
          <a:prstGeom prst="rect">
            <a:avLst/>
          </a:prstGeom>
          <a:noFill/>
        </p:spPr>
        <p:txBody>
          <a:bodyPr wrap="square" anchor="t" lIns="18288" rIns="0" tIns="0" bIns="0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全部使用高中方法：翻译定义、分类讨论、反证法、构造取点；每一步都说明“为什么要这样做”。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53712"/>
            <a:ext cx="278892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53712"/>
            <a:ext cx="2788920" cy="548640"/>
          </a:xfrm>
          <a:prstGeom prst="rect">
            <a:avLst/>
          </a:prstGeom>
          <a:noFill/>
        </p:spPr>
        <p:txBody>
          <a:bodyPr wrap="square" anchor="ctr" lIns="146304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）求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D(−1) = (0, 3/2)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4553712"/>
            <a:ext cx="278892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4553712"/>
            <a:ext cx="2788920" cy="548640"/>
          </a:xfrm>
          <a:prstGeom prst="rect">
            <a:avLst/>
          </a:prstGeom>
          <a:noFill/>
        </p:spPr>
        <p:txBody>
          <a:bodyPr wrap="square" anchor="ctr" lIns="146304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）证明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D(x</a:t>
            </a:r>
            <a:r>
              <a:rPr sz="12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⊆ D(x</a:t>
            </a:r>
            <a:r>
              <a:rPr sz="12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66944"/>
            <a:ext cx="278892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266944"/>
            <a:ext cx="2788920" cy="548640"/>
          </a:xfrm>
          <a:prstGeom prst="rect">
            <a:avLst/>
          </a:prstGeom>
          <a:noFill/>
        </p:spPr>
        <p:txBody>
          <a:bodyPr wrap="square" anchor="ctr" lIns="146304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(i) 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证明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f(0) ≥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032" y="5266944"/>
            <a:ext cx="278892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5266944"/>
            <a:ext cx="2788920" cy="548640"/>
          </a:xfrm>
          <a:prstGeom prst="rect">
            <a:avLst/>
          </a:prstGeom>
          <a:noFill/>
        </p:spPr>
        <p:txBody>
          <a:bodyPr wrap="square" anchor="ctr" lIns="146304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(ii) 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证明</a:t>
            </a:r>
            <a:r>
              <a:rPr sz="12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(0,+∞) </a:t>
            </a:r>
            <a:r>
              <a:rPr sz="12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上递增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325880"/>
            <a:ext cx="4325112" cy="452628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645920"/>
            <a:ext cx="4325112" cy="1005840"/>
          </a:xfrm>
          <a:prstGeom prst="rect">
            <a:avLst/>
          </a:prstGeom>
          <a:noFill/>
        </p:spPr>
        <p:txBody>
          <a:bodyPr wrap="square" anchor="ctr" lIns="274320" rIns="27432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40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40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615184"/>
            <a:ext cx="1143000" cy="32004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761488"/>
            <a:ext cx="4142232" cy="731520"/>
          </a:xfrm>
          <a:prstGeom prst="rect">
            <a:avLst/>
          </a:prstGeom>
          <a:noFill/>
        </p:spPr>
        <p:txBody>
          <a:bodyPr wrap="square" anchor="t" lIns="201168" rIns="201168" tIns="36576" bIns="36576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= { d ∈ R | f(x</a:t>
            </a:r>
            <a:r>
              <a:rPr sz="1550" b="0" baseline="-2500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50" b="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+d) &gt; f(x</a:t>
            </a:r>
            <a:r>
              <a:rPr sz="1550" b="0" baseline="-2500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50" b="0">
                <a:solidFill>
                  <a:srgbClr val="2B4C6F"/>
                </a:solidFill>
                <a:latin typeface="Cambria Math"/>
                <a:ea typeface="Cambria Math"/>
                <a:cs typeface="Cambria Math"/>
              </a:rPr>
              <a:t>)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566160"/>
            <a:ext cx="4142232" cy="502920"/>
          </a:xfrm>
          <a:prstGeom prst="rect">
            <a:avLst/>
          </a:prstGeom>
          <a:noFill/>
        </p:spPr>
        <p:txBody>
          <a:bodyPr wrap="square" anchor="t" lIns="201168" rIns="201168" tIns="36576" bIns="36576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“让函数值变大”的所有位移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069080"/>
            <a:ext cx="4142232" cy="502920"/>
          </a:xfrm>
          <a:prstGeom prst="rect">
            <a:avLst/>
          </a:prstGeom>
          <a:noFill/>
        </p:spPr>
        <p:txBody>
          <a:bodyPr wrap="square" anchor="t" lIns="201168" rIns="201168" tIns="36576" bIns="36576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d </a:t>
            </a:r>
            <a:r>
              <a:rPr sz="12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可正可负：向左走也可能变大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4864608"/>
            <a:ext cx="3044952" cy="1097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983480"/>
            <a:ext cx="4142232" cy="640080"/>
          </a:xfrm>
          <a:prstGeom prst="rect">
            <a:avLst/>
          </a:prstGeom>
          <a:noFill/>
        </p:spPr>
        <p:txBody>
          <a:bodyPr wrap="square" anchor="t" lIns="201168" rIns="201168" tIns="36576" bIns="36576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看懂这个集合，全题就通透了一半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053328"/>
            <a:ext cx="6400800" cy="365760"/>
          </a:xfrm>
          <a:prstGeom prst="rect">
            <a:avLst/>
          </a:prstGeom>
          <a:noFill/>
        </p:spPr>
        <p:txBody>
          <a:bodyPr wrap="square" anchor="t" lIns="18288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共</a:t>
            </a:r>
            <a:r>
              <a:rPr sz="11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11 </a:t>
            </a:r>
            <a:r>
              <a:rPr sz="11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页：定义翻译</a:t>
            </a:r>
            <a:r>
              <a:rPr sz="11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→ </a:t>
            </a:r>
            <a:r>
              <a:rPr sz="11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四问详解</a:t>
            </a:r>
            <a:r>
              <a:rPr sz="11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→ </a:t>
            </a:r>
            <a:r>
              <a:rPr sz="11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方法提炼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原题呈现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17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144475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118872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1444752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已知函数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f(x)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的定义域为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R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，且当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x&lt;0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f(x)=2</a:t>
            </a:r>
            <a:r>
              <a:rPr sz="15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。对任意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∈R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，定义集合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9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9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= { d∈R | f(x</a:t>
            </a:r>
            <a:r>
              <a:rPr sz="19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9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+d) &gt; f(x</a:t>
            </a:r>
            <a:r>
              <a:rPr sz="19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9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0048"/>
            <a:ext cx="10817352" cy="2331720"/>
          </a:xfrm>
          <a:prstGeom prst="rect">
            <a:avLst/>
          </a:prstGeom>
          <a:noFill/>
        </p:spPr>
        <p:txBody>
          <a:bodyPr wrap="square" anchor="t" lIns="256032" rIns="182880" tIns="73152" bIns="0">
            <a:noAutofit/>
          </a:bodyPr>
          <a:lstStyle/>
          <a:p>
            <a:pPr algn="l" marL="566928" indent="-566928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（1）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若当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x≥0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f(x)=1−x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，求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D(−1)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 algn="l" marL="566928" indent="-566928">
              <a:lnSpc>
                <a:spcPct val="134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（2）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若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f(x)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是奇函数，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)≤f(x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，且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≠0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，证明：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)⊆D(x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</a:t>
            </a:r>
          </a:p>
          <a:p>
            <a:pPr algn="l" marL="566928" indent="-566928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（3）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设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f(x)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满足：①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若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)≤f(x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，则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)⊆D(x</a:t>
            </a:r>
            <a:r>
              <a:rPr sz="15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；②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0&lt;x&lt;1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f(x)&lt;f(0)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566928" indent="-566928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　　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(i)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证明：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f(0)≥1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　　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(ii)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证明：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在区间</a:t>
            </a:r>
            <a:r>
              <a:rPr sz="15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(0,+∞) </a:t>
            </a:r>
            <a:r>
              <a:rPr sz="15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上单调递增。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17720"/>
            <a:ext cx="10817352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45736"/>
            <a:ext cx="50292" cy="493775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17720"/>
            <a:ext cx="10817352" cy="74980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三问的分工：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x≥0 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段的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）题目直接给出　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→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　（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）由奇函数确定　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→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　（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）完全抽象，只受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①②</a:t>
            </a:r>
            <a:r>
              <a:rPr sz="13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约束。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468112"/>
            <a:ext cx="10817352" cy="749808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9525">
            <a:solidFill>
              <a:srgbClr val="E8D9B8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596128"/>
            <a:ext cx="50292" cy="493775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68112"/>
            <a:ext cx="10817352" cy="74980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两条规则：①</a:t>
            </a:r>
            <a:r>
              <a:rPr sz="125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是“集合包含”与“函数值大小”之间的转换器；②</a:t>
            </a:r>
            <a:r>
              <a:rPr sz="125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只管住了</a:t>
            </a:r>
            <a:r>
              <a:rPr sz="125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(0,1) </a:t>
            </a:r>
            <a:r>
              <a:rPr sz="125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这一段。四个小问层层递进，前两问是后两问的“预告片”。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第一步：把新定义“翻译”成人话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解题总纲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5257800" cy="321868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296265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5257800" cy="321868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读懂</a:t>
            </a:r>
            <a:r>
              <a:rPr sz="1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D(x</a:t>
            </a:r>
            <a:r>
              <a:rPr sz="16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 marL="201168" indent="-201168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字面：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d∈D(x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就是“走到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后函数值变大”。</a:t>
            </a:r>
          </a:p>
          <a:p>
            <a:pPr algn="l" marL="201168" indent="-201168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等价写法（全题最常用）：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d∈D(x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⟺ f(x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+d)&gt;f(x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 marL="201168" indent="-201168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直观：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5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收集了“能让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变大”的所有位移。</a:t>
            </a:r>
          </a:p>
          <a:p>
            <a:pPr algn="l" marL="201168" indent="-201168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注意：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可正可负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5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5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向左走也可能让函数值变大。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152144"/>
            <a:ext cx="5257800" cy="321868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280160"/>
            <a:ext cx="50292" cy="2962656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152144"/>
            <a:ext cx="5257800" cy="321868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备好三件工具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T1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代入：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d∈D(x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⟺ f(x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+d)&gt;f(x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（双向）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T2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正面用：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)≤f(x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⟹ D(x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)⊆D(x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2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值越小的地方，能让</a:t>
            </a:r>
            <a:r>
              <a:rPr sz="12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2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变大的位移越多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T3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逆否用：若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d∈D(x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而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d∉D(x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，则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)&gt;f(x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20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(3) </a:t>
            </a:r>
            <a:r>
              <a:rPr sz="120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中的所有矛盾都由它制造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T4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分工：①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对一切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, x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有效；②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只管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(0,1)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17136"/>
            <a:ext cx="233172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17136"/>
            <a:ext cx="2331720" cy="603504"/>
          </a:xfrm>
          <a:prstGeom prst="rect">
            <a:avLst/>
          </a:prstGeom>
          <a:noFill/>
        </p:spPr>
        <p:txBody>
          <a:bodyPr wrap="square" anchor="ctr" rIns="54864" tIns="18288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）直接算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D(−1)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517136"/>
            <a:ext cx="5029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4883C"/>
                </a:solidFill>
                <a:latin typeface="Cambria Math"/>
                <a:ea typeface="Cambria Math"/>
                <a:cs typeface="Cambria Math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517136"/>
            <a:ext cx="233172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517136"/>
            <a:ext cx="2331720" cy="603504"/>
          </a:xfrm>
          <a:prstGeom prst="rect">
            <a:avLst/>
          </a:prstGeom>
          <a:noFill/>
        </p:spPr>
        <p:txBody>
          <a:bodyPr wrap="square" anchor="ctr" rIns="54864" tIns="18288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）求解析式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517136"/>
            <a:ext cx="5029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4883C"/>
                </a:solidFill>
                <a:latin typeface="Cambria Math"/>
                <a:ea typeface="Cambria Math"/>
                <a:cs typeface="Cambria Math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517136"/>
            <a:ext cx="233172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2331720" cy="603504"/>
          </a:xfrm>
          <a:prstGeom prst="rect">
            <a:avLst/>
          </a:prstGeom>
          <a:noFill/>
        </p:spPr>
        <p:txBody>
          <a:bodyPr wrap="square" anchor="ctr" rIns="54864" tIns="18288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(i) 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反证取点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517136"/>
            <a:ext cx="5029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4883C"/>
                </a:solidFill>
                <a:latin typeface="Cambria Math"/>
                <a:ea typeface="Cambria Math"/>
                <a:cs typeface="Cambria Math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4517136"/>
            <a:ext cx="233172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4517136"/>
            <a:ext cx="2331720" cy="603504"/>
          </a:xfrm>
          <a:prstGeom prst="rect">
            <a:avLst/>
          </a:prstGeom>
          <a:noFill/>
        </p:spPr>
        <p:txBody>
          <a:bodyPr wrap="square" anchor="ctr" rIns="54864" tIns="18288" bIns="18288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sz="11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(ii) </a:t>
            </a:r>
            <a:r>
              <a:rPr sz="11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三步链式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0352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9525">
            <a:solidFill>
              <a:srgbClr val="E8D9B8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431536"/>
            <a:ext cx="50292" cy="612647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03520"/>
            <a:ext cx="10817352" cy="86868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底牌：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x&lt;0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f(x)=2</a:t>
            </a:r>
            <a:r>
              <a:rPr sz="1300" b="0" baseline="30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(−∞,0)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上严格递增，值域为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(0,1)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。所以“负半轴上想取多大的值都不超过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，想取多小都可以”——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这是全题反复使用的抓手。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(1)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问：按定义分类求解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(1)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89611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6400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896112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目标：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f(−1)=2</a:t>
            </a:r>
            <a:r>
              <a:rPr sz="145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−1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=1/2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D(−1)={ d | f(d−1) &gt; 1/2 }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x≥0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x&lt;0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上解析式不同，故按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d−1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的大小分界，即用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d=1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分类。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12848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340864"/>
            <a:ext cx="50292" cy="157276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12848"/>
            <a:ext cx="5257800" cy="182880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d&lt;1 </a:t>
            </a: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时：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d−1&lt;0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7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f(d−1)=2</a:t>
            </a:r>
            <a:r>
              <a:rPr sz="1750" b="0" baseline="30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d−1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7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750" b="0" baseline="30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d−1</a:t>
            </a:r>
            <a:r>
              <a:rPr sz="17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&gt;1/2 ⟺ d−1&gt;−1 ⟺ d&gt;0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⟹ 0 &lt; d 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212848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340864"/>
            <a:ext cx="50292" cy="157276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212848"/>
            <a:ext cx="5257800" cy="182880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d≥1 </a:t>
            </a: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时：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d−1≥0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7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f(d−1)=1−(d−1)=2−d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7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2−d&gt;1/2 ⟺ d&lt;3/2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⟹ 1 ≤ d &lt; 3/2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06240"/>
            <a:ext cx="10817352" cy="841248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9525">
            <a:solidFill>
              <a:srgbClr val="BFDCCB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34255"/>
            <a:ext cx="50292" cy="58521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10817352" cy="84124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合并两类：</a:t>
            </a:r>
            <a:r>
              <a:rPr sz="2000" b="1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D(−1) = (0, 3/2)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9525">
            <a:solidFill>
              <a:srgbClr val="E8D9B8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340096"/>
            <a:ext cx="50292" cy="70408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0817352" cy="96012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端点检验（最易丢分处）：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d=0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f(−1)=1/2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d=3/2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f(1/2)=1/2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，都只“相等”不“大于”，所以两端都取不到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答案必须写成开区间，不能写成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(0,3/2]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(2)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①：先补全解析式，再把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D(x</a:t>
            </a:r>
            <a:r>
              <a:rPr sz="26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算出来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(2)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157276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131673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157276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为奇函数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⟹ f(0)=0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；当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x&gt;0 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4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f(x)=−f(−x)=−1/2</a:t>
            </a:r>
            <a:r>
              <a:rPr sz="145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。于是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f(x) = 2</a:t>
            </a:r>
            <a:r>
              <a:rPr sz="1800" b="0" baseline="30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(x&lt;0)</a:t>
            </a:r>
            <a:r>
              <a:rPr sz="180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，　　</a:t>
            </a:r>
            <a:r>
              <a:rPr sz="18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f(0) = 0</a:t>
            </a:r>
            <a:r>
              <a:rPr sz="180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，　　</a:t>
            </a:r>
            <a:r>
              <a:rPr sz="18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f(x) = −1/2</a:t>
            </a:r>
            <a:r>
              <a:rPr sz="1800" b="0" baseline="30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8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(x&gt;0)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图像：负半轴从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0 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升到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，正半轴从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−1 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升到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0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x=0 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处“跳空”到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52928"/>
            <a:ext cx="5257800" cy="22402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80944"/>
            <a:ext cx="50292" cy="1984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257800" cy="224028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5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&lt; 0 </a:t>
            </a: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时：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5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∈ (0,1)</a:t>
            </a:r>
          </a:p>
          <a:p>
            <a:pPr algn="l" marL="182880" indent="-182880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+d≥0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+d)≤0&lt;f(x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，不行；</a:t>
            </a:r>
          </a:p>
          <a:p>
            <a:pPr algn="l" marL="182880" indent="-182880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+d&lt;0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时用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递增：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+d)&gt;f(x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⟺ d&gt;0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650" b="1" baseline="-25000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) = (0, −x</a:t>
            </a:r>
            <a:r>
              <a:rPr sz="1650" b="1" baseline="-25000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852928"/>
            <a:ext cx="5257800" cy="22402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980944"/>
            <a:ext cx="50292" cy="1984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852928"/>
            <a:ext cx="5257800" cy="224028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5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&gt; 0 </a:t>
            </a:r>
            <a:r>
              <a:rPr sz="15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时：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5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5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∈ (−1,0)</a:t>
            </a:r>
          </a:p>
          <a:p>
            <a:pPr algn="l" marL="182880" indent="-182880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+d≤0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+d)≥0&gt;f(x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，可以；</a:t>
            </a:r>
          </a:p>
          <a:p>
            <a:pPr algn="l" marL="182880" indent="-182880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+d&gt;0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时用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f(x)=−1/2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递增：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+d)&gt;f(x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⟺ d&gt;0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650" b="1" baseline="-25000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) = (−∞,−x</a:t>
            </a:r>
            <a:r>
              <a:rPr sz="1650" b="1" baseline="-25000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6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] ∪ (0,+∞)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30368"/>
            <a:ext cx="10817352" cy="941832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9525">
            <a:solidFill>
              <a:srgbClr val="E8D9B8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358383"/>
            <a:ext cx="50292" cy="685800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10817352" cy="941832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为什么要分两类算？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D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的形状完全由“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的正负”决定：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&gt;0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)&lt;0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，凡使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f≥0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d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都合格，于是多出半条负半轴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(−∞,−x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]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(2)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②：四类情形逐一验证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(2)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70432"/>
            <a:ext cx="10817352" cy="914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70432"/>
            <a:ext cx="50292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70432"/>
            <a:ext cx="10817352" cy="914400"/>
          </a:xfrm>
          <a:prstGeom prst="rect">
            <a:avLst/>
          </a:prstGeom>
          <a:noFill/>
        </p:spPr>
        <p:txBody>
          <a:bodyPr wrap="square" anchor="t" lIns="237744" rIns="182880" tIns="82296" bIns="6400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情形 1：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&lt; 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&lt; 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f(x)=2</a:t>
            </a:r>
            <a:r>
              <a:rPr sz="13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(−∞,0)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上严格递增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⟹ 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≤x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)=(0,−x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⊆ (0,−x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)=D(x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57984"/>
            <a:ext cx="10817352" cy="914400"/>
          </a:xfrm>
          <a:prstGeom prst="roundRect">
            <a:avLst>
              <a:gd name="adj" fmla="val 5000"/>
            </a:avLst>
          </a:prstGeom>
          <a:solidFill>
            <a:srgbClr val="FAFCFE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57984"/>
            <a:ext cx="50292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57984"/>
            <a:ext cx="10817352" cy="914400"/>
          </a:xfrm>
          <a:prstGeom prst="rect">
            <a:avLst/>
          </a:prstGeom>
          <a:noFill/>
        </p:spPr>
        <p:txBody>
          <a:bodyPr wrap="square" anchor="t" lIns="237744" rIns="182880" tIns="82296" bIns="6400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情形 2：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 &lt; 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≤ 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f(x)=−1/2</a:t>
            </a:r>
            <a:r>
              <a:rPr sz="13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(0,+∞)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上严格递增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⟹ 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≤x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)=(−∞,−x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]∪(0,+∞) ⊆ (−∞,−x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]∪(0,+∞)=D(x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45536"/>
            <a:ext cx="10817352" cy="914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145536"/>
            <a:ext cx="50292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45536"/>
            <a:ext cx="10817352" cy="914400"/>
          </a:xfrm>
          <a:prstGeom prst="rect">
            <a:avLst/>
          </a:prstGeom>
          <a:noFill/>
        </p:spPr>
        <p:txBody>
          <a:bodyPr wrap="square" anchor="t" lIns="237744" rIns="182880" tIns="82296" bIns="6400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情形 3：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&lt; 0 &lt; 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此时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)&gt;0&gt;f(x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，前提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)≤f(x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永不成立，此情形无需证明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33088"/>
            <a:ext cx="10817352" cy="914400"/>
          </a:xfrm>
          <a:prstGeom prst="roundRect">
            <a:avLst>
              <a:gd name="adj" fmla="val 5000"/>
            </a:avLst>
          </a:prstGeom>
          <a:solidFill>
            <a:srgbClr val="FAFCFE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33088"/>
            <a:ext cx="50292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33088"/>
            <a:ext cx="10817352" cy="914400"/>
          </a:xfrm>
          <a:prstGeom prst="rect">
            <a:avLst/>
          </a:prstGeom>
          <a:noFill/>
        </p:spPr>
        <p:txBody>
          <a:bodyPr wrap="square" anchor="t" lIns="237744" rIns="182880" tIns="82296" bIns="64008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情形 4：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&gt; 0 &gt; x</a:t>
            </a:r>
            <a:r>
              <a:rPr sz="1400" b="1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前提恒成立；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)=(0,−x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⊆ (0,+∞) ⊆ 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93792"/>
            <a:ext cx="10817352" cy="1005840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9525">
            <a:solidFill>
              <a:srgbClr val="BFDCCB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321807"/>
            <a:ext cx="50292" cy="74980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93792"/>
            <a:ext cx="10817352" cy="100584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350" b="0" baseline="-2500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) ⊆ D(x</a:t>
            </a:r>
            <a:r>
              <a:rPr sz="1350" b="0" baseline="-2500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。　观察：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50" b="0" baseline="-2500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越大，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350" b="0" baseline="-2500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反而越小（被包含）。这正是第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问条件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的原型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所以第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(2)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问是第</a:t>
            </a:r>
            <a:r>
              <a:rPr sz="13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13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问的“预告片”。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(i)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：反证法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f(0)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不能小于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(i)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7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694944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438912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694944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思路：若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f(0)&lt;1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，负半轴上就能“取到比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f(0)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更大的值”（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从左侧无限接近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），再用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把它装进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D(0)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，去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(0,1)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上与条件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对撞。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75104"/>
            <a:ext cx="6967728" cy="3529584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03120"/>
            <a:ext cx="50292" cy="327355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75104"/>
            <a:ext cx="6967728" cy="3529584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证明（反证法）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假设</a:t>
            </a:r>
            <a:r>
              <a:rPr sz="1450" b="1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f(0)&lt;1</a:t>
            </a:r>
            <a:r>
              <a:rPr sz="1450" b="1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取点：因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从左侧趋近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→1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，故存在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m&lt;0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使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&gt;f(0)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，即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f(m)&gt;f(0)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用规则：由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①（取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=0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=m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）得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D(m) ⊆ D(0)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造元素：当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0&lt;d&lt;−m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m&lt;m+d&lt;0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，故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f(m+d)=2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m+d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&gt;2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=f(m)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，即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d∈D(m) ⊆ D(0)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，于是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f(d)&gt;f(0)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撞条件：取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d∈(0, min{−m,1})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，则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0&lt;d&lt;1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，由条件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得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f(d)&lt;f(0)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，矛盾！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故</a:t>
            </a:r>
            <a:r>
              <a:rPr sz="150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 f(0) ≥ 1</a:t>
            </a:r>
            <a:r>
              <a:rPr sz="15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975104"/>
            <a:ext cx="3685032" cy="3529584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2103120"/>
            <a:ext cx="50292" cy="3273552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75104"/>
            <a:ext cx="3685032" cy="3529584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关键点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m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的存在性靠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25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左侧的极限为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，不是靠连续性。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必须在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(0,−m)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内取，才能保证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m+d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仍在负半轴，用上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25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递增。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最后一步必须落回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(0,1)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，才用得上条件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②。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“在负半轴找一点、让它的</a:t>
            </a:r>
            <a:r>
              <a:rPr sz="12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2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值略大”这种取点，后面还会反复出现。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614416"/>
            <a:ext cx="10817352" cy="566928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9525">
            <a:solidFill>
              <a:srgbClr val="BFDCCB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742431"/>
            <a:ext cx="50292" cy="3108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614416"/>
            <a:ext cx="10817352" cy="56692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这一步是全题的第一块基石：从此负半轴上任何点的函数值都小于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f(0)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(ii) 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中反复引用。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(ii)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1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步：先证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(0,1)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上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f(x) ≤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(ii)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6400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384047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64008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为什么要先证它：要证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递增，必须先知道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在正半轴上的“符号”；而条件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恰好管住了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(0,1)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这一段。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01952"/>
            <a:ext cx="10817352" cy="3054096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29968"/>
            <a:ext cx="50292" cy="2798063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01952"/>
            <a:ext cx="10817352" cy="3054096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引理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：当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0&lt;x&lt;1 </a:t>
            </a: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f(x) ≤ 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反证：设存在</a:t>
            </a:r>
            <a:r>
              <a:rPr sz="1400" b="1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00" b="1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∈(0,1) </a:t>
            </a:r>
            <a:r>
              <a:rPr sz="1400" b="1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使</a:t>
            </a:r>
            <a:r>
              <a:rPr sz="1400" b="1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1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)&gt;0</a:t>
            </a:r>
            <a:r>
              <a:rPr sz="1400" b="1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由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②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得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)&lt;f(0)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，故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∈D(x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（因为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+(−x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))=f(0)&gt;f(x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  <a:p>
            <a:pPr algn="l" marL="329184" indent="-329184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因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→0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x→−∞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），取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&lt;0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使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)&lt;f(x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；由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得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 ⊆ D(x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于是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∈D(x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，即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)&gt;f(x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 marL="329184" indent="-329184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但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&lt;x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&lt;0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，而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f(x)=2</a:t>
            </a:r>
            <a:r>
              <a:rPr sz="14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(−∞,0) 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上严格递增，应有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)&lt;f(x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，矛盾！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故当</a:t>
            </a:r>
            <a:r>
              <a:rPr sz="14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 0&lt;x&lt;1 </a:t>
            </a:r>
            <a:r>
              <a:rPr sz="145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时，</a:t>
            </a:r>
            <a:r>
              <a:rPr sz="145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f(x) ≤ 0</a:t>
            </a:r>
            <a:r>
              <a:rPr sz="145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02352"/>
            <a:ext cx="10817352" cy="1024128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9525">
            <a:solidFill>
              <a:srgbClr val="E8D9B8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230368"/>
            <a:ext cx="50292" cy="768096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02352"/>
            <a:ext cx="10817352" cy="102412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技巧：位移取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d=−x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，把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“送回”原点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0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，等于借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f(0)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这个更大的值当跳板；再让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300" b="0" baseline="-25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足够靠左，把矛盾压到负半轴的单调性上。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(ii)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2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步：把结论推到整个正半轴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(ii)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1700784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144475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1700784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引理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：若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x&gt;0 </a:t>
            </a: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且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f(x)&gt;0</a:t>
            </a: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，则</a:t>
            </a:r>
            <a:r>
              <a:rPr sz="155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(0,+∞) ⊆ D(x)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证明：任取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d&gt;0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，取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y&lt;0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满足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y&lt;−d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且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f(y)&lt;f(x)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（这样的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y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一定存在）。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f(y)&lt;f(x) ⟹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由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得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D(x) ⊆ D(y)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　又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y&lt;y+d&lt;0 ⟹ f(y+d)=2</a:t>
            </a:r>
            <a:r>
              <a:rPr sz="135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y+d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&gt;2</a:t>
            </a:r>
            <a:r>
              <a:rPr sz="135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y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=f(y) ⟹ d∈D(y)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所以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d∈D(x)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。由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的任意性，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(0,+∞) ⊆ D(x)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2048256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90672"/>
            <a:ext cx="50292" cy="1792224"/>
          </a:xfrm>
          <a:prstGeom prst="rect">
            <a:avLst/>
          </a:prstGeom>
          <a:solidFill>
            <a:srgbClr val="A63A2E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62656"/>
            <a:ext cx="10817352" cy="2048256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反证：正半轴上不会出现正值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若存在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x&gt;0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使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f(x)&gt;0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，取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y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&lt;0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使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f(y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)&lt;f(x)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，则由引理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得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(0,+∞) ⊆ D(x) ⊆ D(y</a:t>
            </a:r>
            <a:r>
              <a:rPr sz="16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6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60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取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s∈(0,1)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，令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d=s−y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&gt;0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，则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d∈D(y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，即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f(s)&gt;f(y</a:t>
            </a:r>
            <a:r>
              <a:rPr sz="135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35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)&gt;0</a:t>
            </a:r>
            <a:r>
              <a:rPr sz="135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这与引理</a:t>
            </a:r>
            <a:r>
              <a:rPr sz="140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4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f(s)≤0</a:t>
            </a:r>
            <a:r>
              <a:rPr sz="14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）矛盾。故</a:t>
            </a:r>
            <a:r>
              <a:rPr sz="140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∀</a:t>
            </a:r>
            <a:r>
              <a:rPr sz="140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x&gt;0</a:t>
            </a:r>
            <a:r>
              <a:rPr sz="14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400" b="1">
                <a:solidFill>
                  <a:srgbClr val="A63A2E"/>
                </a:solidFill>
                <a:latin typeface="Cambria Math"/>
                <a:ea typeface="Cambria Math"/>
                <a:cs typeface="Cambria Math"/>
              </a:rPr>
              <a:t>f(x) ≤ 0</a:t>
            </a:r>
            <a:r>
              <a:rPr sz="14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20640"/>
            <a:ext cx="10817352" cy="100584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9525">
            <a:solidFill>
              <a:srgbClr val="E8D9B8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248655"/>
            <a:ext cx="50292" cy="74980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10817352" cy="100584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取点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y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的双重作用：让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f(y)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足够小（才好吃进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D(y)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），又让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y+d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仍落在负半轴（才好用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300" b="0" baseline="3000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>
                <a:solidFill>
                  <a:srgbClr val="6B5424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6B5424"/>
                </a:solidFill>
                <a:latin typeface="微软雅黑"/>
                <a:ea typeface="微软雅黑"/>
                <a:cs typeface="微软雅黑"/>
              </a:rPr>
              <a:t>的递增性）。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(ii)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600" b="1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3 </a:t>
            </a: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步：链式传导，完成单调性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(3) </a:t>
            </a: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问</a:t>
            </a:r>
            <a:r>
              <a:rPr sz="110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(ii)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52144"/>
            <a:ext cx="10817352" cy="6400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50292" cy="384047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52144"/>
            <a:ext cx="10817352" cy="64008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目标：设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0&lt;x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&lt;x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，只需证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∈ D(x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，即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)&gt;f(x</a:t>
            </a:r>
            <a:r>
              <a:rPr sz="14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20240"/>
            <a:ext cx="10817352" cy="80467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20240"/>
            <a:ext cx="50292" cy="8046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20240"/>
            <a:ext cx="914400" cy="804672"/>
          </a:xfrm>
          <a:prstGeom prst="rect">
            <a:avLst/>
          </a:prstGeom>
          <a:noFill/>
        </p:spPr>
        <p:txBody>
          <a:bodyPr wrap="square" anchor="ctr" lIns="182880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1920240"/>
            <a:ext cx="10012680" cy="804672"/>
          </a:xfrm>
          <a:prstGeom prst="rect">
            <a:avLst/>
          </a:prstGeom>
          <a:noFill/>
        </p:spPr>
        <p:txBody>
          <a:bodyPr wrap="square" anchor="ctr" lIns="36576" rIns="182880" tIns="27432" bIns="27432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≤ 0</a:t>
            </a:r>
            <a:r>
              <a:rPr sz="14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，且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&lt;0 ⟹ f(x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)∈(0,1)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故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 ≤ f(x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98064"/>
            <a:ext cx="10817352" cy="80467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98064"/>
            <a:ext cx="50292" cy="8046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98064"/>
            <a:ext cx="914400" cy="804672"/>
          </a:xfrm>
          <a:prstGeom prst="rect">
            <a:avLst/>
          </a:prstGeom>
          <a:noFill/>
        </p:spPr>
        <p:txBody>
          <a:bodyPr wrap="square" anchor="ctr" lIns="182880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2798064"/>
            <a:ext cx="10012680" cy="804672"/>
          </a:xfrm>
          <a:prstGeom prst="rect">
            <a:avLst/>
          </a:prstGeom>
          <a:noFill/>
        </p:spPr>
        <p:txBody>
          <a:bodyPr wrap="square" anchor="ctr" lIns="36576" rIns="182880" tIns="27432" bIns="27432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由条件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4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①：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⊆ D(x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75887"/>
            <a:ext cx="10817352" cy="80467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75887"/>
            <a:ext cx="50292" cy="8046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75887"/>
            <a:ext cx="914400" cy="804672"/>
          </a:xfrm>
          <a:prstGeom prst="rect">
            <a:avLst/>
          </a:prstGeom>
          <a:noFill/>
        </p:spPr>
        <p:txBody>
          <a:bodyPr wrap="square" anchor="ctr" lIns="182880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675887"/>
            <a:ext cx="10012680" cy="804672"/>
          </a:xfrm>
          <a:prstGeom prst="rect">
            <a:avLst/>
          </a:prstGeom>
          <a:noFill/>
        </p:spPr>
        <p:txBody>
          <a:bodyPr wrap="square" anchor="ctr" lIns="36576" rIns="182880" tIns="27432" bIns="27432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f(0) ≥ 1 &gt; f(x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（用到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(i) </a:t>
            </a:r>
            <a:r>
              <a:rPr sz="14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的结论）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⟹ f((x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)+(x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)) = f(0) &gt; f(x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 ⟹ 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∈ D(x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53712"/>
            <a:ext cx="10817352" cy="804672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553712"/>
            <a:ext cx="50292" cy="80467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553712"/>
            <a:ext cx="914400" cy="804672"/>
          </a:xfrm>
          <a:prstGeom prst="rect">
            <a:avLst/>
          </a:prstGeom>
          <a:noFill/>
        </p:spPr>
        <p:txBody>
          <a:bodyPr wrap="square" anchor="ctr" lIns="182880" rIns="18288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553712"/>
            <a:ext cx="10012680" cy="804672"/>
          </a:xfrm>
          <a:prstGeom prst="rect">
            <a:avLst/>
          </a:prstGeom>
          <a:noFill/>
        </p:spPr>
        <p:txBody>
          <a:bodyPr wrap="square" anchor="ctr" lIns="36576" rIns="182880" tIns="27432" bIns="27432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于是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∈ D(x</a:t>
            </a:r>
            <a:r>
              <a:rPr sz="145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5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⟹ f(x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 &gt; f(x</a:t>
            </a:r>
            <a:r>
              <a:rPr sz="1250" b="0" baseline="-2500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　（得证：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f 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250" b="0">
                <a:solidFill>
                  <a:srgbClr val="55677C"/>
                </a:solidFill>
                <a:latin typeface="Cambria Math"/>
                <a:ea typeface="Cambria Math"/>
                <a:cs typeface="Cambria Math"/>
              </a:rPr>
              <a:t> (0,+∞) </a:t>
            </a:r>
            <a:r>
              <a:rPr sz="1250" b="0">
                <a:solidFill>
                  <a:srgbClr val="55677C"/>
                </a:solidFill>
                <a:latin typeface="微软雅黑"/>
                <a:ea typeface="微软雅黑"/>
                <a:cs typeface="微软雅黑"/>
              </a:rPr>
              <a:t>上严格递增）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541264"/>
            <a:ext cx="10817352" cy="621792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9525">
            <a:solidFill>
              <a:srgbClr val="BFDCCB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669279"/>
            <a:ext cx="50292" cy="36576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41264"/>
            <a:ext cx="10817352" cy="621792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三步缺一不可：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(i) 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给的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f(0)≥1 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用在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③，引理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1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2 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给的“正半轴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f≤0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”用在</a:t>
            </a:r>
            <a:r>
              <a:rPr sz="1250" b="0">
                <a:solidFill>
                  <a:srgbClr val="1F51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250" b="0">
                <a:solidFill>
                  <a:srgbClr val="1F5138"/>
                </a:solidFill>
                <a:latin typeface="微软雅黑"/>
                <a:ea typeface="微软雅黑"/>
                <a:cs typeface="微软雅黑"/>
              </a:rPr>
              <a:t>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9264"/>
            <a:ext cx="868680" cy="41148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9326880" cy="603504"/>
          </a:xfrm>
          <a:prstGeom prst="rect">
            <a:avLst/>
          </a:prstGeom>
          <a:noFill/>
        </p:spPr>
        <p:txBody>
          <a:bodyPr wrap="square" anchor="t" lIns="54864" rIns="54864" tIns="18288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方法总结：新定义题的“四层通关”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82512"/>
            <a:ext cx="10817352" cy="10972"/>
          </a:xfrm>
          <a:prstGeom prst="rect">
            <a:avLst/>
          </a:prstGeom>
          <a:solidFill>
            <a:srgbClr val="E4EBF3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2026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年新高考Ⅰ卷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数学第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19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题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950" b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高中解法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3737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AAB"/>
                </a:solidFill>
                <a:latin typeface="Cambria Math"/>
                <a:ea typeface="Cambria Math"/>
                <a:cs typeface="Cambria Math"/>
              </a:rPr>
              <a:t>11 / 11</a:t>
            </a:r>
          </a:p>
        </p:txBody>
      </p:sp>
      <p:sp>
        <p:nvSpPr>
          <p:cNvPr id="9" name="Chevron 8"/>
          <p:cNvSpPr/>
          <p:nvPr/>
        </p:nvSpPr>
        <p:spPr>
          <a:xfrm>
            <a:off x="685800" y="1133856"/>
            <a:ext cx="2761488" cy="6400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翻译定义</a:t>
            </a:r>
          </a:p>
        </p:txBody>
      </p:sp>
      <p:sp>
        <p:nvSpPr>
          <p:cNvPr id="10" name="Chevron 9"/>
          <p:cNvSpPr/>
          <p:nvPr/>
        </p:nvSpPr>
        <p:spPr>
          <a:xfrm>
            <a:off x="3383280" y="1133856"/>
            <a:ext cx="2761488" cy="6400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来回搬运</a:t>
            </a:r>
          </a:p>
        </p:txBody>
      </p:sp>
      <p:sp>
        <p:nvSpPr>
          <p:cNvPr id="11" name="Chevron 10"/>
          <p:cNvSpPr/>
          <p:nvPr/>
        </p:nvSpPr>
        <p:spPr>
          <a:xfrm>
            <a:off x="6080760" y="1133856"/>
            <a:ext cx="2761488" cy="6400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反证</a:t>
            </a: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取点</a:t>
            </a:r>
          </a:p>
        </p:txBody>
      </p:sp>
      <p:sp>
        <p:nvSpPr>
          <p:cNvPr id="12" name="Chevron 11"/>
          <p:cNvSpPr/>
          <p:nvPr/>
        </p:nvSpPr>
        <p:spPr>
          <a:xfrm>
            <a:off x="8778240" y="1133856"/>
            <a:ext cx="2761488" cy="640080"/>
          </a:xfrm>
          <a:prstGeom prst="chevron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链式收尾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56816"/>
            <a:ext cx="5257800" cy="23317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84832"/>
            <a:ext cx="50292" cy="2075687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956816"/>
            <a:ext cx="5257800" cy="233172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三件武器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底牌：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x&lt;0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时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2</a:t>
            </a:r>
            <a:r>
              <a:rPr sz="1300" b="0" baseline="30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严格递增、值域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(0,1)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工具：①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的正用（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)⊆D(x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）与反用（制造矛盾）。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取点：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m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从左侧逼近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0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退回原点；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−x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接上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f(0)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心法：把“值的大小”翻译成“集合的包含”。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956816"/>
            <a:ext cx="5257800" cy="23317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2084832"/>
            <a:ext cx="50292" cy="2075687"/>
          </a:xfrm>
          <a:prstGeom prst="rect">
            <a:avLst/>
          </a:prstGeom>
          <a:solidFill>
            <a:srgbClr val="A63A2E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956816"/>
            <a:ext cx="5257800" cy="2331720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易错清单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×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包含方向写反：值小的一侧，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D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反而大。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×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漏掉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, 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的正负讨论（题目特意给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300" b="0" baseline="-2500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≠0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×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区间端点开闭搞错；跳过“正半轴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f≤0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”直接去证单调性。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63A2E"/>
                </a:solidFill>
                <a:latin typeface="微软雅黑"/>
                <a:ea typeface="微软雅黑"/>
                <a:cs typeface="微软雅黑"/>
              </a:rPr>
              <a:t>×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以为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连续：本题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f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300" b="0">
                <a:solidFill>
                  <a:srgbClr val="1E2A38"/>
                </a:solidFill>
                <a:latin typeface="Cambria Math"/>
                <a:ea typeface="Cambria Math"/>
                <a:cs typeface="Cambria Math"/>
              </a:rPr>
              <a:t> x=0 </a:t>
            </a:r>
            <a:r>
              <a:rPr sz="1300" b="0">
                <a:solidFill>
                  <a:srgbClr val="1E2A38"/>
                </a:solidFill>
                <a:latin typeface="微软雅黑"/>
                <a:ea typeface="微软雅黑"/>
                <a:cs typeface="微软雅黑"/>
              </a:rPr>
              <a:t>处可以断开，只能靠极限和取点。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43984"/>
            <a:ext cx="10817352" cy="148132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3E2F0"/>
            </a:solidFill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572000"/>
            <a:ext cx="50292" cy="1225296"/>
          </a:xfrm>
          <a:prstGeom prst="rect">
            <a:avLst/>
          </a:prstGeom>
          <a:solidFill>
            <a:srgbClr val="B4883C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43984"/>
            <a:ext cx="10817352" cy="1481328"/>
          </a:xfrm>
          <a:prstGeom prst="rect">
            <a:avLst/>
          </a:prstGeom>
          <a:noFill/>
        </p:spPr>
        <p:txBody>
          <a:bodyPr wrap="square" anchor="t" lIns="219456" rIns="219456" tIns="128016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B4883C"/>
                </a:solidFill>
                <a:latin typeface="微软雅黑"/>
                <a:ea typeface="微软雅黑"/>
                <a:cs typeface="微软雅黑"/>
              </a:rPr>
              <a:t>一句话总结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新定义题的“新”只在符号：把</a:t>
            </a:r>
            <a:r>
              <a:rPr sz="14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d∈D(x</a:t>
            </a:r>
            <a:r>
              <a:rPr sz="14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 </a:t>
            </a:r>
            <a:r>
              <a:rPr sz="140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翻译成</a:t>
            </a:r>
            <a:r>
              <a:rPr sz="14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 f(x</a:t>
            </a:r>
            <a:r>
              <a:rPr sz="14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+d)&gt;f(x</a:t>
            </a:r>
            <a:r>
              <a:rPr sz="1400" b="0" baseline="-2500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6324F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140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，两条条件就变成了“函数值大小”与“集合包含”之间的来回转换，剩下的只是取点、反证与链式传导。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