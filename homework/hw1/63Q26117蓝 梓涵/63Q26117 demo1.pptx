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开场：今天讲一个看起来矛盾的实验——用完全随机的过程，去求完全确定的数学常数 π。</a:t>
            </a:r>
          </a:p>
          <a:p>
            <a:r>
              <a:t>强调：全程不使用 π 的数值，最后才用它检查误差。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路线图：先讲原理，再看四组实验数据，然后读两张图，最后回答“为什么随机会有用”。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强调“均匀”二字：每个位置被选中的机会一样，点不会故意扎堆。</a:t>
            </a:r>
          </a:p>
          <a:p>
            <a:r>
              <a:t>判断点在不在圆内只需 x² + y² ≤ 1，这是勾股定理，不含 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全场核心页。逻辑链：面积占比 → 落点概率 → 用频率近似概率 → 反解出未知面积。</a:t>
            </a:r>
          </a:p>
          <a:p>
            <a:r>
              <a:t>注意这一步没有用到任何 π 的数值。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这一页回答“程序到底做了什么”。</a:t>
            </a:r>
          </a:p>
          <a:p>
            <a:r>
              <a:t>左图是 N = 5000 的实际结果：红色圆内、蓝色圆外，标题已给出估计值。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代码只有几行。要点：均匀采样、只用四则运算、固定随机种子保证可复现。</a:t>
            </a:r>
          </a:p>
          <a:p>
            <a:r>
              <a:t>运行环境：Python 3.14 + NumPy 2.5 + Matplotlib 3.11。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先给数据。特别指出 N=1000 反而更差——这是重要的教学点：</a:t>
            </a:r>
          </a:p>
          <a:p>
            <a:r>
              <a:t>单次随机实验有波动，不能只看一次。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左图柱状：前两根柱子明显偏离虚线，后两根几乎贴在虚线上。</a:t>
            </a:r>
          </a:p>
          <a:p>
            <a:r>
              <a:t>右图相对误差：从 3.1% 掉到 0.035%，两个数量级。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单次实验有运气，重复 30 次取平均才能看清规律。</a:t>
            </a:r>
          </a:p>
          <a:p>
            <a:r>
              <a:t>标准差和平均误差单调下降，速度符合 1/√N。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这张图把公式“看得见”：红点比例就是圆的面积比例。</a:t>
            </a:r>
          </a:p>
          <a:p>
            <a:r>
              <a:t>黑色圆边界把红蓝两色整齐地分开。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左图：点数很少时曲线剧烈跳动，甚至掉到 3.0 以下；点数变多后逐渐贴住红色虚线。</a:t>
            </a:r>
          </a:p>
          <a:p>
            <a:r>
              <a:t>右图：误差棒随 N 迅速变短，圆点紧紧落在真实 π 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用双对数坐标看，实验点和 1/√N 参考线几乎平行——这是蒙特卡洛方法最著名的性质。</a:t>
            </a:r>
          </a:p>
          <a:p>
            <a:r>
              <a:t>含义：误差想缩小 10 倍，样本量要增加 100 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这一页回答“随机为什么能解决确定性问题”。</a:t>
            </a:r>
          </a:p>
          <a:p>
            <a:r>
              <a:t>核心：个体随机、整体规律。抛硬币和马赛克两个比喻帮助学生理解。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同一个套路：算不动或没有公式时，就用大量随机样本去模拟，再统计结果。</a:t>
            </a:r>
          </a:p>
          <a:p>
            <a:r>
              <a:t>我们的 π 实验就是这套方法最小的例子。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把整个实验抽象成六步，任何蒙特卡洛方法都能套用。</a:t>
            </a:r>
          </a:p>
          <a:p>
            <a:r>
              <a:t>我们的 π 实验完整走了一遍：建模→采样→判断→计数→估计→检验。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主动指出局限反而更有说服力：这个方法的价值在于通用，而不在于快。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收尾：回到最初的问题——为什么随机实验可以估计 π。</a:t>
            </a:r>
          </a:p>
          <a:p>
            <a:r>
              <a:t>答案：面积比例可以用频率来测；样本越多，频率越稳定。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全场的“金句”页：最确定的数 × 最不可靠的工具。</a:t>
            </a:r>
          </a:p>
          <a:p>
            <a:r>
              <a:t>可以在这里停顿，让学生自己回味结论。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留出提问时间。可以现场演示改变 N 之后结果如何变化。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15968"/>
            <a:ext cx="12191695" cy="54864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37160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用随机实验估计圆周率 π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331720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BFD2EA"/>
                </a:solidFill>
                <a:latin typeface="微软雅黑" panose="020B0503020204020204" charset="-122"/>
              </a:rPr>
              <a:t>蒙特卡洛方法：从一正方形的随机点，到 3.14159…</a:t>
            </a:r>
            <a:endParaRPr sz="1800" b="0">
              <a:solidFill>
                <a:srgbClr val="BFD2E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3108960"/>
            <a:ext cx="1105783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2B03B"/>
                </a:solidFill>
                <a:latin typeface="微软雅黑" panose="020B0503020204020204" charset="-122"/>
              </a:rPr>
              <a:t>π  ≈  4 × ( 落在圆内的点数 / 随机点总数 )</a:t>
            </a:r>
            <a:endParaRPr sz="2600" b="1">
              <a:solidFill>
                <a:srgbClr val="F2B03B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4553712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>
                <a:solidFill>
                  <a:srgbClr val="9FB8D8"/>
                </a:solidFill>
                <a:latin typeface="微软雅黑" panose="020B0503020204020204" charset="-122"/>
              </a:rPr>
              <a:t>估计过程中完全不使用 π 的数值，</a:t>
            </a:r>
            <a:r>
              <a:rPr sz="1400" b="0">
                <a:solidFill>
                  <a:srgbClr val="9FB8D8"/>
                </a:solidFill>
                <a:latin typeface="微软雅黑" panose="020B0503020204020204" charset="-122"/>
              </a:rPr>
              <a:t>真实的 π 只在最后用来比较误差。</a:t>
            </a:r>
            <a:endParaRPr sz="1400" b="0">
              <a:solidFill>
                <a:srgbClr val="9FB8D8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585216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7F9CC4"/>
                </a:solidFill>
                <a:latin typeface="微软雅黑" panose="020B0503020204020204" charset="-122"/>
              </a:rPr>
              <a:t>Python + NumPy + Matplotlib    |    N = 100 / 1 000 / 10 000 / 100 000</a:t>
            </a:r>
            <a:endParaRPr sz="1300" b="0">
              <a:solidFill>
                <a:srgbClr val="7F9CC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目录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接下来我们要做的事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81328"/>
            <a:ext cx="566928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B73C4"/>
                </a:solidFill>
                <a:latin typeface="微软雅黑" panose="020B0503020204020204" charset="-122"/>
              </a:rPr>
              <a:t>1</a:t>
            </a:r>
            <a:endParaRPr sz="22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4168" y="1490472"/>
            <a:ext cx="1014343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2A4C"/>
                </a:solidFill>
                <a:latin typeface="微软雅黑" panose="020B0503020204020204" charset="-122"/>
              </a:rPr>
              <a:t>方法的原理</a:t>
            </a:r>
            <a:endParaRPr sz="18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44168" y="1783080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微软雅黑" panose="020B0503020204020204" charset="-122"/>
              </a:rPr>
              <a:t>为什么随机实验可以估计 π</a:t>
            </a:r>
            <a:endParaRPr sz="13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2368296"/>
            <a:ext cx="566928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3682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B73C4"/>
                </a:solidFill>
                <a:latin typeface="微软雅黑" panose="020B0503020204020204" charset="-122"/>
              </a:rPr>
              <a:t>2</a:t>
            </a:r>
            <a:endParaRPr sz="22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44168" y="2377440"/>
            <a:ext cx="1014343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2A4C"/>
                </a:solidFill>
                <a:latin typeface="微软雅黑" panose="020B0503020204020204" charset="-122"/>
              </a:rPr>
              <a:t>四组实验</a:t>
            </a:r>
            <a:endParaRPr sz="18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4168" y="2670048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微软雅黑" panose="020B0503020204020204" charset="-122"/>
              </a:rPr>
              <a:t>N = 100、1 000、10 000、100 000</a:t>
            </a:r>
            <a:endParaRPr sz="13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3255264"/>
            <a:ext cx="566928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552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B73C4"/>
                </a:solidFill>
                <a:latin typeface="微软雅黑" panose="020B0503020204020204" charset="-122"/>
              </a:rPr>
              <a:t>3</a:t>
            </a:r>
            <a:endParaRPr sz="22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44168" y="3264408"/>
            <a:ext cx="1014343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2A4C"/>
                </a:solidFill>
                <a:latin typeface="微软雅黑" panose="020B0503020204020204" charset="-122"/>
              </a:rPr>
              <a:t>两幅图</a:t>
            </a:r>
            <a:endParaRPr sz="18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44168" y="3557016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微软雅黑" panose="020B0503020204020204" charset="-122"/>
              </a:rPr>
              <a:t>撒点图与收敛图告诉我们什么</a:t>
            </a:r>
            <a:endParaRPr sz="13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4142232"/>
            <a:ext cx="566928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1422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B73C4"/>
                </a:solidFill>
                <a:latin typeface="微软雅黑" panose="020B0503020204020204" charset="-122"/>
              </a:rPr>
              <a:t>4</a:t>
            </a:r>
            <a:endParaRPr sz="22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44168" y="4151376"/>
            <a:ext cx="1014343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2A4C"/>
                </a:solidFill>
                <a:latin typeface="微软雅黑" panose="020B0503020204020204" charset="-122"/>
              </a:rPr>
              <a:t>为什么有效</a:t>
            </a:r>
            <a:endParaRPr sz="18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44168" y="4443984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微软雅黑" panose="020B0503020204020204" charset="-122"/>
              </a:rPr>
              <a:t>从个体的随机，到整体的规律</a:t>
            </a:r>
            <a:endParaRPr sz="13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5029200"/>
            <a:ext cx="566928" cy="56692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50292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3B73C4"/>
                </a:solidFill>
                <a:latin typeface="微软雅黑" panose="020B0503020204020204" charset="-122"/>
              </a:rPr>
              <a:t>5</a:t>
            </a:r>
            <a:endParaRPr sz="22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44168" y="5038344"/>
            <a:ext cx="10143439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02A4C"/>
                </a:solidFill>
                <a:latin typeface="微软雅黑" panose="020B0503020204020204" charset="-122"/>
              </a:rPr>
              <a:t>更广阔的意义</a:t>
            </a:r>
            <a:endParaRPr sz="18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44168" y="5330952"/>
            <a:ext cx="1014343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B6675"/>
                </a:solidFill>
                <a:latin typeface="微软雅黑" panose="020B0503020204020204" charset="-122"/>
              </a:rPr>
              <a:t>计算机模拟中的蒙特卡洛方法</a:t>
            </a:r>
            <a:endParaRPr sz="13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问题的设定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一个正方形、一个圆，和大量的随机点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slide_fig_formul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06440" y="1481328"/>
            <a:ext cx="5818327" cy="3291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1">
                <a:solidFill>
                  <a:srgbClr val="102A4C"/>
                </a:solidFill>
                <a:latin typeface="微软雅黑" panose="020B0503020204020204" charset="-122"/>
              </a:rPr>
              <a:t>正方形</a:t>
            </a:r>
            <a:endParaRPr sz="15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-1 ≤ x ≤ 1 ，  -1 ≤ y ≤ 1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边长 = 2   →   面积 = 2 × 2 = 4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1">
                <a:solidFill>
                  <a:srgbClr val="102A4C"/>
                </a:solidFill>
                <a:latin typeface="微软雅黑" panose="020B0503020204020204" charset="-122"/>
              </a:rPr>
              <a:t>圆</a:t>
            </a:r>
            <a:endParaRPr sz="15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圆心在原点，半径 r = 1（单位圆）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它的面积正是我们想求的那个数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1">
                <a:solidFill>
                  <a:srgbClr val="102A4C"/>
                </a:solidFill>
                <a:latin typeface="微软雅黑" panose="020B0503020204020204" charset="-122"/>
              </a:rPr>
              <a:t>实验</a:t>
            </a:r>
            <a:endParaRPr sz="15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在正方形内均匀地随机撒 N 个点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数一数有多少个点落在圆内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06440" y="4910328"/>
            <a:ext cx="5818327" cy="658368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0" y="4910328"/>
            <a:ext cx="554400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02A4C"/>
                </a:solidFill>
                <a:latin typeface="微软雅黑" panose="020B0503020204020204" charset="-122"/>
              </a:rPr>
              <a:t>“均匀”= 每个位置被选中的机会一样</a:t>
            </a:r>
            <a:endParaRPr sz="14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2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最关键的一步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数点，就等于量面积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11057839" cy="109728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35608"/>
            <a:ext cx="10417759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0">
                <a:solidFill>
                  <a:srgbClr val="102A4C"/>
                </a:solidFill>
                <a:latin typeface="微软雅黑" panose="020B0503020204020204" charset="-122"/>
              </a:rPr>
              <a:t>一个随机点落在圆内的可能性，</a:t>
            </a:r>
            <a:r>
              <a:rPr sz="1900" b="1">
                <a:solidFill>
                  <a:srgbClr val="102A4C"/>
                </a:solidFill>
                <a:latin typeface="微软雅黑" panose="020B0503020204020204" charset="-122"/>
              </a:rPr>
              <a:t>等于圆占正方形面积的比例。</a:t>
            </a:r>
            <a:endParaRPr sz="19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276148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100" b="1">
                <a:solidFill>
                  <a:srgbClr val="102A4C"/>
                </a:solidFill>
                <a:latin typeface="微软雅黑" panose="020B0503020204020204" charset="-122"/>
              </a:rPr>
              <a:t>圆内点数 / N     ≈     圆的面积 / 正方形的面积</a:t>
            </a:r>
            <a:endParaRPr sz="21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6928" y="349300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0">
                <a:solidFill>
                  <a:srgbClr val="5B6675"/>
                </a:solidFill>
                <a:latin typeface="微软雅黑" panose="020B0503020204020204" charset="-122"/>
              </a:rPr>
              <a:t>我们不知道圆的面积——那正是要求的量；但正方形面积是已知的：4。</a:t>
            </a:r>
            <a:endParaRPr sz="15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6928" y="408736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3B73C4"/>
                </a:solidFill>
                <a:latin typeface="微软雅黑" panose="020B0503020204020204" charset="-122"/>
              </a:rPr>
              <a:t>圆内点数 / N   ≈   圆的面积 / 4</a:t>
            </a:r>
            <a:endParaRPr sz="20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472744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D9363B"/>
                </a:solidFill>
                <a:latin typeface="微软雅黑" panose="020B0503020204020204" charset="-122"/>
              </a:rPr>
              <a:t>所以      π   ≈   4 × 圆内点数 / N</a:t>
            </a:r>
            <a:endParaRPr sz="2600" b="1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3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怎么判断一个点在圆内？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用勾股定理，而不是 π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monte_carlo_p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1481328"/>
            <a:ext cx="5726887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1">
                <a:solidFill>
                  <a:srgbClr val="102A4C"/>
                </a:solidFill>
                <a:latin typeface="微软雅黑" panose="020B0503020204020204" charset="-122"/>
              </a:rPr>
              <a:t>对于点 (x, y)：</a:t>
            </a:r>
            <a:endParaRPr sz="15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x² + y² ≤ 1  →  在圆内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x² + y² &gt; 1  →  在圆外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因为 x² + y² 就是到原点的距离的平方，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而圆周上的点离原点恰好是 1。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97880" y="4133088"/>
            <a:ext cx="5726887" cy="1463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97880" y="4133088"/>
            <a:ext cx="64008" cy="1463040"/>
          </a:xfrm>
          <a:prstGeom prst="rect">
            <a:avLst/>
          </a:prstGeom>
          <a:solidFill>
            <a:srgbClr val="D9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4261104"/>
            <a:ext cx="534283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363B"/>
                </a:solidFill>
                <a:latin typeface="微软雅黑" panose="020B0503020204020204" charset="-122"/>
              </a:rPr>
              <a:t>程序里没有 π</a:t>
            </a:r>
            <a:endParaRPr sz="1500" b="1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99048" y="4663440"/>
            <a:ext cx="5342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0">
                <a:solidFill>
                  <a:srgbClr val="222B38"/>
                </a:solidFill>
                <a:latin typeface="微软雅黑" panose="020B0503020204020204" charset="-122"/>
              </a:rPr>
              <a:t>只用了加、减、乘和一个比较</a:t>
            </a:r>
            <a:endParaRPr sz="13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300" b="0">
                <a:solidFill>
                  <a:srgbClr val="222B38"/>
                </a:solidFill>
                <a:latin typeface="微软雅黑" panose="020B0503020204020204" charset="-122"/>
              </a:rPr>
              <a:t>唯一的常数是 4（正方形的面积）</a:t>
            </a:r>
            <a:endParaRPr sz="13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4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实验设置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四组样本量，一个程序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1057839" cy="2743200"/>
          </a:xfrm>
          <a:prstGeom prst="rect">
            <a:avLst/>
          </a:prstGeom>
          <a:solidFill>
            <a:srgbClr val="1B2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36192"/>
            <a:ext cx="10545775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9CDCFE"/>
                </a:solidFill>
                <a:latin typeface="微软雅黑" panose="020B0503020204020204" charset="-122"/>
              </a:rPr>
              <a:t>import numpy as np</a:t>
            </a:r>
            <a:endParaRPr sz="1400" b="0">
              <a:solidFill>
                <a:srgbClr val="9CDCFE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6E6E6"/>
                </a:solidFill>
                <a:latin typeface="微软雅黑" panose="020B0503020204020204" charset="-122"/>
              </a:rPr>
              <a:t>rng = np.random.default_rng(</a:t>
            </a:r>
            <a:r>
              <a:rPr sz="1400" b="0">
                <a:solidFill>
                  <a:srgbClr val="B5CEA8"/>
                </a:solidFill>
                <a:latin typeface="微软雅黑" panose="020B0503020204020204" charset="-122"/>
              </a:rPr>
              <a:t>20240928</a:t>
            </a:r>
            <a:r>
              <a:rPr sz="1400" b="0">
                <a:solidFill>
                  <a:srgbClr val="7F8C9E"/>
                </a:solidFill>
                <a:latin typeface="微软雅黑" panose="020B0503020204020204" charset="-122"/>
              </a:rPr>
              <a:t>)        # 固定种子，结果可复现</a:t>
            </a:r>
            <a:endParaRPr sz="1400" b="0">
              <a:solidFill>
                <a:srgbClr val="7F8C9E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9CDCFE"/>
                </a:solidFill>
                <a:latin typeface="微软雅黑" panose="020B0503020204020204" charset="-122"/>
              </a:rPr>
              <a:t>def estimate_pi(n, rng):</a:t>
            </a:r>
            <a:endParaRPr sz="1400" b="0">
              <a:solidFill>
                <a:srgbClr val="9CDCFE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6E6E6"/>
                </a:solidFill>
                <a:latin typeface="微软雅黑" panose="020B0503020204020204" charset="-122"/>
              </a:rPr>
              <a:t>    x = rng.uniform(-1.0, 1.0, n)      # 均匀生成 x</a:t>
            </a:r>
            <a:endParaRPr sz="1400" b="0">
              <a:solidFill>
                <a:srgbClr val="E6E6E6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6E6E6"/>
                </a:solidFill>
                <a:latin typeface="微软雅黑" panose="020B0503020204020204" charset="-122"/>
              </a:rPr>
              <a:t>    y = rng.uniform(-1.0, 1.0, n)      # 均匀生成 y</a:t>
            </a:r>
            <a:endParaRPr sz="1400" b="0">
              <a:solidFill>
                <a:srgbClr val="E6E6E6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6E6E6"/>
                </a:solidFill>
                <a:latin typeface="微软雅黑" panose="020B0503020204020204" charset="-122"/>
              </a:rPr>
              <a:t>    inside = x*x + y*y &lt;= 1.0          # 是否在圆内</a:t>
            </a:r>
            <a:endParaRPr sz="1400" b="0">
              <a:solidFill>
                <a:srgbClr val="E6E6E6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400" b="0">
                <a:solidFill>
                  <a:srgbClr val="E6E6E6"/>
                </a:solidFill>
                <a:latin typeface="微软雅黑" panose="020B0503020204020204" charset="-122"/>
              </a:rPr>
              <a:t>    return 4.0 * np.count_nonzero(inside) / n</a:t>
            </a:r>
            <a:endParaRPr sz="1400" b="0">
              <a:solidFill>
                <a:srgbClr val="E6E6E6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4361688"/>
            <a:ext cx="3503066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361688"/>
            <a:ext cx="64008" cy="1280160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4489704"/>
            <a:ext cx="31190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73C4"/>
                </a:solidFill>
                <a:latin typeface="微软雅黑" panose="020B0503020204020204" charset="-122"/>
              </a:rPr>
              <a:t>样本量</a:t>
            </a:r>
            <a:endParaRPr sz="15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311901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N = 100、1 000、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10 000、100 000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4314" y="4361688"/>
            <a:ext cx="3503066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4314" y="4361688"/>
            <a:ext cx="64008" cy="1280160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5482" y="4489704"/>
            <a:ext cx="31190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73C4"/>
                </a:solidFill>
                <a:latin typeface="微软雅黑" panose="020B0503020204020204" charset="-122"/>
              </a:rPr>
              <a:t>记录内容</a:t>
            </a:r>
            <a:endParaRPr sz="15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45482" y="4892040"/>
            <a:ext cx="311901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圆内点数、估计值、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绝对误差、相对误差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1700" y="4361688"/>
            <a:ext cx="3503066" cy="12801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1700" y="4361688"/>
            <a:ext cx="64008" cy="1280160"/>
          </a:xfrm>
          <a:prstGeom prst="rect">
            <a:avLst/>
          </a:prstGeom>
          <a:solidFill>
            <a:srgbClr val="D9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2868" y="4489704"/>
            <a:ext cx="31190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363B"/>
                </a:solidFill>
                <a:latin typeface="微软雅黑" panose="020B0503020204020204" charset="-122"/>
              </a:rPr>
              <a:t>真实 π 只用在这里</a:t>
            </a:r>
            <a:endParaRPr sz="1500" b="1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2868" y="4892040"/>
            <a:ext cx="3119018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计算误差、画参考线，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6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不参与估计过程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5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四组实验的结果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真实 π = 3.141592653589793 —— 只用在最后两列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55096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377440"/>
                <a:gridCol w="2377440"/>
                <a:gridCol w="2368296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N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圆内点数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π 的估计值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绝对误差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相对误差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81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3.240000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0.098407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3.1324%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1 000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811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3.244000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0.102407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3.2597%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10 000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7 851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3.140400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0.001193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0.0380%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100 000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78 567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3.142680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0.001087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0.0346%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53128"/>
            <a:ext cx="110578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1">
                <a:solidFill>
                  <a:srgbClr val="102A4C"/>
                </a:solidFill>
                <a:latin typeface="微软雅黑" panose="020B0503020204020204" charset="-122"/>
              </a:rPr>
              <a:t>•  N 扩大 1 000 倍，相对误差从约 3.1% 降到约 0.035%。</a:t>
            </a:r>
            <a:endParaRPr sz="15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0">
                <a:solidFill>
                  <a:srgbClr val="D9363B"/>
                </a:solidFill>
                <a:latin typeface="微软雅黑" panose="020B0503020204020204" charset="-122"/>
              </a:rPr>
              <a:t>•  N = 1 000 的结果反而比 N = 100 差一点——单次实验有运气成分。</a:t>
            </a:r>
            <a:endParaRPr sz="1500" b="0">
              <a:solidFill>
                <a:srgbClr val="D9363B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0">
                <a:solidFill>
                  <a:srgbClr val="5B6675"/>
                </a:solidFill>
                <a:latin typeface="微软雅黑" panose="020B0503020204020204" charset="-122"/>
              </a:rPr>
              <a:t>•  所以“点越多越准”说的是总体趋势，不保证每一步都更好。</a:t>
            </a:r>
            <a:endParaRPr sz="15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6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结果可视化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左：各组的估计值　右：误差下降有多快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slide_fig_resul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64208"/>
            <a:ext cx="11091672" cy="4382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7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把运气平均掉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每个 N 独立重复 30 次实验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481328"/>
          <a:ext cx="1105509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26080"/>
                <a:gridCol w="2926080"/>
                <a:gridCol w="2825496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N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平均估计值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标准差（波动大小）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平均绝对误差</a:t>
                      </a:r>
                      <a:endParaRPr sz="14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102A4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3.10267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0.13398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0.10720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1 000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3.13520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0.05105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0.04053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10 000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3.14173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0.01620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0.01323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100 000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3.14083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0.00395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B38"/>
                          </a:solidFill>
                          <a:latin typeface="微软雅黑" panose="020B0503020204020204" charset="-122"/>
                        </a:rPr>
                        <a:t>0.00330</a:t>
                      </a:r>
                      <a:endParaRPr sz="1400" b="0">
                        <a:solidFill>
                          <a:srgbClr val="222B38"/>
                        </a:solidFill>
                        <a:latin typeface="微软雅黑" panose="020B0503020204020204" charset="-122"/>
                      </a:endParaRPr>
                    </a:p>
                  </a:txBody>
                  <a:tcPr marL="82296" marR="82296" marT="18288" marB="18288" anchor="ctr">
                    <a:solidFill>
                      <a:srgbClr val="F2F6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" y="4453128"/>
            <a:ext cx="11057839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1">
                <a:solidFill>
                  <a:srgbClr val="102A4C"/>
                </a:solidFill>
                <a:latin typeface="微软雅黑" panose="020B0503020204020204" charset="-122"/>
              </a:rPr>
              <a:t>•  平均值都在 3.14 附近  →  方法本身没有系统性偏差，只是在“抖”。</a:t>
            </a:r>
            <a:endParaRPr sz="15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•  标准差：0.134（N=100）→ 0.0040（N=100 000），缩小到约 1/30。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500" b="0">
                <a:solidFill>
                  <a:srgbClr val="D9363B"/>
                </a:solidFill>
                <a:latin typeface="微软雅黑" panose="020B0503020204020204" charset="-122"/>
              </a:rPr>
              <a:t>•  经验规律：误差 ≈ 1/√N。想多对一位有效数字，大约要多撒 100 倍的点。</a:t>
            </a:r>
            <a:endParaRPr sz="1500" b="0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8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第一幅图 —— 撒点图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N = 5 000：红点在圆内，蓝点在圆外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monte_carlo_p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44168"/>
            <a:ext cx="443484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1572768"/>
            <a:ext cx="5269687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1">
                <a:solidFill>
                  <a:srgbClr val="102A4C"/>
                </a:solidFill>
                <a:latin typeface="微软雅黑" panose="020B0503020204020204" charset="-122"/>
              </a:rPr>
              <a:t>你看到了什么</a:t>
            </a:r>
            <a:endParaRPr sz="14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微软雅黑" panose="020B0503020204020204" charset="-122"/>
              </a:rPr>
              <a:t>•  正方形被均匀填满 → 撒点确实是均匀的</a:t>
            </a:r>
            <a:endParaRPr sz="14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微软雅黑" panose="020B0503020204020204" charset="-122"/>
              </a:rPr>
              <a:t>•  红色区域的边界正好是那个圆</a:t>
            </a:r>
            <a:endParaRPr sz="14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微软雅黑" panose="020B0503020204020204" charset="-122"/>
              </a:rPr>
              <a:t>•  正方形的四个角是蓝色的</a:t>
            </a:r>
            <a:endParaRPr sz="14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1">
                <a:solidFill>
                  <a:srgbClr val="102A4C"/>
                </a:solidFill>
                <a:latin typeface="微软雅黑" panose="020B0503020204020204" charset="-122"/>
              </a:rPr>
              <a:t>它说明了什么</a:t>
            </a:r>
            <a:endParaRPr sz="140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微软雅黑" panose="020B0503020204020204" charset="-122"/>
              </a:rPr>
              <a:t>•  红点占比 ≈ 圆的面积占比</a:t>
            </a:r>
            <a:endParaRPr sz="14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微软雅黑" panose="020B0503020204020204" charset="-122"/>
              </a:rPr>
              <a:t>•  3 976 / 5 000 = 79.5%  →  ×4 = 3.1808</a:t>
            </a:r>
            <a:endParaRPr sz="14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微软雅黑" panose="020B0503020204020204" charset="-122"/>
              </a:rPr>
              <a:t>•  只用了 5 000 个点，已经很接近 π</a:t>
            </a:r>
            <a:endParaRPr sz="14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5080" y="4681728"/>
            <a:ext cx="5269687" cy="77724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4681728"/>
            <a:ext cx="4995367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D9363B"/>
                </a:solidFill>
                <a:latin typeface="微软雅黑" panose="020B0503020204020204" charset="-122"/>
              </a:rPr>
              <a:t>π ≈ 4 × 3976/5000 = 3.1808</a:t>
            </a:r>
            <a:endParaRPr sz="1600" b="1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9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第二幅图 —— 收敛图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不断撒更多的点，估计值会怎样变化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pi_converge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47088"/>
            <a:ext cx="11091672" cy="44366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6928" y="1408176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(a) 单次实验的累计估计　　　|　　　(b) 每个 N 重复 30 次：平均值 ± 1 个标准差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10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精度提高得有多快？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误差大致按 1/√N 缩小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pic>
        <p:nvPicPr>
          <p:cNvPr id="5" name="Picture 4" descr="slide_fig_erro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18488"/>
            <a:ext cx="6675120" cy="3615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664208"/>
            <a:ext cx="3943807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664208"/>
            <a:ext cx="64008" cy="1828800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82128" y="1792224"/>
            <a:ext cx="35597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73C4"/>
                </a:solidFill>
                <a:latin typeface="微软雅黑" panose="020B0503020204020204" charset="-122"/>
              </a:rPr>
              <a:t>为什么是 √N ？</a:t>
            </a:r>
            <a:endParaRPr sz="15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82128" y="2194560"/>
            <a:ext cx="355975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每个点都是一次独立的“是/否”判断，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概率相同。随机误差会互相抵消，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但只抵消一部分：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剩下的部分按 1/√N 缩小。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80960" y="3721608"/>
            <a:ext cx="3943807" cy="1828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80960" y="3721608"/>
            <a:ext cx="64008" cy="1828800"/>
          </a:xfrm>
          <a:prstGeom prst="rect">
            <a:avLst/>
          </a:prstGeom>
          <a:solidFill>
            <a:srgbClr val="D9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8" y="3849624"/>
            <a:ext cx="3559759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363B"/>
                </a:solidFill>
                <a:latin typeface="微软雅黑" panose="020B0503020204020204" charset="-122"/>
              </a:rPr>
              <a:t>精度的代价</a:t>
            </a:r>
            <a:endParaRPr sz="1500" b="1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82128" y="4251960"/>
            <a:ext cx="3559759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点 ×100   →   误差 ÷10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点 ×10 000   →   误差 ÷100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想多对一位，代价非常高昂。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11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随机为什么能解决确定性的问题？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π 从不变，我们却靠“碰运气”逼近它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11057839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35608"/>
            <a:ext cx="1041775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0">
                <a:solidFill>
                  <a:srgbClr val="102A4C"/>
                </a:solidFill>
                <a:latin typeface="微软雅黑" panose="020B0503020204020204" charset="-122"/>
              </a:rPr>
              <a:t>单独一个点完全无法预测，</a:t>
            </a:r>
            <a:r>
              <a:rPr sz="1900" b="1">
                <a:solidFill>
                  <a:srgbClr val="102A4C"/>
                </a:solidFill>
                <a:latin typeface="微软雅黑" panose="020B0503020204020204" charset="-122"/>
              </a:rPr>
              <a:t>但大量点的比例却非常稳定。</a:t>
            </a:r>
            <a:endParaRPr sz="19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2624328"/>
            <a:ext cx="3503066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2624328"/>
            <a:ext cx="64008" cy="2743200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2752344"/>
            <a:ext cx="31190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73C4"/>
                </a:solidFill>
                <a:latin typeface="微软雅黑" panose="020B0503020204020204" charset="-122"/>
              </a:rPr>
              <a:t>就像抛硬币</a:t>
            </a:r>
            <a:endParaRPr sz="15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8096" y="3154680"/>
            <a:ext cx="311901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抛一次，什么都说明不了。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抛一万次，正面比例一定接近一半。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随机性在“个体”层面捣乱，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却在“整体”层面呈现出规律。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44314" y="2624328"/>
            <a:ext cx="3503066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4314" y="2624328"/>
            <a:ext cx="64008" cy="2743200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5482" y="2752344"/>
            <a:ext cx="31190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B73C4"/>
                </a:solidFill>
                <a:latin typeface="微软雅黑" panose="020B0503020204020204" charset="-122"/>
              </a:rPr>
              <a:t>就像马赛克照片</a:t>
            </a:r>
            <a:endParaRPr sz="150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45482" y="3154680"/>
            <a:ext cx="311901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点少的时候，圆形边缘坑坑洼洼，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红点占比可能偏高也可能偏低。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点多了，马赛克变细，圆形轮廓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变清晰，红蓝比例接近真实面积比。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21700" y="2624328"/>
            <a:ext cx="3503066" cy="2743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1700" y="2624328"/>
            <a:ext cx="64008" cy="2743200"/>
          </a:xfrm>
          <a:prstGeom prst="rect">
            <a:avLst/>
          </a:prstGeom>
          <a:solidFill>
            <a:srgbClr val="D936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2868" y="2752344"/>
            <a:ext cx="311901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D9363B"/>
                </a:solidFill>
                <a:latin typeface="微软雅黑" panose="020B0503020204020204" charset="-122"/>
              </a:rPr>
              <a:t>不需要解方程</a:t>
            </a:r>
            <a:endParaRPr sz="1500" b="1">
              <a:solidFill>
                <a:srgbClr val="D9363B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2868" y="3154680"/>
            <a:ext cx="3119018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我们没有为 π 解任何公式。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我们让随机过程跑起来，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再从统计结果里读出答案。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2000"/>
              </a:lnSpc>
              <a:spcAft>
                <a:spcPts val="500"/>
              </a:spcAft>
            </a:pP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确定性来自大数定律，而非几何。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12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这种思想无处不在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计算机模拟中的蒙特卡洛方法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435608"/>
            <a:ext cx="5346039" cy="1353312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435608"/>
            <a:ext cx="64008" cy="1353312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563624"/>
            <a:ext cx="49619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3B73C4"/>
                </a:solidFill>
                <a:latin typeface="微软雅黑" panose="020B0503020204020204" charset="-122"/>
              </a:rPr>
              <a:t>求面积与积分</a:t>
            </a:r>
            <a:endParaRPr sz="145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1965960"/>
            <a:ext cx="49619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 panose="020B0503020204020204" charset="-122"/>
              </a:rPr>
              <a:t>写不出公式的区域，照样可以靠撒点估出面积；在高维问题里它往往比传统数值方法更省力。</a:t>
            </a:r>
            <a:endParaRPr sz="12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78727" y="1435608"/>
            <a:ext cx="5346039" cy="1353312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78727" y="1435608"/>
            <a:ext cx="64008" cy="1353312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9895" y="1563624"/>
            <a:ext cx="49619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7A7A"/>
                </a:solidFill>
                <a:latin typeface="微软雅黑" panose="020B0503020204020204" charset="-122"/>
              </a:rPr>
              <a:t>物理与工程仿真</a:t>
            </a:r>
            <a:endParaRPr sz="1450" b="1">
              <a:solidFill>
                <a:srgbClr val="1F7A7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79895" y="1965960"/>
            <a:ext cx="49619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 panose="020B0503020204020204" charset="-122"/>
              </a:rPr>
              <a:t>核反应堆中的中子输运、粒子散射、分子运动：模拟大量随机个体，再统计整体结果。</a:t>
            </a:r>
            <a:endParaRPr sz="12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2944368"/>
            <a:ext cx="5346039" cy="1353312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44368"/>
            <a:ext cx="64008" cy="1353312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3072384"/>
            <a:ext cx="49619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3B73C4"/>
                </a:solidFill>
                <a:latin typeface="微软雅黑" panose="020B0503020204020204" charset="-122"/>
              </a:rPr>
              <a:t>计算机图形学</a:t>
            </a:r>
            <a:endParaRPr sz="145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8096" y="3474720"/>
            <a:ext cx="49619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 panose="020B0503020204020204" charset="-122"/>
              </a:rPr>
              <a:t>游戏与电影里的路径追踪渲染，本质是随机发射大量光线，再平均它们如何反弹。</a:t>
            </a:r>
            <a:endParaRPr sz="12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78727" y="2944368"/>
            <a:ext cx="5346039" cy="1353312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78727" y="2944368"/>
            <a:ext cx="64008" cy="1353312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9895" y="3072384"/>
            <a:ext cx="49619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7A7A"/>
                </a:solidFill>
                <a:latin typeface="微软雅黑" panose="020B0503020204020204" charset="-122"/>
              </a:rPr>
              <a:t>金融与风险分析</a:t>
            </a:r>
            <a:endParaRPr sz="1450" b="1">
              <a:solidFill>
                <a:srgbClr val="1F7A7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9895" y="3474720"/>
            <a:ext cx="49619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 panose="020B0503020204020204" charset="-122"/>
              </a:rPr>
              <a:t>股价的随机波动、保险赔付、投资组合风险，常用成千上万次随机模拟来估计。</a:t>
            </a:r>
            <a:endParaRPr sz="12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66928" y="4453128"/>
            <a:ext cx="5346039" cy="1353312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453128"/>
            <a:ext cx="64008" cy="1353312"/>
          </a:xfrm>
          <a:prstGeom prst="rect">
            <a:avLst/>
          </a:prstGeom>
          <a:solidFill>
            <a:srgbClr val="3B7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" y="4581144"/>
            <a:ext cx="49619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3B73C4"/>
                </a:solidFill>
                <a:latin typeface="微软雅黑" panose="020B0503020204020204" charset="-122"/>
              </a:rPr>
              <a:t>人工智能与机器学习</a:t>
            </a:r>
            <a:endParaRPr sz="1450" b="1">
              <a:solidFill>
                <a:srgbClr val="3B73C4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096" y="4983480"/>
            <a:ext cx="49619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 panose="020B0503020204020204" charset="-122"/>
              </a:rPr>
              <a:t>随机初始化、随机梯度下降、Dropout、强化学习中的随机探索，都依赖随机采样。</a:t>
            </a:r>
            <a:endParaRPr sz="12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78727" y="4453128"/>
            <a:ext cx="5346039" cy="1353312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78727" y="4453128"/>
            <a:ext cx="64008" cy="1353312"/>
          </a:xfrm>
          <a:prstGeom prst="rect">
            <a:avLst/>
          </a:prstGeom>
          <a:solidFill>
            <a:srgbClr val="1F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9895" y="4581144"/>
            <a:ext cx="4961991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1F7A7A"/>
                </a:solidFill>
                <a:latin typeface="微软雅黑" panose="020B0503020204020204" charset="-122"/>
              </a:rPr>
              <a:t>算法与密码学</a:t>
            </a:r>
            <a:endParaRPr sz="1450" b="1">
              <a:solidFill>
                <a:srgbClr val="1F7A7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9895" y="4983480"/>
            <a:ext cx="4961991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00" b="0">
                <a:solidFill>
                  <a:srgbClr val="222B38"/>
                </a:solidFill>
                <a:latin typeface="微软雅黑" panose="020B0503020204020204" charset="-122"/>
              </a:rPr>
              <a:t>随机化算法、随机素数生成、Miller–Rabin 素性测试等。</a:t>
            </a:r>
            <a:endParaRPr sz="12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13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通用流程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任何蒙特卡洛问题都可以套用这六步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66928" y="1664208"/>
            <a:ext cx="3381146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64208"/>
            <a:ext cx="3381146" cy="82296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901952"/>
            <a:ext cx="29788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2A4C"/>
                </a:solidFill>
                <a:latin typeface="微软雅黑" panose="020B0503020204020204" charset="-122"/>
              </a:rPr>
              <a:t>1.  建模</a:t>
            </a:r>
            <a:endParaRPr sz="17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48716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把问题描述成一个随机实验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05274" y="1664208"/>
            <a:ext cx="3381146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5274" y="1664208"/>
            <a:ext cx="3381146" cy="82296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6442" y="1901952"/>
            <a:ext cx="29788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2A4C"/>
                </a:solidFill>
                <a:latin typeface="微软雅黑" panose="020B0503020204020204" charset="-122"/>
              </a:rPr>
              <a:t>2.  采样</a:t>
            </a:r>
            <a:endParaRPr sz="17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6442" y="248716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在计算机上生成大量随机试验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43620" y="1664208"/>
            <a:ext cx="3381146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43620" y="1664208"/>
            <a:ext cx="3381146" cy="82296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44788" y="1901952"/>
            <a:ext cx="29788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2A4C"/>
                </a:solidFill>
                <a:latin typeface="微软雅黑" panose="020B0503020204020204" charset="-122"/>
              </a:rPr>
              <a:t>3.  判断</a:t>
            </a:r>
            <a:endParaRPr sz="17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44788" y="248716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对每次试验判定成功或失败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66928" y="3813048"/>
            <a:ext cx="3381146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813048"/>
            <a:ext cx="3381146" cy="82296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4050792"/>
            <a:ext cx="29788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2A4C"/>
                </a:solidFill>
                <a:latin typeface="微软雅黑" panose="020B0503020204020204" charset="-122"/>
              </a:rPr>
              <a:t>4.  计数</a:t>
            </a:r>
            <a:endParaRPr sz="17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8096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数出成功次数，算出比例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05274" y="3813048"/>
            <a:ext cx="3381146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05274" y="3813048"/>
            <a:ext cx="3381146" cy="82296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06442" y="4050792"/>
            <a:ext cx="29788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2A4C"/>
                </a:solidFill>
                <a:latin typeface="微软雅黑" panose="020B0503020204020204" charset="-122"/>
              </a:rPr>
              <a:t>5.  估计</a:t>
            </a:r>
            <a:endParaRPr sz="17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06442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把比例换算成要求的量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243620" y="3813048"/>
            <a:ext cx="3381146" cy="1737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43620" y="3813048"/>
            <a:ext cx="3381146" cy="82296"/>
          </a:xfrm>
          <a:prstGeom prst="rect">
            <a:avLst/>
          </a:prstGeom>
          <a:solidFill>
            <a:srgbClr val="F2B0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44788" y="4050792"/>
            <a:ext cx="297881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02A4C"/>
                </a:solidFill>
                <a:latin typeface="微软雅黑" panose="020B0503020204020204" charset="-122"/>
              </a:rPr>
              <a:t>6.  检验</a:t>
            </a:r>
            <a:endParaRPr sz="17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44788" y="4636008"/>
            <a:ext cx="297881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22B38"/>
                </a:solidFill>
                <a:latin typeface="微软雅黑" panose="020B0503020204020204" charset="-122"/>
              </a:rPr>
              <a:t>与已知答案对比，分析误差</a:t>
            </a:r>
            <a:endParaRPr sz="12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14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诚实地谈谈局限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6675"/>
                </a:solidFill>
                <a:latin typeface="微软雅黑" panose="020B0503020204020204" charset="-122"/>
              </a:rPr>
              <a:t>这个实验没有声称的事情</a:t>
            </a:r>
            <a:endParaRPr sz="14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1435608"/>
            <a:ext cx="11057839" cy="4023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1">
                <a:solidFill>
                  <a:srgbClr val="102A4C"/>
                </a:solidFill>
                <a:latin typeface="微软雅黑" panose="020B0503020204020204" charset="-122"/>
              </a:rPr>
              <a:t>它并不能取代真正的公式。</a:t>
            </a:r>
            <a:endParaRPr sz="145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0">
                <a:solidFill>
                  <a:srgbClr val="222B38"/>
                </a:solidFill>
                <a:latin typeface="微软雅黑" panose="020B0503020204020204" charset="-122"/>
              </a:rPr>
              <a:t>   阿基米德的割圆术和现代级数收敛得远比 1/√N 快。蒙特卡洛是“没有办法时的办法”，</a:t>
            </a:r>
            <a:endParaRPr sz="14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0">
                <a:solidFill>
                  <a:srgbClr val="222B38"/>
                </a:solidFill>
                <a:latin typeface="微软雅黑" panose="020B0503020204020204" charset="-122"/>
              </a:rPr>
              <a:t>   而不是最快的工具——但在高维问题里，它常常是唯一可行的工具。</a:t>
            </a:r>
            <a:endParaRPr sz="14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1">
                <a:solidFill>
                  <a:srgbClr val="102A4C"/>
                </a:solidFill>
                <a:latin typeface="微软雅黑" panose="020B0503020204020204" charset="-122"/>
              </a:rPr>
              <a:t>一次“好结果”可能只是运气好。</a:t>
            </a:r>
            <a:endParaRPr sz="145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0">
                <a:solidFill>
                  <a:srgbClr val="222B38"/>
                </a:solidFill>
                <a:latin typeface="微软雅黑" panose="020B0503020204020204" charset="-122"/>
              </a:rPr>
              <a:t>   我们自己的表格就是证据：N = 1 000 那一次比 N = 100 还差。永远不要相信单次实验。</a:t>
            </a:r>
            <a:endParaRPr sz="14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1">
                <a:solidFill>
                  <a:srgbClr val="102A4C"/>
                </a:solidFill>
                <a:latin typeface="微软雅黑" panose="020B0503020204020204" charset="-122"/>
              </a:rPr>
              <a:t>它依赖一个好的随机数生成器。</a:t>
            </a:r>
            <a:endParaRPr sz="145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0">
                <a:solidFill>
                  <a:srgbClr val="222B38"/>
                </a:solidFill>
                <a:latin typeface="微软雅黑" panose="020B0503020204020204" charset="-122"/>
              </a:rPr>
              <a:t>   整个方法建立在“均匀、独立”的采样之上；生成器有偏，答案就会有偏。</a:t>
            </a:r>
            <a:endParaRPr sz="145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1">
                <a:solidFill>
                  <a:srgbClr val="102A4C"/>
                </a:solidFill>
                <a:latin typeface="微软雅黑" panose="020B0503020204020204" charset="-122"/>
              </a:rPr>
              <a:t>精度是有代价的。</a:t>
            </a:r>
            <a:endParaRPr sz="1450" b="1">
              <a:solidFill>
                <a:srgbClr val="102A4C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450" b="0">
                <a:solidFill>
                  <a:srgbClr val="222B38"/>
                </a:solidFill>
                <a:latin typeface="微软雅黑" panose="020B0503020204020204" charset="-122"/>
              </a:rPr>
              <a:t>   1/√N 意味着每多对一位有效数字，计算量大约要多 100 倍。</a:t>
            </a:r>
            <a:endParaRPr sz="145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15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92608"/>
            <a:ext cx="11057839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>
                <a:solidFill>
                  <a:srgbClr val="102A4C"/>
                </a:solidFill>
                <a:latin typeface="微软雅黑" panose="020B0503020204020204" charset="-122"/>
              </a:rPr>
              <a:t>结论</a:t>
            </a:r>
            <a:endParaRPr sz="2600" b="1">
              <a:solidFill>
                <a:srgbClr val="102A4C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207008"/>
            <a:ext cx="11057839" cy="11430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207008"/>
            <a:ext cx="11057839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</a:rPr>
              <a:t>π  ≈  4 × ( 圆内点数 / 随机点总数 )</a:t>
            </a:r>
            <a:endParaRPr sz="2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2624328"/>
            <a:ext cx="11057839" cy="3200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1.  方法成立的道理：落点的比例就是面积的比例，而正方形的面积是已知的 4。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2.  实测结果：3.2400（N=100）、3.2440（N=1 000）、3.1404（N=10 000）、3.1427（N=100 000）。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3.  单次实验会波动；重复 30 次取平均后，误差稳定下降，大致遵循 1/√N。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1">
                <a:solidFill>
                  <a:srgbClr val="D9363B"/>
                </a:solidFill>
                <a:latin typeface="微软雅黑" panose="020B0503020204020204" charset="-122"/>
              </a:rPr>
              <a:t>4.  整个过程没有用到 π 的数值，只用了四则运算和一个比较。</a:t>
            </a:r>
            <a:endParaRPr sz="1500" b="1">
              <a:solidFill>
                <a:srgbClr val="D9363B"/>
              </a:solidFill>
              <a:latin typeface="微软雅黑" panose="020B0503020204020204" charset="-122"/>
            </a:endParaRP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500" b="0">
                <a:solidFill>
                  <a:srgbClr val="222B38"/>
                </a:solidFill>
                <a:latin typeface="微软雅黑" panose="020B0503020204020204" charset="-122"/>
              </a:rPr>
              <a:t>5.  同一套流程，就是物理、图形学、金融和人工智能中蒙特卡洛模拟的基础。</a:t>
            </a:r>
            <a:endParaRPr sz="1500" b="0">
              <a:solidFill>
                <a:srgbClr val="222B38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66928" y="6291072"/>
            <a:ext cx="11057839" cy="9525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008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用蒙特卡洛方法估计 π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893247" y="640080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B6675"/>
                </a:solidFill>
                <a:latin typeface="微软雅黑" panose="020B0503020204020204" charset="-122"/>
              </a:rPr>
              <a:t>16</a:t>
            </a:r>
            <a:endParaRPr sz="1000" b="0">
              <a:solidFill>
                <a:srgbClr val="5B6675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28800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>
                <a:solidFill>
                  <a:srgbClr val="F2B03B"/>
                </a:solidFill>
                <a:latin typeface="微软雅黑" panose="020B0503020204020204" charset="-122"/>
              </a:rPr>
              <a:t>为什么这个实验很有意思？</a:t>
            </a:r>
            <a:endParaRPr sz="2200" b="0">
              <a:solidFill>
                <a:srgbClr val="F2B03B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2606040"/>
            <a:ext cx="11057839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我们用最不可靠的工具——纯粹的随机，</a:t>
            </a:r>
            <a:r>
              <a:rPr sz="3000" b="1">
                <a:solidFill>
                  <a:srgbClr val="FFFFFF"/>
                </a:solidFill>
                <a:latin typeface="微软雅黑" panose="020B0503020204020204" charset="-122"/>
              </a:rPr>
              <a:t>去逼近数学中最确定的那个数。</a:t>
            </a:r>
            <a:endParaRPr sz="3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4480560"/>
            <a:ext cx="1105783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BFD2EA"/>
                </a:solidFill>
                <a:latin typeface="微软雅黑" panose="020B0503020204020204" charset="-122"/>
              </a:rPr>
              <a:t>而且它真的成功了：只要样本足够多，随机也能给出非常可靠的答案。</a:t>
            </a:r>
            <a:r>
              <a:rPr sz="1700" b="0">
                <a:solidFill>
                  <a:srgbClr val="BFD2EA"/>
                </a:solidFill>
                <a:latin typeface="微软雅黑" panose="020B0503020204020204" charset="-122"/>
              </a:rPr>
              <a:t>这正是统计与计算机模拟值得信任的根本原因。</a:t>
            </a:r>
            <a:endParaRPr sz="1700" b="0">
              <a:solidFill>
                <a:srgbClr val="BFD2E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1105783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谢谢，欢迎提问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66928" y="3474720"/>
            <a:ext cx="1105783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1500" b="0">
                <a:solidFill>
                  <a:srgbClr val="9FB8D8"/>
                </a:solidFill>
                <a:latin typeface="微软雅黑" panose="020B0503020204020204" charset="-122"/>
              </a:rPr>
              <a:t>代码：monte_carlo_pi.py　　图：monte_carlo_pi.png、pi_convergence.png</a:t>
            </a:r>
            <a:r>
              <a:rPr sz="1500" b="0">
                <a:solidFill>
                  <a:srgbClr val="9FB8D8"/>
                </a:solidFill>
                <a:latin typeface="微软雅黑" panose="020B0503020204020204" charset="-122"/>
              </a:rPr>
              <a:t>完整报告：monte_carlo_solution.md</a:t>
            </a:r>
            <a:endParaRPr sz="1500" b="0">
              <a:solidFill>
                <a:srgbClr val="9FB8D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3719</Words>
  <Application>WPS 演示</Application>
  <PresentationFormat>On-screen Show (4:3)</PresentationFormat>
  <Paragraphs>459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碧海蓝天1416707858</cp:lastModifiedBy>
  <cp:revision>2</cp:revision>
  <dcterms:created xsi:type="dcterms:W3CDTF">2013-01-27T09:14:00Z</dcterms:created>
  <dcterms:modified xsi:type="dcterms:W3CDTF">2026-10-16T10:11:20Z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F187CFF7FF284819BF8336344B6FB96C_13</vt:lpwstr>
  </property>
  <property fmtid="{D5CDD505-2E9C-101B-9397-08002B2CF9AE}" pid="3" name="KSOProductBuildVer">
    <vt:lpwstr>2052-12.1.0.29161</vt:lpwstr>
  </property>
</Properties>
</file>