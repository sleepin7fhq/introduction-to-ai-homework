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π(x) 与 x/ln x：纵轴取对数刻度后近似为两条平行直线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π(x) 实际质数个数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10¹</c:v>
                </c:pt>
                <c:pt idx="1">
                  <c:v>10²</c:v>
                </c:pt>
                <c:pt idx="2">
                  <c:v>10³</c:v>
                </c:pt>
                <c:pt idx="3">
                  <c:v>10⁴</c:v>
                </c:pt>
                <c:pt idx="4">
                  <c:v>10⁵</c:v>
                </c:pt>
                <c:pt idx="5">
                  <c:v>10⁶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25</c:v>
                </c:pt>
                <c:pt idx="2">
                  <c:v>168</c:v>
                </c:pt>
                <c:pt idx="3">
                  <c:v>1229</c:v>
                </c:pt>
                <c:pt idx="4">
                  <c:v>9592</c:v>
                </c:pt>
                <c:pt idx="5">
                  <c:v>78498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 / ln x 渐近估计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10¹</c:v>
                </c:pt>
                <c:pt idx="1">
                  <c:v>10²</c:v>
                </c:pt>
                <c:pt idx="2">
                  <c:v>10³</c:v>
                </c:pt>
                <c:pt idx="3">
                  <c:v>10⁴</c:v>
                </c:pt>
                <c:pt idx="4">
                  <c:v>10⁵</c:v>
                </c:pt>
                <c:pt idx="5">
                  <c:v>10⁶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4.3</c:v>
                </c:pt>
                <c:pt idx="1">
                  <c:v>21.7</c:v>
                </c:pt>
                <c:pt idx="2">
                  <c:v>144.8</c:v>
                </c:pt>
                <c:pt idx="3">
                  <c:v>1085.7</c:v>
                </c:pt>
                <c:pt idx="4">
                  <c:v>8685.9</c:v>
                </c:pt>
                <c:pt idx="5">
                  <c:v>72382.4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00.0"/>
          <c:min val="1.0"/>
          <c:logBase val="10"/>
          <c:orientation val="minMax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5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920240"/>
            <a:ext cx="6035040" cy="6035040"/>
          </a:xfrm>
          <a:prstGeom prst="ellipse">
            <a:avLst/>
          </a:prstGeom>
          <a:noFill/>
          <a:ln w="15240">
            <a:solidFill>
              <a:srgbClr val="1E4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822960"/>
            <a:ext cx="3840480" cy="3840480"/>
          </a:xfrm>
          <a:prstGeom prst="ellipse">
            <a:avLst/>
          </a:prstGeom>
          <a:noFill/>
          <a:ln w="12700">
            <a:solidFill>
              <a:srgbClr val="1E4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822960" cy="54864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数学经典命题 · 求解与验证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9692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质数有无限个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9FB8D4"/>
                </a:solidFill>
                <a:latin typeface="Segoe UI"/>
                <a:ea typeface="微软雅黑"/>
                <a:cs typeface="微软雅黑"/>
              </a:rPr>
              <a:t>There are infinitely many primes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94760"/>
            <a:ext cx="6126480" cy="18288"/>
          </a:xfrm>
          <a:prstGeom prst="rect">
            <a:avLst/>
          </a:prstGeom>
          <a:solidFill>
            <a:srgbClr val="2A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41648"/>
            <a:ext cx="8412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D5E2F0"/>
                </a:solidFill>
                <a:latin typeface="Segoe UI"/>
                <a:ea typeface="微软雅黑"/>
                <a:cs typeface="微软雅黑"/>
              </a:rPr>
              <a:t>欧几里得《几何原本》第九卷 · 命题 20（约公元前 300 年）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FA8C4"/>
                </a:solidFill>
                <a:latin typeface="Segoe UI"/>
                <a:ea typeface="微软雅黑"/>
                <a:cs typeface="微软雅黑"/>
              </a:rPr>
              <a:t>反证法 + 构造法：由有限个质数造出一个新质数，矛盾。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15000"/>
            <a:ext cx="1874519" cy="658368"/>
          </a:xfrm>
          <a:prstGeom prst="roundRect">
            <a:avLst>
              <a:gd name="adj" fmla="val 16000"/>
            </a:avLst>
          </a:prstGeom>
          <a:solidFill>
            <a:srgbClr val="18365C"/>
          </a:solidFill>
          <a:ln w="12700">
            <a:solidFill>
              <a:srgbClr val="2A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815584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7F9CC0"/>
                </a:solidFill>
                <a:latin typeface="Segoe UI"/>
                <a:ea typeface="微软雅黑"/>
                <a:cs typeface="微软雅黑"/>
              </a:rPr>
              <a:t>原题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F0F8"/>
                </a:solidFill>
                <a:latin typeface="Segoe UI"/>
                <a:ea typeface="微软雅黑"/>
                <a:cs typeface="微软雅黑"/>
              </a:rPr>
              <a:t>Elements IX.20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5715000"/>
            <a:ext cx="1874519" cy="658368"/>
          </a:xfrm>
          <a:prstGeom prst="roundRect">
            <a:avLst>
              <a:gd name="adj" fmla="val 16000"/>
            </a:avLst>
          </a:prstGeom>
          <a:solidFill>
            <a:srgbClr val="18365C"/>
          </a:solidFill>
          <a:ln w="12700">
            <a:solidFill>
              <a:srgbClr val="2A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5815584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7F9CC0"/>
                </a:solidFill>
                <a:latin typeface="Segoe UI"/>
                <a:ea typeface="微软雅黑"/>
                <a:cs typeface="微软雅黑"/>
              </a:rPr>
              <a:t>方法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F0F8"/>
                </a:solidFill>
                <a:latin typeface="Segoe UI"/>
                <a:ea typeface="微软雅黑"/>
                <a:cs typeface="微软雅黑"/>
              </a:rPr>
              <a:t>反证 · 构造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5715000"/>
            <a:ext cx="1874519" cy="658368"/>
          </a:xfrm>
          <a:prstGeom prst="roundRect">
            <a:avLst>
              <a:gd name="adj" fmla="val 16000"/>
            </a:avLst>
          </a:prstGeom>
          <a:solidFill>
            <a:srgbClr val="18365C"/>
          </a:solidFill>
          <a:ln w="12700">
            <a:solidFill>
              <a:srgbClr val="2A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5815584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7F9CC0"/>
                </a:solidFill>
                <a:latin typeface="Segoe UI"/>
                <a:ea typeface="微软雅黑"/>
                <a:cs typeface="微软雅黑"/>
              </a:rPr>
              <a:t>验证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F0F8"/>
                </a:solidFill>
                <a:latin typeface="Segoe UI"/>
                <a:ea typeface="微软雅黑"/>
                <a:cs typeface="微软雅黑"/>
              </a:rP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77456" y="5715000"/>
            <a:ext cx="1874519" cy="658368"/>
          </a:xfrm>
          <a:prstGeom prst="roundRect">
            <a:avLst>
              <a:gd name="adj" fmla="val 16000"/>
            </a:avLst>
          </a:prstGeom>
          <a:solidFill>
            <a:srgbClr val="18365C"/>
          </a:solidFill>
          <a:ln w="12700">
            <a:solidFill>
              <a:srgbClr val="2A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5815584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7F9CC0"/>
                </a:solidFill>
                <a:latin typeface="Segoe UI"/>
                <a:ea typeface="微软雅黑"/>
                <a:cs typeface="微软雅黑"/>
              </a:rPr>
              <a:t>产出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F0F8"/>
                </a:solidFill>
                <a:latin typeface="Segoe UI"/>
                <a:ea typeface="微软雅黑"/>
                <a:cs typeface="微软雅黑"/>
              </a:rPr>
              <a:t>PPT + 代码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1663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9384"/>
            <a:ext cx="50292" cy="9144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84248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05740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原题及来源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《几何原本》第九卷命题 20 的原文、译文与出处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1663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29384"/>
            <a:ext cx="50292" cy="914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984248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5740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提示词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用于求解本题的提示词设计及其结构拆解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27832"/>
            <a:ext cx="51663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374136"/>
            <a:ext cx="50292" cy="914400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42900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502152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证明过程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反证法框架、关键引理与逐步推理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227832"/>
            <a:ext cx="51663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374136"/>
            <a:ext cx="50292" cy="914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42900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02152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代码与验证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Python 构造性验证程序及运行结果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72584"/>
            <a:ext cx="51663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818888"/>
            <a:ext cx="50292" cy="9144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873752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946904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结果与意义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π(x) 增长、证明的现代地位与拓展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672584"/>
            <a:ext cx="51663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818888"/>
            <a:ext cx="50292" cy="914400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4873752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946904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结论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定理陈述与参考资料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01 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原题及来源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2920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11095"/>
            <a:ext cx="50292" cy="3721607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出处信息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23160"/>
            <a:ext cx="455371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•  著作：《几何原本》(Στοιχεῖα / Elements)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作者：欧几里得（Euclid of Alexandria，约前 325—前 265）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位置：第九卷 · 命题 20（Book IX, Proposition 20）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成书：约公元前 300 年，亚历山大城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英译：T. L. Heath, The Thirteen Books of the Elements, 1908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中译：兰纪正、朱恩宽《几何原本》，陕西科技出版社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地位：数学史上最早的“无穷性”定理之一，被 Hardy 称为“简洁而无可辩驳的希腊数学典范”。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193792" cy="3977639"/>
          </a:xfrm>
          <a:prstGeom prst="roundRect">
            <a:avLst>
              <a:gd name="adj" fmla="val 7000"/>
            </a:avLst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命题原文（Heath 英译）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500" b="0" i="1">
                <a:solidFill>
                  <a:srgbClr val="F2F6FA"/>
                </a:solidFill>
                <a:latin typeface="Segoe UI"/>
                <a:ea typeface="微软雅黑"/>
                <a:cs typeface="微软雅黑"/>
              </a:rPr>
              <a:t>“Prime numbers are more than any assigned multitude of prime numbers.”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中文译文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400" b="0" i="0">
                <a:solidFill>
                  <a:srgbClr val="D8E4F2"/>
                </a:solidFill>
                <a:latin typeface="Segoe UI"/>
                <a:ea typeface="微软雅黑"/>
                <a:cs typeface="微软雅黑"/>
              </a:rPr>
              <a:t>“质数比任何指定的质数个数都要多。”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现代数学表述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8E4F2"/>
                </a:solidFill>
                <a:latin typeface="Segoe UI"/>
                <a:ea typeface="微软雅黑"/>
                <a:cs typeface="微软雅黑"/>
              </a:rPr>
              <a:t>设 P = { p ∈ ℕ : p 为质数 }，则 |P| = ∞；
即不存在最大的质数，π(x) → ∞ (x → ∞)。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02 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提示词（Prompt）：从命题到可交付成果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667512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提示词全文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求解：质数有无限个。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要求：把过程和结果整理成一份逻辑清晰、原理正确且美观大方的 PPT。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3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内容须包含：① 原题及来源；② 提示词；③ 代码；④ PPT。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补充约束（本作品采用的执行口径）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· 证明须为严格数学证明，不得只给经验观察；
· 代码须可运行，并能对证明的关键步骤给出数值印证；
· 幻灯片风格统一，中英文排版规范，公式与符号正确。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提示词的三层结构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① 目标层：先锁定“证明无限性”这一数学任务，而不是罗列若干质数；
② 约束层：把“逻辑清晰、原理正确、美观大方”落实为可检验的写作与排版要求；
③ 验收层：四项交付物逐条对应，使结果可以逐项核对。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83080"/>
            <a:ext cx="3593592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911095"/>
            <a:ext cx="50292" cy="1865376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9659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任务拆解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377440"/>
            <a:ext cx="3118104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定位原题：欧几里得 IX.20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梳理证明：反证 + 构造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写验证代码并运行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096512"/>
            <a:ext cx="3593592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4224528"/>
            <a:ext cx="50292" cy="1865376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427939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交付标准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4690872"/>
            <a:ext cx="3118104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原理正确：无循环论证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逻辑清晰：假设→构造→矛盾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美观大方：统一版式与配色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03 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证明思路总览：反证法 + 构造法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27632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27632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07792"/>
            <a:ext cx="13533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反设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假设质数
只有有限个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312724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148840"/>
            <a:ext cx="1627632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2148840"/>
            <a:ext cx="1627632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237744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907792"/>
            <a:ext cx="13533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穷举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把它们全部列出
p₁, p₂, …, pₙ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12724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2148840"/>
            <a:ext cx="1627632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3984" y="2148840"/>
            <a:ext cx="1627632" cy="64008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237744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907792"/>
            <a:ext cx="13533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构造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令 N = p₁p₂…pₙ + 1
N 比每个 pᵢ 都大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12724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148840"/>
            <a:ext cx="1627632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2148840"/>
            <a:ext cx="1627632" cy="64008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37744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907792"/>
            <a:ext cx="13533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取因子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N &gt; 1 必有质因子 q
（算术基本定理）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1" y="312724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2148840"/>
            <a:ext cx="1627632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2148840"/>
            <a:ext cx="1627632" cy="64008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07792"/>
            <a:ext cx="13533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矛盾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q ≠ 每个 pᵢ
却又是质数 → 矛盾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12724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2148840"/>
            <a:ext cx="1627632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2148840"/>
            <a:ext cx="1627632" cy="64008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237744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2907792"/>
            <a:ext cx="13533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结论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质数不可能有限
故有无穷多个 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8000"/>
            </a:avLst>
          </a:prstGeom>
          <a:solidFill>
            <a:srgbClr val="E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4919472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核心机巧（“对角线式”构造）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N 与任何 pᵢ 相除都余 1，因而 pᵢ 全都不是 N 的因子；而 N 必有质因子 —— 这个质因子只能是一个“名单之外”的新质数。名单无论多长都会漏掉质数，故质数不能穷尽。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03 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证明过程（上）：反设与构造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74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50292" cy="2148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第一步：反设（归谬法的起点）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假设质数只有有限个，设为</a:t>
            </a:r>
          </a:p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6FB2"/>
                </a:solidFill>
                <a:latin typeface="Cambria Math"/>
                <a:ea typeface="微软雅黑"/>
                <a:cs typeface="微软雅黑"/>
              </a:rPr>
              <a:t>p₁, p₂, …, pₙ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1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且这是“全部”的质数（穷举完毕）。注意：反设并未要求 pᵢ 递增，也未要求 n 已知 —— 我们只是假定存在一张完整的名单。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23951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50292" cy="2148840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709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第二步：构造新数 N</a:t>
            </a:r>
          </a:p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149E94"/>
                </a:solidFill>
                <a:latin typeface="Cambria Math"/>
                <a:ea typeface="微软雅黑"/>
                <a:cs typeface="微软雅黑"/>
              </a:rPr>
              <a:t>N = p₁ · p₂ · ⋯ · pₙ + 1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显然 N &gt; 1，且 N &gt; pᵢ 对每个 i 成立。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1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第 4 轮起“新质数”不一定更大：
N = 2·3·7·43 + 1 = 1807 = 13 × 139，13 &lt; 43。
证明只需“新”，不需要“大”。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1054303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15968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第三步：关键观察 —— 余数恒为 1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56070"/>
                </a:solidFill>
                <a:latin typeface="Cambria Math"/>
                <a:ea typeface="微软雅黑"/>
                <a:cs typeface="微软雅黑"/>
              </a:rPr>
              <a:t>N = p₁p₂⋯pₙ + 1 = pᵢ · (p₁⋯pᵢ₋₁pᵢ₊₁⋯pₙ) + 1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对每个 i = 1, 2, …, n 都有 N ≡ 1 (mod pᵢ)，即 N 被 pᵢ 除余 1。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  <a:ea typeface="微软雅黑"/>
                <a:cs typeface="微软雅黑"/>
              </a:rPr>
              <a:t>因此 pᵢ ∤ N（pᵢ 不是 N 的因子）对一切 i 成立。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03 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证明过程（下）：导出矛盾与结论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749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11095"/>
            <a:ext cx="50292" cy="2029967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6596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第四步：N 必有质因子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77440"/>
            <a:ext cx="4599431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引理（算术基本定理的弱形式）：任何大于 1 的整数都有质因子。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取 N 的大于 1 的最小正因子 q（存在性由良序原理保证）；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若 q 为合数，则 q = ab（1 &lt; a &lt; q），a 也是 N 的因子，与 q 的最小性矛盾；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故 q 为质数，且 q | 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523951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911095"/>
            <a:ext cx="50292" cy="2029967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4782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第五步：矛盾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77440"/>
            <a:ext cx="4764024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由反设，q 作为质数必等于某个 pᵢ；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但第三步已证 pᵢ ∤ N 对一切 i 成立；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Segoe UI"/>
                <a:ea typeface="微软雅黑"/>
                <a:cs typeface="微软雅黑"/>
              </a:rPr>
              <a:t>•  而 q | N。矛盾 —— 反设不成立。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10543032" cy="1874519"/>
          </a:xfrm>
          <a:prstGeom prst="roundRect">
            <a:avLst>
              <a:gd name="adj" fmla="val 8000"/>
            </a:avLst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4805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第六步：结论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质数不能是有限个，故质数有无限多个。  ∎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A9C0DA"/>
                </a:solidFill>
                <a:latin typeface="Segoe UI"/>
                <a:ea typeface="微软雅黑"/>
                <a:cs typeface="微软雅黑"/>
              </a:rPr>
              <a:t>更强的形式（构造性）：该过程可无限重复 —— 每得到一张有限名单，就能造出名单外的新质数，因此不存在最大的质数，π(x) 无上界。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Segoe UI"/>
                <a:ea typeface="微软雅黑"/>
                <a:cs typeface="微软雅黑"/>
              </a:rPr>
              <a:t>03 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关键辨析：证明中容易出错的三个地方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43032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9384"/>
            <a:ext cx="50292" cy="9875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0392B"/>
                </a:solidFill>
                <a:latin typeface="Segoe UI"/>
                <a:ea typeface="微软雅黑"/>
                <a:cs typeface="微软雅黑"/>
              </a:rPr>
              <a:t>误解一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辨析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965960"/>
            <a:ext cx="3291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“N = p₁⋯pₙ + 1 一定是质数。”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错。N 只是“不被名单内任何质数整除”。
反例：2·3·5·7·11·13 + 1 = 30031 = 59 × 509，
59、509 都是名单外的新质数 —— 证明依然成立。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64408"/>
            <a:ext cx="10543032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10712"/>
            <a:ext cx="50292" cy="987552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4728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误解二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辨析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447288"/>
            <a:ext cx="3291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“用反证法就已经假设了质数有限，还能构造吗？”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47288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可以。反设给出了一张“完整名单”，这是一个合法的数学对象；
我们在这张名单上做运算，导出矛盾，属于标准的归谬法。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45736"/>
            <a:ext cx="10543032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892040"/>
            <a:ext cx="50292" cy="9875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286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误解三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辨析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928616"/>
            <a:ext cx="3291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“N 除以 pᵢ 余 1，所以 N 是质数。”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28616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余 1 只说明 pᵢ ∤ N，与 N 是否为质数无关。
证明真正需要的是引理：“N &gt; 1 ⇒ N 存在质因子”。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04 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验证代码：欧几里得构造的 Python 实现（节选）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7818120" cy="457200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74066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7FA88F"/>
                </a:solidFill>
                <a:latin typeface="Consolas"/>
                <a:ea typeface="微软雅黑"/>
                <a:cs typeface="微软雅黑"/>
              </a:rPr>
              <a:t># euclid_primes.py — 欧几里得 IX.20 构造性验证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from math import isqrt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def smallest_prime_factor(n):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7FA88F"/>
                </a:solidFill>
                <a:latin typeface="Consolas"/>
                <a:ea typeface="微软雅黑"/>
                <a:cs typeface="微软雅黑"/>
              </a:rPr>
              <a:t>    """返回 n(&gt;1) 的最小质因子：即证明中的"新质数"""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if n % 2 == 0: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    return 2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d = 3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while d * d &lt;= n: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    if n % d == 0: return d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    d += 2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7FA88F"/>
                </a:solidFill>
                <a:latin typeface="Consolas"/>
                <a:ea typeface="微软雅黑"/>
                <a:cs typeface="微软雅黑"/>
              </a:rPr>
              <a:t>    return n          # n 本身是质数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def euclid_construction(known):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7FA88F"/>
                </a:solidFill>
                <a:latin typeface="Consolas"/>
                <a:ea typeface="微软雅黑"/>
                <a:cs typeface="微软雅黑"/>
              </a:rPr>
              <a:t>    """N = ∏known + 1，返回 (N, N 的一个质因子)"""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N = 1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for p in known: N *= p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7FA88F"/>
                </a:solidFill>
                <a:latin typeface="Consolas"/>
                <a:ea typeface="微软雅黑"/>
                <a:cs typeface="微软雅黑"/>
              </a:rPr>
              <a:t>    N += 1                       # 关键一步：+1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return N, smallest_prime_factor(N)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known = [2]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for step in range(1, 8):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N, q = euclid_construction(known)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7FA88F"/>
                </a:solidFill>
                <a:latin typeface="Consolas"/>
                <a:ea typeface="微软雅黑"/>
                <a:cs typeface="微软雅黑"/>
              </a:rPr>
              <a:t>    assert q not in known        # 断言：q 必为新质数</a:t>
            </a:r>
          </a:p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950" b="0" i="0">
                <a:solidFill>
                  <a:srgbClr val="E6EDF3"/>
                </a:solidFill>
                <a:latin typeface="Consolas"/>
                <a:ea typeface="微软雅黑"/>
                <a:cs typeface="微软雅黑"/>
              </a:rPr>
              <a:t>    known.append(q)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664208"/>
            <a:ext cx="2770632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792224"/>
            <a:ext cx="50292" cy="1847087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1847088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算法要点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2231136"/>
            <a:ext cx="2295144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逐轮迭代：每轮得到一个名单外的新质数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assert 断言直接检验命题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试除法取最小质因子，O(√N)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904487"/>
            <a:ext cx="277063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4032503"/>
            <a:ext cx="50292" cy="2075687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4087368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与证明的对应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4471416"/>
            <a:ext cx="2295144" cy="1673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N = ∏p + 1 → +1 构造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q = 最小质因子 → 存在性质理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q ∉ known → 矛盾点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循环 7 轮 → 可无限重复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04 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运行结果：七轮构造得到 8 个互异质数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543031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417320"/>
                <a:gridCol w="3977639"/>
                <a:gridCol w="1947672"/>
                <a:gridCol w="25146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 marL="91440" marR="91440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已知质数个数</a:t>
                      </a:r>
                    </a:p>
                  </a:txBody>
                  <a:tcPr marL="91440" marR="91440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N = ∏pᵢ + 1</a:t>
                      </a:r>
                    </a:p>
                  </a:txBody>
                  <a:tcPr marL="91440" marR="91440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N 的最小质因子 q</a:t>
                      </a:r>
                    </a:p>
                  </a:txBody>
                  <a:tcPr marL="91440" marR="91440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q 是新质数</a:t>
                      </a:r>
                    </a:p>
                  </a:txBody>
                  <a:tcPr marL="91440" marR="91440" marT="18288" marB="18288" anchor="ctr">
                    <a:solidFill>
                      <a:srgbClr val="102A4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 + 1 = 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2·3 + 1 = 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2·3·7 + 1 = 43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43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2·3·7·43 + 1 = 1807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是（13 &lt; 43）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2·3·7·43·13 + 1 = 23479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53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2·3·7·43·13·53 + 1 = 1244335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02A4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2·3·7·43·13·53·5 + 1 = 6221671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2A4C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6221671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9E94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是（质数本身）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07492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23036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断言全部通过：assert q not in known —— 每一轮的质因子都落在名单之外。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运行环境：Python 3.13 ｜ 输出：7 轮 → [2, 3, 7, 43, 13, 53, 5, 6221671]，验证 N ≡ 1 (mod pᵢ) 对全部 i 成立。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05 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结果与意义：π(x) 的增长印证“无穷”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68580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783080"/>
            <a:ext cx="3456432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911095"/>
            <a:ext cx="50292" cy="1865376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96596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代码给出的经验证据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2377440"/>
            <a:ext cx="2980944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10⁶ 以内已有 78 498 个质数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π(x)/(x/ln x) → 1（素数定理）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数据只能“印证”，不能替代证明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096512"/>
            <a:ext cx="3456432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4224528"/>
            <a:ext cx="50292" cy="1865376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427939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定理的历史地位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4690872"/>
            <a:ext cx="2980944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2300 年后仍是初等数论的基石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催生素数定理、黎曼猜想等问题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•  “欧几里得式”构造思想沿用至今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9032"/>
            <a:ext cx="12191695" cy="228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05 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拓展：同一个定理的其他著名证明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10128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3310128" cy="64008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欧几里得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约前 300 年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反证 + 构造 N = ∏p + 1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只用“每个大于 1 的整数有质因子”，是纯初等的归谬论证。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工具：整除性、最小因子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83080"/>
            <a:ext cx="3310128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783080"/>
            <a:ext cx="3310128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11680"/>
            <a:ext cx="28346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欧拉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1737 年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调和级数发散性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若质数有限，则 ∏(1 − 1/p)⁻¹ 收敛，与 Σ1/n 发散矛盾；实际证明了 Σ1/p 发散，更强。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工具：无穷乘积、级数估计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783080"/>
            <a:ext cx="3310128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1783080"/>
            <a:ext cx="3310128" cy="64008"/>
          </a:xfrm>
          <a:prstGeom prst="rect">
            <a:avLst/>
          </a:prstGeom>
          <a:solidFill>
            <a:srgbClr val="149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2011680"/>
            <a:ext cx="28346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02A4C"/>
                </a:solidFill>
                <a:latin typeface="Segoe UI"/>
                <a:ea typeface="微软雅黑"/>
                <a:cs typeface="微软雅黑"/>
              </a:rPr>
              <a:t>埃尔德什</a:t>
            </a:r>
          </a:p>
          <a:p>
            <a:pPr algn="l">
              <a:spcAft>
                <a:spcPts val="1000"/>
              </a:spcAft>
            </a:pPr>
            <a:r>
              <a:rPr sz="105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1938 年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组合 / 拓扑式证明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用二项式系数 C(2n, n) 的质因子估计给出极简证明；亦有基于等差数列拓扑的证明。</a:t>
            </a:r>
          </a:p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工具：二项式系数、拓扑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34840"/>
            <a:ext cx="10543032" cy="1737360"/>
          </a:xfrm>
          <a:prstGeom prst="roundRect">
            <a:avLst>
              <a:gd name="adj" fmla="val 8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663440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F6FB2"/>
                </a:solidFill>
                <a:latin typeface="Segoe UI"/>
                <a:ea typeface="微软雅黑"/>
                <a:cs typeface="微软雅黑"/>
              </a:rPr>
              <a:t>方法比较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56070"/>
                </a:solidFill>
                <a:latin typeface="Segoe UI"/>
                <a:ea typeface="微软雅黑"/>
                <a:cs typeface="微软雅黑"/>
              </a:rPr>
              <a:t>欧几里得证明只用到整除性与“最小因子”，是可构造的、不依赖分析的；欧拉与埃尔德什的证明更强或更短，但需要更多工具。在“原理正确、逻辑清晰”的要求下，欧几里得证明仍是最佳教学范例。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质数有无限个 · 欧几里得证明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8A94A3"/>
                </a:solidFill>
                <a:latin typeface="Segoe UI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206240"/>
            <a:ext cx="5120640" cy="5120640"/>
          </a:xfrm>
          <a:prstGeom prst="ellipse">
            <a:avLst/>
          </a:prstGeom>
          <a:noFill/>
          <a:ln w="15240">
            <a:solidFill>
              <a:srgbClr val="1E4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06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074920" cy="2377440"/>
          </a:xfrm>
          <a:prstGeom prst="roundRect">
            <a:avLst>
              <a:gd name="adj" fmla="val 8000"/>
            </a:avLst>
          </a:prstGeom>
          <a:solidFill>
            <a:srgbClr val="18365C"/>
          </a:solidFill>
          <a:ln w="12700">
            <a:solidFill>
              <a:srgbClr val="2A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480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定理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质数有无限多个。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证明摘要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C8D8EA"/>
                </a:solidFill>
                <a:latin typeface="Segoe UI"/>
                <a:ea typeface="微软雅黑"/>
                <a:cs typeface="微软雅黑"/>
              </a:rPr>
              <a:t>反设有限 → 全列 p₁…pₙ → 造 N = ∏pᵢ + 1 → 取 N 的质因子 q → q 不在名单中 → 矛盾。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48840"/>
            <a:ext cx="5239512" cy="2377440"/>
          </a:xfrm>
          <a:prstGeom prst="roundRect">
            <a:avLst>
              <a:gd name="adj" fmla="val 8000"/>
            </a:avLst>
          </a:prstGeom>
          <a:solidFill>
            <a:srgbClr val="18365C"/>
          </a:solidFill>
          <a:ln w="12700">
            <a:solidFill>
              <a:srgbClr val="2A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617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D99A1E"/>
                </a:solidFill>
                <a:latin typeface="Segoe UI"/>
                <a:ea typeface="微软雅黑"/>
                <a:cs typeface="微软雅黑"/>
              </a:rPr>
              <a:t>交付物清单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C8D8EA"/>
                </a:solidFill>
                <a:latin typeface="Segoe UI"/>
                <a:ea typeface="微软雅黑"/>
                <a:cs typeface="微软雅黑"/>
              </a:rPr>
              <a:t>· 原题及来源：《几何原本》IX.20（Heath 英译 + 中译）
· 提示词：任务描述与约束条件
· 代码：euclid_primes.py（可运行，含断言）
· 幻灯片：本 PPT，共 13 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10543032" cy="18288"/>
          </a:xfrm>
          <a:prstGeom prst="rect">
            <a:avLst/>
          </a:prstGeom>
          <a:solidFill>
            <a:srgbClr val="2A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149E94"/>
                </a:solidFill>
                <a:latin typeface="Segoe UI"/>
                <a:ea typeface="微软雅黑"/>
                <a:cs typeface="微软雅黑"/>
              </a:rPr>
              <a:t>参考资料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FB8D4"/>
                </a:solidFill>
                <a:latin typeface="Segoe UI"/>
                <a:ea typeface="微软雅黑"/>
                <a:cs typeface="微软雅黑"/>
              </a:rPr>
              <a:t>[1] Euclid. Elements, Book IX, Prop. 20. Trans. T. L. Heath, Cambridge, 1908.
[2] 兰纪正, 朱恩宽 译. 《几何原本》. 陕西科学技术出版社, 2003.
[3] Hardy &amp; Wright. An Introduction to the Theory of Numbers, 6th ed. Oxford, 2008.
[4] Ribenboim, P. The New Book of Prime Number Records. Springer, 1996.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