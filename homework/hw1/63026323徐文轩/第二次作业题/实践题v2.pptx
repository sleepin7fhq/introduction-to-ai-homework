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86384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人工智能导论　·　第二次作业题　·　实践题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84831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数列 </a:t>
            </a:r>
            <a:r>
              <a:rPr sz="3800" b="1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{aₙ}</a:t>
            </a:r>
            <a:r>
              <a:rPr sz="38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的发散性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99232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与极限 </a:t>
            </a:r>
            <a:r>
              <a:rPr sz="2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aₙ²/n</a:t>
            </a:r>
            <a:r>
              <a:rPr sz="2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的求法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1828800" cy="3810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279392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原题：《工科数学分析习题课教程》第 17 页　第 11 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3892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姓名：____________　　学号：____________　　日期：____________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897880"/>
            <a:ext cx="10637215" cy="9525"/>
          </a:xfrm>
          <a:prstGeom prst="rect">
            <a:avLst/>
          </a:prstGeom>
          <a:solidFill>
            <a:srgbClr val="D9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05332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原题照片 IMG_20261015_185014.jpg　·　脚本与素材见 代码/ 与 figures/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人工智能导论　·　第二次作业题　·　实践题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4295" y="63276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02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一　原题与来源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证明数列发散，并求 </a:t>
            </a:r>
            <a:r>
              <a:rPr sz="2700" b="1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aₙ²/n</a:t>
            </a:r>
            <a:r>
              <a:rPr sz="27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的极限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005840" cy="3175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637215" cy="1325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设数列 </a:t>
            </a:r>
            <a:r>
              <a:rPr sz="20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{aₙ}</a:t>
            </a:r>
            <a:r>
              <a:rPr sz="2000" b="0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满足 </a:t>
            </a:r>
            <a:r>
              <a:rPr sz="20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a₁ = 1</a:t>
            </a:r>
            <a:r>
              <a:rPr sz="2000" b="0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20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aₙ₊₁ = aₙ + 1/aₙ</a:t>
            </a:r>
            <a:r>
              <a:rPr sz="2000" b="0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20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n = 1, 2, …</a:t>
            </a:r>
            <a:r>
              <a:rPr sz="2000" b="0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证明：数列 </a:t>
            </a:r>
            <a:r>
              <a:rPr sz="20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{aₙ}</a:t>
            </a:r>
            <a:r>
              <a:rPr sz="2000" b="0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发散，并求极限 lim </a:t>
            </a:r>
            <a:r>
              <a:rPr sz="20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aₙ²/n</a:t>
            </a:r>
            <a:r>
              <a:rPr sz="2000" b="0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401568"/>
            <a:ext cx="10637215" cy="9525"/>
          </a:xfrm>
          <a:prstGeom prst="rect">
            <a:avLst/>
          </a:prstGeom>
          <a:solidFill>
            <a:srgbClr val="D9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639312"/>
            <a:ext cx="10637215" cy="1051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① 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{aₙ}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发散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② 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aₙ²/n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的极限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38928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来源：《工科数学分析习题课教程》第 17 页 第 11 题；原题照片 IMG_20261015_185014.jpg（本目录）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提示词：按作业要求留空。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人工智能导论　·　第二次作业题　·　实践题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4295" y="63276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03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二　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递推式的平方差里藏着一个常数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005840" cy="3175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只看原式：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aₙ₊₁ − aₙ = 1/aₙ &gt; 0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，只能说明数列递增，判断不了发散 —— 递增数列还可能有上界。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把递推式两边平方，常数就出来了：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18688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1">
                <a:solidFill>
                  <a:srgbClr val="2F5D50"/>
                </a:solidFill>
                <a:latin typeface="Times New Roman"/>
                <a:ea typeface="微软雅黑"/>
                <a:cs typeface="微软雅黑"/>
              </a:rPr>
              <a:t>aₙ₊₁² − aₙ² = (aₙ + 1/aₙ)² − aₙ² = 2 + 1/aₙ²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24528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每迭代一步，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aₙ²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就增加“2 再加一点”；累积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n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步，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aₙ²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至少有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2n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的量级。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这既是发散的来源，也是极限等于 2 的伏笔。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人工智能导论　·　第二次作业题　·　实践题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4295" y="63276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04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三　核心恒等式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裂项相消：把 </a:t>
            </a:r>
            <a:r>
              <a:rPr sz="2700" b="1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n</a:t>
            </a:r>
            <a:r>
              <a:rPr sz="27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步累加起来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005840" cy="3175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对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k = 1, 2, …, n−1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求和，中间项两两抵消：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Σₖ₌₁ⁿ⁻¹(aₖ₊₁² − aₖ²) = aₙ² − a₁² = aₙ² 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27248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右端逐项展开求和：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93008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Σₖ₌₁ⁿ⁻¹(2 + 1/aₖ²) = 2(n−1) + Sₙ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159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1">
                <a:solidFill>
                  <a:srgbClr val="2F5D50"/>
                </a:solidFill>
                <a:latin typeface="Times New Roman"/>
                <a:ea typeface="微软雅黑"/>
                <a:cs typeface="微软雅黑"/>
              </a:rPr>
              <a:t>aₙ² = 2n − 1 + Sₙ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3036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其中 </a:t>
            </a:r>
            <a:r>
              <a:rPr sz="1400" b="0" i="1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Sₙ = Σₖ₌₁ⁿ⁻¹ 1/aₖ² &gt; 0</a:t>
            </a:r>
            <a:r>
              <a:rPr sz="14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，且后面会看到它只有 </a:t>
            </a:r>
            <a:r>
              <a:rPr sz="1400" b="0" i="1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ln n</a:t>
            </a:r>
            <a:r>
              <a:rPr sz="14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 的量级。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人工智能导论　·　第二次作业题　·　实践题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4295" y="63276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05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四　第一步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证明数列发散：直接看出无上界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005840" cy="3175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557784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由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Sₙ &gt; 0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，恒等式立刻给出下界：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557784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aₙ² = 2n − 1 + Sₙ ≥ 2n 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90672"/>
            <a:ext cx="557784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1">
                <a:solidFill>
                  <a:srgbClr val="2F5D50"/>
                </a:solidFill>
                <a:latin typeface="Times New Roman"/>
                <a:ea typeface="微软雅黑"/>
                <a:cs typeface="微软雅黑"/>
              </a:rPr>
              <a:t>aₙ ≥ √(2n − 1)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557784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而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√(2n − 1) → +∞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，所以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 → +∞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故 </a:t>
            </a:r>
            <a:r>
              <a:rPr sz="1800" b="1" i="1">
                <a:solidFill>
                  <a:srgbClr val="2F5D50"/>
                </a:solidFill>
                <a:latin typeface="Times New Roman"/>
                <a:ea typeface="微软雅黑"/>
                <a:cs typeface="微软雅黑"/>
              </a:rPr>
              <a:t>{aₙ}</a:t>
            </a:r>
            <a:r>
              <a:rPr sz="1800" b="1" i="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 发散：单调递增，且无上界。</a:t>
            </a:r>
          </a:p>
        </p:txBody>
      </p:sp>
      <p:pic>
        <p:nvPicPr>
          <p:cNvPr id="11" name="Picture 10" descr="fig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03120"/>
            <a:ext cx="4873752" cy="3249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60" y="5596128"/>
            <a:ext cx="4873752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aₙ</a:t>
            </a:r>
            <a:r>
              <a:rPr sz="105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 与下界 √(2n−1)，双对数坐标（数据同源，非示意图）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人工智能导论　·　第二次作业题　·　实践题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4295" y="63276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06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五　第二步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把 </a:t>
            </a:r>
            <a:r>
              <a:rPr sz="2700" b="1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Sₙ/n</a:t>
            </a:r>
            <a:r>
              <a:rPr sz="27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压到 0，答案就是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005840" cy="3175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aₙ²/n = 2 − 1/n + Sₙ/n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只需说明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Sₙ/n → 0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。由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aₖ ≥ √(2k−1)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44368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1/aₖ² ≤ 1/(2k−1) ≤ 1/k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84448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Sₙ ≤ Σₖ₌₁ⁿ⁻¹ 1/k ≤ 1 + ln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79392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两边除以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n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，由夹逼得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0 ≤ Sₙ/n ≤ (1 + ln n)/n → 0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1">
                <a:solidFill>
                  <a:srgbClr val="2F5D50"/>
                </a:solidFill>
                <a:latin typeface="Times New Roman"/>
                <a:ea typeface="微软雅黑"/>
                <a:cs typeface="微软雅黑"/>
              </a:rPr>
              <a:t>aₙ²/n →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650992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即 lim </a:t>
            </a:r>
            <a:r>
              <a:rPr sz="1400" b="0" i="1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aₙ²/n = 2</a:t>
            </a:r>
            <a:r>
              <a:rPr sz="14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（</a:t>
            </a:r>
            <a:r>
              <a:rPr sz="1400" b="0" i="1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n → ∞</a:t>
            </a:r>
            <a:r>
              <a:rPr sz="14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人工智能导论　·　第二次作业题　·　实践题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4295" y="63276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07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六　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两个待证事项的答案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005840" cy="3175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</a:pPr>
            <a:r>
              <a:rPr sz="2500" b="0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①　</a:t>
            </a:r>
            <a:r>
              <a:rPr sz="25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{aₙ}</a:t>
            </a:r>
            <a:r>
              <a:rPr sz="2500" b="0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 发散，且 </a:t>
            </a:r>
            <a:r>
              <a:rPr sz="2500" b="0" i="1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aₙ → +∞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②　</a:t>
            </a:r>
            <a:r>
              <a:rPr sz="2500" b="0" i="1">
                <a:solidFill>
                  <a:srgbClr val="2F5D50"/>
                </a:solidFill>
                <a:latin typeface="Times New Roman"/>
                <a:ea typeface="微软雅黑"/>
                <a:cs typeface="微软雅黑"/>
              </a:rPr>
              <a:t>aₙ²/n → 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77639"/>
            <a:ext cx="1828800" cy="19050"/>
          </a:xfrm>
          <a:prstGeom prst="rect">
            <a:avLst/>
          </a:prstGeom>
          <a:solidFill>
            <a:srgbClr val="D9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10637215" cy="1188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附带：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 ~ √(2n)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，即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aₙ/√(n) → √(2)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—— 数列以 </a:t>
            </a:r>
            <a:r>
              <a:rPr sz="17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√(n)</a:t>
            </a:r>
            <a:r>
              <a:rPr sz="17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的速度增长。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要点不在“递增”，而在阶的估计：把每次增加 </a:t>
            </a:r>
            <a:r>
              <a:rPr sz="1500" b="0" i="1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1/aₙ</a:t>
            </a:r>
            <a:r>
              <a:rPr sz="15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 平方成每次增加约 2。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人工智能导论　·　第二次作业题　·　实践题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4295" y="63276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08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七　数值验证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高精度迭代与理论值一致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005840" cy="3175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47088"/>
            <a:ext cx="64008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2011680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n = 10³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267712"/>
            <a:ext cx="39136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2.003178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017520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n = 10⁴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273552"/>
            <a:ext cx="39136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1F1F"/>
                </a:solidFill>
                <a:latin typeface="Times New Roman"/>
                <a:ea typeface="微软雅黑"/>
                <a:cs typeface="微软雅黑"/>
              </a:rPr>
              <a:t>2.000433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023360"/>
            <a:ext cx="3913632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n = 10⁵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279392"/>
            <a:ext cx="39136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5D50"/>
                </a:solidFill>
                <a:latin typeface="Times New Roman"/>
                <a:ea typeface="微软雅黑"/>
                <a:cs typeface="微软雅黑"/>
              </a:rPr>
              <a:t>2.000055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4983480"/>
            <a:ext cx="3913632" cy="9525"/>
          </a:xfrm>
          <a:prstGeom prst="rect">
            <a:avLst/>
          </a:prstGeom>
          <a:solidFill>
            <a:srgbClr val="D9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5138928"/>
            <a:ext cx="3913632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恒等式 </a:t>
            </a:r>
            <a:r>
              <a:rPr sz="1200" b="0" i="1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aₙ² = 2n − 1 + Sₙ</a:t>
            </a:r>
            <a:r>
              <a:rPr sz="12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 在 </a:t>
            </a:r>
            <a:r>
              <a:rPr sz="1200" b="0" i="1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n = 10⁵</a:t>
            </a:r>
            <a:r>
              <a:rPr sz="12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 时的残差小于 </a:t>
            </a:r>
            <a:r>
              <a:rPr sz="1200" b="0" i="1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10⁻⁵³</a:t>
            </a:r>
            <a:r>
              <a:rPr sz="12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（45 位十进制精度）。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3270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数据：代码/sequence_numeric.py　·　绘图：make_figures.py 同源脚本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人工智能导论　·　第二次作业题　·　实践题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4295" y="63276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09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八　代码与文件索引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脚本清单与用途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005840" cy="3175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全部临时代码保存在 代码/ 文件夹中；下列脚本均可直接运行。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21284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2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作用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87168"/>
            <a:ext cx="10637215" cy="9525"/>
          </a:xfrm>
          <a:prstGeom prst="rect">
            <a:avLst/>
          </a:prstGeom>
          <a:solidFill>
            <a:srgbClr val="D9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487168"/>
            <a:ext cx="9525" cy="2980944"/>
          </a:xfrm>
          <a:prstGeom prst="rect">
            <a:avLst/>
          </a:prstGeom>
          <a:solidFill>
            <a:srgbClr val="D9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1518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Consolas"/>
                <a:ea typeface="微软雅黑"/>
                <a:cs typeface="微软雅黑"/>
              </a:rPr>
              <a:t>sequence_numeric.py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615184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高精度（45 位）迭代 </a:t>
            </a:r>
            <a:r>
              <a:rPr sz="12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</a:t>
            </a:r>
            <a:r>
              <a:rPr sz="12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，核验恒等式，给出 </a:t>
            </a:r>
            <a:r>
              <a:rPr sz="12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aₙ²/n</a:t>
            </a:r>
            <a:r>
              <a:rPr sz="12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的收敛数据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22091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Consolas"/>
                <a:ea typeface="微软雅黑"/>
                <a:cs typeface="微软雅黑"/>
              </a:rPr>
              <a:t>make_figures.py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022091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生成数值验证页的收敛曲线图与配图素材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428999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Consolas"/>
                <a:ea typeface="微软雅黑"/>
                <a:cs typeface="微软雅黑"/>
              </a:rPr>
              <a:t>inspect_template.py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428999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解析模板的主题字体、配色与各版式图片槽几何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35907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Consolas"/>
                <a:ea typeface="微软雅黑"/>
                <a:cs typeface="微软雅黑"/>
              </a:rPr>
              <a:t>build_ppt.py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835907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由模板生成 实践题v1.pptx（旧版方案，本次未采用）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4281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Consolas"/>
                <a:ea typeface="微软雅黑"/>
                <a:cs typeface="微软雅黑"/>
              </a:rPr>
              <a:t>metrics.py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242816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第二次作业第 2 题：混淆矩阵指标计算与校验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49724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Consolas"/>
                <a:ea typeface="微软雅黑"/>
                <a:cs typeface="微软雅黑"/>
              </a:rPr>
              <a:t>calculus.py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649724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第二次作业第 4 题：偏导数 </a:t>
            </a:r>
            <a:r>
              <a:rPr sz="12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z = x² + y² − x/y + xy</a:t>
            </a:r>
            <a:r>
              <a:rPr sz="12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的数值校验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0566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Consolas"/>
                <a:ea typeface="微软雅黑"/>
                <a:cs typeface="微软雅黑"/>
              </a:rPr>
              <a:t>build_deck_v2.py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056632"/>
            <a:ext cx="758952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本次无模板幻灯片 实践题v2.pptx 的生成脚本（新增）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68112"/>
            <a:ext cx="10637215" cy="9525"/>
          </a:xfrm>
          <a:prstGeom prst="rect">
            <a:avLst/>
          </a:prstGeom>
          <a:solidFill>
            <a:srgbClr val="D9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596128"/>
            <a:ext cx="10637215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前 6 个脚本位于 代码/；本次新增的 build_deck_v2.py 与 make_figs_v2.py 位于 _work/（如需归档可一并移入 代码/）。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人工智能导论　·　第二次作业题　·　实践题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4295" y="63276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10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九　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三步走完这道题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1005840" cy="3175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637215" cy="2377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一　平方差分：</a:t>
            </a:r>
            <a:r>
              <a:rPr sz="19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aₙ₊₁² − aₙ² = 2 + 1/aₙ²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二　累加得恒等式：</a:t>
            </a:r>
            <a:r>
              <a:rPr sz="19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aₙ² = 2n − 1 + Sₙ</a:t>
            </a:r>
            <a:r>
              <a:rPr sz="19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，于是 </a:t>
            </a:r>
            <a:r>
              <a:rPr sz="19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 ≥ √(2n−1) → +∞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三　</a:t>
            </a:r>
            <a:r>
              <a:rPr sz="19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Sₙ ≤ 1 + ln n</a:t>
            </a:r>
            <a:r>
              <a:rPr sz="19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被 </a:t>
            </a:r>
            <a:r>
              <a:rPr sz="19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n</a:t>
            </a:r>
            <a:r>
              <a:rPr sz="19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 压平，故 </a:t>
            </a:r>
            <a:r>
              <a:rPr sz="1900" b="0" i="1">
                <a:solidFill>
                  <a:srgbClr val="3D3D3D"/>
                </a:solidFill>
                <a:latin typeface="Times New Roman"/>
                <a:ea typeface="微软雅黑"/>
                <a:cs typeface="微软雅黑"/>
              </a:rPr>
              <a:t>aₙ²/n → 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617720"/>
            <a:ext cx="1828800" cy="19050"/>
          </a:xfrm>
          <a:prstGeom prst="rect">
            <a:avLst/>
          </a:prstGeom>
          <a:solidFill>
            <a:srgbClr val="D9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方法要点：先做阶的估计，再让 n 去压缩低阶项。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同一套路可用于 </a:t>
            </a:r>
            <a:r>
              <a:rPr sz="1400" b="0" i="1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aₙ₊₁ = aₙ + f(aₙ)</a:t>
            </a:r>
            <a:r>
              <a:rPr sz="1400" b="0" i="0">
                <a:solidFill>
                  <a:srgbClr val="8C8C8C"/>
                </a:solidFill>
                <a:latin typeface="微软雅黑"/>
                <a:ea typeface="微软雅黑"/>
                <a:cs typeface="微软雅黑"/>
              </a:rPr>
              <a:t> 一类递推的渐近分析。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人工智能导论　·　第二次作业题　·　实践题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34295" y="63276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0B0AC"/>
                </a:solidFill>
                <a:latin typeface="微软雅黑"/>
                <a:ea typeface="微软雅黑"/>
                <a:cs typeface="微软雅黑"/>
              </a:rPr>
              <a:t>11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12064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200">
                <a:solidFill>
                  <a:srgbClr val="2F5D50"/>
                </a:solidFill>
                <a:latin typeface="微软雅黑"/>
                <a:ea typeface="微软雅黑"/>
                <a:cs typeface="微软雅黑"/>
              </a:rPr>
              <a:t>人工智能导论　·　第二次作业题　·　实践题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749039"/>
            <a:ext cx="1463040" cy="38100"/>
          </a:xfrm>
          <a:prstGeom prst="rect">
            <a:avLst/>
          </a:prstGeom>
          <a:solidFill>
            <a:srgbClr val="2F5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4164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D3D3D"/>
                </a:solidFill>
                <a:latin typeface="微软雅黑"/>
                <a:ea typeface="微软雅黑"/>
                <a:cs typeface="微软雅黑"/>
              </a:rPr>
              <a:t>恳请批评指正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4632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C8C8C"/>
                </a:solidFill>
                <a:latin typeface="Times New Roman"/>
                <a:ea typeface="微软雅黑"/>
                <a:cs typeface="微软雅黑"/>
              </a:rPr>
              <a:t>Thanks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人工智能导论 第二次作业题 实践题：数列 {a_n} 的发散性与 a_n^2/n 的极限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