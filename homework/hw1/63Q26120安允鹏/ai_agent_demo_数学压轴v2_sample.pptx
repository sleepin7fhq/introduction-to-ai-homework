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43CF2C3-3950-4E40-A02F-66DCCF188A6B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附录-素材" id="{3050140B-5B37-47BE-8423-F6A0577ED44C}">
          <p14:sldIdLst>
            <p14:sldId id="262"/>
            <p14:sldId id="263"/>
            <p14:sldId id="264"/>
          </p14:sldIdLst>
        </p14:section>
        <p14:section name="使用规范" id="{47918508-6F2A-4DC8-ACB3-0B9712E4E205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FDFCFB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79874" autoAdjust="0"/>
  </p:normalViewPr>
  <p:slideViewPr>
    <p:cSldViewPr snapToGrid="0">
      <p:cViewPr>
        <p:scale>
          <a:sx n="75" d="100"/>
          <a:sy n="75" d="100"/>
        </p:scale>
        <p:origin x="123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98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51752-2BA6-4267-BD9C-0255A6E7A7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02A4A-2F78-42A2-8BB5-4E355942CA2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0402823" y="853956"/>
            <a:ext cx="1875342" cy="6834393"/>
            <a:chOff x="10402823" y="853956"/>
            <a:chExt cx="1875342" cy="6834393"/>
          </a:xfrm>
        </p:grpSpPr>
        <p:sp>
          <p:nvSpPr>
            <p:cNvPr id="15" name="任意多边形: 形状 14"/>
            <p:cNvSpPr/>
            <p:nvPr userDrawn="1"/>
          </p:nvSpPr>
          <p:spPr>
            <a:xfrm rot="17975649">
              <a:off x="7764318" y="3492461"/>
              <a:ext cx="6834393" cy="1557383"/>
            </a:xfrm>
            <a:custGeom>
              <a:avLst/>
              <a:gdLst>
                <a:gd name="connsiteX0" fmla="*/ 4887162 w 6834393"/>
                <a:gd name="connsiteY0" fmla="*/ 1105918 h 1557383"/>
                <a:gd name="connsiteX1" fmla="*/ 4092251 w 6834393"/>
                <a:gd name="connsiteY1" fmla="*/ 1557383 h 1557383"/>
                <a:gd name="connsiteX2" fmla="*/ 884506 w 6834393"/>
                <a:gd name="connsiteY2" fmla="*/ 1557383 h 1557383"/>
                <a:gd name="connsiteX3" fmla="*/ 628100 w 6834393"/>
                <a:gd name="connsiteY3" fmla="*/ 1105918 h 1557383"/>
                <a:gd name="connsiteX4" fmla="*/ 6834393 w 6834393"/>
                <a:gd name="connsiteY4" fmla="*/ 0 h 1557383"/>
                <a:gd name="connsiteX5" fmla="*/ 6039483 w 6834393"/>
                <a:gd name="connsiteY5" fmla="*/ 451465 h 1557383"/>
                <a:gd name="connsiteX6" fmla="*/ 256407 w 6834393"/>
                <a:gd name="connsiteY6" fmla="*/ 451465 h 1557383"/>
                <a:gd name="connsiteX7" fmla="*/ 0 w 6834393"/>
                <a:gd name="connsiteY7" fmla="*/ 0 h 155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34393" h="1557383">
                  <a:moveTo>
                    <a:pt x="4887162" y="1105918"/>
                  </a:moveTo>
                  <a:lnTo>
                    <a:pt x="4092251" y="1557383"/>
                  </a:lnTo>
                  <a:lnTo>
                    <a:pt x="884506" y="1557383"/>
                  </a:lnTo>
                  <a:lnTo>
                    <a:pt x="628100" y="1105918"/>
                  </a:lnTo>
                  <a:close/>
                  <a:moveTo>
                    <a:pt x="6834393" y="0"/>
                  </a:moveTo>
                  <a:lnTo>
                    <a:pt x="6039483" y="451465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 userDrawn="1"/>
          </p:nvSpPr>
          <p:spPr>
            <a:xfrm rot="17975649">
              <a:off x="8726108" y="4052302"/>
              <a:ext cx="5546729" cy="1557384"/>
            </a:xfrm>
            <a:custGeom>
              <a:avLst/>
              <a:gdLst>
                <a:gd name="connsiteX0" fmla="*/ 3599499 w 5546729"/>
                <a:gd name="connsiteY0" fmla="*/ 1105919 h 1557384"/>
                <a:gd name="connsiteX1" fmla="*/ 2804588 w 5546729"/>
                <a:gd name="connsiteY1" fmla="*/ 1557384 h 1557384"/>
                <a:gd name="connsiteX2" fmla="*/ 884507 w 5546729"/>
                <a:gd name="connsiteY2" fmla="*/ 1557383 h 1557384"/>
                <a:gd name="connsiteX3" fmla="*/ 628100 w 5546729"/>
                <a:gd name="connsiteY3" fmla="*/ 1105919 h 1557384"/>
                <a:gd name="connsiteX4" fmla="*/ 5546729 w 5546729"/>
                <a:gd name="connsiteY4" fmla="*/ 1 h 1557384"/>
                <a:gd name="connsiteX5" fmla="*/ 4751818 w 5546729"/>
                <a:gd name="connsiteY5" fmla="*/ 451466 h 1557384"/>
                <a:gd name="connsiteX6" fmla="*/ 256407 w 5546729"/>
                <a:gd name="connsiteY6" fmla="*/ 451465 h 1557384"/>
                <a:gd name="connsiteX7" fmla="*/ 0 w 5546729"/>
                <a:gd name="connsiteY7" fmla="*/ 0 h 1557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46729" h="1557384">
                  <a:moveTo>
                    <a:pt x="3599499" y="1105919"/>
                  </a:moveTo>
                  <a:lnTo>
                    <a:pt x="2804588" y="1557384"/>
                  </a:lnTo>
                  <a:lnTo>
                    <a:pt x="884507" y="1557383"/>
                  </a:lnTo>
                  <a:lnTo>
                    <a:pt x="628100" y="1105919"/>
                  </a:lnTo>
                  <a:close/>
                  <a:moveTo>
                    <a:pt x="5546729" y="1"/>
                  </a:moveTo>
                  <a:lnTo>
                    <a:pt x="4751818" y="451466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" name="图片 16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cxnSp>
        <p:nvCxnSpPr>
          <p:cNvPr id="22" name="直接连接符 21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无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7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tile tx="0" ty="0" sx="100000" sy="100000" flip="none" algn="tl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任意多边形: 形状 51"/>
          <p:cNvSpPr/>
          <p:nvPr userDrawn="1"/>
        </p:nvSpPr>
        <p:spPr>
          <a:xfrm rot="1759603">
            <a:off x="5759550" y="3287609"/>
            <a:ext cx="326672" cy="3900322"/>
          </a:xfrm>
          <a:custGeom>
            <a:avLst/>
            <a:gdLst>
              <a:gd name="connsiteX0" fmla="*/ 0 w 326672"/>
              <a:gd name="connsiteY0" fmla="*/ 0 h 3900322"/>
              <a:gd name="connsiteX1" fmla="*/ 326672 w 326672"/>
              <a:gd name="connsiteY1" fmla="*/ 0 h 3900322"/>
              <a:gd name="connsiteX2" fmla="*/ 326672 w 326672"/>
              <a:gd name="connsiteY2" fmla="*/ 3716802 h 3900322"/>
              <a:gd name="connsiteX3" fmla="*/ 0 w 326672"/>
              <a:gd name="connsiteY3" fmla="*/ 3900322 h 390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900322">
                <a:moveTo>
                  <a:pt x="0" y="0"/>
                </a:moveTo>
                <a:lnTo>
                  <a:pt x="326672" y="0"/>
                </a:lnTo>
                <a:lnTo>
                  <a:pt x="326672" y="3716802"/>
                </a:lnTo>
                <a:lnTo>
                  <a:pt x="0" y="39003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任意多边形: 形状 43"/>
          <p:cNvSpPr/>
          <p:nvPr userDrawn="1"/>
        </p:nvSpPr>
        <p:spPr>
          <a:xfrm rot="1759603">
            <a:off x="8280302" y="-201925"/>
            <a:ext cx="170609" cy="2499133"/>
          </a:xfrm>
          <a:custGeom>
            <a:avLst/>
            <a:gdLst>
              <a:gd name="connsiteX0" fmla="*/ 0 w 170609"/>
              <a:gd name="connsiteY0" fmla="*/ 95846 h 2499133"/>
              <a:gd name="connsiteX1" fmla="*/ 170609 w 170609"/>
              <a:gd name="connsiteY1" fmla="*/ 0 h 2499133"/>
              <a:gd name="connsiteX2" fmla="*/ 170609 w 170609"/>
              <a:gd name="connsiteY2" fmla="*/ 2499133 h 2499133"/>
              <a:gd name="connsiteX3" fmla="*/ 0 w 170609"/>
              <a:gd name="connsiteY3" fmla="*/ 2499133 h 249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2499133">
                <a:moveTo>
                  <a:pt x="0" y="95846"/>
                </a:moveTo>
                <a:lnTo>
                  <a:pt x="170609" y="0"/>
                </a:lnTo>
                <a:lnTo>
                  <a:pt x="170609" y="2499133"/>
                </a:lnTo>
                <a:lnTo>
                  <a:pt x="0" y="2499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 rot="1759603">
            <a:off x="11257062" y="-144084"/>
            <a:ext cx="326672" cy="3732241"/>
          </a:xfrm>
          <a:custGeom>
            <a:avLst/>
            <a:gdLst>
              <a:gd name="connsiteX0" fmla="*/ 0 w 326672"/>
              <a:gd name="connsiteY0" fmla="*/ 0 h 3732241"/>
              <a:gd name="connsiteX1" fmla="*/ 326672 w 326672"/>
              <a:gd name="connsiteY1" fmla="*/ 581488 h 3732241"/>
              <a:gd name="connsiteX2" fmla="*/ 326672 w 326672"/>
              <a:gd name="connsiteY2" fmla="*/ 3732241 h 3732241"/>
              <a:gd name="connsiteX3" fmla="*/ 0 w 326672"/>
              <a:gd name="connsiteY3" fmla="*/ 3732241 h 37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732241">
                <a:moveTo>
                  <a:pt x="0" y="0"/>
                </a:moveTo>
                <a:lnTo>
                  <a:pt x="326672" y="581488"/>
                </a:lnTo>
                <a:lnTo>
                  <a:pt x="326672" y="3732241"/>
                </a:lnTo>
                <a:lnTo>
                  <a:pt x="0" y="37322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52"/>
          <p:cNvSpPr/>
          <p:nvPr userDrawn="1"/>
        </p:nvSpPr>
        <p:spPr>
          <a:xfrm rot="1759603">
            <a:off x="9271255" y="4019758"/>
            <a:ext cx="170609" cy="3077209"/>
          </a:xfrm>
          <a:custGeom>
            <a:avLst/>
            <a:gdLst>
              <a:gd name="connsiteX0" fmla="*/ 0 w 170609"/>
              <a:gd name="connsiteY0" fmla="*/ 0 h 3077209"/>
              <a:gd name="connsiteX1" fmla="*/ 170609 w 170609"/>
              <a:gd name="connsiteY1" fmla="*/ 0 h 3077209"/>
              <a:gd name="connsiteX2" fmla="*/ 170609 w 170609"/>
              <a:gd name="connsiteY2" fmla="*/ 2981364 h 3077209"/>
              <a:gd name="connsiteX3" fmla="*/ 0 w 170609"/>
              <a:gd name="connsiteY3" fmla="*/ 3077209 h 307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3077209">
                <a:moveTo>
                  <a:pt x="0" y="0"/>
                </a:moveTo>
                <a:lnTo>
                  <a:pt x="170609" y="0"/>
                </a:lnTo>
                <a:lnTo>
                  <a:pt x="170609" y="2981364"/>
                </a:lnTo>
                <a:lnTo>
                  <a:pt x="0" y="30772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38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869" y="1"/>
            <a:ext cx="10849030" cy="7492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869" y="850901"/>
            <a:ext cx="10849031" cy="528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22800" y="6235702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0" spc="300" baseline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75700" y="6235702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445437"/>
                </a:solidFill>
              </a:rPr>
              <a:t>2025 数学压轴大题</a:t>
            </a:r>
            <a:endParaRPr sz="4000" b="1">
              <a:solidFill>
                <a:srgbClr val="445437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05050"/>
                </a:solidFill>
              </a:rPr>
              <a:t>高考数学专题 · 新课标Ⅰ卷</a:t>
            </a:r>
            <a:endParaRPr sz="2000" b="0">
              <a:solidFill>
                <a:srgbClr val="50505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67676"/>
                </a:solidFill>
              </a:rPr>
              <a:t>第 19 题（17 分） · 用高中知识完整解答</a:t>
            </a:r>
            <a:endParaRPr sz="1300" b="0">
              <a:solidFill>
                <a:srgbClr val="76767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45437"/>
                </a:solidFill>
              </a:rPr>
              <a:t>题目呈现</a:t>
            </a:r>
            <a:endParaRPr sz="2000" b="1">
              <a:solidFill>
                <a:srgbClr val="44543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115568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0">
                <a:solidFill>
                  <a:srgbClr val="767676"/>
                </a:solidFill>
              </a:rPr>
              <a:t>2025 年新课标Ⅰ卷 · 第 19 题（解答题，17 分）</a:t>
            </a:r>
            <a:endParaRPr sz="1400" b="0">
              <a:solidFill>
                <a:srgbClr val="76767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800"/>
              </a:spcAft>
            </a:pPr>
            <a:r>
              <a:rPr sz="2100" b="1">
                <a:solidFill>
                  <a:srgbClr val="262626"/>
                </a:solidFill>
              </a:rPr>
              <a:t>设函数 f(x) = 5cos x − cos 5x。</a:t>
            </a:r>
            <a:endParaRPr sz="2100" b="1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262626"/>
                </a:solidFill>
              </a:rPr>
              <a:t>(1) 求 f(x) 在区间 [0, π/4] 上的最大值；</a:t>
            </a:r>
            <a:endParaRPr sz="19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262626"/>
                </a:solidFill>
              </a:rPr>
              <a:t>(2) 给定 θ∈(0, π) 和 a∈R，证明：存在 y∈[a−θ, a+θ]，使得 cos y ≤ cos θ；</a:t>
            </a:r>
            <a:endParaRPr sz="19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262626"/>
                </a:solidFill>
              </a:rPr>
              <a:t>(3) 设 b∈R。若存在 φ∈R，使得 5cos x − cos(5x+φ) ≤ b 对任意 x∈R 恒成立，求 b 的最小值。</a:t>
            </a:r>
            <a:endParaRPr sz="1900" b="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45437"/>
                </a:solidFill>
              </a:rPr>
              <a:t>第(1)问：先求导，看单调性</a:t>
            </a:r>
            <a:endParaRPr sz="2000" b="1">
              <a:solidFill>
                <a:srgbClr val="44543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170432"/>
            <a:ext cx="4983480" cy="4663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767676"/>
                </a:solidFill>
              </a:rPr>
              <a:t>思路：求导 → 定单调 → 找最大值</a:t>
            </a:r>
            <a:endParaRPr sz="1300" b="0">
              <a:solidFill>
                <a:srgbClr val="76767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</a:rPr>
              <a:t>f′(x) = −5sin x + 5sin 5x</a:t>
            </a:r>
            <a:endParaRPr sz="18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445437"/>
                </a:solidFill>
              </a:rPr>
              <a:t>　　　= 10 cos 3x · sin 2x</a:t>
            </a:r>
            <a:endParaRPr sz="2000" b="1">
              <a:solidFill>
                <a:srgbClr val="445437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</a:rPr>
              <a:t>x∈(0, π/4) 时 sin 2x &gt; 0，符号只由 cos 3x 决定：</a:t>
            </a:r>
            <a:endParaRPr sz="17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262626"/>
                </a:solidFill>
              </a:rPr>
              <a:t>0 &lt; x &lt; π/6 时 f 递增；π/6 &lt; x &lt; π/4 时 f 递减。</a:t>
            </a:r>
            <a:endParaRPr sz="17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445437"/>
                </a:solidFill>
              </a:rPr>
              <a:t>最大值 f(π/6) = 5cos(π/6) − cos(5π/6) = 3√3</a:t>
            </a:r>
            <a:endParaRPr sz="1900" b="1">
              <a:solidFill>
                <a:srgbClr val="445437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67676"/>
                </a:solidFill>
              </a:rPr>
              <a:t>端点：f(0) = 4，f(π/4) = 3√2，都小于 3√3。</a:t>
            </a:r>
            <a:endParaRPr sz="1300" b="0">
              <a:solidFill>
                <a:srgbClr val="767676"/>
              </a:solidFill>
            </a:endParaRPr>
          </a:p>
        </p:txBody>
      </p:sp>
      <p:pic>
        <p:nvPicPr>
          <p:cNvPr id="4" name="Picture 3" descr="fig_f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1888" y="1207008"/>
            <a:ext cx="5413248" cy="40507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45437"/>
                </a:solidFill>
              </a:rPr>
              <a:t>第(1)问：换个角度，得到全局上界</a:t>
            </a:r>
            <a:endParaRPr sz="2000" b="1">
              <a:solidFill>
                <a:srgbClr val="44543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115568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>
                <a:solidFill>
                  <a:srgbClr val="767676"/>
                </a:solidFill>
              </a:rPr>
              <a:t>思路：把 5cos x − cos 5x 化成 cos x 的多项式</a:t>
            </a:r>
            <a:endParaRPr sz="1300" b="0">
              <a:solidFill>
                <a:srgbClr val="76767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262626"/>
                </a:solidFill>
              </a:rPr>
              <a:t>由五倍角公式　cos 5x = 16cos</a:t>
            </a:r>
            <a:r>
              <a:rPr sz="1120" b="0" baseline="30000">
                <a:solidFill>
                  <a:srgbClr val="262626"/>
                </a:solidFill>
              </a:rPr>
              <a:t>5</a:t>
            </a:r>
            <a:r>
              <a:rPr sz="1800" b="0">
                <a:solidFill>
                  <a:srgbClr val="262626"/>
                </a:solidFill>
              </a:rPr>
              <a:t>x − 20cos</a:t>
            </a:r>
            <a:r>
              <a:rPr sz="1120" b="0" baseline="30000">
                <a:solidFill>
                  <a:srgbClr val="262626"/>
                </a:solidFill>
              </a:rPr>
              <a:t>3</a:t>
            </a:r>
            <a:r>
              <a:rPr sz="1800" b="0">
                <a:solidFill>
                  <a:srgbClr val="262626"/>
                </a:solidFill>
              </a:rPr>
              <a:t>x + 5cos x，得</a:t>
            </a:r>
            <a:endParaRPr sz="18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2100" b="1">
                <a:solidFill>
                  <a:srgbClr val="445437"/>
                </a:solidFill>
              </a:rPr>
              <a:t>f(x) = 5cos x − cos 5x = 4cos</a:t>
            </a:r>
            <a:r>
              <a:rPr sz="1300" b="1" baseline="30000">
                <a:solidFill>
                  <a:srgbClr val="445437"/>
                </a:solidFill>
              </a:rPr>
              <a:t>3</a:t>
            </a:r>
            <a:r>
              <a:rPr sz="2100" b="1">
                <a:solidFill>
                  <a:srgbClr val="445437"/>
                </a:solidFill>
              </a:rPr>
              <a:t>x (5 − 4cos</a:t>
            </a:r>
            <a:r>
              <a:rPr sz="1300" b="1" baseline="30000">
                <a:solidFill>
                  <a:srgbClr val="445437"/>
                </a:solidFill>
              </a:rPr>
              <a:t>2</a:t>
            </a:r>
            <a:r>
              <a:rPr sz="2100" b="1">
                <a:solidFill>
                  <a:srgbClr val="445437"/>
                </a:solidFill>
              </a:rPr>
              <a:t>x)。</a:t>
            </a:r>
            <a:endParaRPr sz="2100" b="1">
              <a:solidFill>
                <a:srgbClr val="445437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262626"/>
                </a:solidFill>
              </a:rPr>
              <a:t>令 t = |cos x| ∈ [0, 1]，则 f(x) ≤ 4t</a:t>
            </a:r>
            <a:r>
              <a:rPr sz="1120" b="0" baseline="30000">
                <a:solidFill>
                  <a:srgbClr val="262626"/>
                </a:solidFill>
              </a:rPr>
              <a:t>3</a:t>
            </a:r>
            <a:r>
              <a:rPr sz="1800" b="0">
                <a:solidFill>
                  <a:srgbClr val="262626"/>
                </a:solidFill>
              </a:rPr>
              <a:t>(5 − 4t</a:t>
            </a:r>
            <a:r>
              <a:rPr sz="1120" b="0" baseline="30000">
                <a:solidFill>
                  <a:srgbClr val="262626"/>
                </a:solidFill>
              </a:rPr>
              <a:t>2</a:t>
            </a:r>
            <a:r>
              <a:rPr sz="1800" b="0">
                <a:solidFill>
                  <a:srgbClr val="262626"/>
                </a:solidFill>
              </a:rPr>
              <a:t>) = g(t)。</a:t>
            </a:r>
            <a:endParaRPr sz="18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262626"/>
                </a:solidFill>
              </a:rPr>
              <a:t>g′(t) = 20t</a:t>
            </a:r>
            <a:r>
              <a:rPr sz="1120" b="0" baseline="30000">
                <a:solidFill>
                  <a:srgbClr val="262626"/>
                </a:solidFill>
              </a:rPr>
              <a:t>2</a:t>
            </a:r>
            <a:r>
              <a:rPr sz="1800" b="0">
                <a:solidFill>
                  <a:srgbClr val="262626"/>
                </a:solidFill>
              </a:rPr>
              <a:t>(3 − 4t</a:t>
            </a:r>
            <a:r>
              <a:rPr sz="1120" b="0" baseline="30000">
                <a:solidFill>
                  <a:srgbClr val="262626"/>
                </a:solidFill>
              </a:rPr>
              <a:t>2</a:t>
            </a:r>
            <a:r>
              <a:rPr sz="1800" b="0">
                <a:solidFill>
                  <a:srgbClr val="262626"/>
                </a:solidFill>
              </a:rPr>
              <a:t>)，在 t = √3/2 处最大，g(√3/2) = 3√3。</a:t>
            </a:r>
            <a:endParaRPr sz="18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445437"/>
                </a:solidFill>
              </a:rPr>
              <a:t>所以对一切 x∈R，都有 f(x) ≤ 3√3。</a:t>
            </a:r>
            <a:endParaRPr sz="2000" b="1">
              <a:solidFill>
                <a:srgbClr val="445437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67676"/>
                </a:solidFill>
              </a:rPr>
              <a:t>—— 第(1)问的结论由此升级为全局上界，第(3)问直接可用。</a:t>
            </a:r>
            <a:endParaRPr sz="1300" b="0">
              <a:solidFill>
                <a:srgbClr val="76767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45437"/>
                </a:solidFill>
              </a:rPr>
              <a:t>第(2)问：反证法 + 解集结构</a:t>
            </a:r>
            <a:endParaRPr sz="2000" b="1">
              <a:solidFill>
                <a:srgbClr val="44543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115568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>
                <a:solidFill>
                  <a:srgbClr val="767676"/>
                </a:solidFill>
              </a:rPr>
              <a:t>思路：先把 cos y &gt; cos θ 的解集看清楚</a:t>
            </a:r>
            <a:endParaRPr sz="1300" b="0">
              <a:solidFill>
                <a:srgbClr val="76767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</a:rPr>
              <a:t>cos y &gt; cos θ ⇔ y ∈ (2kπ−θ, 2kπ+θ)，k∈Z；</a:t>
            </a:r>
            <a:endParaRPr sz="19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</a:rPr>
              <a:t>这些开区间长度都是 2θ，并且两两不相交。</a:t>
            </a:r>
            <a:endParaRPr sz="18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</a:rPr>
              <a:t>反设 [a−θ, a+θ] 内的点都满足 cos y &gt; cos θ，则该区间连通、长度恰为 2θ，</a:t>
            </a:r>
            <a:endParaRPr sz="18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262626"/>
                </a:solidFill>
              </a:rPr>
              <a:t>只能整体落在某个 (2kπ−θ, 2kπ+θ) 内，迫使 a &gt; 2kπ 且 a &lt; 2kπ，矛盾。</a:t>
            </a:r>
            <a:endParaRPr sz="18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45437"/>
                </a:solidFill>
              </a:rPr>
              <a:t>故存在 y∈[a−θ, a+θ]，使得 cos y ≤ cos θ。</a:t>
            </a:r>
            <a:endParaRPr sz="2000" b="1">
              <a:solidFill>
                <a:srgbClr val="44543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45437"/>
                </a:solidFill>
              </a:rPr>
              <a:t>第(3)问：b 至少要多大</a:t>
            </a:r>
            <a:endParaRPr sz="2000" b="1">
              <a:solidFill>
                <a:srgbClr val="44543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115568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>
                <a:solidFill>
                  <a:srgbClr val="767676"/>
                </a:solidFill>
              </a:rPr>
              <a:t>思路：用第(2)问造出一个点，逼出 b 的下界</a:t>
            </a:r>
            <a:endParaRPr sz="1300" b="0">
              <a:solidFill>
                <a:srgbClr val="76767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262626"/>
                </a:solidFill>
              </a:rPr>
              <a:t>记 h(x) = 5cos x − cos(5x+φ)。由 h(x+π) = −h(x) 知 |h(x)| ≤ b。</a:t>
            </a:r>
            <a:endParaRPr sz="18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</a:rPr>
              <a:t>在(2)中取 θ = 5π/6、a = φ：存在 y∈[φ−5π/6, φ+5π/6]，</a:t>
            </a:r>
            <a:endParaRPr sz="18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262626"/>
                </a:solidFill>
              </a:rPr>
              <a:t>使 cos y ≤ cos(5π/6) = −√3/2。</a:t>
            </a:r>
            <a:endParaRPr sz="18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</a:rPr>
              <a:t>取 x = (y−φ)/5，则 |x| ≤ π/6 且 5x+φ = y，于是</a:t>
            </a:r>
            <a:endParaRPr sz="18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445437"/>
                </a:solidFill>
              </a:rPr>
              <a:t>h(x) = 5cos x − cos y ≥ 5cos(π/6) + √3/2 = 3√3，</a:t>
            </a:r>
            <a:endParaRPr sz="2000" b="1">
              <a:solidFill>
                <a:srgbClr val="445437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45437"/>
                </a:solidFill>
              </a:rPr>
              <a:t>即 b ≥ 3√3。</a:t>
            </a:r>
            <a:endParaRPr sz="2200" b="1">
              <a:solidFill>
                <a:srgbClr val="44543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45437"/>
                </a:solidFill>
              </a:rPr>
              <a:t>第(3)问：3√3 能取到</a:t>
            </a:r>
            <a:endParaRPr sz="2000" b="1">
              <a:solidFill>
                <a:srgbClr val="44543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115568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800"/>
              </a:spcAft>
            </a:pPr>
            <a:r>
              <a:rPr sz="1300" b="0">
                <a:solidFill>
                  <a:srgbClr val="767676"/>
                </a:solidFill>
              </a:rPr>
              <a:t>思路：找一个 φ，让 b = 3√3 真的成立</a:t>
            </a:r>
            <a:endParaRPr sz="1300" b="0">
              <a:solidFill>
                <a:srgbClr val="76767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262626"/>
                </a:solidFill>
              </a:rPr>
              <a:t>取 φ = 0，则 5cos x − cos(5x+φ) = 5cos x − cos 5x</a:t>
            </a:r>
            <a:endParaRPr sz="19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1">
                <a:solidFill>
                  <a:srgbClr val="445437"/>
                </a:solidFill>
              </a:rPr>
              <a:t>= 4cos</a:t>
            </a:r>
            <a:r>
              <a:rPr sz="1180" b="1" baseline="30000">
                <a:solidFill>
                  <a:srgbClr val="445437"/>
                </a:solidFill>
              </a:rPr>
              <a:t>3</a:t>
            </a:r>
            <a:r>
              <a:rPr sz="1900" b="1">
                <a:solidFill>
                  <a:srgbClr val="445437"/>
                </a:solidFill>
              </a:rPr>
              <a:t>x (5 − 4cos</a:t>
            </a:r>
            <a:r>
              <a:rPr sz="1180" b="1" baseline="30000">
                <a:solidFill>
                  <a:srgbClr val="445437"/>
                </a:solidFill>
              </a:rPr>
              <a:t>2</a:t>
            </a:r>
            <a:r>
              <a:rPr sz="1900" b="1">
                <a:solidFill>
                  <a:srgbClr val="445437"/>
                </a:solidFill>
              </a:rPr>
              <a:t>x) ≤ 3√3（第(1)问的恒等变形）。</a:t>
            </a:r>
            <a:endParaRPr sz="1900" b="1">
              <a:solidFill>
                <a:srgbClr val="445437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</a:rPr>
              <a:t>所以 b = 3√3 满足题目的恒成立要求。</a:t>
            </a:r>
            <a:endParaRPr sz="19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505050"/>
                </a:solidFill>
              </a:rPr>
              <a:t>再结合上面得到的 b ≥ 3√3，两边夹住：</a:t>
            </a:r>
            <a:endParaRPr sz="1800" b="0">
              <a:solidFill>
                <a:srgbClr val="505050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3200" b="1">
                <a:solidFill>
                  <a:srgbClr val="445437"/>
                </a:solidFill>
              </a:rPr>
              <a:t>b 的最小值 = 3√3</a:t>
            </a:r>
            <a:endParaRPr sz="3200" b="1">
              <a:solidFill>
                <a:srgbClr val="445437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67676"/>
                </a:solidFill>
              </a:rPr>
              <a:t>等号在 x = ±π/6 + 2kπ 处取到，例如 x = π/6。</a:t>
            </a:r>
            <a:endParaRPr sz="1300" b="0">
              <a:solidFill>
                <a:srgbClr val="76767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45437"/>
                </a:solidFill>
              </a:rPr>
              <a:t>回看这道题：三个关键动作</a:t>
            </a:r>
            <a:endParaRPr sz="2000" b="1">
              <a:solidFill>
                <a:srgbClr val="44543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115568"/>
            <a:ext cx="10515600" cy="4754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800"/>
              </a:spcAft>
            </a:pPr>
            <a:r>
              <a:rPr sz="1300" b="0">
                <a:solidFill>
                  <a:srgbClr val="767676"/>
                </a:solidFill>
              </a:rPr>
              <a:t>把三问连起来看，它其实是一条完整的推理链</a:t>
            </a:r>
            <a:endParaRPr sz="1300" b="0">
              <a:solidFill>
                <a:srgbClr val="76767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262626"/>
                </a:solidFill>
              </a:rPr>
              <a:t>① 求导看单调 —— 拿到第(1)问的局部最大值；</a:t>
            </a:r>
            <a:endParaRPr sz="19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262626"/>
                </a:solidFill>
              </a:rPr>
              <a:t>② 五倍角恒等变形 —— 把局部结论升级为对一切 x∈R 的上界；</a:t>
            </a:r>
            <a:endParaRPr sz="19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800"/>
              </a:spcAft>
            </a:pPr>
            <a:r>
              <a:rPr sz="1900" b="0">
                <a:solidFill>
                  <a:srgbClr val="262626"/>
                </a:solidFill>
              </a:rPr>
              <a:t>③ 反证 + 解集结构 —— 由第(2)问造出下界。</a:t>
            </a:r>
            <a:endParaRPr sz="1900" b="0">
              <a:solidFill>
                <a:srgbClr val="262626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1">
                <a:solidFill>
                  <a:srgbClr val="445437"/>
                </a:solidFill>
              </a:rPr>
              <a:t>第(2)问给下界，第(1)问给上界，一夹就得到最小值。</a:t>
            </a:r>
            <a:endParaRPr sz="2000" b="1">
              <a:solidFill>
                <a:srgbClr val="445437"/>
              </a:solidFill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67676"/>
                </a:solidFill>
              </a:rPr>
              <a:t>易错点：把第(1)问的最大值直接当作本题答案，忽视三问之间的联系。</a:t>
            </a:r>
            <a:endParaRPr sz="1300" b="0">
              <a:solidFill>
                <a:srgbClr val="76767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667512" y="1228725"/>
            <a:ext cx="5797296" cy="603504"/>
          </a:xfrm>
        </p:spPr>
        <p:txBody>
          <a:bodyPr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445437"/>
                </a:solidFill>
              </a:rPr>
              <a:t>总结：解题思想与方法</a:t>
            </a:r>
            <a:endParaRPr sz="3200" b="1">
              <a:solidFill>
                <a:srgbClr val="445437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67512" y="789305"/>
            <a:ext cx="5797296" cy="384048"/>
          </a:xfrm>
        </p:spPr>
        <p:txBody>
          <a:bodyPr wrap="square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05050"/>
                </a:solidFill>
              </a:rPr>
              <a:t>2025 新课标Ⅰ卷 · 第 19 题</a:t>
            </a:r>
            <a:endParaRPr sz="1800" b="0">
              <a:solidFill>
                <a:srgbClr val="50505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67512" y="1954022"/>
            <a:ext cx="5797296" cy="3456940"/>
          </a:xfrm>
        </p:spPr>
        <p:txBody>
          <a:bodyPr wrap="square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50"/>
              </a:spcAft>
            </a:pPr>
            <a:r>
              <a:rPr sz="1300" b="0">
                <a:solidFill>
                  <a:srgbClr val="505050"/>
                </a:solidFill>
              </a:rPr>
              <a:t>化归与转化：把 cos 5x 化为 cos x 的多项式（五倍角公式）</a:t>
            </a:r>
            <a:endParaRPr sz="1300" b="0">
              <a:solidFill>
                <a:srgbClr val="505050"/>
              </a:solidFill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50"/>
              </a:spcAft>
            </a:pPr>
            <a:r>
              <a:rPr sz="1300" b="0">
                <a:solidFill>
                  <a:srgbClr val="505050"/>
                </a:solidFill>
              </a:rPr>
              <a:t>换元法：令 t = |cos x| ∈ [0,1]，三角最值化归为多项式最值</a:t>
            </a:r>
            <a:endParaRPr sz="1300" b="0">
              <a:solidFill>
                <a:srgbClr val="505050"/>
              </a:solidFill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50"/>
              </a:spcAft>
            </a:pPr>
            <a:r>
              <a:rPr sz="1300" b="0">
                <a:solidFill>
                  <a:srgbClr val="505050"/>
                </a:solidFill>
              </a:rPr>
              <a:t>导数法：求导定单调，解决 [0, π/4] 上的局部最大值</a:t>
            </a:r>
            <a:endParaRPr sz="1300" b="0">
              <a:solidFill>
                <a:srgbClr val="505050"/>
              </a:solidFill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50"/>
              </a:spcAft>
            </a:pPr>
            <a:r>
              <a:rPr sz="1300" b="0">
                <a:solidFill>
                  <a:srgbClr val="505050"/>
                </a:solidFill>
              </a:rPr>
              <a:t>反证法：借助 cos y &gt; cos θ 的解集结构证明存在性</a:t>
            </a:r>
            <a:endParaRPr sz="1300" b="0">
              <a:solidFill>
                <a:srgbClr val="505050"/>
              </a:solidFill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50"/>
              </a:spcAft>
            </a:pPr>
            <a:r>
              <a:rPr sz="1300" b="0">
                <a:solidFill>
                  <a:srgbClr val="505050"/>
                </a:solidFill>
              </a:rPr>
              <a:t>放缩法：用 |cos x| ≤ 1 控制上界</a:t>
            </a:r>
            <a:endParaRPr sz="1300" b="0">
              <a:solidFill>
                <a:srgbClr val="505050"/>
              </a:solidFill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50"/>
              </a:spcAft>
            </a:pPr>
            <a:r>
              <a:rPr sz="1300" b="0">
                <a:solidFill>
                  <a:srgbClr val="505050"/>
                </a:solidFill>
              </a:rPr>
              <a:t>夹逼思想：下界来自(2)，上界来自(1)，两边夹出最小值</a:t>
            </a:r>
            <a:endParaRPr sz="1300" b="0">
              <a:solidFill>
                <a:srgbClr val="505050"/>
              </a:solidFill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50"/>
              </a:spcAft>
            </a:pPr>
            <a:r>
              <a:rPr sz="1300" b="0">
                <a:solidFill>
                  <a:srgbClr val="505050"/>
                </a:solidFill>
              </a:rPr>
              <a:t>构造与特殊值：取 θ = 5π/6 造下界，取 φ = 0 </a:t>
            </a:r>
            <a:r>
              <a:rPr lang="en-US" sz="1300" b="0">
                <a:solidFill>
                  <a:srgbClr val="505050"/>
                </a:solidFill>
              </a:rPr>
              <a:t>  </a:t>
            </a:r>
            <a:r>
              <a:rPr lang="zh-CN" altLang="en-US" sz="1300" b="0">
                <a:solidFill>
                  <a:srgbClr val="505050"/>
                </a:solidFill>
              </a:rPr>
              <a:t>验</a:t>
            </a:r>
            <a:r>
              <a:rPr sz="1300" b="0">
                <a:solidFill>
                  <a:srgbClr val="505050"/>
                </a:solidFill>
              </a:rPr>
              <a:t>证可取</a:t>
            </a:r>
            <a:endParaRPr sz="1300" b="0">
              <a:solidFill>
                <a:srgbClr val="505050"/>
              </a:solidFill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445437"/>
                </a:solidFill>
              </a:rPr>
              <a:t>本题结论：b 的最小值为 3√3</a:t>
            </a:r>
            <a:endParaRPr sz="1350" b="1">
              <a:solidFill>
                <a:srgbClr val="445437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1943</Words>
  <Application>WPS 演示</Application>
  <PresentationFormat>宽屏</PresentationFormat>
  <Paragraphs>85</Paragraphs>
  <Slides>9</Slides>
  <Notes>78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Arial Unicode MS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GTD0402</dc:creator>
  <cp:lastModifiedBy>安允鹏</cp:lastModifiedBy>
  <cp:revision>32</cp:revision>
  <dcterms:created xsi:type="dcterms:W3CDTF">2019-03-11T14:11:00Z</dcterms:created>
  <dcterms:modified xsi:type="dcterms:W3CDTF">2026-10-13T08:29:03Z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2019-04-12T02:41:52.0160681Z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69373f4c-3b11-4ae9-a932-ee563e5098c6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KSOProductBuildVer">
    <vt:lpwstr>2052-12.1.0.21915</vt:lpwstr>
  </property>
  <property fmtid="{D5CDD505-2E9C-101B-9397-08002B2CF9AE}" pid="12" name="ICV">
    <vt:lpwstr>3B321A7DE0D24A858D2D09EBB66CE1CD_12</vt:lpwstr>
  </property>
</Properties>
</file>