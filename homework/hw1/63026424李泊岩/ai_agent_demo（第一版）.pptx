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开场可以先问同学是否用过聊天机器人。今天只围绕一个问题展开：AI 为什么能从“回答”走到“做事”。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可以把 Agent 理解为围绕目标工作的 AI 系统：读取信息、制定步骤、调用工具，并根据结果调整。订票只是流程示例，实际能否下单取决于系统权限和接入情况。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普通聊天机器人主要生成回复，Agent 更强调围绕目标推进任务。工具能力取决于系统是否接入工具，以及拥有哪些权限。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工具是 Agent 与外部世界交互的方式。它先理解任务，再选择工具，最后检查结果。这里用查课表和建日程说明流程。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总结时带同学复述三个关键词：目标、行动、工具。Agent 的能力边界由模型、可使用的工具和权限共同决定。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0" y="1051560"/>
            <a:ext cx="3730752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0" b="1">
                <a:solidFill>
                  <a:srgbClr val="172A3F"/>
                </a:solidFill>
                <a:latin typeface="Microsoft YaHei"/>
                <a:cs typeface="Microsoft YaHei"/>
                <a:ea typeface="Microsoft YaHei"/>
              </a:rPr>
              <a:t>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777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6A4F"/>
                </a:solidFill>
                <a:latin typeface="Microsoft YaHei"/>
                <a:cs typeface="Microsoft YaHei"/>
                <a:ea typeface="Microsoft YaHei"/>
              </a:rPr>
              <a:t>AI 入门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768096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500" b="1">
                <a:solidFill>
                  <a:srgbClr val="FCFAF5"/>
                </a:solidFill>
                <a:latin typeface="Microsoft YaHei"/>
                <a:cs typeface="Microsoft YaHei"/>
                <a:ea typeface="Microsoft YaHei"/>
              </a:rPr>
              <a:t>什么是
AI Agent？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61772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9D2DD"/>
                </a:solidFill>
                <a:latin typeface="Microsoft YaHei"/>
                <a:cs typeface="Microsoft YaHei"/>
                <a:ea typeface="Microsoft YaHei"/>
              </a:rPr>
              <a:t>一个能理解目标、使用工具、把任务做完的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593A3"/>
                </a:solidFill>
                <a:latin typeface="Microsoft YaHei"/>
                <a:cs typeface="Microsoft YaHei"/>
                <a:ea typeface="Microsoft YaHei"/>
              </a:rPr>
              <a:t>面向零基础大一学生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52331"/>
                </a:solidFill>
                <a:latin typeface="Microsoft YaHei"/>
                <a:cs typeface="Microsoft YaHei"/>
                <a:ea typeface="Microsoft YaHei"/>
              </a:rPr>
              <a:t>什么是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83080"/>
            <a:ext cx="55778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52331"/>
                </a:solidFill>
                <a:latin typeface="Microsoft YaHei"/>
                <a:cs typeface="Microsoft YaHei"/>
                <a:ea typeface="Microsoft YaHei"/>
              </a:rPr>
              <a:t>一种能围绕目标工作的 AI 系统。
它会读取信息、制定步骤，并调用工具完成任务。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224528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94731"/>
                </a:solidFill>
                <a:latin typeface="Microsoft YaHei"/>
                <a:cs typeface="Microsoft YaHei"/>
                <a:ea typeface="Microsoft YaHei"/>
              </a:rPr>
              <a:t>可以把它想成一位会自己动手的助理。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146304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F7B88"/>
                </a:solidFill>
                <a:latin typeface="Microsoft YaHei"/>
                <a:cs typeface="Microsoft YaHei"/>
                <a:ea typeface="Microsoft YaHei"/>
              </a:rPr>
              <a:t>一个具体例子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2194560"/>
            <a:ext cx="4343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2331"/>
                </a:solidFill>
                <a:latin typeface="Microsoft YaHei"/>
                <a:cs typeface="Microsoft YaHei"/>
                <a:ea typeface="Microsoft YaHei"/>
              </a:rPr>
              <a:t>帮我订周五
去上海的高铁票。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3950208"/>
            <a:ext cx="4343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D4854"/>
                </a:solidFill>
                <a:latin typeface="Microsoft YaHei"/>
                <a:cs typeface="Microsoft YaHei"/>
                <a:ea typeface="Microsoft YaHei"/>
              </a:rPr>
              <a:t>它会查车次、比较时间、提交订单。没票时，还会换一个可行方案。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177"/>
                </a:solidFill>
                <a:latin typeface="Microsoft YaHei"/>
                <a:cs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52331"/>
                </a:solidFill>
                <a:latin typeface="Microsoft YaHei"/>
                <a:cs typeface="Microsoft YaHei"/>
                <a:ea typeface="Microsoft YaHei"/>
              </a:rPr>
              <a:t>AI Agent 与普通聊天机器人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1732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F7B88"/>
                </a:solidFill>
                <a:latin typeface="Microsoft YaHei"/>
                <a:cs typeface="Microsoft YaHei"/>
                <a:ea typeface="Microsoft YaHei"/>
              </a:rPr>
              <a:t>两者都能对话，但做事方式不同。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029968"/>
          <a:ext cx="10561320" cy="3063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8760"/>
                <a:gridCol w="4251960"/>
                <a:gridCol w="4800600"/>
              </a:tblGrid>
              <a:tr h="594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152331"/>
                          </a:solidFill>
                          <a:latin typeface="Microsoft YaHei"/>
                          <a:cs typeface="Microsoft YaHei"/>
                          <a:ea typeface="Microsoft YaHei"/>
                        </a:rPr>
                        <a:t/>
                      </a:r>
                    </a:p>
                  </a:txBody>
                  <a:tcPr marL="73152" marR="73152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F26A4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152331"/>
                          </a:solidFill>
                          <a:latin typeface="Microsoft YaHei"/>
                          <a:cs typeface="Microsoft YaHei"/>
                          <a:ea typeface="Microsoft YaHei"/>
                        </a:rPr>
                        <a:t>普通聊天机器人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F26A4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B94731"/>
                          </a:solidFill>
                          <a:latin typeface="Microsoft YaHei"/>
                          <a:cs typeface="Microsoft YaHei"/>
                          <a:ea typeface="Microsoft YaHei"/>
                        </a:rPr>
                        <a:t>AI Agent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F26A4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6F7B88"/>
                          </a:solidFill>
                          <a:latin typeface="Microsoft YaHei"/>
                          <a:cs typeface="Microsoft YaHei"/>
                          <a:ea typeface="Microsoft YaHei"/>
                        </a:rPr>
                        <a:t>主要任务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8D2C7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3D4854"/>
                          </a:solidFill>
                          <a:latin typeface="Microsoft YaHei"/>
                          <a:cs typeface="Microsoft YaHei"/>
                          <a:ea typeface="Microsoft YaHei"/>
                        </a:rPr>
                        <a:t>回答一个问题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8D2C7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3D4854"/>
                          </a:solidFill>
                          <a:latin typeface="Microsoft YaHei"/>
                          <a:cs typeface="Microsoft YaHei"/>
                          <a:ea typeface="Microsoft YaHei"/>
                        </a:rPr>
                        <a:t>完成一个目标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8D2C7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6F7B88"/>
                          </a:solidFill>
                          <a:latin typeface="Microsoft YaHei"/>
                          <a:cs typeface="Microsoft YaHei"/>
                          <a:ea typeface="Microsoft YaHei"/>
                        </a:rPr>
                        <a:t>工作方式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8D2C7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3D4854"/>
                          </a:solidFill>
                          <a:latin typeface="Microsoft YaHei"/>
                          <a:cs typeface="Microsoft YaHei"/>
                          <a:ea typeface="Microsoft YaHei"/>
                        </a:rPr>
                        <a:t>根据当前提问直接回复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8D2C7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3D4854"/>
                          </a:solidFill>
                          <a:latin typeface="Microsoft YaHei"/>
                          <a:cs typeface="Microsoft YaHei"/>
                          <a:ea typeface="Microsoft YaHei"/>
                        </a:rPr>
                        <a:t>规划步骤并采取行动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8D2C7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6F7B88"/>
                          </a:solidFill>
                          <a:latin typeface="Microsoft YaHei"/>
                          <a:cs typeface="Microsoft YaHei"/>
                          <a:ea typeface="Microsoft YaHei"/>
                        </a:rPr>
                        <a:t>工具能力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8D2C7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3D4854"/>
                          </a:solidFill>
                          <a:latin typeface="Microsoft YaHei"/>
                          <a:cs typeface="Microsoft YaHei"/>
                          <a:ea typeface="Microsoft YaHei"/>
                        </a:rPr>
                        <a:t>通常不直接操作外部工具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8D2C7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3D4854"/>
                          </a:solidFill>
                          <a:latin typeface="Microsoft YaHei"/>
                          <a:cs typeface="Microsoft YaHei"/>
                          <a:ea typeface="Microsoft YaHei"/>
                        </a:rPr>
                        <a:t>可以搜索、计算、读写文件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8D2C7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5513832"/>
            <a:ext cx="10469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854"/>
                </a:solidFill>
                <a:latin typeface="Microsoft YaHei"/>
                <a:cs typeface="Microsoft YaHei"/>
                <a:ea typeface="Microsoft YaHei"/>
              </a:rPr>
              <a:t>你问“怎么订票”，聊天机器人给出步骤。你说“帮我订票”，Agent 会去查并下单。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177"/>
                </a:solidFill>
                <a:latin typeface="Microsoft YaHei"/>
                <a:cs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52331"/>
                </a:solidFill>
                <a:latin typeface="Microsoft YaHei"/>
                <a:cs typeface="Microsoft YaHei"/>
                <a:ea typeface="Microsoft YaHei"/>
              </a:rPr>
              <a:t>AI Agent 如何使用工具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8988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94731"/>
                </a:solidFill>
                <a:latin typeface="Microsoft YaHei"/>
                <a:cs typeface="Microsoft YaHei"/>
                <a:ea typeface="Microsoft YaHei"/>
              </a:rPr>
              <a:t>工具让 Agent 能获取信息，也能真正动手。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04288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E9CFC6"/>
                </a:solidFill>
                <a:latin typeface="Microsoft YaHei"/>
                <a:cs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12724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52331"/>
                </a:solidFill>
                <a:latin typeface="Microsoft YaHei"/>
                <a:cs typeface="Microsoft YaHei"/>
                <a:ea typeface="Microsoft YaHei"/>
              </a:rPr>
              <a:t>理解目标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70332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854"/>
                </a:solidFill>
                <a:latin typeface="Microsoft YaHei"/>
                <a:cs typeface="Microsoft YaHei"/>
                <a:ea typeface="Microsoft YaHei"/>
              </a:rPr>
              <a:t>明确要做什么，
以及有哪些限制。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304288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E9CFC6"/>
                </a:solidFill>
                <a:latin typeface="Microsoft YaHei"/>
                <a:cs typeface="Microsoft YaHei"/>
                <a:ea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312724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52331"/>
                </a:solidFill>
                <a:latin typeface="Microsoft YaHei"/>
                <a:cs typeface="Microsoft YaHei"/>
                <a:ea typeface="Microsoft YaHei"/>
              </a:rPr>
              <a:t>调用工具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370332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854"/>
                </a:solidFill>
                <a:latin typeface="Microsoft YaHei"/>
                <a:cs typeface="Microsoft YaHei"/>
                <a:ea typeface="Microsoft YaHei"/>
              </a:rPr>
              <a:t>搜索资料、计算数据、
读取文件或创建日程。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2304288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E9CFC6"/>
                </a:solidFill>
                <a:latin typeface="Microsoft YaHei"/>
                <a:cs typeface="Microsoft YaHei"/>
                <a:ea typeface="Microsoft YaHe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2" y="312724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52331"/>
                </a:solidFill>
                <a:latin typeface="Microsoft YaHei"/>
                <a:cs typeface="Microsoft YaHei"/>
                <a:ea typeface="Microsoft YaHei"/>
              </a:rPr>
              <a:t>检查并交付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370332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854"/>
                </a:solidFill>
                <a:latin typeface="Microsoft YaHei"/>
                <a:cs typeface="Microsoft YaHei"/>
                <a:ea typeface="Microsoft YaHei"/>
              </a:rPr>
              <a:t>核对结果，再保存文件
或向你汇报。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193792"/>
            <a:ext cx="10378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2331"/>
                </a:solidFill>
                <a:latin typeface="Microsoft YaHei"/>
                <a:cs typeface="Microsoft YaHei"/>
                <a:ea typeface="Microsoft YaHei"/>
              </a:rPr>
              <a:t>例子：让 Agent 找出这周适合自习的时段，并写进日历。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687568"/>
            <a:ext cx="10378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F7B88"/>
                </a:solidFill>
                <a:latin typeface="Microsoft YaHei"/>
                <a:cs typeface="Microsoft YaHei"/>
                <a:ea typeface="Microsoft YaHei"/>
              </a:rPr>
              <a:t>它会查看课表、比较空闲时间、创建日程，最后告诉你安排。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177"/>
                </a:solidFill>
                <a:latin typeface="Microsoft YaHei"/>
                <a:cs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CFAF5"/>
                </a:solidFill>
                <a:latin typeface="Microsoft YaHei"/>
                <a:cs typeface="Microsoft YaHei"/>
                <a:ea typeface="Microsoft YaHei"/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81328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9D2DD"/>
                </a:solidFill>
                <a:latin typeface="Microsoft YaHei"/>
                <a:cs typeface="Microsoft YaHei"/>
                <a:ea typeface="Microsoft YaHei"/>
              </a:rPr>
              <a:t>判断一个 AI 是不是 Agent，重点看它能不能自己推进任务。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50592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26A4F"/>
                </a:solidFill>
                <a:latin typeface="Microsoft YaHei"/>
                <a:cs typeface="Microsoft YaHei"/>
                <a:ea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4612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9E0E8"/>
                </a:solidFill>
                <a:latin typeface="Microsoft YaHei"/>
                <a:cs typeface="Microsoft YaHei"/>
                <a:ea typeface="Microsoft YaHei"/>
              </a:rPr>
              <a:t>围绕任务工作，
不只是回答一句。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9392" y="2450592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26A4F"/>
                </a:solidFill>
                <a:latin typeface="Microsoft YaHei"/>
                <a:cs typeface="Microsoft YaHei"/>
                <a:ea typeface="Microsoft YaHei"/>
              </a:rPr>
              <a:t>行动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9392" y="324612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9E0E8"/>
                </a:solidFill>
                <a:latin typeface="Microsoft YaHei"/>
                <a:cs typeface="Microsoft YaHei"/>
                <a:ea typeface="Microsoft YaHei"/>
              </a:rPr>
              <a:t>会规划步骤，
也会根据结果调整。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7536" y="2450592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26A4F"/>
                </a:solidFill>
                <a:latin typeface="Microsoft YaHei"/>
                <a:cs typeface="Microsoft YaHei"/>
                <a:ea typeface="Microsoft YaHei"/>
              </a:rPr>
              <a:t>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7536" y="324612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D9E0E8"/>
                </a:solidFill>
                <a:latin typeface="Microsoft YaHei"/>
                <a:cs typeface="Microsoft YaHei"/>
                <a:ea typeface="Microsoft YaHei"/>
              </a:rPr>
              <a:t>能获取信息、操作软件，
交付实际成果。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257800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CFAF5"/>
                </a:solidFill>
                <a:latin typeface="Microsoft YaHei"/>
                <a:cs typeface="Microsoft YaHei"/>
                <a:ea typeface="Microsoft YaHei"/>
              </a:rPr>
              <a:t>能围绕目标持续行动，并把结果交付给你，才算是真正的 AI Agent。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8997"/>
                </a:solidFill>
                <a:latin typeface="Microsoft YaHei"/>
                <a:cs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什么是 AI Agent？</dc:title>
  <dc:subject>面向零基础大一学生的 AI Agent 入门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