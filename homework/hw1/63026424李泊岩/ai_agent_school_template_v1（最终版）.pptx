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28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94"/>
  </p:notesMasterIdLst>
  <p:sldIdLst>
    <p:sldId id="672" r:id="rId3"/>
    <p:sldId id="690" r:id="rId30"/>
    <p:sldId id="590" r:id="rId47"/>
    <p:sldId id="548" r:id="rId19"/>
    <p:sldId id="653" r:id="rId38"/>
  </p:sldIdLst>
  <p:sldSz cx="12192000" cy="6858000"/>
  <p:notesSz cx="6858000" cy="9144000"/>
  <p:custDataLst>
    <p:tags r:id="rId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672"/>
            <p14:sldId id="696"/>
            <p14:sldId id="699"/>
            <p14:sldId id="673"/>
            <p14:sldId id="697"/>
            <p14:sldId id="682"/>
            <p14:sldId id="684"/>
            <p14:sldId id="559"/>
            <p14:sldId id="592"/>
            <p14:sldId id="544"/>
            <p14:sldId id="706"/>
            <p14:sldId id="674"/>
            <p14:sldId id="676"/>
            <p14:sldId id="560"/>
            <p14:sldId id="651"/>
            <p14:sldId id="547"/>
            <p14:sldId id="548"/>
            <p14:sldId id="549"/>
            <p14:sldId id="550"/>
            <p14:sldId id="692"/>
            <p14:sldId id="695"/>
            <p14:sldId id="571"/>
            <p14:sldId id="567"/>
            <p14:sldId id="569"/>
            <p14:sldId id="563"/>
            <p14:sldId id="564"/>
            <p14:sldId id="561"/>
            <p14:sldId id="690"/>
            <p14:sldId id="691"/>
            <p14:sldId id="562"/>
            <p14:sldId id="700"/>
            <p14:sldId id="573"/>
            <p14:sldId id="575"/>
            <p14:sldId id="576"/>
            <p14:sldId id="574"/>
            <p14:sldId id="653"/>
            <p14:sldId id="580"/>
            <p14:sldId id="581"/>
            <p14:sldId id="582"/>
            <p14:sldId id="587"/>
            <p14:sldId id="584"/>
            <p14:sldId id="585"/>
            <p14:sldId id="588"/>
            <p14:sldId id="586"/>
            <p14:sldId id="590"/>
            <p14:sldId id="675"/>
            <p14:sldId id="654"/>
            <p14:sldId id="656"/>
            <p14:sldId id="698"/>
          </p14:sldIdLst>
        </p14:section>
        <p14:section name="附录-素材" id="{3050140B-5B37-47BE-8423-F6A0577ED44C}">
          <p14:sldIdLst>
            <p14:sldId id="645"/>
            <p14:sldId id="262"/>
            <p14:sldId id="597"/>
            <p14:sldId id="598"/>
            <p14:sldId id="646"/>
            <p14:sldId id="705"/>
            <p14:sldId id="669"/>
            <p14:sldId id="671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</p14:sldIdLst>
        </p14:section>
        <p14:section name="使用规范" id="{47918508-6F2A-4DC8-ACB3-0B9712E4E205}">
          <p14:sldIdLst>
            <p14:sldId id="612"/>
            <p14:sldId id="611"/>
            <p14:sldId id="505"/>
            <p14:sldId id="613"/>
            <p14:sldId id="506"/>
            <p14:sldId id="614"/>
            <p14:sldId id="615"/>
            <p14:sldId id="616"/>
            <p14:sldId id="679"/>
            <p14:sldId id="678"/>
            <p14:sldId id="619"/>
            <p14:sldId id="620"/>
            <p14:sldId id="622"/>
            <p14:sldId id="677"/>
            <p14:sldId id="623"/>
            <p14:sldId id="624"/>
            <p14:sldId id="640"/>
            <p14:sldId id="627"/>
            <p14:sldId id="629"/>
            <p14:sldId id="633"/>
            <p14:sldId id="631"/>
            <p14:sldId id="636"/>
            <p14:sldId id="637"/>
            <p14:sldId id="643"/>
            <p14:sldId id="644"/>
            <p14:sldId id="7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9" Type="http://schemas.openxmlformats.org/officeDocument/2006/relationships/slide" Target="slides/slide17.xml"/><Relationship Id="rId30" Type="http://schemas.openxmlformats.org/officeDocument/2006/relationships/slide" Target="slides/slide28.xml"/><Relationship Id="rId38" Type="http://schemas.openxmlformats.org/officeDocument/2006/relationships/slide" Target="slides/slide36.xml"/><Relationship Id="rId47" Type="http://schemas.openxmlformats.org/officeDocument/2006/relationships/slide" Target="slides/slide45.xml"/><Relationship Id="rId94" Type="http://schemas.openxmlformats.org/officeDocument/2006/relationships/notesMaster" Target="notesMasters/notesMaster1.xml"/><Relationship Id="rId95" Type="http://schemas.openxmlformats.org/officeDocument/2006/relationships/tags" Target="tags/tag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z="4000">
                <a:ea typeface="+mn-ea"/>
                <a:cs typeface="+mn-ea"/>
              </a:rPr>
              <a:t>什么是 AI Agent？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z="2800">
                <a:ea typeface="+mn-ea"/>
                <a:cs typeface="+mn-ea"/>
              </a:rPr>
              <a:t>人工智能通识导论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>
                <a:cs typeface="+mn-ea"/>
              </a:rPr>
              <a:t>What Is An AI Agent?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2958" y="4379642"/>
            <a:ext cx="2506802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主讲：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XXX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9835" y="4379642"/>
            <a:ext cx="2280347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对象：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大一学生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7504" y="4899847"/>
            <a:ext cx="368097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主题：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AI Agent 入门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AI Agent 使用工具</a:t>
            </a:r>
            <a:endParaRPr lang="en-US" altLang="zh-CN" dirty="0">
              <a:ea typeface="+mn-ea"/>
              <a:cs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工具使用流程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从理解任务到交付结果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904690" y="476092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理解任务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904690" y="521625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z="1600">
                <a:ea typeface="+mn-ea"/>
                <a:cs typeface="+mn-ea"/>
              </a:rPr>
              <a:t>明确目标与限制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932370" y="476092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调用工具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32370" y="521625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z="1600">
                <a:ea typeface="+mn-ea"/>
                <a:cs typeface="+mn-ea"/>
              </a:rPr>
              <a:t>搜索、计算、读写文件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60051" y="4760921"/>
            <a:ext cx="2327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检查交付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960051" y="5216251"/>
            <a:ext cx="2327260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z="1600">
                <a:ea typeface="+mn-ea"/>
                <a:cs typeface="+mn-ea"/>
              </a:rPr>
              <a:t>核对结果，再交付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64280" y="3127472"/>
            <a:ext cx="10858500" cy="1318308"/>
            <a:chOff x="664280" y="3127472"/>
            <a:chExt cx="10858500" cy="1318308"/>
          </a:xfrm>
        </p:grpSpPr>
        <p:sp>
          <p:nvSpPr>
            <p:cNvPr id="17" name="left-arrowhead_45248"/>
            <p:cNvSpPr>
              <a:spLocks noChangeAspect="1"/>
            </p:cNvSpPr>
            <p:nvPr/>
          </p:nvSpPr>
          <p:spPr bwMode="auto">
            <a:xfrm flipH="1">
              <a:off x="2574906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8" name="left-arrowhead_45248"/>
            <p:cNvSpPr>
              <a:spLocks noChangeAspect="1"/>
            </p:cNvSpPr>
            <p:nvPr/>
          </p:nvSpPr>
          <p:spPr bwMode="auto">
            <a:xfrm flipH="1">
              <a:off x="4088746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9" name="left-arrowhead_45248"/>
            <p:cNvSpPr>
              <a:spLocks noChangeAspect="1"/>
            </p:cNvSpPr>
            <p:nvPr/>
          </p:nvSpPr>
          <p:spPr bwMode="auto">
            <a:xfrm flipH="1">
              <a:off x="5602586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left-arrowhead_45248"/>
            <p:cNvSpPr>
              <a:spLocks noChangeAspect="1"/>
            </p:cNvSpPr>
            <p:nvPr/>
          </p:nvSpPr>
          <p:spPr bwMode="auto">
            <a:xfrm flipH="1">
              <a:off x="7116426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left-arrowhead_45248"/>
            <p:cNvSpPr>
              <a:spLocks noChangeAspect="1"/>
            </p:cNvSpPr>
            <p:nvPr/>
          </p:nvSpPr>
          <p:spPr bwMode="auto">
            <a:xfrm flipH="1">
              <a:off x="8630267" y="3127472"/>
              <a:ext cx="986828" cy="1318308"/>
            </a:xfrm>
            <a:custGeom>
              <a:avLst/>
              <a:gdLst>
                <a:gd name="T0" fmla="*/ 6162 w 6211"/>
                <a:gd name="T1" fmla="*/ 180 h 7419"/>
                <a:gd name="T2" fmla="*/ 6050 w 6211"/>
                <a:gd name="T3" fmla="*/ 0 h 7419"/>
                <a:gd name="T4" fmla="*/ 3307 w 6211"/>
                <a:gd name="T5" fmla="*/ 0 h 7419"/>
                <a:gd name="T6" fmla="*/ 2553 w 6211"/>
                <a:gd name="T7" fmla="*/ 697 h 7419"/>
                <a:gd name="T8" fmla="*/ 49 w 6211"/>
                <a:gd name="T9" fmla="*/ 3496 h 7419"/>
                <a:gd name="T10" fmla="*/ 49 w 6211"/>
                <a:gd name="T11" fmla="*/ 3856 h 7419"/>
                <a:gd name="T12" fmla="*/ 3015 w 6211"/>
                <a:gd name="T13" fmla="*/ 7239 h 7419"/>
                <a:gd name="T14" fmla="*/ 3307 w 6211"/>
                <a:gd name="T15" fmla="*/ 7419 h 7419"/>
                <a:gd name="T16" fmla="*/ 6050 w 6211"/>
                <a:gd name="T17" fmla="*/ 7419 h 7419"/>
                <a:gd name="T18" fmla="*/ 6162 w 6211"/>
                <a:gd name="T19" fmla="*/ 7239 h 7419"/>
                <a:gd name="T20" fmla="*/ 3196 w 6211"/>
                <a:gd name="T21" fmla="*/ 3856 h 7419"/>
                <a:gd name="T22" fmla="*/ 3196 w 6211"/>
                <a:gd name="T23" fmla="*/ 3496 h 7419"/>
                <a:gd name="T24" fmla="*/ 6162 w 6211"/>
                <a:gd name="T25" fmla="*/ 180 h 7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11" h="7419">
                  <a:moveTo>
                    <a:pt x="6162" y="180"/>
                  </a:moveTo>
                  <a:cubicBezTo>
                    <a:pt x="6211" y="81"/>
                    <a:pt x="6161" y="0"/>
                    <a:pt x="6050" y="0"/>
                  </a:cubicBezTo>
                  <a:lnTo>
                    <a:pt x="3307" y="0"/>
                  </a:lnTo>
                  <a:cubicBezTo>
                    <a:pt x="3053" y="0"/>
                    <a:pt x="2719" y="512"/>
                    <a:pt x="2553" y="697"/>
                  </a:cubicBezTo>
                  <a:cubicBezTo>
                    <a:pt x="2262" y="1023"/>
                    <a:pt x="65" y="3464"/>
                    <a:pt x="49" y="3496"/>
                  </a:cubicBezTo>
                  <a:cubicBezTo>
                    <a:pt x="0" y="3595"/>
                    <a:pt x="0" y="3757"/>
                    <a:pt x="49" y="3856"/>
                  </a:cubicBezTo>
                  <a:lnTo>
                    <a:pt x="3015" y="7239"/>
                  </a:lnTo>
                  <a:cubicBezTo>
                    <a:pt x="3065" y="7338"/>
                    <a:pt x="3196" y="7419"/>
                    <a:pt x="3307" y="7419"/>
                  </a:cubicBezTo>
                  <a:lnTo>
                    <a:pt x="6050" y="7419"/>
                  </a:lnTo>
                  <a:cubicBezTo>
                    <a:pt x="6161" y="7419"/>
                    <a:pt x="6211" y="7338"/>
                    <a:pt x="6162" y="7239"/>
                  </a:cubicBezTo>
                  <a:lnTo>
                    <a:pt x="3196" y="3856"/>
                  </a:lnTo>
                  <a:cubicBezTo>
                    <a:pt x="3146" y="3757"/>
                    <a:pt x="3146" y="3595"/>
                    <a:pt x="3196" y="3496"/>
                  </a:cubicBezTo>
                  <a:lnTo>
                    <a:pt x="6162" y="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ea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664280" y="4116596"/>
              <a:ext cx="10858500" cy="310896"/>
              <a:chOff x="664280" y="4116596"/>
              <a:chExt cx="10858500" cy="310896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664280" y="4427492"/>
                <a:ext cx="10858500" cy="0"/>
              </a:xfrm>
              <a:prstGeom prst="line">
                <a:avLst/>
              </a:prstGeom>
              <a:ln w="57150" cap="flat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664280" y="4323860"/>
                <a:ext cx="10858500" cy="0"/>
              </a:xfrm>
              <a:prstGeom prst="line">
                <a:avLst/>
              </a:prstGeom>
              <a:ln w="57150" cap="flat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664280" y="4220228"/>
                <a:ext cx="10858500" cy="0"/>
              </a:xfrm>
              <a:prstGeom prst="line">
                <a:avLst/>
              </a:prstGeom>
              <a:ln w="57150" cap="flat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664280" y="4116596"/>
                <a:ext cx="10858500" cy="0"/>
              </a:xfrm>
              <a:prstGeom prst="line">
                <a:avLst/>
              </a:prstGeom>
              <a:ln w="57150" cap="flat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 descr="图片包含 树, 户外, 植物, 地面&#10;&#10;自动生成的说明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2" r="17072"/>
          <a:stretch>
            <a:fillRect/>
          </a:stretch>
        </p:blipFill>
        <p:spPr/>
      </p:pic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AI Agent 入门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什么是 AI Agent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围绕目标工作，不只回答一句。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zh-CN" altLang="en-US" dirty="0"/>
              <a:t>读取信息，决定下一步。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必要时调用工具，并继续调整。</a:t>
            </a:r>
          </a:p>
        </p:txBody>
      </p:sp>
      <p:sp>
        <p:nvSpPr>
          <p:cNvPr id="12" name="矩形 11"/>
          <p:cNvSpPr/>
          <p:nvPr/>
        </p:nvSpPr>
        <p:spPr>
          <a:xfrm>
            <a:off x="7031469" y="2934221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1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31469" y="3992195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31469" y="5050169"/>
            <a:ext cx="238327" cy="23832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0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3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zh-CN" altLang="en-US" dirty="0">
                <a:ea typeface="+mn-ea"/>
                <a:cs typeface="+mn-ea"/>
              </a:rPr>
              <a:t>总结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>
                    <a:lumMod val="75000"/>
                  </a:prstClr>
                </a:solidFill>
                <a:cs typeface="+mn-ea"/>
              </a:rPr>
              <a:t>围绕目标，持续行动</a:t>
            </a:r>
            <a:endParaRPr lang="en-US" altLang="zh-CN" sz="1000" dirty="0">
              <a:solidFill>
                <a:prstClr val="white">
                  <a:lumMod val="75000"/>
                </a:prstClr>
              </a:solidFill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24588" t="13433" r="24588" b="26261"/>
          <a:stretch>
            <a:fillRect/>
          </a:stretch>
        </p:blipFill>
        <p:spPr>
          <a:xfrm>
            <a:off x="1110876" y="1342785"/>
            <a:ext cx="2977628" cy="3209636"/>
          </a:xfrm>
          <a:custGeom>
            <a:avLst/>
            <a:gdLst>
              <a:gd name="connsiteX0" fmla="*/ 0 w 2977628"/>
              <a:gd name="connsiteY0" fmla="*/ 0 h 3209636"/>
              <a:gd name="connsiteX1" fmla="*/ 2977628 w 2977628"/>
              <a:gd name="connsiteY1" fmla="*/ 0 h 3209636"/>
              <a:gd name="connsiteX2" fmla="*/ 2977628 w 2977628"/>
              <a:gd name="connsiteY2" fmla="*/ 3209636 h 3209636"/>
              <a:gd name="connsiteX3" fmla="*/ 0 w 2977628"/>
              <a:gd name="connsiteY3" fmla="*/ 3209636 h 320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7628" h="3209636">
                <a:moveTo>
                  <a:pt x="0" y="0"/>
                </a:moveTo>
                <a:lnTo>
                  <a:pt x="2977628" y="0"/>
                </a:lnTo>
                <a:lnTo>
                  <a:pt x="2977628" y="3209636"/>
                </a:lnTo>
                <a:lnTo>
                  <a:pt x="0" y="320963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633620" y="1992915"/>
            <a:ext cx="2924761" cy="178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AI Agent 对比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3611880" y="1115568"/>
            <a:ext cx="4965192" cy="585216"/>
          </a:xfrm>
        </p:spPr>
        <p:txBody>
          <a:bodyPr/>
          <a:lstStyle/>
          <a:p>
            <a:r>
              <a:rPr lang="zh-CN" altLang="en-US" dirty="0"/>
              <a:t>AI Agent 与聊天机器人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两者都会对话，工作方式不同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73100" y="2766350"/>
          <a:ext cx="10844783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6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比较维度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普通聊天机器人</a:t>
                      </a:r>
                      <a:endParaRPr lang="zh-CN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/>
                        <a:t>AI Agent</a:t>
                      </a:r>
                      <a:endParaRPr lang="zh-CN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主要任务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/>
                        <a:t>回答一个问题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完成一个目标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工作方式</a:t>
                      </a:r>
                      <a:endParaRPr lang="zh-CN" altLang="en-US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根据提问直接回复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/>
                        <a:t>规划步骤并采取行动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工具能力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通常不直接操作工具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dirty="0"/>
                        <a:t>可以搜索、计算、读写文件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7266</Words>
  <Application>Microsoft Office PowerPoint</Application>
  <PresentationFormat>宽屏</PresentationFormat>
  <Paragraphs>1267</Paragraphs>
  <Slides>91</Slides>
  <Notes>78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93" baseType="lpstr"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什么是 AI Agent？</dc:title>
  <dc:creator>Codex</dc:creator>
  <cp:lastModifiedBy>冠镔 丁</cp:lastModifiedBy>
  <cp:revision>31</cp:revision>
  <dcterms:created xsi:type="dcterms:W3CDTF">2019-03-11T14:11:00Z</dcterms:created>
  <dcterms:modified xsi:type="dcterms:W3CDTF">2023-10-08T08:50:29Z</dcterms:modified>
  <dc:subject>东南大学课堂演示模板改编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2052-11.1.0.10132</vt:lpwstr>
  </property>
</Properties>
</file>