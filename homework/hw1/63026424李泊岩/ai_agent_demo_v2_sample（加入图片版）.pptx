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封面图片来自用户提供的图片压缩包。开场可以问同学是否用过聊天机器人，再引出今天的问题：AI 怎样从回答问题走向完成任务。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可以把 Agent 理解为围绕目标工作的 AI 系统：读取信息、决定下一步、调用工具，并根据结果调整。图片来自用户提供的压缩包。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普通聊天机器人主要生成回复，Agent 更强调围绕目标推进任务。工具能力取决于系统是否接入工具，以及拥有哪些权限。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工具是 Agent 与外部世界交互的方式。它先理解任务，再选择工具，最后检查结果。图片来自用户提供的压缩包。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总结时带同学复述三个关键词：目标、行动、工具。最后的问题可以留给课堂讨论。Agent 的能力边界由模型、可使用的工具和权限共同决定。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E767D"/>
                </a:solidFill>
                <a:latin typeface="Noto Sans SC"/>
                <a:cs typeface="Noto Sans SC"/>
                <a:ea typeface="Noto Sans SC"/>
              </a:rPr>
              <a:t>人工智能通识导论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874519"/>
            <a:ext cx="594360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C252C"/>
                </a:solidFill>
                <a:latin typeface="Noto Serif SC"/>
                <a:cs typeface="Noto Serif SC"/>
                <a:ea typeface="Noto Serif SC"/>
              </a:rPr>
              <a:t>什么是
AI Agent？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16052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F474F"/>
                </a:solidFill>
                <a:latin typeface="Noto Sans SC"/>
                <a:cs typeface="Noto Sans SC"/>
                <a:ea typeface="Noto Sans SC"/>
              </a:rPr>
              <a:t>能理解目标、使用工具并完成任务的 AI 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126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767D"/>
                </a:solidFill>
                <a:latin typeface="Noto Sans SC"/>
                <a:cs typeface="Noto Sans SC"/>
                <a:ea typeface="Noto Sans SC"/>
              </a:rPr>
              <a:t>面向零基础大一学生</a:t>
            </a:r>
          </a:p>
        </p:txBody>
      </p:sp>
      <p:pic>
        <p:nvPicPr>
          <p:cNvPr id="6" name="人工智能系统示意图" descr="人工智能系统示意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993392"/>
            <a:ext cx="4251960" cy="23740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86600" y="4507992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67D"/>
                </a:solidFill>
                <a:latin typeface="Noto Sans SC"/>
                <a:cs typeface="Noto Sans SC"/>
                <a:ea typeface="Noto Sans SC"/>
              </a:rPr>
              <a:t>AI 系统示意图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C252C"/>
                </a:solidFill>
                <a:latin typeface="Noto Serif SC"/>
                <a:cs typeface="Noto Serif SC"/>
                <a:ea typeface="Noto Serif SC"/>
              </a:rPr>
              <a:t>什么是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17320"/>
            <a:ext cx="5989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A43B2B"/>
                </a:solidFill>
                <a:latin typeface="Noto Serif SC"/>
                <a:cs typeface="Noto Serif SC"/>
                <a:ea typeface="Noto Serif SC"/>
              </a:rPr>
              <a:t>围绕目标工作的 AI 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331720"/>
            <a:ext cx="5897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F474F"/>
                </a:solidFill>
                <a:latin typeface="Noto Sans SC"/>
                <a:cs typeface="Noto Sans SC"/>
                <a:ea typeface="Noto Sans SC"/>
              </a:rPr>
              <a:t>它会读取任务信息，决定下一步，
并在需要时调用工具。
任务没有一次完成时，它还会继续调整。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919472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C252C"/>
                </a:solidFill>
                <a:latin typeface="Noto Sans SC"/>
                <a:cs typeface="Noto Sans SC"/>
                <a:ea typeface="Noto Sans SC"/>
              </a:rPr>
              <a:t>可以把它想成一位会自己动手的助理。</a:t>
            </a:r>
          </a:p>
        </p:txBody>
      </p:sp>
      <p:pic>
        <p:nvPicPr>
          <p:cNvPr id="6" name="机器人站在 AI 芯片上的示意图" descr="机器人站在 AI 芯片上的示意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3886200" cy="18696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3803904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67D"/>
                </a:solidFill>
                <a:latin typeface="Noto Sans SC"/>
                <a:cs typeface="Noto Sans SC"/>
                <a:ea typeface="Noto Sans SC"/>
              </a:rPr>
              <a:t>AI 系统示意图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178"/>
                </a:solidFill>
                <a:latin typeface="Noto Sans SC"/>
                <a:cs typeface="Noto Sans SC"/>
                <a:ea typeface="Noto Sans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C252C"/>
                </a:solidFill>
                <a:latin typeface="Noto Serif SC"/>
                <a:cs typeface="Noto Serif SC"/>
                <a:ea typeface="Noto Serif SC"/>
              </a:rPr>
              <a:t>AI Agent 与普通聊天机器人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9047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67D"/>
                </a:solidFill>
                <a:latin typeface="Noto Sans SC"/>
                <a:cs typeface="Noto Sans SC"/>
                <a:ea typeface="Noto Sans SC"/>
              </a:rPr>
              <a:t>两者都会对话，工作方式不同。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6771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F474F"/>
                </a:solidFill>
                <a:latin typeface="Noto Serif SC"/>
                <a:cs typeface="Noto Serif SC"/>
                <a:ea typeface="Noto Serif SC"/>
              </a:rPr>
              <a:t>普通聊天机器人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226771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A43B2B"/>
                </a:solidFill>
                <a:latin typeface="Noto Serif SC"/>
                <a:cs typeface="Noto Serif SC"/>
                <a:ea typeface="Noto Serif SC"/>
              </a:rPr>
              <a:t>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06324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3F474F"/>
                </a:solidFill>
                <a:latin typeface="Noto Sans SC"/>
                <a:cs typeface="Noto Sans SC"/>
                <a:ea typeface="Noto Sans SC"/>
              </a:rPr>
              <a:t>回答当前问题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767328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3F474F"/>
                </a:solidFill>
                <a:latin typeface="Noto Sans SC"/>
                <a:cs typeface="Noto Sans SC"/>
                <a:ea typeface="Noto Sans SC"/>
              </a:rPr>
              <a:t>通常停在建议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471416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3F474F"/>
                </a:solidFill>
                <a:latin typeface="Noto Sans SC"/>
                <a:cs typeface="Noto Sans SC"/>
                <a:ea typeface="Noto Sans SC"/>
              </a:rPr>
              <a:t>很少直接操作工具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306324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3F474F"/>
                </a:solidFill>
                <a:latin typeface="Noto Sans SC"/>
                <a:cs typeface="Noto Sans SC"/>
                <a:ea typeface="Noto Sans SC"/>
              </a:rPr>
              <a:t>围绕目标推进任务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767328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3F474F"/>
                </a:solidFill>
                <a:latin typeface="Noto Sans SC"/>
                <a:cs typeface="Noto Sans SC"/>
                <a:ea typeface="Noto Sans SC"/>
              </a:rPr>
              <a:t>会规划，也会调整步骤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471416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3F474F"/>
                </a:solidFill>
                <a:latin typeface="Noto Sans SC"/>
                <a:cs typeface="Noto Sans SC"/>
                <a:ea typeface="Noto Sans SC"/>
              </a:rPr>
              <a:t>能调用工具并交付结果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486400"/>
            <a:ext cx="10469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C252C"/>
                </a:solidFill>
                <a:latin typeface="Noto Sans SC"/>
                <a:cs typeface="Noto Sans SC"/>
                <a:ea typeface="Noto Sans SC"/>
              </a:rPr>
              <a:t>你问“怎么订票”，聊天机器人给出步骤。你说“帮我订票”，Agent 会去查车次并尝试下单。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178"/>
                </a:solidFill>
                <a:latin typeface="Noto Sans SC"/>
                <a:cs typeface="Noto Sans SC"/>
                <a:ea typeface="Noto Sans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1C252C"/>
                </a:solidFill>
                <a:latin typeface="Noto Serif SC"/>
                <a:cs typeface="Noto Serif SC"/>
                <a:ea typeface="Noto Serif SC"/>
              </a:rPr>
              <a:t>AI Agent 如何使用工具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89888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A43B2B"/>
                </a:solidFill>
                <a:latin typeface="Noto Sans SC"/>
                <a:cs typeface="Noto Sans SC"/>
                <a:ea typeface="Noto Sans SC"/>
              </a:rPr>
              <a:t>工具让它能获取信息，也能实际动手。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3B2B"/>
                </a:solidFill>
                <a:latin typeface="Noto Sans SC"/>
                <a:cs typeface="Noto Sans SC"/>
                <a:ea typeface="Noto Sans S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213055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252C"/>
                </a:solidFill>
                <a:latin typeface="Noto Sans SC"/>
                <a:cs typeface="Noto Sans SC"/>
                <a:ea typeface="Noto Sans SC"/>
              </a:rPr>
              <a:t>理解任务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606040"/>
            <a:ext cx="5440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3F474F"/>
                </a:solidFill>
                <a:latin typeface="Noto Sans SC"/>
                <a:cs typeface="Noto Sans SC"/>
                <a:ea typeface="Noto Sans SC"/>
              </a:rPr>
              <a:t>明确目标、条件和限制。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3B2B"/>
                </a:solidFill>
                <a:latin typeface="Noto Sans SC"/>
                <a:cs typeface="Noto Sans SC"/>
                <a:ea typeface="Noto Sans S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1363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252C"/>
                </a:solidFill>
                <a:latin typeface="Noto Sans SC"/>
                <a:cs typeface="Noto Sans SC"/>
                <a:ea typeface="Noto Sans SC"/>
              </a:rPr>
              <a:t>选择工具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611880"/>
            <a:ext cx="5440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3F474F"/>
                </a:solidFill>
                <a:latin typeface="Noto Sans SC"/>
                <a:cs typeface="Noto Sans SC"/>
                <a:ea typeface="Noto Sans SC"/>
              </a:rPr>
              <a:t>搜索、计算、读取文件或创建日程。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320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43B2B"/>
                </a:solidFill>
                <a:latin typeface="Noto Sans SC"/>
                <a:cs typeface="Noto Sans SC"/>
                <a:ea typeface="Noto Sans S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414223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252C"/>
                </a:solidFill>
                <a:latin typeface="Noto Sans SC"/>
                <a:cs typeface="Noto Sans SC"/>
                <a:ea typeface="Noto Sans SC"/>
              </a:rPr>
              <a:t>检查结果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617720"/>
            <a:ext cx="5440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3F474F"/>
                </a:solidFill>
                <a:latin typeface="Noto Sans SC"/>
                <a:cs typeface="Noto Sans SC"/>
                <a:ea typeface="Noto Sans SC"/>
              </a:rPr>
              <a:t>确认无误后保存或交付。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44068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F474F"/>
                </a:solidFill>
                <a:latin typeface="Noto Sans SC"/>
                <a:cs typeface="Noto Sans SC"/>
                <a:ea typeface="Noto Sans SC"/>
              </a:rPr>
              <a:t>例：Agent 查看课表，找出空档，再把自习时间写进日历。</a:t>
            </a:r>
          </a:p>
        </p:txBody>
      </p:sp>
      <p:pic>
        <p:nvPicPr>
          <p:cNvPr id="14" name="AI Agent 使用多种工具的示意图" descr="AI Agent 使用多种工具的示意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627632"/>
            <a:ext cx="3657600" cy="31886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35240" y="5029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E767D"/>
                </a:solidFill>
                <a:latin typeface="Noto Sans SC"/>
                <a:cs typeface="Noto Sans SC"/>
                <a:ea typeface="Noto Sans SC"/>
              </a:rPr>
              <a:t>工具使用示意图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178"/>
                </a:solidFill>
                <a:latin typeface="Noto Sans SC"/>
                <a:cs typeface="Noto Sans SC"/>
                <a:ea typeface="Noto Sans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4F2EC"/>
                </a:solidFill>
                <a:latin typeface="Noto Serif SC"/>
                <a:cs typeface="Noto Serif SC"/>
                <a:ea typeface="Noto Serif SC"/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627632"/>
            <a:ext cx="5303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4F2EC"/>
                </a:solidFill>
                <a:latin typeface="Noto Serif SC"/>
                <a:cs typeface="Noto Serif SC"/>
                <a:ea typeface="Noto Serif SC"/>
              </a:rPr>
              <a:t>AI Agent 会围绕目标，
持续推进任务。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96596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43B2B"/>
                </a:solidFill>
                <a:latin typeface="Noto Sans SC"/>
                <a:cs typeface="Noto Sans SC"/>
                <a:ea typeface="Noto Sans SC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2002536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2EC"/>
                </a:solidFill>
                <a:latin typeface="Noto Sans SC"/>
                <a:cs typeface="Noto Sans SC"/>
                <a:ea typeface="Noto Sans SC"/>
              </a:rPr>
              <a:t>知道要完成什么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127248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43B2B"/>
                </a:solidFill>
                <a:latin typeface="Noto Sans SC"/>
                <a:cs typeface="Noto Sans SC"/>
                <a:ea typeface="Noto Sans SC"/>
              </a:rPr>
              <a:t>行动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3163824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2EC"/>
                </a:solidFill>
                <a:latin typeface="Noto Sans SC"/>
                <a:cs typeface="Noto Sans SC"/>
                <a:ea typeface="Noto Sans SC"/>
              </a:rPr>
              <a:t>会规划，也会调整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288536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A43B2B"/>
                </a:solidFill>
                <a:latin typeface="Noto Sans SC"/>
                <a:cs typeface="Noto Sans SC"/>
                <a:ea typeface="Noto Sans SC"/>
              </a:rPr>
              <a:t>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4325112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F2EC"/>
                </a:solidFill>
                <a:latin typeface="Noto Sans SC"/>
                <a:cs typeface="Noto Sans SC"/>
                <a:ea typeface="Noto Sans SC"/>
              </a:rPr>
              <a:t>能获取信息、操作软件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715000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8BEC2"/>
                </a:solidFill>
                <a:latin typeface="Noto Sans SC"/>
                <a:cs typeface="Noto Sans SC"/>
                <a:ea typeface="Noto Sans SC"/>
              </a:rPr>
              <a:t>想一想：你希望 Agent 帮你完成哪件事？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C9499"/>
                </a:solidFill>
                <a:latin typeface="Noto Sans SC"/>
                <a:cs typeface="Noto Sans SC"/>
                <a:ea typeface="Noto Sans SC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什么是 AI Agent？</dc:title>
  <dc:subject>面向零基础大一学生的 AI Agent 入门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