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3"/>
  </p:sldMasterIdLst>
  <p:notesMasterIdLst>
    <p:notesMasterId r:id="rId5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custDataLst>
    <p:tags r:id="rId9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43CF2C3-3950-4E40-A02F-66DCCF188A6B}">
          <p14:sldIdLst>
            <p14:sldId id="672"/>
            <p14:sldId id="696"/>
            <p14:sldId id="699"/>
            <p14:sldId id="673"/>
            <p14:sldId id="697"/>
            <p14:sldId id="682"/>
            <p14:sldId id="684"/>
            <p14:sldId id="559"/>
            <p14:sldId id="592"/>
            <p14:sldId id="544"/>
            <p14:sldId id="706"/>
            <p14:sldId id="674"/>
            <p14:sldId id="676"/>
            <p14:sldId id="560"/>
            <p14:sldId id="651"/>
            <p14:sldId id="547"/>
            <p14:sldId id="548"/>
            <p14:sldId id="549"/>
            <p14:sldId id="550"/>
            <p14:sldId id="692"/>
            <p14:sldId id="695"/>
            <p14:sldId id="571"/>
            <p14:sldId id="567"/>
            <p14:sldId id="569"/>
            <p14:sldId id="563"/>
            <p14:sldId id="564"/>
            <p14:sldId id="561"/>
            <p14:sldId id="690"/>
            <p14:sldId id="691"/>
            <p14:sldId id="562"/>
            <p14:sldId id="700"/>
            <p14:sldId id="573"/>
            <p14:sldId id="575"/>
            <p14:sldId id="576"/>
            <p14:sldId id="574"/>
            <p14:sldId id="653"/>
            <p14:sldId id="580"/>
            <p14:sldId id="581"/>
            <p14:sldId id="582"/>
            <p14:sldId id="587"/>
            <p14:sldId id="584"/>
            <p14:sldId id="585"/>
            <p14:sldId id="588"/>
            <p14:sldId id="586"/>
            <p14:sldId id="590"/>
            <p14:sldId id="675"/>
            <p14:sldId id="654"/>
            <p14:sldId id="656"/>
            <p14:sldId id="698"/>
          </p14:sldIdLst>
        </p14:section>
        <p14:section name="附录-素材" id="{3050140B-5B37-47BE-8423-F6A0577ED44C}">
          <p14:sldIdLst>
            <p14:sldId id="645"/>
            <p14:sldId id="262"/>
            <p14:sldId id="597"/>
            <p14:sldId id="598"/>
            <p14:sldId id="646"/>
            <p14:sldId id="705"/>
            <p14:sldId id="669"/>
            <p14:sldId id="671"/>
            <p14:sldId id="657"/>
            <p14:sldId id="658"/>
            <p14:sldId id="659"/>
            <p14:sldId id="660"/>
            <p14:sldId id="661"/>
            <p14:sldId id="662"/>
            <p14:sldId id="663"/>
            <p14:sldId id="664"/>
          </p14:sldIdLst>
        </p14:section>
        <p14:section name="使用规范" id="{47918508-6F2A-4DC8-ACB3-0B9712E4E205}">
          <p14:sldIdLst>
            <p14:sldId id="612"/>
            <p14:sldId id="611"/>
            <p14:sldId id="505"/>
            <p14:sldId id="613"/>
            <p14:sldId id="506"/>
            <p14:sldId id="614"/>
            <p14:sldId id="615"/>
            <p14:sldId id="616"/>
            <p14:sldId id="679"/>
            <p14:sldId id="678"/>
            <p14:sldId id="619"/>
            <p14:sldId id="620"/>
            <p14:sldId id="622"/>
            <p14:sldId id="677"/>
            <p14:sldId id="623"/>
            <p14:sldId id="624"/>
            <p14:sldId id="640"/>
            <p14:sldId id="627"/>
            <p14:sldId id="629"/>
            <p14:sldId id="633"/>
            <p14:sldId id="631"/>
            <p14:sldId id="636"/>
            <p14:sldId id="637"/>
            <p14:sldId id="643"/>
            <p14:sldId id="644"/>
            <p14:sldId id="70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FDFCFB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79874" autoAdjust="0"/>
  </p:normalViewPr>
  <p:slideViewPr>
    <p:cSldViewPr snapToGrid="0">
      <p:cViewPr>
        <p:scale>
          <a:sx n="75" d="100"/>
          <a:sy n="75" d="100"/>
        </p:scale>
        <p:origin x="123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985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96" Type="http://schemas.openxmlformats.org/officeDocument/2006/relationships/presProps" Target="presProps.xml"/><Relationship Id="rId97" Type="http://schemas.openxmlformats.org/officeDocument/2006/relationships/viewProps" Target="viewProps.xml"/><Relationship Id="rId98" Type="http://schemas.openxmlformats.org/officeDocument/2006/relationships/tableStyles" Target="tableStyles.xml"/><Relationship Id="rId99" Type="http://schemas.openxmlformats.org/officeDocument/2006/relationships/tags" Target="tags/tag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51752-2BA6-4267-BD9C-0255A6E7A7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02A4A-2F78-42A2-8BB5-4E355942CA2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0402823" y="853956"/>
            <a:ext cx="1875342" cy="6834393"/>
            <a:chOff x="10402823" y="853956"/>
            <a:chExt cx="1875342" cy="6834393"/>
          </a:xfrm>
        </p:grpSpPr>
        <p:sp>
          <p:nvSpPr>
            <p:cNvPr id="15" name="任意多边形: 形状 14"/>
            <p:cNvSpPr/>
            <p:nvPr userDrawn="1"/>
          </p:nvSpPr>
          <p:spPr>
            <a:xfrm rot="17975649">
              <a:off x="7764318" y="3492461"/>
              <a:ext cx="6834393" cy="1557383"/>
            </a:xfrm>
            <a:custGeom>
              <a:avLst/>
              <a:gdLst>
                <a:gd name="connsiteX0" fmla="*/ 4887162 w 6834393"/>
                <a:gd name="connsiteY0" fmla="*/ 1105918 h 1557383"/>
                <a:gd name="connsiteX1" fmla="*/ 4092251 w 6834393"/>
                <a:gd name="connsiteY1" fmla="*/ 1557383 h 1557383"/>
                <a:gd name="connsiteX2" fmla="*/ 884506 w 6834393"/>
                <a:gd name="connsiteY2" fmla="*/ 1557383 h 1557383"/>
                <a:gd name="connsiteX3" fmla="*/ 628100 w 6834393"/>
                <a:gd name="connsiteY3" fmla="*/ 1105918 h 1557383"/>
                <a:gd name="connsiteX4" fmla="*/ 6834393 w 6834393"/>
                <a:gd name="connsiteY4" fmla="*/ 0 h 1557383"/>
                <a:gd name="connsiteX5" fmla="*/ 6039483 w 6834393"/>
                <a:gd name="connsiteY5" fmla="*/ 451465 h 1557383"/>
                <a:gd name="connsiteX6" fmla="*/ 256407 w 6834393"/>
                <a:gd name="connsiteY6" fmla="*/ 451465 h 1557383"/>
                <a:gd name="connsiteX7" fmla="*/ 0 w 6834393"/>
                <a:gd name="connsiteY7" fmla="*/ 0 h 155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34393" h="1557383">
                  <a:moveTo>
                    <a:pt x="4887162" y="1105918"/>
                  </a:moveTo>
                  <a:lnTo>
                    <a:pt x="4092251" y="1557383"/>
                  </a:lnTo>
                  <a:lnTo>
                    <a:pt x="884506" y="1557383"/>
                  </a:lnTo>
                  <a:lnTo>
                    <a:pt x="628100" y="1105918"/>
                  </a:lnTo>
                  <a:close/>
                  <a:moveTo>
                    <a:pt x="6834393" y="0"/>
                  </a:moveTo>
                  <a:lnTo>
                    <a:pt x="6039483" y="451465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 userDrawn="1"/>
          </p:nvSpPr>
          <p:spPr>
            <a:xfrm rot="17975649">
              <a:off x="8726108" y="4052302"/>
              <a:ext cx="5546729" cy="1557384"/>
            </a:xfrm>
            <a:custGeom>
              <a:avLst/>
              <a:gdLst>
                <a:gd name="connsiteX0" fmla="*/ 3599499 w 5546729"/>
                <a:gd name="connsiteY0" fmla="*/ 1105919 h 1557384"/>
                <a:gd name="connsiteX1" fmla="*/ 2804588 w 5546729"/>
                <a:gd name="connsiteY1" fmla="*/ 1557384 h 1557384"/>
                <a:gd name="connsiteX2" fmla="*/ 884507 w 5546729"/>
                <a:gd name="connsiteY2" fmla="*/ 1557383 h 1557384"/>
                <a:gd name="connsiteX3" fmla="*/ 628100 w 5546729"/>
                <a:gd name="connsiteY3" fmla="*/ 1105919 h 1557384"/>
                <a:gd name="connsiteX4" fmla="*/ 5546729 w 5546729"/>
                <a:gd name="connsiteY4" fmla="*/ 1 h 1557384"/>
                <a:gd name="connsiteX5" fmla="*/ 4751818 w 5546729"/>
                <a:gd name="connsiteY5" fmla="*/ 451466 h 1557384"/>
                <a:gd name="connsiteX6" fmla="*/ 256407 w 5546729"/>
                <a:gd name="connsiteY6" fmla="*/ 451465 h 1557384"/>
                <a:gd name="connsiteX7" fmla="*/ 0 w 5546729"/>
                <a:gd name="connsiteY7" fmla="*/ 0 h 1557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46729" h="1557384">
                  <a:moveTo>
                    <a:pt x="3599499" y="1105919"/>
                  </a:moveTo>
                  <a:lnTo>
                    <a:pt x="2804588" y="1557384"/>
                  </a:lnTo>
                  <a:lnTo>
                    <a:pt x="884507" y="1557383"/>
                  </a:lnTo>
                  <a:lnTo>
                    <a:pt x="628100" y="1105919"/>
                  </a:lnTo>
                  <a:close/>
                  <a:moveTo>
                    <a:pt x="5546729" y="1"/>
                  </a:moveTo>
                  <a:lnTo>
                    <a:pt x="4751818" y="451466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" name="图片 16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cxnSp>
        <p:nvCxnSpPr>
          <p:cNvPr id="22" name="直接连接符 21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4026732 w 5953266"/>
              <a:gd name="connsiteY1" fmla="*/ 0 h 6858000"/>
              <a:gd name="connsiteX2" fmla="*/ 4359910 w 5953266"/>
              <a:gd name="connsiteY2" fmla="*/ 252902 h 6858000"/>
              <a:gd name="connsiteX3" fmla="*/ 5953266 w 5953266"/>
              <a:gd name="connsiteY3" fmla="*/ 3682471 h 6858000"/>
              <a:gd name="connsiteX4" fmla="*/ 4670843 w 5953266"/>
              <a:gd name="connsiteY4" fmla="*/ 6825186 h 6858000"/>
              <a:gd name="connsiteX5" fmla="*/ 4635274 w 5953266"/>
              <a:gd name="connsiteY5" fmla="*/ 6858000 h 6858000"/>
              <a:gd name="connsiteX6" fmla="*/ 0 w 59532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4026732" y="0"/>
                </a:lnTo>
                <a:lnTo>
                  <a:pt x="4359910" y="252902"/>
                </a:lnTo>
                <a:cubicBezTo>
                  <a:pt x="5333013" y="1068083"/>
                  <a:pt x="5953266" y="2301751"/>
                  <a:pt x="5953266" y="3682471"/>
                </a:cubicBezTo>
                <a:cubicBezTo>
                  <a:pt x="5953266" y="4909778"/>
                  <a:pt x="5463189" y="6020895"/>
                  <a:pt x="4670843" y="6825186"/>
                </a:cubicBezTo>
                <a:lnTo>
                  <a:pt x="46352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2" name="图片 121"/>
          <p:cNvPicPr>
            <a:picLocks noChangeAspect="1"/>
          </p:cNvPicPr>
          <p:nvPr userDrawn="1"/>
        </p:nvPicPr>
        <p:blipFill>
          <a:blip r:embed="rId3"/>
          <a:srcRect l="35649" t="16934" b="16934"/>
          <a:stretch>
            <a:fillRect/>
          </a:stretch>
        </p:blipFill>
        <p:spPr>
          <a:xfrm>
            <a:off x="2" y="0"/>
            <a:ext cx="6677201" cy="6858000"/>
          </a:xfrm>
          <a:custGeom>
            <a:avLst/>
            <a:gdLst>
              <a:gd name="connsiteX0" fmla="*/ 0 w 6677201"/>
              <a:gd name="connsiteY0" fmla="*/ 0 h 6858000"/>
              <a:gd name="connsiteX1" fmla="*/ 6677201 w 6677201"/>
              <a:gd name="connsiteY1" fmla="*/ 0 h 6858000"/>
              <a:gd name="connsiteX2" fmla="*/ 6677201 w 6677201"/>
              <a:gd name="connsiteY2" fmla="*/ 6858000 h 6858000"/>
              <a:gd name="connsiteX3" fmla="*/ 0 w 6677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201" h="6858000">
                <a:moveTo>
                  <a:pt x="0" y="0"/>
                </a:moveTo>
                <a:lnTo>
                  <a:pt x="6677201" y="0"/>
                </a:lnTo>
                <a:lnTo>
                  <a:pt x="66772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1" name="图片 120"/>
          <p:cNvPicPr/>
          <p:nvPr userDrawn="1"/>
        </p:nvPicPr>
        <p:blipFill>
          <a:blip r:embed="rId4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73" t="9127" b="14811"/>
          <a:stretch>
            <a:fillRect/>
          </a:stretch>
        </p:blipFill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5953266 w 5953266"/>
              <a:gd name="connsiteY1" fmla="*/ 0 h 6858000"/>
              <a:gd name="connsiteX2" fmla="*/ 5953266 w 5953266"/>
              <a:gd name="connsiteY2" fmla="*/ 6858000 h 6858000"/>
              <a:gd name="connsiteX3" fmla="*/ 0 w 59532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5953266" y="0"/>
                </a:lnTo>
                <a:lnTo>
                  <a:pt x="59532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 userDrawn="1"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defRPr/>
            </a:pPr>
            <a:r>
              <a:rPr lang="en-US" altLang="zh-CN" sz="6600" dirty="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lang="zh-CN" altLang="en-US" sz="6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4" name="日期占位符 123"/>
          <p:cNvSpPr>
            <a:spLocks noGrp="1"/>
          </p:cNvSpPr>
          <p:nvPr>
            <p:ph type="dt" sz="half" idx="1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7004" b="7878"/>
          <a:stretch>
            <a:fillRect/>
          </a:stretch>
        </p:blipFill>
        <p:spPr>
          <a:xfrm>
            <a:off x="4511550" y="0"/>
            <a:ext cx="7680450" cy="68580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8" t="7878" r="36982" b="7878"/>
          <a:stretch>
            <a:fillRect/>
          </a:stretch>
        </p:blipFill>
        <p:spPr>
          <a:xfrm>
            <a:off x="5349870" y="0"/>
            <a:ext cx="6842131" cy="6858000"/>
          </a:xfrm>
          <a:custGeom>
            <a:avLst/>
            <a:gdLst>
              <a:gd name="connsiteX0" fmla="*/ 3866540 w 6842131"/>
              <a:gd name="connsiteY0" fmla="*/ 0 h 6858000"/>
              <a:gd name="connsiteX1" fmla="*/ 6842131 w 6842131"/>
              <a:gd name="connsiteY1" fmla="*/ 0 h 6858000"/>
              <a:gd name="connsiteX2" fmla="*/ 6842131 w 6842131"/>
              <a:gd name="connsiteY2" fmla="*/ 2518051 h 6858000"/>
              <a:gd name="connsiteX3" fmla="*/ 4395268 w 6842131"/>
              <a:gd name="connsiteY3" fmla="*/ 6858000 h 6858000"/>
              <a:gd name="connsiteX4" fmla="*/ 0 w 684213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2131" h="6858000">
                <a:moveTo>
                  <a:pt x="3866540" y="0"/>
                </a:moveTo>
                <a:lnTo>
                  <a:pt x="6842131" y="0"/>
                </a:lnTo>
                <a:lnTo>
                  <a:pt x="6842131" y="2518051"/>
                </a:lnTo>
                <a:lnTo>
                  <a:pt x="43952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1" name="组合 30"/>
          <p:cNvGrpSpPr/>
          <p:nvPr userDrawn="1"/>
        </p:nvGrpSpPr>
        <p:grpSpPr>
          <a:xfrm>
            <a:off x="5852864" y="578865"/>
            <a:ext cx="5910561" cy="8110350"/>
            <a:chOff x="5852864" y="578865"/>
            <a:chExt cx="5910561" cy="8110350"/>
          </a:xfrm>
        </p:grpSpPr>
        <p:sp>
          <p:nvSpPr>
            <p:cNvPr id="32" name="任意多边形: 形状 31"/>
            <p:cNvSpPr/>
            <p:nvPr/>
          </p:nvSpPr>
          <p:spPr>
            <a:xfrm rot="1764741">
              <a:off x="6434339" y="578865"/>
              <a:ext cx="5329086" cy="8110349"/>
            </a:xfrm>
            <a:custGeom>
              <a:avLst/>
              <a:gdLst>
                <a:gd name="connsiteX0" fmla="*/ 4907596 w 5329086"/>
                <a:gd name="connsiteY0" fmla="*/ 1735493 h 8110349"/>
                <a:gd name="connsiteX1" fmla="*/ 5329086 w 5329086"/>
                <a:gd name="connsiteY1" fmla="*/ 2483140 h 8110349"/>
                <a:gd name="connsiteX2" fmla="*/ 5329086 w 5329086"/>
                <a:gd name="connsiteY2" fmla="*/ 5106050 h 8110349"/>
                <a:gd name="connsiteX3" fmla="*/ 4907597 w 5329086"/>
                <a:gd name="connsiteY3" fmla="*/ 5343666 h 8110349"/>
                <a:gd name="connsiteX4" fmla="*/ 0 w 5329086"/>
                <a:gd name="connsiteY4" fmla="*/ 237617 h 8110349"/>
                <a:gd name="connsiteX5" fmla="*/ 421490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6" y="1735493"/>
                  </a:moveTo>
                  <a:lnTo>
                    <a:pt x="5329086" y="2483140"/>
                  </a:lnTo>
                  <a:lnTo>
                    <a:pt x="5329086" y="5106050"/>
                  </a:lnTo>
                  <a:lnTo>
                    <a:pt x="4907597" y="5343666"/>
                  </a:lnTo>
                  <a:close/>
                  <a:moveTo>
                    <a:pt x="0" y="237617"/>
                  </a:moveTo>
                  <a:lnTo>
                    <a:pt x="421490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 rot="1764741">
              <a:off x="5852864" y="578866"/>
              <a:ext cx="5329086" cy="8110349"/>
            </a:xfrm>
            <a:custGeom>
              <a:avLst/>
              <a:gdLst>
                <a:gd name="connsiteX0" fmla="*/ 4907597 w 5329086"/>
                <a:gd name="connsiteY0" fmla="*/ 551447 h 8110349"/>
                <a:gd name="connsiteX1" fmla="*/ 5329086 w 5329086"/>
                <a:gd name="connsiteY1" fmla="*/ 1299093 h 8110349"/>
                <a:gd name="connsiteX2" fmla="*/ 5329086 w 5329086"/>
                <a:gd name="connsiteY2" fmla="*/ 5106050 h 8110349"/>
                <a:gd name="connsiteX3" fmla="*/ 4907596 w 5329086"/>
                <a:gd name="connsiteY3" fmla="*/ 5343667 h 8110349"/>
                <a:gd name="connsiteX4" fmla="*/ 0 w 5329086"/>
                <a:gd name="connsiteY4" fmla="*/ 237617 h 8110349"/>
                <a:gd name="connsiteX5" fmla="*/ 421489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7" y="551447"/>
                  </a:moveTo>
                  <a:lnTo>
                    <a:pt x="5329086" y="1299093"/>
                  </a:lnTo>
                  <a:lnTo>
                    <a:pt x="5329086" y="5106050"/>
                  </a:lnTo>
                  <a:lnTo>
                    <a:pt x="4907596" y="5343667"/>
                  </a:lnTo>
                  <a:close/>
                  <a:moveTo>
                    <a:pt x="0" y="237617"/>
                  </a:moveTo>
                  <a:lnTo>
                    <a:pt x="421489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5" name="文本占位符 44"/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请输入你的节标题</a:t>
            </a:r>
            <a:endParaRPr lang="zh-CN" altLang="en-US" dirty="0"/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2571074" y="1465802"/>
            <a:ext cx="3524926" cy="4336612"/>
          </a:xfrm>
          <a:custGeom>
            <a:avLst/>
            <a:gdLst>
              <a:gd name="connsiteX0" fmla="*/ 0 w 3524926"/>
              <a:gd name="connsiteY0" fmla="*/ 0 h 4326855"/>
              <a:gd name="connsiteX1" fmla="*/ 3524926 w 3524926"/>
              <a:gd name="connsiteY1" fmla="*/ 0 h 4326855"/>
              <a:gd name="connsiteX2" fmla="*/ 3524926 w 3524926"/>
              <a:gd name="connsiteY2" fmla="*/ 4326855 h 4326855"/>
              <a:gd name="connsiteX3" fmla="*/ 0 w 3524926"/>
              <a:gd name="connsiteY3" fmla="*/ 4326855 h 4326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4926" h="4326855">
                <a:moveTo>
                  <a:pt x="0" y="0"/>
                </a:moveTo>
                <a:lnTo>
                  <a:pt x="3524926" y="0"/>
                </a:lnTo>
                <a:lnTo>
                  <a:pt x="3524926" y="4326855"/>
                </a:lnTo>
                <a:lnTo>
                  <a:pt x="0" y="4326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tIns="4680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 rot="16200000">
            <a:off x="-1272970" y="3259723"/>
            <a:ext cx="4113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800" dirty="0">
                <a:solidFill>
                  <a:schemeClr val="bg1">
                    <a:lumMod val="75000"/>
                  </a:schemeClr>
                </a:solidFill>
              </a:rPr>
              <a:t>Southeast University</a:t>
            </a:r>
            <a:endParaRPr lang="zh-CN" altLang="en-US" sz="1600" spc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6632171" y="1253531"/>
            <a:ext cx="4886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7200" i="1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7398196" y="3937575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7398196" y="4685329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7398196" y="5433083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35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6749903" y="2564527"/>
            <a:ext cx="3396528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6749903" y="1812873"/>
            <a:ext cx="3088698" cy="7694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5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>
            <a:off x="5341519" y="3365304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0" y="1093511"/>
            <a:ext cx="6400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kumimoji="0" lang="zh-CN" altLang="en-US" sz="8800" b="0" i="1" u="none" strike="noStrike" cap="none" spc="0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400" y="3881451"/>
            <a:ext cx="361064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660400" y="4685329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660400" y="5433083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52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331720" y="2106802"/>
            <a:ext cx="3088698" cy="76944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  <a:endParaRPr lang="zh-CN" altLang="en-US" dirty="0"/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1541828" y="3152034"/>
            <a:ext cx="3396528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  <a:endParaRPr lang="zh-CN" altLang="en-US" dirty="0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2"/>
          </p:nvPr>
        </p:nvSpPr>
        <p:spPr>
          <a:xfrm>
            <a:off x="5131444" y="0"/>
            <a:ext cx="7060556" cy="6858000"/>
          </a:xfrm>
          <a:custGeom>
            <a:avLst/>
            <a:gdLst>
              <a:gd name="connsiteX0" fmla="*/ 2232141 w 7060556"/>
              <a:gd name="connsiteY0" fmla="*/ 0 h 6858000"/>
              <a:gd name="connsiteX1" fmla="*/ 7060556 w 7060556"/>
              <a:gd name="connsiteY1" fmla="*/ 0 h 6858000"/>
              <a:gd name="connsiteX2" fmla="*/ 7060556 w 7060556"/>
              <a:gd name="connsiteY2" fmla="*/ 6858000 h 6858000"/>
              <a:gd name="connsiteX3" fmla="*/ 659756 w 7060556"/>
              <a:gd name="connsiteY3" fmla="*/ 6858000 h 6858000"/>
              <a:gd name="connsiteX4" fmla="*/ 0 w 7060556"/>
              <a:gd name="connsiteY4" fmla="*/ 5318567 h 6858000"/>
              <a:gd name="connsiteX5" fmla="*/ 2076565 w 7060556"/>
              <a:gd name="connsiteY5" fmla="*/ 3419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60556" h="6858000">
                <a:moveTo>
                  <a:pt x="2232141" y="0"/>
                </a:moveTo>
                <a:lnTo>
                  <a:pt x="7060556" y="0"/>
                </a:lnTo>
                <a:lnTo>
                  <a:pt x="7060556" y="6858000"/>
                </a:lnTo>
                <a:lnTo>
                  <a:pt x="659756" y="6858000"/>
                </a:lnTo>
                <a:lnTo>
                  <a:pt x="0" y="5318567"/>
                </a:lnTo>
                <a:cubicBezTo>
                  <a:pt x="292020" y="4312534"/>
                  <a:pt x="1148983" y="2384867"/>
                  <a:pt x="2076565" y="34199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660400" y="1383671"/>
            <a:ext cx="5001787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80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80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31"/>
          </p:nvPr>
        </p:nvSpPr>
        <p:spPr>
          <a:xfrm>
            <a:off x="5792230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1019067" y="2170482"/>
            <a:ext cx="3982720" cy="584775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  <a:endParaRPr lang="zh-CN" altLang="en-US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1019067" y="3119036"/>
            <a:ext cx="3982720" cy="1706963"/>
          </a:xfrm>
        </p:spPr>
        <p:txBody>
          <a:bodyPr wrap="square" lIns="0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  <a:endParaRPr lang="zh-CN" altLang="en-US" dirty="0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32"/>
          </p:nvPr>
        </p:nvSpPr>
        <p:spPr>
          <a:xfrm>
            <a:off x="7700964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33"/>
          </p:nvPr>
        </p:nvSpPr>
        <p:spPr>
          <a:xfrm>
            <a:off x="9609697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579230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6" name="文本占位符 11"/>
          <p:cNvSpPr>
            <a:spLocks noGrp="1"/>
          </p:cNvSpPr>
          <p:nvPr>
            <p:ph type="body" sz="quarter" idx="34" hasCustomPrompt="1"/>
          </p:nvPr>
        </p:nvSpPr>
        <p:spPr>
          <a:xfrm>
            <a:off x="7700964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8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960961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5792387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7700808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9609229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图片占位符 47"/>
          <p:cNvSpPr>
            <a:spLocks noGrp="1"/>
          </p:cNvSpPr>
          <p:nvPr>
            <p:ph type="pic" sz="quarter" idx="31"/>
          </p:nvPr>
        </p:nvSpPr>
        <p:spPr>
          <a:xfrm>
            <a:off x="669868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algn="ctr"/>
            <a:r>
              <a:rPr lang="en-US" altLang="zh-CN" sz="66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66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4104640" y="1593828"/>
            <a:ext cx="3982720" cy="584775"/>
          </a:xfr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  <a:endParaRPr lang="zh-CN" altLang="en-US" dirty="0"/>
          </a:p>
        </p:txBody>
      </p:sp>
      <p:sp>
        <p:nvSpPr>
          <p:cNvPr id="17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682883" y="2295279"/>
            <a:ext cx="10826234" cy="425698"/>
          </a:xfrm>
        </p:spPr>
        <p:txBody>
          <a:bodyPr wrap="square" lIns="9000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  <a:endParaRPr lang="zh-CN" altLang="en-US" dirty="0"/>
          </a:p>
        </p:txBody>
      </p:sp>
      <p:sp>
        <p:nvSpPr>
          <p:cNvPr id="33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322" y="5732617"/>
            <a:ext cx="2712258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4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66040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3382047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2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3382125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6103772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4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610385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5" name="文本占位符 11"/>
          <p:cNvSpPr>
            <a:spLocks noGrp="1"/>
          </p:cNvSpPr>
          <p:nvPr>
            <p:ph type="body" sz="quarter" idx="41" hasCustomPrompt="1"/>
          </p:nvPr>
        </p:nvSpPr>
        <p:spPr>
          <a:xfrm>
            <a:off x="8825497" y="5732616"/>
            <a:ext cx="2693323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42" hasCustomPrompt="1"/>
          </p:nvPr>
        </p:nvSpPr>
        <p:spPr>
          <a:xfrm>
            <a:off x="8825575" y="5327590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5" name="图片占位符 54"/>
          <p:cNvSpPr>
            <a:spLocks noGrp="1"/>
          </p:cNvSpPr>
          <p:nvPr>
            <p:ph type="pic" sz="quarter" idx="43"/>
          </p:nvPr>
        </p:nvSpPr>
        <p:spPr>
          <a:xfrm>
            <a:off x="3382047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6" name="图片占位符 55"/>
          <p:cNvSpPr>
            <a:spLocks noGrp="1"/>
          </p:cNvSpPr>
          <p:nvPr>
            <p:ph type="pic" sz="quarter" idx="44"/>
          </p:nvPr>
        </p:nvSpPr>
        <p:spPr>
          <a:xfrm>
            <a:off x="6094226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7" name="图片占位符 56"/>
          <p:cNvSpPr>
            <a:spLocks noGrp="1"/>
          </p:cNvSpPr>
          <p:nvPr>
            <p:ph type="pic" sz="quarter" idx="45"/>
          </p:nvPr>
        </p:nvSpPr>
        <p:spPr>
          <a:xfrm>
            <a:off x="8806405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69" name="文本占位符 67"/>
          <p:cNvSpPr>
            <a:spLocks noGrp="1"/>
          </p:cNvSpPr>
          <p:nvPr>
            <p:ph type="body" sz="quarter" idx="12" hasCustomPrompt="1"/>
          </p:nvPr>
        </p:nvSpPr>
        <p:spPr>
          <a:xfrm>
            <a:off x="3950574" y="1119503"/>
            <a:ext cx="4290852" cy="585866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请输入你的主标题</a:t>
            </a:r>
            <a:endParaRPr lang="zh-CN" altLang="en-US" dirty="0"/>
          </a:p>
        </p:txBody>
      </p:sp>
      <p:sp>
        <p:nvSpPr>
          <p:cNvPr id="72" name="文本占位符 6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574" y="1740158"/>
            <a:ext cx="4290852" cy="462755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请输入你的副标题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无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7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椭圆 60"/>
          <p:cNvSpPr/>
          <p:nvPr userDrawn="1"/>
        </p:nvSpPr>
        <p:spPr>
          <a:xfrm>
            <a:off x="5194921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椭圆 61"/>
          <p:cNvSpPr/>
          <p:nvPr userDrawn="1"/>
        </p:nvSpPr>
        <p:spPr>
          <a:xfrm>
            <a:off x="8999857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0" name="椭圆 29"/>
          <p:cNvSpPr/>
          <p:nvPr userDrawn="1"/>
        </p:nvSpPr>
        <p:spPr>
          <a:xfrm>
            <a:off x="1389985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4" name="图片占位符 53"/>
          <p:cNvSpPr>
            <a:spLocks noGrp="1"/>
          </p:cNvSpPr>
          <p:nvPr>
            <p:ph type="pic" sz="quarter" idx="12"/>
          </p:nvPr>
        </p:nvSpPr>
        <p:spPr>
          <a:xfrm>
            <a:off x="1437869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29" name="矩形 28"/>
          <p:cNvSpPr/>
          <p:nvPr userDrawn="1"/>
        </p:nvSpPr>
        <p:spPr>
          <a:xfrm>
            <a:off x="660400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8270272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4465336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图片占位符 58"/>
          <p:cNvSpPr>
            <a:spLocks noGrp="1"/>
          </p:cNvSpPr>
          <p:nvPr>
            <p:ph type="pic" sz="quarter" idx="13"/>
          </p:nvPr>
        </p:nvSpPr>
        <p:spPr>
          <a:xfrm>
            <a:off x="5242805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14"/>
          </p:nvPr>
        </p:nvSpPr>
        <p:spPr>
          <a:xfrm>
            <a:off x="9047741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63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943753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6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22334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67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4748689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68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4627270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69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8553625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70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8432206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1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669228" y="3632200"/>
            <a:ext cx="10858500" cy="0"/>
          </a:xfrm>
          <a:prstGeom prst="line">
            <a:avLst/>
          </a:prstGeom>
          <a:ln w="25400" cap="flat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 userDrawn="1"/>
        </p:nvSpPr>
        <p:spPr>
          <a:xfrm>
            <a:off x="669228" y="1496583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>
            <a:off x="9394356" y="3984612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图片占位符 42"/>
          <p:cNvSpPr>
            <a:spLocks noGrp="1"/>
          </p:cNvSpPr>
          <p:nvPr>
            <p:ph type="pic" sz="quarter" idx="12"/>
          </p:nvPr>
        </p:nvSpPr>
        <p:spPr>
          <a:xfrm>
            <a:off x="726750" y="153673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44" name="图片占位符 43"/>
          <p:cNvSpPr>
            <a:spLocks noGrp="1"/>
          </p:cNvSpPr>
          <p:nvPr>
            <p:ph type="pic" sz="quarter" idx="13"/>
          </p:nvPr>
        </p:nvSpPr>
        <p:spPr>
          <a:xfrm>
            <a:off x="9451878" y="403296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3246271" y="1535879"/>
            <a:ext cx="2793341" cy="46196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6148516" y="4025048"/>
            <a:ext cx="2793341" cy="461962"/>
          </a:xfrm>
          <a:prstGeom prst="rect">
            <a:avLst/>
          </a:prstGeom>
        </p:spPr>
        <p:txBody>
          <a:bodyPr lIns="9000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3246271" y="2153813"/>
            <a:ext cx="8272629" cy="64633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9" hasCustomPrompt="1"/>
          </p:nvPr>
        </p:nvSpPr>
        <p:spPr>
          <a:xfrm>
            <a:off x="669228" y="4619089"/>
            <a:ext cx="8272629" cy="646331"/>
          </a:xfrm>
          <a:prstGeom prst="rect">
            <a:avLst/>
          </a:prstGeom>
        </p:spPr>
        <p:txBody>
          <a:bodyPr lIns="90000" rIns="0">
            <a:noAutofit/>
          </a:bodyPr>
          <a:lstStyle>
            <a:lvl1pPr marL="0" indent="0" algn="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2447962"/>
            <a:ext cx="4420885" cy="3686138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5162118" y="2447964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397680" y="2447964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5162118" y="4331447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 userDrawn="1"/>
        </p:nvSpPr>
        <p:spPr>
          <a:xfrm>
            <a:off x="8397680" y="4331447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5398522" y="2612248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5277103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6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8634084" y="2612248"/>
            <a:ext cx="2681922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512665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8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8634084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9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8512665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50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5398522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51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5277103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52" name="文本占位符 11"/>
          <p:cNvSpPr>
            <a:spLocks noGrp="1"/>
          </p:cNvSpPr>
          <p:nvPr>
            <p:ph type="body" sz="quarter" idx="21" hasCustomPrompt="1"/>
          </p:nvPr>
        </p:nvSpPr>
        <p:spPr>
          <a:xfrm>
            <a:off x="660400" y="1337587"/>
            <a:ext cx="10858500" cy="735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1585023"/>
            <a:ext cx="5984238" cy="4554593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图片占位符 62"/>
          <p:cNvSpPr>
            <a:spLocks noGrp="1"/>
          </p:cNvSpPr>
          <p:nvPr>
            <p:ph type="pic" sz="quarter" idx="27"/>
          </p:nvPr>
        </p:nvSpPr>
        <p:spPr>
          <a:xfrm>
            <a:off x="660404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28"/>
          </p:nvPr>
        </p:nvSpPr>
        <p:spPr>
          <a:xfrm>
            <a:off x="3696741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29"/>
          </p:nvPr>
        </p:nvSpPr>
        <p:spPr>
          <a:xfrm>
            <a:off x="660404" y="3895974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图片占位符 65"/>
          <p:cNvSpPr>
            <a:spLocks noGrp="1"/>
          </p:cNvSpPr>
          <p:nvPr>
            <p:ph type="pic" sz="quarter" idx="30"/>
          </p:nvPr>
        </p:nvSpPr>
        <p:spPr>
          <a:xfrm>
            <a:off x="3696741" y="3895974"/>
            <a:ext cx="2947899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tile tx="0" ty="0" sx="100000" sy="100000" flip="none" algn="tl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任意多边形: 形状 51"/>
          <p:cNvSpPr/>
          <p:nvPr userDrawn="1"/>
        </p:nvSpPr>
        <p:spPr>
          <a:xfrm rot="1759603">
            <a:off x="5759550" y="3287609"/>
            <a:ext cx="326672" cy="3900322"/>
          </a:xfrm>
          <a:custGeom>
            <a:avLst/>
            <a:gdLst>
              <a:gd name="connsiteX0" fmla="*/ 0 w 326672"/>
              <a:gd name="connsiteY0" fmla="*/ 0 h 3900322"/>
              <a:gd name="connsiteX1" fmla="*/ 326672 w 326672"/>
              <a:gd name="connsiteY1" fmla="*/ 0 h 3900322"/>
              <a:gd name="connsiteX2" fmla="*/ 326672 w 326672"/>
              <a:gd name="connsiteY2" fmla="*/ 3716802 h 3900322"/>
              <a:gd name="connsiteX3" fmla="*/ 0 w 326672"/>
              <a:gd name="connsiteY3" fmla="*/ 3900322 h 390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900322">
                <a:moveTo>
                  <a:pt x="0" y="0"/>
                </a:moveTo>
                <a:lnTo>
                  <a:pt x="326672" y="0"/>
                </a:lnTo>
                <a:lnTo>
                  <a:pt x="326672" y="3716802"/>
                </a:lnTo>
                <a:lnTo>
                  <a:pt x="0" y="39003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任意多边形: 形状 43"/>
          <p:cNvSpPr/>
          <p:nvPr userDrawn="1"/>
        </p:nvSpPr>
        <p:spPr>
          <a:xfrm rot="1759603">
            <a:off x="8280302" y="-201925"/>
            <a:ext cx="170609" cy="2499133"/>
          </a:xfrm>
          <a:custGeom>
            <a:avLst/>
            <a:gdLst>
              <a:gd name="connsiteX0" fmla="*/ 0 w 170609"/>
              <a:gd name="connsiteY0" fmla="*/ 95846 h 2499133"/>
              <a:gd name="connsiteX1" fmla="*/ 170609 w 170609"/>
              <a:gd name="connsiteY1" fmla="*/ 0 h 2499133"/>
              <a:gd name="connsiteX2" fmla="*/ 170609 w 170609"/>
              <a:gd name="connsiteY2" fmla="*/ 2499133 h 2499133"/>
              <a:gd name="connsiteX3" fmla="*/ 0 w 170609"/>
              <a:gd name="connsiteY3" fmla="*/ 2499133 h 249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2499133">
                <a:moveTo>
                  <a:pt x="0" y="95846"/>
                </a:moveTo>
                <a:lnTo>
                  <a:pt x="170609" y="0"/>
                </a:lnTo>
                <a:lnTo>
                  <a:pt x="170609" y="2499133"/>
                </a:lnTo>
                <a:lnTo>
                  <a:pt x="0" y="2499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 rot="1759603">
            <a:off x="11257062" y="-144084"/>
            <a:ext cx="326672" cy="3732241"/>
          </a:xfrm>
          <a:custGeom>
            <a:avLst/>
            <a:gdLst>
              <a:gd name="connsiteX0" fmla="*/ 0 w 326672"/>
              <a:gd name="connsiteY0" fmla="*/ 0 h 3732241"/>
              <a:gd name="connsiteX1" fmla="*/ 326672 w 326672"/>
              <a:gd name="connsiteY1" fmla="*/ 581488 h 3732241"/>
              <a:gd name="connsiteX2" fmla="*/ 326672 w 326672"/>
              <a:gd name="connsiteY2" fmla="*/ 3732241 h 3732241"/>
              <a:gd name="connsiteX3" fmla="*/ 0 w 326672"/>
              <a:gd name="connsiteY3" fmla="*/ 3732241 h 37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732241">
                <a:moveTo>
                  <a:pt x="0" y="0"/>
                </a:moveTo>
                <a:lnTo>
                  <a:pt x="326672" y="581488"/>
                </a:lnTo>
                <a:lnTo>
                  <a:pt x="326672" y="3732241"/>
                </a:lnTo>
                <a:lnTo>
                  <a:pt x="0" y="37322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52"/>
          <p:cNvSpPr/>
          <p:nvPr userDrawn="1"/>
        </p:nvSpPr>
        <p:spPr>
          <a:xfrm rot="1759603">
            <a:off x="9271255" y="4019758"/>
            <a:ext cx="170609" cy="3077209"/>
          </a:xfrm>
          <a:custGeom>
            <a:avLst/>
            <a:gdLst>
              <a:gd name="connsiteX0" fmla="*/ 0 w 170609"/>
              <a:gd name="connsiteY0" fmla="*/ 0 h 3077209"/>
              <a:gd name="connsiteX1" fmla="*/ 170609 w 170609"/>
              <a:gd name="connsiteY1" fmla="*/ 0 h 3077209"/>
              <a:gd name="connsiteX2" fmla="*/ 170609 w 170609"/>
              <a:gd name="connsiteY2" fmla="*/ 2981364 h 3077209"/>
              <a:gd name="connsiteX3" fmla="*/ 0 w 170609"/>
              <a:gd name="connsiteY3" fmla="*/ 3077209 h 307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3077209">
                <a:moveTo>
                  <a:pt x="0" y="0"/>
                </a:moveTo>
                <a:lnTo>
                  <a:pt x="170609" y="0"/>
                </a:lnTo>
                <a:lnTo>
                  <a:pt x="170609" y="2981364"/>
                </a:lnTo>
                <a:lnTo>
                  <a:pt x="0" y="30772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38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869" y="1"/>
            <a:ext cx="10849030" cy="7492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869" y="850901"/>
            <a:ext cx="10849031" cy="528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22800" y="6235702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0" spc="300" baseline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75700" y="6235702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l"/>
            <a:r>
              <a:rPr sz="4000"/>
              <a:t>素数幂的整除刻画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000"/>
              <a:t>《人工智能导论》第二次作业 · 实践题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/>
            <a:r>
              <a:rPr sz="1600"/>
              <a:t>2023 年第 64 届 IMO 第一题 · 完整解答</a:t>
            </a:r>
          </a:p>
        </p:txBody>
      </p:sp>
      <p:sp>
        <p:nvSpPr>
          <p:cNvPr id="101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67512" y="452628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>
                <a:solidFill>
                  <a:srgbClr val="445437"/>
                </a:solidFill>
              </a:rPr>
              <a:t>汇报人：XXX　　日期：XXXX/XX/XX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日期占位符 123"/>
          <p:cNvSpPr>
            <a:spLocks noGrp="1"/>
          </p:cNvSpPr>
          <p:nvPr>
            <p:ph type="dt" sz="half" idx="1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7589520" y="100584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>
                <a:solidFill>
                  <a:srgbClr val="445437"/>
                </a:solidFill>
                <a:latin typeface="Arial"/>
                <a:cs typeface="Arial"/>
                <a:ea typeface="微软雅黑"/>
              </a:rPr>
              <a:t>01　题目与出处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589520" y="1572768"/>
            <a:ext cx="3566160" cy="0"/>
          </a:xfrm>
          <a:prstGeom prst="line">
            <a:avLst/>
          </a:prstGeom>
          <a:ln w="12700">
            <a:solidFill>
              <a:srgbClr val="E3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7589520" y="228600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>
                <a:solidFill>
                  <a:srgbClr val="445437"/>
                </a:solidFill>
                <a:latin typeface="Arial"/>
                <a:cs typeface="Arial"/>
                <a:ea typeface="微软雅黑"/>
              </a:rPr>
              <a:t>02　证明思路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7589520" y="2852928"/>
            <a:ext cx="3566160" cy="0"/>
          </a:xfrm>
          <a:prstGeom prst="line">
            <a:avLst/>
          </a:prstGeom>
          <a:ln w="12700">
            <a:solidFill>
              <a:srgbClr val="E3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7589520" y="356616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>
                <a:solidFill>
                  <a:srgbClr val="445437"/>
                </a:solidFill>
                <a:latin typeface="Arial"/>
                <a:cs typeface="Arial"/>
                <a:ea typeface="微软雅黑"/>
              </a:rPr>
              <a:t>03　结论与核验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7589520" y="4133087"/>
            <a:ext cx="3566160" cy="0"/>
          </a:xfrm>
          <a:prstGeom prst="line">
            <a:avLst/>
          </a:prstGeom>
          <a:ln w="12700">
            <a:solidFill>
              <a:srgbClr val="E3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7589520" y="4846319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>
                <a:solidFill>
                  <a:srgbClr val="445437"/>
                </a:solidFill>
                <a:latin typeface="Arial"/>
                <a:cs typeface="Arial"/>
                <a:ea typeface="微软雅黑"/>
              </a:rPr>
              <a:t>04　提示词与代码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7589520" y="5413247"/>
            <a:ext cx="3566160" cy="0"/>
          </a:xfrm>
          <a:prstGeom prst="line">
            <a:avLst/>
          </a:prstGeom>
          <a:ln w="12700">
            <a:solidFill>
              <a:srgbClr val="E3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 lIns="274320"/>
          <a:lstStyle/>
          <a:p>
            <a:pPr algn="l"/>
            <a:r>
              <a:rPr sz="3200"/>
              <a:t>01　题目与出处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 lIns="274320"/>
          <a:lstStyle/>
          <a:p>
            <a:pPr algn="l"/>
            <a:r>
              <a:rPr sz="1600"/>
              <a:t>The Problem</a:t>
            </a:r>
          </a:p>
        </p:txBody>
      </p:sp>
      <p:sp>
        <p:nvSpPr>
          <p:cNvPr id="101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000"/>
              <a:t>01　题目与出处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/>
            <a:r>
              <a:rPr sz="2800"/>
              <a:t>IMO 2023 · 第 1 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/>
            <a:r>
              <a:rPr sz="1600"/>
              <a:t>2023 年第 64 届国际数学奥林匹克</a:t>
            </a:r>
          </a:p>
        </p:txBody>
      </p:sp>
      <p:sp>
        <p:nvSpPr>
          <p:cNvPr id="101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2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103" name="Rectangle 102"/>
          <p:cNvSpPr/>
          <p:nvPr/>
        </p:nvSpPr>
        <p:spPr>
          <a:xfrm>
            <a:off x="822960" y="2395728"/>
            <a:ext cx="10543032" cy="2615184"/>
          </a:xfrm>
          <a:prstGeom prst="rect">
            <a:avLst/>
          </a:prstGeom>
          <a:solidFill>
            <a:srgbClr val="FFFFFF"/>
          </a:solidFill>
          <a:ln w="15875">
            <a:solidFill>
              <a:srgbClr val="445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97280" y="2606040"/>
            <a:ext cx="9994392" cy="2194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800"/>
              <a:t>设 </a:t>
            </a:r>
            <a:r>
              <a:rPr sz="1800" i="1"/>
              <a:t>n</a:t>
            </a:r>
            <a:r>
              <a:rPr sz="1800"/>
              <a:t>&gt;1</a:t>
            </a:r>
            <a:r>
              <a:rPr sz="1800"/>
              <a:t> 为合数，</a:t>
            </a:r>
            <a:r>
              <a:rPr sz="1800" i="1"/>
              <a:t>d</a:t>
            </a:r>
            <a:r>
              <a:rPr sz="1800" baseline="-25000"/>
              <a:t>1</a:t>
            </a:r>
            <a:r>
              <a:rPr sz="1800"/>
              <a:t>,</a:t>
            </a:r>
            <a:r>
              <a:rPr sz="1800" i="1"/>
              <a:t>d</a:t>
            </a:r>
            <a:r>
              <a:rPr sz="1800" baseline="-25000"/>
              <a:t>2</a:t>
            </a:r>
            <a:r>
              <a:rPr sz="1800"/>
              <a:t>,⋯,</a:t>
            </a:r>
            <a:r>
              <a:rPr sz="1800" i="1"/>
              <a:t>d</a:t>
            </a:r>
            <a:r>
              <a:rPr sz="1800" i="1" baseline="-25000"/>
              <a:t>k</a:t>
            </a:r>
            <a:r>
              <a:rPr sz="1800"/>
              <a:t> 为其全部正因数，且</a:t>
            </a:r>
          </a:p>
          <a:p>
            <a:pPr algn="l">
              <a:spcAft>
                <a:spcPts val="800"/>
              </a:spcAft>
            </a:pPr>
            <a:r>
              <a:rPr sz="1800"/>
              <a:t>1=</a:t>
            </a:r>
            <a:r>
              <a:rPr sz="1800" i="1"/>
              <a:t>d</a:t>
            </a:r>
            <a:r>
              <a:rPr sz="1800" baseline="-25000"/>
              <a:t>1</a:t>
            </a:r>
            <a:r>
              <a:rPr sz="1800"/>
              <a:t>&lt;</a:t>
            </a:r>
            <a:r>
              <a:rPr sz="1800" i="1"/>
              <a:t>d</a:t>
            </a:r>
            <a:r>
              <a:rPr sz="1800" baseline="-25000"/>
              <a:t>2</a:t>
            </a:r>
            <a:r>
              <a:rPr sz="1800"/>
              <a:t>&lt;⋯&lt;</a:t>
            </a:r>
            <a:r>
              <a:rPr sz="1800" i="1"/>
              <a:t>d</a:t>
            </a:r>
            <a:r>
              <a:rPr sz="1800" i="1" baseline="-25000"/>
              <a:t>k</a:t>
            </a:r>
            <a:r>
              <a:rPr sz="1800"/>
              <a:t>=</a:t>
            </a:r>
            <a:r>
              <a:rPr sz="1800" i="1"/>
              <a:t>n</a:t>
            </a:r>
            <a:r>
              <a:rPr sz="1800"/>
              <a:t>。</a:t>
            </a:r>
          </a:p>
          <a:p>
            <a:pPr algn="l">
              <a:spcAft>
                <a:spcPts val="600"/>
              </a:spcAft>
            </a:pPr>
            <a:r>
              <a:rPr sz="1800"/>
              <a:t>若对每一个 </a:t>
            </a:r>
            <a:r>
              <a:rPr sz="1800"/>
              <a:t>1≤ </a:t>
            </a:r>
            <a:r>
              <a:rPr sz="1800" i="1"/>
              <a:t>i</a:t>
            </a:r>
            <a:r>
              <a:rPr sz="1800"/>
              <a:t>≤ </a:t>
            </a:r>
            <a:r>
              <a:rPr sz="1800" i="1"/>
              <a:t>k</a:t>
            </a:r>
            <a:r>
              <a:rPr sz="1800"/>
              <a:t>-2</a:t>
            </a:r>
            <a:r>
              <a:rPr sz="1800"/>
              <a:t>，都有</a:t>
            </a:r>
          </a:p>
          <a:p>
            <a:pPr algn="ctr">
              <a:spcAft>
                <a:spcPts val="800"/>
              </a:spcAft>
            </a:pPr>
            <a:r>
              <a:rPr sz="2600" b="1" i="1">
                <a:solidFill>
                  <a:srgbClr val="445437"/>
                </a:solidFill>
              </a:rPr>
              <a:t>d</a:t>
            </a:r>
            <a:r>
              <a:rPr sz="2600" b="1" i="1" baseline="-25000">
                <a:solidFill>
                  <a:srgbClr val="445437"/>
                </a:solidFill>
              </a:rPr>
              <a:t>i</a:t>
            </a:r>
            <a:r>
              <a:rPr sz="2600" b="1">
                <a:solidFill>
                  <a:srgbClr val="445437"/>
                </a:solidFill>
              </a:rPr>
              <a:t>∣ </a:t>
            </a:r>
            <a:r>
              <a:rPr sz="2600" b="1" i="1">
                <a:solidFill>
                  <a:srgbClr val="445437"/>
                </a:solidFill>
              </a:rPr>
              <a:t>d</a:t>
            </a:r>
            <a:r>
              <a:rPr sz="2600" b="1" i="1" baseline="-25000">
                <a:solidFill>
                  <a:srgbClr val="445437"/>
                </a:solidFill>
              </a:rPr>
              <a:t>i</a:t>
            </a:r>
            <a:r>
              <a:rPr sz="2600" b="1" baseline="-25000">
                <a:solidFill>
                  <a:srgbClr val="445437"/>
                </a:solidFill>
              </a:rPr>
              <a:t>+1</a:t>
            </a:r>
            <a:r>
              <a:rPr sz="2600" b="1">
                <a:solidFill>
                  <a:srgbClr val="445437"/>
                </a:solidFill>
              </a:rPr>
              <a:t>+</a:t>
            </a:r>
            <a:r>
              <a:rPr sz="2600" b="1" i="1">
                <a:solidFill>
                  <a:srgbClr val="445437"/>
                </a:solidFill>
              </a:rPr>
              <a:t>d</a:t>
            </a:r>
            <a:r>
              <a:rPr sz="2600" b="1" i="1" baseline="-25000">
                <a:solidFill>
                  <a:srgbClr val="445437"/>
                </a:solidFill>
              </a:rPr>
              <a:t>i</a:t>
            </a:r>
            <a:r>
              <a:rPr sz="2600" b="1" baseline="-25000">
                <a:solidFill>
                  <a:srgbClr val="445437"/>
                </a:solidFill>
              </a:rPr>
              <a:t>+2</a:t>
            </a:r>
          </a:p>
          <a:p>
            <a:pPr algn="l"/>
            <a:r>
              <a:rPr sz="1800"/>
              <a:t>求所有这样的合数 </a:t>
            </a:r>
            <a:r>
              <a:rPr sz="1800" i="1"/>
              <a:t>n</a:t>
            </a:r>
            <a:r>
              <a:rPr sz="1800"/>
              <a:t>。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960" y="5138928"/>
            <a:ext cx="1054303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400">
                <a:solidFill>
                  <a:srgbClr val="445437"/>
                </a:solidFill>
              </a:rPr>
              <a:t>出处：2023 年第 64 届国际数学奥林匹克（IMO）第一题　｜　满分 7 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g_chain.pn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 t="24" b="24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000"/>
              <a:t>01　题目与出处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/>
            <a:r>
              <a:rPr sz="2000"/>
              <a:t>条件说了什么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600"/>
              <a:t>把所有正因数从小到大排成一列，条件只约束相邻三项。</a:t>
            </a:r>
          </a:p>
        </p:txBody>
      </p:sp>
      <p:sp>
        <p:nvSpPr>
          <p:cNvPr id="101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2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103" name="TextBox 102"/>
          <p:cNvSpPr txBox="1"/>
          <p:nvPr/>
        </p:nvSpPr>
        <p:spPr>
          <a:xfrm>
            <a:off x="7452360" y="3749039"/>
            <a:ext cx="3776472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/>
              <a:t>① </a:t>
            </a:r>
            <a:r>
              <a:rPr sz="1500" i="1"/>
              <a:t>d</a:t>
            </a:r>
            <a:r>
              <a:rPr sz="1500" baseline="-25000"/>
              <a:t>1</a:t>
            </a:r>
            <a:r>
              <a:rPr sz="1500"/>
              <a:t>=1</a:t>
            </a:r>
            <a:r>
              <a:rPr sz="1500"/>
              <a:t> 整除任何数，条件从 </a:t>
            </a:r>
            <a:r>
              <a:rPr sz="1500" i="1"/>
              <a:t>i</a:t>
            </a:r>
            <a:r>
              <a:rPr sz="1500"/>
              <a:t>=2</a:t>
            </a:r>
            <a:r>
              <a:rPr sz="1500"/>
              <a:t> 起才真正生效。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/>
              <a:t>② 记 </a:t>
            </a:r>
            <a:r>
              <a:rPr sz="1500" i="1"/>
              <a:t>p</a:t>
            </a:r>
            <a:r>
              <a:rPr sz="1500"/>
              <a:t> 为 </a:t>
            </a:r>
            <a:r>
              <a:rPr sz="1500" i="1"/>
              <a:t>n</a:t>
            </a:r>
            <a:r>
              <a:rPr sz="1500"/>
              <a:t> 的最小素因子，则 </a:t>
            </a:r>
            <a:r>
              <a:rPr sz="1500" i="1"/>
              <a:t>d</a:t>
            </a:r>
            <a:r>
              <a:rPr sz="1500" baseline="-25000"/>
              <a:t>2</a:t>
            </a:r>
            <a:r>
              <a:rPr sz="1500"/>
              <a:t>=</a:t>
            </a:r>
            <a:r>
              <a:rPr sz="1500" i="1"/>
              <a:t>p</a:t>
            </a:r>
            <a:r>
              <a:rPr sz="1500"/>
              <a:t>。</a:t>
            </a:r>
          </a:p>
          <a:p>
            <a:pPr algn="l">
              <a:lnSpc>
                <a:spcPct val="115000"/>
              </a:lnSpc>
            </a:pPr>
            <a:r>
              <a:rPr sz="1500"/>
              <a:t>③ 约束是局部的，结论却是全局的 —— 这正是本题的难点。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 lIns="274320"/>
          <a:lstStyle/>
          <a:p>
            <a:pPr algn="l"/>
            <a:r>
              <a:rPr sz="3200"/>
              <a:t>02　证明思路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 lIns="274320"/>
          <a:lstStyle/>
          <a:p>
            <a:pPr algn="l"/>
            <a:r>
              <a:rPr sz="1600"/>
              <a:t>Proof Strategy</a:t>
            </a:r>
          </a:p>
        </p:txBody>
      </p:sp>
      <p:sp>
        <p:nvSpPr>
          <p:cNvPr id="101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000"/>
              <a:t>02　证明思路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/>
            <a:r>
              <a:rPr sz="2800"/>
              <a:t>两个方向，一个答案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/>
            <a:r>
              <a:rPr sz="1600"/>
              <a:t>先证充分，再证必要</a:t>
            </a:r>
          </a:p>
        </p:txBody>
      </p:sp>
      <p:sp>
        <p:nvSpPr>
          <p:cNvPr id="101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2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103" name="TextBox 102"/>
          <p:cNvSpPr txBox="1"/>
          <p:nvPr/>
        </p:nvSpPr>
        <p:spPr>
          <a:xfrm>
            <a:off x="1005840" y="2514600"/>
            <a:ext cx="101498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445437"/>
                </a:solidFill>
              </a:rPr>
              <a:t>充分性　</a:t>
            </a:r>
            <a:r>
              <a:rPr sz="2000" b="1" i="1">
                <a:solidFill>
                  <a:srgbClr val="445437"/>
                </a:solidFill>
              </a:rPr>
              <a:t>n</a:t>
            </a:r>
            <a:r>
              <a:rPr sz="2000" b="1">
                <a:solidFill>
                  <a:srgbClr val="445437"/>
                </a:solidFill>
              </a:rPr>
              <a:t>=</a:t>
            </a:r>
            <a:r>
              <a:rPr sz="2000" b="1" i="1">
                <a:solidFill>
                  <a:srgbClr val="445437"/>
                </a:solidFill>
              </a:rPr>
              <a:t>p</a:t>
            </a:r>
            <a:r>
              <a:rPr sz="2000" b="1" i="1" baseline="30000">
                <a:solidFill>
                  <a:srgbClr val="445437"/>
                </a:solidFill>
              </a:rPr>
              <a:t>r</a:t>
            </a:r>
            <a:r>
              <a:rPr sz="2000" b="1">
                <a:solidFill>
                  <a:srgbClr val="445437"/>
                </a:solidFill>
              </a:rPr>
              <a:t> ⟹ 条件自动成立</a:t>
            </a:r>
          </a:p>
          <a:p>
            <a:pPr algn="l">
              <a:lnSpc>
                <a:spcPct val="120000"/>
              </a:lnSpc>
            </a:pPr>
            <a:r>
              <a:rPr sz="1600"/>
              <a:t>因数恰为 </a:t>
            </a:r>
            <a:r>
              <a:rPr sz="1600"/>
              <a:t>1,</a:t>
            </a:r>
            <a:r>
              <a:rPr sz="1600" i="1"/>
              <a:t>p</a:t>
            </a:r>
            <a:r>
              <a:rPr sz="1600"/>
              <a:t>,</a:t>
            </a:r>
            <a:r>
              <a:rPr sz="1600" i="1"/>
              <a:t>p</a:t>
            </a:r>
            <a:r>
              <a:rPr sz="1600" baseline="30000"/>
              <a:t>2</a:t>
            </a:r>
            <a:r>
              <a:rPr sz="1600"/>
              <a:t>,⋯,</a:t>
            </a:r>
            <a:r>
              <a:rPr sz="1600" i="1"/>
              <a:t>p</a:t>
            </a:r>
            <a:r>
              <a:rPr sz="1600" i="1" baseline="30000"/>
              <a:t>r</a:t>
            </a:r>
            <a:r>
              <a:rPr sz="1600"/>
              <a:t>，于是 </a:t>
            </a:r>
            <a:r>
              <a:rPr sz="1600" i="1"/>
              <a:t>d</a:t>
            </a:r>
            <a:r>
              <a:rPr sz="1600" i="1" baseline="-25000"/>
              <a:t>i</a:t>
            </a:r>
            <a:r>
              <a:rPr sz="1600" baseline="-25000"/>
              <a:t>+1</a:t>
            </a:r>
            <a:r>
              <a:rPr sz="1600"/>
              <a:t>+</a:t>
            </a:r>
            <a:r>
              <a:rPr sz="1600" i="1"/>
              <a:t>d</a:t>
            </a:r>
            <a:r>
              <a:rPr sz="1600" i="1" baseline="-25000"/>
              <a:t>i</a:t>
            </a:r>
            <a:r>
              <a:rPr sz="1600" baseline="-25000"/>
              <a:t>+2</a:t>
            </a:r>
            <a:r>
              <a:rPr sz="1600"/>
              <a:t>=</a:t>
            </a:r>
            <a:r>
              <a:rPr sz="1600" i="1"/>
              <a:t>p</a:t>
            </a:r>
            <a:r>
              <a:rPr sz="1600" i="1" baseline="30000"/>
              <a:t>i</a:t>
            </a:r>
            <a:r>
              <a:rPr sz="1600"/>
              <a:t>(1+</a:t>
            </a:r>
            <a:r>
              <a:rPr sz="1600" i="1"/>
              <a:t>p</a:t>
            </a:r>
            <a:r>
              <a:rPr sz="1600"/>
              <a:t>)</a:t>
            </a:r>
            <a:r>
              <a:rPr sz="1600"/>
              <a:t>，而 </a:t>
            </a:r>
            <a:r>
              <a:rPr sz="1600" i="1"/>
              <a:t>p</a:t>
            </a:r>
            <a:r>
              <a:rPr sz="1600" i="1" baseline="30000"/>
              <a:t>i</a:t>
            </a:r>
            <a:r>
              <a:rPr sz="1600" baseline="30000"/>
              <a:t>-1</a:t>
            </a:r>
            <a:r>
              <a:rPr sz="1600"/>
              <a:t>∣ </a:t>
            </a:r>
            <a:r>
              <a:rPr sz="1600" i="1"/>
              <a:t>p</a:t>
            </a:r>
            <a:r>
              <a:rPr sz="1600" i="1" baseline="30000"/>
              <a:t>i</a:t>
            </a:r>
            <a:r>
              <a:rPr sz="1600"/>
              <a:t>，整除成立。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005840" y="4096512"/>
            <a:ext cx="10149840" cy="0"/>
          </a:xfrm>
          <a:prstGeom prst="line">
            <a:avLst/>
          </a:prstGeom>
          <a:ln w="12700">
            <a:solidFill>
              <a:srgbClr val="E3E1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1005840" y="4279392"/>
            <a:ext cx="101498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445437"/>
                </a:solidFill>
              </a:rPr>
              <a:t>必要性　</a:t>
            </a:r>
            <a:r>
              <a:rPr sz="2000" b="1" i="1">
                <a:solidFill>
                  <a:srgbClr val="445437"/>
                </a:solidFill>
              </a:rPr>
              <a:t>n</a:t>
            </a:r>
            <a:r>
              <a:rPr sz="2000" b="1">
                <a:solidFill>
                  <a:srgbClr val="445437"/>
                </a:solidFill>
              </a:rPr>
              <a:t> 含两个不同素因子 ⟹ 矛盾</a:t>
            </a:r>
          </a:p>
          <a:p>
            <a:pPr algn="l">
              <a:lnSpc>
                <a:spcPct val="120000"/>
              </a:lnSpc>
            </a:pPr>
            <a:r>
              <a:rPr sz="1600"/>
              <a:t>取互补因数 </a:t>
            </a:r>
            <a:r>
              <a:rPr sz="1600" i="1"/>
              <a:t>d</a:t>
            </a:r>
            <a:r>
              <a:rPr sz="1600" i="1" baseline="-25000"/>
              <a:t>k</a:t>
            </a:r>
            <a:r>
              <a:rPr sz="1600" baseline="-25000"/>
              <a:t>-2</a:t>
            </a:r>
            <a:r>
              <a:rPr sz="1600"/>
              <a:t>=</a:t>
            </a:r>
            <a:r>
              <a:rPr sz="1600" i="1"/>
              <a:t>n</a:t>
            </a:r>
            <a:r>
              <a:rPr sz="1600"/>
              <a:t>/</a:t>
            </a:r>
            <a:r>
              <a:rPr sz="1600" i="1"/>
              <a:t>q</a:t>
            </a:r>
            <a:r>
              <a:rPr sz="1600"/>
              <a:t> 与 </a:t>
            </a:r>
            <a:r>
              <a:rPr sz="1600" i="1"/>
              <a:t>d</a:t>
            </a:r>
            <a:r>
              <a:rPr sz="1600" i="1" baseline="-25000"/>
              <a:t>k</a:t>
            </a:r>
            <a:r>
              <a:rPr sz="1600" baseline="-25000"/>
              <a:t>-1</a:t>
            </a:r>
            <a:r>
              <a:rPr sz="1600"/>
              <a:t>=</a:t>
            </a:r>
            <a:r>
              <a:rPr sz="1600" i="1"/>
              <a:t>n</a:t>
            </a:r>
            <a:r>
              <a:rPr sz="1600"/>
              <a:t>/</a:t>
            </a:r>
            <a:r>
              <a:rPr sz="1600" i="1"/>
              <a:t>p</a:t>
            </a:r>
            <a:r>
              <a:rPr sz="1600"/>
              <a:t>，代入 </a:t>
            </a:r>
            <a:r>
              <a:rPr sz="1600" i="1"/>
              <a:t>i</a:t>
            </a:r>
            <a:r>
              <a:rPr sz="1600"/>
              <a:t>=</a:t>
            </a:r>
            <a:r>
              <a:rPr sz="1600" i="1"/>
              <a:t>k</a:t>
            </a:r>
            <a:r>
              <a:rPr sz="1600"/>
              <a:t>-2</a:t>
            </a:r>
            <a:r>
              <a:rPr sz="1600"/>
              <a:t> 处的条件，推出 </a:t>
            </a:r>
            <a:r>
              <a:rPr sz="1600" i="1"/>
              <a:t>p</a:t>
            </a:r>
            <a:r>
              <a:rPr sz="1600"/>
              <a:t>∣ </a:t>
            </a:r>
            <a:r>
              <a:rPr sz="1600" i="1"/>
              <a:t>p</a:t>
            </a:r>
            <a:r>
              <a:rPr sz="1600"/>
              <a:t>+1</a:t>
            </a:r>
            <a:r>
              <a:rPr sz="1600"/>
              <a:t>，即 </a:t>
            </a:r>
            <a:r>
              <a:rPr sz="1600" i="1"/>
              <a:t>p</a:t>
            </a:r>
            <a:r>
              <a:rPr sz="1600"/>
              <a:t>∣ 1</a:t>
            </a:r>
            <a:r>
              <a:rPr sz="1600"/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000"/>
              <a:t>02　充分性：素数幂都满足条件</a:t>
            </a:r>
          </a:p>
        </p:txBody>
      </p:sp>
      <p:sp>
        <p:nvSpPr>
          <p:cNvPr id="101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2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103" name="TextBox 102"/>
          <p:cNvSpPr txBox="1"/>
          <p:nvPr/>
        </p:nvSpPr>
        <p:spPr>
          <a:xfrm>
            <a:off x="685800" y="1207008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445437"/>
                </a:solidFill>
              </a:rPr>
              <a:t>① 写出因数链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" y="1627632"/>
            <a:ext cx="1081735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/>
              <a:t>设 </a:t>
            </a:r>
            <a:r>
              <a:rPr sz="1800" i="1"/>
              <a:t>n</a:t>
            </a:r>
            <a:r>
              <a:rPr sz="1800"/>
              <a:t>=</a:t>
            </a:r>
            <a:r>
              <a:rPr sz="1800" i="1"/>
              <a:t>p</a:t>
            </a:r>
            <a:r>
              <a:rPr sz="1800" i="1" baseline="30000"/>
              <a:t>r</a:t>
            </a:r>
            <a:r>
              <a:rPr sz="1800"/>
              <a:t>（</a:t>
            </a:r>
            <a:r>
              <a:rPr sz="1800" i="1"/>
              <a:t>p</a:t>
            </a:r>
            <a:r>
              <a:rPr sz="1800"/>
              <a:t> 为素数，</a:t>
            </a:r>
            <a:r>
              <a:rPr sz="1800" i="1"/>
              <a:t>r</a:t>
            </a:r>
            <a:r>
              <a:rPr sz="1800"/>
              <a:t>≥ 2</a:t>
            </a:r>
            <a:r>
              <a:rPr sz="1800"/>
              <a:t>），则 </a:t>
            </a:r>
            <a:r>
              <a:rPr sz="1800" i="1"/>
              <a:t>n</a:t>
            </a:r>
            <a:r>
              <a:rPr sz="1800"/>
              <a:t> 的正因数依次为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5800" y="2029968"/>
            <a:ext cx="1081735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400" b="1">
                <a:solidFill>
                  <a:srgbClr val="2872A1"/>
                </a:solidFill>
              </a:rPr>
              <a:t>1,  </a:t>
            </a:r>
            <a:r>
              <a:rPr sz="2400" b="1" i="1">
                <a:solidFill>
                  <a:srgbClr val="2872A1"/>
                </a:solidFill>
              </a:rPr>
              <a:t>p</a:t>
            </a:r>
            <a:r>
              <a:rPr sz="2400" b="1">
                <a:solidFill>
                  <a:srgbClr val="2872A1"/>
                </a:solidFill>
              </a:rPr>
              <a:t>,  </a:t>
            </a:r>
            <a:r>
              <a:rPr sz="2400" b="1" i="1">
                <a:solidFill>
                  <a:srgbClr val="2872A1"/>
                </a:solidFill>
              </a:rPr>
              <a:t>p</a:t>
            </a:r>
            <a:r>
              <a:rPr sz="2400" b="1" baseline="30000">
                <a:solidFill>
                  <a:srgbClr val="2872A1"/>
                </a:solidFill>
              </a:rPr>
              <a:t>2</a:t>
            </a:r>
            <a:r>
              <a:rPr sz="2400" b="1">
                <a:solidFill>
                  <a:srgbClr val="2872A1"/>
                </a:solidFill>
              </a:rPr>
              <a:t>,  ⋯,  </a:t>
            </a:r>
            <a:r>
              <a:rPr sz="2400" b="1" i="1">
                <a:solidFill>
                  <a:srgbClr val="2872A1"/>
                </a:solidFill>
              </a:rPr>
              <a:t>p</a:t>
            </a:r>
            <a:r>
              <a:rPr sz="2400" b="1" i="1" baseline="30000">
                <a:solidFill>
                  <a:srgbClr val="2872A1"/>
                </a:solidFill>
              </a:rPr>
              <a:t>r</a:t>
            </a:r>
            <a:r>
              <a:rPr sz="2400" b="1">
                <a:solidFill>
                  <a:srgbClr val="2872A1"/>
                </a:solidFill>
              </a:rPr>
              <a:t>　⟹　</a:t>
            </a:r>
            <a:r>
              <a:rPr sz="2400" b="1" i="1">
                <a:solidFill>
                  <a:srgbClr val="2872A1"/>
                </a:solidFill>
              </a:rPr>
              <a:t>d</a:t>
            </a:r>
            <a:r>
              <a:rPr sz="2400" b="1" i="1" baseline="-25000">
                <a:solidFill>
                  <a:srgbClr val="2872A1"/>
                </a:solidFill>
              </a:rPr>
              <a:t>i</a:t>
            </a:r>
            <a:r>
              <a:rPr sz="2400" b="1">
                <a:solidFill>
                  <a:srgbClr val="2872A1"/>
                </a:solidFill>
              </a:rPr>
              <a:t>=</a:t>
            </a:r>
            <a:r>
              <a:rPr sz="2400" b="1" i="1">
                <a:solidFill>
                  <a:srgbClr val="2872A1"/>
                </a:solidFill>
              </a:rPr>
              <a:t>p</a:t>
            </a:r>
            <a:r>
              <a:rPr sz="2400" b="1" i="1" baseline="30000">
                <a:solidFill>
                  <a:srgbClr val="2872A1"/>
                </a:solidFill>
              </a:rPr>
              <a:t>i</a:t>
            </a:r>
            <a:r>
              <a:rPr sz="2400" b="1" baseline="30000">
                <a:solidFill>
                  <a:srgbClr val="2872A1"/>
                </a:solidFill>
              </a:rPr>
              <a:t>-1</a:t>
            </a:r>
            <a:r>
              <a:rPr sz="2400" b="1">
                <a:solidFill>
                  <a:srgbClr val="2872A1"/>
                </a:solidFill>
              </a:rPr>
              <a:t>，</a:t>
            </a:r>
            <a:r>
              <a:rPr sz="2400" b="1" i="1">
                <a:solidFill>
                  <a:srgbClr val="2872A1"/>
                </a:solidFill>
              </a:rPr>
              <a:t>k</a:t>
            </a:r>
            <a:r>
              <a:rPr sz="2400" b="1">
                <a:solidFill>
                  <a:srgbClr val="2872A1"/>
                </a:solidFill>
              </a:rPr>
              <a:t>=</a:t>
            </a:r>
            <a:r>
              <a:rPr sz="2400" b="1" i="1">
                <a:solidFill>
                  <a:srgbClr val="2872A1"/>
                </a:solidFill>
              </a:rPr>
              <a:t>r</a:t>
            </a:r>
            <a:r>
              <a:rPr sz="2400" b="1">
                <a:solidFill>
                  <a:srgbClr val="2872A1"/>
                </a:solidFill>
              </a:rPr>
              <a:t>+1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5800" y="2926080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445437"/>
                </a:solidFill>
              </a:rPr>
              <a:t>② 代入条件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" y="3328416"/>
            <a:ext cx="1081735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400" b="1" i="1">
                <a:solidFill>
                  <a:srgbClr val="2872A1"/>
                </a:solidFill>
              </a:rPr>
              <a:t>d</a:t>
            </a:r>
            <a:r>
              <a:rPr sz="2400" b="1" i="1" baseline="-25000">
                <a:solidFill>
                  <a:srgbClr val="2872A1"/>
                </a:solidFill>
              </a:rPr>
              <a:t>i</a:t>
            </a:r>
            <a:r>
              <a:rPr sz="2400" b="1" baseline="-25000">
                <a:solidFill>
                  <a:srgbClr val="2872A1"/>
                </a:solidFill>
              </a:rPr>
              <a:t>+1</a:t>
            </a:r>
            <a:r>
              <a:rPr sz="2400" b="1">
                <a:solidFill>
                  <a:srgbClr val="2872A1"/>
                </a:solidFill>
              </a:rPr>
              <a:t>+</a:t>
            </a:r>
            <a:r>
              <a:rPr sz="2400" b="1" i="1">
                <a:solidFill>
                  <a:srgbClr val="2872A1"/>
                </a:solidFill>
              </a:rPr>
              <a:t>d</a:t>
            </a:r>
            <a:r>
              <a:rPr sz="2400" b="1" i="1" baseline="-25000">
                <a:solidFill>
                  <a:srgbClr val="2872A1"/>
                </a:solidFill>
              </a:rPr>
              <a:t>i</a:t>
            </a:r>
            <a:r>
              <a:rPr sz="2400" b="1" baseline="-25000">
                <a:solidFill>
                  <a:srgbClr val="2872A1"/>
                </a:solidFill>
              </a:rPr>
              <a:t>+2</a:t>
            </a:r>
            <a:r>
              <a:rPr sz="2400" b="1">
                <a:solidFill>
                  <a:srgbClr val="2872A1"/>
                </a:solidFill>
              </a:rPr>
              <a:t>=</a:t>
            </a:r>
            <a:r>
              <a:rPr sz="2400" b="1" i="1">
                <a:solidFill>
                  <a:srgbClr val="2872A1"/>
                </a:solidFill>
              </a:rPr>
              <a:t>p</a:t>
            </a:r>
            <a:r>
              <a:rPr sz="2400" b="1" i="1" baseline="30000">
                <a:solidFill>
                  <a:srgbClr val="2872A1"/>
                </a:solidFill>
              </a:rPr>
              <a:t>i</a:t>
            </a:r>
            <a:r>
              <a:rPr sz="2400" b="1">
                <a:solidFill>
                  <a:srgbClr val="2872A1"/>
                </a:solidFill>
              </a:rPr>
              <a:t>+</a:t>
            </a:r>
            <a:r>
              <a:rPr sz="2400" b="1" i="1">
                <a:solidFill>
                  <a:srgbClr val="2872A1"/>
                </a:solidFill>
              </a:rPr>
              <a:t>p</a:t>
            </a:r>
            <a:r>
              <a:rPr sz="2400" b="1" i="1" baseline="30000">
                <a:solidFill>
                  <a:srgbClr val="2872A1"/>
                </a:solidFill>
              </a:rPr>
              <a:t>i</a:t>
            </a:r>
            <a:r>
              <a:rPr sz="2400" b="1" baseline="30000">
                <a:solidFill>
                  <a:srgbClr val="2872A1"/>
                </a:solidFill>
              </a:rPr>
              <a:t>+1</a:t>
            </a:r>
            <a:r>
              <a:rPr sz="2400" b="1">
                <a:solidFill>
                  <a:srgbClr val="2872A1"/>
                </a:solidFill>
              </a:rPr>
              <a:t>=</a:t>
            </a:r>
            <a:r>
              <a:rPr sz="2400" b="1" i="1">
                <a:solidFill>
                  <a:srgbClr val="2872A1"/>
                </a:solidFill>
              </a:rPr>
              <a:t>p</a:t>
            </a:r>
            <a:r>
              <a:rPr sz="2400" b="1" i="1" baseline="30000">
                <a:solidFill>
                  <a:srgbClr val="2872A1"/>
                </a:solidFill>
              </a:rPr>
              <a:t>i</a:t>
            </a:r>
            <a:r>
              <a:rPr sz="2400" b="1">
                <a:solidFill>
                  <a:srgbClr val="2872A1"/>
                </a:solidFill>
              </a:rPr>
              <a:t>(1+</a:t>
            </a:r>
            <a:r>
              <a:rPr sz="2400" b="1" i="1">
                <a:solidFill>
                  <a:srgbClr val="2872A1"/>
                </a:solidFill>
              </a:rPr>
              <a:t>p</a:t>
            </a:r>
            <a:r>
              <a:rPr sz="2400" b="1">
                <a:solidFill>
                  <a:srgbClr val="2872A1"/>
                </a:solidFill>
              </a:rPr>
              <a:t>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5800" y="4206240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445437"/>
                </a:solidFill>
              </a:rPr>
              <a:t>③ 整除显然成立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5800" y="4608576"/>
            <a:ext cx="1081735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000"/>
              <a:t>由 </a:t>
            </a:r>
            <a:r>
              <a:rPr sz="2000" i="1"/>
              <a:t>i</a:t>
            </a:r>
            <a:r>
              <a:rPr sz="2000"/>
              <a:t>-1≤ </a:t>
            </a:r>
            <a:r>
              <a:rPr sz="2000" i="1"/>
              <a:t>i</a:t>
            </a:r>
            <a:r>
              <a:rPr sz="2000"/>
              <a:t> 得 </a:t>
            </a:r>
            <a:r>
              <a:rPr sz="2000" i="1"/>
              <a:t>p</a:t>
            </a:r>
            <a:r>
              <a:rPr sz="2000" i="1" baseline="30000"/>
              <a:t>i</a:t>
            </a:r>
            <a:r>
              <a:rPr sz="2000" baseline="30000"/>
              <a:t>-1</a:t>
            </a:r>
            <a:r>
              <a:rPr sz="2000"/>
              <a:t>∣ </a:t>
            </a:r>
            <a:r>
              <a:rPr sz="2000" i="1"/>
              <a:t>p</a:t>
            </a:r>
            <a:r>
              <a:rPr sz="2000" i="1" baseline="30000"/>
              <a:t>i</a:t>
            </a:r>
            <a:r>
              <a:rPr sz="2000"/>
              <a:t>，故 </a:t>
            </a:r>
            <a:r>
              <a:rPr sz="2000" i="1"/>
              <a:t>p</a:t>
            </a:r>
            <a:r>
              <a:rPr sz="2000" i="1" baseline="30000"/>
              <a:t>i</a:t>
            </a:r>
            <a:r>
              <a:rPr sz="2000" baseline="30000"/>
              <a:t>-1</a:t>
            </a:r>
            <a:r>
              <a:rPr sz="2000"/>
              <a:t>∣ </a:t>
            </a:r>
            <a:r>
              <a:rPr sz="2000" i="1"/>
              <a:t>p</a:t>
            </a:r>
            <a:r>
              <a:rPr sz="2000" i="1" baseline="30000"/>
              <a:t>i</a:t>
            </a:r>
            <a:r>
              <a:rPr sz="2000"/>
              <a:t>(1+</a:t>
            </a:r>
            <a:r>
              <a:rPr sz="2000" i="1"/>
              <a:t>p</a:t>
            </a:r>
            <a:r>
              <a:rPr sz="2000"/>
              <a:t>)</a:t>
            </a:r>
            <a:r>
              <a:rPr sz="2000"/>
              <a:t>，即 </a:t>
            </a:r>
            <a:r>
              <a:rPr sz="2000" i="1"/>
              <a:t>d</a:t>
            </a:r>
            <a:r>
              <a:rPr sz="2000" i="1" baseline="-25000"/>
              <a:t>i</a:t>
            </a:r>
            <a:r>
              <a:rPr sz="2000"/>
              <a:t>∣ </a:t>
            </a:r>
            <a:r>
              <a:rPr sz="2000" i="1"/>
              <a:t>d</a:t>
            </a:r>
            <a:r>
              <a:rPr sz="2000" i="1" baseline="-25000"/>
              <a:t>i</a:t>
            </a:r>
            <a:r>
              <a:rPr sz="2000" baseline="-25000"/>
              <a:t>+1</a:t>
            </a:r>
            <a:r>
              <a:rPr sz="2000"/>
              <a:t>+</a:t>
            </a:r>
            <a:r>
              <a:rPr sz="2000" i="1"/>
              <a:t>d</a:t>
            </a:r>
            <a:r>
              <a:rPr sz="2000" i="1" baseline="-25000"/>
              <a:t>i</a:t>
            </a:r>
            <a:r>
              <a:rPr sz="2000" baseline="-25000"/>
              <a:t>+2</a:t>
            </a:r>
            <a:r>
              <a:rPr sz="2000"/>
              <a:t>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85800" y="5358384"/>
            <a:ext cx="1081735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200" b="1">
                <a:solidFill>
                  <a:srgbClr val="445437"/>
                </a:solidFill>
              </a:rPr>
              <a:t>✔　所有形如 </a:t>
            </a:r>
            <a:r>
              <a:rPr sz="2200" b="1" i="1">
                <a:solidFill>
                  <a:srgbClr val="445437"/>
                </a:solidFill>
              </a:rPr>
              <a:t>n</a:t>
            </a:r>
            <a:r>
              <a:rPr sz="2200" b="1">
                <a:solidFill>
                  <a:srgbClr val="445437"/>
                </a:solidFill>
              </a:rPr>
              <a:t>=</a:t>
            </a:r>
            <a:r>
              <a:rPr sz="2200" b="1" i="1">
                <a:solidFill>
                  <a:srgbClr val="445437"/>
                </a:solidFill>
              </a:rPr>
              <a:t>p</a:t>
            </a:r>
            <a:r>
              <a:rPr sz="2200" b="1" i="1" baseline="30000">
                <a:solidFill>
                  <a:srgbClr val="445437"/>
                </a:solidFill>
              </a:rPr>
              <a:t>r</a:t>
            </a:r>
            <a:r>
              <a:rPr sz="2200" b="1">
                <a:solidFill>
                  <a:srgbClr val="445437"/>
                </a:solidFill>
              </a:rPr>
              <a:t>（</a:t>
            </a:r>
            <a:r>
              <a:rPr sz="2200" b="1" i="1">
                <a:solidFill>
                  <a:srgbClr val="445437"/>
                </a:solidFill>
              </a:rPr>
              <a:t>r</a:t>
            </a:r>
            <a:r>
              <a:rPr sz="2200" b="1">
                <a:solidFill>
                  <a:srgbClr val="445437"/>
                </a:solidFill>
              </a:rPr>
              <a:t>≥ 2</a:t>
            </a:r>
            <a:r>
              <a:rPr sz="2200" b="1">
                <a:solidFill>
                  <a:srgbClr val="445437"/>
                </a:solidFill>
              </a:rPr>
              <a:t>）的合数都满足条件。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000"/>
              <a:t>02　必要性：两块基石</a:t>
            </a:r>
          </a:p>
        </p:txBody>
      </p:sp>
      <p:pic>
        <p:nvPicPr>
          <p:cNvPr id="3" name="Picture Placeholder 2" descr="img_seed.pn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 t="23" b="23"/>
          <a:stretch>
            <a:fillRect/>
          </a:stretch>
        </p:blipFill>
        <p:spPr/>
      </p:pic>
      <p:pic>
        <p:nvPicPr>
          <p:cNvPr id="4" name="Picture Placeholder 3" descr="img_lemma.png"/>
          <p:cNvPicPr>
            <a:picLocks noGrp="1" noChangeAspect="1"/>
          </p:cNvPicPr>
          <p:nvPr>
            <p:ph type="pic" idx="13" sz="quarter"/>
          </p:nvPr>
        </p:nvPicPr>
        <p:blipFill>
          <a:blip r:embed="rId3"/>
          <a:srcRect t="23" b="23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 algn="l"/>
            <a:r>
              <a:rPr sz="2000"/>
              <a:t>基石一：</a:t>
            </a:r>
            <a:r>
              <a:rPr sz="2000" i="1"/>
              <a:t>d</a:t>
            </a:r>
            <a:r>
              <a:rPr sz="2000" baseline="-25000"/>
              <a:t>3</a:t>
            </a:r>
            <a:r>
              <a:rPr sz="2000"/>
              <a:t> 必为素数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pPr algn="l"/>
            <a:r>
              <a:rPr sz="2000"/>
              <a:t>基石二：互补因数对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 algn="l"/>
            <a:r>
              <a:rPr sz="1600"/>
              <a:t>设 </a:t>
            </a:r>
            <a:r>
              <a:rPr sz="1600" i="1"/>
              <a:t>p</a:t>
            </a:r>
            <a:r>
              <a:rPr sz="1600"/>
              <a:t> 是 </a:t>
            </a:r>
            <a:r>
              <a:rPr sz="1600" i="1"/>
              <a:t>n</a:t>
            </a:r>
            <a:r>
              <a:rPr sz="1600"/>
              <a:t> 的最小素因子，</a:t>
            </a:r>
            <a:r>
              <a:rPr sz="1600" i="1"/>
              <a:t>q</a:t>
            </a:r>
            <a:r>
              <a:rPr sz="1600"/>
              <a:t> 是第一个「不是 </a:t>
            </a:r>
            <a:r>
              <a:rPr sz="1600" i="1"/>
              <a:t>p</a:t>
            </a:r>
            <a:r>
              <a:rPr sz="1600"/>
              <a:t> 的幂」的因数，则 </a:t>
            </a:r>
            <a:r>
              <a:rPr sz="1600" i="1"/>
              <a:t>q</a:t>
            </a:r>
            <a:r>
              <a:rPr sz="1600"/>
              <a:t>=</a:t>
            </a:r>
            <a:r>
              <a:rPr sz="1600" i="1"/>
              <a:t>d</a:t>
            </a:r>
            <a:r>
              <a:rPr sz="1600" baseline="-25000"/>
              <a:t>3</a:t>
            </a:r>
            <a:r>
              <a:rPr sz="1600"/>
              <a:t>。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 algn="l"/>
            <a:r>
              <a:rPr sz="1600"/>
              <a:t>因数天然成对：</a:t>
            </a:r>
            <a:r>
              <a:rPr sz="1600" i="1"/>
              <a:t>d</a:t>
            </a:r>
            <a:r>
              <a:rPr sz="1600" i="1" baseline="-25000"/>
              <a:t>i</a:t>
            </a:r>
            <a:r>
              <a:rPr sz="1600"/>
              <a:t>· </a:t>
            </a:r>
            <a:r>
              <a:rPr sz="1600" i="1"/>
              <a:t>d</a:t>
            </a:r>
            <a:r>
              <a:rPr sz="1600" i="1" baseline="-25000"/>
              <a:t>k</a:t>
            </a:r>
            <a:r>
              <a:rPr sz="1600" baseline="-25000"/>
              <a:t>+1-</a:t>
            </a:r>
            <a:r>
              <a:rPr sz="1600" i="1" baseline="-25000"/>
              <a:t>i</a:t>
            </a:r>
            <a:r>
              <a:rPr sz="1600"/>
              <a:t>=</a:t>
            </a:r>
            <a:r>
              <a:rPr sz="1600" i="1"/>
              <a:t>n</a:t>
            </a:r>
            <a:r>
              <a:rPr sz="1600"/>
              <a:t>，于是 </a:t>
            </a:r>
            <a:r>
              <a:rPr sz="1600" i="1"/>
              <a:t>d</a:t>
            </a:r>
            <a:r>
              <a:rPr sz="1600" i="1" baseline="-25000"/>
              <a:t>k</a:t>
            </a:r>
            <a:r>
              <a:rPr sz="1600" baseline="-25000"/>
              <a:t>-2</a:t>
            </a:r>
            <a:r>
              <a:rPr sz="1600"/>
              <a:t>=</a:t>
            </a:r>
            <a:r>
              <a:rPr sz="1600" i="1"/>
              <a:t>n</a:t>
            </a:r>
            <a:r>
              <a:rPr sz="1600"/>
              <a:t>/</a:t>
            </a:r>
            <a:r>
              <a:rPr sz="1600" i="1"/>
              <a:t>q</a:t>
            </a:r>
            <a:r>
              <a:rPr sz="1600"/>
              <a:t>，</a:t>
            </a:r>
            <a:r>
              <a:rPr sz="1600" i="1"/>
              <a:t>d</a:t>
            </a:r>
            <a:r>
              <a:rPr sz="1600" i="1" baseline="-25000"/>
              <a:t>k</a:t>
            </a:r>
            <a:r>
              <a:rPr sz="1600" baseline="-25000"/>
              <a:t>-1</a:t>
            </a:r>
            <a:r>
              <a:rPr sz="1600"/>
              <a:t>=</a:t>
            </a:r>
            <a:r>
              <a:rPr sz="1600" i="1"/>
              <a:t>n</a:t>
            </a:r>
            <a:r>
              <a:rPr sz="1600"/>
              <a:t>/</a:t>
            </a:r>
            <a:r>
              <a:rPr sz="1600" i="1"/>
              <a:t>p</a:t>
            </a:r>
            <a:r>
              <a:rPr sz="1600"/>
              <a:t>。</a:t>
            </a:r>
          </a:p>
        </p:txBody>
      </p:sp>
      <p:sp>
        <p:nvSpPr>
          <p:cNvPr id="101" name="日期占位符 2"/>
          <p:cNvSpPr>
            <a:spLocks noGrp="1"/>
          </p:cNvSpPr>
          <p:nvPr>
            <p:ph type="dt" sz="half" idx="2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2" name="灯片编号占位符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9</a:t>
            </a:fld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000"/>
              <a:t>02　必要性：导出矛盾</a:t>
            </a:r>
          </a:p>
        </p:txBody>
      </p:sp>
      <p:sp>
        <p:nvSpPr>
          <p:cNvPr id="101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2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103" name="TextBox 102"/>
          <p:cNvSpPr txBox="1"/>
          <p:nvPr/>
        </p:nvSpPr>
        <p:spPr>
          <a:xfrm>
            <a:off x="685800" y="1280160"/>
            <a:ext cx="1081735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/>
              <a:t>在 </a:t>
            </a:r>
            <a:r>
              <a:rPr sz="1800" i="1"/>
              <a:t>i</a:t>
            </a:r>
            <a:r>
              <a:rPr sz="1800"/>
              <a:t>=</a:t>
            </a:r>
            <a:r>
              <a:rPr sz="1800" i="1"/>
              <a:t>k</a:t>
            </a:r>
            <a:r>
              <a:rPr sz="1800"/>
              <a:t>-2</a:t>
            </a:r>
            <a:r>
              <a:rPr sz="1800"/>
              <a:t> 处使用条件：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" y="1783080"/>
            <a:ext cx="10817352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1">
                <a:solidFill>
                  <a:srgbClr val="2872A1"/>
                </a:solidFill>
              </a:rPr>
              <a:t>n</a:t>
            </a:r>
            <a:r>
              <a:rPr sz="2600" b="1">
                <a:solidFill>
                  <a:srgbClr val="2872A1"/>
                </a:solidFill>
              </a:rPr>
              <a:t>/</a:t>
            </a:r>
            <a:r>
              <a:rPr sz="2600" b="1" i="1">
                <a:solidFill>
                  <a:srgbClr val="2872A1"/>
                </a:solidFill>
              </a:rPr>
              <a:t>q</a:t>
            </a:r>
            <a:r>
              <a:rPr sz="2600" b="1">
                <a:solidFill>
                  <a:srgbClr val="2872A1"/>
                </a:solidFill>
              </a:rPr>
              <a:t> ∣ </a:t>
            </a:r>
            <a:r>
              <a:rPr sz="2600" b="1" i="1">
                <a:solidFill>
                  <a:srgbClr val="2872A1"/>
                </a:solidFill>
              </a:rPr>
              <a:t>n</a:t>
            </a:r>
            <a:r>
              <a:rPr sz="2600" b="1">
                <a:solidFill>
                  <a:srgbClr val="2872A1"/>
                </a:solidFill>
              </a:rPr>
              <a:t>/</a:t>
            </a:r>
            <a:r>
              <a:rPr sz="2600" b="1" i="1">
                <a:solidFill>
                  <a:srgbClr val="2872A1"/>
                </a:solidFill>
              </a:rPr>
              <a:t>p</a:t>
            </a:r>
            <a:r>
              <a:rPr sz="2600" b="1">
                <a:solidFill>
                  <a:srgbClr val="2872A1"/>
                </a:solidFill>
              </a:rPr>
              <a:t> + </a:t>
            </a:r>
            <a:r>
              <a:rPr sz="2600" b="1" i="1">
                <a:solidFill>
                  <a:srgbClr val="2872A1"/>
                </a:solidFill>
              </a:rPr>
              <a:t>n</a:t>
            </a:r>
            <a:r>
              <a:rPr sz="2600" b="1">
                <a:solidFill>
                  <a:srgbClr val="2872A1"/>
                </a:solidFill>
              </a:rPr>
              <a:t> = </a:t>
            </a:r>
            <a:r>
              <a:rPr sz="2600" b="1" i="1">
                <a:solidFill>
                  <a:srgbClr val="2872A1"/>
                </a:solidFill>
              </a:rPr>
              <a:t>n</a:t>
            </a:r>
            <a:r>
              <a:rPr sz="2600" b="1">
                <a:solidFill>
                  <a:srgbClr val="2872A1"/>
                </a:solidFill>
              </a:rPr>
              <a:t>(</a:t>
            </a:r>
            <a:r>
              <a:rPr sz="2600" b="1" i="1">
                <a:solidFill>
                  <a:srgbClr val="2872A1"/>
                </a:solidFill>
              </a:rPr>
              <a:t>p</a:t>
            </a:r>
            <a:r>
              <a:rPr sz="2600" b="1">
                <a:solidFill>
                  <a:srgbClr val="2872A1"/>
                </a:solidFill>
              </a:rPr>
              <a:t>+1)/</a:t>
            </a:r>
            <a:r>
              <a:rPr sz="2600" b="1" i="1">
                <a:solidFill>
                  <a:srgbClr val="2872A1"/>
                </a:solidFill>
              </a:rPr>
              <a:t>p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5800" y="2697480"/>
            <a:ext cx="1081735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/>
              <a:t>两边约去 </a:t>
            </a:r>
            <a:r>
              <a:rPr sz="1800" i="1"/>
              <a:t>n</a:t>
            </a:r>
            <a:r>
              <a:rPr sz="1800"/>
              <a:t>，得 </a:t>
            </a:r>
            <a:r>
              <a:rPr sz="1800" i="1"/>
              <a:t>q</a:t>
            </a:r>
            <a:r>
              <a:rPr sz="1800"/>
              <a:t>(</a:t>
            </a:r>
            <a:r>
              <a:rPr sz="1800" i="1"/>
              <a:t>p</a:t>
            </a:r>
            <a:r>
              <a:rPr sz="1800"/>
              <a:t>+1)/</a:t>
            </a:r>
            <a:r>
              <a:rPr sz="1800" i="1"/>
              <a:t>p</a:t>
            </a:r>
            <a:r>
              <a:rPr sz="1800"/>
              <a:t> 是整数，即 </a:t>
            </a:r>
            <a:r>
              <a:rPr sz="1800" i="1"/>
              <a:t>p</a:t>
            </a:r>
            <a:r>
              <a:rPr sz="1800"/>
              <a:t> ∣ </a:t>
            </a:r>
            <a:r>
              <a:rPr sz="1800" i="1"/>
              <a:t>q</a:t>
            </a:r>
            <a:r>
              <a:rPr sz="1800"/>
              <a:t>(</a:t>
            </a:r>
            <a:r>
              <a:rPr sz="1800" i="1"/>
              <a:t>p</a:t>
            </a:r>
            <a:r>
              <a:rPr sz="1800"/>
              <a:t>+1)</a:t>
            </a:r>
            <a:r>
              <a:rPr sz="1800"/>
              <a:t>。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5800" y="3246120"/>
            <a:ext cx="1081735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/>
              <a:t>又 </a:t>
            </a:r>
            <a:r>
              <a:rPr sz="1800" i="1"/>
              <a:t>p</a:t>
            </a:r>
            <a:r>
              <a:rPr sz="1800"/>
              <a:t> 与 </a:t>
            </a:r>
            <a:r>
              <a:rPr sz="1800" i="1"/>
              <a:t>q</a:t>
            </a:r>
            <a:r>
              <a:rPr sz="1800"/>
              <a:t> 互素，故 </a:t>
            </a:r>
            <a:r>
              <a:rPr sz="1800" i="1"/>
              <a:t>p</a:t>
            </a:r>
            <a:r>
              <a:rPr sz="1800"/>
              <a:t> ∣ </a:t>
            </a:r>
            <a:r>
              <a:rPr sz="1800" i="1"/>
              <a:t>p</a:t>
            </a:r>
            <a:r>
              <a:rPr sz="1800"/>
              <a:t>+1</a:t>
            </a:r>
            <a:r>
              <a:rPr sz="1800"/>
              <a:t>，从而 </a:t>
            </a:r>
            <a:r>
              <a:rPr sz="1800" i="1"/>
              <a:t>p</a:t>
            </a:r>
            <a:r>
              <a:rPr sz="1800"/>
              <a:t> ∣ 1</a:t>
            </a:r>
            <a:r>
              <a:rPr sz="1800"/>
              <a:t>。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85800" y="3931920"/>
            <a:ext cx="10817352" cy="960120"/>
          </a:xfrm>
          <a:prstGeom prst="rect">
            <a:avLst/>
          </a:prstGeom>
          <a:solidFill>
            <a:srgbClr val="E3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68680" y="4041648"/>
            <a:ext cx="10451592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3000" b="1" i="1">
                <a:solidFill>
                  <a:srgbClr val="445437"/>
                </a:solidFill>
              </a:rPr>
              <a:t>p</a:t>
            </a:r>
            <a:r>
              <a:rPr sz="3000" b="1">
                <a:solidFill>
                  <a:srgbClr val="445437"/>
                </a:solidFill>
              </a:rPr>
              <a:t>≥ 2</a:t>
            </a:r>
            <a:r>
              <a:rPr sz="3000" b="1">
                <a:solidFill>
                  <a:srgbClr val="445437"/>
                </a:solidFill>
              </a:rPr>
              <a:t>，矛盾！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5800" y="5120640"/>
            <a:ext cx="1081735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200" b="1">
                <a:solidFill>
                  <a:srgbClr val="445437"/>
                </a:solidFill>
              </a:rPr>
              <a:t>所以 </a:t>
            </a:r>
            <a:r>
              <a:rPr sz="2200" b="1" i="1">
                <a:solidFill>
                  <a:srgbClr val="445437"/>
                </a:solidFill>
              </a:rPr>
              <a:t>n</a:t>
            </a:r>
            <a:r>
              <a:rPr sz="2200" b="1">
                <a:solidFill>
                  <a:srgbClr val="445437"/>
                </a:solidFill>
              </a:rPr>
              <a:t> 不可能含有两个不同的素因子 ——　</a:t>
            </a:r>
            <a:r>
              <a:rPr sz="2200" b="1" i="1">
                <a:solidFill>
                  <a:srgbClr val="445437"/>
                </a:solidFill>
              </a:rPr>
              <a:t>n</a:t>
            </a:r>
            <a:r>
              <a:rPr sz="2200" b="1">
                <a:solidFill>
                  <a:srgbClr val="445437"/>
                </a:solidFill>
              </a:rPr>
              <a:t> 必为素数幂。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 lIns="274320"/>
          <a:lstStyle/>
          <a:p>
            <a:pPr algn="l"/>
            <a:r>
              <a:rPr sz="3200"/>
              <a:t>03　结论与核验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 lIns="274320"/>
          <a:lstStyle/>
          <a:p>
            <a:pPr algn="l"/>
            <a:r>
              <a:rPr sz="1600"/>
              <a:t>Conclusion &amp; Verification</a:t>
            </a:r>
          </a:p>
        </p:txBody>
      </p:sp>
      <p:sp>
        <p:nvSpPr>
          <p:cNvPr id="101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000"/>
              <a:t>03　结论与核验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/>
            <a:r>
              <a:rPr sz="2800"/>
              <a:t>答案：</a:t>
            </a:r>
            <a:r>
              <a:rPr sz="2800" i="1"/>
              <a:t>n</a:t>
            </a:r>
            <a:r>
              <a:rPr sz="2800"/>
              <a:t>=</a:t>
            </a:r>
            <a:r>
              <a:rPr sz="2800" i="1"/>
              <a:t>p</a:t>
            </a:r>
            <a:r>
              <a:rPr sz="2800" i="1" baseline="30000"/>
              <a:t>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/>
            <a:r>
              <a:rPr sz="1600" i="1"/>
              <a:t>p</a:t>
            </a:r>
            <a:r>
              <a:rPr sz="1600"/>
              <a:t> 为素数，</a:t>
            </a:r>
            <a:r>
              <a:rPr sz="1600" i="1"/>
              <a:t>r</a:t>
            </a:r>
            <a:r>
              <a:rPr sz="1600"/>
              <a:t>&gt;1</a:t>
            </a:r>
          </a:p>
        </p:txBody>
      </p:sp>
      <p:sp>
        <p:nvSpPr>
          <p:cNvPr id="101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2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103" name="TextBox 102"/>
          <p:cNvSpPr txBox="1"/>
          <p:nvPr/>
        </p:nvSpPr>
        <p:spPr>
          <a:xfrm>
            <a:off x="914400" y="2606040"/>
            <a:ext cx="10360152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3200" b="1" i="1">
                <a:solidFill>
                  <a:srgbClr val="445437"/>
                </a:solidFill>
              </a:rPr>
              <a:t>n</a:t>
            </a:r>
            <a:r>
              <a:rPr sz="3200" b="1">
                <a:solidFill>
                  <a:srgbClr val="445437"/>
                </a:solidFill>
              </a:rPr>
              <a:t> 是素数幂　⟺　</a:t>
            </a:r>
            <a:r>
              <a:rPr sz="3200" b="1" i="1">
                <a:solidFill>
                  <a:srgbClr val="445437"/>
                </a:solidFill>
              </a:rPr>
              <a:t>n</a:t>
            </a:r>
            <a:r>
              <a:rPr sz="3200" b="1">
                <a:solidFill>
                  <a:srgbClr val="445437"/>
                </a:solidFill>
              </a:rPr>
              <a:t> 满足题设整除条件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3840480" y="3611880"/>
            <a:ext cx="4507992" cy="0"/>
          </a:xfrm>
          <a:prstGeom prst="line">
            <a:avLst/>
          </a:prstGeom>
          <a:ln w="31750">
            <a:solidFill>
              <a:srgbClr val="FFC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914400" y="3886200"/>
            <a:ext cx="10360152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6E6E6E"/>
                </a:solidFill>
              </a:rPr>
              <a:t>最小的若干答案（按 </a:t>
            </a:r>
            <a:r>
              <a:rPr sz="1600" i="1">
                <a:solidFill>
                  <a:srgbClr val="6E6E6E"/>
                </a:solidFill>
              </a:rPr>
              <a:t>n</a:t>
            </a:r>
            <a:r>
              <a:rPr sz="1600">
                <a:solidFill>
                  <a:srgbClr val="6E6E6E"/>
                </a:solidFill>
              </a:rPr>
              <a:t> 从小到大）：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5437"/>
                </a:solidFill>
              </a:rPr>
              <a:t>4, 8, 9, 16, 25, 27, 32, 49, 64, 81, 121, 125, 128, …</a:t>
            </a:r>
          </a:p>
          <a:p>
            <a:pPr algn="ctr"/>
            <a:r>
              <a:rPr sz="1600">
                <a:solidFill>
                  <a:srgbClr val="6E6E6E"/>
                </a:solidFill>
              </a:rPr>
              <a:t>即 </a:t>
            </a:r>
            <a:r>
              <a:rPr sz="1600">
                <a:solidFill>
                  <a:srgbClr val="6E6E6E"/>
                </a:solidFill>
              </a:rPr>
              <a:t>2</a:t>
            </a:r>
            <a:r>
              <a:rPr sz="1600" baseline="30000">
                <a:solidFill>
                  <a:srgbClr val="6E6E6E"/>
                </a:solidFill>
              </a:rPr>
              <a:t>2</a:t>
            </a:r>
            <a:r>
              <a:rPr sz="1600">
                <a:solidFill>
                  <a:srgbClr val="6E6E6E"/>
                </a:solidFill>
              </a:rPr>
              <a:t>, 2</a:t>
            </a:r>
            <a:r>
              <a:rPr sz="1600" baseline="30000">
                <a:solidFill>
                  <a:srgbClr val="6E6E6E"/>
                </a:solidFill>
              </a:rPr>
              <a:t>3</a:t>
            </a:r>
            <a:r>
              <a:rPr sz="1600">
                <a:solidFill>
                  <a:srgbClr val="6E6E6E"/>
                </a:solidFill>
              </a:rPr>
              <a:t>, 3</a:t>
            </a:r>
            <a:r>
              <a:rPr sz="1600" baseline="30000">
                <a:solidFill>
                  <a:srgbClr val="6E6E6E"/>
                </a:solidFill>
              </a:rPr>
              <a:t>2</a:t>
            </a:r>
            <a:r>
              <a:rPr sz="1600">
                <a:solidFill>
                  <a:srgbClr val="6E6E6E"/>
                </a:solidFill>
              </a:rPr>
              <a:t>, 2</a:t>
            </a:r>
            <a:r>
              <a:rPr sz="1600" baseline="30000">
                <a:solidFill>
                  <a:srgbClr val="6E6E6E"/>
                </a:solidFill>
              </a:rPr>
              <a:t>4</a:t>
            </a:r>
            <a:r>
              <a:rPr sz="1600">
                <a:solidFill>
                  <a:srgbClr val="6E6E6E"/>
                </a:solidFill>
              </a:rPr>
              <a:t>, 5</a:t>
            </a:r>
            <a:r>
              <a:rPr sz="1600" baseline="30000">
                <a:solidFill>
                  <a:srgbClr val="6E6E6E"/>
                </a:solidFill>
              </a:rPr>
              <a:t>2</a:t>
            </a:r>
            <a:r>
              <a:rPr sz="1600">
                <a:solidFill>
                  <a:srgbClr val="6E6E6E"/>
                </a:solidFill>
              </a:rPr>
              <a:t>, 3</a:t>
            </a:r>
            <a:r>
              <a:rPr sz="1600" baseline="30000">
                <a:solidFill>
                  <a:srgbClr val="6E6E6E"/>
                </a:solidFill>
              </a:rPr>
              <a:t>3</a:t>
            </a:r>
            <a:r>
              <a:rPr sz="1600">
                <a:solidFill>
                  <a:srgbClr val="6E6E6E"/>
                </a:solidFill>
              </a:rPr>
              <a:t>, 2</a:t>
            </a:r>
            <a:r>
              <a:rPr sz="1600" baseline="30000">
                <a:solidFill>
                  <a:srgbClr val="6E6E6E"/>
                </a:solidFill>
              </a:rPr>
              <a:t>5</a:t>
            </a:r>
            <a:r>
              <a:rPr sz="1600">
                <a:solidFill>
                  <a:srgbClr val="6E6E6E"/>
                </a:solidFill>
              </a:rPr>
              <a:t>, 7</a:t>
            </a:r>
            <a:r>
              <a:rPr sz="1600" baseline="30000">
                <a:solidFill>
                  <a:srgbClr val="6E6E6E"/>
                </a:solidFill>
              </a:rPr>
              <a:t>2</a:t>
            </a:r>
            <a:r>
              <a:rPr sz="1600">
                <a:solidFill>
                  <a:srgbClr val="6E6E6E"/>
                </a:solidFill>
              </a:rPr>
              <a:t>, 2</a:t>
            </a:r>
            <a:r>
              <a:rPr sz="1600" baseline="30000">
                <a:solidFill>
                  <a:srgbClr val="6E6E6E"/>
                </a:solidFill>
              </a:rPr>
              <a:t>6</a:t>
            </a:r>
            <a:r>
              <a:rPr sz="1600">
                <a:solidFill>
                  <a:srgbClr val="6E6E6E"/>
                </a:solidFill>
              </a:rPr>
              <a:t>, 3</a:t>
            </a:r>
            <a:r>
              <a:rPr sz="1600" baseline="30000">
                <a:solidFill>
                  <a:srgbClr val="6E6E6E"/>
                </a:solidFill>
              </a:rPr>
              <a:t>4</a:t>
            </a:r>
            <a:r>
              <a:rPr sz="1600">
                <a:solidFill>
                  <a:srgbClr val="6E6E6E"/>
                </a:solidFill>
              </a:rPr>
              <a:t>, 11</a:t>
            </a:r>
            <a:r>
              <a:rPr sz="1600" baseline="30000">
                <a:solidFill>
                  <a:srgbClr val="6E6E6E"/>
                </a:solidFill>
              </a:rPr>
              <a:t>2</a:t>
            </a:r>
            <a:r>
              <a:rPr sz="1600">
                <a:solidFill>
                  <a:srgbClr val="6E6E6E"/>
                </a:solidFill>
              </a:rPr>
              <a:t>, 5</a:t>
            </a:r>
            <a:r>
              <a:rPr sz="1600" baseline="30000">
                <a:solidFill>
                  <a:srgbClr val="6E6E6E"/>
                </a:solidFill>
              </a:rPr>
              <a:t>3</a:t>
            </a:r>
            <a:r>
              <a:rPr sz="1600">
                <a:solidFill>
                  <a:srgbClr val="6E6E6E"/>
                </a:solidFill>
              </a:rPr>
              <a:t>, 2</a:t>
            </a:r>
            <a:r>
              <a:rPr sz="1600" baseline="30000">
                <a:solidFill>
                  <a:srgbClr val="6E6E6E"/>
                </a:solidFill>
              </a:rPr>
              <a:t>7</a:t>
            </a:r>
            <a:r>
              <a:rPr sz="1600">
                <a:solidFill>
                  <a:srgbClr val="6E6E6E"/>
                </a:solidFill>
              </a:rPr>
              <a:t>,⋯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g_verify.png"/>
          <p:cNvPicPr>
            <a:picLocks noGrp="1" noChangeAspect="1"/>
          </p:cNvPicPr>
          <p:nvPr>
            <p:ph type="pic" idx="12" sz="quarter"/>
          </p:nvPr>
        </p:nvPicPr>
        <p:blipFill>
          <a:blip r:embed="rId2"/>
          <a:srcRect t="24" b="24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000"/>
              <a:t>03　结论与核验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/>
            <a:r>
              <a:rPr sz="2000"/>
              <a:t>枚举验证 </a:t>
            </a:r>
            <a:r>
              <a:rPr sz="2000" i="1"/>
              <a:t>n</a:t>
            </a:r>
            <a:r>
              <a:rPr sz="2000"/>
              <a:t>≤ 2× 10</a:t>
            </a:r>
            <a:r>
              <a:rPr sz="2000" baseline="30000"/>
              <a:t>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 algn="l"/>
            <a:r>
              <a:rPr sz="1600"/>
              <a:t>对每个合数列出全部正因数，逐项检验整除条件。</a:t>
            </a:r>
          </a:p>
        </p:txBody>
      </p:sp>
      <p:sp>
        <p:nvSpPr>
          <p:cNvPr id="101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2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103" name="TextBox 102"/>
          <p:cNvSpPr txBox="1"/>
          <p:nvPr/>
        </p:nvSpPr>
        <p:spPr>
          <a:xfrm>
            <a:off x="7452360" y="3703320"/>
            <a:ext cx="3776472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/>
              <a:t>• 通过检验的 </a:t>
            </a:r>
            <a:r>
              <a:rPr sz="1500" i="1"/>
              <a:t>n</a:t>
            </a:r>
            <a:r>
              <a:rPr sz="1500"/>
              <a:t>：302 个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/>
              <a:t>• 这 302 个数全部形如 </a:t>
            </a:r>
            <a:r>
              <a:rPr sz="1500" i="1"/>
              <a:t>p</a:t>
            </a:r>
            <a:r>
              <a:rPr sz="1500" i="1" baseline="30000"/>
              <a:t>r</a:t>
            </a:r>
            <a:r>
              <a:rPr sz="1500"/>
              <a:t>（</a:t>
            </a:r>
            <a:r>
              <a:rPr sz="1500" i="1"/>
              <a:t>r</a:t>
            </a:r>
            <a:r>
              <a:rPr sz="1500"/>
              <a:t>≥ 2</a:t>
            </a:r>
            <a:r>
              <a:rPr sz="1500"/>
              <a:t>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/>
              <a:t>• 反向枚举 </a:t>
            </a:r>
            <a:r>
              <a:rPr sz="1500" i="1"/>
              <a:t>n</a:t>
            </a:r>
            <a:r>
              <a:rPr sz="1500"/>
              <a:t>≤ 2× 10</a:t>
            </a:r>
            <a:r>
              <a:rPr sz="1500" baseline="30000"/>
              <a:t>6</a:t>
            </a:r>
            <a:r>
              <a:rPr sz="1500"/>
              <a:t> 的所有素数幂，全部通过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445437"/>
                </a:solidFill>
              </a:rPr>
              <a:t>⟹ 程序结果与证明结论完全一致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000"/>
              <a:t>04　提示词与代码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/>
            <a:r>
              <a:rPr sz="2800"/>
              <a:t>给 dsh 的提示词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/>
            <a:r>
              <a:rPr sz="1600"/>
              <a:t>目标、要求、产出一次说清</a:t>
            </a:r>
          </a:p>
        </p:txBody>
      </p:sp>
      <p:sp>
        <p:nvSpPr>
          <p:cNvPr id="101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2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103" name="Rectangle 102"/>
          <p:cNvSpPr/>
          <p:nvPr/>
        </p:nvSpPr>
        <p:spPr>
          <a:xfrm>
            <a:off x="822960" y="2331720"/>
            <a:ext cx="10543032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445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97280" y="2542032"/>
            <a:ext cx="9994392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45437"/>
                </a:solidFill>
              </a:rPr>
              <a:t>请用中文完整解决下面这道数论题：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/>
              <a:t>① 先把题目改写成清晰的数学命题，明确指出充要条件；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/>
              <a:t>② 必要性与充分性分别给出严格证明，每一步说明理由，不要跳步；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/>
              <a:t>③ 用 Python 枚举 </a:t>
            </a:r>
            <a:r>
              <a:rPr sz="1500" i="1"/>
              <a:t>n</a:t>
            </a:r>
            <a:r>
              <a:rPr sz="1500"/>
              <a:t>≤ 2× 10</a:t>
            </a:r>
            <a:r>
              <a:rPr sz="1500" baseline="30000"/>
              <a:t>6</a:t>
            </a:r>
            <a:r>
              <a:rPr sz="1500"/>
              <a:t> 验证结论，并报告解的个数；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/>
              <a:t>④ 最后用一句话总结答案。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333333"/>
                </a:solidFill>
              </a:rPr>
              <a:t>题目：求所有合数 </a:t>
            </a:r>
            <a:r>
              <a:rPr sz="1500" i="1">
                <a:solidFill>
                  <a:srgbClr val="333333"/>
                </a:solidFill>
              </a:rPr>
              <a:t>n</a:t>
            </a:r>
            <a:r>
              <a:rPr sz="1500">
                <a:solidFill>
                  <a:srgbClr val="333333"/>
                </a:solidFill>
              </a:rPr>
              <a:t>&gt;1</a:t>
            </a:r>
            <a:r>
              <a:rPr sz="1500">
                <a:solidFill>
                  <a:srgbClr val="333333"/>
                </a:solidFill>
              </a:rPr>
              <a:t>，若 </a:t>
            </a:r>
            <a:r>
              <a:rPr sz="1500">
                <a:solidFill>
                  <a:srgbClr val="333333"/>
                </a:solidFill>
              </a:rPr>
              <a:t>1=</a:t>
            </a:r>
            <a:r>
              <a:rPr sz="1500" i="1">
                <a:solidFill>
                  <a:srgbClr val="333333"/>
                </a:solidFill>
              </a:rPr>
              <a:t>d</a:t>
            </a:r>
            <a:r>
              <a:rPr sz="1500" baseline="-25000">
                <a:solidFill>
                  <a:srgbClr val="333333"/>
                </a:solidFill>
              </a:rPr>
              <a:t>1</a:t>
            </a:r>
            <a:r>
              <a:rPr sz="1500">
                <a:solidFill>
                  <a:srgbClr val="333333"/>
                </a:solidFill>
              </a:rPr>
              <a:t>&lt;</a:t>
            </a:r>
            <a:r>
              <a:rPr sz="1500" i="1">
                <a:solidFill>
                  <a:srgbClr val="333333"/>
                </a:solidFill>
              </a:rPr>
              <a:t>d</a:t>
            </a:r>
            <a:r>
              <a:rPr sz="1500" baseline="-25000">
                <a:solidFill>
                  <a:srgbClr val="333333"/>
                </a:solidFill>
              </a:rPr>
              <a:t>2</a:t>
            </a:r>
            <a:r>
              <a:rPr sz="1500">
                <a:solidFill>
                  <a:srgbClr val="333333"/>
                </a:solidFill>
              </a:rPr>
              <a:t>&lt;⋯&lt;</a:t>
            </a:r>
            <a:r>
              <a:rPr sz="1500" i="1">
                <a:solidFill>
                  <a:srgbClr val="333333"/>
                </a:solidFill>
              </a:rPr>
              <a:t>d</a:t>
            </a:r>
            <a:r>
              <a:rPr sz="1500" i="1" baseline="-25000">
                <a:solidFill>
                  <a:srgbClr val="333333"/>
                </a:solidFill>
              </a:rPr>
              <a:t>k</a:t>
            </a:r>
            <a:r>
              <a:rPr sz="1500">
                <a:solidFill>
                  <a:srgbClr val="333333"/>
                </a:solidFill>
              </a:rPr>
              <a:t>=</a:t>
            </a:r>
            <a:r>
              <a:rPr sz="1500" i="1">
                <a:solidFill>
                  <a:srgbClr val="333333"/>
                </a:solidFill>
              </a:rPr>
              <a:t>n</a:t>
            </a:r>
            <a:r>
              <a:rPr sz="1500">
                <a:solidFill>
                  <a:srgbClr val="333333"/>
                </a:solidFill>
              </a:rPr>
              <a:t> 为 </a:t>
            </a:r>
            <a:r>
              <a:rPr sz="1500" i="1">
                <a:solidFill>
                  <a:srgbClr val="333333"/>
                </a:solidFill>
              </a:rPr>
              <a:t>n</a:t>
            </a:r>
            <a:r>
              <a:rPr sz="1500">
                <a:solidFill>
                  <a:srgbClr val="333333"/>
                </a:solidFill>
              </a:rPr>
              <a:t> 的全部正因数，且对每个 </a:t>
            </a:r>
            <a:r>
              <a:rPr sz="1500">
                <a:solidFill>
                  <a:srgbClr val="333333"/>
                </a:solidFill>
              </a:rPr>
              <a:t>1≤ </a:t>
            </a:r>
            <a:r>
              <a:rPr sz="1500" i="1">
                <a:solidFill>
                  <a:srgbClr val="333333"/>
                </a:solidFill>
              </a:rPr>
              <a:t>i</a:t>
            </a:r>
            <a:r>
              <a:rPr sz="1500">
                <a:solidFill>
                  <a:srgbClr val="333333"/>
                </a:solidFill>
              </a:rPr>
              <a:t>≤ </a:t>
            </a:r>
            <a:r>
              <a:rPr sz="1500" i="1">
                <a:solidFill>
                  <a:srgbClr val="333333"/>
                </a:solidFill>
              </a:rPr>
              <a:t>k</a:t>
            </a:r>
            <a:r>
              <a:rPr sz="1500">
                <a:solidFill>
                  <a:srgbClr val="333333"/>
                </a:solidFill>
              </a:rPr>
              <a:t>-2</a:t>
            </a:r>
            <a:r>
              <a:rPr sz="1500">
                <a:solidFill>
                  <a:srgbClr val="333333"/>
                </a:solidFill>
              </a:rPr>
              <a:t> 都有 </a:t>
            </a:r>
            <a:r>
              <a:rPr sz="1500" i="1">
                <a:solidFill>
                  <a:srgbClr val="333333"/>
                </a:solidFill>
              </a:rPr>
              <a:t>d</a:t>
            </a:r>
            <a:r>
              <a:rPr sz="1500" i="1" baseline="-25000">
                <a:solidFill>
                  <a:srgbClr val="333333"/>
                </a:solidFill>
              </a:rPr>
              <a:t>i</a:t>
            </a:r>
            <a:r>
              <a:rPr sz="1500">
                <a:solidFill>
                  <a:srgbClr val="333333"/>
                </a:solidFill>
              </a:rPr>
              <a:t>∣ </a:t>
            </a:r>
            <a:r>
              <a:rPr sz="1500" i="1">
                <a:solidFill>
                  <a:srgbClr val="333333"/>
                </a:solidFill>
              </a:rPr>
              <a:t>d</a:t>
            </a:r>
            <a:r>
              <a:rPr sz="1500" i="1" baseline="-25000">
                <a:solidFill>
                  <a:srgbClr val="333333"/>
                </a:solidFill>
              </a:rPr>
              <a:t>i</a:t>
            </a:r>
            <a:r>
              <a:rPr sz="1500" baseline="-25000">
                <a:solidFill>
                  <a:srgbClr val="333333"/>
                </a:solidFill>
              </a:rPr>
              <a:t>+1</a:t>
            </a:r>
            <a:r>
              <a:rPr sz="1500">
                <a:solidFill>
                  <a:srgbClr val="333333"/>
                </a:solidFill>
              </a:rPr>
              <a:t>+</a:t>
            </a:r>
            <a:r>
              <a:rPr sz="1500" i="1">
                <a:solidFill>
                  <a:srgbClr val="333333"/>
                </a:solidFill>
              </a:rPr>
              <a:t>d</a:t>
            </a:r>
            <a:r>
              <a:rPr sz="1500" i="1" baseline="-25000">
                <a:solidFill>
                  <a:srgbClr val="333333"/>
                </a:solidFill>
              </a:rPr>
              <a:t>i</a:t>
            </a:r>
            <a:r>
              <a:rPr sz="1500" baseline="-25000">
                <a:solidFill>
                  <a:srgbClr val="333333"/>
                </a:solidFill>
              </a:rPr>
              <a:t>+2</a:t>
            </a:r>
            <a:r>
              <a:rPr sz="1500">
                <a:solidFill>
                  <a:srgbClr val="333333"/>
                </a:solidFill>
              </a:rPr>
              <a:t>，求所有这样的 </a:t>
            </a:r>
            <a:r>
              <a:rPr sz="1500" i="1">
                <a:solidFill>
                  <a:srgbClr val="333333"/>
                </a:solidFill>
              </a:rPr>
              <a:t>n</a:t>
            </a:r>
            <a:r>
              <a:rPr sz="1500">
                <a:solidFill>
                  <a:srgbClr val="333333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2000"/>
              <a:t>04　代码与运行结果</a:t>
            </a:r>
          </a:p>
        </p:txBody>
      </p:sp>
      <p:sp>
        <p:nvSpPr>
          <p:cNvPr id="101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2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103" name="Rectangle 102"/>
          <p:cNvSpPr/>
          <p:nvPr/>
        </p:nvSpPr>
        <p:spPr>
          <a:xfrm>
            <a:off x="685800" y="1234440"/>
            <a:ext cx="10817352" cy="3794760"/>
          </a:xfrm>
          <a:prstGeom prst="rect">
            <a:avLst/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14400" y="1389888"/>
            <a:ext cx="10378440" cy="3520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from math import isqrt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def divisors(n):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    d = set()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    for i in range(1, isqrt(n) + 1):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        if n % i == 0: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            d |= {i, n // i}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    return sorted(d)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def satisfies(n):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    d = divisors(n)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    return len(d) &gt; 2 and all(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        (d[i+1] + d[i+2]) % d[i] == 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        for i in range(len(d) - 2))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good = [n for n in range(4, 2_000_001) if satisfies(n)]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print(len(good), good[:12])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5800" y="5193792"/>
            <a:ext cx="1081735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>
                <a:solidFill>
                  <a:srgbClr val="445437"/>
                </a:solidFill>
                <a:latin typeface="Consolas"/>
                <a:cs typeface="Consolas"/>
                <a:ea typeface="Consolas"/>
              </a:rPr>
              <a:t>输出：302　[4, 8, 9, 16, 25, 27, 32, 49, 64, 81, 121, 125]</a:t>
            </a:r>
          </a:p>
          <a:p>
            <a:pPr algn="l">
              <a:spcAft>
                <a:spcPts val="0"/>
              </a:spcAft>
            </a:pPr>
            <a:r>
              <a:rPr sz="1500">
                <a:solidFill>
                  <a:srgbClr val="6E6E6E"/>
                </a:solidFill>
              </a:rPr>
              <a:t>即 </a:t>
            </a:r>
            <a:r>
              <a:rPr sz="1500" i="1">
                <a:solidFill>
                  <a:srgbClr val="6E6E6E"/>
                </a:solidFill>
              </a:rPr>
              <a:t>n</a:t>
            </a:r>
            <a:r>
              <a:rPr sz="1500">
                <a:solidFill>
                  <a:srgbClr val="6E6E6E"/>
                </a:solidFill>
              </a:rPr>
              <a:t>≤ 2× 10</a:t>
            </a:r>
            <a:r>
              <a:rPr sz="1500" baseline="30000">
                <a:solidFill>
                  <a:srgbClr val="6E6E6E"/>
                </a:solidFill>
              </a:rPr>
              <a:t>6</a:t>
            </a:r>
            <a:r>
              <a:rPr sz="1500">
                <a:solidFill>
                  <a:srgbClr val="6E6E6E"/>
                </a:solidFill>
              </a:rPr>
              <a:t> 内恰好有 302 个解，全部是素数幂。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 algn="l"/>
            <a:r>
              <a:rPr sz="4000"/>
              <a:t>感谢聆听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algn="l"/>
            <a:r>
              <a:rPr sz="2000"/>
              <a:t>《人工智能导论》第二次作业 · 实践题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pPr algn="l"/>
            <a:r>
              <a:rPr sz="1600"/>
              <a:t>Thanks for Your Attention</a:t>
            </a:r>
          </a:p>
        </p:txBody>
      </p:sp>
      <p:sp>
        <p:nvSpPr>
          <p:cNvPr id="101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7266</Words>
  <Application>WPS 演示</Application>
  <PresentationFormat>宽屏</PresentationFormat>
  <Paragraphs>1267</Paragraphs>
  <Slides>91</Slides>
  <Notes>78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91</vt:i4>
      </vt:variant>
    </vt:vector>
  </HeadingPairs>
  <TitlesOfParts>
    <vt:vector size="107" baseType="lpstr">
      <vt:lpstr>Arial</vt:lpstr>
      <vt:lpstr>宋体</vt:lpstr>
      <vt:lpstr>Wingdings</vt:lpstr>
      <vt:lpstr>Arial</vt:lpstr>
      <vt:lpstr>微软雅黑</vt:lpstr>
      <vt:lpstr>Calibri</vt:lpstr>
      <vt:lpstr>等线</vt:lpstr>
      <vt:lpstr>Segoe UI</vt:lpstr>
      <vt:lpstr>Segoe UI Light</vt:lpstr>
      <vt:lpstr>Arial Unicode MS</vt:lpstr>
      <vt:lpstr>Impact</vt:lpstr>
      <vt:lpstr>Microsoft JhengHei UI Light</vt:lpstr>
      <vt:lpstr>微软雅黑 Light</vt:lpstr>
      <vt:lpstr>Arial Black</vt:lpstr>
      <vt:lpstr>Office 主题​​</vt:lpstr>
      <vt:lpstr>2_OfficePLUS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GTD0402</dc:creator>
  <cp:lastModifiedBy>WPS_1641713961</cp:lastModifiedBy>
  <cp:revision>32</cp:revision>
  <dcterms:created xsi:type="dcterms:W3CDTF">2019-03-11T14:11:00Z</dcterms:created>
  <dcterms:modified xsi:type="dcterms:W3CDTF">2026-10-13T14:17:57Z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2019-04-12T02:41:52.0160681Z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69373f4c-3b11-4ae9-a932-ee563e5098c6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KSOProductBuildVer">
    <vt:lpwstr>2052-12.1.0.28505</vt:lpwstr>
  </property>
  <property fmtid="{D5CDD505-2E9C-101B-9397-08002B2CF9AE}" pid="12" name="ICV">
    <vt:lpwstr>0E47CE23E3564A89B40ADC56D26CA026_13</vt:lpwstr>
  </property>
</Properties>
</file>