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31175" y="128016"/>
            <a:ext cx="4160520" cy="6601968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6949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altLang="zh-CN">
                <a:solidFill>
                  <a:srgbClr val="D97706"/>
                </a:solidFill>
                <a:latin typeface="Microsoft YaHei UI"/>
              </a:rPr>
              <a:t>DeepSeek Harness (dsh) 求解实录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09344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altLang="zh-CN">
                <a:solidFill>
                  <a:srgbClr val="1B3A6B"/>
                </a:solidFill>
                <a:latin typeface="Microsoft YaHei UI"/>
              </a:rPr>
              <a:t>可 分 数 列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altLang="zh-CN">
                <a:solidFill>
                  <a:srgbClr val="1B3A6B"/>
                </a:solidFill>
                <a:latin typeface="Microsoft YaHei UI"/>
              </a:rPr>
              <a:t>结构化新定义题的完整求解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127248"/>
            <a:ext cx="7040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 altLang="zh-CN">
                <a:solidFill>
                  <a:srgbClr val="3E4D66"/>
                </a:solidFill>
                <a:latin typeface="Microsoft YaHei UI"/>
              </a:rPr>
              <a:t>2024 年普通高等学校招生全国统一考试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 altLang="zh-CN">
                <a:solidFill>
                  <a:srgbClr val="3E4D66"/>
                </a:solidFill>
                <a:latin typeface="Microsoft YaHei UI"/>
              </a:rPr>
              <a:t>数学（新课标 Ⅰ 卷）第 19 题 · 全卷压轴 · 17 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133087"/>
            <a:ext cx="566928" cy="502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443984"/>
            <a:ext cx="7132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altLang="zh-CN">
                <a:solidFill>
                  <a:srgbClr val="3E4D66"/>
                </a:solidFill>
                <a:latin typeface="Microsoft YaHei UI"/>
              </a:rPr>
              <a:t>题目自称“(i, j)-可分数列”，是一个当场给出、当场考查的新定义。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altLang="zh-CN">
                <a:solidFill>
                  <a:srgbClr val="3E4D66"/>
                </a:solidFill>
                <a:latin typeface="Microsoft YaHei UI"/>
              </a:rPr>
              <a:t>本卷用一条等价翻译成抓手，用模 4 做分工，用两族构造完成计数下界，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 altLang="zh-CN">
                <a:solidFill>
                  <a:srgbClr val="3E4D66"/>
                </a:solidFill>
                <a:latin typeface="Microsoft YaHei UI"/>
              </a:rPr>
              <a:t>最后用 Python 回溯穷举把结论在机器里复算了一遍。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6327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 altLang="zh-CN">
                <a:solidFill>
                  <a:srgbClr val="132239"/>
                </a:solidFill>
                <a:latin typeface="Microsoft YaHei UI"/>
              </a:rPr>
              <a:t>学号 63026333 · 刘峻宏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9253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altLang="zh-CN">
                <a:solidFill>
                  <a:srgbClr val="7B889B"/>
                </a:solidFill>
                <a:latin typeface="Microsoft YaHei UI"/>
              </a:rPr>
              <a:t>工具链：dsh(DeepSeek headless) × Python 回溯验证 × matplotlib 程序化制图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88375" y="1481328"/>
            <a:ext cx="2999232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88375" y="1481328"/>
            <a:ext cx="2999232" cy="50292"/>
          </a:xfrm>
          <a:prstGeom prst="rect">
            <a:avLst/>
          </a:prstGeom>
          <a:solidFill>
            <a:srgbClr val="2E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26119" y="1755648"/>
            <a:ext cx="25237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altLang="zh-CN">
                <a:solidFill>
                  <a:srgbClr val="132239"/>
                </a:solidFill>
                <a:latin typeface="Microsoft YaHei UI"/>
              </a:rPr>
              <a:t>第 (1) 问 · 枚举定位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6119" y="2121408"/>
            <a:ext cx="2523744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altLang="zh-CN">
                <a:solidFill>
                  <a:srgbClr val="3E4D66"/>
                </a:solidFill>
                <a:latin typeface="Microsoft YaHei UI"/>
              </a:rPr>
              <a:t>把 1…6 中全部四项等差数列列尽，取补集得到 (1,2),(1,6),(5,6)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88375" y="2962656"/>
            <a:ext cx="2999232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88375" y="2962656"/>
            <a:ext cx="2999232" cy="50292"/>
          </a:xfrm>
          <a:prstGeom prst="rect">
            <a:avLst/>
          </a:prstGeom>
          <a:solidFill>
            <a:srgbClr val="0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26119" y="3236976"/>
            <a:ext cx="25237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altLang="zh-CN">
                <a:solidFill>
                  <a:srgbClr val="132239"/>
                </a:solidFill>
                <a:latin typeface="Microsoft YaHei UI"/>
              </a:rPr>
              <a:t>第 (2) 问 · 显式构造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6119" y="3602736"/>
            <a:ext cx="25237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altLang="zh-CN">
                <a:solidFill>
                  <a:srgbClr val="3E4D66"/>
                </a:solidFill>
                <a:latin typeface="Microsoft YaHei UI"/>
              </a:rPr>
              <a:t>删去 2 与 13，给出 m 组下标集合并逐组验证公差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88375" y="4443984"/>
            <a:ext cx="2999232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88375" y="4443984"/>
            <a:ext cx="2999232" cy="502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26119" y="4718304"/>
            <a:ext cx="25237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altLang="zh-CN">
                <a:solidFill>
                  <a:srgbClr val="132239"/>
                </a:solidFill>
                <a:latin typeface="Microsoft YaHei UI"/>
              </a:rPr>
              <a:t>第 (3) 问 · 计数下界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6119" y="5084064"/>
            <a:ext cx="2523744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altLang="zh-CN">
                <a:solidFill>
                  <a:srgbClr val="3E4D66"/>
                </a:solidFill>
                <a:latin typeface="Microsoft YaHei UI"/>
              </a:rPr>
              <a:t>两族构造合计 m</a:t>
            </a:r>
            <a:r>
              <a:rPr sz="819" b="0" baseline="+26000" altLang="zh-CN">
                <a:solidFill>
                  <a:srgbClr val="3E4D66"/>
                </a:solidFill>
                <a:latin typeface="Microsoft YaHei UI"/>
              </a:rPr>
              <a:t>2</a:t>
            </a:r>
            <a:r>
              <a:rPr sz="1050" b="0" i="0" altLang="zh-CN">
                <a:solidFill>
                  <a:srgbClr val="3E4D66"/>
                </a:solidFill>
                <a:latin typeface="Microsoft YaHei UI"/>
              </a:rPr>
              <a:t>+m+1 对，推出 P</a:t>
            </a:r>
            <a:r>
              <a:rPr sz="819" b="0" baseline="-22000" altLang="zh-CN">
                <a:solidFill>
                  <a:srgbClr val="3E4D66"/>
                </a:solidFill>
                <a:latin typeface="Microsoft YaHei UI"/>
              </a:rPr>
              <a:t>m</a:t>
            </a:r>
            <a:r>
              <a:rPr sz="1050" b="0" i="0" altLang="zh-CN">
                <a:solidFill>
                  <a:srgbClr val="3E4D66"/>
                </a:solidFill>
                <a:latin typeface="Microsoft YaHei UI"/>
              </a:rPr>
              <a:t> &gt; 1/8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88375" y="5632704"/>
            <a:ext cx="2999232" cy="786384"/>
          </a:xfrm>
          <a:prstGeom prst="roundRect">
            <a:avLst>
              <a:gd name="adj" fmla="val 14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 UI"/>
              </a:rPr>
              <a:t>结 论</a:t>
            </a:r>
          </a:p>
          <a:p>
            <a:pPr algn="ctr"/>
            <a:r>
              <a:rPr sz="1350" b="1">
                <a:solidFill>
                  <a:srgbClr val="FFFFFF"/>
                </a:solidFill>
                <a:latin typeface="Microsoft YaHei UI"/>
              </a:rPr>
              <a:t>P</a:t>
            </a:r>
            <a:r>
              <a:rPr sz="1026" b="1" baseline="-22000">
                <a:solidFill>
                  <a:srgbClr val="FFFFFF"/>
                </a:solidFill>
                <a:latin typeface="Microsoft YaHei UI"/>
              </a:rPr>
              <a:t>m</a:t>
            </a:r>
            <a:r>
              <a:rPr sz="1350" b="1">
                <a:solidFill>
                  <a:srgbClr val="FFFFFF"/>
                </a:solidFill>
                <a:latin typeface="Microsoft YaHei UI"/>
              </a:rPr>
              <a:t> &gt; 1/8 对一切正整数 m 成立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altLang="zh-CN">
                <a:solidFill>
                  <a:srgbClr val="1B3A6B"/>
                </a:solidFill>
                <a:latin typeface="Microsoft YaHei UI"/>
              </a:rPr>
              <a:t>Route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altLang="zh-CN">
                <a:solidFill>
                  <a:srgbClr val="132239"/>
                </a:solidFill>
                <a:latin typeface="Microsoft YaHei UI"/>
              </a:rPr>
              <a:t>解题全景：从新定义到概率下界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566928" cy="5029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99616" y="1188720"/>
            <a:ext cx="99788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7B889B"/>
                </a:solidFill>
                <a:latin typeface="Microsoft YaHei UI"/>
              </a:rPr>
              <a:t>五步走：翻译成下标语言 → 逐问突破 → 机器复核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09360"/>
            <a:ext cx="10765231" cy="1097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00800"/>
            <a:ext cx="985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altLang="zh-CN">
                <a:solidFill>
                  <a:srgbClr val="7B889B"/>
                </a:solidFill>
                <a:latin typeface="Microsoft YaHei UI"/>
              </a:rPr>
              <a:t>2024 新课标Ⅰ卷 · 第 19 题  |  (i, j)-可分数列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8383" y="6400800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altLang="zh-CN">
                <a:solidFill>
                  <a:srgbClr val="7B889B"/>
                </a:solidFill>
                <a:latin typeface="Microsoft YaHei U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75104"/>
            <a:ext cx="1975104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75104"/>
            <a:ext cx="1975104" cy="68580"/>
          </a:xfrm>
          <a:prstGeom prst="rect">
            <a:avLst/>
          </a:prstGeom>
          <a:solidFill>
            <a:srgbClr val="2E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3969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altLang="zh-CN">
                <a:solidFill>
                  <a:srgbClr val="2E6FD1"/>
                </a:solidFill>
                <a:latin typeface="Microsoft YaHei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87168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 altLang="zh-CN">
                <a:solidFill>
                  <a:srgbClr val="132239"/>
                </a:solidFill>
                <a:latin typeface="Microsoft YaHei UI"/>
              </a:rPr>
              <a:t>读懂新定义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871216"/>
            <a:ext cx="1645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3E4D66"/>
                </a:solidFill>
                <a:latin typeface="Microsoft YaHei UI"/>
              </a:rPr>
              <a:t>“每组 4 个数成等差”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3E4D66"/>
                </a:solidFill>
                <a:latin typeface="Microsoft YaHei UI"/>
              </a:rPr>
              <a:t>翻译成下标的精确覆盖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4912" y="2798064"/>
            <a:ext cx="109728" cy="2743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52928" y="1975104"/>
            <a:ext cx="1975104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52928" y="1975104"/>
            <a:ext cx="1975104" cy="68580"/>
          </a:xfrm>
          <a:prstGeom prst="rect">
            <a:avLst/>
          </a:prstGeom>
          <a:solidFill>
            <a:srgbClr val="0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13969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altLang="zh-CN">
                <a:solidFill>
                  <a:srgbClr val="0F8A80"/>
                </a:solidFill>
                <a:latin typeface="Microsoft YaHei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487168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 altLang="zh-CN">
                <a:solidFill>
                  <a:srgbClr val="132239"/>
                </a:solidFill>
                <a:latin typeface="Microsoft YaHei UI"/>
              </a:rPr>
              <a:t>第 (1) 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871216"/>
            <a:ext cx="1645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3E4D66"/>
                </a:solidFill>
                <a:latin typeface="Microsoft YaHei UI"/>
              </a:rPr>
              <a:t>m = 1，6 项中删 2 项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3E4D66"/>
                </a:solidFill>
                <a:latin typeface="Microsoft YaHei UI"/>
              </a:rPr>
              <a:t>穷举 + 补集 → 3 组答案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798064"/>
            <a:ext cx="109728" cy="2743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74336" y="1975104"/>
            <a:ext cx="1975104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74336" y="1975104"/>
            <a:ext cx="1975104" cy="68580"/>
          </a:xfrm>
          <a:prstGeom prst="rect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38928" y="213969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altLang="zh-CN">
                <a:solidFill>
                  <a:srgbClr val="7C5CD6"/>
                </a:solidFill>
                <a:latin typeface="Microsoft YaHei U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2487168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 altLang="zh-CN">
                <a:solidFill>
                  <a:srgbClr val="132239"/>
                </a:solidFill>
                <a:latin typeface="Microsoft YaHei UI"/>
              </a:rPr>
              <a:t>第 (2) 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2871216"/>
            <a:ext cx="1645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3E4D66"/>
                </a:solidFill>
                <a:latin typeface="Microsoft YaHei UI"/>
              </a:rPr>
              <a:t>(2, 13) 的显式 m 组构造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3E4D66"/>
                </a:solidFill>
                <a:latin typeface="Microsoft YaHei UI"/>
              </a:rPr>
              <a:t>头 3 组 + 尾部 m−3 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67728" y="2798064"/>
            <a:ext cx="109728" cy="2743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95744" y="1975104"/>
            <a:ext cx="1975104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95744" y="1975104"/>
            <a:ext cx="1975104" cy="685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213969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altLang="zh-CN">
                <a:solidFill>
                  <a:srgbClr val="D97706"/>
                </a:solidFill>
                <a:latin typeface="Microsoft YaHei U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336" y="2487168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 altLang="zh-CN">
                <a:solidFill>
                  <a:srgbClr val="132239"/>
                </a:solidFill>
                <a:latin typeface="Microsoft YaHei UI"/>
              </a:rPr>
              <a:t>第 (3) 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0336" y="2871216"/>
            <a:ext cx="1645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3E4D66"/>
                </a:solidFill>
                <a:latin typeface="Microsoft YaHei UI"/>
              </a:rPr>
              <a:t>模 4 分类 → 两族构造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3E4D66"/>
                </a:solidFill>
                <a:latin typeface="Microsoft YaHei UI"/>
              </a:rPr>
              <a:t>合计 m²+m+1 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89136" y="2798064"/>
            <a:ext cx="109728" cy="2743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17152" y="1975104"/>
            <a:ext cx="1975104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17152" y="1975104"/>
            <a:ext cx="1975104" cy="6858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81744" y="213969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altLang="zh-CN">
                <a:solidFill>
                  <a:srgbClr val="D64545"/>
                </a:solidFill>
                <a:latin typeface="Microsoft YaHei U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2487168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 altLang="zh-CN">
                <a:solidFill>
                  <a:srgbClr val="132239"/>
                </a:solidFill>
                <a:latin typeface="Microsoft YaHei UI"/>
              </a:rPr>
              <a:t>机器复核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2871216"/>
            <a:ext cx="1645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3E4D66"/>
                </a:solidFill>
                <a:latin typeface="Microsoft YaHei UI"/>
              </a:rPr>
              <a:t>回溯穷举 m = 1…5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3E4D66"/>
                </a:solidFill>
                <a:latin typeface="Microsoft YaHei UI"/>
              </a:rPr>
              <a:t>理论值与实际完全吻合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041648"/>
            <a:ext cx="10728655" cy="658368"/>
          </a:xfrm>
          <a:prstGeom prst="roundRect">
            <a:avLst>
              <a:gd name="adj" fmla="val 14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 UI"/>
              </a:rPr>
              <a:t>贯穿全题的一条等价：a</a:t>
            </a:r>
            <a:r>
              <a:rPr sz="1102" b="1" baseline="-22000">
                <a:solidFill>
                  <a:srgbClr val="FFFFFF"/>
                </a:solidFill>
                <a:latin typeface="Microsoft YaHei UI"/>
              </a:rPr>
              <a:t>t</a:t>
            </a:r>
            <a:r>
              <a:rPr sz="1450" b="1">
                <a:solidFill>
                  <a:srgbClr val="FFFFFF"/>
                </a:solidFill>
                <a:latin typeface="Microsoft YaHei UI"/>
              </a:rPr>
              <a:t> = a</a:t>
            </a:r>
            <a:r>
              <a:rPr sz="1102" b="1" baseline="-22000">
                <a:solidFill>
                  <a:srgbClr val="FFFFFF"/>
                </a:solidFill>
                <a:latin typeface="Microsoft YaHei UI"/>
              </a:rPr>
              <a:t>1</a:t>
            </a:r>
            <a:r>
              <a:rPr sz="1450" b="1">
                <a:solidFill>
                  <a:srgbClr val="FFFFFF"/>
                </a:solidFill>
                <a:latin typeface="Microsoft YaHei UI"/>
              </a:rPr>
              <a:t> + (t−1)d 是仿射对应，d ≠ 0 —— 「四个项值成等差」 ⇔ 「四个下标成等差」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956048"/>
            <a:ext cx="1737360" cy="310896"/>
          </a:xfrm>
          <a:prstGeom prst="roundRect">
            <a:avLst>
              <a:gd name="adj" fmla="val 30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5006340"/>
            <a:ext cx="1517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altLang="zh-CN">
                <a:solidFill>
                  <a:srgbClr val="1B3A6B"/>
                </a:solidFill>
                <a:latin typeface="Microsoft YaHei UI"/>
              </a:rPr>
              <a:t>关键难点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96896" y="5001768"/>
            <a:ext cx="88449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3E4D66"/>
                </a:solidFill>
                <a:latin typeface="Microsoft YaHei UI"/>
              </a:rPr>
              <a:t>“可不可分”看似是数列值的问题，其实与公差 d 完全无关，只看下标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376672"/>
            <a:ext cx="1737360" cy="310896"/>
          </a:xfrm>
          <a:prstGeom prst="roundRect">
            <a:avLst>
              <a:gd name="adj" fmla="val 30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5426964"/>
            <a:ext cx="1517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altLang="zh-CN">
                <a:solidFill>
                  <a:srgbClr val="1B3A6B"/>
                </a:solidFill>
                <a:latin typeface="Microsoft YaHei UI"/>
              </a:rPr>
              <a:t>破题抓手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96896" y="5422392"/>
            <a:ext cx="88449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3E4D66"/>
                </a:solidFill>
                <a:latin typeface="Microsoft YaHei UI"/>
              </a:rPr>
              <a:t>连续 4 个下标天然成等差 ⇒ 只要把下标切成若干段长度均为 4 的倍数即可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797296"/>
            <a:ext cx="1737360" cy="310896"/>
          </a:xfrm>
          <a:prstGeom prst="roundRect">
            <a:avLst>
              <a:gd name="adj" fmla="val 30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5847588"/>
            <a:ext cx="1517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 altLang="zh-CN">
                <a:solidFill>
                  <a:srgbClr val="1B3A6B"/>
                </a:solidFill>
                <a:latin typeface="Microsoft YaHei UI"/>
              </a:rPr>
              <a:t>为什么还不够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96896" y="5843016"/>
            <a:ext cx="88449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3E4D66"/>
                </a:solidFill>
                <a:latin typeface="Microsoft YaHei UI"/>
              </a:rPr>
              <a:t>只用第一族 (1 mod 4, 2 mod 4)，在 m ≥ 3 时 10/91 &lt; 1/8，必须补第二族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altLang="zh-CN">
                <a:solidFill>
                  <a:srgbClr val="1B3A6B"/>
                </a:solidFill>
                <a:latin typeface="Microsoft YaHei UI"/>
              </a:rPr>
              <a:t>Problem &amp;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altLang="zh-CN">
                <a:solidFill>
                  <a:srgbClr val="132239"/>
                </a:solidFill>
                <a:latin typeface="Microsoft YaHei UI"/>
              </a:rPr>
              <a:t>原题 · 出处 · 设定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566928" cy="5029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99616" y="1188720"/>
            <a:ext cx="99788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7B889B"/>
                </a:solidFill>
                <a:latin typeface="Microsoft YaHei UI"/>
              </a:rPr>
              <a:t>来源：2024 年普通高等学校招生全国统一考试（新课标 Ⅰ 卷）数学，第 19 题，17 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09360"/>
            <a:ext cx="10765231" cy="1097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00800"/>
            <a:ext cx="985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altLang="zh-CN">
                <a:solidFill>
                  <a:srgbClr val="7B889B"/>
                </a:solidFill>
                <a:latin typeface="Microsoft YaHei UI"/>
              </a:rPr>
              <a:t>2024 新课标Ⅰ卷 · 第 19 题  |  (i, j)-可分数列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8383" y="6400800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altLang="zh-CN">
                <a:solidFill>
                  <a:srgbClr val="7B889B"/>
                </a:solidFill>
                <a:latin typeface="Microsoft YaHei U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72768"/>
            <a:ext cx="6967728" cy="3931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7393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1B3A6B"/>
                </a:solidFill>
                <a:latin typeface="Microsoft YaHei UI"/>
              </a:rPr>
              <a:t>原 题 全 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139696"/>
            <a:ext cx="6419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230" b="0" i="0" altLang="zh-CN">
                <a:solidFill>
                  <a:srgbClr val="3E4D66"/>
                </a:solidFill>
                <a:latin typeface="Microsoft YaHei UI"/>
              </a:rPr>
              <a:t>设 m 为正整数，数列 a</a:t>
            </a:r>
            <a:r>
              <a:rPr sz="959" b="0" baseline="-22000" altLang="zh-CN">
                <a:solidFill>
                  <a:srgbClr val="3E4D66"/>
                </a:solidFill>
                <a:latin typeface="Microsoft YaHei UI"/>
              </a:rPr>
              <a:t>1</a:t>
            </a:r>
            <a:r>
              <a:rPr sz="1230" b="0" i="0" altLang="zh-CN">
                <a:solidFill>
                  <a:srgbClr val="3E4D66"/>
                </a:solidFill>
                <a:latin typeface="Microsoft YaHei UI"/>
              </a:rPr>
              <a:t>, a</a:t>
            </a:r>
            <a:r>
              <a:rPr sz="959" b="0" baseline="-22000" altLang="zh-CN">
                <a:solidFill>
                  <a:srgbClr val="3E4D66"/>
                </a:solidFill>
                <a:latin typeface="Microsoft YaHei UI"/>
              </a:rPr>
              <a:t>2</a:t>
            </a:r>
            <a:r>
              <a:rPr sz="1230" b="0" i="0" altLang="zh-CN">
                <a:solidFill>
                  <a:srgbClr val="3E4D66"/>
                </a:solidFill>
                <a:latin typeface="Microsoft YaHei UI"/>
              </a:rPr>
              <a:t>, …, a</a:t>
            </a:r>
            <a:r>
              <a:rPr sz="959" b="0" baseline="-22000" altLang="zh-CN">
                <a:solidFill>
                  <a:srgbClr val="3E4D66"/>
                </a:solidFill>
                <a:latin typeface="Microsoft YaHei UI"/>
              </a:rPr>
              <a:t>4m+2</a:t>
            </a:r>
            <a:r>
              <a:rPr sz="1230" b="0" i="0" altLang="zh-CN">
                <a:solidFill>
                  <a:srgbClr val="3E4D66"/>
                </a:solidFill>
                <a:latin typeface="Microsoft YaHei UI"/>
              </a:rPr>
              <a:t> 是公差不为 0 的等差数列。若从中删去两项 a</a:t>
            </a:r>
            <a:r>
              <a:rPr sz="959" b="0" baseline="-22000" altLang="zh-CN">
                <a:solidFill>
                  <a:srgbClr val="3E4D66"/>
                </a:solidFill>
                <a:latin typeface="Microsoft YaHei UI"/>
              </a:rPr>
              <a:t>i</a:t>
            </a:r>
            <a:r>
              <a:rPr sz="1230" b="0" i="0" altLang="zh-CN">
                <a:solidFill>
                  <a:srgbClr val="3E4D66"/>
                </a:solidFill>
                <a:latin typeface="Microsoft YaHei UI"/>
              </a:rPr>
              <a:t> 和 a</a:t>
            </a:r>
            <a:r>
              <a:rPr sz="959" b="0" baseline="-22000" altLang="zh-CN">
                <a:solidFill>
                  <a:srgbClr val="3E4D66"/>
                </a:solidFill>
                <a:latin typeface="Microsoft YaHei UI"/>
              </a:rPr>
              <a:t>j</a:t>
            </a:r>
            <a:r>
              <a:rPr sz="1230" b="0" i="0" altLang="zh-CN">
                <a:solidFill>
                  <a:srgbClr val="3E4D66"/>
                </a:solidFill>
                <a:latin typeface="Microsoft YaHei UI"/>
              </a:rPr>
              <a:t>（i &lt; j）后，剩余的 4m 项可被平均分为 m 组，且每组的 4 个数都能构成等差数列，则称数列 a</a:t>
            </a:r>
            <a:r>
              <a:rPr sz="959" b="0" baseline="-22000" altLang="zh-CN">
                <a:solidFill>
                  <a:srgbClr val="3E4D66"/>
                </a:solidFill>
                <a:latin typeface="Microsoft YaHei UI"/>
              </a:rPr>
              <a:t>1</a:t>
            </a:r>
            <a:r>
              <a:rPr sz="1230" b="0" i="0" altLang="zh-CN">
                <a:solidFill>
                  <a:srgbClr val="3E4D66"/>
                </a:solidFill>
                <a:latin typeface="Microsoft YaHei UI"/>
              </a:rPr>
              <a:t>, a</a:t>
            </a:r>
            <a:r>
              <a:rPr sz="959" b="0" baseline="-22000" altLang="zh-CN">
                <a:solidFill>
                  <a:srgbClr val="3E4D66"/>
                </a:solidFill>
                <a:latin typeface="Microsoft YaHei UI"/>
              </a:rPr>
              <a:t>2</a:t>
            </a:r>
            <a:r>
              <a:rPr sz="1230" b="0" i="0" altLang="zh-CN">
                <a:solidFill>
                  <a:srgbClr val="3E4D66"/>
                </a:solidFill>
                <a:latin typeface="Microsoft YaHei UI"/>
              </a:rPr>
              <a:t>, …, a</a:t>
            </a:r>
            <a:r>
              <a:rPr sz="959" b="0" baseline="-22000" altLang="zh-CN">
                <a:solidFill>
                  <a:srgbClr val="3E4D66"/>
                </a:solidFill>
                <a:latin typeface="Microsoft YaHei UI"/>
              </a:rPr>
              <a:t>4m+2</a:t>
            </a:r>
            <a:r>
              <a:rPr sz="1230" b="0" i="0" altLang="zh-CN">
                <a:solidFill>
                  <a:srgbClr val="3E4D66"/>
                </a:solidFill>
                <a:latin typeface="Microsoft YaHei UI"/>
              </a:rPr>
              <a:t> 是 (i, j)-可分数列。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108960"/>
            <a:ext cx="641908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10" b="0" i="0" altLang="zh-CN">
                <a:solidFill>
                  <a:srgbClr val="132239"/>
                </a:solidFill>
                <a:latin typeface="Microsoft YaHei UI"/>
              </a:rPr>
              <a:t>(1) 写出所有的 (i, j)，1 ≤ i &lt; j ≤ 6，使数列 a</a:t>
            </a:r>
            <a:r>
              <a:rPr sz="943" b="0" baseline="-22000" altLang="zh-CN">
                <a:solidFill>
                  <a:srgbClr val="132239"/>
                </a:solidFill>
                <a:latin typeface="Microsoft YaHei UI"/>
              </a:rPr>
              <a:t>1</a:t>
            </a:r>
            <a:r>
              <a:rPr sz="1210" b="0" i="0" altLang="zh-CN">
                <a:solidFill>
                  <a:srgbClr val="132239"/>
                </a:solidFill>
                <a:latin typeface="Microsoft YaHei UI"/>
              </a:rPr>
              <a:t>, a</a:t>
            </a:r>
            <a:r>
              <a:rPr sz="943" b="0" baseline="-22000" altLang="zh-CN">
                <a:solidFill>
                  <a:srgbClr val="132239"/>
                </a:solidFill>
                <a:latin typeface="Microsoft YaHei UI"/>
              </a:rPr>
              <a:t>2</a:t>
            </a:r>
            <a:r>
              <a:rPr sz="1210" b="0" i="0" altLang="zh-CN">
                <a:solidFill>
                  <a:srgbClr val="132239"/>
                </a:solidFill>
                <a:latin typeface="Microsoft YaHei UI"/>
              </a:rPr>
              <a:t>, …, a</a:t>
            </a:r>
            <a:r>
              <a:rPr sz="943" b="0" baseline="-22000" altLang="zh-CN">
                <a:solidFill>
                  <a:srgbClr val="132239"/>
                </a:solidFill>
                <a:latin typeface="Microsoft YaHei UI"/>
              </a:rPr>
              <a:t>6</a:t>
            </a:r>
            <a:r>
              <a:rPr sz="1210" b="0" i="0" altLang="zh-CN">
                <a:solidFill>
                  <a:srgbClr val="132239"/>
                </a:solidFill>
                <a:latin typeface="Microsoft YaHei UI"/>
              </a:rPr>
              <a:t> 是 (i, j)-可分数列；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931920"/>
            <a:ext cx="641908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10" b="0" i="0" altLang="zh-CN">
                <a:solidFill>
                  <a:srgbClr val="132239"/>
                </a:solidFill>
                <a:latin typeface="Microsoft YaHei UI"/>
              </a:rPr>
              <a:t>(2) 当 m ≥ 3 时，证明：数列 a</a:t>
            </a:r>
            <a:r>
              <a:rPr sz="943" b="0" baseline="-22000" altLang="zh-CN">
                <a:solidFill>
                  <a:srgbClr val="132239"/>
                </a:solidFill>
                <a:latin typeface="Microsoft YaHei UI"/>
              </a:rPr>
              <a:t>1</a:t>
            </a:r>
            <a:r>
              <a:rPr sz="1210" b="0" i="0" altLang="zh-CN">
                <a:solidFill>
                  <a:srgbClr val="132239"/>
                </a:solidFill>
                <a:latin typeface="Microsoft YaHei UI"/>
              </a:rPr>
              <a:t>, a</a:t>
            </a:r>
            <a:r>
              <a:rPr sz="943" b="0" baseline="-22000" altLang="zh-CN">
                <a:solidFill>
                  <a:srgbClr val="132239"/>
                </a:solidFill>
                <a:latin typeface="Microsoft YaHei UI"/>
              </a:rPr>
              <a:t>2</a:t>
            </a:r>
            <a:r>
              <a:rPr sz="1210" b="0" i="0" altLang="zh-CN">
                <a:solidFill>
                  <a:srgbClr val="132239"/>
                </a:solidFill>
                <a:latin typeface="Microsoft YaHei UI"/>
              </a:rPr>
              <a:t>, …, a</a:t>
            </a:r>
            <a:r>
              <a:rPr sz="943" b="0" baseline="-22000" altLang="zh-CN">
                <a:solidFill>
                  <a:srgbClr val="132239"/>
                </a:solidFill>
                <a:latin typeface="Microsoft YaHei UI"/>
              </a:rPr>
              <a:t>4m+2</a:t>
            </a:r>
            <a:r>
              <a:rPr sz="1210" b="0" i="0" altLang="zh-CN">
                <a:solidFill>
                  <a:srgbClr val="132239"/>
                </a:solidFill>
                <a:latin typeface="Microsoft YaHei UI"/>
              </a:rPr>
              <a:t> 是 (2, 13)-可分数列；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754880"/>
            <a:ext cx="641908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10" b="0" i="0" altLang="zh-CN">
                <a:solidFill>
                  <a:srgbClr val="132239"/>
                </a:solidFill>
                <a:latin typeface="Microsoft YaHei UI"/>
              </a:rPr>
              <a:t>(3) 从 1, 2, …, 4m+2 中一次任取两个数 i 和 j（i &lt; j），记数列 a</a:t>
            </a:r>
            <a:r>
              <a:rPr sz="943" b="0" baseline="-22000" altLang="zh-CN">
                <a:solidFill>
                  <a:srgbClr val="132239"/>
                </a:solidFill>
                <a:latin typeface="Microsoft YaHei UI"/>
              </a:rPr>
              <a:t>1</a:t>
            </a:r>
            <a:r>
              <a:rPr sz="1210" b="0" i="0" altLang="zh-CN">
                <a:solidFill>
                  <a:srgbClr val="132239"/>
                </a:solidFill>
                <a:latin typeface="Microsoft YaHei UI"/>
              </a:rPr>
              <a:t>, a</a:t>
            </a:r>
            <a:r>
              <a:rPr sz="943" b="0" baseline="-22000" altLang="zh-CN">
                <a:solidFill>
                  <a:srgbClr val="132239"/>
                </a:solidFill>
                <a:latin typeface="Microsoft YaHei UI"/>
              </a:rPr>
              <a:t>2</a:t>
            </a:r>
            <a:r>
              <a:rPr sz="1210" b="0" i="0" altLang="zh-CN">
                <a:solidFill>
                  <a:srgbClr val="132239"/>
                </a:solidFill>
                <a:latin typeface="Microsoft YaHei UI"/>
              </a:rPr>
              <a:t>, …, a</a:t>
            </a:r>
            <a:r>
              <a:rPr sz="943" b="0" baseline="-22000" altLang="zh-CN">
                <a:solidFill>
                  <a:srgbClr val="132239"/>
                </a:solidFill>
                <a:latin typeface="Microsoft YaHei UI"/>
              </a:rPr>
              <a:t>4m+2</a:t>
            </a:r>
            <a:r>
              <a:rPr sz="1210" b="0" i="0" altLang="zh-CN">
                <a:solidFill>
                  <a:srgbClr val="132239"/>
                </a:solidFill>
                <a:latin typeface="Microsoft YaHei UI"/>
              </a:rPr>
              <a:t> 是 (i, j)-可分数列的概率为 P</a:t>
            </a:r>
            <a:r>
              <a:rPr sz="943" b="0" baseline="-22000" altLang="zh-CN">
                <a:solidFill>
                  <a:srgbClr val="132239"/>
                </a:solidFill>
                <a:latin typeface="Microsoft YaHei UI"/>
              </a:rPr>
              <a:t>m</a:t>
            </a:r>
            <a:r>
              <a:rPr sz="1210" b="0" i="0" altLang="zh-CN">
                <a:solidFill>
                  <a:srgbClr val="132239"/>
                </a:solidFill>
                <a:latin typeface="Microsoft YaHei UI"/>
              </a:rPr>
              <a:t>，证明：P</a:t>
            </a:r>
            <a:r>
              <a:rPr sz="943" b="0" baseline="-22000" altLang="zh-CN">
                <a:solidFill>
                  <a:srgbClr val="132239"/>
                </a:solidFill>
                <a:latin typeface="Microsoft YaHei UI"/>
              </a:rPr>
              <a:t>m</a:t>
            </a:r>
            <a:r>
              <a:rPr sz="1210" b="0" i="0" altLang="zh-CN">
                <a:solidFill>
                  <a:srgbClr val="132239"/>
                </a:solidFill>
                <a:latin typeface="Microsoft YaHei UI"/>
              </a:rPr>
              <a:t> &gt; 1/8。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0416" y="1572768"/>
            <a:ext cx="3578047" cy="39319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079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773936"/>
            <a:ext cx="3102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1B3A6B"/>
                </a:solidFill>
                <a:latin typeface="Microsoft YaHei UI"/>
              </a:rPr>
              <a:t>题 源 信 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103120"/>
            <a:ext cx="3102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60" b="1" i="0" altLang="zh-CN">
                <a:solidFill>
                  <a:srgbClr val="7B889B"/>
                </a:solidFill>
                <a:latin typeface="Microsoft YaHei UI"/>
              </a:rPr>
              <a:t>考试名称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286000"/>
            <a:ext cx="31025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132239"/>
                </a:solidFill>
                <a:latin typeface="Microsoft YaHei UI"/>
              </a:rPr>
              <a:t>2024 年普通高等学校招生全国统一考试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651760"/>
            <a:ext cx="3102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60" b="1" i="0" altLang="zh-CN">
                <a:solidFill>
                  <a:srgbClr val="7B889B"/>
                </a:solidFill>
                <a:latin typeface="Microsoft YaHei UI"/>
              </a:rPr>
              <a:t>使用卷种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834640"/>
            <a:ext cx="31025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132239"/>
                </a:solidFill>
                <a:latin typeface="Microsoft YaHei UI"/>
              </a:rPr>
              <a:t>新课标 Ⅰ 卷（浙江、江苏、山东、广东等省份使用）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200400"/>
            <a:ext cx="3102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60" b="1" i="0" altLang="zh-CN">
                <a:solidFill>
                  <a:srgbClr val="7B889B"/>
                </a:solidFill>
                <a:latin typeface="Microsoft YaHei UI"/>
              </a:rPr>
              <a:t>科目 / 题号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83280"/>
            <a:ext cx="31025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132239"/>
                </a:solidFill>
                <a:latin typeface="Microsoft YaHei UI"/>
              </a:rPr>
              <a:t>数学 · 第 19 题（解答题压轴）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749039"/>
            <a:ext cx="3102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60" b="1" i="0" altLang="zh-CN">
                <a:solidFill>
                  <a:srgbClr val="7B889B"/>
                </a:solidFill>
                <a:latin typeface="Microsoft YaHei UI"/>
              </a:rPr>
              <a:t>分值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931920"/>
            <a:ext cx="31025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132239"/>
                </a:solidFill>
                <a:latin typeface="Microsoft YaHei UI"/>
              </a:rPr>
              <a:t>17 分，三小问递进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297679"/>
            <a:ext cx="3102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60" b="1" i="0" altLang="zh-CN">
                <a:solidFill>
                  <a:srgbClr val="7B889B"/>
                </a:solidFill>
                <a:latin typeface="Microsoft YaHei UI"/>
              </a:rPr>
              <a:t>试卷时间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480559"/>
            <a:ext cx="31025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132239"/>
                </a:solidFill>
                <a:latin typeface="Microsoft YaHei UI"/>
              </a:rPr>
              <a:t>2024 年 6 月 7 日 15:00—17:00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846319"/>
            <a:ext cx="3102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60" b="1" i="0" altLang="zh-CN">
                <a:solidFill>
                  <a:srgbClr val="7B889B"/>
                </a:solidFill>
                <a:latin typeface="Microsoft YaHei UI"/>
              </a:rPr>
              <a:t>题型定位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029199"/>
            <a:ext cx="31025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132239"/>
                </a:solidFill>
                <a:latin typeface="Microsoft YaHei UI"/>
              </a:rPr>
              <a:t>新定义结构题：即时概念 + 存在性构造 + 概率计数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5632704"/>
            <a:ext cx="10765231" cy="512064"/>
          </a:xfrm>
          <a:prstGeom prst="roundRect">
            <a:avLst>
              <a:gd name="adj" fmla="val 14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5742432"/>
            <a:ext cx="1021659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40" b="0" i="0" altLang="zh-CN">
                <a:solidFill>
                  <a:srgbClr val="3E4D66"/>
                </a:solidFill>
                <a:latin typeface="Microsoft YaHei UI"/>
              </a:rPr>
              <a:t>为什么值得单独做一遍：它把「数列 · 集合划分 · 同余分类 · 组合计数 · 概率估计」五个模块串成一条链，且没有任何现成模型可套——必须先自己造出翻译工具。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altLang="zh-CN">
                <a:solidFill>
                  <a:srgbClr val="1B3A6B"/>
                </a:solidFill>
                <a:latin typeface="Microsoft YaHei UI"/>
              </a:rPr>
              <a:t>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altLang="zh-CN">
                <a:solidFill>
                  <a:srgbClr val="132239"/>
                </a:solidFill>
                <a:latin typeface="Microsoft YaHei UI"/>
              </a:rPr>
              <a:t>命题透视：这道题在考什么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566928" cy="5029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99616" y="1188720"/>
            <a:ext cx="99788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7B889B"/>
                </a:solidFill>
                <a:latin typeface="Microsoft YaHei UI"/>
              </a:rPr>
              <a:t>把一道新定义题拆成四个能力点——每一问各占其一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09360"/>
            <a:ext cx="10765231" cy="1097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00800"/>
            <a:ext cx="985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altLang="zh-CN">
                <a:solidFill>
                  <a:srgbClr val="7B889B"/>
                </a:solidFill>
                <a:latin typeface="Microsoft YaHei UI"/>
              </a:rPr>
              <a:t>2024 新课标Ⅰ卷 · 第 19 题  |  (i, j)-可分数列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8383" y="6400800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altLang="zh-CN">
                <a:solidFill>
                  <a:srgbClr val="7B889B"/>
                </a:solidFill>
                <a:latin typeface="Microsoft YaHei U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27632"/>
            <a:ext cx="5080863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627632"/>
            <a:ext cx="5080863" cy="50292"/>
          </a:xfrm>
          <a:prstGeom prst="rect">
            <a:avLst/>
          </a:prstGeom>
          <a:solidFill>
            <a:srgbClr val="2E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901952"/>
            <a:ext cx="4605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altLang="zh-CN">
                <a:solidFill>
                  <a:srgbClr val="132239"/>
                </a:solidFill>
                <a:latin typeface="Microsoft YaHei UI"/>
              </a:rPr>
              <a:t>① 即时学习与转化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267712"/>
            <a:ext cx="460537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 altLang="zh-CN">
                <a:solidFill>
                  <a:srgbClr val="3E4D66"/>
                </a:solidFill>
                <a:latin typeface="Microsoft YaHei UI"/>
              </a:rPr>
              <a:t>“4 个数成等差” ⇔ “4 个下标成等差”。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 altLang="zh-CN">
                <a:solidFill>
                  <a:srgbClr val="3E4D66"/>
                </a:solidFill>
                <a:latin typeface="Microsoft YaHei UI"/>
              </a:rPr>
              <a:t>把数列语言翻译成纯粹的组合语言，公差 d 从此不再出现。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95263" y="1627632"/>
            <a:ext cx="5080863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95263" y="1627632"/>
            <a:ext cx="5080863" cy="50292"/>
          </a:xfrm>
          <a:prstGeom prst="rect">
            <a:avLst/>
          </a:prstGeom>
          <a:solidFill>
            <a:srgbClr val="0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7" y="1901952"/>
            <a:ext cx="4605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altLang="zh-CN">
                <a:solidFill>
                  <a:srgbClr val="132239"/>
                </a:solidFill>
                <a:latin typeface="Microsoft YaHei UI"/>
              </a:rPr>
              <a:t>② 穷举的完备性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2267712"/>
            <a:ext cx="460537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 altLang="zh-CN">
                <a:solidFill>
                  <a:srgbClr val="3E4D66"/>
                </a:solidFill>
                <a:latin typeface="Microsoft YaHei UI"/>
              </a:rPr>
              <a:t>第 (1) 问要「写出所有」，必须先论证 1…6 中的四项等差数列只有 3 条，再取补集——枚举也要给出上界。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749039"/>
            <a:ext cx="5080863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749039"/>
            <a:ext cx="5080863" cy="50292"/>
          </a:xfrm>
          <a:prstGeom prst="rect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023359"/>
            <a:ext cx="4605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altLang="zh-CN">
                <a:solidFill>
                  <a:srgbClr val="132239"/>
                </a:solidFill>
                <a:latin typeface="Microsoft YaHei UI"/>
              </a:rPr>
              <a:t>③ 构造性证明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460537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 altLang="zh-CN">
                <a:solidFill>
                  <a:srgbClr val="3E4D66"/>
                </a:solidFill>
                <a:latin typeface="Microsoft YaHei UI"/>
              </a:rPr>
              <a:t>第 (2) 问不要求计数，只要求「一定能做到」。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 altLang="zh-CN">
                <a:solidFill>
                  <a:srgbClr val="3E4D66"/>
                </a:solidFill>
                <a:latin typeface="Microsoft YaHei UI"/>
              </a:rPr>
              <a:t>于是给出 m 组显式下标集合即可，关键在于尾部的块数。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95263" y="3749039"/>
            <a:ext cx="5080863" cy="1920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95263" y="3749039"/>
            <a:ext cx="5080863" cy="502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3007" y="4023359"/>
            <a:ext cx="4605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altLang="zh-CN">
                <a:solidFill>
                  <a:srgbClr val="132239"/>
                </a:solidFill>
                <a:latin typeface="Microsoft YaHei UI"/>
              </a:rPr>
              <a:t>④ 计数与概率估计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3007" y="4389120"/>
            <a:ext cx="460537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 altLang="zh-CN">
                <a:solidFill>
                  <a:srgbClr val="3E4D66"/>
                </a:solidFill>
                <a:latin typeface="Microsoft YaHei UI"/>
              </a:rPr>
              <a:t>第 (3) 问只需下界：构造一族一定可分的 (i, j)，数出对数，与总对数 C(4m+2, 2) 相除。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5742432"/>
            <a:ext cx="10765231" cy="603504"/>
          </a:xfrm>
          <a:prstGeom prst="roundRect">
            <a:avLst>
              <a:gd name="adj" fmla="val 10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5870448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3E4D66"/>
                </a:solidFill>
                <a:latin typeface="Microsoft YaHei UI"/>
              </a:rPr>
              <a:t>评分视角：第 (1) 问看结论是否穷尽；第 (2) 问看分组是否显式且能覆盖任意 m ≥ 3；第 (3) 问看是否给出了「可分数对」的构造族并正确计数——只给一族会卡在 m ≥ 3。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altLang="zh-CN">
                <a:solidFill>
                  <a:srgbClr val="1B3A6B"/>
                </a:solidFill>
                <a:latin typeface="Microsoft YaHei UI"/>
              </a:rPr>
              <a:t>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altLang="zh-CN">
                <a:solidFill>
                  <a:srgbClr val="132239"/>
                </a:solidFill>
                <a:latin typeface="Microsoft YaHei UI"/>
              </a:rPr>
              <a:t>核心引理：把题目翻译成中文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566928" cy="5029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99616" y="1188720"/>
            <a:ext cx="99788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7B889B"/>
                </a:solidFill>
                <a:latin typeface="Microsoft YaHei UI"/>
              </a:rPr>
              <a:t>这是全题唯一的技术性前提，也是唯一必须写双向的一步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09360"/>
            <a:ext cx="10765231" cy="1097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00800"/>
            <a:ext cx="985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altLang="zh-CN">
                <a:solidFill>
                  <a:srgbClr val="7B889B"/>
                </a:solidFill>
                <a:latin typeface="Microsoft YaHei UI"/>
              </a:rPr>
              <a:t>2024 新课标Ⅰ卷 · 第 19 题  |  (i, j)-可分数列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8383" y="6400800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altLang="zh-CN">
                <a:solidFill>
                  <a:srgbClr val="7B889B"/>
                </a:solidFill>
                <a:latin typeface="Microsoft YaHei U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91056"/>
            <a:ext cx="4315968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91056"/>
            <a:ext cx="50292" cy="1078992"/>
          </a:xfrm>
          <a:prstGeom prst="rect">
            <a:avLst/>
          </a:prstGeom>
          <a:solidFill>
            <a:srgbClr val="2E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37360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1B3A6B"/>
                </a:solidFill>
                <a:latin typeface="Microsoft YaHei UI"/>
              </a:rPr>
              <a:t>引 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39684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200"/>
              </a:spcAft>
            </a:pPr>
            <a:r>
              <a:rPr sz="1240" b="0" i="0" altLang="zh-CN">
                <a:solidFill>
                  <a:srgbClr val="132239"/>
                </a:solidFill>
                <a:latin typeface="Microsoft YaHei UI"/>
              </a:rPr>
              <a:t>互异下标 p, q, r, s：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200"/>
              </a:spcAft>
            </a:pPr>
            <a:r>
              <a:rPr sz="1240" b="0" i="0" altLang="zh-CN">
                <a:solidFill>
                  <a:srgbClr val="132239"/>
                </a:solidFill>
                <a:latin typeface="Microsoft YaHei UI"/>
              </a:rPr>
              <a:t>a</a:t>
            </a:r>
            <a:r>
              <a:rPr sz="967" b="0" baseline="-22000" altLang="zh-CN">
                <a:solidFill>
                  <a:srgbClr val="132239"/>
                </a:solidFill>
                <a:latin typeface="Microsoft YaHei UI"/>
              </a:rPr>
              <a:t>p</a:t>
            </a:r>
            <a:r>
              <a:rPr sz="1240" b="0" i="0" altLang="zh-CN">
                <a:solidFill>
                  <a:srgbClr val="132239"/>
                </a:solidFill>
                <a:latin typeface="Microsoft YaHei UI"/>
              </a:rPr>
              <a:t>, a</a:t>
            </a:r>
            <a:r>
              <a:rPr sz="967" b="0" baseline="-22000" altLang="zh-CN">
                <a:solidFill>
                  <a:srgbClr val="132239"/>
                </a:solidFill>
                <a:latin typeface="Microsoft YaHei UI"/>
              </a:rPr>
              <a:t>q</a:t>
            </a:r>
            <a:r>
              <a:rPr sz="1240" b="0" i="0" altLang="zh-CN">
                <a:solidFill>
                  <a:srgbClr val="132239"/>
                </a:solidFill>
                <a:latin typeface="Microsoft YaHei UI"/>
              </a:rPr>
              <a:t>, a</a:t>
            </a:r>
            <a:r>
              <a:rPr sz="967" b="0" baseline="-22000" altLang="zh-CN">
                <a:solidFill>
                  <a:srgbClr val="132239"/>
                </a:solidFill>
                <a:latin typeface="Microsoft YaHei UI"/>
              </a:rPr>
              <a:t>r</a:t>
            </a:r>
            <a:r>
              <a:rPr sz="1240" b="0" i="0" altLang="zh-CN">
                <a:solidFill>
                  <a:srgbClr val="132239"/>
                </a:solidFill>
                <a:latin typeface="Microsoft YaHei UI"/>
              </a:rPr>
              <a:t>, a</a:t>
            </a:r>
            <a:r>
              <a:rPr sz="967" b="0" baseline="-22000" altLang="zh-CN">
                <a:solidFill>
                  <a:srgbClr val="132239"/>
                </a:solidFill>
                <a:latin typeface="Microsoft YaHei UI"/>
              </a:rPr>
              <a:t>s</a:t>
            </a:r>
            <a:r>
              <a:rPr sz="1240" b="0" i="0" altLang="zh-CN">
                <a:solidFill>
                  <a:srgbClr val="132239"/>
                </a:solidFill>
                <a:latin typeface="Microsoft YaHei UI"/>
              </a:rPr>
              <a:t> 重排后成等差  ⇕  p, q, r, s 重排后成等差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85292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altLang="zh-CN">
                <a:solidFill>
                  <a:srgbClr val="1B3A6B"/>
                </a:solidFill>
                <a:latin typeface="Microsoft YaHei UI"/>
              </a:rPr>
              <a:t>证 明 要 点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264408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163824"/>
            <a:ext cx="4078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altLang="zh-CN">
                <a:solidFill>
                  <a:srgbClr val="132239"/>
                </a:solidFill>
                <a:latin typeface="Microsoft YaHei UI"/>
              </a:rPr>
              <a:t>⇒ 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401568"/>
            <a:ext cx="4078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altLang="zh-CN">
                <a:solidFill>
                  <a:srgbClr val="3E4D66"/>
                </a:solidFill>
                <a:latin typeface="Microsoft YaHei UI"/>
              </a:rPr>
              <a:t>若四个值成等差、公差为 D，则 D = d(σ</a:t>
            </a:r>
            <a:r>
              <a:rPr sz="897" b="0" baseline="-22000" altLang="zh-CN">
                <a:solidFill>
                  <a:srgbClr val="3E4D66"/>
                </a:solidFill>
                <a:latin typeface="Microsoft YaHei UI"/>
              </a:rPr>
              <a:t>k+1</a:t>
            </a:r>
            <a:r>
              <a:rPr sz="1150" b="0" i="0" altLang="zh-CN">
                <a:solidFill>
                  <a:srgbClr val="3E4D66"/>
                </a:solidFill>
                <a:latin typeface="Microsoft YaHei UI"/>
              </a:rPr>
              <a:t> − σ</a:t>
            </a:r>
            <a:r>
              <a:rPr sz="897" b="0" baseline="-22000" altLang="zh-CN">
                <a:solidFill>
                  <a:srgbClr val="3E4D66"/>
                </a:solidFill>
                <a:latin typeface="Microsoft YaHei UI"/>
              </a:rPr>
              <a:t>k</a:t>
            </a:r>
            <a:r>
              <a:rPr sz="1150" b="0" i="0" altLang="zh-CN">
                <a:solidFill>
                  <a:srgbClr val="3E4D66"/>
                </a:solidFill>
                <a:latin typeface="Microsoft YaHei UI"/>
              </a:rPr>
              <a:t>)；因 d ≠ 0，相邻下标之差恒为 D/d —— 下标本身成等差。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288536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4187952"/>
            <a:ext cx="4078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altLang="zh-CN">
                <a:solidFill>
                  <a:srgbClr val="132239"/>
                </a:solidFill>
                <a:latin typeface="Microsoft YaHei UI"/>
              </a:rPr>
              <a:t>⇐ 方向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425696"/>
            <a:ext cx="4078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altLang="zh-CN">
                <a:solidFill>
                  <a:srgbClr val="3E4D66"/>
                </a:solidFill>
                <a:latin typeface="Microsoft YaHei UI"/>
              </a:rPr>
              <a:t>若下标重排后公差为 r ≠ 0，则相邻项差恒为 dr —— 值自然成等差。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312664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5212080"/>
            <a:ext cx="4078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altLang="zh-CN">
                <a:solidFill>
                  <a:srgbClr val="132239"/>
                </a:solidFill>
                <a:latin typeface="Microsoft YaHei UI"/>
              </a:rPr>
              <a:t>d ≠ 0 用在哪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449824"/>
            <a:ext cx="4078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altLang="zh-CN">
                <a:solidFill>
                  <a:srgbClr val="3E4D66"/>
                </a:solidFill>
                <a:latin typeface="Microsoft YaHei UI"/>
              </a:rPr>
              <a:t>它让 t ↦ a</a:t>
            </a:r>
            <a:r>
              <a:rPr sz="897" b="0" baseline="-22000" altLang="zh-CN">
                <a:solidFill>
                  <a:srgbClr val="3E4D66"/>
                </a:solidFill>
                <a:latin typeface="Microsoft YaHei UI"/>
              </a:rPr>
              <a:t>t</a:t>
            </a:r>
            <a:r>
              <a:rPr sz="1150" b="0" i="0" altLang="zh-CN">
                <a:solidFill>
                  <a:srgbClr val="3E4D66"/>
                </a:solidFill>
                <a:latin typeface="Microsoft YaHei UI"/>
              </a:rPr>
              <a:t> 成为一一映射，并把「等距」按比例双向搬运；d = 0 时所有项相等，等价失效。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59085" y="1444752"/>
            <a:ext cx="6047394" cy="2176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fig_le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101" y="1572768"/>
            <a:ext cx="5791362" cy="192024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266944" y="3529584"/>
            <a:ext cx="6211519" cy="658368"/>
          </a:xfrm>
          <a:prstGeom prst="roundRect">
            <a:avLst>
              <a:gd name="adj" fmla="val 14000"/>
            </a:avLst>
          </a:prstGeom>
          <a:solidFill>
            <a:srgbClr val="0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260" b="1">
                <a:solidFill>
                  <a:srgbClr val="FFFFFF"/>
                </a:solidFill>
                <a:latin typeface="Microsoft YaHei UI"/>
              </a:rPr>
              <a:t>结论：从第 (1) 问起，「可不可分」只是 1…4m+2 上的集合划分问题，公差 d 彻底消失。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66944" y="4370832"/>
            <a:ext cx="6211519" cy="1408176"/>
          </a:xfrm>
          <a:prstGeom prst="roundRect">
            <a:avLst>
              <a:gd name="adj" fmla="val 7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4553712"/>
            <a:ext cx="5772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1B3A6B"/>
                </a:solidFill>
                <a:latin typeface="Microsoft YaHei UI"/>
              </a:rPr>
              <a:t>一个立刻能用的推论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864608"/>
            <a:ext cx="577260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 altLang="zh-CN">
                <a:solidFill>
                  <a:srgbClr val="3E4D66"/>
                </a:solidFill>
                <a:latin typeface="Microsoft YaHei UI"/>
              </a:rPr>
              <a:t>任意 4 个连续下标 k, k+1, k+2, k+3 一定构成四项等差数列。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 altLang="zh-CN">
                <a:solidFill>
                  <a:srgbClr val="3E4D66"/>
                </a:solidFill>
                <a:latin typeface="Microsoft YaHei UI"/>
              </a:rPr>
              <a:t>因此只要能把剩余下标切成若干段、每段长度都是 4 的倍数，就自动完成了分组。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altLang="zh-CN">
                <a:solidFill>
                  <a:srgbClr val="1B3A6B"/>
                </a:solidFill>
                <a:latin typeface="Microsoft YaHei U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altLang="zh-CN">
                <a:solidFill>
                  <a:srgbClr val="132239"/>
                </a:solidFill>
                <a:latin typeface="Microsoft YaHei UI"/>
              </a:rPr>
              <a:t>第 (1) 问：六个下标里的三条等差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566928" cy="5029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99616" y="1188720"/>
            <a:ext cx="99788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7B889B"/>
                </a:solidFill>
                <a:latin typeface="Microsoft YaHei UI"/>
              </a:rPr>
              <a:t>m = 1 ⇒ 原数列 6 项；删去 2 项后剩余 4 个下标必须构成四项等差数列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09360"/>
            <a:ext cx="10765231" cy="1097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00800"/>
            <a:ext cx="985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altLang="zh-CN">
                <a:solidFill>
                  <a:srgbClr val="7B889B"/>
                </a:solidFill>
                <a:latin typeface="Microsoft YaHei UI"/>
              </a:rPr>
              <a:t>2024 新课标Ⅰ卷 · 第 19 题  |  (i, j)-可分数列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8383" y="6400800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altLang="zh-CN">
                <a:solidFill>
                  <a:srgbClr val="7B889B"/>
                </a:solidFill>
                <a:latin typeface="Microsoft YaHei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093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altLang="zh-CN">
                <a:solidFill>
                  <a:srgbClr val="1B3A6B"/>
                </a:solidFill>
                <a:latin typeface="Microsoft YaHei UI"/>
              </a:rPr>
              <a:t>推 导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20824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920240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240" b="1" i="0" altLang="zh-CN">
                <a:solidFill>
                  <a:srgbClr val="132239"/>
                </a:solidFill>
                <a:latin typeface="Microsoft YaHei UI"/>
              </a:rPr>
              <a:t>设四个下标为 x, x+r, x+2r, x+3r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157984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90" b="0" i="0" altLang="zh-CN">
                <a:solidFill>
                  <a:srgbClr val="3E4D66"/>
                </a:solidFill>
                <a:latin typeface="Microsoft YaHei UI"/>
              </a:rPr>
              <a:t>由 x + 3r ≤ 6 且 r ≥ 1：若 r ≥ 2 则 x + 3r ≥ 7，矛盾 ⇒ 只能 r = 1，x = 1, 2, 3 —— 全部四项等差数列只有 3 条。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71800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871216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240" b="1" i="0" altLang="zh-CN">
                <a:solidFill>
                  <a:srgbClr val="132239"/>
                </a:solidFill>
                <a:latin typeface="Microsoft YaHei UI"/>
              </a:rPr>
              <a:t>取补集得到被删的两项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108960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90" b="0" i="0" altLang="zh-CN">
                <a:solidFill>
                  <a:srgbClr val="3E4D66"/>
                </a:solidFill>
                <a:latin typeface="Microsoft YaHei UI"/>
              </a:rPr>
              <a:t>{1,2,3,4} → 删 {5,6}；{2,3,4,5} → 删 {1,6}；{3,4,5,6} → 删 {1,2}。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922776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822192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240" b="1" i="0" altLang="zh-CN">
                <a:solidFill>
                  <a:srgbClr val="132239"/>
                </a:solidFill>
                <a:latin typeface="Microsoft YaHei UI"/>
              </a:rPr>
              <a:t>完备性说明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059936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90" b="0" i="0" altLang="zh-CN">
                <a:solidFill>
                  <a:srgbClr val="3E4D66"/>
                </a:solidFill>
                <a:latin typeface="Microsoft YaHei UI"/>
              </a:rPr>
              <a:t>上面的枚举已穷尽 1…6 中全部四项等差数列，因此没有第四种答案。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846320"/>
            <a:ext cx="5138928" cy="786384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 UI"/>
              </a:rPr>
              <a:t>答 案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Microsoft YaHei UI"/>
              </a:rPr>
              <a:t>(i, j) = (1, 2), (1, 6), (5, 6)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6752" y="1679073"/>
            <a:ext cx="5589727" cy="257630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fig_q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07089"/>
            <a:ext cx="5333695" cy="2320277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144768" y="4517136"/>
            <a:ext cx="5333695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4663440"/>
            <a:ext cx="489478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0" i="0" altLang="zh-CN">
                <a:solidFill>
                  <a:srgbClr val="3E4D66"/>
                </a:solidFill>
                <a:latin typeface="Microsoft YaHei UI"/>
              </a:rPr>
              <a:t>机器复核：m = 1 时回溯穷举 15 对 (i, j)，可分的恰为上述 3 对，与推导一致。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altLang="zh-CN">
                <a:solidFill>
                  <a:srgbClr val="1B3A6B"/>
                </a:solidFill>
                <a:latin typeface="Microsoft YaHei U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altLang="zh-CN">
                <a:solidFill>
                  <a:srgbClr val="132239"/>
                </a:solidFill>
                <a:latin typeface="Microsoft YaHei UI"/>
              </a:rPr>
              <a:t>第 (2) 问：删去 2 和 13，给出 m 组划分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566928" cy="5029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99616" y="1188720"/>
            <a:ext cx="99788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7B889B"/>
                </a:solidFill>
                <a:latin typeface="Microsoft YaHei UI"/>
              </a:rPr>
              <a:t>m ≥ 3 时首项管 14 个数、尾部管其余 —— 关键在于把 14 交给第三组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09360"/>
            <a:ext cx="10765231" cy="1097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00800"/>
            <a:ext cx="985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altLang="zh-CN">
                <a:solidFill>
                  <a:srgbClr val="7B889B"/>
                </a:solidFill>
                <a:latin typeface="Microsoft YaHei UI"/>
              </a:rPr>
              <a:t>2024 新课标Ⅰ卷 · 第 19 题  |  (i, j)-可分数列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8383" y="6400800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altLang="zh-CN">
                <a:solidFill>
                  <a:srgbClr val="7B889B"/>
                </a:solidFill>
                <a:latin typeface="Microsoft YaHei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91056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altLang="zh-CN">
                <a:solidFill>
                  <a:srgbClr val="1B3A6B"/>
                </a:solidFill>
                <a:latin typeface="Microsoft YaHei UI"/>
              </a:rPr>
              <a:t>显 式 分 组 方 案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02536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901952"/>
            <a:ext cx="5175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230" b="1" i="0" altLang="zh-CN">
                <a:solidFill>
                  <a:srgbClr val="132239"/>
                </a:solidFill>
                <a:latin typeface="Microsoft YaHei UI"/>
              </a:rPr>
              <a:t>前三组（公差 3）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139696"/>
            <a:ext cx="5175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 altLang="zh-CN">
                <a:solidFill>
                  <a:srgbClr val="3E4D66"/>
                </a:solidFill>
                <a:latin typeface="Microsoft YaHei UI"/>
              </a:rPr>
              <a:t>{1, 4, 7, 10}  {3, 6, 9, 12}  {5, 8, 11, 14}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 altLang="zh-CN">
                <a:solidFill>
                  <a:srgbClr val="3E4D66"/>
                </a:solidFill>
                <a:latin typeface="Microsoft YaHei UI"/>
              </a:rPr>
              <a:t>这三个集合并起来，正好是 1…14 中删去 2 与 13 后剩下的 12 个数。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71800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871216"/>
            <a:ext cx="5175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230" b="1" i="0" altLang="zh-CN">
                <a:solidFill>
                  <a:srgbClr val="132239"/>
                </a:solidFill>
                <a:latin typeface="Microsoft YaHei UI"/>
              </a:rPr>
              <a:t>尾部 m − 3 块（公差 1）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108960"/>
            <a:ext cx="5175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 altLang="zh-CN">
                <a:solidFill>
                  <a:srgbClr val="3E4D66"/>
                </a:solidFill>
                <a:latin typeface="Microsoft YaHei UI"/>
              </a:rPr>
              <a:t>T</a:t>
            </a:r>
            <a:r>
              <a:rPr sz="920" b="0" baseline="-22000" altLang="zh-CN">
                <a:solidFill>
                  <a:srgbClr val="3E4D66"/>
                </a:solidFill>
                <a:latin typeface="Microsoft YaHei UI"/>
              </a:rPr>
              <a:t>t</a:t>
            </a:r>
            <a:r>
              <a:rPr sz="1180" b="0" i="0" altLang="zh-CN">
                <a:solidFill>
                  <a:srgbClr val="3E4D66"/>
                </a:solidFill>
                <a:latin typeface="Microsoft YaHei UI"/>
              </a:rPr>
              <a:t> = {15+4t, 16+4t, 17+4t, 18+4t}，t = 0, 1, …, m−4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 altLang="zh-CN">
                <a:solidFill>
                  <a:srgbClr val="3E4D66"/>
                </a:solidFill>
                <a:latin typeface="Microsoft YaHei UI"/>
              </a:rPr>
              <a:t>覆盖 15, 16, …, 4m+2，共 4(m−3) 个数、m−3 块。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941064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840480"/>
            <a:ext cx="5175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230" b="1" i="0" altLang="zh-CN">
                <a:solidFill>
                  <a:srgbClr val="132239"/>
                </a:solidFill>
                <a:latin typeface="Microsoft YaHei UI"/>
              </a:rPr>
              <a:t>组数核对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078224"/>
            <a:ext cx="5175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 altLang="zh-CN">
                <a:solidFill>
                  <a:srgbClr val="3E4D66"/>
                </a:solidFill>
                <a:latin typeface="Microsoft YaHei UI"/>
              </a:rPr>
              <a:t>3 + (m−3) = m 组，每组 4 个数，共 4m 个数，恰好用尽。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626864"/>
            <a:ext cx="5413248" cy="841248"/>
          </a:xfrm>
          <a:prstGeom prst="roundRect">
            <a:avLst>
              <a:gd name="adj" fmla="val 13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7548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altLang="zh-CN">
                <a:solidFill>
                  <a:srgbClr val="D64545"/>
                </a:solidFill>
                <a:latin typeface="Microsoft YaHei UI"/>
              </a:rPr>
              <a:t>易错点：尾部不能从 14 开始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9926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20" b="0" i="0" altLang="zh-CN">
                <a:solidFill>
                  <a:srgbClr val="3E4D66"/>
                </a:solidFill>
                <a:latin typeface="Microsoft YaHei UI"/>
              </a:rPr>
              <a:t>14 到 4m+2 的长度是 4(m−3)+1，不是 4 的倍数，会多出一个数；把 14 并入第三组后才干净。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1795933"/>
            <a:ext cx="5315407" cy="17299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fig_q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923949"/>
            <a:ext cx="5059375" cy="147390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19088" y="3913632"/>
            <a:ext cx="5059375" cy="14447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79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8544" y="4078224"/>
            <a:ext cx="46204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1B3A6B"/>
                </a:solidFill>
                <a:latin typeface="Microsoft YaHei UI"/>
              </a:rPr>
              <a:t>为什么对一切 m ≥ 3 都成立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544" y="4389120"/>
            <a:ext cx="4620463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0" i="0" altLang="zh-CN">
                <a:solidFill>
                  <a:srgbClr val="3E4D66"/>
                </a:solidFill>
                <a:latin typeface="Microsoft YaHei UI"/>
              </a:rPr>
              <a:t>前三组与 m 无关，永远合法；尾部从 15 起按「连续 4 个一块」切，长度恒为 4 的倍数。m = 3 时尾部为空，只剩前三组，仍然成立。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altLang="zh-CN">
                <a:solidFill>
                  <a:srgbClr val="1B3A6B"/>
                </a:solidFill>
                <a:latin typeface="Microsoft YaHei UI"/>
              </a:rPr>
              <a:t>Part 3 · 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altLang="zh-CN">
                <a:solidFill>
                  <a:srgbClr val="132239"/>
                </a:solidFill>
                <a:latin typeface="Microsoft YaHei UI"/>
              </a:rPr>
              <a:t>第 (3) 问之①：为什么想到模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566928" cy="5029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99616" y="1188720"/>
            <a:ext cx="99788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7B889B"/>
                </a:solidFill>
                <a:latin typeface="Microsoft YaHei UI"/>
              </a:rPr>
              <a:t>不是拍脑袋看余数，而是「连续 4 个一组」这个动作逼出来的整除条件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09360"/>
            <a:ext cx="10765231" cy="1097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00800"/>
            <a:ext cx="985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altLang="zh-CN">
                <a:solidFill>
                  <a:srgbClr val="7B889B"/>
                </a:solidFill>
                <a:latin typeface="Microsoft YaHei UI"/>
              </a:rPr>
              <a:t>2024 新课标Ⅰ卷 · 第 19 题  |  (i, j)-可分数列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8383" y="6400800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altLang="zh-CN">
                <a:solidFill>
                  <a:srgbClr val="7B889B"/>
                </a:solidFill>
                <a:latin typeface="Microsoft YaHei UI"/>
              </a:rPr>
              <a:t>07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691640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591056"/>
            <a:ext cx="4242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240" b="1" i="0" altLang="zh-CN">
                <a:solidFill>
                  <a:srgbClr val="132239"/>
                </a:solidFill>
                <a:latin typeface="Microsoft YaHei UI"/>
              </a:rPr>
              <a:t>一个朴素但高效的策略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4242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90" b="0" i="0" altLang="zh-CN">
                <a:solidFill>
                  <a:srgbClr val="3E4D66"/>
                </a:solidFill>
                <a:latin typeface="Microsoft YaHei UI"/>
              </a:rPr>
              <a:t>删去 i &lt; j 后，剩余下标天然断成三段：[1, i−1]、[i+1, j−1]、[j+1, 4m+2]。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97480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96896"/>
            <a:ext cx="4242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240" b="1" i="0" altLang="zh-CN">
                <a:solidFill>
                  <a:srgbClr val="132239"/>
                </a:solidFill>
                <a:latin typeface="Microsoft YaHei UI"/>
              </a:rPr>
              <a:t>如果每段都能按连续 4 项分完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834640"/>
            <a:ext cx="4242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90" b="0" i="0" altLang="zh-CN">
                <a:solidFill>
                  <a:srgbClr val="3E4D66"/>
                </a:solidFill>
                <a:latin typeface="Microsoft YaHei UI"/>
              </a:rPr>
              <a:t>那么三段长度都必须是 4 的倍数，即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90" b="0" i="0" altLang="zh-CN">
                <a:solidFill>
                  <a:srgbClr val="3E4D66"/>
                </a:solidFill>
                <a:latin typeface="Microsoft YaHei UI"/>
              </a:rPr>
              <a:t>i − 1 ≡ 0，j − i − 1 ≡ 0，4m + 2 − j ≡ 0  (mod 4)。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703320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602736"/>
            <a:ext cx="4242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240" b="1" i="0" altLang="zh-CN">
                <a:solidFill>
                  <a:srgbClr val="132239"/>
                </a:solidFill>
                <a:latin typeface="Microsoft YaHei UI"/>
              </a:rPr>
              <a:t>解出来只有一种余数搭配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840480"/>
            <a:ext cx="4242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90" b="0" i="0" altLang="zh-CN">
                <a:solidFill>
                  <a:srgbClr val="3E4D66"/>
                </a:solidFill>
                <a:latin typeface="Microsoft YaHei UI"/>
              </a:rPr>
              <a:t>由第一式得 i ≡ 1 (mod 4)；代入第二式得 j ≡ 2 (mod 4)；第三式给出同一个 j ≡ 2，相容。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480560"/>
            <a:ext cx="4480560" cy="713232"/>
          </a:xfrm>
          <a:prstGeom prst="roundRect">
            <a:avLst>
              <a:gd name="adj" fmla="val 14000"/>
            </a:avLst>
          </a:prstGeom>
          <a:solidFill>
            <a:srgbClr val="2E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 UI"/>
              </a:rPr>
              <a:t>第一族：(i, j) ≡ (1, 2)  (mod 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58383" y="1760603"/>
            <a:ext cx="6248095" cy="242239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fig_mo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1888619"/>
            <a:ext cx="5992063" cy="2166361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486400" y="4572000"/>
            <a:ext cx="5992063" cy="621792"/>
          </a:xfrm>
          <a:prstGeom prst="roundRect">
            <a:avLst>
              <a:gd name="adj" fmla="val 14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5856" y="4700016"/>
            <a:ext cx="55531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120" b="0" i="0" altLang="zh-CN">
                <a:solidFill>
                  <a:srgbClr val="3E4D66"/>
                </a:solidFill>
                <a:latin typeface="Microsoft YaHei UI"/>
              </a:rPr>
              <a:t>三段长度能否被 4 整除，正好由 i、j 的模 4 余数控制 —— 模 4 不是巧合，是被整除条件逼出来的。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altLang="zh-CN">
                <a:solidFill>
                  <a:srgbClr val="1B3A6B"/>
                </a:solidFill>
                <a:latin typeface="Microsoft YaHei UI"/>
              </a:rPr>
              <a:t>Part 3 · 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altLang="zh-CN">
                <a:solidFill>
                  <a:srgbClr val="132239"/>
                </a:solidFill>
                <a:latin typeface="Microsoft YaHei UI"/>
              </a:rPr>
              <a:t>第 (3) 问之②：第一族的构造与计数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566928" cy="5029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99616" y="1188720"/>
            <a:ext cx="99788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7B889B"/>
                </a:solidFill>
                <a:latin typeface="Microsoft YaHei UI"/>
              </a:rPr>
              <a:t>i = 4r+1，j = 4s+2（0 ≤ r ≤ s ≤ m）—— 三段各自是 4 的倍数，秒分组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09360"/>
            <a:ext cx="10765231" cy="1097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00800"/>
            <a:ext cx="985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altLang="zh-CN">
                <a:solidFill>
                  <a:srgbClr val="7B889B"/>
                </a:solidFill>
                <a:latin typeface="Microsoft YaHei UI"/>
              </a:rPr>
              <a:t>2024 新课标Ⅰ卷 · 第 19 题  |  (i, j)-可分数列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8383" y="6400800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altLang="zh-CN">
                <a:solidFill>
                  <a:srgbClr val="7B889B"/>
                </a:solidFill>
                <a:latin typeface="Microsoft YaHei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27632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1B3A6B"/>
                </a:solidFill>
                <a:latin typeface="Microsoft YaHei UI"/>
              </a:rPr>
              <a:t>删 去 之 后 的 三 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75104"/>
            <a:ext cx="4261104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975104"/>
            <a:ext cx="50292" cy="566928"/>
          </a:xfrm>
          <a:prstGeom prst="rect">
            <a:avLst/>
          </a:prstGeom>
          <a:solidFill>
            <a:srgbClr val="2E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93976"/>
            <a:ext cx="2011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 altLang="zh-CN">
                <a:solidFill>
                  <a:srgbClr val="132239"/>
                </a:solidFill>
                <a:latin typeface="Microsoft YaHei UI"/>
              </a:rPr>
              <a:t>前段  [1, 4r]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093976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20" b="1" i="0" altLang="zh-CN">
                <a:solidFill>
                  <a:srgbClr val="2E6FD1"/>
                </a:solidFill>
                <a:latin typeface="Microsoft YaHei UI"/>
              </a:rPr>
              <a:t>4r 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112264"/>
            <a:ext cx="1005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7B889B"/>
                </a:solidFill>
                <a:latin typeface="Microsoft YaHei UI"/>
              </a:rPr>
              <a:t>分成 r 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651760"/>
            <a:ext cx="4261104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2651760"/>
            <a:ext cx="50292" cy="5669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770632"/>
            <a:ext cx="2011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 altLang="zh-CN">
                <a:solidFill>
                  <a:srgbClr val="132239"/>
                </a:solidFill>
                <a:latin typeface="Microsoft YaHei UI"/>
              </a:rPr>
              <a:t>中段  [4r+2, 4s+1]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2770632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20" b="1" i="0" altLang="zh-CN">
                <a:solidFill>
                  <a:srgbClr val="D97706"/>
                </a:solidFill>
                <a:latin typeface="Microsoft YaHei UI"/>
              </a:rPr>
              <a:t>4(s−r) 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788920"/>
            <a:ext cx="1005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7B889B"/>
                </a:solidFill>
                <a:latin typeface="Microsoft YaHei UI"/>
              </a:rPr>
              <a:t>分成 s−r 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328416"/>
            <a:ext cx="4261104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79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328416"/>
            <a:ext cx="50292" cy="566928"/>
          </a:xfrm>
          <a:prstGeom prst="rect">
            <a:avLst/>
          </a:prstGeom>
          <a:solidFill>
            <a:srgbClr val="0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447288"/>
            <a:ext cx="2011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 altLang="zh-CN">
                <a:solidFill>
                  <a:srgbClr val="132239"/>
                </a:solidFill>
                <a:latin typeface="Microsoft YaHei UI"/>
              </a:rPr>
              <a:t>后段  [4s+3, 4m+2]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3447288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20" b="1" i="0" altLang="zh-CN">
                <a:solidFill>
                  <a:srgbClr val="0F8A80"/>
                </a:solidFill>
                <a:latin typeface="Microsoft YaHei UI"/>
              </a:rPr>
              <a:t>4(m−s) 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465576"/>
            <a:ext cx="1005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7B889B"/>
                </a:solidFill>
                <a:latin typeface="Microsoft YaHei UI"/>
              </a:rPr>
              <a:t>分成 m−s 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11480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1B3A6B"/>
                </a:solidFill>
                <a:latin typeface="Microsoft YaHei UI"/>
              </a:rPr>
              <a:t>组 数 合 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25696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 altLang="zh-CN">
                <a:solidFill>
                  <a:srgbClr val="132239"/>
                </a:solidFill>
                <a:latin typeface="Microsoft YaHei UI"/>
              </a:rPr>
              <a:t>r + (s − r) + (m − s) = m 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922" y="4718304"/>
            <a:ext cx="4361178" cy="1490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8" name="Picture 27" descr="fig_mo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38" y="4846320"/>
            <a:ext cx="4105146" cy="123444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5340096" y="1627632"/>
            <a:ext cx="6138367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96128" y="1810512"/>
            <a:ext cx="56263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1B3A6B"/>
                </a:solidFill>
                <a:latin typeface="Microsoft YaHei UI"/>
              </a:rPr>
              <a:t>计 数：这族有多少对？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6128" y="2176272"/>
            <a:ext cx="56263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400"/>
              </a:spcAft>
            </a:pPr>
            <a:r>
              <a:rPr sz="1220" b="0" i="0" altLang="zh-CN">
                <a:solidFill>
                  <a:srgbClr val="132239"/>
                </a:solidFill>
                <a:latin typeface="Microsoft YaHei UI"/>
              </a:rPr>
              <a:t>参数范围：0 ≤ r ≤ s ≤ m。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400"/>
              </a:spcAft>
            </a:pPr>
            <a:r>
              <a:rPr sz="1220" b="0" i="0" altLang="zh-CN">
                <a:solidFill>
                  <a:srgbClr val="132239"/>
                </a:solidFill>
                <a:latin typeface="Microsoft YaHei UI"/>
              </a:rPr>
              <a:t>对固定的 s，r 可以取 0, 1, …, s，共 s+1 个。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400"/>
              </a:spcAft>
            </a:pP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400"/>
              </a:spcAft>
            </a:pPr>
            <a:r>
              <a:rPr sz="1220" b="0" i="0" altLang="zh-CN">
                <a:solidFill>
                  <a:srgbClr val="132239"/>
                </a:solidFill>
                <a:latin typeface="Microsoft YaHei UI"/>
              </a:rPr>
              <a:t>T</a:t>
            </a:r>
            <a:r>
              <a:rPr sz="951" b="0" baseline="-22000" altLang="zh-CN">
                <a:solidFill>
                  <a:srgbClr val="132239"/>
                </a:solidFill>
                <a:latin typeface="Microsoft YaHei UI"/>
              </a:rPr>
              <a:t>1</a:t>
            </a:r>
            <a:r>
              <a:rPr sz="1220" b="0" i="0" altLang="zh-CN">
                <a:solidFill>
                  <a:srgbClr val="132239"/>
                </a:solidFill>
                <a:latin typeface="Microsoft YaHei UI"/>
              </a:rPr>
              <a:t> = Σ</a:t>
            </a:r>
            <a:r>
              <a:rPr sz="951" b="0" baseline="-22000" altLang="zh-CN">
                <a:solidFill>
                  <a:srgbClr val="132239"/>
                </a:solidFill>
                <a:latin typeface="Microsoft YaHei UI"/>
              </a:rPr>
              <a:t>s=0</a:t>
            </a:r>
            <a:r>
              <a:rPr sz="951" b="0" baseline="+26000" altLang="zh-CN">
                <a:solidFill>
                  <a:srgbClr val="132239"/>
                </a:solidFill>
                <a:latin typeface="Microsoft YaHei UI"/>
              </a:rPr>
              <a:t>m</a:t>
            </a:r>
            <a:r>
              <a:rPr sz="1220" b="0" i="0" altLang="zh-CN">
                <a:solidFill>
                  <a:srgbClr val="132239"/>
                </a:solidFill>
                <a:latin typeface="Microsoft YaHei UI"/>
              </a:rPr>
              <a:t> (s+1) = (m+1)(m+2)/2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40096" y="3858768"/>
            <a:ext cx="6138367" cy="1755648"/>
          </a:xfrm>
          <a:prstGeom prst="roundRect">
            <a:avLst>
              <a:gd name="adj" fmla="val 5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96128" y="4041648"/>
            <a:ext cx="56263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1B3A6B"/>
                </a:solidFill>
                <a:latin typeface="Microsoft YaHei UI"/>
              </a:rPr>
              <a:t>与总对数比较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96128" y="4389120"/>
            <a:ext cx="56263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0" i="0" altLang="zh-CN">
                <a:solidFill>
                  <a:srgbClr val="132239"/>
                </a:solidFill>
                <a:latin typeface="Microsoft YaHei UI"/>
              </a:rPr>
              <a:t>总对数：C(4m+2, 2) = (2m+1)(4m+1)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0" i="0" altLang="zh-CN">
                <a:solidFill>
                  <a:srgbClr val="132239"/>
                </a:solidFill>
                <a:latin typeface="Microsoft YaHei UI"/>
              </a:rPr>
              <a:t>P</a:t>
            </a:r>
            <a:r>
              <a:rPr sz="951" b="0" baseline="-22000" altLang="zh-CN">
                <a:solidFill>
                  <a:srgbClr val="132239"/>
                </a:solidFill>
                <a:latin typeface="Microsoft YaHei UI"/>
              </a:rPr>
              <a:t>m</a:t>
            </a:r>
            <a:r>
              <a:rPr sz="1220" b="0" i="0" altLang="zh-CN">
                <a:solidFill>
                  <a:srgbClr val="132239"/>
                </a:solidFill>
                <a:latin typeface="Microsoft YaHei UI"/>
              </a:rPr>
              <a:t> ≥ T</a:t>
            </a:r>
            <a:r>
              <a:rPr sz="951" b="0" baseline="-22000" altLang="zh-CN">
                <a:solidFill>
                  <a:srgbClr val="132239"/>
                </a:solidFill>
                <a:latin typeface="Microsoft YaHei UI"/>
              </a:rPr>
              <a:t>1</a:t>
            </a:r>
            <a:r>
              <a:rPr sz="1220" b="0" i="0" altLang="zh-CN">
                <a:solidFill>
                  <a:srgbClr val="132239"/>
                </a:solidFill>
                <a:latin typeface="Microsoft YaHei UI"/>
              </a:rPr>
              <a:t> / C(4m+2, 2) = (m+1)(m+2) / [(4m+2)(4m+1)]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altLang="zh-CN">
                <a:solidFill>
                  <a:srgbClr val="1B3A6B"/>
                </a:solidFill>
                <a:latin typeface="Microsoft YaHei UI"/>
              </a:rPr>
              <a:t>Part 3 · 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altLang="zh-CN">
                <a:solidFill>
                  <a:srgbClr val="132239"/>
                </a:solidFill>
                <a:latin typeface="Microsoft YaHei UI"/>
              </a:rPr>
              <a:t>第 (3) 问之③：只靠第一族是不够的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566928" cy="5029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99616" y="1188720"/>
            <a:ext cx="99788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7B889B"/>
                </a:solidFill>
                <a:latin typeface="Microsoft YaHei UI"/>
              </a:rPr>
              <a:t>把不等式化成一元二次，正根 ≈ 2.27 —— 也就是说只覆盖到 m = 1,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09360"/>
            <a:ext cx="10765231" cy="1097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00800"/>
            <a:ext cx="985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altLang="zh-CN">
                <a:solidFill>
                  <a:srgbClr val="7B889B"/>
                </a:solidFill>
                <a:latin typeface="Microsoft YaHei UI"/>
              </a:rPr>
              <a:t>2024 新课标Ⅰ卷 · 第 19 题  |  (i, j)-可分数列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8383" y="6400800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altLang="zh-CN">
                <a:solidFill>
                  <a:srgbClr val="7B889B"/>
                </a:solidFill>
                <a:latin typeface="Microsoft YaHei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2763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1B3A6B"/>
                </a:solidFill>
                <a:latin typeface="Microsoft YaHei UI"/>
              </a:rPr>
              <a:t>解 一 元 二 次 不 等 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7510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320" b="0" i="0" altLang="zh-CN">
                <a:solidFill>
                  <a:srgbClr val="132239"/>
                </a:solidFill>
                <a:latin typeface="Microsoft YaHei UI"/>
              </a:rPr>
              <a:t>要 P</a:t>
            </a:r>
            <a:r>
              <a:rPr sz="1029" b="0" baseline="-22000" altLang="zh-CN">
                <a:solidFill>
                  <a:srgbClr val="132239"/>
                </a:solidFill>
                <a:latin typeface="Microsoft YaHei UI"/>
              </a:rPr>
              <a:t>m</a:t>
            </a:r>
            <a:r>
              <a:rPr sz="1320" b="0" i="0" altLang="zh-CN">
                <a:solidFill>
                  <a:srgbClr val="132239"/>
                </a:solidFill>
                <a:latin typeface="Microsoft YaHei UI"/>
              </a:rPr>
              <a:t> &gt; 1/8，只需 8(m+1)(m+2) &gt; (4m+2)(4m+1)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320" b="0" i="0" altLang="zh-CN">
                <a:solidFill>
                  <a:srgbClr val="132239"/>
                </a:solidFill>
                <a:latin typeface="Microsoft YaHei UI"/>
              </a:rPr>
              <a:t>8m</a:t>
            </a:r>
            <a:r>
              <a:rPr sz="1029" b="0" baseline="+26000" altLang="zh-CN">
                <a:solidFill>
                  <a:srgbClr val="132239"/>
                </a:solidFill>
                <a:latin typeface="Microsoft YaHei UI"/>
              </a:rPr>
              <a:t>2</a:t>
            </a:r>
            <a:r>
              <a:rPr sz="1320" b="0" i="0" altLang="zh-CN">
                <a:solidFill>
                  <a:srgbClr val="132239"/>
                </a:solidFill>
                <a:latin typeface="Microsoft YaHei UI"/>
              </a:rPr>
              <a:t> + 24m + 16 &gt; 16m</a:t>
            </a:r>
            <a:r>
              <a:rPr sz="1029" b="0" baseline="+26000" altLang="zh-CN">
                <a:solidFill>
                  <a:srgbClr val="132239"/>
                </a:solidFill>
                <a:latin typeface="Microsoft YaHei UI"/>
              </a:rPr>
              <a:t>2</a:t>
            </a:r>
            <a:r>
              <a:rPr sz="1320" b="0" i="0" altLang="zh-CN">
                <a:solidFill>
                  <a:srgbClr val="132239"/>
                </a:solidFill>
                <a:latin typeface="Microsoft YaHei UI"/>
              </a:rPr>
              <a:t> + 12m + 2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320" b="0" i="0" altLang="zh-CN">
                <a:solidFill>
                  <a:srgbClr val="132239"/>
                </a:solidFill>
                <a:latin typeface="Microsoft YaHei UI"/>
              </a:rPr>
              <a:t>⇔ 4m</a:t>
            </a:r>
            <a:r>
              <a:rPr sz="1029" b="0" baseline="+26000" altLang="zh-CN">
                <a:solidFill>
                  <a:srgbClr val="132239"/>
                </a:solidFill>
                <a:latin typeface="Microsoft YaHei UI"/>
              </a:rPr>
              <a:t>2</a:t>
            </a:r>
            <a:r>
              <a:rPr sz="1320" b="0" i="0" altLang="zh-CN">
                <a:solidFill>
                  <a:srgbClr val="132239"/>
                </a:solidFill>
                <a:latin typeface="Microsoft YaHei UI"/>
              </a:rPr>
              <a:t> − 6m − 7 &lt; 0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320" b="0" i="0" altLang="zh-CN">
                <a:solidFill>
                  <a:srgbClr val="132239"/>
                </a:solidFill>
                <a:latin typeface="Microsoft YaHei UI"/>
              </a:rPr>
              <a:t>正根：(3 + √37) / 4 ≈ 2.27  ⇒  m = 1, 2 时成立，m ≥ 3 时失效。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206240"/>
            <a:ext cx="502920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4352544"/>
            <a:ext cx="4553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altLang="zh-CN">
                <a:solidFill>
                  <a:srgbClr val="D64545"/>
                </a:solidFill>
                <a:latin typeface="Microsoft YaHei UI"/>
              </a:rPr>
              <a:t>m = 3 的反例（也是典型陷阱）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4663440"/>
            <a:ext cx="4553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0" i="0" altLang="zh-CN">
                <a:solidFill>
                  <a:srgbClr val="3E4D66"/>
                </a:solidFill>
                <a:latin typeface="Microsoft YaHei UI"/>
              </a:rPr>
              <a:t>T</a:t>
            </a:r>
            <a:r>
              <a:rPr sz="904" b="0" baseline="-22000" altLang="zh-CN">
                <a:solidFill>
                  <a:srgbClr val="3E4D66"/>
                </a:solidFill>
                <a:latin typeface="Microsoft YaHei UI"/>
              </a:rPr>
              <a:t>1</a:t>
            </a:r>
            <a:r>
              <a:rPr sz="1160" b="0" i="0" altLang="zh-CN">
                <a:solidFill>
                  <a:srgbClr val="3E4D66"/>
                </a:solidFill>
                <a:latin typeface="Microsoft YaHei UI"/>
              </a:rPr>
              <a:t> = 10，总对数 C(14, 2) = 91，10/91 ≈ 0.1099 &lt; 1/8 = 0.125。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0" i="0" altLang="zh-CN">
                <a:solidFill>
                  <a:srgbClr val="3E4D66"/>
                </a:solidFill>
                <a:latin typeface="Microsoft YaHei UI"/>
              </a:rPr>
              <a:t>所以必须再补一族构造，否则第 (3) 问没有真正证完。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7024" y="1470595"/>
            <a:ext cx="5699455" cy="329501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fig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98611"/>
            <a:ext cx="5443423" cy="30389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5040" y="4809744"/>
            <a:ext cx="544342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 altLang="zh-CN">
                <a:solidFill>
                  <a:srgbClr val="3E4D66"/>
                </a:solidFill>
                <a:latin typeface="Microsoft YaHei UI"/>
              </a:rPr>
              <a:t>图中「空心圈」标出 m = 3：只用第一族（橙线）已经掉到 1/8 以下；两族合并（蓝线）则始终远高于阈值。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altLang="zh-CN">
                <a:solidFill>
                  <a:srgbClr val="1B3A6B"/>
                </a:solidFill>
                <a:latin typeface="Microsoft YaHei UI"/>
              </a:rPr>
              <a:t>Part 3 · 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altLang="zh-CN">
                <a:solidFill>
                  <a:srgbClr val="132239"/>
                </a:solidFill>
                <a:latin typeface="Microsoft YaHei UI"/>
              </a:rPr>
              <a:t>第 (3) 问之④：补上对称的第二族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566928" cy="5029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99616" y="1188720"/>
            <a:ext cx="99788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7B889B"/>
                </a:solidFill>
                <a:latin typeface="Microsoft YaHei UI"/>
              </a:rPr>
              <a:t>i = 4b+2，j = 4a+1（0 ≤ b &lt; a ≤ m，且 d = a − b ≥ 2）—— 中间段用「错位四带」抢救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09360"/>
            <a:ext cx="10765231" cy="1097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00800"/>
            <a:ext cx="985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altLang="zh-CN">
                <a:solidFill>
                  <a:srgbClr val="7B889B"/>
                </a:solidFill>
                <a:latin typeface="Microsoft YaHei UI"/>
              </a:rPr>
              <a:t>2024 新课标Ⅰ卷 · 第 19 题  |  (i, j)-可分数列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8383" y="6400800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altLang="zh-CN">
                <a:solidFill>
                  <a:srgbClr val="7B889B"/>
                </a:solidFill>
                <a:latin typeface="Microsoft YaHei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093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1B3A6B"/>
                </a:solidFill>
                <a:latin typeface="Microsoft YaHei UI"/>
              </a:rPr>
              <a:t>构 造 要 点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20824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920240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220" b="1" i="0" altLang="zh-CN">
                <a:solidFill>
                  <a:srgbClr val="132239"/>
                </a:solidFill>
                <a:latin typeface="Microsoft YaHei UI"/>
              </a:rPr>
              <a:t>两头照旧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157984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70" b="0" i="0" altLang="zh-CN">
                <a:solidFill>
                  <a:srgbClr val="3E4D66"/>
                </a:solidFill>
                <a:latin typeface="Microsoft YaHei UI"/>
              </a:rPr>
              <a:t>[1, 4b] 与 [4a+3, 4m+2] 长度仍为 4 的倍数，按连续 4 项分组。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71800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871216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220" b="1" i="0" altLang="zh-CN">
                <a:solidFill>
                  <a:srgbClr val="132239"/>
                </a:solidFill>
                <a:latin typeface="Microsoft YaHei UI"/>
              </a:rPr>
              <a:t>中间段出问题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108960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70" b="0" i="0" altLang="zh-CN">
                <a:solidFill>
                  <a:srgbClr val="3E4D66"/>
                </a:solidFill>
                <a:latin typeface="Microsoft YaHei UI"/>
              </a:rPr>
              <a:t>[4b+1, 4a+2] 长 4d+2，删去两端后剩 4d 个数 —— 不再是简单的连续分块，需要错位。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922776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822192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220" b="1" i="0" altLang="zh-CN">
                <a:solidFill>
                  <a:srgbClr val="132239"/>
                </a:solidFill>
                <a:latin typeface="Microsoft YaHei UI"/>
              </a:rPr>
              <a:t>四带错位法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059936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70" b="0" i="0" altLang="zh-CN">
                <a:solidFill>
                  <a:srgbClr val="3E4D66"/>
                </a:solidFill>
                <a:latin typeface="Microsoft YaHei UI"/>
              </a:rPr>
              <a:t>把 4d 个数按 4d = 4·d 排成 4 带 d 列，每带第 p 个位置合起来成 公差为 d 的四项等差数列；末尾多出的 4b+4d+2 正好补第一组的缺口。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626864"/>
            <a:ext cx="513892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7548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altLang="zh-CN">
                <a:solidFill>
                  <a:srgbClr val="D64545"/>
                </a:solidFill>
                <a:latin typeface="Microsoft YaHei UI"/>
              </a:rPr>
              <a:t>必须剔除 d = 1 的那 m 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97433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40" b="0" i="0" altLang="zh-CN">
                <a:solidFill>
                  <a:srgbClr val="3E4D66"/>
                </a:solidFill>
                <a:latin typeface="Microsoft YaHei UI"/>
              </a:rPr>
              <a:t>d = 1 时 j − i = 4d − 1 = 3，中间段没有足够错位空间，构造失效；这样的对恰有 (a, b) = (1,0), (2,1), …, (m, m−1) 共 m 对。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6752" y="1619575"/>
            <a:ext cx="5589727" cy="193635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fig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747591"/>
            <a:ext cx="5333695" cy="1680321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144768" y="3749039"/>
            <a:ext cx="5333695" cy="1645920"/>
          </a:xfrm>
          <a:prstGeom prst="roundRect">
            <a:avLst>
              <a:gd name="adj" fmla="val 5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3913632"/>
            <a:ext cx="48947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1B3A6B"/>
                </a:solidFill>
                <a:latin typeface="Microsoft YaHei UI"/>
              </a:rPr>
              <a:t>第 二 族 计 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4224528"/>
            <a:ext cx="48947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 altLang="zh-CN">
                <a:solidFill>
                  <a:srgbClr val="132239"/>
                </a:solidFill>
                <a:latin typeface="Microsoft YaHei UI"/>
              </a:rPr>
              <a:t>全部 b &lt; a 的对：m(m+1)/2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 altLang="zh-CN">
                <a:solidFill>
                  <a:srgbClr val="132239"/>
                </a:solidFill>
                <a:latin typeface="Microsoft YaHei UI"/>
              </a:rPr>
              <a:t>扣掉 d = 1 的 m 对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 altLang="zh-CN">
                <a:solidFill>
                  <a:srgbClr val="132239"/>
                </a:solidFill>
                <a:latin typeface="Microsoft YaHei UI"/>
              </a:rPr>
              <a:t>T</a:t>
            </a:r>
            <a:r>
              <a:rPr sz="920" b="0" baseline="-22000" altLang="zh-CN">
                <a:solidFill>
                  <a:srgbClr val="132239"/>
                </a:solidFill>
                <a:latin typeface="Microsoft YaHei UI"/>
              </a:rPr>
              <a:t>2</a:t>
            </a:r>
            <a:r>
              <a:rPr sz="1180" b="0" i="0" altLang="zh-CN">
                <a:solidFill>
                  <a:srgbClr val="132239"/>
                </a:solidFill>
                <a:latin typeface="Microsoft YaHei UI"/>
              </a:rPr>
              <a:t> = m(m+1)/2 − m = m(m−1)/2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altLang="zh-CN">
                <a:solidFill>
                  <a:srgbClr val="1B3A6B"/>
                </a:solidFill>
                <a:latin typeface="Microsoft YaHei UI"/>
              </a:rPr>
              <a:t>Finale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altLang="zh-CN">
                <a:solidFill>
                  <a:srgbClr val="132239"/>
                </a:solidFill>
                <a:latin typeface="Microsoft YaHei UI"/>
              </a:rPr>
              <a:t>第 (3) 问之⑤：合并两族，完成不等式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566928" cy="5029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99616" y="1188720"/>
            <a:ext cx="99788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7B889B"/>
                </a:solidFill>
                <a:latin typeface="Microsoft YaHei UI"/>
              </a:rPr>
              <a:t>两族余数类型 (1,2) 与 (2,1) 互不相交，可以放心相加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09360"/>
            <a:ext cx="10765231" cy="1097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00800"/>
            <a:ext cx="985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altLang="zh-CN">
                <a:solidFill>
                  <a:srgbClr val="7B889B"/>
                </a:solidFill>
                <a:latin typeface="Microsoft YaHei UI"/>
              </a:rPr>
              <a:t>2024 新课标Ⅰ卷 · 第 19 题  |  (i, j)-可分数列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8383" y="6400800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altLang="zh-CN">
                <a:solidFill>
                  <a:srgbClr val="7B889B"/>
                </a:solidFill>
                <a:latin typeface="Microsoft YaHei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00784"/>
            <a:ext cx="42976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700784"/>
            <a:ext cx="50292" cy="1170432"/>
          </a:xfrm>
          <a:prstGeom prst="rect">
            <a:avLst/>
          </a:prstGeom>
          <a:solidFill>
            <a:srgbClr val="2E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6537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2E6FD1"/>
                </a:solidFill>
                <a:latin typeface="Microsoft YaHei UI"/>
              </a:rPr>
              <a:t>第一族  T</a:t>
            </a:r>
            <a:r>
              <a:rPr sz="975" b="1" baseline="-22000" altLang="zh-CN">
                <a:solidFill>
                  <a:srgbClr val="2E6FD1"/>
                </a:solidFill>
                <a:latin typeface="Microsoft YaHei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231136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 altLang="zh-CN">
                <a:solidFill>
                  <a:srgbClr val="132239"/>
                </a:solidFill>
                <a:latin typeface="Microsoft YaHei UI"/>
              </a:rPr>
              <a:t>(m+1)(m+2)/2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615184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40" b="0" i="0" altLang="zh-CN">
                <a:solidFill>
                  <a:srgbClr val="7B889B"/>
                </a:solidFill>
                <a:latin typeface="Microsoft YaHei UI"/>
              </a:rPr>
              <a:t>(i, j) ≡ (1, 2) (mod 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017520"/>
            <a:ext cx="42976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017520"/>
            <a:ext cx="50292" cy="11704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18211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D97706"/>
                </a:solidFill>
                <a:latin typeface="Microsoft YaHei UI"/>
              </a:rPr>
              <a:t>第二族  T</a:t>
            </a:r>
            <a:r>
              <a:rPr sz="975" b="1" baseline="-22000" altLang="zh-CN">
                <a:solidFill>
                  <a:srgbClr val="D97706"/>
                </a:solidFill>
                <a:latin typeface="Microsoft YaHei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54787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 altLang="zh-CN">
                <a:solidFill>
                  <a:srgbClr val="132239"/>
                </a:solidFill>
                <a:latin typeface="Microsoft YaHei UI"/>
              </a:rPr>
              <a:t>m(m−1)/2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931920"/>
            <a:ext cx="3931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40" b="0" i="0" altLang="zh-CN">
                <a:solidFill>
                  <a:srgbClr val="7B889B"/>
                </a:solidFill>
                <a:latin typeface="Microsoft YaHei UI"/>
              </a:rPr>
              <a:t>(i, j) ≡ (2, 1) (mod 4)，且 d ≥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352544"/>
            <a:ext cx="4297680" cy="566928"/>
          </a:xfrm>
          <a:prstGeom prst="roundRect">
            <a:avLst>
              <a:gd name="adj" fmla="val 16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48056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altLang="zh-CN">
                <a:solidFill>
                  <a:srgbClr val="1B3A6B"/>
                </a:solidFill>
                <a:latin typeface="Microsoft YaHei UI"/>
              </a:rPr>
              <a:t>T</a:t>
            </a:r>
            <a:r>
              <a:rPr sz="1170" b="1" baseline="-22000" altLang="zh-CN">
                <a:solidFill>
                  <a:srgbClr val="1B3A6B"/>
                </a:solidFill>
                <a:latin typeface="Microsoft YaHei UI"/>
              </a:rPr>
              <a:t>1</a:t>
            </a:r>
            <a:r>
              <a:rPr sz="1500" b="1" i="0" altLang="zh-CN">
                <a:solidFill>
                  <a:srgbClr val="1B3A6B"/>
                </a:solidFill>
                <a:latin typeface="Microsoft YaHei UI"/>
              </a:rPr>
              <a:t> + T</a:t>
            </a:r>
            <a:r>
              <a:rPr sz="1170" b="1" baseline="-22000" altLang="zh-CN">
                <a:solidFill>
                  <a:srgbClr val="1B3A6B"/>
                </a:solidFill>
                <a:latin typeface="Microsoft YaHei UI"/>
              </a:rPr>
              <a:t>2</a:t>
            </a:r>
            <a:r>
              <a:rPr sz="1500" b="1" i="0" altLang="zh-CN">
                <a:solidFill>
                  <a:srgbClr val="1B3A6B"/>
                </a:solidFill>
                <a:latin typeface="Microsoft YaHei UI"/>
              </a:rPr>
              <a:t> = m</a:t>
            </a:r>
            <a:r>
              <a:rPr sz="1170" b="1" baseline="+26000" altLang="zh-CN">
                <a:solidFill>
                  <a:srgbClr val="1B3A6B"/>
                </a:solidFill>
                <a:latin typeface="Microsoft YaHei UI"/>
              </a:rPr>
              <a:t>2</a:t>
            </a:r>
            <a:r>
              <a:rPr sz="1500" b="1" i="0" altLang="zh-CN">
                <a:solidFill>
                  <a:srgbClr val="1B3A6B"/>
                </a:solidFill>
                <a:latin typeface="Microsoft YaHei UI"/>
              </a:rPr>
              <a:t> + m + 1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1700784"/>
            <a:ext cx="6174943" cy="32186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1883664"/>
            <a:ext cx="56263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1B3A6B"/>
                </a:solidFill>
                <a:latin typeface="Microsoft YaHei UI"/>
              </a:rPr>
              <a:t>完 成 不 等 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249424"/>
            <a:ext cx="56263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400"/>
              </a:spcAft>
            </a:pPr>
            <a:r>
              <a:rPr sz="1260" b="0" i="0" altLang="zh-CN">
                <a:solidFill>
                  <a:srgbClr val="132239"/>
                </a:solidFill>
                <a:latin typeface="Microsoft YaHei UI"/>
              </a:rPr>
              <a:t>总对数：C(4m+2, 2) = (2m+1)(4m+1)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400"/>
              </a:spcAft>
            </a:pP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400"/>
              </a:spcAft>
            </a:pPr>
            <a:r>
              <a:rPr sz="1260" b="0" i="0" altLang="zh-CN">
                <a:solidFill>
                  <a:srgbClr val="132239"/>
                </a:solidFill>
                <a:latin typeface="Microsoft YaHei UI"/>
              </a:rPr>
              <a:t>P</a:t>
            </a:r>
            <a:r>
              <a:rPr sz="982" b="0" baseline="-22000" altLang="zh-CN">
                <a:solidFill>
                  <a:srgbClr val="132239"/>
                </a:solidFill>
                <a:latin typeface="Microsoft YaHei UI"/>
              </a:rPr>
              <a:t>m</a:t>
            </a:r>
            <a:r>
              <a:rPr sz="1260" b="0" i="0" altLang="zh-CN">
                <a:solidFill>
                  <a:srgbClr val="132239"/>
                </a:solidFill>
                <a:latin typeface="Microsoft YaHei UI"/>
              </a:rPr>
              <a:t> ≥ (m</a:t>
            </a:r>
            <a:r>
              <a:rPr sz="982" b="0" baseline="+26000" altLang="zh-CN">
                <a:solidFill>
                  <a:srgbClr val="132239"/>
                </a:solidFill>
                <a:latin typeface="Microsoft YaHei UI"/>
              </a:rPr>
              <a:t>2</a:t>
            </a:r>
            <a:r>
              <a:rPr sz="1260" b="0" i="0" altLang="zh-CN">
                <a:solidFill>
                  <a:srgbClr val="132239"/>
                </a:solidFill>
                <a:latin typeface="Microsoft YaHei UI"/>
              </a:rPr>
              <a:t>+m+1) / [(2m+1)(4m+1)]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400"/>
              </a:spcAft>
            </a:pP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400"/>
              </a:spcAft>
            </a:pPr>
            <a:r>
              <a:rPr sz="1260" b="0" i="0" altLang="zh-CN">
                <a:solidFill>
                  <a:srgbClr val="132239"/>
                </a:solidFill>
                <a:latin typeface="Microsoft YaHei UI"/>
              </a:rPr>
              <a:t>比较分子分母：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400"/>
              </a:spcAft>
            </a:pPr>
            <a:r>
              <a:rPr sz="1260" b="0" i="0" altLang="zh-CN">
                <a:solidFill>
                  <a:srgbClr val="132239"/>
                </a:solidFill>
                <a:latin typeface="Microsoft YaHei UI"/>
              </a:rPr>
              <a:t>8(m</a:t>
            </a:r>
            <a:r>
              <a:rPr sz="982" b="0" baseline="+26000" altLang="zh-CN">
                <a:solidFill>
                  <a:srgbClr val="132239"/>
                </a:solidFill>
                <a:latin typeface="Microsoft YaHei UI"/>
              </a:rPr>
              <a:t>2</a:t>
            </a:r>
            <a:r>
              <a:rPr sz="1260" b="0" i="0" altLang="zh-CN">
                <a:solidFill>
                  <a:srgbClr val="132239"/>
                </a:solidFill>
                <a:latin typeface="Microsoft YaHei UI"/>
              </a:rPr>
              <a:t>+m+1) − (2m+1)(4m+1)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400"/>
              </a:spcAft>
            </a:pPr>
            <a:r>
              <a:rPr sz="1260" b="0" i="0" altLang="zh-CN">
                <a:solidFill>
                  <a:srgbClr val="132239"/>
                </a:solidFill>
                <a:latin typeface="Microsoft YaHei UI"/>
              </a:rPr>
              <a:t>= 8m</a:t>
            </a:r>
            <a:r>
              <a:rPr sz="982" b="0" baseline="+26000" altLang="zh-CN">
                <a:solidFill>
                  <a:srgbClr val="132239"/>
                </a:solidFill>
                <a:latin typeface="Microsoft YaHei UI"/>
              </a:rPr>
              <a:t>2</a:t>
            </a:r>
            <a:r>
              <a:rPr sz="1260" b="0" i="0" altLang="zh-CN">
                <a:solidFill>
                  <a:srgbClr val="132239"/>
                </a:solidFill>
                <a:latin typeface="Microsoft YaHei UI"/>
              </a:rPr>
              <a:t>+8m+8 − (8m</a:t>
            </a:r>
            <a:r>
              <a:rPr sz="982" b="0" baseline="+26000" altLang="zh-CN">
                <a:solidFill>
                  <a:srgbClr val="132239"/>
                </a:solidFill>
                <a:latin typeface="Microsoft YaHei UI"/>
              </a:rPr>
              <a:t>2</a:t>
            </a:r>
            <a:r>
              <a:rPr sz="1260" b="0" i="0" altLang="zh-CN">
                <a:solidFill>
                  <a:srgbClr val="132239"/>
                </a:solidFill>
                <a:latin typeface="Microsoft YaHei UI"/>
              </a:rPr>
              <a:t>+6m+1)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400"/>
              </a:spcAft>
            </a:pPr>
            <a:r>
              <a:rPr sz="1260" b="0" i="0" altLang="zh-CN">
                <a:solidFill>
                  <a:srgbClr val="132239"/>
                </a:solidFill>
                <a:latin typeface="Microsoft YaHei UI"/>
              </a:rPr>
              <a:t>= 2m + 7 &gt;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5065776"/>
            <a:ext cx="6174943" cy="969264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 UI"/>
              </a:rPr>
              <a:t>因此对任意正整数 m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Microsoft YaHei UI"/>
              </a:rPr>
              <a:t>P</a:t>
            </a:r>
            <a:r>
              <a:rPr sz="1368" b="1" baseline="-22000">
                <a:solidFill>
                  <a:srgbClr val="FFFFFF"/>
                </a:solidFill>
                <a:latin typeface="Microsoft YaHei UI"/>
              </a:rPr>
              <a:t>m</a:t>
            </a:r>
            <a:r>
              <a:rPr sz="1800" b="1">
                <a:solidFill>
                  <a:srgbClr val="FFFFFF"/>
                </a:solidFill>
                <a:latin typeface="Microsoft YaHei UI"/>
              </a:rPr>
              <a:t> &gt; 1/8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5084064"/>
            <a:ext cx="429768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79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230368"/>
            <a:ext cx="3840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40" b="0" i="0" altLang="zh-CN">
                <a:solidFill>
                  <a:srgbClr val="3E4D66"/>
                </a:solidFill>
                <a:latin typeface="Microsoft YaHei UI"/>
              </a:rPr>
              <a:t>整道第 (3) 问的量级是：构造出大约 m² 个好对象，而总对象大约是 8m² 个 —— 恰好越过了 1/8 这条线。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altLang="zh-CN">
                <a:solidFill>
                  <a:srgbClr val="1B3A6B"/>
                </a:solidFill>
                <a:latin typeface="Microsoft YaHei UI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altLang="zh-CN">
                <a:solidFill>
                  <a:srgbClr val="132239"/>
                </a:solidFill>
                <a:latin typeface="Microsoft YaHei UI"/>
              </a:rPr>
              <a:t>机器复核：把结论在代码里再算一遍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566928" cy="5029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99616" y="1188720"/>
            <a:ext cx="99788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7B889B"/>
                </a:solidFill>
                <a:latin typeface="Microsoft YaHei UI"/>
              </a:rPr>
              <a:t>verify.py（由 dsh 编写）用回溯搜索独立验证 m = 1…5 的每一个 (i, j)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09360"/>
            <a:ext cx="10765231" cy="1097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00800"/>
            <a:ext cx="985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altLang="zh-CN">
                <a:solidFill>
                  <a:srgbClr val="7B889B"/>
                </a:solidFill>
                <a:latin typeface="Microsoft YaHei UI"/>
              </a:rPr>
              <a:t>2024 新课标Ⅰ卷 · 第 19 题  |  (i, j)-可分数列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8383" y="6400800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altLang="zh-CN">
                <a:solidFill>
                  <a:srgbClr val="7B889B"/>
                </a:solidFill>
                <a:latin typeface="Microsoft YaHei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700784"/>
            <a:ext cx="411480" cy="384048"/>
          </a:xfrm>
          <a:prstGeom prst="rect">
            <a:avLst/>
          </a:prstGeom>
          <a:solidFill>
            <a:srgbClr val="1B3A6B"/>
          </a:solidFill>
          <a:ln w="762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60" b="1" i="0" altLang="zh-CN">
                <a:solidFill>
                  <a:srgbClr val="FFFFFF"/>
                </a:solidFill>
                <a:latin typeface="Microsoft YaHei UI"/>
              </a:rPr>
              <a:t>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4712" y="1700784"/>
            <a:ext cx="804672" cy="384048"/>
          </a:xfrm>
          <a:prstGeom prst="rect">
            <a:avLst/>
          </a:prstGeom>
          <a:solidFill>
            <a:srgbClr val="1B3A6B"/>
          </a:solidFill>
          <a:ln w="762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1783080"/>
            <a:ext cx="8046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60" b="1" i="0" altLang="zh-CN">
                <a:solidFill>
                  <a:srgbClr val="FFFFFF"/>
                </a:solidFill>
                <a:latin typeface="Microsoft YaHei UI"/>
              </a:rPr>
              <a:t>n = 4m+2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9384" y="1700784"/>
            <a:ext cx="1188720" cy="384048"/>
          </a:xfrm>
          <a:prstGeom prst="rect">
            <a:avLst/>
          </a:prstGeom>
          <a:solidFill>
            <a:srgbClr val="1B3A6B"/>
          </a:solidFill>
          <a:ln w="762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9384" y="1783080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60" b="1" i="0" altLang="zh-CN">
                <a:solidFill>
                  <a:srgbClr val="FFFFFF"/>
                </a:solidFill>
                <a:latin typeface="Microsoft YaHei UI"/>
              </a:rPr>
              <a:t>可分对数（穷举）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18104" y="1700784"/>
            <a:ext cx="1207008" cy="384048"/>
          </a:xfrm>
          <a:prstGeom prst="rect">
            <a:avLst/>
          </a:prstGeom>
          <a:solidFill>
            <a:srgbClr val="1B3A6B"/>
          </a:solidFill>
          <a:ln w="762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8104" y="1783080"/>
            <a:ext cx="12070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60" b="1" i="0" altLang="zh-CN">
                <a:solidFill>
                  <a:srgbClr val="FFFFFF"/>
                </a:solidFill>
                <a:latin typeface="Microsoft YaHei UI"/>
              </a:rPr>
              <a:t>m²+m+1（理论）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5112" y="1700784"/>
            <a:ext cx="731520" cy="384048"/>
          </a:xfrm>
          <a:prstGeom prst="rect">
            <a:avLst/>
          </a:prstGeom>
          <a:solidFill>
            <a:srgbClr val="1B3A6B"/>
          </a:solidFill>
          <a:ln w="762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178308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60" b="1" i="0" altLang="zh-CN">
                <a:solidFill>
                  <a:srgbClr val="FFFFFF"/>
                </a:solidFill>
                <a:latin typeface="Microsoft YaHei UI"/>
              </a:rPr>
              <a:t>总对数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56632" y="1700784"/>
            <a:ext cx="841248" cy="384048"/>
          </a:xfrm>
          <a:prstGeom prst="rect">
            <a:avLst/>
          </a:prstGeom>
          <a:solidFill>
            <a:srgbClr val="1B3A6B"/>
          </a:solidFill>
          <a:ln w="762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6632" y="1783080"/>
            <a:ext cx="841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60" b="1" i="0" altLang="zh-CN">
                <a:solidFill>
                  <a:srgbClr val="FFFFFF"/>
                </a:solidFill>
                <a:latin typeface="Microsoft YaHei UI"/>
              </a:rPr>
              <a:t>比例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1700784"/>
            <a:ext cx="548640" cy="384048"/>
          </a:xfrm>
          <a:prstGeom prst="rect">
            <a:avLst/>
          </a:prstGeom>
          <a:solidFill>
            <a:srgbClr val="1B3A6B"/>
          </a:solidFill>
          <a:ln w="762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1783080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60" b="1" i="0" altLang="zh-CN">
                <a:solidFill>
                  <a:srgbClr val="FFFFFF"/>
                </a:solidFill>
                <a:latin typeface="Microsoft YaHei UI"/>
              </a:rPr>
              <a:t>≥ 1/8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2084832"/>
            <a:ext cx="41148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2167128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24712" y="2084832"/>
            <a:ext cx="804672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2167128"/>
            <a:ext cx="8046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9384" y="2084832"/>
            <a:ext cx="11887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9384" y="216712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8104" y="2084832"/>
            <a:ext cx="1207008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18104" y="2167128"/>
            <a:ext cx="12070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5112" y="2084832"/>
            <a:ext cx="7315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25112" y="2167128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56632" y="2084832"/>
            <a:ext cx="841248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2167128"/>
            <a:ext cx="841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0.2000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7880" y="2084832"/>
            <a:ext cx="54864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7880" y="2167128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 altLang="zh-CN">
                <a:solidFill>
                  <a:srgbClr val="0F8A80"/>
                </a:solidFill>
                <a:latin typeface="Microsoft YaHei U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2468880"/>
            <a:ext cx="411480" cy="384048"/>
          </a:xfrm>
          <a:prstGeom prst="rect">
            <a:avLst/>
          </a:prstGeom>
          <a:solidFill>
            <a:srgbClr val="EDF2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2551176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24712" y="2468880"/>
            <a:ext cx="804672" cy="384048"/>
          </a:xfrm>
          <a:prstGeom prst="rect">
            <a:avLst/>
          </a:prstGeom>
          <a:solidFill>
            <a:srgbClr val="EDF2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4712" y="2551176"/>
            <a:ext cx="8046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29384" y="2468880"/>
            <a:ext cx="1188720" cy="384048"/>
          </a:xfrm>
          <a:prstGeom prst="rect">
            <a:avLst/>
          </a:prstGeom>
          <a:solidFill>
            <a:srgbClr val="EDF2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9384" y="2551176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18104" y="2468880"/>
            <a:ext cx="1207008" cy="384048"/>
          </a:xfrm>
          <a:prstGeom prst="rect">
            <a:avLst/>
          </a:prstGeom>
          <a:solidFill>
            <a:srgbClr val="EDF2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18104" y="2551176"/>
            <a:ext cx="12070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25112" y="2468880"/>
            <a:ext cx="731520" cy="384048"/>
          </a:xfrm>
          <a:prstGeom prst="rect">
            <a:avLst/>
          </a:prstGeom>
          <a:solidFill>
            <a:srgbClr val="EDF2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25112" y="255117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45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56632" y="2468880"/>
            <a:ext cx="841248" cy="384048"/>
          </a:xfrm>
          <a:prstGeom prst="rect">
            <a:avLst/>
          </a:prstGeom>
          <a:solidFill>
            <a:srgbClr val="EDF2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56632" y="2551176"/>
            <a:ext cx="841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0.1556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97880" y="2468880"/>
            <a:ext cx="548640" cy="384048"/>
          </a:xfrm>
          <a:prstGeom prst="rect">
            <a:avLst/>
          </a:prstGeom>
          <a:solidFill>
            <a:srgbClr val="EDF2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97880" y="2551176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 altLang="zh-CN">
                <a:solidFill>
                  <a:srgbClr val="0F8A80"/>
                </a:solidFill>
                <a:latin typeface="Microsoft YaHei UI"/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" y="2852928"/>
            <a:ext cx="41148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2935224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24712" y="2852928"/>
            <a:ext cx="804672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24712" y="2935224"/>
            <a:ext cx="8046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14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29384" y="2852928"/>
            <a:ext cx="11887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29384" y="2935224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13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18104" y="2852928"/>
            <a:ext cx="1207008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18104" y="2935224"/>
            <a:ext cx="12070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13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25112" y="2852928"/>
            <a:ext cx="7315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25112" y="2935224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91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56632" y="2852928"/>
            <a:ext cx="841248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56632" y="2935224"/>
            <a:ext cx="841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0.1429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97880" y="2852928"/>
            <a:ext cx="54864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97880" y="2935224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 altLang="zh-CN">
                <a:solidFill>
                  <a:srgbClr val="0F8A80"/>
                </a:solidFill>
                <a:latin typeface="Microsoft YaHei UI"/>
              </a:rP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3232" y="3236976"/>
            <a:ext cx="411480" cy="384048"/>
          </a:xfrm>
          <a:prstGeom prst="rect">
            <a:avLst/>
          </a:prstGeom>
          <a:solidFill>
            <a:srgbClr val="EDF2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2" y="3319272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24712" y="3236976"/>
            <a:ext cx="804672" cy="384048"/>
          </a:xfrm>
          <a:prstGeom prst="rect">
            <a:avLst/>
          </a:prstGeom>
          <a:solidFill>
            <a:srgbClr val="EDF2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24712" y="3319272"/>
            <a:ext cx="8046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18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29384" y="3236976"/>
            <a:ext cx="1188720" cy="384048"/>
          </a:xfrm>
          <a:prstGeom prst="rect">
            <a:avLst/>
          </a:prstGeom>
          <a:solidFill>
            <a:srgbClr val="EDF2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929384" y="3319272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21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18104" y="3236976"/>
            <a:ext cx="1207008" cy="384048"/>
          </a:xfrm>
          <a:prstGeom prst="rect">
            <a:avLst/>
          </a:prstGeom>
          <a:solidFill>
            <a:srgbClr val="EDF2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18104" y="3319272"/>
            <a:ext cx="12070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21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25112" y="3236976"/>
            <a:ext cx="731520" cy="384048"/>
          </a:xfrm>
          <a:prstGeom prst="rect">
            <a:avLst/>
          </a:prstGeom>
          <a:solidFill>
            <a:srgbClr val="EDF2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25112" y="3319272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153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56632" y="3236976"/>
            <a:ext cx="841248" cy="384048"/>
          </a:xfrm>
          <a:prstGeom prst="rect">
            <a:avLst/>
          </a:prstGeom>
          <a:solidFill>
            <a:srgbClr val="EDF2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56632" y="3319272"/>
            <a:ext cx="841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0.1373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97880" y="3236976"/>
            <a:ext cx="548640" cy="384048"/>
          </a:xfrm>
          <a:prstGeom prst="rect">
            <a:avLst/>
          </a:prstGeom>
          <a:solidFill>
            <a:srgbClr val="EDF2F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97880" y="3319272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 altLang="zh-CN">
                <a:solidFill>
                  <a:srgbClr val="0F8A80"/>
                </a:solidFill>
                <a:latin typeface="Microsoft YaHei UI"/>
              </a:rPr>
              <a:t>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3232" y="3621024"/>
            <a:ext cx="41148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3232" y="3703320"/>
            <a:ext cx="411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24712" y="3621024"/>
            <a:ext cx="804672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24712" y="3703320"/>
            <a:ext cx="8046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22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29384" y="3621024"/>
            <a:ext cx="11887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929384" y="3703320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31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18104" y="3621024"/>
            <a:ext cx="1207008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18104" y="3703320"/>
            <a:ext cx="12070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31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325112" y="3621024"/>
            <a:ext cx="7315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25112" y="370332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231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056632" y="3621024"/>
            <a:ext cx="841248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56632" y="3703320"/>
            <a:ext cx="841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132239"/>
                </a:solidFill>
                <a:latin typeface="Microsoft YaHei UI"/>
              </a:rPr>
              <a:t>0.1342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897880" y="3621024"/>
            <a:ext cx="54864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897880" y="3703320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 altLang="zh-CN">
                <a:solidFill>
                  <a:srgbClr val="0F8A80"/>
                </a:solidFill>
                <a:latin typeface="Microsoft YaHei UI"/>
              </a:rPr>
              <a:t>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3232" y="4279392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1B3A6B"/>
                </a:solidFill>
                <a:latin typeface="Microsoft YaHei UI"/>
              </a:rPr>
              <a:t>其余自动检查（全部通过）</a:t>
            </a:r>
          </a:p>
        </p:txBody>
      </p:sp>
      <p:sp>
        <p:nvSpPr>
          <p:cNvPr id="94" name="Oval 93"/>
          <p:cNvSpPr/>
          <p:nvPr/>
        </p:nvSpPr>
        <p:spPr>
          <a:xfrm>
            <a:off x="749808" y="4681727"/>
            <a:ext cx="64008" cy="640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9264" y="4562855"/>
            <a:ext cx="5504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 altLang="zh-CN">
                <a:solidFill>
                  <a:srgbClr val="3E4D66"/>
                </a:solidFill>
                <a:latin typeface="Microsoft YaHei UI"/>
              </a:rPr>
              <a:t>m = 1 的穷举结果为 [(1,2), (1,6), (5,6)]，与第 (1) 问答案逐条吻合。</a:t>
            </a:r>
          </a:p>
        </p:txBody>
      </p:sp>
      <p:sp>
        <p:nvSpPr>
          <p:cNvPr id="96" name="Oval 95"/>
          <p:cNvSpPr/>
          <p:nvPr/>
        </p:nvSpPr>
        <p:spPr>
          <a:xfrm>
            <a:off x="749808" y="5047488"/>
            <a:ext cx="64008" cy="640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69264" y="4928616"/>
            <a:ext cx="5504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 altLang="zh-CN">
                <a:solidFill>
                  <a:srgbClr val="3E4D66"/>
                </a:solidFill>
                <a:latin typeface="Microsoft YaHei UI"/>
              </a:rPr>
              <a:t>m = 3 时 (2, 13) 可分，回溯找到的分组正是 {1,4,7,10}、{3,6,9,12}、{5,8,11,14}。</a:t>
            </a:r>
          </a:p>
        </p:txBody>
      </p:sp>
      <p:sp>
        <p:nvSpPr>
          <p:cNvPr id="98" name="Oval 97"/>
          <p:cNvSpPr/>
          <p:nvPr/>
        </p:nvSpPr>
        <p:spPr>
          <a:xfrm>
            <a:off x="749808" y="5413248"/>
            <a:ext cx="64008" cy="640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69264" y="5294376"/>
            <a:ext cx="5504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 altLang="zh-CN">
                <a:solidFill>
                  <a:srgbClr val="3E4D66"/>
                </a:solidFill>
                <a:latin typeface="Microsoft YaHei UI"/>
              </a:rPr>
              <a:t>反过来也说明：m = 1…5 上「可分数对」恰好就是两族构造给出的那些——下界其实是精确的。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675120" y="1728358"/>
            <a:ext cx="4931359" cy="26148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1" name="Picture 100" descr="fig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1856374"/>
            <a:ext cx="4675327" cy="2358866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6803136" y="4626864"/>
            <a:ext cx="4675327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79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004304" y="4773168"/>
            <a:ext cx="4254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 i="0" altLang="zh-CN">
                <a:solidFill>
                  <a:srgbClr val="1B3A6B"/>
                </a:solidFill>
                <a:latin typeface="Microsoft YaHei UI"/>
              </a:rPr>
              <a:t>橙点与蓝柱顶端完全重合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004304" y="5065776"/>
            <a:ext cx="42547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3E4D66"/>
                </a:solidFill>
                <a:latin typeface="Microsoft YaHei UI"/>
              </a:rPr>
              <a:t>橙点是理论值 m²+m+1，蓝柱是穷举得到的真实可分对数——两者在 m = 1…5 上无一例外地相等。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altLang="zh-CN">
                <a:solidFill>
                  <a:srgbClr val="1B3A6B"/>
                </a:solidFill>
                <a:latin typeface="Microsoft YaHei UI"/>
              </a:rPr>
              <a:t>Retrospective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altLang="zh-CN">
                <a:solidFill>
                  <a:srgbClr val="132239"/>
                </a:solidFill>
                <a:latin typeface="Microsoft YaHei UI"/>
              </a:rPr>
              <a:t>复盘：可复用的三步套路与三个坑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566928" cy="5029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99616" y="1188720"/>
            <a:ext cx="99788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7B889B"/>
                </a:solidFill>
                <a:latin typeface="Microsoft YaHei UI"/>
              </a:rPr>
              <a:t>把这套做法命名为「模 4 分段 — 构造族计数法」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09360"/>
            <a:ext cx="10765231" cy="1097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00800"/>
            <a:ext cx="985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altLang="zh-CN">
                <a:solidFill>
                  <a:srgbClr val="7B889B"/>
                </a:solidFill>
                <a:latin typeface="Microsoft YaHei UI"/>
              </a:rPr>
              <a:t>2024 新课标Ⅰ卷 · 第 19 题  |  (i, j)-可分数列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8383" y="6400800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altLang="zh-CN">
                <a:solidFill>
                  <a:srgbClr val="7B889B"/>
                </a:solidFill>
                <a:latin typeface="Microsoft YaHei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0934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1B3A6B"/>
                </a:solidFill>
                <a:latin typeface="Microsoft YaHei UI"/>
              </a:rPr>
              <a:t>三 步 套 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56816"/>
            <a:ext cx="1335024" cy="310896"/>
          </a:xfrm>
          <a:prstGeom prst="roundRect">
            <a:avLst>
              <a:gd name="adj" fmla="val 32000"/>
            </a:avLst>
          </a:prstGeom>
          <a:solidFill>
            <a:srgbClr val="2E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60" b="1">
                <a:solidFill>
                  <a:srgbClr val="FFFFFF"/>
                </a:solidFill>
                <a:latin typeface="Microsoft YaHei UI"/>
              </a:rPr>
              <a:t>01 翻译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1984248"/>
            <a:ext cx="3986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140" b="0" i="0" altLang="zh-CN">
                <a:solidFill>
                  <a:srgbClr val="3E4D66"/>
                </a:solidFill>
                <a:latin typeface="Microsoft YaHei UI"/>
              </a:rPr>
              <a:t>用仿射对应把「值的问题」变成「下标的集合划分问题」，公差 d 消失。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596896"/>
            <a:ext cx="1335024" cy="310896"/>
          </a:xfrm>
          <a:prstGeom prst="roundRect">
            <a:avLst>
              <a:gd name="adj" fmla="val 32000"/>
            </a:avLst>
          </a:prstGeom>
          <a:solidFill>
            <a:srgbClr val="0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60" b="1">
                <a:solidFill>
                  <a:srgbClr val="FFFFFF"/>
                </a:solidFill>
                <a:latin typeface="Microsoft YaHei UI"/>
              </a:rPr>
              <a:t>02 找不变量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624327"/>
            <a:ext cx="3986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140" b="0" i="0" altLang="zh-CN">
                <a:solidFill>
                  <a:srgbClr val="3E4D66"/>
                </a:solidFill>
                <a:latin typeface="Microsoft YaHei UI"/>
              </a:rPr>
              <a:t>「连续 4 项一组」⇔ 每段长度被 4 整除 ⇒ i ≡ 1、j ≡ 2 (mod 4)。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236976"/>
            <a:ext cx="1335024" cy="310896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60" b="1">
                <a:solidFill>
                  <a:srgbClr val="FFFFFF"/>
                </a:solidFill>
                <a:latin typeface="Microsoft YaHei UI"/>
              </a:rPr>
              <a:t>03 构造+计数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3264408"/>
            <a:ext cx="3986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140" b="0" i="0" altLang="zh-CN">
                <a:solidFill>
                  <a:srgbClr val="3E4D66"/>
                </a:solidFill>
                <a:latin typeface="Microsoft YaHei UI"/>
              </a:rPr>
              <a:t>构造一族一定可分的下标对，数出对数，除以总对数得到概率下界。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041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D64545"/>
                </a:solidFill>
                <a:latin typeface="Microsoft YaHei UI"/>
              </a:rPr>
              <a:t>三 个 真 实 易 错 点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471416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4370832"/>
            <a:ext cx="5248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1" i="0" altLang="zh-CN">
                <a:solidFill>
                  <a:srgbClr val="D64545"/>
                </a:solidFill>
                <a:latin typeface="Microsoft YaHei UI"/>
              </a:rPr>
              <a:t>尾部块数差一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608576"/>
            <a:ext cx="5248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30" b="0" i="0" altLang="zh-CN">
                <a:solidFill>
                  <a:srgbClr val="3E4D66"/>
                </a:solidFill>
                <a:latin typeface="Microsoft YaHei UI"/>
              </a:rPr>
              <a:t>第 (2) 问尾部若从 14 开始切，长度 4(m−3)+1 不是 4 的倍数。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148072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5047488"/>
            <a:ext cx="5248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1" i="0" altLang="zh-CN">
                <a:solidFill>
                  <a:srgbClr val="D64545"/>
                </a:solidFill>
                <a:latin typeface="Microsoft YaHei UI"/>
              </a:rPr>
              <a:t>以为一族就够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285232"/>
            <a:ext cx="5248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30" b="0" i="0" altLang="zh-CN">
                <a:solidFill>
                  <a:srgbClr val="3E4D66"/>
                </a:solidFill>
                <a:latin typeface="Microsoft YaHei UI"/>
              </a:rPr>
              <a:t>只靠第一族在 m ≥ 3 时已落在 1/8 之下——最典型的「看似证完」。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824728"/>
            <a:ext cx="77724" cy="777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5724144"/>
            <a:ext cx="5248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1" i="0" altLang="zh-CN">
                <a:solidFill>
                  <a:srgbClr val="D64545"/>
                </a:solidFill>
                <a:latin typeface="Microsoft YaHei UI"/>
              </a:rPr>
              <a:t>忘了 d = 1 的洞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5961888"/>
            <a:ext cx="5248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130" b="0" i="0" altLang="zh-CN">
                <a:solidFill>
                  <a:srgbClr val="3E4D66"/>
                </a:solidFill>
                <a:latin typeface="Microsoft YaHei UI"/>
              </a:rPr>
              <a:t>第二族不扣除 j − i = 3 的那 m 对，计数会虚增。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56832" y="1609344"/>
            <a:ext cx="4821631" cy="223113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4576" y="1773936"/>
            <a:ext cx="4346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1B3A6B"/>
                </a:solidFill>
                <a:latin typeface="Microsoft YaHei UI"/>
              </a:rPr>
              <a:t>一 句 话 本 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2139696"/>
            <a:ext cx="434614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 altLang="zh-CN">
                <a:solidFill>
                  <a:srgbClr val="132239"/>
                </a:solidFill>
                <a:latin typeface="Microsoft YaHei UI"/>
              </a:rPr>
              <a:t>删去两个下标后，剩余下标能否被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 altLang="zh-CN">
                <a:solidFill>
                  <a:srgbClr val="132239"/>
                </a:solidFill>
                <a:latin typeface="Microsoft YaHei UI"/>
              </a:rPr>
              <a:t>四项等差数列精确覆盖——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 altLang="zh-CN">
                <a:solidFill>
                  <a:srgbClr val="132239"/>
                </a:solidFill>
                <a:latin typeface="Microsoft YaHei UI"/>
              </a:rPr>
              <a:t>与公差无关，只与下标有关。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56832" y="3968496"/>
            <a:ext cx="4821631" cy="2194560"/>
          </a:xfrm>
          <a:prstGeom prst="roundRect">
            <a:avLst>
              <a:gd name="adj" fmla="val 45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94576" y="4133087"/>
            <a:ext cx="4346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altLang="zh-CN">
                <a:solidFill>
                  <a:srgbClr val="1B3A6B"/>
                </a:solidFill>
                <a:latin typeface="Microsoft YaHei UI"/>
              </a:rPr>
              <a:t>一 个 自 然 追 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4480560"/>
            <a:ext cx="4346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3E4D66"/>
                </a:solidFill>
                <a:latin typeface="Microsoft YaHei UI"/>
              </a:rPr>
              <a:t>若把「4 项一组」改成「k 项一组」？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3E4D66"/>
                </a:solidFill>
                <a:latin typeface="Microsoft YaHei UI"/>
              </a:rPr>
              <a:t>表层答案：模 4 换成模 k，i ≡ 1、j ≡ 2 (mod k)，对称族排除 j − i = k − 1。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 altLang="zh-CN">
                <a:solidFill>
                  <a:srgbClr val="3E4D66"/>
                </a:solidFill>
                <a:latin typeface="Microsoft YaHei UI"/>
              </a:rPr>
              <a:t>真正的答案还要再分层：k 项等差数列 x, x+r, …, x+(k−1)r 的余数分布取决于 gcd(r, k) —— 应改为「模 k 分层 + 用 gcd(r, k) 区分公差类型」。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altLang="zh-CN">
                <a:solidFill>
                  <a:srgbClr val="1B3A6B"/>
                </a:solidFill>
                <a:latin typeface="Microsoft YaHei UI"/>
              </a:rPr>
              <a:t>Toolchain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altLang="zh-CN">
                <a:solidFill>
                  <a:srgbClr val="132239"/>
                </a:solidFill>
                <a:latin typeface="Microsoft YaHei UI"/>
              </a:rPr>
              <a:t>工具链与文件清单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566928" cy="5029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99616" y="1188720"/>
            <a:ext cx="99788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altLang="zh-CN">
                <a:solidFill>
                  <a:srgbClr val="7B889B"/>
                </a:solidFill>
                <a:latin typeface="Microsoft YaHei UI"/>
              </a:rPr>
              <a:t>全程由 DeepSeek Harness 在 headless 模式下完成推理，Python 负责验证与制图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6309360"/>
            <a:ext cx="10765231" cy="10972"/>
          </a:xfrm>
          <a:prstGeom prst="rect">
            <a:avLst/>
          </a:prstGeom>
          <a:solidFill>
            <a:srgbClr val="D7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00800"/>
            <a:ext cx="98508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altLang="zh-CN">
                <a:solidFill>
                  <a:srgbClr val="7B889B"/>
                </a:solidFill>
                <a:latin typeface="Microsoft YaHei UI"/>
              </a:rPr>
              <a:t>2024 新课标Ⅰ卷 · 第 19 题  |  (i, j)-可分数列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8383" y="6400800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altLang="zh-CN">
                <a:solidFill>
                  <a:srgbClr val="7B889B"/>
                </a:solidFill>
                <a:latin typeface="Microsoft YaHei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64208"/>
            <a:ext cx="5263743" cy="14081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664208"/>
            <a:ext cx="5263743" cy="50292"/>
          </a:xfrm>
          <a:prstGeom prst="rect">
            <a:avLst/>
          </a:prstGeom>
          <a:solidFill>
            <a:srgbClr val="2E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938528"/>
            <a:ext cx="47882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altLang="zh-CN">
                <a:solidFill>
                  <a:srgbClr val="132239"/>
                </a:solidFill>
                <a:latin typeface="Microsoft YaHei UI"/>
              </a:rPr>
              <a:t>DeepSeek Harness (dsh)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04288"/>
            <a:ext cx="4788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3E4D66"/>
                </a:solidFill>
                <a:latin typeface="Microsoft YaHei UI"/>
              </a:rPr>
              <a:t>headless profile，一次调用完成：解三问 → 写 solution.md → 写 verify.py → 运行验证 → 写 analysis.md。耗时约 830 秒。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4719" y="1664208"/>
            <a:ext cx="5263743" cy="14081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4719" y="1664208"/>
            <a:ext cx="5263743" cy="50292"/>
          </a:xfrm>
          <a:prstGeom prst="rect">
            <a:avLst/>
          </a:prstGeom>
          <a:solidFill>
            <a:srgbClr val="0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463" y="1938528"/>
            <a:ext cx="47882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altLang="zh-CN">
                <a:solidFill>
                  <a:srgbClr val="132239"/>
                </a:solidFill>
                <a:latin typeface="Microsoft YaHei UI"/>
              </a:rPr>
              <a:t>Python 回溯验证 verify.py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463" y="2304288"/>
            <a:ext cx="4788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3E4D66"/>
                </a:solidFill>
                <a:latin typeface="Microsoft YaHei UI"/>
              </a:rPr>
              <a:t>仅用标准库。剪枝搜索判定任意 (m, i, j) 是否可分，并穷举 m = 1…5 的全部下标对。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236976"/>
            <a:ext cx="5263743" cy="14081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236976"/>
            <a:ext cx="5263743" cy="502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511296"/>
            <a:ext cx="47882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altLang="zh-CN">
                <a:solidFill>
                  <a:srgbClr val="132239"/>
                </a:solidFill>
                <a:latin typeface="Microsoft YaHei UI"/>
              </a:rPr>
              <a:t>matplotlib 制图 gen_figs.py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3877056"/>
            <a:ext cx="4788255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3E4D66"/>
                </a:solidFill>
                <a:latin typeface="Microsoft YaHei UI"/>
              </a:rPr>
              <a:t>本卷 8 张配图全部由脚本生成，中文字体 Microsoft YaHei，尺寸与配色统一，可重复复现。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4719" y="3236976"/>
            <a:ext cx="5263743" cy="14081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4719" y="3236976"/>
            <a:ext cx="5263743" cy="50292"/>
          </a:xfrm>
          <a:prstGeom prst="rect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2463" y="3511296"/>
            <a:ext cx="47882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altLang="zh-CN">
                <a:solidFill>
                  <a:srgbClr val="132239"/>
                </a:solidFill>
                <a:latin typeface="Microsoft YaHei UI"/>
              </a:rPr>
              <a:t>python-pptx 排版 build_ppt.py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2463" y="3877056"/>
            <a:ext cx="4788255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3E4D66"/>
                </a:solidFill>
                <a:latin typeface="Microsoft YaHei UI"/>
              </a:rPr>
              <a:t>幻灯片本体也由代码生成：真正的 DrawingML 上下标，改一处配色即可全局生效。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700016"/>
            <a:ext cx="10765231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7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4846320"/>
            <a:ext cx="102531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altLang="zh-CN">
                <a:solidFill>
                  <a:srgbClr val="1B3A6B"/>
                </a:solidFill>
                <a:latin typeface="Microsoft YaHei UI"/>
              </a:rPr>
              <a:t>调 用 方 式（可复现）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138928"/>
            <a:ext cx="102531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altLang="zh-CN">
                <a:solidFill>
                  <a:srgbClr val="3E4D66"/>
                </a:solidFill>
                <a:latin typeface="Consolas"/>
              </a:rPr>
              <a:t>$ node @deepseek-ai/dsh/lib/bin.js --profile headless "$(cat prompt.txt)"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altLang="zh-CN">
                <a:solidFill>
                  <a:srgbClr val="3E4D66"/>
                </a:solidFill>
                <a:latin typeface="Consolas"/>
              </a:rPr>
              <a:t>$ python verify.py        # 回溯穷举复核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altLang="zh-CN">
                <a:solidFill>
                  <a:srgbClr val="3E4D66"/>
                </a:solidFill>
                <a:latin typeface="Consolas"/>
              </a:rPr>
              <a:t>$ python build_ppt.py     # 生成本幻灯片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96188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altLang="zh-CN">
                <a:solidFill>
                  <a:srgbClr val="7B889B"/>
                </a:solidFill>
                <a:latin typeface="Microsoft YaHei UI"/>
              </a:rPr>
              <a:t>学号 63026333 · 刘峻宏   |   原题来源：2024 年新课标 Ⅰ 卷数学第 19 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