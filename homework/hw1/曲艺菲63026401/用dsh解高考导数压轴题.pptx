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696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fi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658368"/>
            <a:ext cx="2395728" cy="310896"/>
          </a:xfrm>
          <a:prstGeom prst="roundRect">
            <a:avLst>
              <a:gd name="adj" fmla="val 50000"/>
            </a:avLst>
          </a:prstGeom>
          <a:solidFill>
            <a:srgbClr val="1B2F5C"/>
          </a:solidFill>
          <a:ln w="9525">
            <a:solidFill>
              <a:srgbClr val="4D6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708660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FB4FF"/>
                </a:solidFill>
                <a:latin typeface="Microsoft YaHei"/>
                <a:ea typeface="Microsoft YaHei"/>
                <a:cs typeface="Microsoft YaHei"/>
              </a:rPr>
              <a:t>DeepSeek Harness · 数学实践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3664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FA6E8"/>
                </a:solidFill>
                <a:latin typeface="Microsoft YaHei"/>
                <a:ea typeface="Microsoft YaHei"/>
                <a:cs typeface="Microsoft YaHei"/>
              </a:rPr>
              <a:t>实践题 · 用 dsh 做一道数学题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31720"/>
            <a:ext cx="9692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 DeepSeek Harness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解一道高考导数压轴题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206240"/>
            <a:ext cx="1051560" cy="59436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4443984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3CFEA"/>
                </a:solidFill>
                <a:latin typeface="Microsoft YaHei"/>
                <a:ea typeface="Microsoft YaHei"/>
                <a:cs typeface="Microsoft YaHei"/>
              </a:rPr>
              <a:t>2018 年全国Ⅰ卷理科第 21 题：双极值点处的割线斜率不等式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95604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FA6E8"/>
                </a:solidFill>
                <a:latin typeface="Microsoft YaHei"/>
                <a:ea typeface="Microsoft YaHei"/>
                <a:cs typeface="Microsoft YaHei"/>
              </a:rPr>
              <a:t>三条互相独立的证明路径　·　60 位十进制高精度复算　·　全过程可视化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961888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82B4"/>
                </a:solidFill>
                <a:latin typeface="Microsoft YaHei"/>
                <a:ea typeface="Microsoft YaHei"/>
                <a:cs typeface="Microsoft YaHei"/>
              </a:rPr>
              <a:t>解题与验证：DeepSeek Harness（dsh）　|　交付物：16 页 PPT + 3 套可复现脚本 + 图表数据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6803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汇报大纲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905256"/>
            <a:ext cx="475488" cy="5029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8687" y="402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从题目到结论：四步走完一次完整的数学探究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用 dsh 解 2018 全国Ⅰ卷理科 21 题 · 双极值点割线斜率不等式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2613583" cy="3063240"/>
          </a:xfrm>
          <a:prstGeom prst="roundRect">
            <a:avLst>
              <a:gd name="adj" fmla="val 8396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2613583" cy="68580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755648"/>
            <a:ext cx="215638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87168"/>
            <a:ext cx="21563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题目呈现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926080"/>
            <a:ext cx="215638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2018 全国Ⅰ卷理科第 21 题原文、考点定位与读题三问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096512"/>
            <a:ext cx="21563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P3 – P4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1679" y="1481328"/>
            <a:ext cx="2613583" cy="3063240"/>
          </a:xfrm>
          <a:prstGeom prst="roundRect">
            <a:avLst>
              <a:gd name="adj" fmla="val 8396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81679" y="1481328"/>
            <a:ext cx="2613583" cy="68580"/>
          </a:xfrm>
          <a:prstGeom prst="round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9423" y="1755648"/>
            <a:ext cx="215638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423" y="2487168"/>
            <a:ext cx="21563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严谨推导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423" y="2926080"/>
            <a:ext cx="215638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单调性分类讨论 → 韦达降维 → 三条等价证明路径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423" y="4096512"/>
            <a:ext cx="21563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P5 – P10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6431" y="1481328"/>
            <a:ext cx="2613583" cy="3063240"/>
          </a:xfrm>
          <a:prstGeom prst="roundRect">
            <a:avLst>
              <a:gd name="adj" fmla="val 8396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96431" y="1481328"/>
            <a:ext cx="2613583" cy="68580"/>
          </a:xfrm>
          <a:prstGeom prst="roundRect">
            <a:avLst/>
          </a:prstGeom>
          <a:solidFill>
            <a:srgbClr val="E89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4175" y="1755648"/>
            <a:ext cx="215638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4175" y="2487168"/>
            <a:ext cx="21563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数值验证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4175" y="2926080"/>
            <a:ext cx="215638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60 位精度复算、三条算法交叉印证、可视化取证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4175" y="4096512"/>
            <a:ext cx="21563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P11 – P13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11183" y="1481328"/>
            <a:ext cx="2613583" cy="3063240"/>
          </a:xfrm>
          <a:prstGeom prst="roundRect">
            <a:avLst>
              <a:gd name="adj" fmla="val 8396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011183" y="1481328"/>
            <a:ext cx="2613583" cy="68580"/>
          </a:xfrm>
          <a:prstGeom prst="round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48927" y="1755648"/>
            <a:ext cx="215638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7C5CF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8927" y="2487168"/>
            <a:ext cx="21563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结论与反思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8927" y="2926080"/>
            <a:ext cx="215638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书写规范、结论推广与 dsh 使用心得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8927" y="4096512"/>
            <a:ext cx="21563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C5CFC"/>
                </a:solidFill>
                <a:latin typeface="Microsoft YaHei"/>
                <a:ea typeface="Microsoft YaHei"/>
                <a:cs typeface="Microsoft YaHei"/>
              </a:rPr>
              <a:t>P14 – P16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754880"/>
            <a:ext cx="11057839" cy="1481328"/>
          </a:xfrm>
          <a:prstGeom prst="roundRect">
            <a:avLst>
              <a:gd name="adj" fmla="val 14814"/>
            </a:avLst>
          </a:prstGeom>
          <a:solidFill>
            <a:srgbClr val="EEF2FF"/>
          </a:solidFill>
          <a:ln w="9525">
            <a:solidFill>
              <a:srgbClr val="C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491947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一句话结论</a:t>
            </a:r>
          </a:p>
        </p:txBody>
      </p:sp>
      <p:pic>
        <p:nvPicPr>
          <p:cNvPr id="34" name="Picture 33" descr="f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62" y="4956048"/>
            <a:ext cx="3625850" cy="89852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27048" y="5870448"/>
            <a:ext cx="97776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其中 x₁、x₂ 是 f 的两个极值点；等号取不到，a ≤ 2 时两个极值点根本不存在。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6803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题目原文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905256"/>
            <a:ext cx="475488" cy="5029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8687" y="402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01 题目呈现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2018 年普通高等学校招生全国统一考试 · 理科数学（全国Ⅰ卷）第 21 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用 dsh 解 2018 全国Ⅰ卷理科 21 题 · 双极值点割线斜率不等式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7178040" cy="3611880"/>
          </a:xfrm>
          <a:prstGeom prst="roundRect">
            <a:avLst>
              <a:gd name="adj" fmla="val 6075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68580" cy="3611880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700784"/>
            <a:ext cx="6583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已知函数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5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f(x) = 1/x − x + a ln x　（a 为实数，定义域 (0, +∞)）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（1）讨论 f(x) 的单调性；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310128"/>
            <a:ext cx="6583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（2）若 f(x) 存在两个极值点 x₁、x₂，证明：</a:t>
            </a:r>
          </a:p>
        </p:txBody>
      </p:sp>
      <p:pic>
        <p:nvPicPr>
          <p:cNvPr id="12" name="Picture 11" descr="f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862" y="3749039"/>
            <a:ext cx="2584450" cy="9874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824" y="4590288"/>
            <a:ext cx="6583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满分 12 分，是当年整卷的压轴题。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481328"/>
            <a:ext cx="3651199" cy="3611880"/>
          </a:xfrm>
          <a:prstGeom prst="roundRect">
            <a:avLst>
              <a:gd name="adj" fmla="val 6075"/>
            </a:avLst>
          </a:prstGeom>
          <a:solidFill>
            <a:srgbClr val="F6F9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700784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考点定位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2103120"/>
            <a:ext cx="1112520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135124"/>
            <a:ext cx="893064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导数与单调性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51848" y="2103120"/>
            <a:ext cx="833120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70720" y="2135124"/>
            <a:ext cx="613664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分类讨论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2468880"/>
            <a:ext cx="1112520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2500884"/>
            <a:ext cx="893064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双变量不等式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51848" y="2468880"/>
            <a:ext cx="1252220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70720" y="2500884"/>
            <a:ext cx="1032764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对数平均不等式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2834640"/>
            <a:ext cx="1391920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2866644"/>
            <a:ext cx="1172464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极值点偏移的思想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3273552"/>
            <a:ext cx="33832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为什么值得做</a:t>
            </a:r>
          </a:p>
          <a:p>
            <a:pPr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第 (2) 问把“两个极值点”作为条件，但真正的信息是两根之积 x₁x₂ = 1 —— 把双变量问题降为单变量，是导数压轴题最经典的破题方式。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257800"/>
            <a:ext cx="11057839" cy="969264"/>
          </a:xfrm>
          <a:prstGeom prst="roundRect">
            <a:avLst>
              <a:gd name="adj" fmla="val 22641"/>
            </a:avLst>
          </a:prstGeom>
          <a:solidFill>
            <a:srgbClr val="EEF2FF"/>
          </a:solidFill>
          <a:ln w="9525">
            <a:solidFill>
              <a:srgbClr val="C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7" y="5413248"/>
            <a:ext cx="105091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读题三问：① 定义域是什么？（(0, +∞)，一切讨论都在此范围内）　② “存在两个极值点”暗含什么？（判别式 Δ = a² − 4 &gt; 0，即 a &gt; 2）　③ 两个变量之间有隐藏关系吗？（有：x₁x₂ = 1）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6803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解题路线图：dsh 的六步工作流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905256"/>
            <a:ext cx="475488" cy="5029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8687" y="402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01 题目呈现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把“解题”拆成可验证的流水线：符号推导与数值实验互相印证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用 dsh 解 2018 全国Ⅰ卷理科 21 题 · 双极值点割线斜率不等式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1737360" cy="2084831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1554480"/>
            <a:ext cx="1737360" cy="59436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1907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48256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读题与符号化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15184"/>
            <a:ext cx="14813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定义域、参量 a、
“两个极值点”的含义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2377440"/>
            <a:ext cx="12673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C4D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31023" y="1554480"/>
            <a:ext cx="1737360" cy="2084831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31023" y="1554480"/>
            <a:ext cx="1737360" cy="59436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77327" y="171907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7327" y="2048256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求导与分类讨论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7327" y="2615184"/>
            <a:ext cx="14813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f′(x) 的符号由
二次函数 φ(x) 决定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8383" y="2377440"/>
            <a:ext cx="12673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C4D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5119" y="1554480"/>
            <a:ext cx="1737360" cy="2084831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295119" y="1554480"/>
            <a:ext cx="1737360" cy="59436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41423" y="171907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1423" y="2048256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韦达定理降维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423" y="2615184"/>
            <a:ext cx="14813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x₁x₂ = 1
x₁ + x₂ = a &gt;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2479" y="2377440"/>
            <a:ext cx="12673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C4D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9215" y="1554480"/>
            <a:ext cx="1737360" cy="2084831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59215" y="1554480"/>
            <a:ext cx="1737360" cy="59436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5519" y="171907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5519" y="2048256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三路并行证明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5519" y="2615184"/>
            <a:ext cx="14813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构造函数 / 对数平均
/ 双曲参数化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6575" y="2377440"/>
            <a:ext cx="12673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C4D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3311" y="1554480"/>
            <a:ext cx="1737360" cy="2084831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023311" y="1554480"/>
            <a:ext cx="1737360" cy="59436"/>
          </a:xfrm>
          <a:prstGeom prst="round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69615" y="171907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9615" y="2048256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高精度数值复算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9615" y="2615184"/>
            <a:ext cx="14813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decimal 60 位
三条算法交叉印证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0671" y="2377440"/>
            <a:ext cx="12673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C4D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87407" y="1554480"/>
            <a:ext cx="1737360" cy="2084831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887407" y="1554480"/>
            <a:ext cx="1737360" cy="59436"/>
          </a:xfrm>
          <a:prstGeom prst="round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33711" y="171907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33711" y="2048256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作图与成稿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33711" y="2615184"/>
            <a:ext cx="14813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曲线取证 + PPT
逻辑重排与美化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3858768"/>
            <a:ext cx="5410047" cy="2359152"/>
          </a:xfrm>
          <a:prstGeom prst="roundRect">
            <a:avLst>
              <a:gd name="adj" fmla="val 9302"/>
            </a:avLst>
          </a:prstGeom>
          <a:solidFill>
            <a:srgbClr val="ECFAF6"/>
          </a:solidFill>
          <a:ln w="9525">
            <a:solidFill>
              <a:srgbClr val="B9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7" y="4041648"/>
            <a:ext cx="48431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dsh 承担的工作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7" y="4425696"/>
            <a:ext cx="48431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把题面翻译成符号与条件，列出可视化的推导骨架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8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给出三种互相独立的证明路径，并指出它们同源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8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用 decimal 60 位精度复算并交叉验证全部数值结论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8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生成函数图像、比值曲线与渐近结构图，直接可用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4719" y="3858768"/>
            <a:ext cx="5410047" cy="2359152"/>
          </a:xfrm>
          <a:prstGeom prst="roundRect">
            <a:avLst>
              <a:gd name="adj" fmla="val 9302"/>
            </a:avLst>
          </a:prstGeom>
          <a:solidFill>
            <a:srgbClr val="FFF8EC"/>
          </a:solidFill>
          <a:ln w="9525">
            <a:solidFill>
              <a:srgbClr val="F2D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89039" y="4041648"/>
            <a:ext cx="48431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必须人工把关的工作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89039" y="4425696"/>
            <a:ext cx="48431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判断隐含条件是否真的被用到（本题：a &gt; 2）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80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检查每一步变形是否等价（两边同除 a 前先确认 a &gt; 0）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80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确认数值实验只是证据，不能替代严格证明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80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决定哪些推导值得写进 PPT、以什么顺序呈现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6803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第 (1) 问：单调性的完整分类讨论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905256"/>
            <a:ext cx="475488" cy="5029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8687" y="402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02 严谨推导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先把 f′ 的符号问题化归为一个二次函数的符号问题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用 dsh 解 2018 全国Ⅰ卷理科 21 题 · 双极值点割线斜率不等式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26464"/>
            <a:ext cx="5440680" cy="1572768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① 求导：分母恒正，符号只看分子</a:t>
            </a:r>
          </a:p>
        </p:txBody>
      </p:sp>
      <p:pic>
        <p:nvPicPr>
          <p:cNvPr id="10" name="Picture 9" descr="f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708" y="1883664"/>
            <a:ext cx="1831975" cy="6635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2523744"/>
            <a:ext cx="49377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记 φ(x) = x² − ax + 1（判别式 Δ = a² − 4）。x &gt; 0 时 x² &gt; 0，所以 f′(x) 的符号与 −φ(x) 相同。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426464"/>
            <a:ext cx="5443423" cy="1572768"/>
          </a:xfrm>
          <a:prstGeom prst="roundRect">
            <a:avLst>
              <a:gd name="adj" fmla="val 13953"/>
            </a:avLst>
          </a:prstGeom>
          <a:solidFill>
            <a:srgbClr val="EEF2FF"/>
          </a:solidFill>
          <a:ln w="9525">
            <a:solidFill>
              <a:srgbClr val="C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572768"/>
            <a:ext cx="46634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② 分类讨论：Δ ≤ 0 与 Δ &gt; 0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a ≤ 2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：Δ ≤ 0，φ(x) ≥ 0 恒成立，f′(x) ≤ 0 —— f 在 (0, +∞) 上</a:t>
            </a:r>
            <a:r>
              <a:rPr sz="12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单调递减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（a &lt; −2 时两根均为负，结论不变）。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a &gt; 2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：φ 有两个正根 x₂ &lt; 1 &lt; x₁ 且 x₁x₂ = 1，f 在 (0, x₂) 减、(x₂, x₁) 增、(x₁, +∞) 减 —— 恰好两个极值点。</a:t>
            </a:r>
          </a:p>
        </p:txBody>
      </p:sp>
      <p:pic>
        <p:nvPicPr>
          <p:cNvPr id="14" name="Picture 13" descr="fig_fun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3145536"/>
            <a:ext cx="7436815" cy="28650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6108192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结论：第 (2) 问的隐藏前提是 </a:t>
            </a:r>
            <a:r>
              <a:rPr sz="1200" b="1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a &gt; 2</a:t>
            </a: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；此时 x₂ 为极小值点、x₁ 为极大值点，且两极值点的横坐标互为倒数。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6803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第 (2) 问：条件提炼与目标转化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905256"/>
            <a:ext cx="475488" cy="5029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8687" y="402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02 严谨推导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三步把“双变量”变成“单变量”，把待证式化为一个熟悉的函数不等式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用 dsh 解 2018 全国Ⅰ卷理科 21 题 · 双极值点割线斜率不等式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6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5440680" cy="2212848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第 1 步 · 条件提炼（韦达定理）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3852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两个极值点就是方程 x² − ax + 1 = 0 的两个正根，于是</a:t>
            </a:r>
          </a:p>
        </p:txBody>
      </p:sp>
      <p:pic>
        <p:nvPicPr>
          <p:cNvPr id="11" name="Picture 10" descr="f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658" y="2395728"/>
            <a:ext cx="2378075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2871216"/>
            <a:ext cx="49377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两根互为倒数：x₁ &gt; 1 &gt; x₂。这是全题最关键的信息 —— 有了它，两个变量事实上只剩一个自由度。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444752"/>
            <a:ext cx="5443423" cy="2212848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7376" y="159105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第 2 步 · 化简割线斜率</a:t>
            </a:r>
          </a:p>
        </p:txBody>
      </p:sp>
      <p:pic>
        <p:nvPicPr>
          <p:cNvPr id="15" name="Picture 14" descr="f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702" y="1938528"/>
            <a:ext cx="3441700" cy="688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37376" y="2724912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其中 (1/x₁ − 1/x₂)/(x₁ − x₂) = −1/(x₁x₂) = </a:t>
            </a:r>
            <a:r>
              <a:rPr sz="1200" b="1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−1</a:t>
            </a: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，而 −(x₁ − x₂)/(x₁ − x₂) = </a:t>
            </a:r>
            <a:r>
              <a:rPr sz="1200" b="1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−1</a:t>
            </a: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，两项合起来就是 −2。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03904"/>
            <a:ext cx="11057839" cy="1133856"/>
          </a:xfrm>
          <a:prstGeom prst="roundRect">
            <a:avLst>
              <a:gd name="adj" fmla="val 19354"/>
            </a:avLst>
          </a:prstGeom>
          <a:solidFill>
            <a:srgbClr val="EEF2FF"/>
          </a:solidFill>
          <a:ln w="9525">
            <a:solidFill>
              <a:srgbClr val="C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931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第 3 步 · 目标转化</a:t>
            </a:r>
          </a:p>
        </p:txBody>
      </p:sp>
      <p:pic>
        <p:nvPicPr>
          <p:cNvPr id="19" name="Picture 18" descr="f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525" y="3950208"/>
            <a:ext cx="4632325" cy="774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459028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（两边同除 a &gt; 0）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02352"/>
            <a:ext cx="11057839" cy="1097280"/>
          </a:xfrm>
          <a:prstGeom prst="roundRect">
            <a:avLst>
              <a:gd name="adj" fmla="val 20000"/>
            </a:avLst>
          </a:prstGeom>
          <a:solidFill>
            <a:srgbClr val="ECFAF6"/>
          </a:solidFill>
          <a:ln w="9525">
            <a:solidFill>
              <a:srgbClr val="B9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5230368"/>
            <a:ext cx="105091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这一步把题目彻底“翻译”清楚了：要证的是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对数平均 L(x₁, x₂) = (x₁ − x₂)/(ln x₁ − ln x₂) &gt; √(x₁x₂) = 1</a:t>
            </a:r>
            <a:r>
              <a:rPr sz="135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，即“对数平均不小于几何平均”。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6803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解法一：单变量构造函数（最标准的写法）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905256"/>
            <a:ext cx="475488" cy="5029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8687" y="402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02 严谨推导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利用 x₁x₂ = 1 把两个变量并成一个变量 t，再证一个函数恒正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用 dsh 解 2018 全国Ⅰ卷理科 21 题 · 双极值点割线斜率不等式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7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7882127" cy="3310128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68249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①  设元</a:t>
            </a:r>
          </a:p>
        </p:txBody>
      </p:sp>
      <p:pic>
        <p:nvPicPr>
          <p:cNvPr id="10" name="Picture 9" descr="f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627632"/>
            <a:ext cx="1901825" cy="269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" y="24688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②  目标化为 t 的不等式</a:t>
            </a:r>
          </a:p>
        </p:txBody>
      </p:sp>
      <p:pic>
        <p:nvPicPr>
          <p:cNvPr id="12" name="Picture 11" descr="f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2414016"/>
            <a:ext cx="2632075" cy="590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" y="32552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③  构造函数</a:t>
            </a:r>
          </a:p>
        </p:txBody>
      </p:sp>
      <p:pic>
        <p:nvPicPr>
          <p:cNvPr id="14" name="Picture 13" descr="f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3200400"/>
            <a:ext cx="3228975" cy="2476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4672" y="404164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④  求导判号</a:t>
            </a:r>
          </a:p>
        </p:txBody>
      </p:sp>
      <p:pic>
        <p:nvPicPr>
          <p:cNvPr id="16" name="Picture 15" descr="f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608" y="3986784"/>
            <a:ext cx="1933575" cy="24764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04672" y="4370832"/>
            <a:ext cx="7406640" cy="7315"/>
          </a:xfrm>
          <a:prstGeom prst="round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462272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⑤ 因 g 在 [1, +∞) 上递增，故 g(t) &gt; g(1) = 0，即 R &lt; a − 2。∎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0496" y="1444752"/>
            <a:ext cx="3084271" cy="3310128"/>
          </a:xfrm>
          <a:prstGeom prst="roundRect">
            <a:avLst>
              <a:gd name="adj" fmla="val 7115"/>
            </a:avLst>
          </a:prstGeom>
          <a:solidFill>
            <a:srgbClr val="FFF8EC"/>
          </a:solidFill>
          <a:ln w="9525">
            <a:solidFill>
              <a:srgbClr val="F2D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0" y="15910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这一路的关键点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956816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设 x₁ = t 的依据是 x₁x₂ = 1，不是随便设的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g′(t) = 2(t − 1 − ln t) 仍需引理才能判号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严格不等号来自 t &gt; 1；t = 1 对应 a = 2，此时并无两个极值点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882896"/>
            <a:ext cx="11057839" cy="1426464"/>
          </a:xfrm>
          <a:prstGeom prst="roundRect">
            <a:avLst>
              <a:gd name="adj" fmla="val 15384"/>
            </a:avLst>
          </a:prstGeom>
          <a:solidFill>
            <a:srgbClr val="F6F9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5010912"/>
            <a:ext cx="1050919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为什么“构造 g(t) = t² − 1 − 2t ln t”是自然的选择？</a:t>
            </a:r>
          </a:p>
          <a:p>
            <a:pPr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把 t² − 1 − 2t ln t 拆开看：t² − 1 是分母 t − 1/t 的“共轭化”结果，2t ln t 来自对数项；它恰好可以因式分解式地求导成 2(t − 1 − ln t)，而 t − 1 − ln t 的正负是初等结论。换句话说，构造的目标就是让</a:t>
            </a:r>
            <a:r>
              <a:rPr sz="1200" b="1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求导之后的符号一目了然</a:t>
            </a: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6803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关键引理：t − 1 − ln t ≥ 0（等号仅 t = 1）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905256"/>
            <a:ext cx="475488" cy="5029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8687" y="402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02 严谨推导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它既给出解法一中 g′(t) 的符号，也解释了对数平均不等式的来源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用 dsh 解 2018 全国Ⅰ卷理科 21 题 · 双极值点割线斜率不等式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8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89888"/>
            <a:ext cx="11057839" cy="566928"/>
          </a:xfrm>
          <a:prstGeom prst="roundRect">
            <a:avLst>
              <a:gd name="adj" fmla="val 38709"/>
            </a:avLst>
          </a:prstGeom>
          <a:solidFill>
            <a:srgbClr val="EEF2FF"/>
          </a:solidFill>
          <a:ln w="9525">
            <a:solidFill>
              <a:srgbClr val="C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536192"/>
            <a:ext cx="105091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引理</a:t>
            </a:r>
            <a:r>
              <a:rPr sz="1350" b="0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　对任意 t &gt; 0，恒有 </a:t>
            </a:r>
            <a:r>
              <a:rPr sz="13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t − 1 − ln t ≥ 0</a:t>
            </a:r>
            <a:r>
              <a:rPr sz="1350" b="0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，等号成立当且仅当 t = 1。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66543"/>
            <a:ext cx="5410047" cy="159105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88883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证法一 · 求导（最直接）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令 h(t) = t − 1 − ln t，则 h′(t) = 1 − 1/t = (t − 1)/t。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t 在 (0, 1) 上时 h′ &lt; 0，t 在 (1, +∞) 上时 h′ &gt; 0，所以 h 在 t = 1 处取到最小值 h(1) = 0。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4719" y="2066543"/>
            <a:ext cx="5410047" cy="159105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0751" y="2194560"/>
            <a:ext cx="488883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证法二 · 切线放缩（几何意义）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(ln t)′ = 1/t，(ln t)″ = −1/t² &lt; 0，说明 y = ln t 的图像上凸，因此它总位于任意一条切线的下方。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t = 1 处的切线为 y = t − 1，于是 ln t ≤ t − 1，等号仅在切点 t = 1 成立。</a:t>
            </a:r>
          </a:p>
        </p:txBody>
      </p:sp>
      <p:pic>
        <p:nvPicPr>
          <p:cNvPr id="14" name="Picture 13" descr="fig_le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767328"/>
            <a:ext cx="7315200" cy="237892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046720" y="3767328"/>
            <a:ext cx="3578047" cy="2377440"/>
          </a:xfrm>
          <a:prstGeom prst="roundRect">
            <a:avLst>
              <a:gd name="adj" fmla="val 9230"/>
            </a:avLst>
          </a:prstGeom>
          <a:solidFill>
            <a:srgbClr val="F6F9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3913632"/>
            <a:ext cx="31025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引理在本页的两处用途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4297680"/>
            <a:ext cx="3102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判号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：t &gt; 1 时 g′(t) = 2(t − 1 − ln t) &gt; 0；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定型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：等号只在 t = 1，而 t = 1 对应 a = 2，此时 f 没有两个极值点 —— 所以原题的不等号必须是严格的。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6803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解法二：对数平均不等式，一步到位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905256"/>
            <a:ext cx="475488" cy="5029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8687" y="402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02 严谨推导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只要承认“对数平均 ≥ 几何平均”，原题几乎不用计算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用 dsh 解 2018 全国Ⅰ卷理科 21 题 · 双极值点割线斜率不等式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9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5541264" cy="1956816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① 定义与定理</a:t>
            </a:r>
          </a:p>
        </p:txBody>
      </p:sp>
      <p:pic>
        <p:nvPicPr>
          <p:cNvPr id="10" name="Picture 9" descr="f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703" y="1938528"/>
            <a:ext cx="4006850" cy="590550"/>
          </a:xfrm>
          <a:prstGeom prst="rect">
            <a:avLst/>
          </a:prstGeom>
        </p:spPr>
      </p:pic>
      <p:pic>
        <p:nvPicPr>
          <p:cNvPr id="11" name="Picture 10" descr="f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840" y="2468880"/>
            <a:ext cx="1298575" cy="279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28346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这就是著名的</a:t>
            </a:r>
            <a:r>
              <a:rPr sz="1150" b="1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对数平均不等式</a:t>
            </a:r>
            <a:r>
              <a:rPr sz="11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（L &gt; G），它同时蕴含了算术平均 — 几何平均不等式的加强形式。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333695" cy="1956816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47104" y="159105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② 定理的证明（与解法一同源）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83664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令 a = t²b（t &gt; 1），则 L &gt; G 等价于</a:t>
            </a:r>
          </a:p>
        </p:txBody>
      </p:sp>
      <p:pic>
        <p:nvPicPr>
          <p:cNvPr id="16" name="Picture 15" descr="f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664" y="2212848"/>
            <a:ext cx="2517775" cy="590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47104" y="2779776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右边正是解法一中的 g(t) &gt; 0 —— </a:t>
            </a:r>
            <a:r>
              <a:rPr sz="11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两条路径在这里合流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：所谓对数平均不等式，本质上就是同一个函数恒正。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547872"/>
            <a:ext cx="11057839" cy="1463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675887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③ 回到原题</a:t>
            </a:r>
          </a:p>
        </p:txBody>
      </p:sp>
      <p:pic>
        <p:nvPicPr>
          <p:cNvPr id="20" name="Picture 19" descr="f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4045" y="3968496"/>
            <a:ext cx="5089525" cy="838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1247" y="4700016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注意不等号方向：L &gt; G 意味着分母 (ln x₁ − ln x₂) 相对更小，所以整项被 G 放大后仍然小于 1。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75504"/>
            <a:ext cx="11057839" cy="1042415"/>
          </a:xfrm>
          <a:prstGeom prst="roundRect">
            <a:avLst>
              <a:gd name="adj" fmla="val 21052"/>
            </a:avLst>
          </a:prstGeom>
          <a:solidFill>
            <a:srgbClr val="ECFAF6"/>
          </a:solidFill>
          <a:ln w="9525">
            <a:solidFill>
              <a:srgbClr val="B9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5321808"/>
            <a:ext cx="105091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一句话看懂解法二</a:t>
            </a:r>
            <a:r>
              <a:rPr sz="1300" b="0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：把 (x₁ − x₂)/(ln x₁ − ln x₂) 看成某种“平均”，它大于几何平均 √(x₁x₂) = 1，于是原式立刻成立。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6803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解法三：双曲参数化，看清差值的精确结构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905256"/>
            <a:ext cx="475488" cy="5029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8687" y="402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02 严谨推导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把“两根互为倒数”这一点用到极致：x = e</a:t>
            </a:r>
            <a:r>
              <a:rPr sz="900" b="0" baseline="3000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±u</a:t>
            </a: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，让差值有闭式表达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用 dsh 解 2018 全国Ⅰ卷理科 21 题 · 双极值点割线斜率不等式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10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6858000" cy="210312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7190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pic>
        <p:nvPicPr>
          <p:cNvPr id="10" name="Picture 9" descr="f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627632"/>
            <a:ext cx="2695575" cy="2635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" y="23591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pic>
        <p:nvPicPr>
          <p:cNvPr id="12" name="Picture 11" descr="f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2267712"/>
            <a:ext cx="2428875" cy="273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" y="29992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pic>
        <p:nvPicPr>
          <p:cNvPr id="14" name="Picture 13" descr="f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2907791"/>
            <a:ext cx="4441825" cy="61595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571231" y="1444752"/>
            <a:ext cx="4053535" cy="2103120"/>
          </a:xfrm>
          <a:prstGeom prst="roundRect">
            <a:avLst>
              <a:gd name="adj" fmla="val 10434"/>
            </a:avLst>
          </a:prstGeom>
          <a:solidFill>
            <a:srgbClr val="FFF8EC"/>
          </a:solidFill>
          <a:ln w="9525">
            <a:solidFill>
              <a:srgbClr val="F2D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27264" y="159105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为什么这样设元有效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193852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x₁x₂ = 1 等价于“乘积为 1”，指数形式自动满足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a = x₁ + x₂ = 2cosh u，把参数 a 与 u 一一对应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u → 0⁺ 对应 a → 2⁺，正是两个极值点即将重合的临界情形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12463"/>
            <a:ext cx="11057839" cy="1133856"/>
          </a:xfrm>
          <a:prstGeom prst="roundRect">
            <a:avLst>
              <a:gd name="adj" fmla="val 19354"/>
            </a:avLst>
          </a:prstGeom>
          <a:solidFill>
            <a:srgbClr val="EEF2FF"/>
          </a:solidFill>
          <a:ln w="9525">
            <a:solidFill>
              <a:srgbClr val="C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8404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④ 差值的精确表达式</a:t>
            </a:r>
          </a:p>
        </p:txBody>
      </p:sp>
      <p:pic>
        <p:nvPicPr>
          <p:cNvPr id="20" name="Picture 19" descr="f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845" y="4059936"/>
            <a:ext cx="3971925" cy="7524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1247" y="457200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依据是 sinh u &gt; u（u &gt; 0）：sinh u = u + u³/6 + …，高阶项恒正。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010912"/>
            <a:ext cx="11057839" cy="1207008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5138928"/>
            <a:ext cx="10509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这一路还告诉我们三件事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① 不等式的“严格性”来自 sinh u &gt; u，这与引理 t − 1 − ln t &gt; 0 是同一件事的两种写法；② 差值 (a − 2) − R 随 a 增大而增大，不是固定的；③ a → 2⁺ 时差值约为 (a − 2)/3 —— 这正是下一页要验证的渐近结构。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6803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数值验证（一）：60 位精度复算，三条算法交叉印证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905256"/>
            <a:ext cx="475488" cy="5029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8687" y="402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03 数值验证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dsh 用 Python 的 decimal（prec = 60）独立复算，并与解析式逐位比对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用 dsh 解 2018 全国Ⅰ卷理科 21 题 · 双极值点割线斜率不等式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11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26464"/>
            <a:ext cx="4443984" cy="3054096"/>
          </a:xfrm>
          <a:prstGeom prst="roundRect">
            <a:avLst>
              <a:gd name="adj" fmla="val 7185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验证方案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解法 A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：按定义直接作差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解法 B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：化简式 R = −2 + a(ln x₁ − ln x₂)/(x₁ − x₂)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解法 C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：双曲形式 R = −2 + a·u / sinh u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三条算法的结果在 60 位精度下</a:t>
            </a:r>
            <a:r>
              <a:rPr sz="11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逐位一致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a = 3 的关键数值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11296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x₁ = 2.6180339887，x₂ = 0.3819660113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R = 0.5824536458，a − 2 = 1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gap = (a − 2) − R = 0.4175463542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48656" y="1426464"/>
            <a:ext cx="699817" cy="397764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30952" y="1444752"/>
            <a:ext cx="553513" cy="361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8473" y="1426464"/>
            <a:ext cx="1166361" cy="397764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0769" y="1444752"/>
            <a:ext cx="1020057" cy="361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4834" y="1426464"/>
            <a:ext cx="1244119" cy="397764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97130" y="1444752"/>
            <a:ext cx="1097815" cy="361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58954" y="1426464"/>
            <a:ext cx="777574" cy="397764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41250" y="1444752"/>
            <a:ext cx="631270" cy="361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− 2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6528" y="1426464"/>
            <a:ext cx="1477391" cy="397764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18824" y="1444752"/>
            <a:ext cx="1331087" cy="361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gap = (a−2) − 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13920" y="1426464"/>
            <a:ext cx="1010846" cy="397764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6216" y="1444752"/>
            <a:ext cx="864542" cy="361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 &lt; a − 2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48656" y="1824228"/>
            <a:ext cx="699817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30952" y="1842516"/>
            <a:ext cx="553513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2.05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8473" y="1824228"/>
            <a:ext cx="1166361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0769" y="1842516"/>
            <a:ext cx="1020057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1.250000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14834" y="1824228"/>
            <a:ext cx="1244119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97130" y="1842516"/>
            <a:ext cx="1097815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0.03308569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8954" y="1824228"/>
            <a:ext cx="777574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41250" y="1842516"/>
            <a:ext cx="631270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36528" y="1824228"/>
            <a:ext cx="1477391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18824" y="1842516"/>
            <a:ext cx="1331087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0.01691431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13920" y="1824228"/>
            <a:ext cx="1010846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6216" y="1842516"/>
            <a:ext cx="864542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成立 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48656" y="2178100"/>
            <a:ext cx="6376111" cy="7315"/>
          </a:xfrm>
          <a:prstGeom prst="round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248656" y="2185416"/>
            <a:ext cx="699817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30952" y="2203704"/>
            <a:ext cx="553513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2.1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8473" y="2185416"/>
            <a:ext cx="1166361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30769" y="2203704"/>
            <a:ext cx="1020057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1.370156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14834" y="2185416"/>
            <a:ext cx="1244119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97130" y="2203704"/>
            <a:ext cx="1097815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0.06568533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58954" y="2185416"/>
            <a:ext cx="777574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41250" y="2203704"/>
            <a:ext cx="631270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0.10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36528" y="2185416"/>
            <a:ext cx="1477391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18824" y="2203704"/>
            <a:ext cx="1331087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0.03431467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613920" y="2185416"/>
            <a:ext cx="1010846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696216" y="2203704"/>
            <a:ext cx="864542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成立 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48656" y="2539288"/>
            <a:ext cx="6376111" cy="7315"/>
          </a:xfrm>
          <a:prstGeom prst="round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248656" y="2546604"/>
            <a:ext cx="699817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30952" y="2564892"/>
            <a:ext cx="553513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2.5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8473" y="2546604"/>
            <a:ext cx="1166361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30769" y="2564892"/>
            <a:ext cx="1020057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2.000000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14834" y="2546604"/>
            <a:ext cx="1244119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197130" y="2564892"/>
            <a:ext cx="1097815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0.31049060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58954" y="2546604"/>
            <a:ext cx="777574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41250" y="2564892"/>
            <a:ext cx="631270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0.50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36528" y="2546604"/>
            <a:ext cx="1477391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18824" y="2564892"/>
            <a:ext cx="1331087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0.18950940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613920" y="2546604"/>
            <a:ext cx="1010846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696216" y="2564892"/>
            <a:ext cx="864542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成立 ✓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248656" y="2900476"/>
            <a:ext cx="6376111" cy="7315"/>
          </a:xfrm>
          <a:prstGeom prst="round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5248656" y="2907792"/>
            <a:ext cx="699817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330952" y="2926080"/>
            <a:ext cx="553513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8473" y="2907792"/>
            <a:ext cx="1166361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030769" y="2926080"/>
            <a:ext cx="1020057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2.618034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114834" y="2907792"/>
            <a:ext cx="1244119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197130" y="2926080"/>
            <a:ext cx="1097815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0.58245365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58954" y="2907792"/>
            <a:ext cx="777574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441250" y="2926080"/>
            <a:ext cx="631270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1.00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36528" y="2907792"/>
            <a:ext cx="1477391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218824" y="2926080"/>
            <a:ext cx="1331087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0.41754635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613920" y="2907792"/>
            <a:ext cx="1010846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696216" y="2926080"/>
            <a:ext cx="864542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成立 ✓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248656" y="3261664"/>
            <a:ext cx="6376111" cy="7315"/>
          </a:xfrm>
          <a:prstGeom prst="round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5248656" y="3268980"/>
            <a:ext cx="699817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330952" y="3287268"/>
            <a:ext cx="553513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948473" y="3268980"/>
            <a:ext cx="1166361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030769" y="3287268"/>
            <a:ext cx="1020057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3.732051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114834" y="3268980"/>
            <a:ext cx="1244119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97130" y="3287268"/>
            <a:ext cx="1097815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1.04138399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358954" y="3268980"/>
            <a:ext cx="777574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441250" y="3287268"/>
            <a:ext cx="631270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2.00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136528" y="3268980"/>
            <a:ext cx="1477391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218824" y="3287268"/>
            <a:ext cx="1331087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0.95861601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613920" y="3268980"/>
            <a:ext cx="1010846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696216" y="3287268"/>
            <a:ext cx="864542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成立 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248656" y="3622852"/>
            <a:ext cx="6376111" cy="7315"/>
          </a:xfrm>
          <a:prstGeom prst="round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5248656" y="3630168"/>
            <a:ext cx="699817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330952" y="3648456"/>
            <a:ext cx="553513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948473" y="3630168"/>
            <a:ext cx="1166361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030769" y="3648456"/>
            <a:ext cx="1020057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5.828427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114834" y="3630168"/>
            <a:ext cx="1244119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197130" y="3648456"/>
            <a:ext cx="1097815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1.73935144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358954" y="3630168"/>
            <a:ext cx="777574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441250" y="3648456"/>
            <a:ext cx="631270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4.00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136528" y="3630168"/>
            <a:ext cx="1477391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218824" y="3648456"/>
            <a:ext cx="1331087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2.26064856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613920" y="3630168"/>
            <a:ext cx="1010846" cy="36118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696216" y="3648456"/>
            <a:ext cx="864542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成立 ✓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248656" y="3984040"/>
            <a:ext cx="6376111" cy="7315"/>
          </a:xfrm>
          <a:prstGeom prst="round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5248656" y="3991356"/>
            <a:ext cx="699817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330952" y="4009644"/>
            <a:ext cx="553513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948473" y="3991356"/>
            <a:ext cx="1166361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030769" y="4009644"/>
            <a:ext cx="1020057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9.898979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114834" y="3991356"/>
            <a:ext cx="1244119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197130" y="4009644"/>
            <a:ext cx="1097815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2.67940655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358954" y="3991356"/>
            <a:ext cx="777574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441250" y="4009644"/>
            <a:ext cx="631270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8.00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136528" y="3991356"/>
            <a:ext cx="1477391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218824" y="4009644"/>
            <a:ext cx="1331087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5.32059345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0613920" y="3991356"/>
            <a:ext cx="1010846" cy="3611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0696216" y="4009644"/>
            <a:ext cx="864542" cy="3246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成立 ✓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248656" y="4345228"/>
            <a:ext cx="6376111" cy="7315"/>
          </a:xfrm>
          <a:prstGeom prst="round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566928" y="4608576"/>
            <a:ext cx="11057839" cy="1700784"/>
          </a:xfrm>
          <a:prstGeom prst="roundRect">
            <a:avLst>
              <a:gd name="adj" fmla="val 12903"/>
            </a:avLst>
          </a:prstGeom>
          <a:solidFill>
            <a:srgbClr val="F6F9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41247" y="4736592"/>
            <a:ext cx="1050919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读取这张表要注意两件事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① </a:t>
            </a:r>
            <a:r>
              <a:rPr sz="1200" b="1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gap 恒为正</a:t>
            </a: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：7 组样本（a 从 2.05 到 10）全部满足 R &lt; a − 2，与证明的结论完全一致；</a:t>
            </a:r>
          </a:p>
          <a:p>
            <a:pPr algn="l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② </a:t>
            </a:r>
            <a:r>
              <a:rPr sz="1200" b="1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gap 并不是常数</a:t>
            </a: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：它随 a 增大而增大，说明结论的“松紧程度”依赖于 a；a 越接近 2，gap 越小 —— 这正是下一页要定量刻画的渐近行为。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6803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数值验证（二）：比值曲线始终在直线下方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905256"/>
            <a:ext cx="475488" cy="5029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8687" y="402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03 数值验证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把 R(a) 与界 a − 2 画在同一张图上，不等式变成肉眼可见的“间隙”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用 dsh 解 2018 全国Ⅰ卷理科 21 题 · 双极值点割线斜率不等式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12 / 16</a:t>
            </a:r>
          </a:p>
        </p:txBody>
      </p:sp>
      <p:pic>
        <p:nvPicPr>
          <p:cNvPr id="8" name="Picture 7" descr="fig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89888"/>
            <a:ext cx="5577840" cy="32042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75120" y="1389888"/>
            <a:ext cx="4949647" cy="42062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31152" y="1554480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图上读出的结论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197510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蓝线是 R(a) = (f(x₁) − f(x₂))/(x₁ − x₂)，即割线斜率；虚线是界 y = a − 2；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对一切 a &gt; 2，蓝线</a:t>
            </a:r>
            <a:r>
              <a:rPr sz="11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严格位于虚线下方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，间隙（浅蓝区域）从不消失；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a = 3 处：R = 0.58245365 &lt; 1 = a − 2，差值 0.41754635；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两条曲线在 a = 2 处相切相交于原点，对应“两个极值点重合”的临界情形；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随着 a 增大，间隙的绝对宽度不断变大，但相对宽度趋于稳定（见下页）。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31152" y="4590288"/>
            <a:ext cx="4480560" cy="841248"/>
          </a:xfrm>
          <a:prstGeom prst="roundRect">
            <a:avLst>
              <a:gd name="adj" fmla="val 26086"/>
            </a:avLst>
          </a:prstGeom>
          <a:solidFill>
            <a:srgbClr val="EEF2FF"/>
          </a:solidFill>
          <a:ln w="9525">
            <a:solidFill>
              <a:srgbClr val="C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14032" y="4718304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图形只是“证据”，不是“证明”：它说明结论合理且没有一个反例，真正的严格性仍来自第 7 – 10 页的推导。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6803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数值验证（三）：差值的渐近结构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905256"/>
            <a:ext cx="475488" cy="5029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8687" y="402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03 数值验证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a → 2⁺ 时，差值约等于 (a − 2)/3 —— 不等式到底有多“紧”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用 dsh 解 2018 全国Ⅰ卷理科 21 题 · 双极值点割线斜率不等式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13 / 16</a:t>
            </a:r>
          </a:p>
        </p:txBody>
      </p:sp>
      <p:pic>
        <p:nvPicPr>
          <p:cNvPr id="8" name="Picture 7" descr="fig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71600"/>
            <a:ext cx="6675120" cy="26049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1371600"/>
            <a:ext cx="4263847" cy="2624328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16952" y="1517904"/>
            <a:ext cx="3788359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两条可被数值完全证实的渐近结论</a:t>
            </a:r>
          </a:p>
          <a:p>
            <a:pPr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① </a:t>
            </a:r>
            <a:r>
              <a:rPr sz="1150" b="1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相对差值有极限</a:t>
            </a:r>
            <a:r>
              <a:rPr sz="11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：gap/(a − 2) → 1/3（a → 2⁺），且总是</a:t>
            </a:r>
            <a:r>
              <a:rPr sz="1150" b="1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从上方</a:t>
            </a:r>
            <a:r>
              <a:rPr sz="11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收敛；也就是说 a − 2 与 R 的差约为 (a − 2)/3，界 a − 2 在临界点附近只“松”了 1/3。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② </a:t>
            </a:r>
            <a:r>
              <a:rPr sz="1150" b="1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精细展开</a:t>
            </a:r>
            <a:r>
              <a:rPr sz="11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：gap = (a − 2)/3 + (a − 2)²/10 + O((a − 2)³)。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133087"/>
            <a:ext cx="11057839" cy="210312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4261104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60 位精度下的实测值（a − 2 从 10⁻¹ 到 10⁻⁶）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4572000"/>
            <a:ext cx="1993123" cy="260603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" y="4590288"/>
            <a:ext cx="1846819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− 2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371" y="4572000"/>
            <a:ext cx="3805054" cy="260603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16667" y="4590288"/>
            <a:ext cx="3658750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gap（60 位实测）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39426" y="4572000"/>
            <a:ext cx="2355510" cy="260603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1722" y="4590288"/>
            <a:ext cx="2209206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gap/(a − 2)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4937" y="4572000"/>
            <a:ext cx="2355510" cy="260603"/>
          </a:xfrm>
          <a:prstGeom prst="round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77233" y="4590288"/>
            <a:ext cx="2209206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 1/3 的差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7" y="4832604"/>
            <a:ext cx="1993123" cy="2240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" y="4850892"/>
            <a:ext cx="1846819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10^-1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371" y="4832604"/>
            <a:ext cx="3805054" cy="2240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16667" y="4850892"/>
            <a:ext cx="365875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3.431467407158e-02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39426" y="4832604"/>
            <a:ext cx="2355510" cy="2240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1722" y="4850892"/>
            <a:ext cx="2209206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0.3431467407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4937" y="4832604"/>
            <a:ext cx="2355510" cy="2240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77233" y="4850892"/>
            <a:ext cx="2209206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9.81e-03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7" y="5049316"/>
            <a:ext cx="10509199" cy="7315"/>
          </a:xfrm>
          <a:prstGeom prst="round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41247" y="5056632"/>
            <a:ext cx="1993123" cy="22402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3544" y="5074920"/>
            <a:ext cx="1846819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10^-2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371" y="5056632"/>
            <a:ext cx="3805054" cy="22402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16667" y="5074920"/>
            <a:ext cx="365875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3.343314325310e-03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39426" y="5056632"/>
            <a:ext cx="2355510" cy="22402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21722" y="5074920"/>
            <a:ext cx="2209206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0.3343314325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94937" y="5056632"/>
            <a:ext cx="2355510" cy="22402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77233" y="5074920"/>
            <a:ext cx="2209206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9.98e-04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7" y="5273344"/>
            <a:ext cx="10509199" cy="7315"/>
          </a:xfrm>
          <a:prstGeom prst="round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41247" y="5280660"/>
            <a:ext cx="1993123" cy="2240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3544" y="5298948"/>
            <a:ext cx="1846819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10^-3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34371" y="5280660"/>
            <a:ext cx="3805054" cy="2240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16667" y="5298948"/>
            <a:ext cx="365875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3.334333142897e-04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39426" y="5280660"/>
            <a:ext cx="2355510" cy="2240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21722" y="5298948"/>
            <a:ext cx="2209206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0.3334333143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94937" y="5280660"/>
            <a:ext cx="2355510" cy="2240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77233" y="5298948"/>
            <a:ext cx="2209206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1.00e-04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7" y="5497372"/>
            <a:ext cx="10509199" cy="7315"/>
          </a:xfrm>
          <a:prstGeom prst="round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41247" y="5504688"/>
            <a:ext cx="1993123" cy="22402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3544" y="5522976"/>
            <a:ext cx="1846819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10^-4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34371" y="5504688"/>
            <a:ext cx="3805054" cy="22402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16667" y="5522976"/>
            <a:ext cx="365875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3.333433331429e-05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39426" y="5504688"/>
            <a:ext cx="2355510" cy="22402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21722" y="5522976"/>
            <a:ext cx="2209206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0.3333433331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94937" y="5504688"/>
            <a:ext cx="2355510" cy="22402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077233" y="5522976"/>
            <a:ext cx="2209206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1.00e-05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1247" y="5721400"/>
            <a:ext cx="10509199" cy="7315"/>
          </a:xfrm>
          <a:prstGeom prst="round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41247" y="5728716"/>
            <a:ext cx="1993123" cy="2240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23544" y="5747004"/>
            <a:ext cx="1846819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10^-5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834371" y="5728716"/>
            <a:ext cx="3805054" cy="2240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916667" y="5747004"/>
            <a:ext cx="365875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3.333343333314e-06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39426" y="5728716"/>
            <a:ext cx="2355510" cy="2240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721722" y="5747004"/>
            <a:ext cx="2209206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0.3333343333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94937" y="5728716"/>
            <a:ext cx="2355510" cy="2240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77233" y="5747004"/>
            <a:ext cx="2209206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1.00e-06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7" y="5945428"/>
            <a:ext cx="10509199" cy="7315"/>
          </a:xfrm>
          <a:prstGeom prst="round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841247" y="5952744"/>
            <a:ext cx="1993123" cy="22402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23544" y="5971032"/>
            <a:ext cx="1846819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10^-6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834371" y="5952744"/>
            <a:ext cx="3805054" cy="22402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916667" y="5971032"/>
            <a:ext cx="365875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3.333334333333e-07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639426" y="5952744"/>
            <a:ext cx="2355510" cy="22402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721722" y="5971032"/>
            <a:ext cx="2209206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0.3333334333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94937" y="5952744"/>
            <a:ext cx="2355510" cy="224028"/>
          </a:xfrm>
          <a:prstGeom prst="roundRect">
            <a:avLst/>
          </a:prstGeom>
          <a:solidFill>
            <a:srgbClr val="F6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077233" y="5971032"/>
            <a:ext cx="2209206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1.00e-07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41247" y="6169456"/>
            <a:ext cx="10509199" cy="7315"/>
          </a:xfrm>
          <a:prstGeom prst="roundRect">
            <a:avLst/>
          </a:prstGeom>
          <a:solidFill>
            <a:srgbClr val="DC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6803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结论与规范书写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905256"/>
            <a:ext cx="475488" cy="5029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8687" y="402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04 结论与反思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答案只有一行，但阅卷看的是“前提是否点到、逻辑是否闭合”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用 dsh 解 2018 全国Ⅰ卷理科 21 题 · 双极值点割线斜率不等式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14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08176"/>
            <a:ext cx="11057839" cy="1060704"/>
          </a:xfrm>
          <a:prstGeom prst="roundRect">
            <a:avLst>
              <a:gd name="adj" fmla="val 20689"/>
            </a:avLst>
          </a:prstGeom>
          <a:solidFill>
            <a:srgbClr val="EEF2FF"/>
          </a:solidFill>
          <a:ln w="9525">
            <a:solidFill>
              <a:srgbClr val="C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53619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最终结论</a:t>
            </a:r>
          </a:p>
        </p:txBody>
      </p:sp>
      <p:pic>
        <p:nvPicPr>
          <p:cNvPr id="10" name="Picture 9" descr="f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642" y="1700784"/>
            <a:ext cx="3625850" cy="8985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7" y="2084831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等号取不到；a ≤ 2 时 f 根本不存在两个极值点，命题无意义。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15184"/>
            <a:ext cx="6903720" cy="3602736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2761488"/>
            <a:ext cx="6309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五个得分点：缺一个都会被扣分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82112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2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先写定义域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 (0, +∞)，并说明一切讨论都在定义域内进行；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8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2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由“存在两个极值点”推出 a &gt; 2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（Δ = a² − 4 &gt; 0）—— 全题的隐藏前提；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8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2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用韦达定理写出 x₁x₂ = 1、x₁ + x₂ = a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，并注明 0 &lt; x₂ &lt; 1 &lt; x₁；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8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2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化简 R 时交代清楚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：(1/x₁ − 1/x₂)/(x₁ − x₂) = −1/(x₁x₂) = −1；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8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2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严格不等号要有出处</a:t>
            </a: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：g′(t) &gt; 0（t &gt; 1）配合 g(1) = 0，不能写成 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615184"/>
            <a:ext cx="3916375" cy="3602736"/>
          </a:xfrm>
          <a:prstGeom prst="roundRect">
            <a:avLst>
              <a:gd name="adj" fmla="val 6091"/>
            </a:avLst>
          </a:prstGeom>
          <a:solidFill>
            <a:srgbClr val="F6F9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64424" y="2761488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标准答案骨架（可直接照抄格式）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4424" y="3145536"/>
            <a:ext cx="34290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① 定义域 (0, +∞)，求导得 f′(x) = −(x² − ax + 1)/x²；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② 设 x₁ &gt; x₂ 为两根，则 x₁x₂ = 1、x₁ + x₂ = a &gt; 2；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③ 计算 R = −2 + a·(ln x₁ − ln x₂)/(x₁ − x₂)；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④ 令 x₁ = t &gt; 1，则只需证 t² − 1 − 2t ln t &gt; 0；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⑤ 令 g(t) = t² − 1 − 2t ln t，g′(t) = 2(t − 1 − ln t) ≥ 0，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　 故 g(t) &gt; g(1) = 0，从而 R &lt; a − 2。∎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6803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反思：AI 与数学证明的边界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905256"/>
            <a:ext cx="475488" cy="5029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8687" y="402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04 结论与反思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dsh 让“尝试—验证—呈现”的循环变快，但严谨性始终要人来守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用 dsh 解 2018 全国Ⅰ卷理科 21 题 · 双极值点割线斜率不等式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15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26464"/>
            <a:ext cx="5410047" cy="2450592"/>
          </a:xfrm>
          <a:prstGeom prst="roundRect">
            <a:avLst>
              <a:gd name="adj" fmla="val 8955"/>
            </a:avLst>
          </a:prstGeom>
          <a:solidFill>
            <a:srgbClr val="ECFAF6"/>
          </a:solidFill>
          <a:ln w="9525">
            <a:solidFill>
              <a:srgbClr val="B9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572768"/>
            <a:ext cx="48431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dsh 在这次解题中做对了什么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56816"/>
            <a:ext cx="48431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一次给出三条互相独立的证明，并指出它们的共同内核 g(t) &gt; 0；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自动完成冗长代数化简，几乎没有笔算失误；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用 decimal 60 位精度复算并生成表格，避免“看起来对”；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0CA67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秒级产出函数图像、比值曲线与渐近结构图，直接用于讲稿。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4719" y="1426464"/>
            <a:ext cx="5410047" cy="2450592"/>
          </a:xfrm>
          <a:prstGeom prst="roundRect">
            <a:avLst>
              <a:gd name="adj" fmla="val 8955"/>
            </a:avLst>
          </a:prstGeom>
          <a:solidFill>
            <a:srgbClr val="FFF8EC"/>
          </a:solidFill>
          <a:ln w="9525">
            <a:solidFill>
              <a:srgbClr val="F2D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9039" y="1572768"/>
            <a:ext cx="48431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哪些环节必须人来把关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9039" y="1956816"/>
            <a:ext cx="48431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题意理解：把“存在两个极值点”翻译成 a &gt; 2 是人的判断；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等价性检查：同除 a 之前先确认 a &gt; 0，这类细节最容易被跳过；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证据与证明的分界：数值实验只能提示结论，不能替代推导；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E8930C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呈现取舍：哪些步骤写进 PPT、按什么顺序讲，取决于听众。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23360"/>
            <a:ext cx="11057839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4151376"/>
            <a:ext cx="105091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踩坑记录（都来自这次真实的过程）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572000"/>
            <a:ext cx="105091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忘了 x₁x₂ = 1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：一开始把 x₁、x₂ 当成任意两个正数，结论推不动；补上韦达定理后立刻降为单变量。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“极值点偏移”套路容易套反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：本题要证的是割线斜率的上界，与典型的“x₁ + x₂ &gt; 2x₀”方向不同，直接套模板会把不等式做反。</a:t>
            </a:r>
          </a:p>
          <a:p>
            <a:pPr algn="l">
              <a:lnSpc>
                <a:spcPct val="135000"/>
              </a:lnSpc>
              <a:spcBef>
                <a:spcPts val="550"/>
              </a:spcBef>
              <a:spcAft>
                <a:spcPts val="0"/>
              </a:spcAft>
            </a:pPr>
            <a:r>
              <a:rPr sz="103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1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双精度会骗人</a:t>
            </a:r>
            <a:r>
              <a:rPr sz="115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：当 a − 2 = 10⁻⁸ 时，float64 直接作差算出的 gap 相对偏差已达 1.66×10⁻⁴；改用 60 位十进制后，与解析式逐位一致。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6803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参考来源与交付物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905256"/>
            <a:ext cx="475488" cy="5029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8687" y="402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04 结论与反思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可复现、可检查：脚本、数据、图片都在交付清单里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用 dsh 解 2018 全国Ⅰ卷理科 21 题 · 双极值点割线斜率不等式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2C0"/>
                </a:solidFill>
                <a:latin typeface="Microsoft YaHei"/>
                <a:ea typeface="Microsoft YaHei"/>
                <a:cs typeface="Microsoft YaHei"/>
              </a:rPr>
              <a:t>16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26464"/>
            <a:ext cx="5760720" cy="20116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题目来源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01952"/>
            <a:ext cx="52120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2018 年普通高等学校招生全国统一考试 · 理科数学（全国Ⅰ卷）第 21 题。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该题是研究“双变量不等式证明”的经典素材，常见处理途径包括：构造函数（单变量化）、对数平均不等式、极值点偏移与对称化构造。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3952" y="1426464"/>
            <a:ext cx="5150815" cy="2011680"/>
          </a:xfrm>
          <a:prstGeom prst="roundRect">
            <a:avLst>
              <a:gd name="adj" fmla="val 10909"/>
            </a:avLst>
          </a:prstGeom>
          <a:solidFill>
            <a:srgbClr val="F6F9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9984" y="157276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延伸阅读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4" y="1901952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· 限制型双变量不等式证明的几种处理途径——以一道高考压轴试题为例（《高中数学教与学》2018 年第 17 期）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· 本质回归 让一次“邂逅”不再陌生——探究 2018 年高考新课标卷理科第 21 题（《中学数学研究》2018 年第 15 期）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02736"/>
            <a:ext cx="11057839" cy="1956816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9525"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730752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03A"/>
                </a:solidFill>
                <a:latin typeface="Microsoft YaHei"/>
                <a:ea typeface="Microsoft YaHei"/>
                <a:cs typeface="Microsoft YaHei"/>
              </a:rPr>
              <a:t>本次实践的交付物（全部可复现）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78224"/>
            <a:ext cx="1050919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analysis.py</a:t>
            </a:r>
            <a:r>
              <a:rPr sz="11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 —— 60 位十进制复算脚本（单调性、三条算法交叉验证、渐近展开、float64 对照），输出 results.json 与 verify_report.txt；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1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figures.py / plotlib.py</a:t>
            </a:r>
            <a:r>
              <a:rPr sz="11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 —— 生成函数图像、引理三图、比值曲线、渐近结构图与封面装饰（3 倍超采样输出）；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1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formula.py</a:t>
            </a:r>
            <a:r>
              <a:rPr sz="1150" b="0">
                <a:solidFill>
                  <a:srgbClr val="5A6B8C"/>
                </a:solidFill>
                <a:latin typeface="Microsoft YaHei"/>
                <a:ea typeface="Microsoft YaHei"/>
                <a:cs typeface="Microsoft YaHei"/>
              </a:rPr>
              <a:t> —— 轻量公式排版器（\frac、\sqrt、上下标），把关键公式渲染为高清图片嵌入本 PPT。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687568"/>
            <a:ext cx="11057839" cy="566928"/>
          </a:xfrm>
          <a:prstGeom prst="roundRect">
            <a:avLst>
              <a:gd name="adj" fmla="val 38709"/>
            </a:avLst>
          </a:prstGeom>
          <a:solidFill>
            <a:srgbClr val="EEF2FF"/>
          </a:solidFill>
          <a:ln w="9525">
            <a:solidFill>
              <a:srgbClr val="C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5815584"/>
            <a:ext cx="1050919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9C8"/>
                </a:solidFill>
                <a:latin typeface="Microsoft YaHei"/>
                <a:ea typeface="Microsoft YaHei"/>
                <a:cs typeface="Microsoft YaHei"/>
              </a:rPr>
              <a:t>感谢课程与 DeepSeek Harness 提供的实践机会　|　解题、验证、作图与成稿：dsh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2759</Words>
  <Application>Microsoft Office PowerPoint</Application>
  <PresentationFormat>宽屏</PresentationFormat>
  <Paragraphs>341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艺菲 曲</cp:lastModifiedBy>
  <cp:revision>1</cp:revision>
  <dcterms:created xsi:type="dcterms:W3CDTF">2013-01-27T09:14:16Z</dcterms:created>
  <dcterms:modified xsi:type="dcterms:W3CDTF">2026-10-16T15:16:01Z</dcterms:modified>
  <cp:category/>
</cp:coreProperties>
</file>