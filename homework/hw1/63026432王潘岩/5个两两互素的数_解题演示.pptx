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本题要求最小的 n，使得 S={1,2,…,280} 的任意 n 元子集都含有 5 个两两互素的数。答案先给出：n=217。下面用“构造下界 + 上界保证”的方式完成证明。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关键是把“任意 n 元子集都成功”转化为“最大坏子集的大小”。如果最大坏子集有 M 个元素，那么 n=M+1。因此本题只需证明 M=216：既要构造 216 元的坏子集，也要证明 217 元时一定出现 5 个两两互素的数。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证明分两条线。下界：构造一个 216 元的坏子集，说明 n 不能小于 217。上界：把 88 个特殊数分成 6 个互素组，任意 217 元子集至少从中取 25 个；25 个数放进 6 个抽屉，必有一个抽屉至少 5 个，而同一抽屉内两两互素。于是 n=217。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令 A=A2∪A3∪A5∪A7。A 中每个数至少被 2、3、5、7 中的一个整除。任取 5 个数，相当于给它们各贴一个能整除它的小素数标签；只有 4 种标签，由抽屉原理，必有两个数贴同一种标签，于是它们同被这个素数整除，不互素。所以 A 是一个不含 5 个两两互素数的坏子集。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用容斥原理计算 A 的元素个数。单集合共 140+93+56+40=329；两两交为 46+28+20+18+13+8=133；三三交为 9+6+4+2=21；四重交为 1。因此 |A|=329−133+21−1=216。由于 A 中没有 5 个两两互素的数，n 至少为 217。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构造 B：B1 是 1 和所有不超过 280 的素数，共 60 个；B2 是 2、3、5、7、11、13 的平方；B3 到 B6 是精心挑选的两素数乘积。每一组内所有素因子互不相同，所以同一组内任意两数互素。B 一共 88 个元素，S 中其余 192 个数不在 B 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 X 是任意 217 元子集。B 只有 88 个元素，B 外有 192 个元素，所以 X 中至少有 217−192=25 个元素属于 B。若每个 B_i 至多贡献 4 个，则 6 组总共至多 24 个，矛盾。因此某一组至少有 5 个元素属于 X。同一组内任意两数互素，所以这 5 个数就是所要求的 5 个两两互素的数。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下界：216 元坏子集说明 n≥217。上界：任意 217 元子集都含 5 个两两互素的数，说明 n≤217。两者合起来得到 n=217。证明完成。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841248"/>
            <a:ext cx="3986784" cy="3986784"/>
          </a:xfrm>
          <a:prstGeom prst="ellipse">
            <a:avLst/>
          </a:prstGeom>
          <a:noFill/>
          <a:ln w="15240">
            <a:solidFill>
              <a:srgbClr val="1B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08592" y="2377440"/>
            <a:ext cx="2084831" cy="2084831"/>
          </a:xfrm>
          <a:prstGeom prst="ellipse">
            <a:avLst/>
          </a:prstGeom>
          <a:noFill/>
          <a:ln w="11430">
            <a:solidFill>
              <a:srgbClr val="D8A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99448" y="1106424"/>
            <a:ext cx="128016" cy="128016"/>
          </a:xfrm>
          <a:prstGeom prst="ellipse">
            <a:avLst/>
          </a:prstGeom>
          <a:solidFill>
            <a:srgbClr val="D8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94592" y="2880360"/>
            <a:ext cx="91440" cy="91440"/>
          </a:xfrm>
          <a:prstGeom prst="ellipse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27848" y="4535424"/>
            <a:ext cx="82296" cy="82296"/>
          </a:xfrm>
          <a:prstGeom prst="ellipse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52944" y="1225296"/>
            <a:ext cx="4160520" cy="2487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9000" b="1" i="0">
                <a:solidFill>
                  <a:srgbClr val="123A54"/>
                </a:solidFill>
                <a:latin typeface="Cambria Math"/>
              </a:rPr>
              <a:t>217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6528" y="3986784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8A84E"/>
                </a:solidFill>
                <a:latin typeface="Microsoft YaHei"/>
              </a:rPr>
              <a:t>最 小 阈 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4343400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FFFFFF"/>
                </a:solidFill>
                <a:latin typeface="Cambria Math"/>
              </a:rPr>
              <a:t>n</a:t>
            </a:r>
            <a:r>
              <a:rPr sz="2300" b="0" i="0">
                <a:solidFill>
                  <a:srgbClr val="FFFFFF"/>
                </a:solidFill>
                <a:latin typeface="Cambria Math"/>
              </a:rPr>
              <a:t> = </a:t>
            </a:r>
            <a:r>
              <a:rPr sz="2700" b="1" i="0">
                <a:solidFill>
                  <a:srgbClr val="D8A84E"/>
                </a:solidFill>
                <a:latin typeface="Cambria Math"/>
              </a:rPr>
              <a:t>217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941832"/>
            <a:ext cx="566928" cy="41148"/>
          </a:xfrm>
          <a:prstGeom prst="rect">
            <a:avLst/>
          </a:prstGeom>
          <a:solidFill>
            <a:srgbClr val="D8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85039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8A84E"/>
                </a:solidFill>
                <a:latin typeface="Microsoft YaHei"/>
              </a:rPr>
              <a:t>组 合 数 学   ·   极 值 问 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389888"/>
            <a:ext cx="681228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Microsoft YaHei"/>
              </a:rPr>
              <a:t>五个两两互素的数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42032"/>
            <a:ext cx="64922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8C9D8"/>
                </a:solidFill>
                <a:latin typeface="Microsoft YaHei"/>
              </a:rPr>
              <a:t>从 280 元集合到最小阈值 217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3246120"/>
            <a:ext cx="4800600" cy="16459"/>
          </a:xfrm>
          <a:prstGeom prst="rect">
            <a:avLst/>
          </a:prstGeom>
          <a:solidFill>
            <a:srgbClr val="2C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438144"/>
            <a:ext cx="6263640" cy="6949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DCE6"/>
                </a:solidFill>
                <a:latin typeface="Microsoft YaHei"/>
              </a:rPr>
              <a:t>下界构造  ×  上界分区  ×  抽屉原理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60167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93A8"/>
                </a:solidFill>
                <a:latin typeface="Microsoft YaHei"/>
              </a:rPr>
              <a:t>解题演示  ｜  8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1170432"/>
          </a:xfrm>
          <a:prstGeom prst="rect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8A84E"/>
                </a:solidFill>
                <a:latin typeface="Cambria Math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256032"/>
            <a:ext cx="71323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8B84"/>
                </a:solidFill>
                <a:latin typeface="Microsoft YaHei"/>
              </a:rPr>
              <a:t>0 1   ·   问 题 转 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920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A"/>
                </a:solidFill>
                <a:latin typeface="Microsoft YaHei"/>
              </a:rPr>
              <a:t>不直接找答案：先求最大“坏子集”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033271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E7185"/>
                </a:solidFill>
                <a:latin typeface="Microsoft YaHei"/>
              </a:rPr>
              <a:t>把“每个 n 元子集都成功”翻译成“坏子集最大能有多大”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11045952" cy="10972"/>
          </a:xfrm>
          <a:prstGeom prst="rect">
            <a:avLst/>
          </a:prstGeom>
          <a:solidFill>
            <a:srgbClr val="DC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57884"/>
            <a:ext cx="804672" cy="41148"/>
          </a:xfrm>
          <a:prstGeom prst="rect">
            <a:avLst/>
          </a:prstGeom>
          <a:solidFill>
            <a:srgbClr val="D8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528816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AAA"/>
                </a:solidFill>
                <a:latin typeface="Microsoft YaHei"/>
              </a:rPr>
              <a:t>S = {1, 2, …, 280}   ·   5 个两两互素的数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6528816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AAA"/>
                </a:solidFill>
                <a:latin typeface="Cambria Math"/>
              </a:rPr>
              <a:t>02 / 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66560"/>
            <a:ext cx="12191695" cy="32004"/>
          </a:xfrm>
          <a:prstGeom prst="rect">
            <a:avLst/>
          </a:prstGeom>
          <a:solidFill>
            <a:srgbClr val="DD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766560"/>
            <a:ext cx="3047923" cy="32004"/>
          </a:xfrm>
          <a:prstGeom prst="rect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72768"/>
            <a:ext cx="678484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F"/>
            </a:solidFill>
          </a:ln>
          <a:effectLst>
            <a:outerShdw blurRad="177800" dist="38100" dir="54000" algn="ctr" rotWithShape="0">
              <a:srgbClr val="B7C7D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572768"/>
            <a:ext cx="68580" cy="2468880"/>
          </a:xfrm>
          <a:prstGeom prst="rect">
            <a:avLst/>
          </a:prstGeom>
          <a:solidFill>
            <a:srgbClr val="D8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1755648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8B84"/>
                </a:solidFill>
                <a:latin typeface="Microsoft YaHei"/>
              </a:rPr>
              <a:t>原 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21408"/>
            <a:ext cx="6126480" cy="1508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62A40"/>
                </a:solidFill>
                <a:latin typeface="Microsoft YaHei"/>
              </a:rPr>
              <a:t>设 </a:t>
            </a:r>
            <a:r>
              <a:rPr sz="1600" b="1" i="0">
                <a:solidFill>
                  <a:srgbClr val="0B1F3A"/>
                </a:solidFill>
                <a:latin typeface="Cambria Math"/>
              </a:rPr>
              <a:t>S = {1, 2, …, 280}</a:t>
            </a:r>
            <a:r>
              <a:rPr sz="1600" b="0" i="0">
                <a:solidFill>
                  <a:srgbClr val="162A40"/>
                </a:solidFill>
                <a:latin typeface="Microsoft YaHei"/>
              </a:rPr>
              <a:t>。求最小的自然数 </a:t>
            </a:r>
            <a:r>
              <a:rPr sz="1600" b="1" i="0">
                <a:solidFill>
                  <a:srgbClr val="0B1F3A"/>
                </a:solidFill>
                <a:latin typeface="Cambria Math"/>
              </a:rPr>
              <a:t>n</a:t>
            </a:r>
            <a:r>
              <a:rPr sz="1600" b="0" i="0">
                <a:solidFill>
                  <a:srgbClr val="162A40"/>
                </a:solidFill>
                <a:latin typeface="Microsoft YaHei"/>
              </a:rPr>
              <a:t>，使得 </a:t>
            </a:r>
            <a:r>
              <a:rPr sz="1600" b="1" i="0">
                <a:solidFill>
                  <a:srgbClr val="0B1F3A"/>
                </a:solidFill>
                <a:latin typeface="Cambria Math"/>
              </a:rPr>
              <a:t>S</a:t>
            </a:r>
            <a:r>
              <a:rPr sz="1600" b="0" i="0">
                <a:solidFill>
                  <a:srgbClr val="162A40"/>
                </a:solidFill>
                <a:latin typeface="Microsoft YaHei"/>
              </a:rPr>
              <a:t> 的每一个 </a:t>
            </a:r>
            <a:r>
              <a:rPr sz="1600" b="1" i="0">
                <a:solidFill>
                  <a:srgbClr val="0B1F3A"/>
                </a:solidFill>
                <a:latin typeface="Cambria Math"/>
              </a:rPr>
              <a:t>n</a:t>
            </a:r>
            <a:r>
              <a:rPr sz="1600" b="0" i="0">
                <a:solidFill>
                  <a:srgbClr val="162A40"/>
                </a:solidFill>
                <a:latin typeface="Microsoft YaHei"/>
              </a:rPr>
              <a:t> 元子集都含有 5 个两两互素的数。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2907792"/>
            <a:ext cx="5925312" cy="10972"/>
          </a:xfrm>
          <a:prstGeom prst="rect">
            <a:avLst/>
          </a:prstGeom>
          <a:solidFill>
            <a:srgbClr val="DC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054096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7185"/>
                </a:solidFill>
                <a:latin typeface="Microsoft YaHei"/>
              </a:rPr>
              <a:t>两两互素：任意两个数的最大公因数都为 1。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410712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E7185"/>
                </a:solidFill>
                <a:latin typeface="Microsoft YaHei"/>
              </a:rPr>
              <a:t>例：2、3、5、7 两两互素；6、10、15 不是。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1572768"/>
            <a:ext cx="4023360" cy="2468880"/>
          </a:xfrm>
          <a:prstGeom prst="rect">
            <a:avLst/>
          </a:prstGeom>
          <a:solidFill>
            <a:srgbClr val="0B1F3A"/>
          </a:solidFill>
          <a:ln>
            <a:noFill/>
          </a:ln>
          <a:effectLst>
            <a:outerShdw blurRad="177800" dist="38100" dir="54000" algn="ctr" rotWithShape="0">
              <a:srgbClr val="B7C7D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1755648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8A84E"/>
                </a:solidFill>
                <a:latin typeface="Microsoft YaHei"/>
              </a:rPr>
              <a:t>换 个 说 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1993392"/>
            <a:ext cx="3493008" cy="186537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D8A84E"/>
                </a:solidFill>
                <a:latin typeface="Microsoft YaHei"/>
              </a:rPr>
              <a:t>坏子集</a:t>
            </a:r>
            <a:r>
              <a:rPr sz="1400" b="0" i="0">
                <a:solidFill>
                  <a:srgbClr val="FFFFFF"/>
                </a:solidFill>
                <a:latin typeface="Microsoft YaHei"/>
              </a:rPr>
              <a:t>：不含 5 个两两互素的数。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Microsoft YaHei"/>
              </a:rPr>
              <a:t>最大坏子集的大小记为 </a:t>
            </a:r>
            <a:r>
              <a:rPr sz="1400" b="1" i="0">
                <a:solidFill>
                  <a:srgbClr val="D8A84E"/>
                </a:solidFill>
                <a:latin typeface="Cambria Math"/>
              </a:rPr>
              <a:t>M</a:t>
            </a:r>
            <a:r>
              <a:rPr sz="1400" b="0" i="0">
                <a:solidFill>
                  <a:srgbClr val="FFFFFF"/>
                </a:solidFill>
                <a:latin typeface="Microsoft YaHei"/>
              </a:rPr>
              <a:t>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Microsoft YaHei"/>
              </a:rPr>
              <a:t>则 </a:t>
            </a:r>
            <a:r>
              <a:rPr sz="1400" b="1" i="0">
                <a:solidFill>
                  <a:srgbClr val="D8A84E"/>
                </a:solidFill>
                <a:latin typeface="Cambria Math"/>
              </a:rPr>
              <a:t>n = M + 1</a:t>
            </a:r>
            <a:r>
              <a:rPr sz="1400" b="0" i="0">
                <a:solidFill>
                  <a:srgbClr val="FFFFFF"/>
                </a:solidFill>
                <a:latin typeface="Microsoft YaHei"/>
              </a:rPr>
              <a:t>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343400"/>
            <a:ext cx="11045952" cy="1353312"/>
          </a:xfrm>
          <a:prstGeom prst="rect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343400"/>
            <a:ext cx="68580" cy="1353312"/>
          </a:xfrm>
          <a:prstGeom prst="rect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535424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8B84"/>
                </a:solidFill>
                <a:latin typeface="Microsoft YaHei"/>
              </a:rPr>
              <a:t>核 心 转 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846320"/>
            <a:ext cx="10424160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62A40"/>
                </a:solidFill>
                <a:latin typeface="Microsoft YaHei"/>
              </a:rPr>
              <a:t>求 </a:t>
            </a:r>
            <a:r>
              <a:rPr sz="2000" b="1" i="0">
                <a:solidFill>
                  <a:srgbClr val="0B1F3A"/>
                </a:solidFill>
                <a:latin typeface="Cambria Math"/>
              </a:rPr>
              <a:t>n</a:t>
            </a:r>
            <a:r>
              <a:rPr sz="1700" b="0" i="0">
                <a:solidFill>
                  <a:srgbClr val="162A40"/>
                </a:solidFill>
                <a:latin typeface="Microsoft YaHei"/>
              </a:rPr>
              <a:t>   ⇔   求最大坏子集的大小 </a:t>
            </a:r>
            <a:r>
              <a:rPr sz="2000" b="1" i="0">
                <a:solidFill>
                  <a:srgbClr val="0B1F3A"/>
                </a:solidFill>
                <a:latin typeface="Cambria Math"/>
              </a:rPr>
              <a:t>M</a:t>
            </a:r>
            <a:r>
              <a:rPr sz="1700" b="0" i="0">
                <a:solidFill>
                  <a:srgbClr val="162A40"/>
                </a:solidFill>
                <a:latin typeface="Microsoft YaHei"/>
              </a:rPr>
              <a:t>   ⇔   证明 </a:t>
            </a:r>
            <a:r>
              <a:rPr sz="2100" b="1" i="0">
                <a:solidFill>
                  <a:srgbClr val="0F8B84"/>
                </a:solidFill>
                <a:latin typeface="Cambria Math"/>
              </a:rPr>
              <a:t>M = 216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340096"/>
            <a:ext cx="950976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7185"/>
                </a:solidFill>
                <a:latin typeface="Microsoft YaHei"/>
              </a:rPr>
              <a:t>先构造一个 216 元的坏子集，再证明 217 元时坏子集不可能存在。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1170432"/>
          </a:xfrm>
          <a:prstGeom prst="rect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8A84E"/>
                </a:solidFill>
                <a:latin typeface="Cambria Math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256032"/>
            <a:ext cx="71323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8B84"/>
                </a:solidFill>
                <a:latin typeface="Microsoft YaHei"/>
              </a:rPr>
              <a:t>0 2   ·   证 明 路 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920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A"/>
                </a:solidFill>
                <a:latin typeface="Microsoft YaHei"/>
              </a:rPr>
              <a:t>两条边界，在 217 处相遇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033271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E7185"/>
                </a:solidFill>
                <a:latin typeface="Microsoft YaHei"/>
              </a:rPr>
              <a:t>下界给出反例，上界给出保证；两者夹出唯一阈值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11045952" cy="10972"/>
          </a:xfrm>
          <a:prstGeom prst="rect">
            <a:avLst/>
          </a:prstGeom>
          <a:solidFill>
            <a:srgbClr val="DC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57884"/>
            <a:ext cx="804672" cy="41148"/>
          </a:xfrm>
          <a:prstGeom prst="rect">
            <a:avLst/>
          </a:prstGeom>
          <a:solidFill>
            <a:srgbClr val="D8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528816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AAA"/>
                </a:solidFill>
                <a:latin typeface="Microsoft YaHei"/>
              </a:rPr>
              <a:t>S = {1, 2, …, 280}   ·   5 个两两互素的数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6528816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AAA"/>
                </a:solidFill>
                <a:latin typeface="Cambria Math"/>
              </a:rPr>
              <a:t>03 / 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66560"/>
            <a:ext cx="12191695" cy="32004"/>
          </a:xfrm>
          <a:prstGeom prst="rect">
            <a:avLst/>
          </a:prstGeom>
          <a:solidFill>
            <a:srgbClr val="DD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766560"/>
            <a:ext cx="4571885" cy="32004"/>
          </a:xfrm>
          <a:prstGeom prst="rect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600200"/>
            <a:ext cx="5358384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F"/>
            </a:solidFill>
          </a:ln>
          <a:effectLst>
            <a:outerShdw blurRad="177800" dist="38100" dir="54000" algn="ctr" rotWithShape="0">
              <a:srgbClr val="B7C7D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600200"/>
            <a:ext cx="5358384" cy="82296"/>
          </a:xfrm>
          <a:prstGeom prst="rect">
            <a:avLst/>
          </a:prstGeom>
          <a:solidFill>
            <a:srgbClr val="D8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1810512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8A84E"/>
                </a:solidFill>
                <a:latin typeface="Microsoft YaHei"/>
              </a:rPr>
              <a:t>下 界   ·   构 造 反 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783080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8A84E"/>
                </a:solidFill>
                <a:latin typeface="Cambria Math"/>
              </a:rPr>
              <a:t>n ≥ 217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2139696"/>
            <a:ext cx="310896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0B1F3A"/>
                </a:solidFill>
                <a:latin typeface="Cambria Math"/>
              </a:rPr>
              <a:t>216</a:t>
            </a:r>
            <a:r>
              <a:rPr sz="1300" b="0" i="0">
                <a:solidFill>
                  <a:srgbClr val="5E7185"/>
                </a:solidFill>
                <a:latin typeface="Microsoft YaHei"/>
              </a:rPr>
              <a:t>  元坏子集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017520"/>
            <a:ext cx="4617720" cy="1691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62A40"/>
                </a:solidFill>
                <a:latin typeface="Microsoft YaHei"/>
              </a:rPr>
              <a:t>• 取所有被 2、3、5、7 之一整除的数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62A40"/>
                </a:solidFill>
                <a:latin typeface="Microsoft YaHei"/>
              </a:rPr>
              <a:t>• 5 个数必有两个落在同一个素数类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62A40"/>
                </a:solidFill>
                <a:latin typeface="Microsoft YaHei"/>
              </a:rPr>
              <a:t>• 这两个数不互素，所以构造失败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4496" y="1600200"/>
            <a:ext cx="5358384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F"/>
            </a:solidFill>
          </a:ln>
          <a:effectLst>
            <a:outerShdw blurRad="177800" dist="38100" dir="54000" algn="ctr" rotWithShape="0">
              <a:srgbClr val="B7C7D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4496" y="1600200"/>
            <a:ext cx="5358384" cy="82296"/>
          </a:xfrm>
          <a:prstGeom prst="rect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810512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8B84"/>
                </a:solidFill>
                <a:latin typeface="Microsoft YaHei"/>
              </a:rPr>
              <a:t>上 界   ·   抽 屉 原 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48088" y="1783080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8B84"/>
                </a:solidFill>
                <a:latin typeface="Cambria Math"/>
              </a:rPr>
              <a:t>n ≤ 217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139696"/>
            <a:ext cx="310896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0B1F3A"/>
                </a:solidFill>
                <a:latin typeface="Cambria Math"/>
              </a:rPr>
              <a:t>217</a:t>
            </a:r>
            <a:r>
              <a:rPr sz="1300" b="0" i="0">
                <a:solidFill>
                  <a:srgbClr val="5E7185"/>
                </a:solidFill>
                <a:latin typeface="Microsoft YaHei"/>
              </a:rPr>
              <a:t>  元必然成功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3017520"/>
            <a:ext cx="4617720" cy="1691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62A40"/>
                </a:solidFill>
                <a:latin typeface="Microsoft YaHei"/>
              </a:rPr>
              <a:t>• 把 88 个特殊数分成 6 个互素组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62A40"/>
                </a:solidFill>
                <a:latin typeface="Microsoft YaHei"/>
              </a:rPr>
              <a:t>• 任意 217 元子集至少取到其中 25 个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62A40"/>
                </a:solidFill>
                <a:latin typeface="Microsoft YaHei"/>
              </a:rPr>
              <a:t>• 25 &gt; 6 × 4，必有一组取到 5 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230368"/>
            <a:ext cx="11045952" cy="84124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543153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D8A84E"/>
                </a:solidFill>
                <a:latin typeface="Cambria Math"/>
              </a:rPr>
              <a:t>216</a:t>
            </a:r>
            <a:r>
              <a:rPr sz="1350" b="0" i="0">
                <a:solidFill>
                  <a:srgbClr val="C9DCE6"/>
                </a:solidFill>
                <a:latin typeface="Microsoft YaHei"/>
              </a:rPr>
              <a:t> 只是反例   ｜   </a:t>
            </a:r>
            <a:r>
              <a:rPr sz="1900" b="1" i="0">
                <a:solidFill>
                  <a:srgbClr val="D8A84E"/>
                </a:solidFill>
                <a:latin typeface="Cambria Math"/>
              </a:rPr>
              <a:t>217</a:t>
            </a:r>
            <a:r>
              <a:rPr sz="1350" b="0" i="0">
                <a:solidFill>
                  <a:srgbClr val="C9DCE6"/>
                </a:solidFill>
                <a:latin typeface="Microsoft YaHei"/>
              </a:rPr>
              <a:t> 才是保证   ⇒   </a:t>
            </a:r>
            <a:r>
              <a:rPr sz="2200" b="1" i="0">
                <a:solidFill>
                  <a:srgbClr val="FFFFFF"/>
                </a:solidFill>
                <a:latin typeface="Cambria Math"/>
              </a:rPr>
              <a:t>n = 217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1170432"/>
          </a:xfrm>
          <a:prstGeom prst="rect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8A84E"/>
                </a:solidFill>
                <a:latin typeface="Cambria Math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256032"/>
            <a:ext cx="71323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8B84"/>
                </a:solidFill>
                <a:latin typeface="Microsoft YaHei"/>
              </a:rPr>
              <a:t>0 3   ·   下 界 构 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920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A"/>
                </a:solidFill>
                <a:latin typeface="Microsoft YaHei"/>
              </a:rPr>
              <a:t>四个素数类，造出 216 元反例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033271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E7185"/>
                </a:solidFill>
                <a:latin typeface="Microsoft YaHei"/>
              </a:rPr>
              <a:t>每个数至少带一个“小素数标签”；5 个数挤进 4 个标签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11045952" cy="10972"/>
          </a:xfrm>
          <a:prstGeom prst="rect">
            <a:avLst/>
          </a:prstGeom>
          <a:solidFill>
            <a:srgbClr val="DC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57884"/>
            <a:ext cx="804672" cy="41148"/>
          </a:xfrm>
          <a:prstGeom prst="rect">
            <a:avLst/>
          </a:prstGeom>
          <a:solidFill>
            <a:srgbClr val="D8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528816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AAA"/>
                </a:solidFill>
                <a:latin typeface="Microsoft YaHei"/>
              </a:rPr>
              <a:t>S = {1, 2, …, 280}   ·   5 个两两互素的数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6528816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AAA"/>
                </a:solidFill>
                <a:latin typeface="Cambria Math"/>
              </a:rPr>
              <a:t>04 / 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66560"/>
            <a:ext cx="12191695" cy="32004"/>
          </a:xfrm>
          <a:prstGeom prst="rect">
            <a:avLst/>
          </a:prstGeom>
          <a:solidFill>
            <a:srgbClr val="DD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766560"/>
            <a:ext cx="6095847" cy="32004"/>
          </a:xfrm>
          <a:prstGeom prst="rect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72768"/>
            <a:ext cx="5614416" cy="42245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F"/>
            </a:solidFill>
          </a:ln>
          <a:effectLst>
            <a:outerShdw blurRad="177800" dist="38100" dir="54000" algn="ctr" rotWithShape="0">
              <a:srgbClr val="B7C7D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1773936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F3A"/>
                </a:solidFill>
                <a:latin typeface="Microsoft YaHei"/>
              </a:rPr>
              <a:t>取并集  A = A₂ ∪ A₃ ∪ A₅ ∪ A₇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112264"/>
            <a:ext cx="507492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7185"/>
                </a:solidFill>
                <a:latin typeface="Microsoft YaHei"/>
              </a:rPr>
              <a:t>Aₚ 表示 S 中所有 p 的倍数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" y="246888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2487168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2A40"/>
                </a:solidFill>
                <a:latin typeface="Microsoft YaHei"/>
              </a:rPr>
              <a:t>2 的倍数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96312" y="2496312"/>
            <a:ext cx="3017520" cy="256032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96312" y="2496312"/>
            <a:ext cx="3108960" cy="256032"/>
          </a:xfrm>
          <a:prstGeom prst="roundRect">
            <a:avLst>
              <a:gd name="adj" fmla="val 50000"/>
            </a:avLst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04688" y="247802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8B84"/>
                </a:solidFill>
                <a:latin typeface="Cambria Math"/>
              </a:rPr>
              <a:t>140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" y="30906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D9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108960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2A40"/>
                </a:solidFill>
                <a:latin typeface="Microsoft YaHei"/>
              </a:rPr>
              <a:t>3 的倍数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96312" y="3118104"/>
            <a:ext cx="3017520" cy="256032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496312" y="3118104"/>
            <a:ext cx="2066543" cy="256032"/>
          </a:xfrm>
          <a:prstGeom prst="roundRect">
            <a:avLst>
              <a:gd name="adj" fmla="val 50000"/>
            </a:avLst>
          </a:prstGeom>
          <a:solidFill>
            <a:srgbClr val="2D9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04688" y="3099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D9DD4"/>
                </a:solidFill>
                <a:latin typeface="Cambria Math"/>
              </a:rPr>
              <a:t>93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536" y="371246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D8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3730752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2A40"/>
                </a:solidFill>
                <a:latin typeface="Microsoft YaHei"/>
              </a:rPr>
              <a:t>5 的倍数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96312" y="3739896"/>
            <a:ext cx="3017520" cy="256032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96312" y="3739896"/>
            <a:ext cx="1243584" cy="256032"/>
          </a:xfrm>
          <a:prstGeom prst="roundRect">
            <a:avLst>
              <a:gd name="adj" fmla="val 50000"/>
            </a:avLst>
          </a:prstGeom>
          <a:solidFill>
            <a:srgbClr val="D8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04688" y="372160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8A84E"/>
                </a:solidFill>
                <a:latin typeface="Cambria Math"/>
              </a:rPr>
              <a:t>56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" y="43342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D95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352544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2A40"/>
                </a:solidFill>
                <a:latin typeface="Microsoft YaHei"/>
              </a:rPr>
              <a:t>7 的倍数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6312" y="4361688"/>
            <a:ext cx="3017520" cy="256032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496312" y="4361688"/>
            <a:ext cx="886968" cy="256032"/>
          </a:xfrm>
          <a:prstGeom prst="roundRect">
            <a:avLst>
              <a:gd name="adj" fmla="val 50000"/>
            </a:avLst>
          </a:prstGeom>
          <a:solidFill>
            <a:srgbClr val="D95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04688" y="43434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95B4B"/>
                </a:solidFill>
                <a:latin typeface="Cambria Math"/>
              </a:rPr>
              <a:t>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" y="5102352"/>
            <a:ext cx="501091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E7185"/>
                </a:solidFill>
                <a:latin typeface="Microsoft YaHei"/>
              </a:rPr>
              <a:t>四个集合有重叠，直接相加会重复计数；下一页用容斥去重。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82512" y="1572768"/>
            <a:ext cx="5230368" cy="4224528"/>
          </a:xfrm>
          <a:prstGeom prst="rect">
            <a:avLst/>
          </a:prstGeom>
          <a:solidFill>
            <a:srgbClr val="0B1F3A"/>
          </a:solidFill>
          <a:ln>
            <a:noFill/>
          </a:ln>
          <a:effectLst>
            <a:outerShdw blurRad="177800" dist="38100" dir="54000" algn="ctr" rotWithShape="0">
              <a:srgbClr val="B7C7D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2" y="1783080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8A84E"/>
                </a:solidFill>
                <a:latin typeface="Microsoft YaHei"/>
              </a:rPr>
              <a:t>为 什 么 一 定 不 互 素 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6832" y="2075688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</a:rPr>
              <a:t>5 个数，只带 4 种素数标签</a:t>
            </a:r>
          </a:p>
        </p:txBody>
      </p:sp>
      <p:sp>
        <p:nvSpPr>
          <p:cNvPr id="41" name="Oval 40"/>
          <p:cNvSpPr/>
          <p:nvPr/>
        </p:nvSpPr>
        <p:spPr>
          <a:xfrm>
            <a:off x="7095744" y="2606040"/>
            <a:ext cx="228600" cy="228600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028431" y="2606040"/>
            <a:ext cx="228600" cy="228600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284464" y="2606040"/>
            <a:ext cx="228600" cy="228600"/>
          </a:xfrm>
          <a:prstGeom prst="ellipse">
            <a:avLst/>
          </a:prstGeom>
          <a:solidFill>
            <a:srgbClr val="D8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2606040"/>
            <a:ext cx="228600" cy="228600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77856" y="2606040"/>
            <a:ext cx="228600" cy="228600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75120" y="3127248"/>
            <a:ext cx="841248" cy="502920"/>
          </a:xfrm>
          <a:prstGeom prst="roundRect">
            <a:avLst>
              <a:gd name="adj" fmla="val 22000"/>
            </a:avLst>
          </a:prstGeom>
          <a:solidFill>
            <a:srgbClr val="123351"/>
          </a:solidFill>
          <a:ln w="12700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0" y="3172968"/>
            <a:ext cx="841248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8B84"/>
                </a:solidFill>
                <a:latin typeface="Cambria Math"/>
              </a:rPr>
              <a:t>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35824" y="3127248"/>
            <a:ext cx="841248" cy="502920"/>
          </a:xfrm>
          <a:prstGeom prst="roundRect">
            <a:avLst>
              <a:gd name="adj" fmla="val 22000"/>
            </a:avLst>
          </a:prstGeom>
          <a:solidFill>
            <a:srgbClr val="123351"/>
          </a:solidFill>
          <a:ln w="12700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35824" y="3172968"/>
            <a:ext cx="841248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8B84"/>
                </a:solidFill>
                <a:latin typeface="Cambria Math"/>
              </a:rPr>
              <a:t>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96528" y="3127248"/>
            <a:ext cx="841248" cy="502920"/>
          </a:xfrm>
          <a:prstGeom prst="roundRect">
            <a:avLst>
              <a:gd name="adj" fmla="val 22000"/>
            </a:avLst>
          </a:prstGeom>
          <a:solidFill>
            <a:srgbClr val="123351"/>
          </a:solidFill>
          <a:ln w="12700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96528" y="3172968"/>
            <a:ext cx="841248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8B84"/>
                </a:solidFill>
                <a:latin typeface="Cambria Math"/>
              </a:rPr>
              <a:t>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57232" y="3127248"/>
            <a:ext cx="841248" cy="502920"/>
          </a:xfrm>
          <a:prstGeom prst="roundRect">
            <a:avLst>
              <a:gd name="adj" fmla="val 22000"/>
            </a:avLst>
          </a:prstGeom>
          <a:solidFill>
            <a:srgbClr val="123351"/>
          </a:solidFill>
          <a:ln w="12700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57232" y="3172968"/>
            <a:ext cx="841248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8B84"/>
                </a:solidFill>
                <a:latin typeface="Cambria Math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3776472"/>
            <a:ext cx="4434840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Microsoft YaHei"/>
              </a:rPr>
              <a:t>必有两个点落入同一个素数类。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56832" y="4407408"/>
            <a:ext cx="4663440" cy="713232"/>
          </a:xfrm>
          <a:prstGeom prst="rect">
            <a:avLst/>
          </a:prstGeom>
          <a:solidFill>
            <a:srgbClr val="163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39712" y="4544568"/>
            <a:ext cx="4370832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8A84E"/>
                </a:solidFill>
                <a:latin typeface="Cambria Math"/>
              </a:rPr>
              <a:t>p | a，p | b</a:t>
            </a:r>
            <a:r>
              <a:rPr sz="1400" b="0" i="0">
                <a:solidFill>
                  <a:srgbClr val="FFFFFF"/>
                </a:solidFill>
                <a:latin typeface="Cambria Math"/>
              </a:rPr>
              <a:t>   ⇒   </a:t>
            </a:r>
            <a:r>
              <a:rPr sz="1600" b="1" i="0">
                <a:solidFill>
                  <a:srgbClr val="FFFFFF"/>
                </a:solidFill>
                <a:latin typeface="Cambria Math"/>
              </a:rPr>
              <a:t>gcd(a, b) ≥ p &gt;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1170432"/>
          </a:xfrm>
          <a:prstGeom prst="rect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8A84E"/>
                </a:solidFill>
                <a:latin typeface="Cambria Math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256032"/>
            <a:ext cx="71323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8B84"/>
                </a:solidFill>
                <a:latin typeface="Microsoft YaHei"/>
              </a:rPr>
              <a:t>0 3   ·   下 界 构 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920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A"/>
                </a:solidFill>
                <a:latin typeface="Microsoft YaHei"/>
              </a:rPr>
              <a:t>容斥计数：|A| = 216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033271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E7185"/>
                </a:solidFill>
                <a:latin typeface="Microsoft YaHei"/>
              </a:rPr>
              <a:t>四层修正，把四个倍数集合的重叠恰好去干净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11045952" cy="10972"/>
          </a:xfrm>
          <a:prstGeom prst="rect">
            <a:avLst/>
          </a:prstGeom>
          <a:solidFill>
            <a:srgbClr val="DC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57884"/>
            <a:ext cx="804672" cy="41148"/>
          </a:xfrm>
          <a:prstGeom prst="rect">
            <a:avLst/>
          </a:prstGeom>
          <a:solidFill>
            <a:srgbClr val="D8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528816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AAA"/>
                </a:solidFill>
                <a:latin typeface="Microsoft YaHei"/>
              </a:rPr>
              <a:t>S = {1, 2, …, 280}   ·   5 个两两互素的数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6528816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AAA"/>
                </a:solidFill>
                <a:latin typeface="Cambria Math"/>
              </a:rPr>
              <a:t>05 / 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66560"/>
            <a:ext cx="12191695" cy="32004"/>
          </a:xfrm>
          <a:prstGeom prst="rect">
            <a:avLst/>
          </a:prstGeom>
          <a:solidFill>
            <a:srgbClr val="DD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766560"/>
            <a:ext cx="7619809" cy="32004"/>
          </a:xfrm>
          <a:prstGeom prst="rect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627632"/>
            <a:ext cx="2487168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F"/>
            </a:solidFill>
          </a:ln>
          <a:effectLst>
            <a:outerShdw blurRad="177800" dist="38100" dir="54000" algn="ctr" rotWithShape="0">
              <a:srgbClr val="B7C7D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627632"/>
            <a:ext cx="2487168" cy="384048"/>
          </a:xfrm>
          <a:prstGeom prst="rect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1709928"/>
            <a:ext cx="2487168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8B84"/>
                </a:solidFill>
                <a:latin typeface="Microsoft YaHei"/>
              </a:rPr>
              <a:t>单集合之和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103120"/>
            <a:ext cx="2487168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0F8B84"/>
                </a:solidFill>
                <a:latin typeface="Cambria Math"/>
              </a:rPr>
              <a:t>329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2770632"/>
            <a:ext cx="2267712" cy="7132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E7185"/>
                </a:solidFill>
                <a:latin typeface="Microsoft YaHei"/>
              </a:rPr>
              <a:t>140 + 93 + 56 + 40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1528" y="22860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8B84"/>
                </a:solidFill>
                <a:latin typeface="Cambria Math"/>
              </a:rPr>
              <a:t>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19856" y="1627632"/>
            <a:ext cx="2487168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F"/>
            </a:solidFill>
          </a:ln>
          <a:effectLst>
            <a:outerShdw blurRad="177800" dist="38100" dir="54000" algn="ctr" rotWithShape="0">
              <a:srgbClr val="B7C7D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9856" y="1627632"/>
            <a:ext cx="2487168" cy="384048"/>
          </a:xfrm>
          <a:prstGeom prst="rect">
            <a:avLst/>
          </a:prstGeom>
          <a:solidFill>
            <a:srgbClr val="EC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9856" y="1709928"/>
            <a:ext cx="2487168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D9DD4"/>
                </a:solidFill>
                <a:latin typeface="Microsoft YaHei"/>
              </a:rPr>
              <a:t>两两交之和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9856" y="2103120"/>
            <a:ext cx="2487168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2D9DD4"/>
                </a:solidFill>
                <a:latin typeface="Cambria Math"/>
              </a:rPr>
              <a:t>133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9584" y="2770632"/>
            <a:ext cx="2267712" cy="7132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E7185"/>
                </a:solidFill>
                <a:latin typeface="Microsoft YaHei"/>
              </a:rPr>
              <a:t>46 + 28 + 20 + 18 + 13 + 8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34456" y="22860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D9DD4"/>
                </a:solidFill>
                <a:latin typeface="Cambria Math"/>
              </a:rPr>
              <a:t>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72784" y="1627632"/>
            <a:ext cx="2487168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F"/>
            </a:solidFill>
          </a:ln>
          <a:effectLst>
            <a:outerShdw blurRad="177800" dist="38100" dir="54000" algn="ctr" rotWithShape="0">
              <a:srgbClr val="B7C7D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4" y="1627632"/>
            <a:ext cx="2487168" cy="384048"/>
          </a:xfrm>
          <a:prstGeom prst="rect">
            <a:avLst/>
          </a:prstGeom>
          <a:solidFill>
            <a:srgbClr val="FD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2784" y="1709928"/>
            <a:ext cx="2487168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8A84E"/>
                </a:solidFill>
                <a:latin typeface="Microsoft YaHei"/>
              </a:rPr>
              <a:t>三三交之和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2784" y="2103120"/>
            <a:ext cx="2487168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D8A84E"/>
                </a:solidFill>
                <a:latin typeface="Cambria Math"/>
              </a:rPr>
              <a:t>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70632"/>
            <a:ext cx="2267712" cy="7132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E7185"/>
                </a:solidFill>
                <a:latin typeface="Microsoft YaHei"/>
              </a:rPr>
              <a:t>9 + 6 + 4 + 2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7384" y="22860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D8A84E"/>
                </a:solidFill>
                <a:latin typeface="Cambria Math"/>
              </a:rPr>
              <a:t>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25712" y="1627632"/>
            <a:ext cx="2487168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F"/>
            </a:solidFill>
          </a:ln>
          <a:effectLst>
            <a:outerShdw blurRad="177800" dist="38100" dir="54000" algn="ctr" rotWithShape="0">
              <a:srgbClr val="B7C7D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25712" y="1627632"/>
            <a:ext cx="2487168" cy="384048"/>
          </a:xfrm>
          <a:prstGeom prst="rect">
            <a:avLst/>
          </a:prstGeom>
          <a:solidFill>
            <a:srgbClr val="FB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25712" y="1709928"/>
            <a:ext cx="2487168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5B4B"/>
                </a:solidFill>
                <a:latin typeface="Microsoft YaHei"/>
              </a:rPr>
              <a:t>四重交集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2103120"/>
            <a:ext cx="2487168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D95B4B"/>
                </a:solidFill>
                <a:latin typeface="Cambria Math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770632"/>
            <a:ext cx="2267712" cy="7132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E7185"/>
                </a:solidFill>
                <a:latin typeface="Microsoft YaHei"/>
              </a:rPr>
              <a:t>只有 210 这一个数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041648"/>
            <a:ext cx="11045952" cy="932688"/>
          </a:xfrm>
          <a:prstGeom prst="rect">
            <a:avLst/>
          </a:prstGeom>
          <a:solidFill>
            <a:srgbClr val="0B1F3A"/>
          </a:solidFill>
          <a:ln>
            <a:noFill/>
          </a:ln>
          <a:effectLst>
            <a:outerShdw blurRad="177800" dist="38100" dir="54000" algn="ctr" rotWithShape="0">
              <a:srgbClr val="B7C7D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24281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Cambria Math"/>
              </a:rPr>
              <a:t>|A|  =  </a:t>
            </a:r>
            <a:r>
              <a:rPr sz="2600" b="1" i="0">
                <a:solidFill>
                  <a:srgbClr val="D8A84E"/>
                </a:solidFill>
                <a:latin typeface="Cambria Math"/>
              </a:rPr>
              <a:t>329</a:t>
            </a:r>
            <a:r>
              <a:rPr sz="2400" b="0" i="0">
                <a:solidFill>
                  <a:srgbClr val="FFFFFF"/>
                </a:solidFill>
                <a:latin typeface="Cambria Math"/>
              </a:rPr>
              <a:t> − </a:t>
            </a:r>
            <a:r>
              <a:rPr sz="2600" b="1" i="0">
                <a:solidFill>
                  <a:srgbClr val="D8A84E"/>
                </a:solidFill>
                <a:latin typeface="Cambria Math"/>
              </a:rPr>
              <a:t>133</a:t>
            </a:r>
            <a:r>
              <a:rPr sz="2400" b="0" i="0">
                <a:solidFill>
                  <a:srgbClr val="FFFFFF"/>
                </a:solidFill>
                <a:latin typeface="Cambria Math"/>
              </a:rPr>
              <a:t> + </a:t>
            </a:r>
            <a:r>
              <a:rPr sz="2600" b="1" i="0">
                <a:solidFill>
                  <a:srgbClr val="D8A84E"/>
                </a:solidFill>
                <a:latin typeface="Cambria Math"/>
              </a:rPr>
              <a:t>21</a:t>
            </a:r>
            <a:r>
              <a:rPr sz="2400" b="0" i="0">
                <a:solidFill>
                  <a:srgbClr val="FFFFFF"/>
                </a:solidFill>
                <a:latin typeface="Cambria Math"/>
              </a:rPr>
              <a:t> − </a:t>
            </a:r>
            <a:r>
              <a:rPr sz="2600" b="1" i="0">
                <a:solidFill>
                  <a:srgbClr val="D8A84E"/>
                </a:solidFill>
                <a:latin typeface="Cambria Math"/>
              </a:rPr>
              <a:t>1</a:t>
            </a:r>
            <a:r>
              <a:rPr sz="2400" b="0" i="0">
                <a:solidFill>
                  <a:srgbClr val="FFFFFF"/>
                </a:solidFill>
                <a:latin typeface="Cambria Math"/>
              </a:rPr>
              <a:t>  =  </a:t>
            </a:r>
            <a:r>
              <a:rPr sz="3000" b="1" i="0">
                <a:solidFill>
                  <a:srgbClr val="CFEAE7"/>
                </a:solidFill>
                <a:latin typeface="Cambria Math"/>
              </a:rPr>
              <a:t>216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" y="5138928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7185"/>
                </a:solidFill>
                <a:latin typeface="Microsoft YaHei"/>
              </a:rPr>
              <a:t>每一项的数目，都是 280 除以对应最小公倍数后取整。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5504688"/>
            <a:ext cx="11045952" cy="502920"/>
          </a:xfrm>
          <a:prstGeom prst="rect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623560"/>
            <a:ext cx="1053388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2A40"/>
                </a:solidFill>
                <a:latin typeface="Microsoft YaHei"/>
              </a:rPr>
              <a:t>所以存在 216 元的坏子集  ⇒  </a:t>
            </a:r>
            <a:r>
              <a:rPr sz="1800" b="1" i="0">
                <a:solidFill>
                  <a:srgbClr val="0F8B84"/>
                </a:solidFill>
                <a:latin typeface="Cambria Math"/>
              </a:rPr>
              <a:t>n ≥ 217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1170432"/>
          </a:xfrm>
          <a:prstGeom prst="rect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8A84E"/>
                </a:solidFill>
                <a:latin typeface="Cambria Math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256032"/>
            <a:ext cx="71323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8B84"/>
                </a:solidFill>
                <a:latin typeface="Microsoft YaHei"/>
              </a:rPr>
              <a:t>0 4   ·   上 界 构 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920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A"/>
                </a:solidFill>
                <a:latin typeface="Microsoft YaHei"/>
              </a:rPr>
              <a:t>设计 88 个数的 6 个“互素抽屉”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033271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E7185"/>
                </a:solidFill>
                <a:latin typeface="Microsoft YaHei"/>
              </a:rPr>
              <a:t>每组内部两两互素；B 以外的数全部暂不使用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11045952" cy="10972"/>
          </a:xfrm>
          <a:prstGeom prst="rect">
            <a:avLst/>
          </a:prstGeom>
          <a:solidFill>
            <a:srgbClr val="DC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57884"/>
            <a:ext cx="804672" cy="41148"/>
          </a:xfrm>
          <a:prstGeom prst="rect">
            <a:avLst/>
          </a:prstGeom>
          <a:solidFill>
            <a:srgbClr val="D8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528816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AAA"/>
                </a:solidFill>
                <a:latin typeface="Microsoft YaHei"/>
              </a:rPr>
              <a:t>S = {1, 2, …, 280}   ·   5 个两两互素的数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6528816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AAA"/>
                </a:solidFill>
                <a:latin typeface="Cambria Math"/>
              </a:rPr>
              <a:t>06 / 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66560"/>
            <a:ext cx="12191695" cy="32004"/>
          </a:xfrm>
          <a:prstGeom prst="rect">
            <a:avLst/>
          </a:prstGeom>
          <a:solidFill>
            <a:srgbClr val="DD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766560"/>
            <a:ext cx="9143771" cy="32004"/>
          </a:xfrm>
          <a:prstGeom prst="rect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1554480"/>
          <a:ext cx="11045952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8796528"/>
                <a:gridCol w="1289304"/>
              </a:tblGrid>
              <a:tr h="420624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组</a:t>
                      </a:r>
                    </a:p>
                  </a:txBody>
                  <a:tcPr marL="91440" marR="91440" marT="18288" marB="18288" anchor="ctr">
                    <a:lnL w="7620" cap="flat" cmpd="sng" algn="ctr">
                      <a:solidFill>
                        <a:srgbClr val="DCE6EF"/>
                      </a:solidFill>
                      <a:prstDash val="solid"/>
                    </a:lnL>
                    <a:lnR w="7620" cap="flat" cmpd="sng" algn="ctr">
                      <a:solidFill>
                        <a:srgbClr val="DCE6EF"/>
                      </a:solidFill>
                      <a:prstDash val="solid"/>
                    </a:lnR>
                    <a:lnT w="7620" cap="flat" cmpd="sng" algn="ctr">
                      <a:solidFill>
                        <a:srgbClr val="DCE6EF"/>
                      </a:solidFill>
                      <a:prstDash val="solid"/>
                    </a:lnT>
                    <a:lnB w="7620" cap="flat" cmpd="sng" algn="ctr">
                      <a:solidFill>
                        <a:srgbClr val="DCE6EF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元素</a:t>
                      </a:r>
                    </a:p>
                  </a:txBody>
                  <a:tcPr marL="91440" marR="91440" marT="18288" marB="18288" anchor="ctr">
                    <a:lnL w="7620" cap="flat" cmpd="sng" algn="ctr">
                      <a:solidFill>
                        <a:srgbClr val="DCE6EF"/>
                      </a:solidFill>
                      <a:prstDash val="solid"/>
                    </a:lnL>
                    <a:lnR w="7620" cap="flat" cmpd="sng" algn="ctr">
                      <a:solidFill>
                        <a:srgbClr val="DCE6EF"/>
                      </a:solidFill>
                      <a:prstDash val="solid"/>
                    </a:lnR>
                    <a:lnT w="7620" cap="flat" cmpd="sng" algn="ctr">
                      <a:solidFill>
                        <a:srgbClr val="DCE6EF"/>
                      </a:solidFill>
                      <a:prstDash val="solid"/>
                    </a:lnT>
                    <a:lnB w="7620" cap="flat" cmpd="sng" algn="ctr">
                      <a:solidFill>
                        <a:srgbClr val="DCE6EF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个数</a:t>
                      </a:r>
                    </a:p>
                  </a:txBody>
                  <a:tcPr marL="91440" marR="91440" marT="18288" marB="18288" anchor="ctr">
                    <a:lnL w="7620" cap="flat" cmpd="sng" algn="ctr">
                      <a:solidFill>
                        <a:srgbClr val="DCE6EF"/>
                      </a:solidFill>
                      <a:prstDash val="solid"/>
                    </a:lnL>
                    <a:lnR w="7620" cap="flat" cmpd="sng" algn="ctr">
                      <a:solidFill>
                        <a:srgbClr val="DCE6EF"/>
                      </a:solidFill>
                      <a:prstDash val="solid"/>
                    </a:lnR>
                    <a:lnT w="7620" cap="flat" cmpd="sng" algn="ctr">
                      <a:solidFill>
                        <a:srgbClr val="DCE6EF"/>
                      </a:solidFill>
                      <a:prstDash val="solid"/>
                    </a:lnT>
                    <a:lnB w="7620" cap="flat" cmpd="sng" algn="ctr">
                      <a:solidFill>
                        <a:srgbClr val="DCE6EF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F8B84"/>
                          </a:solidFill>
                          <a:latin typeface="Microsoft YaHei"/>
                        </a:rPr>
                        <a:t>B₁</a:t>
                      </a:r>
                    </a:p>
                  </a:txBody>
                  <a:tcPr marL="73152" marR="73152" marT="18288" marB="18288" anchor="ctr">
                    <a:lnL w="7620" cap="flat" cmpd="sng" algn="ctr">
                      <a:solidFill>
                        <a:srgbClr val="DCE6EF"/>
                      </a:solidFill>
                      <a:prstDash val="solid"/>
                    </a:lnL>
                    <a:lnR w="7620" cap="flat" cmpd="sng" algn="ctr">
                      <a:solidFill>
                        <a:srgbClr val="DCE6EF"/>
                      </a:solidFill>
                      <a:prstDash val="solid"/>
                    </a:lnR>
                    <a:lnT w="7620" cap="flat" cmpd="sng" algn="ctr">
                      <a:solidFill>
                        <a:srgbClr val="DCE6EF"/>
                      </a:solidFill>
                      <a:prstDash val="solid"/>
                    </a:lnT>
                    <a:lnB w="7620" cap="flat" cmpd="sng" algn="ctr">
                      <a:solidFill>
                        <a:srgbClr val="DCE6EF"/>
                      </a:solidFill>
                      <a:prstDash val="soli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A40"/>
                          </a:solidFill>
                          <a:latin typeface="Microsoft YaHei"/>
                        </a:rPr>
                        <a:t>1，以及不超过 280 的全部素数</a:t>
                      </a:r>
                    </a:p>
                  </a:txBody>
                  <a:tcPr marL="73152" marR="73152" marT="18288" marB="18288" anchor="ctr">
                    <a:lnL w="7620" cap="flat" cmpd="sng" algn="ctr">
                      <a:solidFill>
                        <a:srgbClr val="DCE6EF"/>
                      </a:solidFill>
                      <a:prstDash val="solid"/>
                    </a:lnL>
                    <a:lnR w="7620" cap="flat" cmpd="sng" algn="ctr">
                      <a:solidFill>
                        <a:srgbClr val="DCE6EF"/>
                      </a:solidFill>
                      <a:prstDash val="solid"/>
                    </a:lnR>
                    <a:lnT w="7620" cap="flat" cmpd="sng" algn="ctr">
                      <a:solidFill>
                        <a:srgbClr val="DCE6EF"/>
                      </a:solidFill>
                      <a:prstDash val="solid"/>
                    </a:lnT>
                    <a:lnB w="7620" cap="flat" cmpd="sng" algn="ctr">
                      <a:solidFill>
                        <a:srgbClr val="DCE6EF"/>
                      </a:solidFill>
                      <a:prstDash val="soli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B1F3A"/>
                          </a:solidFill>
                          <a:latin typeface="Microsoft YaHei"/>
                        </a:rPr>
                        <a:t>60</a:t>
                      </a:r>
                    </a:p>
                  </a:txBody>
                  <a:tcPr marL="36576" marR="36576" marT="18288" marB="18288" anchor="ctr">
                    <a:lnL w="7620" cap="flat" cmpd="sng" algn="ctr">
                      <a:solidFill>
                        <a:srgbClr val="DCE6EF"/>
                      </a:solidFill>
                      <a:prstDash val="solid"/>
                    </a:lnL>
                    <a:lnR w="7620" cap="flat" cmpd="sng" algn="ctr">
                      <a:solidFill>
                        <a:srgbClr val="DCE6EF"/>
                      </a:solidFill>
                      <a:prstDash val="solid"/>
                    </a:lnR>
                    <a:lnT w="7620" cap="flat" cmpd="sng" algn="ctr">
                      <a:solidFill>
                        <a:srgbClr val="DCE6EF"/>
                      </a:solidFill>
                      <a:prstDash val="solid"/>
                    </a:lnT>
                    <a:lnB w="7620" cap="flat" cmpd="sng" algn="ctr">
                      <a:solidFill>
                        <a:srgbClr val="DCE6EF"/>
                      </a:solidFill>
                      <a:prstDash val="solid"/>
                    </a:lnB>
                    <a:solidFill>
                      <a:srgbClr val="F9FBF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F8B84"/>
                          </a:solidFill>
                          <a:latin typeface="Microsoft YaHei"/>
                        </a:rPr>
                        <a:t>B₂</a:t>
                      </a:r>
                    </a:p>
                  </a:txBody>
                  <a:tcPr marL="73152" marR="73152" marT="18288" marB="18288" anchor="ctr">
                    <a:lnL w="7620" cap="flat" cmpd="sng" algn="ctr">
                      <a:solidFill>
                        <a:srgbClr val="DCE6EF"/>
                      </a:solidFill>
                      <a:prstDash val="solid"/>
                    </a:lnL>
                    <a:lnR w="7620" cap="flat" cmpd="sng" algn="ctr">
                      <a:solidFill>
                        <a:srgbClr val="DCE6EF"/>
                      </a:solidFill>
                      <a:prstDash val="solid"/>
                    </a:lnR>
                    <a:lnT w="7620" cap="flat" cmpd="sng" algn="ctr">
                      <a:solidFill>
                        <a:srgbClr val="DCE6EF"/>
                      </a:solidFill>
                      <a:prstDash val="solid"/>
                    </a:lnT>
                    <a:lnB w="7620" cap="flat" cmpd="sng" algn="ctr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62A40"/>
                          </a:solidFill>
                          <a:latin typeface="Microsoft YaHei"/>
                        </a:rPr>
                        <a:t>2²，3²，5²，7²，11²，13²</a:t>
                      </a:r>
                    </a:p>
                  </a:txBody>
                  <a:tcPr marL="73152" marR="73152" marT="18288" marB="18288" anchor="ctr">
                    <a:lnL w="7620" cap="flat" cmpd="sng" algn="ctr">
                      <a:solidFill>
                        <a:srgbClr val="DCE6EF"/>
                      </a:solidFill>
                      <a:prstDash val="solid"/>
                    </a:lnL>
                    <a:lnR w="7620" cap="flat" cmpd="sng" algn="ctr">
                      <a:solidFill>
                        <a:srgbClr val="DCE6EF"/>
                      </a:solidFill>
                      <a:prstDash val="solid"/>
                    </a:lnR>
                    <a:lnT w="7620" cap="flat" cmpd="sng" algn="ctr">
                      <a:solidFill>
                        <a:srgbClr val="DCE6EF"/>
                      </a:solidFill>
                      <a:prstDash val="solid"/>
                    </a:lnT>
                    <a:lnB w="7620" cap="flat" cmpd="sng" algn="ctr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B1F3A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marL="36576" marR="36576" marT="18288" marB="18288" anchor="ctr">
                    <a:lnL w="7620" cap="flat" cmpd="sng" algn="ctr">
                      <a:solidFill>
                        <a:srgbClr val="DCE6EF"/>
                      </a:solidFill>
                      <a:prstDash val="solid"/>
                    </a:lnL>
                    <a:lnR w="7620" cap="flat" cmpd="sng" algn="ctr">
                      <a:solidFill>
                        <a:srgbClr val="DCE6EF"/>
                      </a:solidFill>
                      <a:prstDash val="solid"/>
                    </a:lnR>
                    <a:lnT w="7620" cap="flat" cmpd="sng" algn="ctr">
                      <a:solidFill>
                        <a:srgbClr val="DCE6EF"/>
                      </a:solidFill>
                      <a:prstDash val="solid"/>
                    </a:lnT>
                    <a:lnB w="7620" cap="flat" cmpd="sng" algn="ctr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F8B84"/>
                          </a:solidFill>
                          <a:latin typeface="Microsoft YaHei"/>
                        </a:rPr>
                        <a:t>B₃</a:t>
                      </a:r>
                    </a:p>
                  </a:txBody>
                  <a:tcPr marL="73152" marR="73152" marT="18288" marB="18288" anchor="ctr">
                    <a:lnL w="7620" cap="flat" cmpd="sng" algn="ctr">
                      <a:solidFill>
                        <a:srgbClr val="DCE6EF"/>
                      </a:solidFill>
                      <a:prstDash val="solid"/>
                    </a:lnL>
                    <a:lnR w="7620" cap="flat" cmpd="sng" algn="ctr">
                      <a:solidFill>
                        <a:srgbClr val="DCE6EF"/>
                      </a:solidFill>
                      <a:prstDash val="solid"/>
                    </a:lnR>
                    <a:lnT w="7620" cap="flat" cmpd="sng" algn="ctr">
                      <a:solidFill>
                        <a:srgbClr val="DCE6EF"/>
                      </a:solidFill>
                      <a:prstDash val="solid"/>
                    </a:lnT>
                    <a:lnB w="7620" cap="flat" cmpd="sng" algn="ctr">
                      <a:solidFill>
                        <a:srgbClr val="DCE6EF"/>
                      </a:solidFill>
                      <a:prstDash val="soli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A40"/>
                          </a:solidFill>
                          <a:latin typeface="Microsoft YaHei"/>
                        </a:rPr>
                        <a:t>2·131，3·89，5·53，7·37，11·23，13·19</a:t>
                      </a:r>
                    </a:p>
                  </a:txBody>
                  <a:tcPr marL="73152" marR="73152" marT="18288" marB="18288" anchor="ctr">
                    <a:lnL w="7620" cap="flat" cmpd="sng" algn="ctr">
                      <a:solidFill>
                        <a:srgbClr val="DCE6EF"/>
                      </a:solidFill>
                      <a:prstDash val="solid"/>
                    </a:lnL>
                    <a:lnR w="7620" cap="flat" cmpd="sng" algn="ctr">
                      <a:solidFill>
                        <a:srgbClr val="DCE6EF"/>
                      </a:solidFill>
                      <a:prstDash val="solid"/>
                    </a:lnR>
                    <a:lnT w="7620" cap="flat" cmpd="sng" algn="ctr">
                      <a:solidFill>
                        <a:srgbClr val="DCE6EF"/>
                      </a:solidFill>
                      <a:prstDash val="solid"/>
                    </a:lnT>
                    <a:lnB w="7620" cap="flat" cmpd="sng" algn="ctr">
                      <a:solidFill>
                        <a:srgbClr val="DCE6EF"/>
                      </a:solidFill>
                      <a:prstDash val="soli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B1F3A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marL="36576" marR="36576" marT="18288" marB="18288" anchor="ctr">
                    <a:lnL w="7620" cap="flat" cmpd="sng" algn="ctr">
                      <a:solidFill>
                        <a:srgbClr val="DCE6EF"/>
                      </a:solidFill>
                      <a:prstDash val="solid"/>
                    </a:lnL>
                    <a:lnR w="7620" cap="flat" cmpd="sng" algn="ctr">
                      <a:solidFill>
                        <a:srgbClr val="DCE6EF"/>
                      </a:solidFill>
                      <a:prstDash val="solid"/>
                    </a:lnR>
                    <a:lnT w="7620" cap="flat" cmpd="sng" algn="ctr">
                      <a:solidFill>
                        <a:srgbClr val="DCE6EF"/>
                      </a:solidFill>
                      <a:prstDash val="solid"/>
                    </a:lnT>
                    <a:lnB w="7620" cap="flat" cmpd="sng" algn="ctr">
                      <a:solidFill>
                        <a:srgbClr val="DCE6EF"/>
                      </a:solidFill>
                      <a:prstDash val="solid"/>
                    </a:lnB>
                    <a:solidFill>
                      <a:srgbClr val="F9FBF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F8B84"/>
                          </a:solidFill>
                          <a:latin typeface="Microsoft YaHei"/>
                        </a:rPr>
                        <a:t>B₄</a:t>
                      </a:r>
                    </a:p>
                  </a:txBody>
                  <a:tcPr marL="73152" marR="73152" marT="18288" marB="18288" anchor="ctr">
                    <a:lnL w="7620" cap="flat" cmpd="sng" algn="ctr">
                      <a:solidFill>
                        <a:srgbClr val="DCE6EF"/>
                      </a:solidFill>
                      <a:prstDash val="solid"/>
                    </a:lnL>
                    <a:lnR w="7620" cap="flat" cmpd="sng" algn="ctr">
                      <a:solidFill>
                        <a:srgbClr val="DCE6EF"/>
                      </a:solidFill>
                      <a:prstDash val="solid"/>
                    </a:lnR>
                    <a:lnT w="7620" cap="flat" cmpd="sng" algn="ctr">
                      <a:solidFill>
                        <a:srgbClr val="DCE6EF"/>
                      </a:solidFill>
                      <a:prstDash val="solid"/>
                    </a:lnT>
                    <a:lnB w="7620" cap="flat" cmpd="sng" algn="ctr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A40"/>
                          </a:solidFill>
                          <a:latin typeface="Microsoft YaHei"/>
                        </a:rPr>
                        <a:t>2·127，3·83，5·47，7·31，11·19，13·17</a:t>
                      </a:r>
                    </a:p>
                  </a:txBody>
                  <a:tcPr marL="73152" marR="73152" marT="18288" marB="18288" anchor="ctr">
                    <a:lnL w="7620" cap="flat" cmpd="sng" algn="ctr">
                      <a:solidFill>
                        <a:srgbClr val="DCE6EF"/>
                      </a:solidFill>
                      <a:prstDash val="solid"/>
                    </a:lnL>
                    <a:lnR w="7620" cap="flat" cmpd="sng" algn="ctr">
                      <a:solidFill>
                        <a:srgbClr val="DCE6EF"/>
                      </a:solidFill>
                      <a:prstDash val="solid"/>
                    </a:lnR>
                    <a:lnT w="7620" cap="flat" cmpd="sng" algn="ctr">
                      <a:solidFill>
                        <a:srgbClr val="DCE6EF"/>
                      </a:solidFill>
                      <a:prstDash val="solid"/>
                    </a:lnT>
                    <a:lnB w="7620" cap="flat" cmpd="sng" algn="ctr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B1F3A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marL="36576" marR="36576" marT="18288" marB="18288" anchor="ctr">
                    <a:lnL w="7620" cap="flat" cmpd="sng" algn="ctr">
                      <a:solidFill>
                        <a:srgbClr val="DCE6EF"/>
                      </a:solidFill>
                      <a:prstDash val="solid"/>
                    </a:lnL>
                    <a:lnR w="7620" cap="flat" cmpd="sng" algn="ctr">
                      <a:solidFill>
                        <a:srgbClr val="DCE6EF"/>
                      </a:solidFill>
                      <a:prstDash val="solid"/>
                    </a:lnR>
                    <a:lnT w="7620" cap="flat" cmpd="sng" algn="ctr">
                      <a:solidFill>
                        <a:srgbClr val="DCE6EF"/>
                      </a:solidFill>
                      <a:prstDash val="solid"/>
                    </a:lnT>
                    <a:lnB w="7620" cap="flat" cmpd="sng" algn="ctr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F8B84"/>
                          </a:solidFill>
                          <a:latin typeface="Microsoft YaHei"/>
                        </a:rPr>
                        <a:t>B₅</a:t>
                      </a:r>
                    </a:p>
                  </a:txBody>
                  <a:tcPr marL="73152" marR="73152" marT="18288" marB="18288" anchor="ctr">
                    <a:lnL w="7620" cap="flat" cmpd="sng" algn="ctr">
                      <a:solidFill>
                        <a:srgbClr val="DCE6EF"/>
                      </a:solidFill>
                      <a:prstDash val="solid"/>
                    </a:lnL>
                    <a:lnR w="7620" cap="flat" cmpd="sng" algn="ctr">
                      <a:solidFill>
                        <a:srgbClr val="DCE6EF"/>
                      </a:solidFill>
                      <a:prstDash val="solid"/>
                    </a:lnR>
                    <a:lnT w="7620" cap="flat" cmpd="sng" algn="ctr">
                      <a:solidFill>
                        <a:srgbClr val="DCE6EF"/>
                      </a:solidFill>
                      <a:prstDash val="solid"/>
                    </a:lnT>
                    <a:lnB w="7620" cap="flat" cmpd="sng" algn="ctr">
                      <a:solidFill>
                        <a:srgbClr val="DCE6EF"/>
                      </a:solidFill>
                      <a:prstDash val="soli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A40"/>
                          </a:solidFill>
                          <a:latin typeface="Microsoft YaHei"/>
                        </a:rPr>
                        <a:t>2·113，3·79，5·43，7·29，11·17</a:t>
                      </a:r>
                    </a:p>
                  </a:txBody>
                  <a:tcPr marL="73152" marR="73152" marT="18288" marB="18288" anchor="ctr">
                    <a:lnL w="7620" cap="flat" cmpd="sng" algn="ctr">
                      <a:solidFill>
                        <a:srgbClr val="DCE6EF"/>
                      </a:solidFill>
                      <a:prstDash val="solid"/>
                    </a:lnL>
                    <a:lnR w="7620" cap="flat" cmpd="sng" algn="ctr">
                      <a:solidFill>
                        <a:srgbClr val="DCE6EF"/>
                      </a:solidFill>
                      <a:prstDash val="solid"/>
                    </a:lnR>
                    <a:lnT w="7620" cap="flat" cmpd="sng" algn="ctr">
                      <a:solidFill>
                        <a:srgbClr val="DCE6EF"/>
                      </a:solidFill>
                      <a:prstDash val="solid"/>
                    </a:lnT>
                    <a:lnB w="7620" cap="flat" cmpd="sng" algn="ctr">
                      <a:solidFill>
                        <a:srgbClr val="DCE6EF"/>
                      </a:solidFill>
                      <a:prstDash val="soli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B1F3A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36576" marR="36576" marT="18288" marB="18288" anchor="ctr">
                    <a:lnL w="7620" cap="flat" cmpd="sng" algn="ctr">
                      <a:solidFill>
                        <a:srgbClr val="DCE6EF"/>
                      </a:solidFill>
                      <a:prstDash val="solid"/>
                    </a:lnL>
                    <a:lnR w="7620" cap="flat" cmpd="sng" algn="ctr">
                      <a:solidFill>
                        <a:srgbClr val="DCE6EF"/>
                      </a:solidFill>
                      <a:prstDash val="solid"/>
                    </a:lnR>
                    <a:lnT w="7620" cap="flat" cmpd="sng" algn="ctr">
                      <a:solidFill>
                        <a:srgbClr val="DCE6EF"/>
                      </a:solidFill>
                      <a:prstDash val="solid"/>
                    </a:lnT>
                    <a:lnB w="7620" cap="flat" cmpd="sng" algn="ctr">
                      <a:solidFill>
                        <a:srgbClr val="DCE6EF"/>
                      </a:solidFill>
                      <a:prstDash val="solid"/>
                    </a:lnB>
                    <a:solidFill>
                      <a:srgbClr val="F9FBF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F8B84"/>
                          </a:solidFill>
                          <a:latin typeface="Microsoft YaHei"/>
                        </a:rPr>
                        <a:t>B₆</a:t>
                      </a:r>
                    </a:p>
                  </a:txBody>
                  <a:tcPr marL="73152" marR="73152" marT="18288" marB="18288" anchor="ctr">
                    <a:lnL w="7620" cap="flat" cmpd="sng" algn="ctr">
                      <a:solidFill>
                        <a:srgbClr val="DCE6EF"/>
                      </a:solidFill>
                      <a:prstDash val="solid"/>
                    </a:lnL>
                    <a:lnR w="7620" cap="flat" cmpd="sng" algn="ctr">
                      <a:solidFill>
                        <a:srgbClr val="DCE6EF"/>
                      </a:solidFill>
                      <a:prstDash val="solid"/>
                    </a:lnR>
                    <a:lnT w="7620" cap="flat" cmpd="sng" algn="ctr">
                      <a:solidFill>
                        <a:srgbClr val="DCE6EF"/>
                      </a:solidFill>
                      <a:prstDash val="solid"/>
                    </a:lnT>
                    <a:lnB w="7620" cap="flat" cmpd="sng" algn="ctr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2A40"/>
                          </a:solidFill>
                          <a:latin typeface="Microsoft YaHei"/>
                        </a:rPr>
                        <a:t>2·109，3·73，5·41，7·23，11·13</a:t>
                      </a:r>
                    </a:p>
                  </a:txBody>
                  <a:tcPr marL="73152" marR="73152" marT="18288" marB="18288" anchor="ctr">
                    <a:lnL w="7620" cap="flat" cmpd="sng" algn="ctr">
                      <a:solidFill>
                        <a:srgbClr val="DCE6EF"/>
                      </a:solidFill>
                      <a:prstDash val="solid"/>
                    </a:lnL>
                    <a:lnR w="7620" cap="flat" cmpd="sng" algn="ctr">
                      <a:solidFill>
                        <a:srgbClr val="DCE6EF"/>
                      </a:solidFill>
                      <a:prstDash val="solid"/>
                    </a:lnR>
                    <a:lnT w="7620" cap="flat" cmpd="sng" algn="ctr">
                      <a:solidFill>
                        <a:srgbClr val="DCE6EF"/>
                      </a:solidFill>
                      <a:prstDash val="solid"/>
                    </a:lnT>
                    <a:lnB w="7620" cap="flat" cmpd="sng" algn="ctr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B1F3A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36576" marR="36576" marT="18288" marB="18288" anchor="ctr">
                    <a:lnL w="7620" cap="flat" cmpd="sng" algn="ctr">
                      <a:solidFill>
                        <a:srgbClr val="DCE6EF"/>
                      </a:solidFill>
                      <a:prstDash val="solid"/>
                    </a:lnL>
                    <a:lnR w="7620" cap="flat" cmpd="sng" algn="ctr">
                      <a:solidFill>
                        <a:srgbClr val="DCE6EF"/>
                      </a:solidFill>
                      <a:prstDash val="solid"/>
                    </a:lnR>
                    <a:lnT w="7620" cap="flat" cmpd="sng" algn="ctr">
                      <a:solidFill>
                        <a:srgbClr val="DCE6EF"/>
                      </a:solidFill>
                      <a:prstDash val="solid"/>
                    </a:lnT>
                    <a:lnB w="7620" cap="flat" cmpd="sng" algn="ctr">
                      <a:solidFill>
                        <a:srgbClr val="DCE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66928" y="5733288"/>
            <a:ext cx="11045952" cy="530352"/>
          </a:xfrm>
          <a:prstGeom prst="rect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733288"/>
            <a:ext cx="59436" cy="530352"/>
          </a:xfrm>
          <a:prstGeom prst="rect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861304"/>
            <a:ext cx="105613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8B84"/>
                </a:solidFill>
                <a:latin typeface="Microsoft YaHei"/>
              </a:rPr>
              <a:t>✓  </a:t>
            </a:r>
            <a:r>
              <a:rPr sz="1250" b="0" i="0">
                <a:solidFill>
                  <a:srgbClr val="162A40"/>
                </a:solidFill>
                <a:latin typeface="Microsoft YaHei"/>
              </a:rPr>
              <a:t>同一组内，各数出现的素因子互不相同  ⇒  任意两数互素。</a:t>
            </a:r>
            <a:r>
              <a:rPr sz="1050" b="0" i="0">
                <a:solidFill>
                  <a:srgbClr val="5E7185"/>
                </a:solidFill>
                <a:latin typeface="Microsoft YaHei"/>
              </a:rPr>
              <a:t>   其中 π(280) = 59，所以 |B₁| = 1 + 59 = 60。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1170432"/>
          </a:xfrm>
          <a:prstGeom prst="rect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8A84E"/>
                </a:solidFill>
                <a:latin typeface="Cambria Math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256032"/>
            <a:ext cx="71323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8B84"/>
                </a:solidFill>
                <a:latin typeface="Microsoft YaHei"/>
              </a:rPr>
              <a:t>0 5   ·   抽 屉 论 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920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A"/>
                </a:solidFill>
                <a:latin typeface="Microsoft YaHei"/>
              </a:rPr>
              <a:t>217 元集合，至少 25 个数落在 B 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033271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E7185"/>
                </a:solidFill>
                <a:latin typeface="Microsoft YaHei"/>
              </a:rPr>
              <a:t>6 个抽屉，每个最多容纳 4 个；第 25 个必然溢出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11045952" cy="10972"/>
          </a:xfrm>
          <a:prstGeom prst="rect">
            <a:avLst/>
          </a:prstGeom>
          <a:solidFill>
            <a:srgbClr val="DC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57884"/>
            <a:ext cx="804672" cy="41148"/>
          </a:xfrm>
          <a:prstGeom prst="rect">
            <a:avLst/>
          </a:prstGeom>
          <a:solidFill>
            <a:srgbClr val="D8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528816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AAA"/>
                </a:solidFill>
                <a:latin typeface="Microsoft YaHei"/>
              </a:rPr>
              <a:t>S = {1, 2, …, 280}   ·   5 个两两互素的数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6528816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AAA"/>
                </a:solidFill>
                <a:latin typeface="Cambria Math"/>
              </a:rPr>
              <a:t>07 / 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66560"/>
            <a:ext cx="12191695" cy="32004"/>
          </a:xfrm>
          <a:prstGeom prst="rect">
            <a:avLst/>
          </a:prstGeom>
          <a:solidFill>
            <a:srgbClr val="DD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766560"/>
            <a:ext cx="10667733" cy="32004"/>
          </a:xfrm>
          <a:prstGeom prst="rect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664208"/>
            <a:ext cx="7574367" cy="658368"/>
          </a:xfrm>
          <a:prstGeom prst="rect">
            <a:avLst/>
          </a:prstGeom>
          <a:solidFill>
            <a:srgbClr val="E6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1295" y="1664208"/>
            <a:ext cx="3471584" cy="658368"/>
          </a:xfrm>
          <a:prstGeom prst="rect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1856232"/>
            <a:ext cx="7574367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7185"/>
                </a:solidFill>
                <a:latin typeface="Microsoft YaHei"/>
              </a:rPr>
              <a:t>B 以外的 192 个数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1295" y="1856232"/>
            <a:ext cx="3471584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B：88 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2468880"/>
            <a:ext cx="580644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B1F3A"/>
                </a:solidFill>
                <a:latin typeface="Cambria Math"/>
              </a:rPr>
              <a:t>|X ∩ B|</a:t>
            </a:r>
            <a:r>
              <a:rPr sz="1700" b="0" i="0">
                <a:solidFill>
                  <a:srgbClr val="162A40"/>
                </a:solidFill>
                <a:latin typeface="Cambria Math"/>
              </a:rPr>
              <a:t>  ≥  217 − 192  =  </a:t>
            </a:r>
            <a:r>
              <a:rPr sz="2500" b="1" i="0">
                <a:solidFill>
                  <a:srgbClr val="D95B4B"/>
                </a:solidFill>
                <a:latin typeface="Cambria Math"/>
              </a:rP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523744"/>
            <a:ext cx="4956048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E7185"/>
                </a:solidFill>
                <a:latin typeface="Microsoft YaHei"/>
              </a:rPr>
              <a:t>任取 217 元子集 X，其中至少 25 个来自 B。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273552"/>
            <a:ext cx="1700784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F"/>
            </a:solidFill>
          </a:ln>
          <a:effectLst>
            <a:outerShdw blurRad="177800" dist="38100" dir="54000" algn="ctr" rotWithShape="0">
              <a:srgbClr val="B7C7D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273552"/>
            <a:ext cx="1700784" cy="347472"/>
          </a:xfrm>
          <a:prstGeom prst="rect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346704"/>
            <a:ext cx="1700784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mbria Math"/>
              </a:rPr>
              <a:t>B1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749039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7185"/>
                </a:solidFill>
                <a:latin typeface="Microsoft YaHei"/>
              </a:rPr>
              <a:t>4 个</a:t>
            </a:r>
          </a:p>
        </p:txBody>
      </p:sp>
      <p:sp>
        <p:nvSpPr>
          <p:cNvPr id="24" name="Oval 23"/>
          <p:cNvSpPr/>
          <p:nvPr/>
        </p:nvSpPr>
        <p:spPr>
          <a:xfrm>
            <a:off x="996695" y="4169664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90472" y="4169664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6695" y="4462272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90472" y="4462272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23160" y="3273552"/>
            <a:ext cx="1700784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F"/>
            </a:solidFill>
          </a:ln>
          <a:effectLst>
            <a:outerShdw blurRad="177800" dist="38100" dir="54000" algn="ctr" rotWithShape="0">
              <a:srgbClr val="B7C7D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23160" y="3273552"/>
            <a:ext cx="1700784" cy="347472"/>
          </a:xfrm>
          <a:prstGeom prst="rect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3346704"/>
            <a:ext cx="1700784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mbria Math"/>
              </a:rPr>
              <a:t>B2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3749039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7185"/>
                </a:solidFill>
                <a:latin typeface="Microsoft YaHei"/>
              </a:rPr>
              <a:t>4 个</a:t>
            </a:r>
          </a:p>
        </p:txBody>
      </p:sp>
      <p:sp>
        <p:nvSpPr>
          <p:cNvPr id="32" name="Oval 31"/>
          <p:cNvSpPr/>
          <p:nvPr/>
        </p:nvSpPr>
        <p:spPr>
          <a:xfrm>
            <a:off x="2852928" y="4169664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346704" y="4169664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852928" y="4462272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346704" y="4462272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79392" y="3273552"/>
            <a:ext cx="1700784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F"/>
            </a:solidFill>
          </a:ln>
          <a:effectLst>
            <a:outerShdw blurRad="177800" dist="38100" dir="54000" algn="ctr" rotWithShape="0">
              <a:srgbClr val="B7C7D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79392" y="3273552"/>
            <a:ext cx="1700784" cy="347472"/>
          </a:xfrm>
          <a:prstGeom prst="rect">
            <a:avLst/>
          </a:prstGeom>
          <a:solidFill>
            <a:srgbClr val="D8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79392" y="3346704"/>
            <a:ext cx="1700784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mbria Math"/>
              </a:rPr>
              <a:t>B3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79392" y="3749039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5B4B"/>
                </a:solidFill>
                <a:latin typeface="Microsoft YaHei"/>
              </a:rPr>
              <a:t>5 个</a:t>
            </a:r>
          </a:p>
        </p:txBody>
      </p:sp>
      <p:sp>
        <p:nvSpPr>
          <p:cNvPr id="40" name="Oval 39"/>
          <p:cNvSpPr/>
          <p:nvPr/>
        </p:nvSpPr>
        <p:spPr>
          <a:xfrm>
            <a:off x="4709160" y="4169664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202936" y="4169664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709160" y="4462272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202936" y="4462272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09160" y="4754880"/>
            <a:ext cx="155448" cy="155448"/>
          </a:xfrm>
          <a:prstGeom prst="ellipse">
            <a:avLst/>
          </a:prstGeom>
          <a:solidFill>
            <a:srgbClr val="D95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36592" y="4718304"/>
            <a:ext cx="9601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95B4B"/>
                </a:solidFill>
                <a:latin typeface="Microsoft YaHei"/>
              </a:rPr>
              <a:t>第 25 个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35624" y="3273552"/>
            <a:ext cx="1700784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F"/>
            </a:solidFill>
          </a:ln>
          <a:effectLst>
            <a:outerShdw blurRad="177800" dist="38100" dir="54000" algn="ctr" rotWithShape="0">
              <a:srgbClr val="B7C7D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35624" y="3273552"/>
            <a:ext cx="1700784" cy="347472"/>
          </a:xfrm>
          <a:prstGeom prst="rect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35624" y="3346704"/>
            <a:ext cx="1700784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mbria Math"/>
              </a:rPr>
              <a:t>B4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35624" y="3749039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7185"/>
                </a:solidFill>
                <a:latin typeface="Microsoft YaHei"/>
              </a:rPr>
              <a:t>4 个</a:t>
            </a:r>
          </a:p>
        </p:txBody>
      </p:sp>
      <p:sp>
        <p:nvSpPr>
          <p:cNvPr id="50" name="Oval 49"/>
          <p:cNvSpPr/>
          <p:nvPr/>
        </p:nvSpPr>
        <p:spPr>
          <a:xfrm>
            <a:off x="6565392" y="4169664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59168" y="4169664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565392" y="4462272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59168" y="4462272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991856" y="3273552"/>
            <a:ext cx="1700784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F"/>
            </a:solidFill>
          </a:ln>
          <a:effectLst>
            <a:outerShdw blurRad="177800" dist="38100" dir="54000" algn="ctr" rotWithShape="0">
              <a:srgbClr val="B7C7D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991856" y="3273552"/>
            <a:ext cx="1700784" cy="347472"/>
          </a:xfrm>
          <a:prstGeom prst="rect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91856" y="3346704"/>
            <a:ext cx="1700784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mbria Math"/>
              </a:rPr>
              <a:t>B5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91856" y="3749039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7185"/>
                </a:solidFill>
                <a:latin typeface="Microsoft YaHei"/>
              </a:rPr>
              <a:t>4 个</a:t>
            </a:r>
          </a:p>
        </p:txBody>
      </p:sp>
      <p:sp>
        <p:nvSpPr>
          <p:cNvPr id="58" name="Oval 57"/>
          <p:cNvSpPr/>
          <p:nvPr/>
        </p:nvSpPr>
        <p:spPr>
          <a:xfrm>
            <a:off x="8421624" y="4169664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915400" y="4169664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21624" y="4462272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915400" y="4462272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48088" y="3273552"/>
            <a:ext cx="1700784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F"/>
            </a:solidFill>
          </a:ln>
          <a:effectLst>
            <a:outerShdw blurRad="177800" dist="38100" dir="54000" algn="ctr" rotWithShape="0">
              <a:srgbClr val="B7C7D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848088" y="3273552"/>
            <a:ext cx="1700784" cy="347472"/>
          </a:xfrm>
          <a:prstGeom prst="rect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848088" y="3346704"/>
            <a:ext cx="1700784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mbria Math"/>
              </a:rPr>
              <a:t>B6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48088" y="3749039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7185"/>
                </a:solidFill>
                <a:latin typeface="Microsoft YaHei"/>
              </a:rPr>
              <a:t>4 个</a:t>
            </a:r>
          </a:p>
        </p:txBody>
      </p:sp>
      <p:sp>
        <p:nvSpPr>
          <p:cNvPr id="66" name="Oval 65"/>
          <p:cNvSpPr/>
          <p:nvPr/>
        </p:nvSpPr>
        <p:spPr>
          <a:xfrm>
            <a:off x="10277856" y="4169664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771632" y="4169664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277856" y="4462272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771632" y="4462272"/>
            <a:ext cx="155448" cy="155448"/>
          </a:xfrm>
          <a:prstGeom prst="ellipse">
            <a:avLst/>
          </a:prstGeom>
          <a:solidFill>
            <a:srgbClr val="CFEAE7"/>
          </a:solidFill>
          <a:ln w="9525">
            <a:solidFill>
              <a:srgbClr val="0F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6928" y="5321808"/>
            <a:ext cx="11045952" cy="80467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" y="5504688"/>
            <a:ext cx="10533888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8A84E"/>
                </a:solidFill>
                <a:latin typeface="Cambria Math"/>
              </a:rPr>
              <a:t>25 &gt; 6 × 4 = 24</a:t>
            </a:r>
            <a:r>
              <a:rPr sz="1500" b="1" i="0">
                <a:solidFill>
                  <a:srgbClr val="FFFFFF"/>
                </a:solidFill>
                <a:latin typeface="Microsoft YaHei"/>
              </a:rPr>
              <a:t>   ⇒   某一组至少 5 个   ⇒   这 5 个数两两互素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3504" y="6272784"/>
            <a:ext cx="109728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8A9AAA"/>
                </a:solidFill>
                <a:latin typeface="Microsoft YaHei"/>
              </a:rPr>
              <a:t>示意：把 25 个点放进 6 个容量为 4 的抽屉，必有一个抽屉出现第 5 个点。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20" y="1234440"/>
            <a:ext cx="2880360" cy="2880360"/>
          </a:xfrm>
          <a:prstGeom prst="ellipse">
            <a:avLst/>
          </a:prstGeom>
          <a:noFill/>
          <a:ln w="12700">
            <a:solidFill>
              <a:srgbClr val="1B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55480" y="2057400"/>
            <a:ext cx="1234440" cy="1234440"/>
          </a:xfrm>
          <a:prstGeom prst="ellipse">
            <a:avLst/>
          </a:prstGeom>
          <a:noFill/>
          <a:ln w="10160">
            <a:solidFill>
              <a:srgbClr val="D8A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31168" y="1417320"/>
            <a:ext cx="91440" cy="91440"/>
          </a:xfrm>
          <a:prstGeom prst="ellipse">
            <a:avLst/>
          </a:prstGeom>
          <a:solidFill>
            <a:srgbClr val="0F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859536"/>
            <a:ext cx="566928" cy="41148"/>
          </a:xfrm>
          <a:prstGeom prst="rect">
            <a:avLst/>
          </a:prstGeom>
          <a:solidFill>
            <a:srgbClr val="D8A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81328" y="786384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8A84E"/>
                </a:solidFill>
                <a:latin typeface="Microsoft YaHei"/>
              </a:rPr>
              <a:t>0 6   ·   结 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261872"/>
            <a:ext cx="7315200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icrosoft YaHei"/>
              </a:rPr>
              <a:t>两条边界，锁定唯一答案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2084831"/>
            <a:ext cx="4315968" cy="1353312"/>
          </a:xfrm>
          <a:prstGeom prst="rect">
            <a:avLst/>
          </a:prstGeom>
          <a:solidFill>
            <a:srgbClr val="123351"/>
          </a:solidFill>
          <a:ln w="10160">
            <a:solidFill>
              <a:srgbClr val="2C6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249424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8A84E"/>
                </a:solidFill>
                <a:latin typeface="Microsoft YaHei"/>
              </a:rPr>
              <a:t>下 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505456"/>
            <a:ext cx="37947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 Math"/>
              </a:rPr>
              <a:t>216</a:t>
            </a:r>
            <a:r>
              <a:rPr sz="1200" b="0" i="0">
                <a:solidFill>
                  <a:srgbClr val="C9DCE6"/>
                </a:solidFill>
                <a:latin typeface="Microsoft YaHei"/>
              </a:rPr>
              <a:t> 元坏子集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16936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8A84E"/>
                </a:solidFill>
                <a:latin typeface="Cambria Math"/>
              </a:rPr>
              <a:t>⇒   n ≥ 217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58384" y="2084831"/>
            <a:ext cx="4315968" cy="1353312"/>
          </a:xfrm>
          <a:prstGeom prst="rect">
            <a:avLst/>
          </a:prstGeom>
          <a:solidFill>
            <a:srgbClr val="123351"/>
          </a:solidFill>
          <a:ln w="10160">
            <a:solidFill>
              <a:srgbClr val="2C6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249424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FEAE7"/>
                </a:solidFill>
                <a:latin typeface="Microsoft YaHei"/>
              </a:rPr>
              <a:t>上 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505456"/>
            <a:ext cx="37947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 Math"/>
              </a:rPr>
              <a:t>217</a:t>
            </a:r>
            <a:r>
              <a:rPr sz="1200" b="0" i="0">
                <a:solidFill>
                  <a:srgbClr val="C9DCE6"/>
                </a:solidFill>
                <a:latin typeface="Microsoft YaHei"/>
              </a:rPr>
              <a:t> 元必含 5 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916936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FEAE7"/>
                </a:solidFill>
                <a:latin typeface="Cambria Math"/>
              </a:rPr>
              <a:t>⇒   n ≤ 217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703320"/>
            <a:ext cx="763524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D8A84E"/>
                </a:solidFill>
                <a:latin typeface="Cambria Math"/>
              </a:rPr>
              <a:t>n = 217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892040"/>
            <a:ext cx="72694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icrosoft YaHei"/>
              </a:rPr>
              <a:t>最小自然数 n 就是 217。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4114800"/>
            <a:ext cx="2697480" cy="676656"/>
          </a:xfrm>
          <a:prstGeom prst="roundRect">
            <a:avLst>
              <a:gd name="adj" fmla="val 18000"/>
            </a:avLst>
          </a:prstGeom>
          <a:solidFill>
            <a:srgbClr val="13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261104"/>
            <a:ext cx="2697480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FEAE7"/>
                </a:solidFill>
                <a:latin typeface="Microsoft YaHei"/>
              </a:rPr>
              <a:t>证 明 完 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715000"/>
            <a:ext cx="10561320" cy="10972"/>
          </a:xfrm>
          <a:prstGeom prst="rect">
            <a:avLst/>
          </a:prstGeom>
          <a:solidFill>
            <a:srgbClr val="2C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907024"/>
            <a:ext cx="105613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FB4C8"/>
                </a:solidFill>
                <a:latin typeface="Microsoft YaHei"/>
              </a:rPr>
              <a:t>关键工具：素因子分类   ·   容斥原理   ·   六组划分   ·   抽屉原理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个两两互素的数：n = 217</dc:title>
  <dc:subject>S={1,2,…,280} 中保证 5 个两两互素数的最小 n</dc:subject>
  <dc:creator>解题演示</dc:creator>
  <cp:keywords>组合数学, 互素, 容斥原理, 抽屉原理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