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35240" y="-868680"/>
            <a:ext cx="4754880" cy="4754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4000" b="0" i="0">
                <a:solidFill>
                  <a:srgbClr val="1B4362"/>
                </a:solidFill>
                <a:latin typeface="Cambria Math"/>
                <a:ea typeface="Cambria Math"/>
              </a:rPr>
              <a:t>∞</a:t>
            </a:r>
          </a:p>
        </p:txBody>
      </p:sp>
      <p:sp>
        <p:nvSpPr>
          <p:cNvPr id="3" name="Oval 2"/>
          <p:cNvSpPr/>
          <p:nvPr/>
        </p:nvSpPr>
        <p:spPr>
          <a:xfrm>
            <a:off x="8138160" y="566928"/>
            <a:ext cx="3657600" cy="3657600"/>
          </a:xfrm>
          <a:prstGeom prst="ellipse">
            <a:avLst/>
          </a:prstGeom>
          <a:noFill/>
          <a:ln w="13970">
            <a:solidFill>
              <a:srgbClr val="2A5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6217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6963E"/>
                </a:solidFill>
                <a:latin typeface="Microsoft YaHei"/>
                <a:ea typeface="Microsoft YaHei"/>
              </a:rPr>
              <a:t>数学分析  ·  数列极限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298448"/>
            <a:ext cx="7863840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</a:rPr>
              <a:t>递推数列的极限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4D2DF"/>
                </a:solidFill>
                <a:latin typeface="Microsoft YaHei"/>
                <a:ea typeface="Microsoft YaHei"/>
              </a:rPr>
              <a:t>从单调有界，到渐近阶的完整推导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07792"/>
            <a:ext cx="6629400" cy="1078992"/>
          </a:xfrm>
          <a:prstGeom prst="roundRect">
            <a:avLst>
              <a:gd name="adj" fmla="val 12000"/>
            </a:avLst>
          </a:prstGeom>
          <a:solidFill>
            <a:srgbClr val="18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136392"/>
            <a:ext cx="6172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Cambria Math"/>
                <a:ea typeface="Cambria Math"/>
              </a:rPr>
              <a:t>x</a:t>
            </a:r>
            <a:r>
              <a:rPr sz="2800" b="0" i="0" baseline="-25000">
                <a:solidFill>
                  <a:srgbClr val="FFFFFF"/>
                </a:solidFill>
                <a:latin typeface="Cambria Math"/>
                <a:ea typeface="Cambria Math"/>
              </a:rPr>
              <a:t>n+1</a:t>
            </a:r>
            <a:r>
              <a:rPr sz="2800" b="0" i="0">
                <a:solidFill>
                  <a:srgbClr val="FFFFFF"/>
                </a:solidFill>
                <a:latin typeface="Cambria Math"/>
                <a:ea typeface="Cambria Math"/>
              </a:rPr>
              <a:t> = ln(1 + x</a:t>
            </a:r>
            <a:r>
              <a:rPr sz="2800" b="0" i="0" baseline="-25000">
                <a:solidFill>
                  <a:srgbClr val="FFFFFF"/>
                </a:solidFill>
                <a:latin typeface="Cambria Math"/>
                <a:ea typeface="Cambria Math"/>
              </a:rPr>
              <a:t>n</a:t>
            </a:r>
            <a:r>
              <a:rPr sz="2800" b="0" i="0">
                <a:solidFill>
                  <a:srgbClr val="FFFFFF"/>
                </a:solidFill>
                <a:latin typeface="Cambria Math"/>
                <a:ea typeface="Cambria Math"/>
              </a:rPr>
              <a:t>),   x</a:t>
            </a:r>
            <a:r>
              <a:rPr sz="2800" b="0" i="0" baseline="-25000">
                <a:solidFill>
                  <a:srgbClr val="FFFFFF"/>
                </a:solidFill>
                <a:latin typeface="Cambria Math"/>
                <a:ea typeface="Cambria Math"/>
              </a:rPr>
              <a:t>1</a:t>
            </a:r>
            <a:r>
              <a:rPr sz="2800" b="0" i="0">
                <a:solidFill>
                  <a:srgbClr val="FFFFFF"/>
                </a:solidFill>
                <a:latin typeface="Cambria Math"/>
                <a:ea typeface="Cambria Math"/>
              </a:rPr>
              <a:t> &gt;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43984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8EFF5"/>
                </a:solidFill>
                <a:latin typeface="Microsoft YaHei"/>
                <a:ea typeface="Microsoft YaHei"/>
              </a:rPr>
              <a:t>求  </a:t>
            </a:r>
            <a:r>
              <a:rPr sz="1900" b="0" i="0">
                <a:solidFill>
                  <a:srgbClr val="E8EFF5"/>
                </a:solidFill>
                <a:latin typeface="Cambria Math"/>
                <a:ea typeface="Cambria Math"/>
              </a:rPr>
              <a:t>lim</a:t>
            </a:r>
            <a:r>
              <a:rPr sz="1900" b="0" i="0" baseline="-25000">
                <a:solidFill>
                  <a:srgbClr val="E8EFF5"/>
                </a:solidFill>
                <a:latin typeface="Cambria Math"/>
                <a:ea typeface="Cambria Math"/>
              </a:rPr>
              <a:t>n→∞</a:t>
            </a:r>
            <a:r>
              <a:rPr sz="1900" b="0" i="0">
                <a:solidFill>
                  <a:srgbClr val="E8EFF5"/>
                </a:solidFill>
                <a:latin typeface="Cambria Math"/>
                <a:ea typeface="Cambria Math"/>
              </a:rPr>
              <a:t> x</a:t>
            </a:r>
            <a:r>
              <a:rPr sz="1900" b="0" i="0" baseline="-25000">
                <a:solidFill>
                  <a:srgbClr val="E8EFF5"/>
                </a:solidFill>
                <a:latin typeface="Cambria Math"/>
                <a:ea typeface="Cambria Math"/>
              </a:rPr>
              <a:t>n</a:t>
            </a:r>
            <a:r>
              <a:rPr sz="1900" b="0" i="0">
                <a:solidFill>
                  <a:srgbClr val="E8EFF5"/>
                </a:solidFill>
                <a:latin typeface="Microsoft YaHei"/>
                <a:ea typeface="Microsoft YaHei"/>
              </a:rPr>
              <a:t>   以及   </a:t>
            </a:r>
            <a:r>
              <a:rPr sz="1900" b="0" i="0">
                <a:solidFill>
                  <a:srgbClr val="E8EFF5"/>
                </a:solidFill>
                <a:latin typeface="Cambria Math"/>
                <a:ea typeface="Cambria Math"/>
              </a:rPr>
              <a:t>lim</a:t>
            </a:r>
            <a:r>
              <a:rPr sz="1900" b="0" i="0" baseline="-25000">
                <a:solidFill>
                  <a:srgbClr val="E8EFF5"/>
                </a:solidFill>
                <a:latin typeface="Cambria Math"/>
                <a:ea typeface="Cambria Math"/>
              </a:rPr>
              <a:t>n→∞</a:t>
            </a:r>
            <a:r>
              <a:rPr sz="1900" b="0" i="0">
                <a:solidFill>
                  <a:srgbClr val="E8EFF5"/>
                </a:solidFill>
                <a:latin typeface="Cambria Math"/>
                <a:ea typeface="Cambria Math"/>
              </a:rPr>
              <a:t> n x</a:t>
            </a:r>
            <a:r>
              <a:rPr sz="1900" b="0" i="0" baseline="-25000">
                <a:solidFill>
                  <a:srgbClr val="E8EFF5"/>
                </a:solidFill>
                <a:latin typeface="Cambria Math"/>
                <a:ea typeface="Cambria Math"/>
              </a:rPr>
              <a:t>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102352"/>
            <a:ext cx="5394960" cy="41148"/>
          </a:xfrm>
          <a:prstGeom prst="rect">
            <a:avLst/>
          </a:prstGeom>
          <a:solidFill>
            <a:srgbClr val="C6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7608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FA8BC"/>
                </a:solidFill>
                <a:latin typeface="Microsoft YaHei"/>
                <a:ea typeface="Microsoft YaHei"/>
              </a:rPr>
              <a:t>解题过程整理  /  8 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597103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E9AB1"/>
                </a:solidFill>
                <a:latin typeface="Microsoft YaHei"/>
                <a:ea typeface="Microsoft YaHei"/>
              </a:rPr>
              <a:t>SEQUENCE  ·  LIMIT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01752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963E"/>
                </a:solidFill>
                <a:latin typeface="Microsoft YaHei"/>
                <a:ea typeface="Microsoft YaHe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76072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Microsoft YaHei"/>
                <a:ea typeface="Microsoft YaHei"/>
              </a:rPr>
              <a:t>题目与思路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25296"/>
            <a:ext cx="10817352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07008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36192"/>
            <a:ext cx="608076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73936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C7B"/>
                </a:solidFill>
                <a:latin typeface="Microsoft YaHei"/>
                <a:ea typeface="Microsoft YaHei"/>
              </a:rPr>
              <a:t>题目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084831"/>
            <a:ext cx="640080" cy="36576"/>
          </a:xfrm>
          <a:prstGeom prst="rect">
            <a:avLst/>
          </a:prstGeom>
          <a:solidFill>
            <a:srgbClr val="C6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5440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D2B3A"/>
                </a:solidFill>
                <a:latin typeface="Microsoft YaHei"/>
                <a:ea typeface="Microsoft YaHei"/>
              </a:rPr>
              <a:t>设 </a:t>
            </a:r>
            <a:r>
              <a:rPr sz="2000" b="0" i="0">
                <a:solidFill>
                  <a:srgbClr val="1D2B3A"/>
                </a:solidFill>
                <a:latin typeface="Cambria Math"/>
                <a:ea typeface="Cambria Math"/>
              </a:rPr>
              <a:t>x</a:t>
            </a:r>
            <a:r>
              <a:rPr sz="2000" b="0" i="0" baseline="-25000">
                <a:solidFill>
                  <a:srgbClr val="1D2B3A"/>
                </a:solidFill>
                <a:latin typeface="Cambria Math"/>
                <a:ea typeface="Cambria Math"/>
              </a:rPr>
              <a:t>1</a:t>
            </a:r>
            <a:r>
              <a:rPr sz="2000" b="0" i="0">
                <a:solidFill>
                  <a:srgbClr val="1D2B3A"/>
                </a:solidFill>
                <a:latin typeface="Cambria Math"/>
                <a:ea typeface="Cambria Math"/>
              </a:rPr>
              <a:t> &gt; 0</a:t>
            </a:r>
            <a:r>
              <a:rPr sz="2000" b="0" i="0">
                <a:solidFill>
                  <a:srgbClr val="1D2B3A"/>
                </a:solidFill>
                <a:latin typeface="Microsoft YaHei"/>
                <a:ea typeface="Microsoft YaHei"/>
              </a:rPr>
              <a:t>，且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544068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Cambria Math"/>
                <a:ea typeface="Cambria Math"/>
              </a:rPr>
              <a:t>x</a:t>
            </a:r>
            <a:r>
              <a:rPr sz="250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n+1</a:t>
            </a:r>
            <a:r>
              <a:rPr sz="2500" b="1" i="0">
                <a:solidFill>
                  <a:srgbClr val="102A43"/>
                </a:solidFill>
                <a:latin typeface="Cambria Math"/>
                <a:ea typeface="Cambria Math"/>
              </a:rPr>
              <a:t> = ln(1 + x</a:t>
            </a:r>
            <a:r>
              <a:rPr sz="250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</a:t>
            </a:r>
            <a:r>
              <a:rPr sz="2500" b="1" i="0">
                <a:solidFill>
                  <a:srgbClr val="102A43"/>
                </a:solidFill>
                <a:latin typeface="Cambria Math"/>
                <a:ea typeface="Cambria Math"/>
              </a:rPr>
              <a:t>)</a:t>
            </a:r>
            <a:r>
              <a:rPr sz="2500" b="1" i="0">
                <a:solidFill>
                  <a:srgbClr val="102A4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29584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57483"/>
                </a:solidFill>
                <a:latin typeface="Microsoft YaHei"/>
                <a:ea typeface="Microsoft YaHei"/>
              </a:rPr>
              <a:t>求下列两个极限：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05072"/>
            <a:ext cx="5440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5E5D"/>
                </a:solidFill>
                <a:latin typeface="Cambria Math"/>
                <a:ea typeface="Cambria Math"/>
              </a:rPr>
              <a:t>lim</a:t>
            </a:r>
            <a:r>
              <a:rPr sz="2500" b="1" i="0" baseline="-25000">
                <a:solidFill>
                  <a:srgbClr val="0A5E5D"/>
                </a:solidFill>
                <a:latin typeface="Cambria Math"/>
                <a:ea typeface="Cambria Math"/>
              </a:rPr>
              <a:t>n→∞</a:t>
            </a:r>
            <a:r>
              <a:rPr sz="2500" b="1" i="0">
                <a:solidFill>
                  <a:srgbClr val="0A5E5D"/>
                </a:solidFill>
                <a:latin typeface="Cambria Math"/>
                <a:ea typeface="Cambria Math"/>
              </a:rPr>
              <a:t> x</a:t>
            </a:r>
            <a:r>
              <a:rPr sz="2500" b="1" i="0" baseline="-25000">
                <a:solidFill>
                  <a:srgbClr val="0A5E5D"/>
                </a:solidFill>
                <a:latin typeface="Cambria Math"/>
                <a:ea typeface="Cambria Math"/>
              </a:rPr>
              <a:t>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53712"/>
            <a:ext cx="5440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5E5D"/>
                </a:solidFill>
                <a:latin typeface="Cambria Math"/>
                <a:ea typeface="Cambria Math"/>
              </a:rPr>
              <a:t>lim</a:t>
            </a:r>
            <a:r>
              <a:rPr sz="2500" b="1" i="0" baseline="-25000">
                <a:solidFill>
                  <a:srgbClr val="0A5E5D"/>
                </a:solidFill>
                <a:latin typeface="Cambria Math"/>
                <a:ea typeface="Cambria Math"/>
              </a:rPr>
              <a:t>n→∞</a:t>
            </a:r>
            <a:r>
              <a:rPr sz="2500" b="1" i="0">
                <a:solidFill>
                  <a:srgbClr val="0A5E5D"/>
                </a:solidFill>
                <a:latin typeface="Cambria Math"/>
                <a:ea typeface="Cambria Math"/>
              </a:rPr>
              <a:t> n x</a:t>
            </a:r>
            <a:r>
              <a:rPr sz="2500" b="1" i="0" baseline="-25000">
                <a:solidFill>
                  <a:srgbClr val="0A5E5D"/>
                </a:solidFill>
                <a:latin typeface="Cambria Math"/>
                <a:ea typeface="Cambria Math"/>
              </a:rPr>
              <a:t>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22592" y="1536192"/>
            <a:ext cx="4480560" cy="4526280"/>
          </a:xfrm>
          <a:prstGeom prst="roundRect">
            <a:avLst>
              <a:gd name="adj" fmla="val 6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6912" y="179222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6963E"/>
                </a:solidFill>
                <a:latin typeface="Microsoft YaHei"/>
                <a:ea typeface="Microsoft YaHei"/>
              </a:rPr>
              <a:t>解题路线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96912" y="2112264"/>
            <a:ext cx="640080" cy="36576"/>
          </a:xfrm>
          <a:prstGeom prst="rect">
            <a:avLst/>
          </a:prstGeom>
          <a:solidFill>
            <a:srgbClr val="C6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96912" y="2423160"/>
            <a:ext cx="384048" cy="38404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386584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  <a:ea typeface="Microsoft YaHei"/>
              </a:rPr>
              <a:t>先证极限存在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69748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CBDA"/>
                </a:solidFill>
                <a:latin typeface="Microsoft YaHei"/>
                <a:ea typeface="Microsoft YaHei"/>
              </a:rPr>
              <a:t>单调递减 + 有下界</a:t>
            </a:r>
          </a:p>
        </p:txBody>
      </p:sp>
      <p:sp>
        <p:nvSpPr>
          <p:cNvPr id="20" name="Oval 19"/>
          <p:cNvSpPr/>
          <p:nvPr/>
        </p:nvSpPr>
        <p:spPr>
          <a:xfrm>
            <a:off x="7296912" y="3264408"/>
            <a:ext cx="384048" cy="38404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227832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  <a:ea typeface="Microsoft YaHei"/>
              </a:rPr>
              <a:t>再求极限值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538728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CBDA"/>
                </a:solidFill>
                <a:latin typeface="Cambria Math"/>
                <a:ea typeface="Cambria Math"/>
              </a:rPr>
              <a:t>x</a:t>
            </a:r>
            <a:r>
              <a:rPr sz="1300" b="0" i="0" baseline="-25000">
                <a:solidFill>
                  <a:srgbClr val="B8CBDA"/>
                </a:solidFill>
                <a:latin typeface="Cambria Math"/>
                <a:ea typeface="Cambria Math"/>
              </a:rPr>
              <a:t>n</a:t>
            </a:r>
            <a:r>
              <a:rPr sz="1300" b="0" i="0">
                <a:solidFill>
                  <a:srgbClr val="B8CBDA"/>
                </a:solidFill>
                <a:latin typeface="Cambria Math"/>
                <a:ea typeface="Cambria Math"/>
              </a:rPr>
              <a:t> → 0</a:t>
            </a:r>
          </a:p>
        </p:txBody>
      </p:sp>
      <p:sp>
        <p:nvSpPr>
          <p:cNvPr id="23" name="Oval 22"/>
          <p:cNvSpPr/>
          <p:nvPr/>
        </p:nvSpPr>
        <p:spPr>
          <a:xfrm>
            <a:off x="7296912" y="4105656"/>
            <a:ext cx="384048" cy="38404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069080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  <a:ea typeface="Microsoft YaHei"/>
              </a:rPr>
              <a:t>研究倒数数列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379976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CBDA"/>
                </a:solidFill>
                <a:latin typeface="Microsoft YaHei"/>
                <a:ea typeface="Microsoft YaHei"/>
              </a:rPr>
              <a:t>令 </a:t>
            </a:r>
            <a:r>
              <a:rPr sz="1300" b="0" i="0">
                <a:solidFill>
                  <a:srgbClr val="B8CBDA"/>
                </a:solidFill>
                <a:latin typeface="Cambria Math"/>
                <a:ea typeface="Cambria Math"/>
              </a:rPr>
              <a:t>y</a:t>
            </a:r>
            <a:r>
              <a:rPr sz="1300" b="0" i="0" baseline="-25000">
                <a:solidFill>
                  <a:srgbClr val="B8CBDA"/>
                </a:solidFill>
                <a:latin typeface="Cambria Math"/>
                <a:ea typeface="Cambria Math"/>
              </a:rPr>
              <a:t>n</a:t>
            </a:r>
            <a:r>
              <a:rPr sz="1300" b="0" i="0">
                <a:solidFill>
                  <a:srgbClr val="B8CBDA"/>
                </a:solidFill>
                <a:latin typeface="Cambria Math"/>
                <a:ea typeface="Cambria Math"/>
              </a:rPr>
              <a:t> = 1/x</a:t>
            </a:r>
            <a:r>
              <a:rPr sz="1300" b="0" i="0" baseline="-25000">
                <a:solidFill>
                  <a:srgbClr val="B8CBDA"/>
                </a:solidFill>
                <a:latin typeface="Cambria Math"/>
                <a:ea typeface="Cambria Math"/>
              </a:rPr>
              <a:t>n</a:t>
            </a:r>
          </a:p>
        </p:txBody>
      </p:sp>
      <p:sp>
        <p:nvSpPr>
          <p:cNvPr id="26" name="Oval 25"/>
          <p:cNvSpPr/>
          <p:nvPr/>
        </p:nvSpPr>
        <p:spPr>
          <a:xfrm>
            <a:off x="7296912" y="4946904"/>
            <a:ext cx="384048" cy="38404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910328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  <a:ea typeface="Microsoft YaHei"/>
              </a:rPr>
              <a:t>展开 + Stolz 定理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5221224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CBDA"/>
                </a:solidFill>
                <a:latin typeface="Microsoft YaHei"/>
                <a:ea typeface="Microsoft YaHei"/>
              </a:rPr>
              <a:t>得到 </a:t>
            </a:r>
            <a:r>
              <a:rPr sz="1300" b="0" i="0">
                <a:solidFill>
                  <a:srgbClr val="B8CBDA"/>
                </a:solidFill>
                <a:latin typeface="Cambria Math"/>
                <a:ea typeface="Cambria Math"/>
              </a:rPr>
              <a:t>n x</a:t>
            </a:r>
            <a:r>
              <a:rPr sz="1300" b="0" i="0" baseline="-25000">
                <a:solidFill>
                  <a:srgbClr val="B8CBDA"/>
                </a:solidFill>
                <a:latin typeface="Cambria Math"/>
                <a:ea typeface="Cambria Math"/>
              </a:rPr>
              <a:t>n</a:t>
            </a:r>
            <a:r>
              <a:rPr sz="1300" b="0" i="0">
                <a:solidFill>
                  <a:srgbClr val="B8CBDA"/>
                </a:solidFill>
                <a:latin typeface="Cambria Math"/>
                <a:ea typeface="Cambria Math"/>
              </a:rPr>
              <a:t> →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6455664"/>
            <a:ext cx="10817352" cy="7315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651967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483"/>
                </a:solidFill>
                <a:latin typeface="Microsoft YaHei"/>
                <a:ea typeface="Microsoft YaHei"/>
              </a:rPr>
              <a:t>递推数列的极限  ·  解题过程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483"/>
                </a:solidFill>
                <a:latin typeface="Microsoft YaHei"/>
                <a:ea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01752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963E"/>
                </a:solidFill>
                <a:latin typeface="Microsoft YaHei"/>
                <a:ea typeface="Microsoft YaHei"/>
              </a:rPr>
              <a:t>STEP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76072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Microsoft YaHei"/>
                <a:ea typeface="Microsoft YaHei"/>
              </a:rPr>
              <a:t>第一步｜证明数列收敛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25296"/>
            <a:ext cx="10817352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07008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36192"/>
            <a:ext cx="3429000" cy="21762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3544" y="1773936"/>
            <a:ext cx="402336" cy="4023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3895" y="1801368"/>
            <a:ext cx="23317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2A43"/>
                </a:solidFill>
                <a:latin typeface="Microsoft YaHei"/>
                <a:ea typeface="Microsoft YaHei"/>
              </a:rPr>
              <a:t>正性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58568"/>
            <a:ext cx="290779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A5E5D"/>
                </a:solidFill>
                <a:latin typeface="Cambria Math"/>
                <a:ea typeface="Cambria Math"/>
              </a:rPr>
              <a:t>x</a:t>
            </a:r>
            <a:r>
              <a:rPr sz="2100" b="1" i="0" baseline="-25000">
                <a:solidFill>
                  <a:srgbClr val="0A5E5D"/>
                </a:solidFill>
                <a:latin typeface="Cambria Math"/>
                <a:ea typeface="Cambria Math"/>
              </a:rPr>
              <a:t>n</a:t>
            </a:r>
            <a:r>
              <a:rPr sz="2100" b="1" i="0">
                <a:solidFill>
                  <a:srgbClr val="0A5E5D"/>
                </a:solidFill>
                <a:latin typeface="Cambria Math"/>
                <a:ea typeface="Cambria Math"/>
              </a:rPr>
              <a:t> &gt;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761488"/>
            <a:ext cx="2907792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57483"/>
                </a:solidFill>
                <a:latin typeface="Microsoft YaHei"/>
                <a:ea typeface="Microsoft YaHei"/>
              </a:rPr>
              <a:t>当 </a:t>
            </a:r>
            <a:r>
              <a:rPr sz="1250" b="0" i="0">
                <a:solidFill>
                  <a:srgbClr val="657483"/>
                </a:solidFill>
                <a:latin typeface="Cambria Math"/>
                <a:ea typeface="Cambria Math"/>
              </a:rPr>
              <a:t>t &gt; 0</a:t>
            </a:r>
            <a:r>
              <a:rPr sz="1250" b="0" i="0">
                <a:solidFill>
                  <a:srgbClr val="657483"/>
                </a:solidFill>
                <a:latin typeface="Microsoft YaHei"/>
                <a:ea typeface="Microsoft YaHei"/>
              </a:rPr>
              <a:t> 时，</a:t>
            </a:r>
            <a:r>
              <a:rPr sz="1250" b="0" i="0">
                <a:solidFill>
                  <a:srgbClr val="657483"/>
                </a:solidFill>
                <a:latin typeface="Cambria Math"/>
                <a:ea typeface="Cambria Math"/>
              </a:rPr>
              <a:t>ln(1+t) &gt; 0</a:t>
            </a:r>
            <a:r>
              <a:rPr sz="1250" b="0" i="0">
                <a:solidFill>
                  <a:srgbClr val="657483"/>
                </a:solidFill>
                <a:latin typeface="Microsoft YaHei"/>
                <a:ea typeface="Microsoft YaHei"/>
              </a:rPr>
              <a:t>。由归纳法可知，数列每一项都为正。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536192"/>
            <a:ext cx="3429000" cy="21762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1773936"/>
            <a:ext cx="402336" cy="4023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1801368"/>
            <a:ext cx="23317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2A43"/>
                </a:solidFill>
                <a:latin typeface="Microsoft YaHei"/>
                <a:ea typeface="Microsoft YaHei"/>
              </a:rPr>
              <a:t>单调性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258568"/>
            <a:ext cx="290779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A5E5D"/>
                </a:solidFill>
                <a:latin typeface="Cambria Math"/>
                <a:ea typeface="Cambria Math"/>
              </a:rPr>
              <a:t>x</a:t>
            </a:r>
            <a:r>
              <a:rPr sz="2100" b="1" i="0" baseline="-25000">
                <a:solidFill>
                  <a:srgbClr val="0A5E5D"/>
                </a:solidFill>
                <a:latin typeface="Cambria Math"/>
                <a:ea typeface="Cambria Math"/>
              </a:rPr>
              <a:t>n+1</a:t>
            </a:r>
            <a:r>
              <a:rPr sz="2100" b="1" i="0">
                <a:solidFill>
                  <a:srgbClr val="0A5E5D"/>
                </a:solidFill>
                <a:latin typeface="Cambria Math"/>
                <a:ea typeface="Cambria Math"/>
              </a:rPr>
              <a:t> &lt; x</a:t>
            </a:r>
            <a:r>
              <a:rPr sz="2100" b="1" i="0" baseline="-25000">
                <a:solidFill>
                  <a:srgbClr val="0A5E5D"/>
                </a:solidFill>
                <a:latin typeface="Cambria Math"/>
                <a:ea typeface="Cambria Math"/>
              </a:rPr>
              <a:t>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761488"/>
            <a:ext cx="2907792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57483"/>
                </a:solidFill>
                <a:latin typeface="Microsoft YaHei"/>
                <a:ea typeface="Microsoft YaHei"/>
              </a:rPr>
              <a:t>对 </a:t>
            </a:r>
            <a:r>
              <a:rPr sz="1250" b="0" i="0">
                <a:solidFill>
                  <a:srgbClr val="657483"/>
                </a:solidFill>
                <a:latin typeface="Cambria Math"/>
                <a:ea typeface="Cambria Math"/>
              </a:rPr>
              <a:t>t &gt; 0</a:t>
            </a:r>
            <a:r>
              <a:rPr sz="1250" b="0" i="0">
                <a:solidFill>
                  <a:srgbClr val="657483"/>
                </a:solidFill>
                <a:latin typeface="Microsoft YaHei"/>
                <a:ea typeface="Microsoft YaHei"/>
              </a:rPr>
              <a:t>，有 </a:t>
            </a:r>
            <a:r>
              <a:rPr sz="1250" b="0" i="0">
                <a:solidFill>
                  <a:srgbClr val="657483"/>
                </a:solidFill>
                <a:latin typeface="Cambria Math"/>
                <a:ea typeface="Cambria Math"/>
              </a:rPr>
              <a:t>ln(1+t) &lt; t</a:t>
            </a:r>
            <a:r>
              <a:rPr sz="1250" b="0" i="0">
                <a:solidFill>
                  <a:srgbClr val="657483"/>
                </a:solidFill>
                <a:latin typeface="Microsoft YaHei"/>
                <a:ea typeface="Microsoft YaHei"/>
              </a:rPr>
              <a:t>。取 </a:t>
            </a:r>
            <a:r>
              <a:rPr sz="1250" b="0" i="0">
                <a:solidFill>
                  <a:srgbClr val="657483"/>
                </a:solidFill>
                <a:latin typeface="Cambria Math"/>
                <a:ea typeface="Cambria Math"/>
              </a:rPr>
              <a:t>t=x</a:t>
            </a:r>
            <a:r>
              <a:rPr sz="1250" b="0" i="0" baseline="-25000">
                <a:solidFill>
                  <a:srgbClr val="657483"/>
                </a:solidFill>
                <a:latin typeface="Cambria Math"/>
                <a:ea typeface="Cambria Math"/>
              </a:rPr>
              <a:t>n</a:t>
            </a:r>
            <a:r>
              <a:rPr sz="1250" b="0" i="0">
                <a:solidFill>
                  <a:srgbClr val="657483"/>
                </a:solidFill>
                <a:latin typeface="Microsoft YaHei"/>
                <a:ea typeface="Microsoft YaHei"/>
              </a:rPr>
              <a:t>，得 </a:t>
            </a:r>
            <a:r>
              <a:rPr sz="1250" b="0" i="0">
                <a:solidFill>
                  <a:srgbClr val="657483"/>
                </a:solidFill>
                <a:latin typeface="Cambria Math"/>
                <a:ea typeface="Cambria Math"/>
              </a:rPr>
              <a:t>x</a:t>
            </a:r>
            <a:r>
              <a:rPr sz="1250" b="0" i="0" baseline="-25000">
                <a:solidFill>
                  <a:srgbClr val="657483"/>
                </a:solidFill>
                <a:latin typeface="Cambria Math"/>
                <a:ea typeface="Cambria Math"/>
              </a:rPr>
              <a:t>n+1</a:t>
            </a:r>
            <a:r>
              <a:rPr sz="1250" b="0" i="0">
                <a:solidFill>
                  <a:srgbClr val="657483"/>
                </a:solidFill>
                <a:latin typeface="Cambria Math"/>
                <a:ea typeface="Cambria Math"/>
              </a:rPr>
              <a:t> &lt; x</a:t>
            </a:r>
            <a:r>
              <a:rPr sz="1250" b="0" i="0" baseline="-25000">
                <a:solidFill>
                  <a:srgbClr val="657483"/>
                </a:solidFill>
                <a:latin typeface="Cambria Math"/>
                <a:ea typeface="Cambria Math"/>
              </a:rPr>
              <a:t>n</a:t>
            </a:r>
            <a:r>
              <a:rPr sz="1250" b="0" i="0">
                <a:solidFill>
                  <a:srgbClr val="65748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1536192"/>
            <a:ext cx="3429000" cy="21762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11896" y="1773936"/>
            <a:ext cx="402336" cy="40233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42248" y="1801368"/>
            <a:ext cx="23317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2A43"/>
                </a:solidFill>
                <a:latin typeface="Microsoft YaHei"/>
                <a:ea typeface="Microsoft YaHei"/>
              </a:rPr>
              <a:t>有界性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2258568"/>
            <a:ext cx="290779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A5E5D"/>
                </a:solidFill>
                <a:latin typeface="Cambria Math"/>
                <a:ea typeface="Cambria Math"/>
              </a:rPr>
              <a:t>x</a:t>
            </a:r>
            <a:r>
              <a:rPr sz="2100" b="1" i="0" baseline="-25000">
                <a:solidFill>
                  <a:srgbClr val="0A5E5D"/>
                </a:solidFill>
                <a:latin typeface="Cambria Math"/>
                <a:ea typeface="Cambria Math"/>
              </a:rPr>
              <a:t>n</a:t>
            </a:r>
            <a:r>
              <a:rPr sz="2100" b="1" i="0">
                <a:solidFill>
                  <a:srgbClr val="0A5E5D"/>
                </a:solidFill>
                <a:latin typeface="Cambria Math"/>
                <a:ea typeface="Cambria Math"/>
              </a:rPr>
              <a:t> &gt;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2761488"/>
            <a:ext cx="2907792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57483"/>
                </a:solidFill>
                <a:latin typeface="Microsoft YaHei"/>
                <a:ea typeface="Microsoft YaHei"/>
              </a:rPr>
              <a:t>数列有下界 </a:t>
            </a:r>
            <a:r>
              <a:rPr sz="1250" b="0" i="0">
                <a:solidFill>
                  <a:srgbClr val="657483"/>
                </a:solidFill>
                <a:latin typeface="Cambria Math"/>
                <a:ea typeface="Cambria Math"/>
              </a:rPr>
              <a:t>0</a:t>
            </a:r>
            <a:r>
              <a:rPr sz="1250" b="0" i="0">
                <a:solidFill>
                  <a:srgbClr val="657483"/>
                </a:solidFill>
                <a:latin typeface="Microsoft YaHei"/>
                <a:ea typeface="Microsoft YaHei"/>
              </a:rPr>
              <a:t>，且单调递减，因此不会发散到无穷。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41648"/>
            <a:ext cx="10817352" cy="1307592"/>
          </a:xfrm>
          <a:prstGeom prst="roundRect">
            <a:avLst>
              <a:gd name="adj" fmla="val 8000"/>
            </a:avLst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242816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A5E5D"/>
                </a:solidFill>
                <a:latin typeface="Microsoft YaHei"/>
                <a:ea typeface="Microsoft YaHei"/>
              </a:rPr>
              <a:t>单调递减 + 有下界  ⇒  数列收敛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736592"/>
            <a:ext cx="102412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D2B3A"/>
                </a:solidFill>
                <a:latin typeface="Microsoft YaHei"/>
                <a:ea typeface="Microsoft YaHei"/>
              </a:rPr>
              <a:t>设 </a:t>
            </a:r>
            <a:r>
              <a:rPr sz="1800" b="0" i="0">
                <a:solidFill>
                  <a:srgbClr val="1D2B3A"/>
                </a:solidFill>
                <a:latin typeface="Cambria Math"/>
                <a:ea typeface="Cambria Math"/>
              </a:rPr>
              <a:t>lim</a:t>
            </a:r>
            <a:r>
              <a:rPr sz="1800" b="0" i="0" baseline="-25000">
                <a:solidFill>
                  <a:srgbClr val="1D2B3A"/>
                </a:solidFill>
                <a:latin typeface="Cambria Math"/>
                <a:ea typeface="Cambria Math"/>
              </a:rPr>
              <a:t>n→∞</a:t>
            </a:r>
            <a:r>
              <a:rPr sz="1800" b="0" i="0">
                <a:solidFill>
                  <a:srgbClr val="1D2B3A"/>
                </a:solidFill>
                <a:latin typeface="Cambria Math"/>
                <a:ea typeface="Cambria Math"/>
              </a:rPr>
              <a:t> x</a:t>
            </a:r>
            <a:r>
              <a:rPr sz="1800" b="0" i="0" baseline="-25000">
                <a:solidFill>
                  <a:srgbClr val="1D2B3A"/>
                </a:solidFill>
                <a:latin typeface="Cambria Math"/>
                <a:ea typeface="Cambria Math"/>
              </a:rPr>
              <a:t>n</a:t>
            </a:r>
            <a:r>
              <a:rPr sz="1800" b="0" i="0">
                <a:solidFill>
                  <a:srgbClr val="1D2B3A"/>
                </a:solidFill>
                <a:latin typeface="Cambria Math"/>
                <a:ea typeface="Cambria Math"/>
              </a:rPr>
              <a:t> = L</a:t>
            </a:r>
            <a:r>
              <a:rPr sz="1800" b="0" i="0">
                <a:solidFill>
                  <a:srgbClr val="1D2B3A"/>
                </a:solidFill>
                <a:latin typeface="Microsoft YaHei"/>
                <a:ea typeface="Microsoft YaHei"/>
              </a:rPr>
              <a:t>，其中 </a:t>
            </a:r>
            <a:r>
              <a:rPr sz="1800" b="0" i="0">
                <a:solidFill>
                  <a:srgbClr val="1D2B3A"/>
                </a:solidFill>
                <a:latin typeface="Cambria Math"/>
                <a:ea typeface="Cambria Math"/>
              </a:rPr>
              <a:t>L ≥ 0</a:t>
            </a:r>
            <a:r>
              <a:rPr sz="1800" b="0" i="0">
                <a:solidFill>
                  <a:srgbClr val="1D2B3A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6455664"/>
            <a:ext cx="10817352" cy="7315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51967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483"/>
                </a:solidFill>
                <a:latin typeface="Microsoft YaHei"/>
                <a:ea typeface="Microsoft YaHei"/>
              </a:rPr>
              <a:t>递推数列的极限  ·  解题过程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483"/>
                </a:solidFill>
                <a:latin typeface="Microsoft YaHei"/>
                <a:ea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01752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963E"/>
                </a:solidFill>
                <a:latin typeface="Microsoft YaHei"/>
                <a:ea typeface="Microsoft YaHei"/>
              </a:rPr>
              <a:t>STEP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76072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Microsoft YaHei"/>
                <a:ea typeface="Microsoft YaHei"/>
              </a:rPr>
              <a:t>第二步｜求出极限值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25296"/>
            <a:ext cx="10817352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07008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572768"/>
            <a:ext cx="10104120" cy="13533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81051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Microsoft YaHei"/>
                <a:ea typeface="Microsoft YaHei"/>
              </a:rPr>
              <a:t>在递推式两边取极限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167128"/>
            <a:ext cx="955548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02A43"/>
                </a:solidFill>
                <a:latin typeface="Cambria Math"/>
                <a:ea typeface="Cambria Math"/>
              </a:rPr>
              <a:t>L = ln(1 + L)   ⇔   e</a:t>
            </a:r>
            <a:r>
              <a:rPr sz="3100" b="1" i="0" baseline="30000">
                <a:solidFill>
                  <a:srgbClr val="102A43"/>
                </a:solidFill>
                <a:latin typeface="Cambria Math"/>
                <a:ea typeface="Cambria Math"/>
              </a:rPr>
              <a:t>L</a:t>
            </a:r>
            <a:r>
              <a:rPr sz="3100" b="1" i="0">
                <a:solidFill>
                  <a:srgbClr val="102A43"/>
                </a:solidFill>
                <a:latin typeface="Cambria Math"/>
                <a:ea typeface="Cambria Math"/>
              </a:rPr>
              <a:t> = 1 + 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246120"/>
            <a:ext cx="521208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456432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5E5D"/>
                </a:solidFill>
                <a:latin typeface="Microsoft YaHei"/>
                <a:ea typeface="Microsoft YaHei"/>
              </a:rPr>
              <a:t>若 </a:t>
            </a:r>
            <a:r>
              <a:rPr sz="1500" b="1" i="0">
                <a:solidFill>
                  <a:srgbClr val="0A5E5D"/>
                </a:solidFill>
                <a:latin typeface="Cambria Math"/>
                <a:ea typeface="Cambria Math"/>
              </a:rPr>
              <a:t>L &gt;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822191"/>
            <a:ext cx="4709160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D2B3A"/>
                </a:solidFill>
                <a:latin typeface="Microsoft YaHei"/>
                <a:ea typeface="Microsoft YaHei"/>
              </a:rPr>
              <a:t>由 </a:t>
            </a:r>
            <a:r>
              <a:rPr sz="1650" b="0" i="0">
                <a:solidFill>
                  <a:srgbClr val="1D2B3A"/>
                </a:solidFill>
                <a:latin typeface="Cambria Math"/>
                <a:ea typeface="Cambria Math"/>
              </a:rPr>
              <a:t>ln(1+L) &lt; L</a:t>
            </a:r>
            <a:r>
              <a:rPr sz="1650" b="0" i="0">
                <a:solidFill>
                  <a:srgbClr val="1D2B3A"/>
                </a:solidFill>
                <a:latin typeface="Microsoft YaHei"/>
                <a:ea typeface="Microsoft YaHei"/>
              </a:rPr>
              <a:t>，得 </a:t>
            </a:r>
            <a:r>
              <a:rPr sz="1650" b="0" i="0">
                <a:solidFill>
                  <a:srgbClr val="1D2B3A"/>
                </a:solidFill>
                <a:latin typeface="Cambria Math"/>
                <a:ea typeface="Cambria Math"/>
              </a:rPr>
              <a:t>L = ln(1+L) &lt; L</a:t>
            </a:r>
            <a:r>
              <a:rPr sz="1650" b="0" i="0">
                <a:solidFill>
                  <a:srgbClr val="1D2B3A"/>
                </a:solidFill>
                <a:latin typeface="Microsoft YaHei"/>
                <a:ea typeface="Microsoft YaHei"/>
              </a:rPr>
              <a:t>，矛盾。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246120"/>
            <a:ext cx="521208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456432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5E5D"/>
                </a:solidFill>
                <a:latin typeface="Microsoft YaHei"/>
                <a:ea typeface="Microsoft YaHei"/>
              </a:rPr>
              <a:t>又 </a:t>
            </a:r>
            <a:r>
              <a:rPr sz="1500" b="1" i="0">
                <a:solidFill>
                  <a:srgbClr val="0A5E5D"/>
                </a:solidFill>
                <a:latin typeface="Cambria Math"/>
                <a:ea typeface="Cambria Math"/>
              </a:rPr>
              <a:t>L ≥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822191"/>
            <a:ext cx="4709160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D2B3A"/>
                </a:solidFill>
                <a:latin typeface="Microsoft YaHei"/>
                <a:ea typeface="Microsoft YaHei"/>
              </a:rPr>
              <a:t>方程 </a:t>
            </a:r>
            <a:r>
              <a:rPr sz="1650" b="0" i="0">
                <a:solidFill>
                  <a:srgbClr val="1D2B3A"/>
                </a:solidFill>
                <a:latin typeface="Cambria Math"/>
                <a:ea typeface="Cambria Math"/>
              </a:rPr>
              <a:t>e</a:t>
            </a:r>
            <a:r>
              <a:rPr sz="1650" b="0" i="0" baseline="30000">
                <a:solidFill>
                  <a:srgbClr val="1D2B3A"/>
                </a:solidFill>
                <a:latin typeface="Cambria Math"/>
                <a:ea typeface="Cambria Math"/>
              </a:rPr>
              <a:t>L</a:t>
            </a:r>
            <a:r>
              <a:rPr sz="1650" b="0" i="0">
                <a:solidFill>
                  <a:srgbClr val="1D2B3A"/>
                </a:solidFill>
                <a:latin typeface="Cambria Math"/>
                <a:ea typeface="Cambria Math"/>
              </a:rPr>
              <a:t> = 1+L</a:t>
            </a:r>
            <a:r>
              <a:rPr sz="1650" b="0" i="0">
                <a:solidFill>
                  <a:srgbClr val="1D2B3A"/>
                </a:solidFill>
                <a:latin typeface="Microsoft YaHei"/>
                <a:ea typeface="Microsoft YaHei"/>
              </a:rPr>
              <a:t> 唯一的非负解是 </a:t>
            </a:r>
            <a:r>
              <a:rPr sz="1650" b="0" i="0">
                <a:solidFill>
                  <a:srgbClr val="1D2B3A"/>
                </a:solidFill>
                <a:latin typeface="Cambria Math"/>
                <a:ea typeface="Cambria Math"/>
              </a:rPr>
              <a:t>L=0</a:t>
            </a:r>
            <a:r>
              <a:rPr sz="1650" b="0" i="0">
                <a:solidFill>
                  <a:srgbClr val="1D2B3A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074920"/>
            <a:ext cx="10817352" cy="96012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39512"/>
            <a:ext cx="10378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Microsoft YaHei"/>
                <a:ea typeface="Microsoft YaHei"/>
              </a:rPr>
              <a:t>所以   </a:t>
            </a:r>
            <a:r>
              <a:rPr sz="2900" b="1" i="0">
                <a:solidFill>
                  <a:srgbClr val="FFFFFF"/>
                </a:solidFill>
                <a:latin typeface="Cambria Math"/>
                <a:ea typeface="Cambria Math"/>
              </a:rPr>
              <a:t>lim</a:t>
            </a:r>
            <a:r>
              <a:rPr sz="2900" b="1" i="0" baseline="-25000">
                <a:solidFill>
                  <a:srgbClr val="FFFFFF"/>
                </a:solidFill>
                <a:latin typeface="Cambria Math"/>
                <a:ea typeface="Cambria Math"/>
              </a:rPr>
              <a:t>n→∞</a:t>
            </a:r>
            <a:r>
              <a:rPr sz="2900" b="1" i="0">
                <a:solidFill>
                  <a:srgbClr val="FFFFFF"/>
                </a:solidFill>
                <a:latin typeface="Cambria Math"/>
                <a:ea typeface="Cambria Math"/>
              </a:rPr>
              <a:t> x</a:t>
            </a:r>
            <a:r>
              <a:rPr sz="2900" b="1" i="0" baseline="-25000">
                <a:solidFill>
                  <a:srgbClr val="FFFFFF"/>
                </a:solidFill>
                <a:latin typeface="Cambria Math"/>
                <a:ea typeface="Cambria Math"/>
              </a:rPr>
              <a:t>n</a:t>
            </a:r>
            <a:r>
              <a:rPr sz="2900" b="1" i="0">
                <a:solidFill>
                  <a:srgbClr val="FFFFFF"/>
                </a:solidFill>
                <a:latin typeface="Cambria Math"/>
                <a:ea typeface="Cambria Math"/>
              </a:rPr>
              <a:t> =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455664"/>
            <a:ext cx="10817352" cy="7315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51967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483"/>
                </a:solidFill>
                <a:latin typeface="Microsoft YaHei"/>
                <a:ea typeface="Microsoft YaHei"/>
              </a:rPr>
              <a:t>递推数列的极限  ·  解题过程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483"/>
                </a:solidFill>
                <a:latin typeface="Microsoft YaHei"/>
                <a:ea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01752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963E"/>
                </a:solidFill>
                <a:latin typeface="Microsoft YaHei"/>
                <a:ea typeface="Microsoft YaHei"/>
              </a:rPr>
              <a:t>STEP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76072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Microsoft YaHei"/>
                <a:ea typeface="Microsoft YaHei"/>
              </a:rPr>
              <a:t>第三步｜研究倒数数列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25296"/>
            <a:ext cx="10817352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07008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D2B3A"/>
                </a:solidFill>
                <a:latin typeface="Microsoft YaHei"/>
                <a:ea typeface="Microsoft YaHei"/>
              </a:rPr>
              <a:t>令 </a:t>
            </a:r>
            <a:r>
              <a:rPr sz="2000" b="0" i="0">
                <a:solidFill>
                  <a:srgbClr val="1D2B3A"/>
                </a:solidFill>
                <a:latin typeface="Cambria Math"/>
                <a:ea typeface="Cambria Math"/>
              </a:rPr>
              <a:t>y</a:t>
            </a:r>
            <a:r>
              <a:rPr sz="2000" b="0" i="0" baseline="-25000">
                <a:solidFill>
                  <a:srgbClr val="1D2B3A"/>
                </a:solidFill>
                <a:latin typeface="Cambria Math"/>
                <a:ea typeface="Cambria Math"/>
              </a:rPr>
              <a:t>n</a:t>
            </a:r>
            <a:r>
              <a:rPr sz="2000" b="0" i="0">
                <a:solidFill>
                  <a:srgbClr val="1D2B3A"/>
                </a:solidFill>
                <a:latin typeface="Cambria Math"/>
                <a:ea typeface="Cambria Math"/>
              </a:rPr>
              <a:t> = 1/x</a:t>
            </a:r>
            <a:r>
              <a:rPr sz="2000" b="0" i="0" baseline="-25000">
                <a:solidFill>
                  <a:srgbClr val="1D2B3A"/>
                </a:solidFill>
                <a:latin typeface="Cambria Math"/>
                <a:ea typeface="Cambria Math"/>
              </a:rPr>
              <a:t>n</a:t>
            </a:r>
            <a:r>
              <a:rPr sz="2000" b="0" i="0">
                <a:solidFill>
                  <a:srgbClr val="1D2B3A"/>
                </a:solidFill>
                <a:latin typeface="Microsoft YaHei"/>
                <a:ea typeface="Microsoft YaHei"/>
              </a:rPr>
              <a:t>。由 </a:t>
            </a:r>
            <a:r>
              <a:rPr sz="2000" b="0" i="0">
                <a:solidFill>
                  <a:srgbClr val="1D2B3A"/>
                </a:solidFill>
                <a:latin typeface="Cambria Math"/>
                <a:ea typeface="Cambria Math"/>
              </a:rPr>
              <a:t>x</a:t>
            </a:r>
            <a:r>
              <a:rPr sz="2000" b="0" i="0" baseline="-25000">
                <a:solidFill>
                  <a:srgbClr val="1D2B3A"/>
                </a:solidFill>
                <a:latin typeface="Cambria Math"/>
                <a:ea typeface="Cambria Math"/>
              </a:rPr>
              <a:t>n</a:t>
            </a:r>
            <a:r>
              <a:rPr sz="2000" b="0" i="0">
                <a:solidFill>
                  <a:srgbClr val="1D2B3A"/>
                </a:solidFill>
                <a:latin typeface="Cambria Math"/>
                <a:ea typeface="Cambria Math"/>
              </a:rPr>
              <a:t> → 0</a:t>
            </a:r>
            <a:r>
              <a:rPr sz="2000" b="0" i="0" baseline="30000">
                <a:solidFill>
                  <a:srgbClr val="1D2B3A"/>
                </a:solidFill>
                <a:latin typeface="Cambria Math"/>
                <a:ea typeface="Cambria Math"/>
              </a:rPr>
              <a:t>+</a:t>
            </a:r>
            <a:r>
              <a:rPr sz="2000" b="0" i="0">
                <a:solidFill>
                  <a:srgbClr val="1D2B3A"/>
                </a:solidFill>
                <a:latin typeface="Microsoft YaHei"/>
                <a:ea typeface="Microsoft YaHei"/>
              </a:rPr>
              <a:t>，可知 </a:t>
            </a:r>
            <a:r>
              <a:rPr sz="2000" b="0" i="0">
                <a:solidFill>
                  <a:srgbClr val="1D2B3A"/>
                </a:solidFill>
                <a:latin typeface="Cambria Math"/>
                <a:ea typeface="Cambria Math"/>
              </a:rPr>
              <a:t>y</a:t>
            </a:r>
            <a:r>
              <a:rPr sz="2000" b="0" i="0" baseline="-25000">
                <a:solidFill>
                  <a:srgbClr val="1D2B3A"/>
                </a:solidFill>
                <a:latin typeface="Cambria Math"/>
                <a:ea typeface="Cambria Math"/>
              </a:rPr>
              <a:t>n</a:t>
            </a:r>
            <a:r>
              <a:rPr sz="2000" b="0" i="0">
                <a:solidFill>
                  <a:srgbClr val="1D2B3A"/>
                </a:solidFill>
                <a:latin typeface="Cambria Math"/>
                <a:ea typeface="Cambria Math"/>
              </a:rPr>
              <a:t> → +∞</a:t>
            </a:r>
            <a:r>
              <a:rPr sz="2000" b="0" i="0">
                <a:solidFill>
                  <a:srgbClr val="1D2B3A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47672"/>
            <a:ext cx="1081735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39696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C7B"/>
                </a:solidFill>
                <a:latin typeface="Microsoft YaHei"/>
                <a:ea typeface="Microsoft YaHei"/>
              </a:rPr>
              <a:t>相邻两项之差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68880"/>
            <a:ext cx="102870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02A43"/>
                </a:solidFill>
                <a:latin typeface="Cambria Math"/>
                <a:ea typeface="Cambria Math"/>
              </a:rPr>
              <a:t>y</a:t>
            </a:r>
            <a:r>
              <a:rPr sz="240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n+1</a:t>
            </a:r>
            <a:r>
              <a:rPr sz="2400" b="1" i="0">
                <a:solidFill>
                  <a:srgbClr val="102A43"/>
                </a:solidFill>
                <a:latin typeface="Cambria Math"/>
                <a:ea typeface="Cambria Math"/>
              </a:rPr>
              <a:t> − y</a:t>
            </a:r>
            <a:r>
              <a:rPr sz="240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</a:t>
            </a:r>
            <a:r>
              <a:rPr sz="2400" b="1" i="0">
                <a:solidFill>
                  <a:srgbClr val="102A43"/>
                </a:solidFill>
                <a:latin typeface="Cambria Math"/>
                <a:ea typeface="Cambria Math"/>
              </a:rPr>
              <a:t> = 1/x</a:t>
            </a:r>
            <a:r>
              <a:rPr sz="240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n+1</a:t>
            </a:r>
            <a:r>
              <a:rPr sz="2400" b="1" i="0">
                <a:solidFill>
                  <a:srgbClr val="102A43"/>
                </a:solidFill>
                <a:latin typeface="Cambria Math"/>
                <a:ea typeface="Cambria Math"/>
              </a:rPr>
              <a:t> − 1/x</a:t>
            </a:r>
            <a:r>
              <a:rPr sz="240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</a:t>
            </a:r>
            <a:r>
              <a:rPr sz="2400" b="1" i="0">
                <a:solidFill>
                  <a:srgbClr val="102A43"/>
                </a:solidFill>
                <a:latin typeface="Cambria Math"/>
                <a:ea typeface="Cambria Math"/>
              </a:rPr>
              <a:t> = [x</a:t>
            </a:r>
            <a:r>
              <a:rPr sz="240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</a:t>
            </a:r>
            <a:r>
              <a:rPr sz="2400" b="1" i="0">
                <a:solidFill>
                  <a:srgbClr val="102A43"/>
                </a:solidFill>
                <a:latin typeface="Cambria Math"/>
                <a:ea typeface="Cambria Math"/>
              </a:rPr>
              <a:t> − ln(1+x</a:t>
            </a:r>
            <a:r>
              <a:rPr sz="240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</a:t>
            </a:r>
            <a:r>
              <a:rPr sz="2400" b="1" i="0">
                <a:solidFill>
                  <a:srgbClr val="102A43"/>
                </a:solidFill>
                <a:latin typeface="Cambria Math"/>
                <a:ea typeface="Cambria Math"/>
              </a:rPr>
              <a:t>)] / [x</a:t>
            </a:r>
            <a:r>
              <a:rPr sz="240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</a:t>
            </a:r>
            <a:r>
              <a:rPr sz="2400" b="1" i="0">
                <a:solidFill>
                  <a:srgbClr val="102A43"/>
                </a:solidFill>
                <a:latin typeface="Cambria Math"/>
                <a:ea typeface="Cambria Math"/>
              </a:rPr>
              <a:t> ln(1+x</a:t>
            </a:r>
            <a:r>
              <a:rPr sz="240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</a:t>
            </a:r>
            <a:r>
              <a:rPr sz="2400" b="1" i="0">
                <a:solidFill>
                  <a:srgbClr val="102A43"/>
                </a:solidFill>
                <a:latin typeface="Cambria Math"/>
                <a:ea typeface="Cambria Math"/>
              </a:rPr>
              <a:t>)]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39312"/>
            <a:ext cx="1081735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822191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C7B"/>
                </a:solidFill>
                <a:latin typeface="Microsoft YaHei"/>
                <a:ea typeface="Microsoft YaHei"/>
              </a:rPr>
              <a:t>在 0 附近作 Taylor 展开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169663"/>
            <a:ext cx="102870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02A43"/>
                </a:solidFill>
                <a:latin typeface="Cambria Math"/>
                <a:ea typeface="Cambria Math"/>
              </a:rPr>
              <a:t>ln(1+t) = t − t</a:t>
            </a:r>
            <a:r>
              <a:rPr sz="2400" b="1" i="0" baseline="30000">
                <a:solidFill>
                  <a:srgbClr val="102A43"/>
                </a:solidFill>
                <a:latin typeface="Cambria Math"/>
                <a:ea typeface="Cambria Math"/>
              </a:rPr>
              <a:t>2</a:t>
            </a:r>
            <a:r>
              <a:rPr sz="2400" b="1" i="0">
                <a:solidFill>
                  <a:srgbClr val="102A43"/>
                </a:solidFill>
                <a:latin typeface="Cambria Math"/>
                <a:ea typeface="Cambria Math"/>
              </a:rPr>
              <a:t>/2 + t</a:t>
            </a:r>
            <a:r>
              <a:rPr sz="2400" b="1" i="0" baseline="30000">
                <a:solidFill>
                  <a:srgbClr val="102A43"/>
                </a:solidFill>
                <a:latin typeface="Cambria Math"/>
                <a:ea typeface="Cambria Math"/>
              </a:rPr>
              <a:t>3</a:t>
            </a:r>
            <a:r>
              <a:rPr sz="2400" b="1" i="0">
                <a:solidFill>
                  <a:srgbClr val="102A43"/>
                </a:solidFill>
                <a:latin typeface="Cambria Math"/>
                <a:ea typeface="Cambria Math"/>
              </a:rPr>
              <a:t>/3 + O(t</a:t>
            </a:r>
            <a:r>
              <a:rPr sz="2400" b="1" i="0" baseline="30000">
                <a:solidFill>
                  <a:srgbClr val="102A43"/>
                </a:solidFill>
                <a:latin typeface="Cambria Math"/>
                <a:ea typeface="Cambria Math"/>
              </a:rPr>
              <a:t>4</a:t>
            </a:r>
            <a:r>
              <a:rPr sz="2400" b="1" i="0">
                <a:solidFill>
                  <a:srgbClr val="102A43"/>
                </a:solidFill>
                <a:latin typeface="Cambria Math"/>
                <a:ea typeface="Cambria Math"/>
              </a:rPr>
              <a:t>),   t →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4406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483"/>
                </a:solidFill>
                <a:latin typeface="Microsoft YaHei"/>
                <a:ea typeface="Microsoft YaHei"/>
              </a:rPr>
              <a:t>这一步把 </a:t>
            </a:r>
            <a:r>
              <a:rPr sz="1600" b="0" i="0">
                <a:solidFill>
                  <a:srgbClr val="657483"/>
                </a:solidFill>
                <a:latin typeface="Cambria Math"/>
                <a:ea typeface="Cambria Math"/>
              </a:rPr>
              <a:t>x</a:t>
            </a:r>
            <a:r>
              <a:rPr sz="1600" b="0" i="0" baseline="-25000">
                <a:solidFill>
                  <a:srgbClr val="657483"/>
                </a:solidFill>
                <a:latin typeface="Cambria Math"/>
                <a:ea typeface="Cambria Math"/>
              </a:rPr>
              <a:t>n</a:t>
            </a:r>
            <a:r>
              <a:rPr sz="1600" b="0" i="0">
                <a:solidFill>
                  <a:srgbClr val="657483"/>
                </a:solidFill>
                <a:latin typeface="Microsoft YaHei"/>
                <a:ea typeface="Microsoft YaHei"/>
              </a:rPr>
              <a:t> 的二次小量，转化为 </a:t>
            </a:r>
            <a:r>
              <a:rPr sz="1600" b="0" i="0">
                <a:solidFill>
                  <a:srgbClr val="657483"/>
                </a:solidFill>
                <a:latin typeface="Cambria Math"/>
                <a:ea typeface="Cambria Math"/>
              </a:rPr>
              <a:t>y</a:t>
            </a:r>
            <a:r>
              <a:rPr sz="1600" b="0" i="0" baseline="-25000">
                <a:solidFill>
                  <a:srgbClr val="657483"/>
                </a:solidFill>
                <a:latin typeface="Cambria Math"/>
                <a:ea typeface="Cambria Math"/>
              </a:rPr>
              <a:t>n</a:t>
            </a:r>
            <a:r>
              <a:rPr sz="1600" b="0" i="0">
                <a:solidFill>
                  <a:srgbClr val="657483"/>
                </a:solidFill>
                <a:latin typeface="Microsoft YaHei"/>
                <a:ea typeface="Microsoft YaHei"/>
              </a:rPr>
              <a:t> 的线性增量。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6455664"/>
            <a:ext cx="10817352" cy="7315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1967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483"/>
                </a:solidFill>
                <a:latin typeface="Microsoft YaHei"/>
                <a:ea typeface="Microsoft YaHei"/>
              </a:rPr>
              <a:t>递推数列的极限  ·  解题过程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483"/>
                </a:solidFill>
                <a:latin typeface="Microsoft YaHei"/>
                <a:ea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01752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963E"/>
                </a:solidFill>
                <a:latin typeface="Microsoft YaHei"/>
                <a:ea typeface="Microsoft YaHei"/>
              </a:rPr>
              <a:t>STEP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76072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Microsoft YaHei"/>
                <a:ea typeface="Microsoft YaHei"/>
              </a:rPr>
              <a:t>第四步｜计算差值的极限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25296"/>
            <a:ext cx="10817352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07008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99616"/>
            <a:ext cx="5266944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7C7B"/>
                </a:solidFill>
                <a:latin typeface="Microsoft YaHei"/>
                <a:ea typeface="Microsoft YaHei"/>
              </a:rPr>
              <a:t>分子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02A43"/>
                </a:solidFill>
                <a:latin typeface="Cambria Math"/>
                <a:ea typeface="Cambria Math"/>
              </a:rPr>
              <a:t>x</a:t>
            </a:r>
            <a:r>
              <a:rPr sz="165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</a:t>
            </a:r>
            <a:r>
              <a:rPr sz="1650" b="1" i="0">
                <a:solidFill>
                  <a:srgbClr val="102A43"/>
                </a:solidFill>
                <a:latin typeface="Cambria Math"/>
                <a:ea typeface="Cambria Math"/>
              </a:rPr>
              <a:t> − ln(1+x</a:t>
            </a:r>
            <a:r>
              <a:rPr sz="165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</a:t>
            </a:r>
            <a:r>
              <a:rPr sz="1650" b="1" i="0">
                <a:solidFill>
                  <a:srgbClr val="102A43"/>
                </a:solidFill>
                <a:latin typeface="Cambria Math"/>
                <a:ea typeface="Cambria Math"/>
              </a:rPr>
              <a:t>) = x</a:t>
            </a:r>
            <a:r>
              <a:rPr sz="165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</a:t>
            </a:r>
            <a:r>
              <a:rPr sz="1650" b="1" i="0" baseline="30000">
                <a:solidFill>
                  <a:srgbClr val="102A43"/>
                </a:solidFill>
                <a:latin typeface="Cambria Math"/>
                <a:ea typeface="Cambria Math"/>
              </a:rPr>
              <a:t>2</a:t>
            </a:r>
            <a:r>
              <a:rPr sz="1650" b="1" i="0">
                <a:solidFill>
                  <a:srgbClr val="102A43"/>
                </a:solidFill>
                <a:latin typeface="Cambria Math"/>
                <a:ea typeface="Cambria Math"/>
              </a:rPr>
              <a:t>/2 − x</a:t>
            </a:r>
            <a:r>
              <a:rPr sz="165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</a:t>
            </a:r>
            <a:r>
              <a:rPr sz="1650" b="1" i="0" baseline="30000">
                <a:solidFill>
                  <a:srgbClr val="102A43"/>
                </a:solidFill>
                <a:latin typeface="Cambria Math"/>
                <a:ea typeface="Cambria Math"/>
              </a:rPr>
              <a:t>3</a:t>
            </a:r>
            <a:r>
              <a:rPr sz="1650" b="1" i="0">
                <a:solidFill>
                  <a:srgbClr val="102A43"/>
                </a:solidFill>
                <a:latin typeface="Cambria Math"/>
                <a:ea typeface="Cambria Math"/>
              </a:rPr>
              <a:t>/3 + O(x</a:t>
            </a:r>
            <a:r>
              <a:rPr sz="165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</a:t>
            </a:r>
            <a:r>
              <a:rPr sz="1650" b="1" i="0" baseline="30000">
                <a:solidFill>
                  <a:srgbClr val="102A43"/>
                </a:solidFill>
                <a:latin typeface="Cambria Math"/>
                <a:ea typeface="Cambria Math"/>
              </a:rPr>
              <a:t>4</a:t>
            </a:r>
            <a:r>
              <a:rPr sz="1650" b="1" i="0">
                <a:solidFill>
                  <a:srgbClr val="102A43"/>
                </a:solidFill>
                <a:latin typeface="Cambria Math"/>
                <a:ea typeface="Cambria Math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499616"/>
            <a:ext cx="5266944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6642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7C7B"/>
                </a:solidFill>
                <a:latin typeface="Microsoft YaHei"/>
                <a:ea typeface="Microsoft YaHei"/>
              </a:rPr>
              <a:t>分母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1938528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02A43"/>
                </a:solidFill>
                <a:latin typeface="Cambria Math"/>
                <a:ea typeface="Cambria Math"/>
              </a:rPr>
              <a:t>x</a:t>
            </a:r>
            <a:r>
              <a:rPr sz="165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</a:t>
            </a:r>
            <a:r>
              <a:rPr sz="1650" b="1" i="0">
                <a:solidFill>
                  <a:srgbClr val="102A43"/>
                </a:solidFill>
                <a:latin typeface="Cambria Math"/>
                <a:ea typeface="Cambria Math"/>
              </a:rPr>
              <a:t> ln(1+x</a:t>
            </a:r>
            <a:r>
              <a:rPr sz="165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</a:t>
            </a:r>
            <a:r>
              <a:rPr sz="1650" b="1" i="0">
                <a:solidFill>
                  <a:srgbClr val="102A43"/>
                </a:solidFill>
                <a:latin typeface="Cambria Math"/>
                <a:ea typeface="Cambria Math"/>
              </a:rPr>
              <a:t>) = x</a:t>
            </a:r>
            <a:r>
              <a:rPr sz="165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</a:t>
            </a:r>
            <a:r>
              <a:rPr sz="1650" b="1" i="0" baseline="30000">
                <a:solidFill>
                  <a:srgbClr val="102A43"/>
                </a:solidFill>
                <a:latin typeface="Cambria Math"/>
                <a:ea typeface="Cambria Math"/>
              </a:rPr>
              <a:t>2</a:t>
            </a:r>
            <a:r>
              <a:rPr sz="1650" b="1" i="0">
                <a:solidFill>
                  <a:srgbClr val="102A43"/>
                </a:solidFill>
                <a:latin typeface="Cambria Math"/>
                <a:ea typeface="Cambria Math"/>
              </a:rPr>
              <a:t> − x</a:t>
            </a:r>
            <a:r>
              <a:rPr sz="165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</a:t>
            </a:r>
            <a:r>
              <a:rPr sz="1650" b="1" i="0" baseline="30000">
                <a:solidFill>
                  <a:srgbClr val="102A43"/>
                </a:solidFill>
                <a:latin typeface="Cambria Math"/>
                <a:ea typeface="Cambria Math"/>
              </a:rPr>
              <a:t>3</a:t>
            </a:r>
            <a:r>
              <a:rPr sz="1650" b="1" i="0">
                <a:solidFill>
                  <a:srgbClr val="102A43"/>
                </a:solidFill>
                <a:latin typeface="Cambria Math"/>
                <a:ea typeface="Cambria Math"/>
              </a:rPr>
              <a:t>/2 + O(x</a:t>
            </a:r>
            <a:r>
              <a:rPr sz="165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</a:t>
            </a:r>
            <a:r>
              <a:rPr sz="1650" b="1" i="0" baseline="30000">
                <a:solidFill>
                  <a:srgbClr val="102A43"/>
                </a:solidFill>
                <a:latin typeface="Cambria Math"/>
                <a:ea typeface="Cambria Math"/>
              </a:rPr>
              <a:t>4</a:t>
            </a:r>
            <a:r>
              <a:rPr sz="1650" b="1" i="0">
                <a:solidFill>
                  <a:srgbClr val="102A43"/>
                </a:solidFill>
                <a:latin typeface="Cambria Math"/>
                <a:ea typeface="Cambria Math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44368"/>
            <a:ext cx="10817352" cy="2066543"/>
          </a:xfrm>
          <a:prstGeom prst="roundRect">
            <a:avLst>
              <a:gd name="adj" fmla="val 7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136392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963E"/>
                </a:solidFill>
                <a:latin typeface="Microsoft YaHei"/>
                <a:ea typeface="Microsoft YaHei"/>
              </a:rPr>
              <a:t>代入并化简约去 </a:t>
            </a:r>
            <a:r>
              <a:rPr sz="1050" b="1" i="0">
                <a:solidFill>
                  <a:srgbClr val="C6963E"/>
                </a:solidFill>
                <a:latin typeface="Cambria Math"/>
                <a:ea typeface="Cambria Math"/>
              </a:rPr>
              <a:t>x</a:t>
            </a:r>
            <a:r>
              <a:rPr sz="1050" b="1" i="0" baseline="-25000">
                <a:solidFill>
                  <a:srgbClr val="C6963E"/>
                </a:solidFill>
                <a:latin typeface="Cambria Math"/>
                <a:ea typeface="Cambria Math"/>
              </a:rPr>
              <a:t>n</a:t>
            </a:r>
            <a:r>
              <a:rPr sz="1050" b="1" i="0" baseline="30000">
                <a:solidFill>
                  <a:srgbClr val="C6963E"/>
                </a:solidFill>
                <a:latin typeface="Cambria Math"/>
                <a:ea typeface="Cambria Math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02152"/>
            <a:ext cx="1024128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mbria Math"/>
                <a:ea typeface="Cambria Math"/>
              </a:rPr>
              <a:t>y</a:t>
            </a:r>
            <a:r>
              <a:rPr sz="2400" b="1" i="0" baseline="-25000">
                <a:solidFill>
                  <a:srgbClr val="FFFFFF"/>
                </a:solidFill>
                <a:latin typeface="Cambria Math"/>
                <a:ea typeface="Cambria Math"/>
              </a:rPr>
              <a:t>n+1</a:t>
            </a:r>
            <a:r>
              <a:rPr sz="2400" b="1" i="0">
                <a:solidFill>
                  <a:srgbClr val="FFFFFF"/>
                </a:solidFill>
                <a:latin typeface="Cambria Math"/>
                <a:ea typeface="Cambria Math"/>
              </a:rPr>
              <a:t> − y</a:t>
            </a:r>
            <a:r>
              <a:rPr sz="2400" b="1" i="0" baseline="-25000">
                <a:solidFill>
                  <a:srgbClr val="FFFFFF"/>
                </a:solidFill>
                <a:latin typeface="Cambria Math"/>
                <a:ea typeface="Cambria Math"/>
              </a:rPr>
              <a:t>n</a:t>
            </a:r>
            <a:r>
              <a:rPr sz="2400" b="1" i="0">
                <a:solidFill>
                  <a:srgbClr val="FFFFFF"/>
                </a:solidFill>
                <a:latin typeface="Cambria Math"/>
                <a:ea typeface="Cambria Math"/>
              </a:rPr>
              <a:t> = [1/2 − x</a:t>
            </a:r>
            <a:r>
              <a:rPr sz="2400" b="1" i="0" baseline="-25000">
                <a:solidFill>
                  <a:srgbClr val="FFFFFF"/>
                </a:solidFill>
                <a:latin typeface="Cambria Math"/>
                <a:ea typeface="Cambria Math"/>
              </a:rPr>
              <a:t>n</a:t>
            </a:r>
            <a:r>
              <a:rPr sz="2400" b="1" i="0">
                <a:solidFill>
                  <a:srgbClr val="FFFFFF"/>
                </a:solidFill>
                <a:latin typeface="Cambria Math"/>
                <a:ea typeface="Cambria Math"/>
              </a:rPr>
              <a:t>/3 + O(x</a:t>
            </a:r>
            <a:r>
              <a:rPr sz="2400" b="1" i="0" baseline="-25000">
                <a:solidFill>
                  <a:srgbClr val="FFFFFF"/>
                </a:solidFill>
                <a:latin typeface="Cambria Math"/>
                <a:ea typeface="Cambria Math"/>
              </a:rPr>
              <a:t>n</a:t>
            </a:r>
            <a:r>
              <a:rPr sz="2400" b="1" i="0" baseline="30000">
                <a:solidFill>
                  <a:srgbClr val="FFFFFF"/>
                </a:solidFill>
                <a:latin typeface="Cambria Math"/>
                <a:ea typeface="Cambria Math"/>
              </a:rPr>
              <a:t>2</a:t>
            </a:r>
            <a:r>
              <a:rPr sz="2400" b="1" i="0">
                <a:solidFill>
                  <a:srgbClr val="FFFFFF"/>
                </a:solidFill>
                <a:latin typeface="Cambria Math"/>
                <a:ea typeface="Cambria Math"/>
              </a:rPr>
              <a:t>)] / [1 − x</a:t>
            </a:r>
            <a:r>
              <a:rPr sz="2400" b="1" i="0" baseline="-25000">
                <a:solidFill>
                  <a:srgbClr val="FFFFFF"/>
                </a:solidFill>
                <a:latin typeface="Cambria Math"/>
                <a:ea typeface="Cambria Math"/>
              </a:rPr>
              <a:t>n</a:t>
            </a:r>
            <a:r>
              <a:rPr sz="2400" b="1" i="0">
                <a:solidFill>
                  <a:srgbClr val="FFFFFF"/>
                </a:solidFill>
                <a:latin typeface="Cambria Math"/>
                <a:ea typeface="Cambria Math"/>
              </a:rPr>
              <a:t>/2 + O(x</a:t>
            </a:r>
            <a:r>
              <a:rPr sz="2400" b="1" i="0" baseline="-25000">
                <a:solidFill>
                  <a:srgbClr val="FFFFFF"/>
                </a:solidFill>
                <a:latin typeface="Cambria Math"/>
                <a:ea typeface="Cambria Math"/>
              </a:rPr>
              <a:t>n</a:t>
            </a:r>
            <a:r>
              <a:rPr sz="2400" b="1" i="0" baseline="30000">
                <a:solidFill>
                  <a:srgbClr val="FFFFFF"/>
                </a:solidFill>
                <a:latin typeface="Cambria Math"/>
                <a:ea typeface="Cambria Math"/>
              </a:rPr>
              <a:t>2</a:t>
            </a:r>
            <a:r>
              <a:rPr sz="2400" b="1" i="0">
                <a:solidFill>
                  <a:srgbClr val="FFFFFF"/>
                </a:solidFill>
                <a:latin typeface="Cambria Math"/>
                <a:ea typeface="Cambria Math"/>
              </a:rPr>
              <a:t>)]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69663"/>
            <a:ext cx="1024128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mbria Math"/>
                <a:ea typeface="Cambria Math"/>
              </a:rPr>
              <a:t>= 1/2 − x</a:t>
            </a:r>
            <a:r>
              <a:rPr sz="2600" b="1" i="0" baseline="-25000">
                <a:solidFill>
                  <a:srgbClr val="FFFFFF"/>
                </a:solidFill>
                <a:latin typeface="Cambria Math"/>
                <a:ea typeface="Cambria Math"/>
              </a:rPr>
              <a:t>n</a:t>
            </a:r>
            <a:r>
              <a:rPr sz="2600" b="1" i="0">
                <a:solidFill>
                  <a:srgbClr val="FFFFFF"/>
                </a:solidFill>
                <a:latin typeface="Cambria Math"/>
                <a:ea typeface="Cambria Math"/>
              </a:rPr>
              <a:t>/12 + O(x</a:t>
            </a:r>
            <a:r>
              <a:rPr sz="2600" b="1" i="0" baseline="-25000">
                <a:solidFill>
                  <a:srgbClr val="FFFFFF"/>
                </a:solidFill>
                <a:latin typeface="Cambria Math"/>
                <a:ea typeface="Cambria Math"/>
              </a:rPr>
              <a:t>n</a:t>
            </a:r>
            <a:r>
              <a:rPr sz="2600" b="1" i="0" baseline="30000">
                <a:solidFill>
                  <a:srgbClr val="FFFFFF"/>
                </a:solidFill>
                <a:latin typeface="Cambria Math"/>
                <a:ea typeface="Cambria Math"/>
              </a:rPr>
              <a:t>2</a:t>
            </a:r>
            <a:r>
              <a:rPr sz="2600" b="1" i="0">
                <a:solidFill>
                  <a:srgbClr val="FFFFFF"/>
                </a:solidFill>
                <a:latin typeface="Cambria Math"/>
                <a:ea typeface="Cambria Math"/>
              </a:rPr>
              <a:t>)  →  1/2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18304"/>
            <a:ext cx="89611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8CBDA"/>
                </a:solidFill>
                <a:latin typeface="Microsoft YaHei"/>
                <a:ea typeface="Microsoft YaHei"/>
              </a:rPr>
              <a:t>因为 </a:t>
            </a:r>
            <a:r>
              <a:rPr sz="1050" b="0" i="0">
                <a:solidFill>
                  <a:srgbClr val="B8CBDA"/>
                </a:solidFill>
                <a:latin typeface="Cambria Math"/>
                <a:ea typeface="Cambria Math"/>
              </a:rPr>
              <a:t>x</a:t>
            </a:r>
            <a:r>
              <a:rPr sz="1050" b="0" i="0" baseline="-25000">
                <a:solidFill>
                  <a:srgbClr val="B8CBDA"/>
                </a:solidFill>
                <a:latin typeface="Cambria Math"/>
                <a:ea typeface="Cambria Math"/>
              </a:rPr>
              <a:t>n</a:t>
            </a:r>
            <a:r>
              <a:rPr sz="1050" b="0" i="0">
                <a:solidFill>
                  <a:srgbClr val="B8CBDA"/>
                </a:solidFill>
                <a:latin typeface="Cambria Math"/>
                <a:ea typeface="Cambria Math"/>
              </a:rPr>
              <a:t> → 0</a:t>
            </a:r>
            <a:r>
              <a:rPr sz="1050" b="0" i="0">
                <a:solidFill>
                  <a:srgbClr val="B8CBDA"/>
                </a:solidFill>
                <a:latin typeface="Microsoft YaHei"/>
                <a:ea typeface="Microsoft YaHei"/>
              </a:rPr>
              <a:t>，所以 </a:t>
            </a:r>
            <a:r>
              <a:rPr sz="1050" b="0" i="0">
                <a:solidFill>
                  <a:srgbClr val="B8CBDA"/>
                </a:solidFill>
                <a:latin typeface="Cambria Math"/>
                <a:ea typeface="Cambria Math"/>
              </a:rPr>
              <a:t>O(x</a:t>
            </a:r>
            <a:r>
              <a:rPr sz="1050" b="0" i="0" baseline="-25000">
                <a:solidFill>
                  <a:srgbClr val="B8CBDA"/>
                </a:solidFill>
                <a:latin typeface="Cambria Math"/>
                <a:ea typeface="Cambria Math"/>
              </a:rPr>
              <a:t>n</a:t>
            </a:r>
            <a:r>
              <a:rPr sz="1050" b="0" i="0" baseline="30000">
                <a:solidFill>
                  <a:srgbClr val="B8CBDA"/>
                </a:solidFill>
                <a:latin typeface="Cambria Math"/>
                <a:ea typeface="Cambria Math"/>
              </a:rPr>
              <a:t>2</a:t>
            </a:r>
            <a:r>
              <a:rPr sz="1050" b="0" i="0">
                <a:solidFill>
                  <a:srgbClr val="B8CBDA"/>
                </a:solidFill>
                <a:latin typeface="Cambria Math"/>
                <a:ea typeface="Cambria Math"/>
              </a:rPr>
              <a:t>) → 0</a:t>
            </a:r>
            <a:r>
              <a:rPr sz="1050" b="0" i="0">
                <a:solidFill>
                  <a:srgbClr val="B8CBDA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3095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A5E5D"/>
                </a:solidFill>
                <a:latin typeface="Microsoft YaHei"/>
                <a:ea typeface="Microsoft YaHei"/>
              </a:rPr>
              <a:t>于是   </a:t>
            </a:r>
            <a:r>
              <a:rPr sz="2100" b="1" i="0">
                <a:solidFill>
                  <a:srgbClr val="0A5E5D"/>
                </a:solidFill>
                <a:latin typeface="Cambria Math"/>
                <a:ea typeface="Cambria Math"/>
              </a:rPr>
              <a:t>lim</a:t>
            </a:r>
            <a:r>
              <a:rPr sz="2100" b="1" i="0" baseline="-25000">
                <a:solidFill>
                  <a:srgbClr val="0A5E5D"/>
                </a:solidFill>
                <a:latin typeface="Cambria Math"/>
                <a:ea typeface="Cambria Math"/>
              </a:rPr>
              <a:t>n→∞</a:t>
            </a:r>
            <a:r>
              <a:rPr sz="2100" b="1" i="0">
                <a:solidFill>
                  <a:srgbClr val="0A5E5D"/>
                </a:solidFill>
                <a:latin typeface="Cambria Math"/>
                <a:ea typeface="Cambria Math"/>
              </a:rPr>
              <a:t> (y</a:t>
            </a:r>
            <a:r>
              <a:rPr sz="2100" b="1" i="0" baseline="-25000">
                <a:solidFill>
                  <a:srgbClr val="0A5E5D"/>
                </a:solidFill>
                <a:latin typeface="Cambria Math"/>
                <a:ea typeface="Cambria Math"/>
              </a:rPr>
              <a:t>n+1</a:t>
            </a:r>
            <a:r>
              <a:rPr sz="2100" b="1" i="0">
                <a:solidFill>
                  <a:srgbClr val="0A5E5D"/>
                </a:solidFill>
                <a:latin typeface="Cambria Math"/>
                <a:ea typeface="Cambria Math"/>
              </a:rPr>
              <a:t> − y</a:t>
            </a:r>
            <a:r>
              <a:rPr sz="2100" b="1" i="0" baseline="-25000">
                <a:solidFill>
                  <a:srgbClr val="0A5E5D"/>
                </a:solidFill>
                <a:latin typeface="Cambria Math"/>
                <a:ea typeface="Cambria Math"/>
              </a:rPr>
              <a:t>n</a:t>
            </a:r>
            <a:r>
              <a:rPr sz="2100" b="1" i="0">
                <a:solidFill>
                  <a:srgbClr val="0A5E5D"/>
                </a:solidFill>
                <a:latin typeface="Cambria Math"/>
                <a:ea typeface="Cambria Math"/>
              </a:rPr>
              <a:t>) = 1/2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6455664"/>
            <a:ext cx="10817352" cy="7315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51967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483"/>
                </a:solidFill>
                <a:latin typeface="Microsoft YaHei"/>
                <a:ea typeface="Microsoft YaHei"/>
              </a:rPr>
              <a:t>递推数列的极限  ·  解题过程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483"/>
                </a:solidFill>
                <a:latin typeface="Microsoft YaHei"/>
                <a:ea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01752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963E"/>
                </a:solidFill>
                <a:latin typeface="Microsoft YaHei"/>
                <a:ea typeface="Microsoft YaHei"/>
              </a:rPr>
              <a:t>STEP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76072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Microsoft YaHei"/>
                <a:ea typeface="Microsoft YaHei"/>
              </a:rPr>
              <a:t>第五步｜应用 Stolz 定理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25296"/>
            <a:ext cx="10817352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07008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17904"/>
            <a:ext cx="4892040" cy="3218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Microsoft YaHei"/>
                <a:ea typeface="Microsoft YaHei"/>
              </a:rPr>
              <a:t>Stolz–Cesàro 定理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57400"/>
            <a:ext cx="566928" cy="36576"/>
          </a:xfrm>
          <a:prstGeom prst="rect">
            <a:avLst/>
          </a:prstGeom>
          <a:solidFill>
            <a:srgbClr val="C6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4315968" cy="2240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D2B3A"/>
                </a:solidFill>
                <a:latin typeface="Microsoft YaHei"/>
                <a:ea typeface="Microsoft YaHei"/>
              </a:rPr>
              <a:t>若 </a:t>
            </a:r>
            <a:r>
              <a:rPr sz="1450" b="0" i="0">
                <a:solidFill>
                  <a:srgbClr val="1D2B3A"/>
                </a:solidFill>
                <a:latin typeface="Cambria Math"/>
                <a:ea typeface="Cambria Math"/>
              </a:rPr>
              <a:t>b</a:t>
            </a:r>
            <a:r>
              <a:rPr sz="1450" b="0" i="0" baseline="-25000">
                <a:solidFill>
                  <a:srgbClr val="1D2B3A"/>
                </a:solidFill>
                <a:latin typeface="Cambria Math"/>
                <a:ea typeface="Cambria Math"/>
              </a:rPr>
              <a:t>n</a:t>
            </a:r>
            <a:r>
              <a:rPr sz="1450" b="0" i="0">
                <a:solidFill>
                  <a:srgbClr val="1D2B3A"/>
                </a:solidFill>
                <a:latin typeface="Microsoft YaHei"/>
                <a:ea typeface="Microsoft YaHei"/>
              </a:rPr>
              <a:t> 严格递增且 </a:t>
            </a:r>
            <a:r>
              <a:rPr sz="1450" b="0" i="0">
                <a:solidFill>
                  <a:srgbClr val="1D2B3A"/>
                </a:solidFill>
                <a:latin typeface="Cambria Math"/>
                <a:ea typeface="Cambria Math"/>
              </a:rPr>
              <a:t>b</a:t>
            </a:r>
            <a:r>
              <a:rPr sz="1450" b="0" i="0" baseline="-25000">
                <a:solidFill>
                  <a:srgbClr val="1D2B3A"/>
                </a:solidFill>
                <a:latin typeface="Cambria Math"/>
                <a:ea typeface="Cambria Math"/>
              </a:rPr>
              <a:t>n</a:t>
            </a:r>
            <a:r>
              <a:rPr sz="1450" b="0" i="0">
                <a:solidFill>
                  <a:srgbClr val="1D2B3A"/>
                </a:solidFill>
                <a:latin typeface="Cambria Math"/>
                <a:ea typeface="Cambria Math"/>
              </a:rPr>
              <a:t> → +∞</a:t>
            </a:r>
            <a:r>
              <a:rPr sz="1450" b="0" i="0">
                <a:solidFill>
                  <a:srgbClr val="1D2B3A"/>
                </a:solidFill>
                <a:latin typeface="Microsoft YaHei"/>
                <a:ea typeface="Microsoft YaHei"/>
              </a:rPr>
              <a:t>，并且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D2B3A"/>
                </a:solidFill>
                <a:latin typeface="Cambria Math"/>
                <a:ea typeface="Cambria Math"/>
              </a:rPr>
              <a:t>lim</a:t>
            </a:r>
            <a:r>
              <a:rPr sz="1450" b="0" i="0" baseline="-25000">
                <a:solidFill>
                  <a:srgbClr val="1D2B3A"/>
                </a:solidFill>
                <a:latin typeface="Cambria Math"/>
                <a:ea typeface="Cambria Math"/>
              </a:rPr>
              <a:t>n→∞</a:t>
            </a:r>
            <a:r>
              <a:rPr sz="1450" b="0" i="0">
                <a:solidFill>
                  <a:srgbClr val="1D2B3A"/>
                </a:solidFill>
                <a:latin typeface="Cambria Math"/>
                <a:ea typeface="Cambria Math"/>
              </a:rPr>
              <a:t> (a</a:t>
            </a:r>
            <a:r>
              <a:rPr sz="1450" b="0" i="0" baseline="-25000">
                <a:solidFill>
                  <a:srgbClr val="1D2B3A"/>
                </a:solidFill>
                <a:latin typeface="Cambria Math"/>
                <a:ea typeface="Cambria Math"/>
              </a:rPr>
              <a:t>n+1</a:t>
            </a:r>
            <a:r>
              <a:rPr sz="1450" b="0" i="0">
                <a:solidFill>
                  <a:srgbClr val="1D2B3A"/>
                </a:solidFill>
                <a:latin typeface="Cambria Math"/>
                <a:ea typeface="Cambria Math"/>
              </a:rPr>
              <a:t> − a</a:t>
            </a:r>
            <a:r>
              <a:rPr sz="1450" b="0" i="0" baseline="-25000">
                <a:solidFill>
                  <a:srgbClr val="1D2B3A"/>
                </a:solidFill>
                <a:latin typeface="Cambria Math"/>
                <a:ea typeface="Cambria Math"/>
              </a:rPr>
              <a:t>n</a:t>
            </a:r>
            <a:r>
              <a:rPr sz="1450" b="0" i="0">
                <a:solidFill>
                  <a:srgbClr val="1D2B3A"/>
                </a:solidFill>
                <a:latin typeface="Cambria Math"/>
                <a:ea typeface="Cambria Math"/>
              </a:rPr>
              <a:t>)/(b</a:t>
            </a:r>
            <a:r>
              <a:rPr sz="1450" b="0" i="0" baseline="-25000">
                <a:solidFill>
                  <a:srgbClr val="1D2B3A"/>
                </a:solidFill>
                <a:latin typeface="Cambria Math"/>
                <a:ea typeface="Cambria Math"/>
              </a:rPr>
              <a:t>n+1</a:t>
            </a:r>
            <a:r>
              <a:rPr sz="1450" b="0" i="0">
                <a:solidFill>
                  <a:srgbClr val="1D2B3A"/>
                </a:solidFill>
                <a:latin typeface="Cambria Math"/>
                <a:ea typeface="Cambria Math"/>
              </a:rPr>
              <a:t> − b</a:t>
            </a:r>
            <a:r>
              <a:rPr sz="1450" b="0" i="0" baseline="-25000">
                <a:solidFill>
                  <a:srgbClr val="1D2B3A"/>
                </a:solidFill>
                <a:latin typeface="Cambria Math"/>
                <a:ea typeface="Cambria Math"/>
              </a:rPr>
              <a:t>n</a:t>
            </a:r>
            <a:r>
              <a:rPr sz="1450" b="0" i="0">
                <a:solidFill>
                  <a:srgbClr val="1D2B3A"/>
                </a:solidFill>
                <a:latin typeface="Cambria Math"/>
                <a:ea typeface="Cambria Math"/>
              </a:rPr>
              <a:t>) = L</a:t>
            </a:r>
            <a:r>
              <a:rPr sz="1450" b="0" i="0">
                <a:solidFill>
                  <a:srgbClr val="1D2B3A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D2B3A"/>
                </a:solidFill>
                <a:latin typeface="Microsoft YaHei"/>
                <a:ea typeface="Microsoft YaHei"/>
              </a:rPr>
              <a:t>则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D2B3A"/>
                </a:solidFill>
                <a:latin typeface="Cambria Math"/>
                <a:ea typeface="Cambria Math"/>
              </a:rPr>
              <a:t>lim</a:t>
            </a:r>
            <a:r>
              <a:rPr sz="1450" b="0" i="0" baseline="-25000">
                <a:solidFill>
                  <a:srgbClr val="1D2B3A"/>
                </a:solidFill>
                <a:latin typeface="Cambria Math"/>
                <a:ea typeface="Cambria Math"/>
              </a:rPr>
              <a:t>n→∞</a:t>
            </a:r>
            <a:r>
              <a:rPr sz="1450" b="0" i="0">
                <a:solidFill>
                  <a:srgbClr val="1D2B3A"/>
                </a:solidFill>
                <a:latin typeface="Cambria Math"/>
                <a:ea typeface="Cambria Math"/>
              </a:rPr>
              <a:t> a</a:t>
            </a:r>
            <a:r>
              <a:rPr sz="1450" b="0" i="0" baseline="-25000">
                <a:solidFill>
                  <a:srgbClr val="1D2B3A"/>
                </a:solidFill>
                <a:latin typeface="Cambria Math"/>
                <a:ea typeface="Cambria Math"/>
              </a:rPr>
              <a:t>n</a:t>
            </a:r>
            <a:r>
              <a:rPr sz="1450" b="0" i="0">
                <a:solidFill>
                  <a:srgbClr val="1D2B3A"/>
                </a:solidFill>
                <a:latin typeface="Cambria Math"/>
                <a:ea typeface="Cambria Math"/>
              </a:rPr>
              <a:t>/b</a:t>
            </a:r>
            <a:r>
              <a:rPr sz="1450" b="0" i="0" baseline="-25000">
                <a:solidFill>
                  <a:srgbClr val="1D2B3A"/>
                </a:solidFill>
                <a:latin typeface="Cambria Math"/>
                <a:ea typeface="Cambria Math"/>
              </a:rPr>
              <a:t>n</a:t>
            </a:r>
            <a:r>
              <a:rPr sz="1450" b="0" i="0">
                <a:solidFill>
                  <a:srgbClr val="1D2B3A"/>
                </a:solidFill>
                <a:latin typeface="Cambria Math"/>
                <a:ea typeface="Cambria Math"/>
              </a:rPr>
              <a:t> = L</a:t>
            </a:r>
            <a:r>
              <a:rPr sz="1450" b="0" i="0">
                <a:solidFill>
                  <a:srgbClr val="1D2B3A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517904"/>
            <a:ext cx="5650992" cy="3218688"/>
          </a:xfrm>
          <a:prstGeom prst="roundRect">
            <a:avLst>
              <a:gd name="adj" fmla="val 7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71907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6963E"/>
                </a:solidFill>
                <a:latin typeface="Microsoft YaHei"/>
                <a:ea typeface="Microsoft YaHei"/>
              </a:rPr>
              <a:t>取 </a:t>
            </a:r>
            <a:r>
              <a:rPr sz="1500" b="1" i="0">
                <a:solidFill>
                  <a:srgbClr val="C6963E"/>
                </a:solidFill>
                <a:latin typeface="Cambria Math"/>
                <a:ea typeface="Cambria Math"/>
              </a:rPr>
              <a:t>a</a:t>
            </a:r>
            <a:r>
              <a:rPr sz="1500" b="1" i="0" baseline="-25000">
                <a:solidFill>
                  <a:srgbClr val="C6963E"/>
                </a:solidFill>
                <a:latin typeface="Cambria Math"/>
                <a:ea typeface="Cambria Math"/>
              </a:rPr>
              <a:t>n</a:t>
            </a:r>
            <a:r>
              <a:rPr sz="1500" b="1" i="0">
                <a:solidFill>
                  <a:srgbClr val="C6963E"/>
                </a:solidFill>
                <a:latin typeface="Cambria Math"/>
                <a:ea typeface="Cambria Math"/>
              </a:rPr>
              <a:t> = y</a:t>
            </a:r>
            <a:r>
              <a:rPr sz="1500" b="1" i="0" baseline="-25000">
                <a:solidFill>
                  <a:srgbClr val="C6963E"/>
                </a:solidFill>
                <a:latin typeface="Cambria Math"/>
                <a:ea typeface="Cambria Math"/>
              </a:rPr>
              <a:t>n</a:t>
            </a:r>
            <a:r>
              <a:rPr sz="1500" b="1" i="0">
                <a:solidFill>
                  <a:srgbClr val="C6963E"/>
                </a:solidFill>
                <a:latin typeface="Microsoft YaHei"/>
                <a:ea typeface="Microsoft YaHei"/>
              </a:rPr>
              <a:t>，</a:t>
            </a:r>
            <a:r>
              <a:rPr sz="1500" b="1" i="0">
                <a:solidFill>
                  <a:srgbClr val="C6963E"/>
                </a:solidFill>
                <a:latin typeface="Cambria Math"/>
                <a:ea typeface="Cambria Math"/>
              </a:rPr>
              <a:t>b</a:t>
            </a:r>
            <a:r>
              <a:rPr sz="1500" b="1" i="0" baseline="-25000">
                <a:solidFill>
                  <a:srgbClr val="C6963E"/>
                </a:solidFill>
                <a:latin typeface="Cambria Math"/>
                <a:ea typeface="Cambria Math"/>
              </a:rPr>
              <a:t>n</a:t>
            </a:r>
            <a:r>
              <a:rPr sz="1500" b="1" i="0">
                <a:solidFill>
                  <a:srgbClr val="C6963E"/>
                </a:solidFill>
                <a:latin typeface="Cambria Math"/>
                <a:ea typeface="Cambria Math"/>
              </a:rPr>
              <a:t> = 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23113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Cambria Math"/>
                <a:ea typeface="Cambria Math"/>
              </a:rPr>
              <a:t>lim</a:t>
            </a:r>
            <a:r>
              <a:rPr sz="2000" b="0" i="0" baseline="-25000">
                <a:solidFill>
                  <a:srgbClr val="FFFFFF"/>
                </a:solidFill>
                <a:latin typeface="Cambria Math"/>
                <a:ea typeface="Cambria Math"/>
              </a:rPr>
              <a:t>n→∞</a:t>
            </a:r>
            <a:r>
              <a:rPr sz="2000" b="0" i="0">
                <a:solidFill>
                  <a:srgbClr val="FFFFFF"/>
                </a:solidFill>
                <a:latin typeface="Cambria Math"/>
                <a:ea typeface="Cambria Math"/>
              </a:rPr>
              <a:t> y</a:t>
            </a:r>
            <a:r>
              <a:rPr sz="2000" b="0" i="0" baseline="-25000">
                <a:solidFill>
                  <a:srgbClr val="FFFFFF"/>
                </a:solidFill>
                <a:latin typeface="Cambria Math"/>
                <a:ea typeface="Cambria Math"/>
              </a:rPr>
              <a:t>n</a:t>
            </a:r>
            <a:r>
              <a:rPr sz="2000" b="0" i="0">
                <a:solidFill>
                  <a:srgbClr val="FFFFFF"/>
                </a:solidFill>
                <a:latin typeface="Cambria Math"/>
                <a:ea typeface="Cambria Math"/>
              </a:rPr>
              <a:t>/n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72491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mbria Math"/>
                <a:ea typeface="Cambria Math"/>
              </a:rPr>
              <a:t>= lim</a:t>
            </a:r>
            <a:r>
              <a:rPr sz="2100" b="1" i="0" baseline="-25000">
                <a:solidFill>
                  <a:srgbClr val="FFFFFF"/>
                </a:solidFill>
                <a:latin typeface="Cambria Math"/>
                <a:ea typeface="Cambria Math"/>
              </a:rPr>
              <a:t>n→∞</a:t>
            </a:r>
            <a:r>
              <a:rPr sz="2100" b="1" i="0">
                <a:solidFill>
                  <a:srgbClr val="FFFFFF"/>
                </a:solidFill>
                <a:latin typeface="Cambria Math"/>
                <a:ea typeface="Cambria Math"/>
              </a:rPr>
              <a:t> (y</a:t>
            </a:r>
            <a:r>
              <a:rPr sz="2100" b="1" i="0" baseline="-25000">
                <a:solidFill>
                  <a:srgbClr val="FFFFFF"/>
                </a:solidFill>
                <a:latin typeface="Cambria Math"/>
                <a:ea typeface="Cambria Math"/>
              </a:rPr>
              <a:t>n+1</a:t>
            </a:r>
            <a:r>
              <a:rPr sz="2100" b="1" i="0">
                <a:solidFill>
                  <a:srgbClr val="FFFFFF"/>
                </a:solidFill>
                <a:latin typeface="Cambria Math"/>
                <a:ea typeface="Cambria Math"/>
              </a:rPr>
              <a:t> − y</a:t>
            </a:r>
            <a:r>
              <a:rPr sz="2100" b="1" i="0" baseline="-25000">
                <a:solidFill>
                  <a:srgbClr val="FFFFFF"/>
                </a:solidFill>
                <a:latin typeface="Cambria Math"/>
                <a:ea typeface="Cambria Math"/>
              </a:rPr>
              <a:t>n</a:t>
            </a:r>
            <a:r>
              <a:rPr sz="2100" b="1" i="0">
                <a:solidFill>
                  <a:srgbClr val="FFFFFF"/>
                </a:solidFill>
                <a:latin typeface="Cambria Math"/>
                <a:ea typeface="Cambria Math"/>
              </a:rPr>
              <a:t>) = 1/2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401568"/>
            <a:ext cx="4480560" cy="10972"/>
          </a:xfrm>
          <a:prstGeom prst="rect">
            <a:avLst/>
          </a:prstGeom>
          <a:solidFill>
            <a:srgbClr val="3A5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611880"/>
            <a:ext cx="50292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4D2DF"/>
                </a:solidFill>
                <a:latin typeface="Microsoft YaHei"/>
                <a:ea typeface="Microsoft YaHei"/>
              </a:rPr>
              <a:t>而 </a:t>
            </a:r>
            <a:r>
              <a:rPr sz="1300" b="0" i="0">
                <a:solidFill>
                  <a:srgbClr val="C4D2DF"/>
                </a:solidFill>
                <a:latin typeface="Cambria Math"/>
                <a:ea typeface="Cambria Math"/>
              </a:rPr>
              <a:t>y</a:t>
            </a:r>
            <a:r>
              <a:rPr sz="1300" b="0" i="0" baseline="-25000">
                <a:solidFill>
                  <a:srgbClr val="C4D2DF"/>
                </a:solidFill>
                <a:latin typeface="Cambria Math"/>
                <a:ea typeface="Cambria Math"/>
              </a:rPr>
              <a:t>n</a:t>
            </a:r>
            <a:r>
              <a:rPr sz="1300" b="0" i="0">
                <a:solidFill>
                  <a:srgbClr val="C4D2DF"/>
                </a:solidFill>
                <a:latin typeface="Cambria Math"/>
                <a:ea typeface="Cambria Math"/>
              </a:rPr>
              <a:t>/n = 1/(n x</a:t>
            </a:r>
            <a:r>
              <a:rPr sz="1300" b="0" i="0" baseline="-25000">
                <a:solidFill>
                  <a:srgbClr val="C4D2DF"/>
                </a:solidFill>
                <a:latin typeface="Cambria Math"/>
                <a:ea typeface="Cambria Math"/>
              </a:rPr>
              <a:t>n</a:t>
            </a:r>
            <a:r>
              <a:rPr sz="1300" b="0" i="0">
                <a:solidFill>
                  <a:srgbClr val="C4D2DF"/>
                </a:solidFill>
                <a:latin typeface="Cambria Math"/>
                <a:ea typeface="Cambria Math"/>
              </a:rPr>
              <a:t>)</a:t>
            </a:r>
            <a:r>
              <a:rPr sz="1300" b="0" i="0">
                <a:solidFill>
                  <a:srgbClr val="C4D2DF"/>
                </a:solidFill>
                <a:latin typeface="Microsoft YaHei"/>
                <a:ea typeface="Microsoft YaHei"/>
              </a:rPr>
              <a:t>，所以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02336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mbria Math"/>
                <a:ea typeface="Cambria Math"/>
              </a:rPr>
              <a:t>n x</a:t>
            </a:r>
            <a:r>
              <a:rPr sz="2500" b="1" i="0" baseline="-25000">
                <a:solidFill>
                  <a:srgbClr val="FFFFFF"/>
                </a:solidFill>
                <a:latin typeface="Cambria Math"/>
                <a:ea typeface="Cambria Math"/>
              </a:rPr>
              <a:t>n</a:t>
            </a:r>
            <a:r>
              <a:rPr sz="2500" b="1" i="0">
                <a:solidFill>
                  <a:srgbClr val="FFFFFF"/>
                </a:solidFill>
                <a:latin typeface="Cambria Math"/>
                <a:ea typeface="Cambria Math"/>
              </a:rPr>
              <a:t> = 1/(y</a:t>
            </a:r>
            <a:r>
              <a:rPr sz="2500" b="1" i="0" baseline="-25000">
                <a:solidFill>
                  <a:srgbClr val="FFFFFF"/>
                </a:solidFill>
                <a:latin typeface="Cambria Math"/>
                <a:ea typeface="Cambria Math"/>
              </a:rPr>
              <a:t>n</a:t>
            </a:r>
            <a:r>
              <a:rPr sz="2500" b="1" i="0">
                <a:solidFill>
                  <a:srgbClr val="FFFFFF"/>
                </a:solidFill>
                <a:latin typeface="Cambria Math"/>
                <a:ea typeface="Cambria Math"/>
              </a:rPr>
              <a:t>/n)  → 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074920"/>
            <a:ext cx="10817352" cy="960120"/>
          </a:xfrm>
          <a:prstGeom prst="roundRect">
            <a:avLst>
              <a:gd name="adj" fmla="val 8000"/>
            </a:avLst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39512"/>
            <a:ext cx="10378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5E5D"/>
                </a:solidFill>
                <a:latin typeface="Cambria Math"/>
                <a:ea typeface="Cambria Math"/>
              </a:rPr>
              <a:t>lim</a:t>
            </a:r>
            <a:r>
              <a:rPr sz="3000" b="1" i="0" baseline="-25000">
                <a:solidFill>
                  <a:srgbClr val="0A5E5D"/>
                </a:solidFill>
                <a:latin typeface="Cambria Math"/>
                <a:ea typeface="Cambria Math"/>
              </a:rPr>
              <a:t>n→∞</a:t>
            </a:r>
            <a:r>
              <a:rPr sz="3000" b="1" i="0">
                <a:solidFill>
                  <a:srgbClr val="0A5E5D"/>
                </a:solidFill>
                <a:latin typeface="Cambria Math"/>
                <a:ea typeface="Cambria Math"/>
              </a:rPr>
              <a:t> n x</a:t>
            </a:r>
            <a:r>
              <a:rPr sz="3000" b="1" i="0" baseline="-25000">
                <a:solidFill>
                  <a:srgbClr val="0A5E5D"/>
                </a:solidFill>
                <a:latin typeface="Cambria Math"/>
                <a:ea typeface="Cambria Math"/>
              </a:rPr>
              <a:t>n</a:t>
            </a:r>
            <a:r>
              <a:rPr sz="3000" b="1" i="0">
                <a:solidFill>
                  <a:srgbClr val="0A5E5D"/>
                </a:solidFill>
                <a:latin typeface="Cambria Math"/>
                <a:ea typeface="Cambria Math"/>
              </a:rPr>
              <a:t> =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6455664"/>
            <a:ext cx="10817352" cy="7315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51967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483"/>
                </a:solidFill>
                <a:latin typeface="Microsoft YaHei"/>
                <a:ea typeface="Microsoft YaHei"/>
              </a:rPr>
              <a:t>递推数列的极限  ·  解题过程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483"/>
                </a:solidFill>
                <a:latin typeface="Microsoft YaHei"/>
                <a:ea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01752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963E"/>
                </a:solidFill>
                <a:latin typeface="Microsoft YaHei"/>
                <a:ea typeface="Microsoft YaHei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76072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25296"/>
            <a:ext cx="10817352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07008"/>
            <a:ext cx="10515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36192"/>
            <a:ext cx="5239512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46504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Microsoft YaHei"/>
                <a:ea typeface="Microsoft YaHei"/>
              </a:rPr>
              <a:t>数列本身的极限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39696"/>
            <a:ext cx="466344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02A43"/>
                </a:solidFill>
                <a:latin typeface="Cambria Math"/>
                <a:ea typeface="Cambria Math"/>
              </a:rPr>
              <a:t>lim</a:t>
            </a:r>
            <a:r>
              <a:rPr sz="360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n→∞</a:t>
            </a:r>
            <a:r>
              <a:rPr sz="3600" b="1" i="0">
                <a:solidFill>
                  <a:srgbClr val="102A43"/>
                </a:solidFill>
                <a:latin typeface="Cambria Math"/>
                <a:ea typeface="Cambria Math"/>
              </a:rPr>
              <a:t> x</a:t>
            </a:r>
            <a:r>
              <a:rPr sz="3600" b="1" i="0" baseline="-25000">
                <a:solidFill>
                  <a:srgbClr val="102A43"/>
                </a:solidFill>
                <a:latin typeface="Cambria Math"/>
                <a:ea typeface="Cambria Math"/>
              </a:rPr>
              <a:t>n</a:t>
            </a:r>
            <a:r>
              <a:rPr sz="3600" b="1" i="0">
                <a:solidFill>
                  <a:srgbClr val="102A43"/>
                </a:solidFill>
                <a:latin typeface="Cambria Math"/>
                <a:ea typeface="Cambria Math"/>
              </a:rPr>
              <a:t> =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36192"/>
            <a:ext cx="5239512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746504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Microsoft YaHei"/>
                <a:ea typeface="Microsoft YaHei"/>
              </a:rPr>
              <a:t>与 </a:t>
            </a:r>
            <a:r>
              <a:rPr sz="1100" b="1" i="0">
                <a:solidFill>
                  <a:srgbClr val="0E7C7B"/>
                </a:solidFill>
                <a:latin typeface="Cambria Math"/>
                <a:ea typeface="Cambria Math"/>
              </a:rPr>
              <a:t>n</a:t>
            </a:r>
            <a:r>
              <a:rPr sz="1100" b="1" i="0">
                <a:solidFill>
                  <a:srgbClr val="0E7C7B"/>
                </a:solidFill>
                <a:latin typeface="Microsoft YaHei"/>
                <a:ea typeface="Microsoft YaHei"/>
              </a:rPr>
              <a:t> 相乘后的极限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139696"/>
            <a:ext cx="466344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A5E5D"/>
                </a:solidFill>
                <a:latin typeface="Cambria Math"/>
                <a:ea typeface="Cambria Math"/>
              </a:rPr>
              <a:t>lim</a:t>
            </a:r>
            <a:r>
              <a:rPr sz="3600" b="1" i="0" baseline="-25000">
                <a:solidFill>
                  <a:srgbClr val="0A5E5D"/>
                </a:solidFill>
                <a:latin typeface="Cambria Math"/>
                <a:ea typeface="Cambria Math"/>
              </a:rPr>
              <a:t>n→∞</a:t>
            </a:r>
            <a:r>
              <a:rPr sz="3600" b="1" i="0">
                <a:solidFill>
                  <a:srgbClr val="0A5E5D"/>
                </a:solidFill>
                <a:latin typeface="Cambria Math"/>
                <a:ea typeface="Cambria Math"/>
              </a:rPr>
              <a:t> n x</a:t>
            </a:r>
            <a:r>
              <a:rPr sz="3600" b="1" i="0" baseline="-25000">
                <a:solidFill>
                  <a:srgbClr val="0A5E5D"/>
                </a:solidFill>
                <a:latin typeface="Cambria Math"/>
                <a:ea typeface="Cambria Math"/>
              </a:rPr>
              <a:t>n</a:t>
            </a:r>
            <a:r>
              <a:rPr sz="3600" b="1" i="0">
                <a:solidFill>
                  <a:srgbClr val="0A5E5D"/>
                </a:solidFill>
                <a:latin typeface="Cambria Math"/>
                <a:ea typeface="Cambria Math"/>
              </a:rPr>
              <a:t> =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03320"/>
            <a:ext cx="10817352" cy="2011680"/>
          </a:xfrm>
          <a:prstGeom prst="roundRect">
            <a:avLst>
              <a:gd name="adj" fmla="val 7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04487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963E"/>
                </a:solidFill>
                <a:latin typeface="Microsoft YaHei"/>
                <a:ea typeface="Microsoft YaHei"/>
              </a:rPr>
              <a:t>直观理解：在 0 附近展开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1024128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mbria Math"/>
                <a:ea typeface="Cambria Math"/>
              </a:rPr>
              <a:t>x</a:t>
            </a:r>
            <a:r>
              <a:rPr sz="2300" b="1" i="0" baseline="-25000">
                <a:solidFill>
                  <a:srgbClr val="FFFFFF"/>
                </a:solidFill>
                <a:latin typeface="Cambria Math"/>
                <a:ea typeface="Cambria Math"/>
              </a:rPr>
              <a:t>n+1</a:t>
            </a:r>
            <a:r>
              <a:rPr sz="2300" b="1" i="0">
                <a:solidFill>
                  <a:srgbClr val="FFFFFF"/>
                </a:solidFill>
                <a:latin typeface="Cambria Math"/>
                <a:ea typeface="Cambria Math"/>
              </a:rPr>
              <a:t> = x</a:t>
            </a:r>
            <a:r>
              <a:rPr sz="2300" b="1" i="0" baseline="-25000">
                <a:solidFill>
                  <a:srgbClr val="FFFFFF"/>
                </a:solidFill>
                <a:latin typeface="Cambria Math"/>
                <a:ea typeface="Cambria Math"/>
              </a:rPr>
              <a:t>n</a:t>
            </a:r>
            <a:r>
              <a:rPr sz="2300" b="1" i="0">
                <a:solidFill>
                  <a:srgbClr val="FFFFFF"/>
                </a:solidFill>
                <a:latin typeface="Cambria Math"/>
                <a:ea typeface="Cambria Math"/>
              </a:rPr>
              <a:t> − x</a:t>
            </a:r>
            <a:r>
              <a:rPr sz="2300" b="1" i="0" baseline="-25000">
                <a:solidFill>
                  <a:srgbClr val="FFFFFF"/>
                </a:solidFill>
                <a:latin typeface="Cambria Math"/>
                <a:ea typeface="Cambria Math"/>
              </a:rPr>
              <a:t>n</a:t>
            </a:r>
            <a:r>
              <a:rPr sz="2300" b="1" i="0" baseline="30000">
                <a:solidFill>
                  <a:srgbClr val="FFFFFF"/>
                </a:solidFill>
                <a:latin typeface="Cambria Math"/>
                <a:ea typeface="Cambria Math"/>
              </a:rPr>
              <a:t>2</a:t>
            </a:r>
            <a:r>
              <a:rPr sz="2300" b="1" i="0">
                <a:solidFill>
                  <a:srgbClr val="FFFFFF"/>
                </a:solidFill>
                <a:latin typeface="Cambria Math"/>
                <a:ea typeface="Cambria Math"/>
              </a:rPr>
              <a:t>/2 + O(x</a:t>
            </a:r>
            <a:r>
              <a:rPr sz="2300" b="1" i="0" baseline="-25000">
                <a:solidFill>
                  <a:srgbClr val="FFFFFF"/>
                </a:solidFill>
                <a:latin typeface="Cambria Math"/>
                <a:ea typeface="Cambria Math"/>
              </a:rPr>
              <a:t>n</a:t>
            </a:r>
            <a:r>
              <a:rPr sz="2300" b="1" i="0" baseline="30000">
                <a:solidFill>
                  <a:srgbClr val="FFFFFF"/>
                </a:solidFill>
                <a:latin typeface="Cambria Math"/>
                <a:ea typeface="Cambria Math"/>
              </a:rPr>
              <a:t>3</a:t>
            </a:r>
            <a:r>
              <a:rPr sz="2300" b="1" i="0">
                <a:solidFill>
                  <a:srgbClr val="FFFFFF"/>
                </a:solidFill>
                <a:latin typeface="Cambria Math"/>
                <a:ea typeface="Cambria Math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84632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D8E2EB"/>
                </a:solidFill>
                <a:latin typeface="Microsoft YaHei"/>
                <a:ea typeface="Microsoft YaHei"/>
              </a:rPr>
              <a:t>所以 </a:t>
            </a:r>
            <a:r>
              <a:rPr sz="2000" b="0" i="0">
                <a:solidFill>
                  <a:srgbClr val="D8E2EB"/>
                </a:solidFill>
                <a:latin typeface="Cambria Math"/>
                <a:ea typeface="Cambria Math"/>
              </a:rPr>
              <a:t>x</a:t>
            </a:r>
            <a:r>
              <a:rPr sz="2000" b="0" i="0" baseline="-25000">
                <a:solidFill>
                  <a:srgbClr val="D8E2EB"/>
                </a:solidFill>
                <a:latin typeface="Cambria Math"/>
                <a:ea typeface="Cambria Math"/>
              </a:rPr>
              <a:t>n</a:t>
            </a:r>
            <a:r>
              <a:rPr sz="2000" b="0" i="0">
                <a:solidFill>
                  <a:srgbClr val="D8E2EB"/>
                </a:solidFill>
                <a:latin typeface="Microsoft YaHei"/>
                <a:ea typeface="Microsoft YaHei"/>
              </a:rPr>
              <a:t> 与 </a:t>
            </a:r>
            <a:r>
              <a:rPr sz="2000" b="0" i="0">
                <a:solidFill>
                  <a:srgbClr val="D8E2EB"/>
                </a:solidFill>
                <a:latin typeface="Cambria Math"/>
                <a:ea typeface="Cambria Math"/>
              </a:rPr>
              <a:t>2/n</a:t>
            </a:r>
            <a:r>
              <a:rPr sz="2000" b="0" i="0">
                <a:solidFill>
                  <a:srgbClr val="D8E2EB"/>
                </a:solidFill>
                <a:latin typeface="Microsoft YaHei"/>
                <a:ea typeface="Microsoft YaHei"/>
              </a:rPr>
              <a:t> 同阶，即  </a:t>
            </a:r>
            <a:r>
              <a:rPr sz="2000" b="0" i="0">
                <a:solidFill>
                  <a:srgbClr val="D8E2EB"/>
                </a:solidFill>
                <a:latin typeface="Cambria Math"/>
                <a:ea typeface="Cambria Math"/>
              </a:rPr>
              <a:t>x</a:t>
            </a:r>
            <a:r>
              <a:rPr sz="2000" b="0" i="0" baseline="-25000">
                <a:solidFill>
                  <a:srgbClr val="D8E2EB"/>
                </a:solidFill>
                <a:latin typeface="Cambria Math"/>
                <a:ea typeface="Cambria Math"/>
              </a:rPr>
              <a:t>n</a:t>
            </a:r>
            <a:r>
              <a:rPr sz="2000" b="0" i="0">
                <a:solidFill>
                  <a:srgbClr val="D8E2EB"/>
                </a:solidFill>
                <a:latin typeface="Cambria Math"/>
                <a:ea typeface="Cambria Math"/>
              </a:rPr>
              <a:t> ~ 2/n</a:t>
            </a:r>
            <a:r>
              <a:rPr sz="2000" b="0" i="0">
                <a:solidFill>
                  <a:srgbClr val="D8E2E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97880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483"/>
                </a:solidFill>
                <a:latin typeface="Microsoft YaHei"/>
                <a:ea typeface="Microsoft YaHei"/>
              </a:rPr>
              <a:t>单调有界保证存在性，Taylor 展开与 Stolz 定理给出渐近阶。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455664"/>
            <a:ext cx="10817352" cy="7315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51967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483"/>
                </a:solidFill>
                <a:latin typeface="Microsoft YaHei"/>
                <a:ea typeface="Microsoft YaHei"/>
              </a:rPr>
              <a:t>递推数列的极限  ·  解题过程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483"/>
                </a:solidFill>
                <a:latin typeface="Microsoft YaHei"/>
                <a:ea typeface="Microsoft YaHei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