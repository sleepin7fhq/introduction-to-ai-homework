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" cy="9144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1F3864"/>
                </a:solidFill>
                <a:latin typeface="Microsoft YaHei"/>
                <a:ea typeface="Microsoft YaHei"/>
              </a:rPr>
              <a:t>2025 高考数学压轴题解析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3182112"/>
            <a:ext cx="2011680" cy="64008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401568"/>
            <a:ext cx="10362895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5A6472"/>
                </a:solidFill>
                <a:latin typeface="Microsoft YaHei"/>
                <a:ea typeface="Microsoft YaHei"/>
              </a:rPr>
              <a:t>一道三角函数的极值探索</a:t>
            </a:r>
          </a:p>
        </p:txBody>
      </p:sp>
      <p:pic>
        <p:nvPicPr>
          <p:cNvPr id="7" name="Picture 6" descr="title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949" y="4224528"/>
            <a:ext cx="3677796" cy="713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97880"/>
            <a:ext cx="10362895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Microsoft YaHei"/>
                <a:ea typeface="Microsoft YaHei"/>
              </a:rPr>
              <a:t>2025 年新课标 I 卷 · 第 19 题（17 分）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070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200" b="1">
                <a:solidFill>
                  <a:srgbClr val="1F3864"/>
                </a:solidFill>
                <a:latin typeface="Microsoft YaHei"/>
                <a:ea typeface="Microsoft YaHei"/>
              </a:rPr>
              <a:t>原题展示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170432"/>
            <a:ext cx="1371600" cy="5486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74320"/>
            <a:ext cx="11414455" cy="18288"/>
          </a:xfrm>
          <a:prstGeom prst="rect">
            <a:avLst/>
          </a:prstGeom>
          <a:solidFill>
            <a:srgbClr val="DE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37215" cy="384048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26" y="1783080"/>
            <a:ext cx="2873842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2697480"/>
            <a:ext cx="2788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（1）求最大值</a:t>
            </a:r>
          </a:p>
        </p:txBody>
      </p:sp>
      <p:pic>
        <p:nvPicPr>
          <p:cNvPr id="8" name="Picture 7" descr="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697480"/>
            <a:ext cx="3497976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3566160"/>
            <a:ext cx="2788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（2）证明引理</a:t>
            </a:r>
          </a:p>
        </p:txBody>
      </p:sp>
      <p:pic>
        <p:nvPicPr>
          <p:cNvPr id="10" name="Picture 9" descr="q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566160"/>
            <a:ext cx="6504316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4434840"/>
            <a:ext cx="2788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（3）求最小值</a:t>
            </a:r>
          </a:p>
        </p:txBody>
      </p:sp>
      <p:pic>
        <p:nvPicPr>
          <p:cNvPr id="12" name="Picture 11" descr="q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434840"/>
            <a:ext cx="6200667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69280"/>
            <a:ext cx="10637215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Microsoft YaHei"/>
                <a:ea typeface="Microsoft YaHei"/>
              </a:rPr>
              <a:t>题目来源：2025 年普通高等学校招生全国统一考试（新高考 I 卷）数学 第 19 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070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200" b="1">
                <a:solidFill>
                  <a:srgbClr val="1F3864"/>
                </a:solidFill>
                <a:latin typeface="Microsoft YaHei"/>
                <a:ea typeface="Microsoft YaHei"/>
              </a:rPr>
              <a:t>解题思路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170432"/>
            <a:ext cx="1371600" cy="5486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74320"/>
            <a:ext cx="11414455" cy="18288"/>
          </a:xfrm>
          <a:prstGeom prst="rect">
            <a:avLst/>
          </a:prstGeom>
          <a:solidFill>
            <a:srgbClr val="DE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3747" y="1920240"/>
            <a:ext cx="3246120" cy="370332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90775" y="2240280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90775" y="2240280"/>
            <a:ext cx="512064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2907792"/>
            <a:ext cx="29718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1F3864"/>
                </a:solidFill>
                <a:latin typeface="Microsoft YaHei"/>
                <a:ea typeface="Microsoft YaHei"/>
              </a:rPr>
              <a:t>求导定号</a:t>
            </a:r>
          </a:p>
        </p:txBody>
      </p:sp>
      <p:pic>
        <p:nvPicPr>
          <p:cNvPr id="9" name="Picture 8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27" y="3720208"/>
            <a:ext cx="2880360" cy="5605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8339" y="4663440"/>
            <a:ext cx="2916936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Microsoft YaHei"/>
                <a:ea typeface="Microsoft YaHei"/>
              </a:rPr>
              <a:t>f′ 定号  →  单调  →  峰值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4731" y="3621024"/>
            <a:ext cx="393192" cy="292608"/>
          </a:xfrm>
          <a:prstGeom prst="rightArrow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72787" y="1920240"/>
            <a:ext cx="3246120" cy="370332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39815" y="2240280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9815" y="2240280"/>
            <a:ext cx="512064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947" y="2907792"/>
            <a:ext cx="29718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1F3864"/>
                </a:solidFill>
                <a:latin typeface="Microsoft YaHei"/>
                <a:ea typeface="Microsoft YaHei"/>
              </a:rPr>
              <a:t>区间覆盖</a:t>
            </a:r>
          </a:p>
        </p:txBody>
      </p:sp>
      <p:pic>
        <p:nvPicPr>
          <p:cNvPr id="16" name="Picture 15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667" y="3832782"/>
            <a:ext cx="2880360" cy="3354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37379" y="4663440"/>
            <a:ext cx="2916936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Microsoft YaHei"/>
                <a:ea typeface="Microsoft YaHei"/>
              </a:rPr>
              <a:t>等长开区间  →  导出矛盾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73771" y="3621024"/>
            <a:ext cx="393192" cy="292608"/>
          </a:xfrm>
          <a:prstGeom prst="rightArrow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1827" y="1920240"/>
            <a:ext cx="3246120" cy="370332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88855" y="2240280"/>
            <a:ext cx="512064" cy="51206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88855" y="2240280"/>
            <a:ext cx="512064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987" y="2907792"/>
            <a:ext cx="29718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1F3864"/>
                </a:solidFill>
                <a:latin typeface="Microsoft YaHei"/>
                <a:ea typeface="Microsoft YaHei"/>
              </a:rPr>
              <a:t>上下界夹逼</a:t>
            </a:r>
          </a:p>
        </p:txBody>
      </p:sp>
      <p:pic>
        <p:nvPicPr>
          <p:cNvPr id="23" name="Picture 22" descr="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425" y="3566160"/>
            <a:ext cx="2828925" cy="868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86419" y="4663440"/>
            <a:ext cx="2916936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Microsoft YaHei"/>
                <a:ea typeface="Microsoft YaHei"/>
              </a:rPr>
              <a:t>上界 φ = 0，下界靠引理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070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200" b="1">
                <a:solidFill>
                  <a:srgbClr val="1F3864"/>
                </a:solidFill>
                <a:latin typeface="Microsoft YaHei"/>
                <a:ea typeface="Microsoft YaHei"/>
              </a:rPr>
              <a:t>详细推导（上）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170432"/>
            <a:ext cx="1371600" cy="5486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74320"/>
            <a:ext cx="11414455" cy="18288"/>
          </a:xfrm>
          <a:prstGeom prst="rect">
            <a:avLst/>
          </a:prstGeom>
          <a:solidFill>
            <a:srgbClr val="DE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577840" cy="205740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1F3864"/>
                </a:solidFill>
                <a:latin typeface="Microsoft YaHei"/>
                <a:ea typeface="Microsoft YaHei"/>
              </a:rPr>
              <a:t>第 (1) 问</a:t>
            </a:r>
          </a:p>
        </p:txBody>
      </p:sp>
      <p:pic>
        <p:nvPicPr>
          <p:cNvPr id="7" name="Picture 6" descr="p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87" y="2157984"/>
            <a:ext cx="2927345" cy="566928"/>
          </a:xfrm>
          <a:prstGeom prst="rect">
            <a:avLst/>
          </a:prstGeom>
        </p:spPr>
      </p:pic>
      <p:pic>
        <p:nvPicPr>
          <p:cNvPr id="8" name="Picture 7" descr="p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461" y="2798064"/>
            <a:ext cx="3543397" cy="7132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94760"/>
            <a:ext cx="5577840" cy="205740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904487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1F3864"/>
                </a:solidFill>
                <a:latin typeface="Microsoft YaHei"/>
                <a:ea typeface="Microsoft YaHei"/>
              </a:rPr>
              <a:t>第 (2) 问</a:t>
            </a:r>
          </a:p>
        </p:txBody>
      </p:sp>
      <p:pic>
        <p:nvPicPr>
          <p:cNvPr id="11" name="Picture 10" descr="p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69" y="4389120"/>
            <a:ext cx="4930781" cy="566928"/>
          </a:xfrm>
          <a:prstGeom prst="rect">
            <a:avLst/>
          </a:prstGeom>
        </p:spPr>
      </p:pic>
      <p:pic>
        <p:nvPicPr>
          <p:cNvPr id="12" name="Picture 11" descr="p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084" y="5010912"/>
            <a:ext cx="2948151" cy="502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29400" y="1554480"/>
            <a:ext cx="4782312" cy="429768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ig1_par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947558"/>
            <a:ext cx="4416552" cy="25422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2280" y="4846320"/>
            <a:ext cx="4416552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Microsoft YaHei"/>
                <a:ea typeface="Microsoft YaHei"/>
              </a:rPr>
              <a:t>函数图像与峰值位置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070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200" b="1">
                <a:solidFill>
                  <a:srgbClr val="1F3864"/>
                </a:solidFill>
                <a:latin typeface="Microsoft YaHei"/>
                <a:ea typeface="Microsoft YaHei"/>
              </a:rPr>
              <a:t>详细推导（下）与代码验证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170432"/>
            <a:ext cx="1371600" cy="5486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74320"/>
            <a:ext cx="11414455" cy="18288"/>
          </a:xfrm>
          <a:prstGeom prst="rect">
            <a:avLst/>
          </a:prstGeom>
          <a:solidFill>
            <a:srgbClr val="DE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7665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1">
                <a:solidFill>
                  <a:srgbClr val="1F3864"/>
                </a:solidFill>
                <a:latin typeface="Microsoft YaHei"/>
                <a:ea typeface="Microsoft YaHei"/>
              </a:rPr>
              <a:t>第 (3) 问 · 关键构造</a:t>
            </a:r>
          </a:p>
        </p:txBody>
      </p:sp>
      <p:pic>
        <p:nvPicPr>
          <p:cNvPr id="6" name="Picture 5" descr="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919" y="1847088"/>
            <a:ext cx="4823201" cy="530352"/>
          </a:xfrm>
          <a:prstGeom prst="rect">
            <a:avLst/>
          </a:prstGeom>
        </p:spPr>
      </p:pic>
      <p:pic>
        <p:nvPicPr>
          <p:cNvPr id="7" name="Picture 6" descr="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99734"/>
            <a:ext cx="6766560" cy="1450555"/>
          </a:xfrm>
          <a:prstGeom prst="rect">
            <a:avLst/>
          </a:prstGeom>
        </p:spPr>
      </p:pic>
      <p:pic>
        <p:nvPicPr>
          <p:cNvPr id="8" name="Picture 7" descr="b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126" y="4617720"/>
            <a:ext cx="4080786" cy="1417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737360"/>
            <a:ext cx="3550615" cy="4023360"/>
          </a:xfrm>
          <a:prstGeom prst="roundRect">
            <a:avLst>
              <a:gd name="adj" fmla="val 35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1" y="2033193"/>
            <a:ext cx="3221431" cy="19686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0" y="4160520"/>
            <a:ext cx="3276295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</a:rPr>
              <a:t>代码验证结果曲线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617720"/>
            <a:ext cx="3276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Microsoft YaHei"/>
                <a:ea typeface="Microsoft YaHei"/>
              </a:rPr>
              <a:t>最小值出现在 φ = 0 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106070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200" b="1">
                <a:solidFill>
                  <a:srgbClr val="1F3864"/>
                </a:solidFill>
                <a:latin typeface="Microsoft YaHei"/>
                <a:ea typeface="Microsoft YaHei"/>
              </a:rPr>
              <a:t>总结与结论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170432"/>
            <a:ext cx="1371600" cy="5486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74320"/>
            <a:ext cx="11414455" cy="18288"/>
          </a:xfrm>
          <a:prstGeom prst="rect">
            <a:avLst/>
          </a:prstGeom>
          <a:solidFill>
            <a:srgbClr val="DE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（1）最大值</a:t>
            </a:r>
          </a:p>
        </p:txBody>
      </p:sp>
      <p:pic>
        <p:nvPicPr>
          <p:cNvPr id="6" name="Picture 5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2011679"/>
            <a:ext cx="411480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44368"/>
            <a:ext cx="10637215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（2）引理</a:t>
            </a:r>
          </a:p>
        </p:txBody>
      </p:sp>
      <p:pic>
        <p:nvPicPr>
          <p:cNvPr id="8" name="Picture 7" descr="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991" y="3419856"/>
            <a:ext cx="5547712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261104"/>
            <a:ext cx="10637215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（3）b 的最小值</a:t>
            </a:r>
          </a:p>
        </p:txBody>
      </p:sp>
      <p:pic>
        <p:nvPicPr>
          <p:cNvPr id="10" name="Picture 9" descr="b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911" y="4736592"/>
            <a:ext cx="3685871" cy="1280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77440" y="2889504"/>
            <a:ext cx="7436815" cy="13716"/>
          </a:xfrm>
          <a:prstGeom prst="rect">
            <a:avLst/>
          </a:prstGeom>
          <a:solidFill>
            <a:srgbClr val="DE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77440" y="4206240"/>
            <a:ext cx="7436815" cy="13716"/>
          </a:xfrm>
          <a:prstGeom prst="rect">
            <a:avLst/>
          </a:prstGeom>
          <a:solidFill>
            <a:srgbClr val="DE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6053328"/>
            <a:ext cx="10637215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覆盖引理  +  上下界夹逼  ——  本题的破题关键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</Words>
  <Application>Microsoft Office PowerPoint</Application>
  <PresentationFormat>宽屏</PresentationFormat>
  <Paragraphs>31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8619863302092</cp:lastModifiedBy>
  <cp:revision>1</cp:revision>
  <dcterms:created xsi:type="dcterms:W3CDTF">2013-01-27T09:14:16Z</dcterms:created>
  <dcterms:modified xsi:type="dcterms:W3CDTF">2026-10-13T16:38:41Z</dcterms:modified>
  <cp:category/>
</cp:coreProperties>
</file>