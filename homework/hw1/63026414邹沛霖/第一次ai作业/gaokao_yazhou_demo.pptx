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547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开场（约 1 分钟）</a:t>
            </a:r>
          </a:p>
          <a:p>
            <a:r>
              <a:t>主题：2026 年高考数学新课标Ⅰ卷（新高考一卷）第 19 题，全卷压轴，17 分。</a:t>
            </a:r>
          </a:p>
          <a:p>
            <a:r>
              <a:t>听众定位：没有 AI 基础的大一同学——不需要竞赛基础，只需要高中函数知识。</a:t>
            </a:r>
          </a:p>
          <a:p>
            <a:r>
              <a:t>今天不追求把最后一问讲透，而是把「新定义题」的通用读法讲清楚。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背景补充（约 2 分钟）</a:t>
            </a:r>
          </a:p>
          <a:p>
            <a:r>
              <a:t>1) 卷面结构：新课标Ⅰ卷共 19 题 150 分，第 19 题是解答题最后一题，17 分，为全卷最高分值。</a:t>
            </a:r>
          </a:p>
          <a:p>
            <a:r>
              <a:t>2) 题型趋势：2024 年第 19 题是「新定义数列（可分数列）」，2025 年是三角函数题</a:t>
            </a:r>
          </a:p>
          <a:p>
            <a:r>
              <a:t>   f(x)=5cos x-cos5x，2026 年又回到「新定义」——新定义集合 D(x0) + 函数性质。</a:t>
            </a:r>
          </a:p>
          <a:p>
            <a:r>
              <a:t>   结论：题型不固定，靠背套路没用，考的是现场读懂一个新定义的能力。</a:t>
            </a:r>
          </a:p>
          <a:p>
            <a:r>
              <a:t>3) 难度分布：第 (1)(2) 问属于基础题（(1) 只要会解不等式，(2) 只要会用奇函数），</a:t>
            </a:r>
          </a:p>
          <a:p>
            <a:r>
              <a:t>   第 (3) 问是全卷最难的一问；对大多数同学来说，把 (1)(2) 拿稳就是胜利。</a:t>
            </a:r>
          </a:p>
          <a:p>
            <a:r>
              <a:t>题干与答案已用 6 个独立来源交叉核对（良师宝题库、数学345、21世纪教育网解析、</a:t>
            </a:r>
          </a:p>
          <a:p>
            <a:r>
              <a:t>网易·数海漫游、中国教育在线、CNKI 期刊摘要），并用程序做了数值验证。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知识点讲解要点（约 3 分钟）</a:t>
            </a:r>
          </a:p>
          <a:p>
            <a:r>
              <a:t>1) 集合语言：D(x0)={d | f(x0+d)&gt;f(x0)} 里装的是「步长 d」，不是 x。</a:t>
            </a:r>
          </a:p>
          <a:p>
            <a:r>
              <a:t>   这是本题最大的坑——把 d 当成 x 会全盘跑偏。</a:t>
            </a:r>
          </a:p>
          <a:p>
            <a:r>
              <a:t>2) 分段函数：题设只给了 x&lt;0 时 f(x)=2^x，其余部分由每个小问自己补。</a:t>
            </a:r>
          </a:p>
          <a:p>
            <a:r>
              <a:t>   (1) 补 x≥0 时 f(x)=1-x；(2) 补「f 是奇函数」；(3) 只给抽象条件 ①②。</a:t>
            </a:r>
          </a:p>
          <a:p>
            <a:r>
              <a:t>3) 指数函数单调性：2^a&gt;2^b ⇔ a&gt;b，这是 (1) 解不等式的唯一工具。</a:t>
            </a:r>
          </a:p>
          <a:p>
            <a:r>
              <a:t>4) 逻辑推理：条件 ①「f(x1)≤f(x2) ⇒ D(x2)⊆D(x1)」既是正向条件，也是</a:t>
            </a:r>
          </a:p>
          <a:p>
            <a:r>
              <a:t>   「函数值越小、集合越大」的直观；(3) 里要反复正用、逆用、链式使用。</a:t>
            </a:r>
          </a:p>
          <a:p>
            <a:r>
              <a:t>5) 直观理解：D(x0) 就是「从 x0 出发，能让函数值变大的所有步长」的集合。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【原题】2026 年普通高等学校招生全国统一考试（新课标Ⅰ卷）数学 第 19 题（17 分）</a:t>
            </a:r>
          </a:p>
          <a:p>
            <a:r>
              <a:t>已知函数 f(x) 的定义域为 R，且当 x&lt;0 时，f(x)=2^x。</a:t>
            </a:r>
          </a:p>
          <a:p>
            <a:r>
              <a:t>对任意 x0∈R，定义集合 D(x0)={d∈R | f(x0+d)&gt;f(x0)}。</a:t>
            </a:r>
          </a:p>
          <a:p>
            <a:r>
              <a:t>（1）若当 x≥0 时，f(x)=1-x，求 D(-1)；</a:t>
            </a:r>
          </a:p>
          <a:p>
            <a:r>
              <a:t>（2）若 f(x) 是奇函数，f(x1)≤f(x2)，且 x1x2≠0，证明：D(x2)⊆D(x1)；</a:t>
            </a:r>
          </a:p>
          <a:p>
            <a:r>
              <a:t>（3）设 f(x) 满足：①若 f(x1)≤f(x2)，则 D(x2)⊆D(x1)；②当 0&lt;x&lt;1 时，f(x)&lt;f(0)。</a:t>
            </a:r>
          </a:p>
          <a:p>
            <a:r>
              <a:t>     （i）证明：f(0)≥1；（ii）证明：f(x) 在区间 (0,+∞) 单调递增。</a:t>
            </a:r>
          </a:p>
          <a:p>
            <a:endParaRPr/>
          </a:p>
          <a:p>
            <a:r>
              <a:t>【(1) 详解】f(-1)=2^(-1)=1/2。</a:t>
            </a:r>
          </a:p>
          <a:p>
            <a:r>
              <a:t>  当 d&lt;1 时 -1+d&lt;0，f(-1+d)=2^(d-1)&gt;1/2 ⇔ d-1&gt;-1 ⇔ d&gt;0，得 0&lt;d&lt;1；</a:t>
            </a:r>
          </a:p>
          <a:p>
            <a:r>
              <a:t>  当 d≥1 时 -1+d≥0，f(-1+d)=1-(-1+d)=2-d&gt;1/2 ⇔ d&lt;3/2，得 1≤d&lt;3/2。</a:t>
            </a:r>
          </a:p>
          <a:p>
            <a:r>
              <a:t>  合并：D(-1)=(0,1)∪[1,3/2)=(0,3/2)。</a:t>
            </a:r>
          </a:p>
          <a:p>
            <a:endParaRPr/>
          </a:p>
          <a:p>
            <a:r>
              <a:t>【(2) 要点】奇函数给出 x&gt;0 时 f(x)=-2^(-x)。于是</a:t>
            </a:r>
          </a:p>
          <a:p>
            <a:r>
              <a:t>  x0&lt;0 时 D(x0)=(0,-x0)；x0&gt;0 时 D(x0)=(-∞,-x0]∪(0,+∞)。</a:t>
            </a:r>
          </a:p>
          <a:p>
            <a:r>
              <a:t>  再按 x1≤x2≤0、0&lt;x1≤x2、x2&lt;0&lt;x1 三类比较左右端点，即得 D(x2)⊆D(x1)。</a:t>
            </a:r>
          </a:p>
          <a:p>
            <a:r>
              <a:t>  注意：f(x)=-2^(-x) 是推出来的，不是题设给的——这一步不能省。</a:t>
            </a:r>
          </a:p>
          <a:p>
            <a:endParaRPr/>
          </a:p>
          <a:p>
            <a:r>
              <a:t>【(3)(i) 要点】反证法。设 f(0)&lt;1。</a:t>
            </a:r>
          </a:p>
          <a:p>
            <a:r>
              <a:t>  因为 p 从左侧趋于 0 时 2^p→1&gt;f(0)，可取 p∈(-1,0) 使 f(p)=2^p&gt;f(0)；</a:t>
            </a:r>
          </a:p>
          <a:p>
            <a:r>
              <a:t>  由 ①（取 x1=0, x2=p）得 D(p)⊆D(0)。</a:t>
            </a:r>
          </a:p>
          <a:p>
            <a:r>
              <a:t>  又对任意 d∈(0,-p)：p+d∈(p,0)⊂(-1,0)，f(p+d)=2^(p+d)&gt;2^p=f(p)，故 (0,-p)⊆D(p)。</a:t>
            </a:r>
          </a:p>
          <a:p>
            <a:r>
              <a:t>  于是 (0,-p)⊆D(0)；但 (0,-p)⊂(0,1)，由 ② 得 f(d)&lt;f(0)，即 d∉D(0)，矛盾。</a:t>
            </a:r>
          </a:p>
          <a:p>
            <a:r>
              <a:t>  故 f(0)≥1。</a:t>
            </a:r>
          </a:p>
          <a:p>
            <a:endParaRPr/>
          </a:p>
          <a:p>
            <a:r>
              <a:t>【(3)(ii) 思路】三步：先证 x∈(0,1) 时 f(x)≤0；再推广到 x&gt;0 时 f(x)&lt;0；</a:t>
            </a:r>
          </a:p>
          <a:p>
            <a:r>
              <a:t>  最后设 0&lt;x1&lt;x2，用 ① 做链式推理，把 x2-x1∈D(x1) 导出 f(x2)&gt;f(x1)，</a:t>
            </a:r>
          </a:p>
          <a:p>
            <a:r>
              <a:t>  即 f 在 (0,+∞) 上单调递增。这一问是全卷最难，考场上写不完很正常。</a:t>
            </a:r>
          </a:p>
          <a:p>
            <a:endParaRPr/>
          </a:p>
          <a:p>
            <a:r>
              <a:t>【关于分值的重要说明——讲课时请务必说明】</a:t>
            </a:r>
          </a:p>
          <a:p>
            <a:r>
              <a:t>  官方评分细则不公开：政策上「根据评分参考制定的评分细则按国家秘密级事项管理」，</a:t>
            </a:r>
          </a:p>
          <a:p>
            <a:r>
              <a:t>  省考试院只发布参考答案。网上流传两种互相矛盾的切分：</a:t>
            </a:r>
          </a:p>
          <a:p>
            <a:r>
              <a:t>    · 网传阅卷评分细则：3 + 4 + 4 + 6 = 17（本页采用这一种）</a:t>
            </a:r>
          </a:p>
          <a:p>
            <a:r>
              <a:t>    · 21世纪教育网机构估分：4 + 5 + 4 + 4 = 17</a:t>
            </a:r>
          </a:p>
          <a:p>
            <a:r>
              <a:t>  两者不可同时成立，均非官方，无法确证，只能作为「分从哪来」的参考。</a:t>
            </a:r>
          </a:p>
          <a:p>
            <a:r>
              <a:t>  网传细则中第 (1)(2) 问的踩分点较具体：</a:t>
            </a:r>
          </a:p>
          <a:p>
            <a:r>
              <a:t>    (1) 分类讨论，每种情况计算正确分别得 1 分；不分类、直接由图像得出结论也不扣分；</a:t>
            </a:r>
          </a:p>
          <a:p>
            <a:r>
              <a:t>    (2) 正确写出表达式可得 1 分，但写出 x=0 者不得分；三种情况各 1 分；</a:t>
            </a:r>
          </a:p>
          <a:p>
            <a:r>
              <a:t>    (3) 阅卷严格：用教材外方法而不加证明、画图说明、举例说明者一律扣分；</a:t>
            </a:r>
          </a:p>
          <a:p>
            <a:r>
              <a:t>        并称「不使用反证法一律不得分」（此条来自泄漏件，仅供提醒，不可当作定论）。</a:t>
            </a:r>
          </a:p>
          <a:p>
            <a:r>
              <a:t>  第 (3) 问细则未细分到行的给分点，本页 ①②③④ 是按数学逻辑整理的踩分点。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总结（约 2 分钟）</a:t>
            </a:r>
          </a:p>
          <a:p>
            <a:r>
              <a:t>三句话：读懂定义 → 先易后难 → 逻辑取胜。</a:t>
            </a:r>
          </a:p>
          <a:p>
            <a:r>
              <a:t>给大一同学的延伸：这套「定义 → 特例 → 证明」的流程，读论文、写代码、做实验都一样适用。</a:t>
            </a:r>
          </a:p>
          <a:p>
            <a:r>
              <a:t>和 AI 协作的姿势：先用自己的思路走一遍，再让 AI 逐步检查每一步推导——</a:t>
            </a:r>
          </a:p>
          <a:p>
            <a:r>
              <a:t>能自己讲清每一步，才是真的学会了。</a:t>
            </a:r>
          </a:p>
          <a:p>
            <a:endParaRPr/>
          </a:p>
          <a:p>
            <a:r>
              <a:t>课堂互动建议：现场让同学用一句话复述 D(x0) 的含义；</a:t>
            </a:r>
          </a:p>
          <a:p>
            <a:r>
              <a:t>再让同学算第 (1) 问那支函数在 x0=0 处的 D(0)。</a:t>
            </a:r>
          </a:p>
          <a:p>
            <a:r>
              <a:t>答案：D(0)=∅——因为 f(0)=1 已是「最高点」，任何方向都上不去。</a:t>
            </a:r>
          </a:p>
          <a:p>
            <a:r>
              <a:t>这个例子最能说明「D(x0) 大 = 该点函数值还很低」，值得现场点一下。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65615" y="3931920"/>
            <a:ext cx="3657600" cy="3657600"/>
          </a:xfrm>
          <a:prstGeom prst="ellipse">
            <a:avLst/>
          </a:prstGeom>
          <a:solidFill>
            <a:srgbClr val="E9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54335" y="5120640"/>
            <a:ext cx="2103120" cy="21031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2F6FED"/>
                </a:solidFill>
                <a:latin typeface="Segoe UI"/>
                <a:ea typeface="微软雅黑"/>
                <a:cs typeface="微软雅黑"/>
              </a:rPr>
              <a:t>2026 年高考数学 · 新课标全国Ⅰ卷（新高考一卷）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56816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48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压轴题第 19 题怎么解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" y="3218688"/>
            <a:ext cx="1371600" cy="54864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新定义「集合 D(x</a:t>
            </a:r>
            <a:r>
              <a:rPr sz="1332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0</a:t>
            </a:r>
            <a:r>
              <a:rPr sz="18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)」题：读懂定义，就能动手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2452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面向零基础大一同学 · 5 页看懂 · 约 10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475488"/>
            <a:ext cx="77724" cy="42062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5" y="420624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7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这道题为什么长这样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5" y="1042415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全卷最后一题，17 分，考的不是背过的套路。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2615" y="5486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背景 · 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5449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54496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2026 新高考一卷（新课标Ⅰ卷）· 第 19 题拆解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2453563" cy="102412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64008" cy="10241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1819656"/>
            <a:ext cx="1996363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900" b="1">
                <a:solidFill>
                  <a:srgbClr val="2F6FED"/>
                </a:solidFill>
                <a:latin typeface="Segoe UI"/>
                <a:ea typeface="微软雅黑"/>
                <a:cs typeface="微软雅黑"/>
              </a:rPr>
              <a:t>第 19 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286000"/>
            <a:ext cx="199636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全卷最后一题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5123" y="1645920"/>
            <a:ext cx="2453563" cy="102412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05123" y="1645920"/>
            <a:ext cx="64008" cy="102412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97731" y="1819656"/>
            <a:ext cx="1996363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9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17 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7731" y="2286000"/>
            <a:ext cx="199636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全卷最高分值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645920"/>
            <a:ext cx="2453563" cy="102412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007" y="1645920"/>
            <a:ext cx="64008" cy="1024128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5615" y="1819656"/>
            <a:ext cx="1996363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9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4 个小问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5615" y="2286000"/>
            <a:ext cx="199636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难度层层递进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0891" y="1645920"/>
            <a:ext cx="2453563" cy="102412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60891" y="1645920"/>
            <a:ext cx="64008" cy="1024128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53499" y="1819656"/>
            <a:ext cx="1996363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900" b="1">
                <a:solidFill>
                  <a:srgbClr val="E08A1E"/>
                </a:solidFill>
                <a:latin typeface="Segoe UI"/>
                <a:ea typeface="微软雅黑"/>
                <a:cs typeface="微软雅黑"/>
              </a:rPr>
              <a:t>新定义题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499" y="2286000"/>
            <a:ext cx="199636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考场上第一次见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2926080"/>
            <a:ext cx="10637215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88136" y="3264408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35607" y="3163824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为什么这么出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163824"/>
            <a:ext cx="761969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不考「刷过的题型」，考「现场学会一个新定义」的能力。</a:t>
            </a:r>
          </a:p>
        </p:txBody>
      </p:sp>
      <p:sp>
        <p:nvSpPr>
          <p:cNvPr id="29" name="Oval 28"/>
          <p:cNvSpPr/>
          <p:nvPr/>
        </p:nvSpPr>
        <p:spPr>
          <a:xfrm>
            <a:off x="1088136" y="3813048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35607" y="3712463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题型在变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712463"/>
            <a:ext cx="761969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2024 年考「新定义数列」，2025 年考三角函数，2026 年又回到「新定义」。</a:t>
            </a:r>
          </a:p>
        </p:txBody>
      </p:sp>
      <p:sp>
        <p:nvSpPr>
          <p:cNvPr id="32" name="Oval 31"/>
          <p:cNvSpPr/>
          <p:nvPr/>
        </p:nvSpPr>
        <p:spPr>
          <a:xfrm>
            <a:off x="1088136" y="4361688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35607" y="4261104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难度分布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261104"/>
            <a:ext cx="761969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第 (1)(2) 问很基础，第 (3) 问是全卷最难的一问。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102352"/>
            <a:ext cx="10637215" cy="731520"/>
          </a:xfrm>
          <a:prstGeom prst="roundRect">
            <a:avLst>
              <a:gd name="adj" fmla="val 12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88136" y="5102352"/>
            <a:ext cx="10015423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给考场上的你：</a:t>
            </a:r>
            <a:r>
              <a:rPr sz="13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先把第 (1)(2) 问稳稳拿到手，再去攻最后一问。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475488"/>
            <a:ext cx="77724" cy="42062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5" y="420624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7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这道题到底在考什么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5" y="1042415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没有超纲知识，考的是「把文字翻译成数学」的能力。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2615" y="5486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知识点 · 考点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5449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3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54496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2026 新高考一卷（新课标Ⅰ卷）· 第 19 题拆解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5172303" cy="148132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64008" cy="14813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" y="1847088"/>
            <a:ext cx="462366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2F6FED"/>
                </a:solidFill>
                <a:latin typeface="Segoe UI"/>
                <a:ea typeface="微软雅黑"/>
                <a:cs typeface="微软雅黑"/>
              </a:rPr>
              <a:t>集合语言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2359152"/>
            <a:ext cx="4550511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D(x</a:t>
            </a:r>
            <a:r>
              <a:rPr sz="936" b="0" baseline="-2500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0</a:t>
            </a:r>
            <a:r>
              <a:rPr sz="130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)</a:t>
            </a: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 里装的是「步长 d」，不是 x —— 最容易搞错。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2151" y="1645920"/>
            <a:ext cx="5172303" cy="148132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2151" y="1645920"/>
            <a:ext cx="64008" cy="1481328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3047" y="1847088"/>
            <a:ext cx="462366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分段函数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2359152"/>
            <a:ext cx="4550511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x&lt;0 用 </a:t>
            </a:r>
            <a:r>
              <a:rPr sz="130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2</a:t>
            </a:r>
            <a:r>
              <a:rPr sz="936" b="0" baseline="3000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x</a:t>
            </a: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，x≥0 换另一段：必须分类讨论。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46704"/>
            <a:ext cx="5172303" cy="148132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46704"/>
            <a:ext cx="64008" cy="1481328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" y="3547872"/>
            <a:ext cx="462366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E08A1E"/>
                </a:solidFill>
                <a:latin typeface="Segoe UI"/>
                <a:ea typeface="微软雅黑"/>
                <a:cs typeface="微软雅黑"/>
              </a:rPr>
              <a:t>指数单调性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4059936"/>
            <a:ext cx="4550511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2</a:t>
            </a:r>
            <a:r>
              <a:rPr sz="936" b="0" baseline="3000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a</a:t>
            </a: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 &gt; </a:t>
            </a:r>
            <a:r>
              <a:rPr sz="130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2</a:t>
            </a:r>
            <a:r>
              <a:rPr sz="936" b="0" baseline="3000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b</a:t>
            </a: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 ⇔ a &gt; b，用来解不等式。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2151" y="3346704"/>
            <a:ext cx="5172303" cy="148132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42151" y="3346704"/>
            <a:ext cx="64008" cy="148132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53047" y="3547872"/>
            <a:ext cx="462366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逻辑推理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047" y="4059936"/>
            <a:ext cx="4550511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f(x</a:t>
            </a:r>
            <a:r>
              <a:rPr sz="94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1</a:t>
            </a: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) ≤ f(x</a:t>
            </a:r>
            <a:r>
              <a:rPr sz="94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</a:t>
            </a: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) ⇒ </a:t>
            </a:r>
            <a:r>
              <a:rPr sz="130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D(x</a:t>
            </a:r>
            <a:r>
              <a:rPr sz="936" b="0" baseline="-2500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2</a:t>
            </a:r>
            <a:r>
              <a:rPr sz="130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)</a:t>
            </a:r>
            <a:r>
              <a:rPr sz="125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 ⊆ </a:t>
            </a:r>
            <a:r>
              <a:rPr sz="130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D(x</a:t>
            </a:r>
            <a:r>
              <a:rPr sz="936" b="0" baseline="-2500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1</a:t>
            </a:r>
            <a:r>
              <a:rPr sz="130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)</a:t>
            </a: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：正向用、反向用都要会。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010912"/>
            <a:ext cx="10637215" cy="822960"/>
          </a:xfrm>
          <a:prstGeom prst="roundRect">
            <a:avLst>
              <a:gd name="adj" fmla="val 12000"/>
            </a:avLst>
          </a:prstGeom>
          <a:solidFill>
            <a:srgbClr val="E9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8136" y="5010912"/>
            <a:ext cx="10015423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F6FED"/>
                </a:solidFill>
                <a:latin typeface="Segoe UI"/>
                <a:ea typeface="微软雅黑"/>
                <a:cs typeface="微软雅黑"/>
              </a:rPr>
              <a:t>一句话读懂定义：</a:t>
            </a:r>
            <a:r>
              <a:rPr sz="13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站定 x</a:t>
            </a:r>
            <a:r>
              <a:rPr sz="94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0</a:t>
            </a:r>
            <a:r>
              <a:rPr sz="13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，能「往上走」的所有步长 d 组成的集合，就是 </a:t>
            </a:r>
            <a:r>
              <a:rPr sz="130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D(x</a:t>
            </a:r>
            <a:r>
              <a:rPr sz="936" b="0" baseline="-2500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0</a:t>
            </a:r>
            <a:r>
              <a:rPr sz="130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)</a:t>
            </a:r>
            <a:r>
              <a:rPr sz="13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475488"/>
            <a:ext cx="77724" cy="42062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5" y="420624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7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解题步骤与得分点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5" y="1042415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四问逐个展开：这一步写什么、分从哪来（分值为参考切分，官方评分细则不公开）。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2615" y="5486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步骤 · 得分点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5449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4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54496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2026 新高考一卷（新课标Ⅰ卷）· 第 19 题拆解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10637215" cy="1068019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64008" cy="1068019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472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2F6FED"/>
                </a:solidFill>
                <a:latin typeface="Segoe UI"/>
                <a:ea typeface="微软雅黑"/>
                <a:cs typeface="微软雅黑"/>
              </a:rPr>
              <a:t>第 (1) 问 · 直接算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5735" y="14721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2F6FED"/>
                </a:solidFill>
                <a:latin typeface="Segoe UI"/>
                <a:ea typeface="微软雅黑"/>
                <a:cs typeface="微软雅黑"/>
              </a:rPr>
              <a:t>3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709928"/>
            <a:ext cx="10088575" cy="5102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① 求 f(-1)：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-1&lt;0 ⇒ f(-1)=2</a:t>
            </a:r>
            <a:r>
              <a:rPr sz="700" b="0" baseline="30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-1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=1/2。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② d&lt;1 时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 -1+d&lt;0，2</a:t>
            </a:r>
            <a:r>
              <a:rPr sz="719" b="0" baseline="30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d-1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 &gt; 1/2 ⇒ d&gt;0，得 0&lt;d&lt;1；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③ d≥1 时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 -1+d≥0，2-d &gt; 1/2 ⇒ d&lt;3/2，得 1≤d&lt;3/2；</a:t>
            </a:r>
            <a:r>
              <a:rPr sz="10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④ 合并得 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D(-1)=(0,1)∪[1,3/2)=</a:t>
            </a:r>
            <a:r>
              <a:rPr sz="10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(0,3/2)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2265883"/>
            <a:ext cx="10088575" cy="228600"/>
          </a:xfrm>
          <a:prstGeom prst="roundRect">
            <a:avLst>
              <a:gd name="adj" fmla="val 12000"/>
            </a:avLst>
          </a:prstGeom>
          <a:solidFill>
            <a:srgbClr val="E9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61288" y="2265883"/>
            <a:ext cx="9869119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得分点 ①算出 f(-1)=1/2　②分 d&lt;1 与 d≥1 两种情况讨论（每种算对得 1 分）　③合并成 (0,3/2)，端点左开右开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558491"/>
            <a:ext cx="10637215" cy="1068019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2558491"/>
            <a:ext cx="64008" cy="1068019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2585923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第 (2) 问 · 用奇函数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5735" y="2585923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4 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823667"/>
            <a:ext cx="10088575" cy="5102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① 奇函数 ⇒ 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x&gt;0 时 f(x)=-f(-x)=-2</a:t>
            </a:r>
            <a:r>
              <a:rPr sz="700" b="0" baseline="30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-x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（题目没给，这一步要自己推）。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② 写出区间：</a:t>
            </a:r>
            <a:r>
              <a:rPr sz="100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D(x</a:t>
            </a:r>
            <a:r>
              <a:rPr sz="719" b="0" baseline="-2500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0</a:t>
            </a:r>
            <a:r>
              <a:rPr sz="100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)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 在 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0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&lt;0 时为 (0,-x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0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)，x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0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&gt;0 时为 (-∞,-x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0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]∪(0,+∞)。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③ 分类比较：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1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≤x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≤0、0&lt;x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1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≤x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、x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&lt;0&lt;x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1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 三类，每类都得 D(x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)⊆D(x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1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)。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379622"/>
            <a:ext cx="10088575" cy="228600"/>
          </a:xfrm>
          <a:prstGeom prst="roundRect">
            <a:avLst>
              <a:gd name="adj" fmla="val 12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61288" y="3379622"/>
            <a:ext cx="9869119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得分点 ①写出 x&gt;0 的表达式得 1 分（写成 x=0 者不得分）　②写出 D 的区间　③三种情况各 1 分　④得 D(x2)⊆D(x1)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672230"/>
            <a:ext cx="10637215" cy="1238097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3672230"/>
            <a:ext cx="64008" cy="1238097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369966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E08A1E"/>
                </a:solidFill>
                <a:latin typeface="Segoe UI"/>
                <a:ea typeface="微软雅黑"/>
                <a:cs typeface="微软雅黑"/>
              </a:rPr>
              <a:t>第 (3) 问 (i) · 反证法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5735" y="369966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E08A1E"/>
                </a:solidFill>
                <a:latin typeface="Segoe UI"/>
                <a:ea typeface="微软雅黑"/>
                <a:cs typeface="微软雅黑"/>
              </a:rPr>
              <a:t>4 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937406"/>
            <a:ext cx="10088575" cy="68031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① 反设 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f(0)&lt;1；由 p→0</a:t>
            </a:r>
            <a:r>
              <a:rPr sz="700" b="0" baseline="30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-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 时 2</a:t>
            </a:r>
            <a:r>
              <a:rPr sz="700" b="0" baseline="30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p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→1&gt;f(0)，取 p∈(-1,0) 使 f(p)=2</a:t>
            </a:r>
            <a:r>
              <a:rPr sz="700" b="0" baseline="30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p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&gt;f(0)。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② 用条件①：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取 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1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=0、x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=p，由 f(0)&lt;f(p) 得 D(p)⊆D(0)。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③ 造矛盾：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d∈(0,-p) 时 p+d∈(-1,0)，f(p+d)=2</a:t>
            </a:r>
            <a:r>
              <a:rPr sz="700" b="0" baseline="30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p+d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&gt;2</a:t>
            </a:r>
            <a:r>
              <a:rPr sz="700" b="0" baseline="30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p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=f(p)，故 (0,-p)⊆D(p)⊆D(0)；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　　</a:t>
            </a:r>
            <a:r>
              <a:rPr sz="10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④ 收尾：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但 (0,-p)⊂(0,1)，由条件② 得 f(d)&lt;f(0)，即 d∉D(0)，矛盾 ⇒ </a:t>
            </a:r>
            <a:r>
              <a:rPr sz="1000" b="1">
                <a:solidFill>
                  <a:srgbClr val="0E9F6E"/>
                </a:solidFill>
                <a:latin typeface="Segoe UI"/>
                <a:ea typeface="微软雅黑"/>
                <a:cs typeface="微软雅黑"/>
              </a:rPr>
              <a:t>f(0)≥1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4663440"/>
            <a:ext cx="10088575" cy="22860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61288" y="4663440"/>
            <a:ext cx="9869119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得分点 ①反设 f(0)&lt;1　②说明存在 p∈(-1,0) 使 2^p&gt;f(0)　③用条件①得 D(p)⊆D(0)　④用条件②导出矛盾并下结论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956048"/>
            <a:ext cx="10637215" cy="1068019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4956048"/>
            <a:ext cx="64008" cy="1068019"/>
          </a:xfrm>
          <a:prstGeom prst="rect">
            <a:avLst/>
          </a:prstGeom>
          <a:solidFill>
            <a:srgbClr val="D1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1560" y="4983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D13A3A"/>
                </a:solidFill>
                <a:latin typeface="Segoe UI"/>
                <a:ea typeface="微软雅黑"/>
                <a:cs typeface="微软雅黑"/>
              </a:rPr>
              <a:t>第 (3) 问 (ii) · 链式推理（最难一问）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5735" y="4983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D13A3A"/>
                </a:solidFill>
                <a:latin typeface="Segoe UI"/>
                <a:ea typeface="微软雅黑"/>
                <a:cs typeface="微软雅黑"/>
              </a:rPr>
              <a:t>6 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221224"/>
            <a:ext cx="10088575" cy="5102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① 明确目标：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证 0&lt;x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1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&lt;x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 时 f(x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1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)&lt;f(x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)。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② 先证符号：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先证 x∈(0,1) 时 f(x)≤0，再推广到 x&gt;0 时 f(x)&lt;0。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③ 链式用①：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设 0&lt;x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1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&lt;x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，把 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-x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1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∈D(x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1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) 链式推出 f(x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)&gt;f(x</a:t>
            </a:r>
            <a:r>
              <a:rPr sz="700" b="0" baseline="-2500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1</a:t>
            </a:r>
            <a:r>
              <a:rPr sz="10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)，即单调递增。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1560" y="5777179"/>
            <a:ext cx="10088575" cy="2286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61288" y="5777179"/>
            <a:ext cx="9869119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得分点 ①写出待证目标　②先证 x&gt;0 时 f(x)&lt;0（关键铺垫）　③链式使用条件①　④得 (0,+∞) 上单调递增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475488"/>
            <a:ext cx="77724" cy="42062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695" y="420624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7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带走这三句话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5" y="1042415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压轴题不可怕：定义读透 → 特例先算 → 逻辑收尾。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2615" y="5486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总结 · 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5449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54496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2026 新高考一卷（新课标Ⅰ卷）· 第 19 题拆解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3350666" cy="22860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88136" y="1920240"/>
            <a:ext cx="512064" cy="51206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93392"/>
            <a:ext cx="216194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读懂定义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2743200"/>
            <a:ext cx="272887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新定义题的第一步永远是：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把没见过的符号，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翻译成一句人话。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0514" y="1691640"/>
            <a:ext cx="3350666" cy="22860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31410" y="1920240"/>
            <a:ext cx="512064" cy="512064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0634" y="1993392"/>
            <a:ext cx="216194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先易后难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1410" y="2743200"/>
            <a:ext cx="272887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第 (1)(2) 问套公式就能拿分，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先把它们做稳，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再去啃最后一问。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3788" y="1691640"/>
            <a:ext cx="3350666" cy="22860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74684" y="1920240"/>
            <a:ext cx="512064" cy="512064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3908" y="1993392"/>
            <a:ext cx="216194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逻辑取胜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4684" y="2743200"/>
            <a:ext cx="272887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包含关系靠反证 + 链式推理，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不靠灵感，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靠的是把条件用满。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87952"/>
            <a:ext cx="10637215" cy="914400"/>
          </a:xfrm>
          <a:prstGeom prst="roundRect">
            <a:avLst>
              <a:gd name="adj" fmla="val 12000"/>
            </a:avLst>
          </a:prstGeom>
          <a:solidFill>
            <a:srgbClr val="E9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8136" y="4187952"/>
            <a:ext cx="10015423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F6FED"/>
                </a:solidFill>
                <a:latin typeface="Segoe UI"/>
                <a:ea typeface="微软雅黑"/>
                <a:cs typeface="微软雅黑"/>
              </a:rPr>
              <a:t>给大一同学：</a:t>
            </a:r>
            <a:r>
              <a:rPr sz="1300" b="0">
                <a:solidFill>
                  <a:srgbClr val="5B6B84"/>
                </a:solidFill>
                <a:latin typeface="Segoe UI"/>
                <a:ea typeface="微软雅黑"/>
                <a:cs typeface="微软雅黑"/>
              </a:rPr>
              <a:t>「定义 → 特例 → 证明」这套流程，读论文、写代码一样好用；先用自己思路走一遍，再让 AI 帮你逐步检查。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58384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42A4C"/>
                </a:solidFill>
                <a:latin typeface="Segoe UI"/>
                <a:ea typeface="微软雅黑"/>
                <a:cs typeface="微软雅黑"/>
              </a:rPr>
              <a:t>压轴题不是天才题，是流程题。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2130</Words>
  <Application>Microsoft Office PowerPoint</Application>
  <PresentationFormat>宽屏</PresentationFormat>
  <Paragraphs>163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Calibri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zoupeilin</dc:creator>
  <cp:keywords/>
  <dc:description>generated using python-pptx</dc:description>
  <cp:lastModifiedBy>沛霖 邹</cp:lastModifiedBy>
  <cp:revision>1</cp:revision>
  <dcterms:created xsi:type="dcterms:W3CDTF">2013-01-27T09:14:16Z</dcterms:created>
  <dcterms:modified xsi:type="dcterms:W3CDTF">2026-10-15T11:42:49Z</dcterms:modified>
  <cp:category/>
</cp:coreProperties>
</file>