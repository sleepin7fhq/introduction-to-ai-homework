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57360" y="-1188720"/>
            <a:ext cx="4206240" cy="4206240"/>
          </a:xfrm>
          <a:prstGeom prst="ellipse">
            <a:avLst/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28960" y="4663440"/>
            <a:ext cx="3108960" cy="3108960"/>
          </a:xfrm>
          <a:prstGeom prst="ellipse">
            <a:avLst/>
          </a:prstGeom>
          <a:solidFill>
            <a:srgbClr val="12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88720"/>
            <a:ext cx="8778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D9A8"/>
                </a:solidFill>
                <a:latin typeface="Segoe UI" panose="020B0502040204020203"/>
              </a:rPr>
              <a:t>费 马 大 定 理</a:t>
            </a:r>
            <a:endParaRPr sz="1500" b="1" i="0">
              <a:solidFill>
                <a:srgbClr val="E8D9A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 panose="02040503050406030204"/>
              </a:rPr>
              <a:t>当 n = 5 的情形</a:t>
            </a:r>
            <a:endParaRPr sz="4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51560" y="2926080"/>
            <a:ext cx="1463040" cy="32004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10174605" cy="23279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FFFFFF"/>
                </a:solidFill>
                <a:latin typeface="Segoe UI" panose="020B0502040204020203"/>
              </a:rPr>
              <a:t>不存在正整数 x, y, z 满足   x</a:t>
            </a:r>
            <a:r>
              <a:rPr sz="1215" b="0" i="0" baseline="30000">
                <a:solidFill>
                  <a:srgbClr val="FFFFFF"/>
                </a:solidFill>
                <a:latin typeface="Segoe UI" panose="020B0502040204020203"/>
              </a:rPr>
              <a:t>5</a:t>
            </a:r>
            <a:r>
              <a:rPr sz="1900" b="0" i="0">
                <a:solidFill>
                  <a:srgbClr val="FFFFFF"/>
                </a:solidFill>
                <a:latin typeface="Segoe UI" panose="020B0502040204020203"/>
              </a:rPr>
              <a:t> + y</a:t>
            </a:r>
            <a:r>
              <a:rPr sz="1215" b="0" i="0" baseline="30000">
                <a:solidFill>
                  <a:srgbClr val="FFFFFF"/>
                </a:solidFill>
                <a:latin typeface="Segoe UI" panose="020B0502040204020203"/>
              </a:rPr>
              <a:t>5</a:t>
            </a:r>
            <a:r>
              <a:rPr sz="1900" b="0" i="0">
                <a:solidFill>
                  <a:srgbClr val="FFFFFF"/>
                </a:solidFill>
                <a:latin typeface="Segoe UI" panose="020B0502040204020203"/>
              </a:rPr>
              <a:t> = z</a:t>
            </a:r>
            <a:r>
              <a:rPr sz="1215" b="0" i="0" baseline="30000">
                <a:solidFill>
                  <a:srgbClr val="FFFFFF"/>
                </a:solidFill>
                <a:latin typeface="Segoe UI" panose="020B0502040204020203"/>
              </a:rPr>
              <a:t>5</a:t>
            </a:r>
            <a:endParaRPr sz="1215" b="0" i="0" baseline="30000">
              <a:solidFill>
                <a:srgbClr val="FFFFFF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9C6D8"/>
                </a:solidFill>
                <a:latin typeface="Segoe UI" panose="020B0502040204020203"/>
              </a:rPr>
              <a:t>分解式 · 辅助素数 · 二次域：证明的逻辑骨架与逐步计算复核</a:t>
            </a:r>
            <a:endParaRPr sz="1350" b="0" i="0">
              <a:solidFill>
                <a:srgbClr val="B9C6D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2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CONTENTS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目录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5285232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50292" cy="1042415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10512"/>
            <a:ext cx="475488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01   问题的陈述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65E6A"/>
                </a:solidFill>
                <a:latin typeface="Segoe UI" panose="020B0502040204020203"/>
              </a:rPr>
              <a:t>方程、本原解与奇偶性归约</a:t>
            </a:r>
            <a:endParaRPr sz="11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285232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0292" cy="1042415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1810512"/>
            <a:ext cx="475488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02   Barlow 分解式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65E6A"/>
                </a:solidFill>
                <a:latin typeface="Segoe UI" panose="020B0502040204020203"/>
              </a:rPr>
              <a:t>n = 5 证明的起点</a:t>
            </a:r>
            <a:endParaRPr sz="11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62656"/>
            <a:ext cx="5285232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62656"/>
            <a:ext cx="50292" cy="1042415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127248"/>
            <a:ext cx="475488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03   两个初等引理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65E6A"/>
                </a:solidFill>
                <a:latin typeface="Segoe UI" panose="020B0502040204020203"/>
              </a:rPr>
              <a:t>互素性与 5-adic 赋值</a:t>
            </a:r>
            <a:endParaRPr sz="11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60" y="2962656"/>
            <a:ext cx="5285232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962656"/>
            <a:ext cx="50292" cy="1042415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3127248"/>
            <a:ext cx="475488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04   Case 1：辅助素数法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65E6A"/>
                </a:solidFill>
                <a:latin typeface="Segoe UI" panose="020B0502040204020203"/>
              </a:rPr>
              <a:t>Sophie Germain 定理与 θ = 11</a:t>
            </a:r>
            <a:endParaRPr sz="11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4279392"/>
            <a:ext cx="5285232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79392"/>
            <a:ext cx="50292" cy="1042415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443984"/>
            <a:ext cx="475488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05   Case 2：结构与难点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65E6A"/>
                </a:solidFill>
                <a:latin typeface="Segoe UI" panose="020B0502040204020203"/>
              </a:rPr>
              <a:t>5 | xyz 的精确记账</a:t>
            </a:r>
            <a:endParaRPr sz="11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09360" y="4279392"/>
            <a:ext cx="5285232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4279392"/>
            <a:ext cx="50292" cy="1042415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4443984"/>
            <a:ext cx="475488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06   二次域与验证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65E6A"/>
                </a:solidFill>
                <a:latin typeface="Segoe UI" panose="020B0502040204020203"/>
              </a:rPr>
              <a:t>为何需要 ℚ(√5)；计算复核</a:t>
            </a:r>
            <a:endParaRPr sz="1150" b="0" i="0">
              <a:solidFill>
                <a:srgbClr val="565E6A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3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1 · 问题的陈述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方程与基本归约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74824" y="1463040"/>
            <a:ext cx="7642352" cy="7716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0B2545"/>
                </a:solidFill>
                <a:latin typeface="Cambria" panose="02040503050406030204"/>
              </a:rPr>
              <a:t>x</a:t>
            </a:r>
            <a:r>
              <a:rPr sz="230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3600" b="0" i="0">
                <a:solidFill>
                  <a:srgbClr val="0B2545"/>
                </a:solidFill>
                <a:latin typeface="Cambria" panose="02040503050406030204"/>
              </a:rPr>
              <a:t> + </a:t>
            </a:r>
            <a:r>
              <a:rPr sz="3600" b="0" i="1">
                <a:solidFill>
                  <a:srgbClr val="0B2545"/>
                </a:solidFill>
                <a:latin typeface="Cambria" panose="02040503050406030204"/>
              </a:rPr>
              <a:t>y</a:t>
            </a:r>
            <a:r>
              <a:rPr sz="230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3600" b="0" i="0">
                <a:solidFill>
                  <a:srgbClr val="0B2545"/>
                </a:solidFill>
                <a:latin typeface="Cambria" panose="02040503050406030204"/>
              </a:rPr>
              <a:t> = </a:t>
            </a:r>
            <a:r>
              <a:rPr sz="3600" b="0" i="1">
                <a:solidFill>
                  <a:srgbClr val="0B2545"/>
                </a:solidFill>
                <a:latin typeface="Cambria" panose="02040503050406030204"/>
              </a:rPr>
              <a:t>z</a:t>
            </a:r>
            <a:r>
              <a:rPr sz="230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3600" b="0" i="0">
                <a:solidFill>
                  <a:srgbClr val="0B2545"/>
                </a:solidFill>
                <a:latin typeface="Cambria" panose="02040503050406030204"/>
              </a:rPr>
              <a:t>,    </a:t>
            </a:r>
            <a:r>
              <a:rPr sz="3600" b="0" i="1">
                <a:solidFill>
                  <a:srgbClr val="0B2545"/>
                </a:solidFill>
                <a:latin typeface="Cambria" panose="02040503050406030204"/>
              </a:rPr>
              <a:t>x</a:t>
            </a:r>
            <a:r>
              <a:rPr sz="3600" b="0" i="0">
                <a:solidFill>
                  <a:srgbClr val="0B2545"/>
                </a:solidFill>
                <a:latin typeface="Cambria" panose="02040503050406030204"/>
              </a:rPr>
              <a:t>, </a:t>
            </a:r>
            <a:r>
              <a:rPr sz="3600" b="0" i="1">
                <a:solidFill>
                  <a:srgbClr val="0B2545"/>
                </a:solidFill>
                <a:latin typeface="Cambria" panose="02040503050406030204"/>
              </a:rPr>
              <a:t>y</a:t>
            </a:r>
            <a:r>
              <a:rPr sz="3600" b="0" i="0">
                <a:solidFill>
                  <a:srgbClr val="0B2545"/>
                </a:solidFill>
                <a:latin typeface="Cambria" panose="02040503050406030204"/>
              </a:rPr>
              <a:t>, </a:t>
            </a:r>
            <a:r>
              <a:rPr sz="3600" b="0" i="1">
                <a:solidFill>
                  <a:srgbClr val="0B2545"/>
                </a:solidFill>
                <a:latin typeface="Cambria" panose="02040503050406030204"/>
              </a:rPr>
              <a:t>z</a:t>
            </a:r>
            <a:r>
              <a:rPr sz="3600" b="0" i="0">
                <a:solidFill>
                  <a:srgbClr val="0B2545"/>
                </a:solidFill>
                <a:latin typeface="Cambria" panose="02040503050406030204"/>
              </a:rPr>
              <a:t> ∈ ℤ</a:t>
            </a:r>
            <a:r>
              <a:rPr sz="2305" b="0" i="0" baseline="-25000">
                <a:solidFill>
                  <a:srgbClr val="0B2545"/>
                </a:solidFill>
                <a:latin typeface="Cambria" panose="02040503050406030204"/>
              </a:rPr>
              <a:t>&gt;0</a:t>
            </a:r>
            <a:endParaRPr sz="2305" b="0" i="0" baseline="-2500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108813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500" b="1" i="0">
                <a:solidFill>
                  <a:srgbClr val="0B2545"/>
                </a:solidFill>
                <a:latin typeface="Segoe UI" panose="020B0502040204020203"/>
              </a:rPr>
              <a:t>取本原解：</a:t>
            </a:r>
            <a:r>
              <a:rPr sz="1500" b="0" i="0">
                <a:solidFill>
                  <a:srgbClr val="1A1A1A"/>
                </a:solidFill>
                <a:latin typeface="Segoe UI" panose="020B0502040204020203"/>
              </a:rPr>
              <a:t>若方程有解，则存在 gcd(x, y, z) = 1 的解。</a:t>
            </a:r>
            <a:endParaRPr sz="1500" b="0" i="0">
              <a:solidFill>
                <a:srgbClr val="1A1A1A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500" b="1" i="0">
                <a:solidFill>
                  <a:srgbClr val="0B2545"/>
                </a:solidFill>
                <a:latin typeface="Segoe UI" panose="020B0502040204020203"/>
              </a:rPr>
              <a:t>本原解中 x, y, z 两两互素，且恰有一个为偶数。</a:t>
            </a:r>
            <a:r>
              <a:rPr sz="1500" b="0" i="0">
                <a:solidFill>
                  <a:srgbClr val="1A1A1A"/>
                </a:solidFill>
                <a:latin typeface="Segoe UI" panose="020B0502040204020203"/>
              </a:rPr>
              <a:t> 不妨设 y 偶、x, z 奇。</a:t>
            </a:r>
            <a:endParaRPr sz="1500" b="0" i="0">
              <a:solidFill>
                <a:srgbClr val="1A1A1A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500" b="1" i="0">
                <a:solidFill>
                  <a:srgbClr val="0B2545"/>
                </a:solidFill>
                <a:latin typeface="Segoe UI" panose="020B0502040204020203"/>
              </a:rPr>
              <a:t>证明分成两种情形：</a:t>
            </a:r>
            <a:r>
              <a:rPr sz="1500" b="0" i="0">
                <a:solidFill>
                  <a:srgbClr val="1A1A1A"/>
                </a:solidFill>
                <a:latin typeface="Segoe UI" panose="020B0502040204020203"/>
              </a:rPr>
              <a:t>Case 1（5 ∤ xyz）与 Case 2（5 | xyz），两者需要完全不同的工具。</a:t>
            </a:r>
            <a:endParaRPr sz="15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950208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F2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4133087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2545"/>
                </a:solidFill>
                <a:latin typeface="Segoe UI" panose="020B0502040204020203"/>
              </a:rPr>
              <a:t>本文的核心结论：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Case 1 可由 Sophie Germain 辅助素数法（θ = 11）完全排除；Case 2 则必须借助实二次域 ℚ(√5) 中的无穷递降。把两者分开，才能看清 n = 5 的真正难度所在。</a:t>
            </a:r>
            <a:endParaRPr sz="1350" b="0" i="0">
              <a:solidFill>
                <a:srgbClr val="1A1A1A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4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2 · Barlow 分解式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n = 5 证明的起点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11" y="1664208"/>
            <a:ext cx="10593578" cy="4975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+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= (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) Φ</a:t>
            </a:r>
            <a:r>
              <a:rPr sz="1470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),    Φ</a:t>
            </a:r>
            <a:r>
              <a:rPr sz="1470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) =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4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-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3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+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-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ab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3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+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4</a:t>
            </a:r>
            <a:endParaRPr sz="1470" b="0" i="0" baseline="3000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779776"/>
            <a:ext cx="5212080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96265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65E6A"/>
                </a:solidFill>
                <a:latin typeface="Segoe UI" panose="020B0502040204020203"/>
              </a:rPr>
              <a:t>对 a</a:t>
            </a:r>
            <a:r>
              <a:rPr sz="800" b="0" i="0" baseline="30000">
                <a:solidFill>
                  <a:srgbClr val="565E6A"/>
                </a:solidFill>
                <a:latin typeface="Segoe UI" panose="020B0502040204020203"/>
              </a:rPr>
              <a:t>5</a:t>
            </a:r>
            <a:r>
              <a:rPr sz="1250" b="0" i="0">
                <a:solidFill>
                  <a:srgbClr val="565E6A"/>
                </a:solidFill>
                <a:latin typeface="Segoe UI" panose="020B0502040204020203"/>
              </a:rPr>
              <a:t> + b</a:t>
            </a:r>
            <a:r>
              <a:rPr sz="800" b="0" i="0" baseline="30000">
                <a:solidFill>
                  <a:srgbClr val="565E6A"/>
                </a:solidFill>
                <a:latin typeface="Segoe UI" panose="020B0502040204020203"/>
              </a:rPr>
              <a:t>5</a:t>
            </a:r>
            <a:r>
              <a:rPr sz="1250" b="0" i="0">
                <a:solidFill>
                  <a:srgbClr val="565E6A"/>
                </a:solidFill>
                <a:latin typeface="Segoe UI" panose="020B0502040204020203"/>
              </a:rPr>
              <a:t> 直接展开即得（a, b 互素时）：</a:t>
            </a:r>
            <a:endParaRPr sz="12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9082" y="3383280"/>
            <a:ext cx="2930652" cy="413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gcd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,  Φ</a:t>
            </a:r>
            <a:r>
              <a:rPr sz="121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)) ∣ 5</a:t>
            </a:r>
            <a:endParaRPr sz="19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" y="393192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证明只需代入 </a:t>
            </a:r>
            <a:r>
              <a:rPr sz="12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200" b="0" i="0">
                <a:solidFill>
                  <a:srgbClr val="0B2545"/>
                </a:solidFill>
                <a:latin typeface="Segoe UI" panose="020B0502040204020203"/>
              </a:rPr>
              <a:t> ≡ -</a:t>
            </a:r>
            <a:r>
              <a:rPr sz="12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200" b="0" i="0">
                <a:solidFill>
                  <a:srgbClr val="0B2545"/>
                </a:solidFill>
                <a:latin typeface="Segoe UI" panose="020B0502040204020203"/>
              </a:rPr>
              <a:t>  (</a:t>
            </a:r>
            <a:r>
              <a:rPr sz="1200" b="0" i="0">
                <a:solidFill>
                  <a:srgbClr val="0B2545"/>
                </a:solidFill>
                <a:latin typeface="Segoe UI" panose="020B0502040204020203"/>
              </a:rPr>
              <a:t>mod</a:t>
            </a:r>
            <a:r>
              <a:rPr sz="1200" b="0" i="0">
                <a:solidFill>
                  <a:srgbClr val="0B2545"/>
                </a:solidFill>
                <a:latin typeface="Segoe UI" panose="020B0502040204020203"/>
              </a:rPr>
              <a:t> </a:t>
            </a:r>
            <a:r>
              <a:rPr sz="1200" b="0" i="1">
                <a:solidFill>
                  <a:srgbClr val="0B2545"/>
                </a:solidFill>
                <a:latin typeface="Cambria" panose="02040503050406030204"/>
              </a:rPr>
              <a:t>p</a:t>
            </a:r>
            <a:r>
              <a:rPr sz="1200" b="0" i="0">
                <a:solidFill>
                  <a:srgbClr val="0B2545"/>
                </a:solidFill>
                <a:latin typeface="Segoe UI" panose="020B0502040204020203"/>
              </a:rPr>
              <a:t>)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：Φ</a:t>
            </a:r>
            <a:r>
              <a:rPr sz="77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 的中间四项都等于 b</a:t>
            </a:r>
            <a:r>
              <a:rPr sz="770" b="0" i="0" baseline="30000">
                <a:solidFill>
                  <a:srgbClr val="1A1A1A"/>
                </a:solidFill>
                <a:latin typeface="Segoe UI" panose="020B0502040204020203"/>
              </a:rPr>
              <a:t>4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，和为 5b</a:t>
            </a:r>
            <a:r>
              <a:rPr sz="770" b="0" i="0" baseline="30000">
                <a:solidFill>
                  <a:srgbClr val="1A1A1A"/>
                </a:solidFill>
                <a:latin typeface="Segoe UI" panose="020B0502040204020203"/>
              </a:rPr>
              <a:t>4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，故公因数只能是 1 或 5。</a:t>
            </a:r>
            <a:endParaRPr sz="12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80" y="2779776"/>
            <a:ext cx="5166360" cy="272491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962656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D9A8"/>
                </a:solidFill>
                <a:latin typeface="Cambria" panose="02040503050406030204"/>
              </a:rPr>
              <a:t>代入本原解 z</a:t>
            </a:r>
            <a:r>
              <a:rPr sz="895" b="1" i="0" baseline="30000">
                <a:solidFill>
                  <a:srgbClr val="E8D9A8"/>
                </a:solidFill>
                <a:latin typeface="Cambria" panose="02040503050406030204"/>
              </a:rPr>
              <a:t>5</a:t>
            </a:r>
            <a:r>
              <a:rPr sz="1400" b="1" i="0">
                <a:solidFill>
                  <a:srgbClr val="E8D9A8"/>
                </a:solidFill>
                <a:latin typeface="Cambria" panose="02040503050406030204"/>
              </a:rPr>
              <a:t> = x</a:t>
            </a:r>
            <a:r>
              <a:rPr sz="895" b="1" i="0" baseline="30000">
                <a:solidFill>
                  <a:srgbClr val="E8D9A8"/>
                </a:solidFill>
                <a:latin typeface="Cambria" panose="02040503050406030204"/>
              </a:rPr>
              <a:t>5</a:t>
            </a:r>
            <a:r>
              <a:rPr sz="1400" b="1" i="0">
                <a:solidFill>
                  <a:srgbClr val="E8D9A8"/>
                </a:solidFill>
                <a:latin typeface="Cambria" panose="02040503050406030204"/>
              </a:rPr>
              <a:t> + y</a:t>
            </a:r>
            <a:r>
              <a:rPr sz="895" b="1" i="0" baseline="30000">
                <a:solidFill>
                  <a:srgbClr val="E8D9A8"/>
                </a:solidFill>
                <a:latin typeface="Cambria" panose="02040503050406030204"/>
              </a:rPr>
              <a:t>5</a:t>
            </a:r>
            <a:endParaRPr sz="895" b="1" i="0" baseline="30000">
              <a:solidFill>
                <a:srgbClr val="E8D9A8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07249" y="3383280"/>
            <a:ext cx="2452878" cy="413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FFFFFF"/>
                </a:solidFill>
                <a:latin typeface="Cambria" panose="02040503050406030204"/>
              </a:rPr>
              <a:t>z</a:t>
            </a:r>
            <a:r>
              <a:rPr sz="1215" b="0" i="0" baseline="30000">
                <a:solidFill>
                  <a:srgbClr val="FFFFFF"/>
                </a:solidFill>
                <a:latin typeface="Cambria" panose="02040503050406030204"/>
              </a:rPr>
              <a:t>5</a:t>
            </a:r>
            <a:r>
              <a:rPr sz="1900" b="0" i="0">
                <a:solidFill>
                  <a:srgbClr val="FFFFFF"/>
                </a:solidFill>
                <a:latin typeface="Cambria" panose="02040503050406030204"/>
              </a:rPr>
              <a:t> = (</a:t>
            </a:r>
            <a:r>
              <a:rPr sz="1900" b="0" i="1">
                <a:solidFill>
                  <a:srgbClr val="FFFFFF"/>
                </a:solidFill>
                <a:latin typeface="Cambria" panose="02040503050406030204"/>
              </a:rPr>
              <a:t>x</a:t>
            </a:r>
            <a:r>
              <a:rPr sz="1900" b="0" i="0">
                <a:solidFill>
                  <a:srgbClr val="FFFFFF"/>
                </a:solidFill>
                <a:latin typeface="Cambria" panose="02040503050406030204"/>
              </a:rPr>
              <a:t>+</a:t>
            </a:r>
            <a:r>
              <a:rPr sz="1900" b="0" i="1">
                <a:solidFill>
                  <a:srgbClr val="FFFFFF"/>
                </a:solidFill>
                <a:latin typeface="Cambria" panose="02040503050406030204"/>
              </a:rPr>
              <a:t>y</a:t>
            </a:r>
            <a:r>
              <a:rPr sz="1900" b="0" i="0">
                <a:solidFill>
                  <a:srgbClr val="FFFFFF"/>
                </a:solidFill>
                <a:latin typeface="Cambria" panose="02040503050406030204"/>
              </a:rPr>
              <a:t>) Φ</a:t>
            </a:r>
            <a:r>
              <a:rPr sz="1215" b="0" i="0" baseline="-25000">
                <a:solidFill>
                  <a:srgbClr val="FFFFFF"/>
                </a:solidFill>
                <a:latin typeface="Cambria" panose="02040503050406030204"/>
              </a:rPr>
              <a:t>5</a:t>
            </a:r>
            <a:r>
              <a:rPr sz="1900" b="0" i="0">
                <a:solidFill>
                  <a:srgbClr val="FFFFFF"/>
                </a:solidFill>
                <a:latin typeface="Cambria" panose="02040503050406030204"/>
              </a:rPr>
              <a:t>(</a:t>
            </a:r>
            <a:r>
              <a:rPr sz="1900" b="0" i="1">
                <a:solidFill>
                  <a:srgbClr val="FFFFFF"/>
                </a:solidFill>
                <a:latin typeface="Cambria" panose="02040503050406030204"/>
              </a:rPr>
              <a:t>x</a:t>
            </a:r>
            <a:r>
              <a:rPr sz="1900" b="0" i="0">
                <a:solidFill>
                  <a:srgbClr val="FFFFFF"/>
                </a:solidFill>
                <a:latin typeface="Cambria" panose="02040503050406030204"/>
              </a:rPr>
              <a:t>,</a:t>
            </a:r>
            <a:r>
              <a:rPr sz="1900" b="0" i="1">
                <a:solidFill>
                  <a:srgbClr val="FFFFFF"/>
                </a:solidFill>
                <a:latin typeface="Cambria" panose="02040503050406030204"/>
              </a:rPr>
              <a:t>y</a:t>
            </a:r>
            <a:r>
              <a:rPr sz="1900" b="0" i="0">
                <a:solidFill>
                  <a:srgbClr val="FFFFFF"/>
                </a:solidFill>
                <a:latin typeface="Cambria" panose="02040503050406030204"/>
              </a:rPr>
              <a:t>)</a:t>
            </a:r>
            <a:endParaRPr sz="1900" b="0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93408" y="3931920"/>
            <a:ext cx="45262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5F0"/>
                </a:solidFill>
                <a:latin typeface="Segoe UI" panose="020B0502040204020203"/>
              </a:rPr>
              <a:t>z</a:t>
            </a:r>
            <a:r>
              <a:rPr sz="770" b="0" i="0" baseline="30000">
                <a:solidFill>
                  <a:srgbClr val="DDE5F0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DDE5F0"/>
                </a:solidFill>
                <a:latin typeface="Segoe UI" panose="020B0502040204020203"/>
              </a:rPr>
              <a:t> 被分解成两个因子，它们的公因数只能是 5。这个「几乎互素」的分解就是整个论证的支点。</a:t>
            </a:r>
            <a:endParaRPr sz="1200" b="0" i="0">
              <a:solidFill>
                <a:srgbClr val="DDE5F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3 · 两个初等引理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互素性与 5-adic 赋值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5361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mbria" panose="02040503050406030204"/>
              </a:rPr>
              <a:t>引理 1（互素性）</a:t>
            </a:r>
            <a:endParaRPr sz="145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75536" y="1938528"/>
            <a:ext cx="2777743" cy="3921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B2545"/>
                </a:solidFill>
                <a:latin typeface="Cambria" panose="02040503050406030204"/>
              </a:rPr>
              <a:t>gcd</a:t>
            </a:r>
            <a:r>
              <a:rPr sz="18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8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8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18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800" b="0" i="0">
                <a:solidFill>
                  <a:srgbClr val="0B2545"/>
                </a:solidFill>
                <a:latin typeface="Cambria" panose="02040503050406030204"/>
              </a:rPr>
              <a:t>,  Φ</a:t>
            </a:r>
            <a:r>
              <a:rPr sz="1150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8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8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8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18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800" b="0" i="0">
                <a:solidFill>
                  <a:srgbClr val="0B2545"/>
                </a:solidFill>
                <a:latin typeface="Cambria" panose="02040503050406030204"/>
              </a:rPr>
              <a:t>)) ∣ 5</a:t>
            </a:r>
            <a:endParaRPr sz="18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9264" y="2505456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设 p | (a+b) 且 p | Φ</a:t>
            </a:r>
            <a:r>
              <a:rPr sz="77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。由 a ≡ −b (mod p) 得 Φ</a:t>
            </a:r>
            <a:r>
              <a:rPr sz="77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 ≡ 5b</a:t>
            </a:r>
            <a:r>
              <a:rPr sz="770" b="0" i="0" baseline="30000">
                <a:solidFill>
                  <a:srgbClr val="1A1A1A"/>
                </a:solidFill>
                <a:latin typeface="Segoe UI" panose="020B0502040204020203"/>
              </a:rPr>
              <a:t>4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，故 p | 5b</a:t>
            </a:r>
            <a:r>
              <a:rPr sz="770" b="0" i="0" baseline="30000">
                <a:solidFill>
                  <a:srgbClr val="1A1A1A"/>
                </a:solidFill>
                <a:latin typeface="Segoe UI" panose="020B0502040204020203"/>
              </a:rPr>
              <a:t>4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；又 gcd(a,b) = 1 给出 p ∤ b，所以 p = 5。</a:t>
            </a:r>
            <a:endParaRPr sz="12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639312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8039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2545"/>
                </a:solidFill>
                <a:latin typeface="Cambria" panose="02040503050406030204"/>
              </a:rPr>
              <a:t>引理 2（精确赋值）</a:t>
            </a:r>
            <a:endParaRPr sz="145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418795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若 5 | (a+b) 且 5 ∤ ab，则</a:t>
            </a:r>
            <a:endParaRPr sz="12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" y="4553712"/>
            <a:ext cx="4663440" cy="307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Φ</a:t>
            </a:r>
            <a:r>
              <a:rPr sz="89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4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14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) ≡ 0  (</a:t>
            </a:r>
            <a:r>
              <a:rPr sz="1400" b="0" i="1">
                <a:solidFill>
                  <a:srgbClr val="0B2545"/>
                </a:solidFill>
                <a:latin typeface="Cambria" panose="02040503050406030204"/>
              </a:rPr>
              <a:t>mod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 5),   </a:t>
            </a:r>
            <a:r>
              <a:rPr sz="1400" b="0" i="1">
                <a:solidFill>
                  <a:srgbClr val="0B2545"/>
                </a:solidFill>
                <a:latin typeface="Cambria" panose="02040503050406030204"/>
              </a:rPr>
              <a:t>v</a:t>
            </a:r>
            <a:r>
              <a:rPr sz="89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(Φ</a:t>
            </a:r>
            <a:r>
              <a:rPr sz="89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4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14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400" b="0" i="0">
                <a:solidFill>
                  <a:srgbClr val="0B2545"/>
                </a:solidFill>
                <a:latin typeface="Cambria" panose="02040503050406030204"/>
              </a:rPr>
              <a:t>)) = 1</a:t>
            </a:r>
            <a:endParaRPr sz="14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" y="5065776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写 a + b = 5t 代入展开：Φ</a:t>
            </a:r>
            <a:r>
              <a:rPr sz="77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 = 5b</a:t>
            </a:r>
            <a:r>
              <a:rPr sz="770" b="0" i="0" baseline="30000">
                <a:solidFill>
                  <a:srgbClr val="1A1A1A"/>
                </a:solidFill>
                <a:latin typeface="Segoe UI" panose="020B0502040204020203"/>
              </a:rPr>
              <a:t>4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 + 5</a:t>
            </a:r>
            <a:r>
              <a:rPr sz="770" b="0" i="0" baseline="30000">
                <a:solidFill>
                  <a:srgbClr val="1A1A1A"/>
                </a:solidFill>
                <a:latin typeface="Segoe UI" panose="020B0502040204020203"/>
              </a:rPr>
              <a:t>2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W 而 W ≡ b</a:t>
            </a:r>
            <a:r>
              <a:rPr sz="770" b="0" i="0" baseline="30000">
                <a:solidFill>
                  <a:srgbClr val="1A1A1A"/>
                </a:solidFill>
                <a:latin typeface="Segoe UI" panose="020B0502040204020203"/>
              </a:rPr>
              <a:t>4</a:t>
            </a: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 ≢ 0 (mod 5)，故 5 的次数恰为 1。</a:t>
            </a:r>
            <a:endParaRPr sz="12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5080" y="1371600"/>
            <a:ext cx="5166360" cy="437083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1645920"/>
            <a:ext cx="45262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E8D9A8"/>
                </a:solidFill>
                <a:latin typeface="Cambria" panose="02040503050406030204"/>
              </a:rPr>
              <a:t>这两个引理合起来说明什么？</a:t>
            </a:r>
            <a:endParaRPr sz="1500" b="1" i="0">
              <a:solidFill>
                <a:srgbClr val="E8D9A8"/>
              </a:solidFill>
              <a:latin typeface="Cambria" panose="02040503050406030204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8D9A8"/>
                </a:solidFill>
                <a:latin typeface="Segoe UI" panose="020B0502040204020203"/>
              </a:rPr>
              <a:t>当 5 整除 a + b 时：</a:t>
            </a:r>
            <a:endParaRPr sz="1300" b="1" i="0">
              <a:solidFill>
                <a:srgbClr val="E8D9A8"/>
              </a:solidFill>
              <a:latin typeface="Segoe UI" panose="020B0502040204020203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DE5F0"/>
                </a:solidFill>
                <a:latin typeface="Segoe UI" panose="020B0502040204020203"/>
              </a:rPr>
              <a:t>▪  a + b 与 Φ</a:t>
            </a:r>
            <a:r>
              <a:rPr sz="800" b="0" i="0" baseline="-25000">
                <a:solidFill>
                  <a:srgbClr val="DDE5F0"/>
                </a:solidFill>
                <a:latin typeface="Segoe UI" panose="020B0502040204020203"/>
              </a:rPr>
              <a:t>5</a:t>
            </a:r>
            <a:r>
              <a:rPr sz="1250" b="0" i="0">
                <a:solidFill>
                  <a:srgbClr val="DDE5F0"/>
                </a:solidFill>
                <a:latin typeface="Segoe UI" panose="020B0502040204020203"/>
              </a:rPr>
              <a:t> 的公因数恰为 5；</a:t>
            </a:r>
            <a:endParaRPr sz="125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DE5F0"/>
                </a:solidFill>
                <a:latin typeface="Segoe UI" panose="020B0502040204020203"/>
              </a:rPr>
              <a:t>▪  Φ</a:t>
            </a:r>
            <a:r>
              <a:rPr sz="800" b="0" i="0" baseline="-25000">
                <a:solidFill>
                  <a:srgbClr val="DDE5F0"/>
                </a:solidFill>
                <a:latin typeface="Segoe UI" panose="020B0502040204020203"/>
              </a:rPr>
              <a:t>5</a:t>
            </a:r>
            <a:r>
              <a:rPr sz="1250" b="0" i="0">
                <a:solidFill>
                  <a:srgbClr val="DDE5F0"/>
                </a:solidFill>
                <a:latin typeface="Segoe UI" panose="020B0502040204020203"/>
              </a:rPr>
              <a:t> 恰好含一个因子 5；</a:t>
            </a:r>
            <a:endParaRPr sz="125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DDE5F0"/>
                </a:solidFill>
                <a:latin typeface="Segoe UI" panose="020B0502040204020203"/>
              </a:rPr>
              <a:t>▪  于是 5 的更高次幂全部落在 a + b 上。</a:t>
            </a:r>
            <a:endParaRPr sz="125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8D9A8"/>
                </a:solidFill>
                <a:latin typeface="Segoe UI" panose="020B0502040204020203"/>
              </a:rPr>
              <a:t>这正是下面对 Case 2 做「精确记账」的依据：</a:t>
            </a:r>
            <a:endParaRPr sz="1300" b="1" i="0">
              <a:solidFill>
                <a:srgbClr val="E8D9A8"/>
              </a:solidFill>
              <a:latin typeface="Segoe UI" panose="020B0502040204020203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DDE5F0"/>
                </a:solidFill>
                <a:latin typeface="Segoe UI" panose="020B0502040204020203"/>
              </a:rPr>
              <a:t>两条引理都可完全初等地证明，并已由程序逐组复核。</a:t>
            </a:r>
            <a:endParaRPr sz="1200" b="0" i="1">
              <a:solidFill>
                <a:srgbClr val="DDE5F0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9833" y="4828032"/>
            <a:ext cx="3267710" cy="3289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x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+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y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 = 5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,  Φ</a:t>
            </a:r>
            <a:r>
              <a:rPr sz="960" b="0" i="0" baseline="-25000">
                <a:solidFill>
                  <a:srgbClr val="FFFFFF"/>
                </a:solidFill>
                <a:latin typeface="Cambria" panose="02040503050406030204"/>
              </a:rPr>
              <a:t>5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 = 5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,  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gcd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(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,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)=1</a:t>
            </a:r>
            <a:endParaRPr sz="1500" b="0" i="0">
              <a:solidFill>
                <a:srgbClr val="FFFFFF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6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4 · Case 1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Sophie Germain 辅助素数法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54480"/>
            <a:ext cx="101498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0B2545"/>
                </a:solidFill>
                <a:latin typeface="Segoe UI" panose="020B0502040204020203"/>
              </a:rPr>
              <a:t>定理（Sophie Germain）.  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设 p 为奇素数。若存在辅助素数 θ 使</a:t>
            </a:r>
            <a:endParaRPr sz="1350" b="0" i="0">
              <a:solidFill>
                <a:srgbClr val="1A1A1A"/>
              </a:solidFill>
              <a:latin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0B2545"/>
                </a:solidFill>
                <a:latin typeface="Segoe UI" panose="020B0502040204020203"/>
              </a:rPr>
              <a:t>(i) 模 θ 不存在两个非零且相邻的 p 次幂剩余；    (ii) p 本身不是 p 次幂剩余模 θ，</a:t>
            </a:r>
            <a:endParaRPr sz="1350" b="0" i="0">
              <a:solidFill>
                <a:srgbClr val="0B2545"/>
              </a:solidFill>
              <a:latin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则方程 </a:t>
            </a:r>
            <a:r>
              <a:rPr sz="1350" b="0" i="1">
                <a:solidFill>
                  <a:srgbClr val="1A1A1A"/>
                </a:solidFill>
                <a:latin typeface="Cambria" panose="02040503050406030204"/>
              </a:rPr>
              <a:t>z</a:t>
            </a:r>
            <a:r>
              <a:rPr sz="865" b="0" i="1" baseline="30000">
                <a:solidFill>
                  <a:srgbClr val="1A1A1A"/>
                </a:solidFill>
                <a:latin typeface="Cambria" panose="02040503050406030204"/>
              </a:rPr>
              <a:t>p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 = </a:t>
            </a:r>
            <a:r>
              <a:rPr sz="1350" b="0" i="1">
                <a:solidFill>
                  <a:srgbClr val="1A1A1A"/>
                </a:solidFill>
                <a:latin typeface="Cambria" panose="02040503050406030204"/>
              </a:rPr>
              <a:t>x</a:t>
            </a:r>
            <a:r>
              <a:rPr sz="865" b="0" i="1" baseline="30000">
                <a:solidFill>
                  <a:srgbClr val="1A1A1A"/>
                </a:solidFill>
                <a:latin typeface="Cambria" panose="02040503050406030204"/>
              </a:rPr>
              <a:t>p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 + </a:t>
            </a:r>
            <a:r>
              <a:rPr sz="1350" b="0" i="1">
                <a:solidFill>
                  <a:srgbClr val="1A1A1A"/>
                </a:solidFill>
                <a:latin typeface="Cambria" panose="02040503050406030204"/>
              </a:rPr>
              <a:t>y</a:t>
            </a:r>
            <a:r>
              <a:rPr sz="865" b="0" i="1" baseline="30000">
                <a:solidFill>
                  <a:srgbClr val="1A1A1A"/>
                </a:solidFill>
                <a:latin typeface="Cambria" panose="02040503050406030204"/>
              </a:rPr>
              <a:t>p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 的任何解都满足 θ | 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xyz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；特别地 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Case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 1（</a:t>
            </a:r>
            <a:r>
              <a:rPr sz="1350" b="0" i="1">
                <a:solidFill>
                  <a:srgbClr val="1A1A1A"/>
                </a:solidFill>
                <a:latin typeface="Cambria" panose="02040503050406030204"/>
              </a:rPr>
              <a:t>p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 ∤ 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xyz</a:t>
            </a: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）不可能。</a:t>
            </a:r>
            <a:endParaRPr sz="13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3017520"/>
            <a:ext cx="5212080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18211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1932E"/>
                </a:solidFill>
                <a:latin typeface="Segoe UI" panose="020B0502040204020203"/>
              </a:rPr>
              <a:t>对照：p = 3，θ = 13</a:t>
            </a:r>
            <a:endParaRPr sz="1350" b="1" i="0">
              <a:solidFill>
                <a:srgbClr val="C1932E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95348" y="3584448"/>
            <a:ext cx="2738120" cy="3289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2545"/>
                </a:solidFill>
                <a:latin typeface="Cambria" panose="02040503050406030204"/>
              </a:rPr>
              <a:t>{</a:t>
            </a:r>
            <a:r>
              <a:rPr sz="15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960" b="0" i="0" baseline="30000">
                <a:solidFill>
                  <a:srgbClr val="0B2545"/>
                </a:solidFill>
                <a:latin typeface="Cambria" panose="02040503050406030204"/>
              </a:rPr>
              <a:t>3</a:t>
            </a:r>
            <a:r>
              <a:rPr sz="1500" b="0" i="0">
                <a:solidFill>
                  <a:srgbClr val="0B2545"/>
                </a:solidFill>
                <a:latin typeface="Cambria" panose="02040503050406030204"/>
              </a:rPr>
              <a:t> </a:t>
            </a:r>
            <a:r>
              <a:rPr sz="1500" b="0" i="1">
                <a:solidFill>
                  <a:srgbClr val="0B2545"/>
                </a:solidFill>
                <a:latin typeface="Cambria" panose="02040503050406030204"/>
              </a:rPr>
              <a:t>mod</a:t>
            </a:r>
            <a:r>
              <a:rPr sz="1500" b="0" i="0">
                <a:solidFill>
                  <a:srgbClr val="0B2545"/>
                </a:solidFill>
                <a:latin typeface="Cambria" panose="02040503050406030204"/>
              </a:rPr>
              <a:t> 13} = {0,1,5,8,12}</a:t>
            </a:r>
            <a:endParaRPr sz="15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" y="4059936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Segoe UI" panose="020B0502040204020203"/>
              </a:rPr>
              <a:t>非零部分 {1, 5, 8, 12} 中没有相邻元素，且 3 不在其中 —— 两个条件都成立。于是 n = 3 的 Case 1 被彻底排除。</a:t>
            </a:r>
            <a:endParaRPr sz="12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55080" y="3017520"/>
            <a:ext cx="5166360" cy="272491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318211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D9A8"/>
                </a:solidFill>
                <a:latin typeface="Cambria" panose="02040503050406030204"/>
              </a:rPr>
              <a:t>p = 5，θ = 11</a:t>
            </a:r>
            <a:endParaRPr sz="1350" b="1" i="0">
              <a:solidFill>
                <a:srgbClr val="E8D9A8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43698" y="3584448"/>
            <a:ext cx="2379979" cy="3289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{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960" b="0" i="0" baseline="30000">
                <a:solidFill>
                  <a:srgbClr val="FFFFFF"/>
                </a:solidFill>
                <a:latin typeface="Cambria" panose="02040503050406030204"/>
              </a:rPr>
              <a:t>5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 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mod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 11} = {0,1,10}</a:t>
            </a:r>
            <a:endParaRPr sz="1500" b="0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93408" y="4059936"/>
            <a:ext cx="45262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DDE5F0"/>
                </a:solidFill>
                <a:latin typeface="Segoe UI" panose="020B0502040204020203"/>
              </a:rPr>
              <a:t>非零部分为 {1, 10} = {±1}，无相邻元素；且 5 ∉ {0, 1, 10}。两个条件同样成立。</a:t>
            </a:r>
            <a:endParaRPr sz="120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D9A8"/>
                </a:solidFill>
                <a:latin typeface="Segoe UI" panose="020B0502040204020203"/>
              </a:rPr>
              <a:t>⇒ 任何本原解必有 5 | xyz，Case 1 不可能。</a:t>
            </a:r>
            <a:endParaRPr sz="1250" b="1" i="0">
              <a:solidFill>
                <a:srgbClr val="E8D9A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7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5 · Case 2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5 | xyz 时的精确记账与真正的困难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335024"/>
            <a:ext cx="10881360" cy="512064"/>
          </a:xfrm>
          <a:prstGeom prst="roundRect">
            <a:avLst>
              <a:gd name="adj" fmla="val 24000"/>
            </a:avLst>
          </a:prstGeom>
          <a:solidFill>
            <a:srgbClr val="E8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3560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Segoe UI" panose="020B0502040204020203"/>
              </a:rPr>
              <a:t>由两两互素，5 恰整除 x, y, z 之一。以 5 | z 为例（其余对称）。</a:t>
            </a:r>
            <a:endParaRPr sz="13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1088136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5957" y="2240280"/>
            <a:ext cx="7800085" cy="413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z</a:t>
            </a:r>
            <a:r>
              <a:rPr sz="121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 = (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x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y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) Φ</a:t>
            </a:r>
            <a:r>
              <a:rPr sz="121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x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y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),    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x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y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 = 5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,   Φ</a:t>
            </a:r>
            <a:r>
              <a:rPr sz="121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 = 5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,   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gcd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19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900" b="0" i="0">
                <a:solidFill>
                  <a:srgbClr val="0B2545"/>
                </a:solidFill>
                <a:latin typeface="Cambria" panose="02040503050406030204"/>
              </a:rPr>
              <a:t>) = 1</a:t>
            </a:r>
            <a:endParaRPr sz="19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314553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由 z</a:t>
            </a:r>
            <a:r>
              <a:rPr sz="830" b="0" i="0" baseline="30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 = (x+y)Φ</a:t>
            </a:r>
            <a:r>
              <a:rPr sz="83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 = 25AB 得</a:t>
            </a:r>
            <a:endParaRPr sz="13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32508" y="3493008"/>
            <a:ext cx="1640839" cy="4343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0B2545"/>
                </a:solidFill>
                <a:latin typeface="Cambria" panose="02040503050406030204"/>
              </a:rPr>
              <a:t>AB</a:t>
            </a:r>
            <a:r>
              <a:rPr sz="2000" b="0" i="0">
                <a:solidFill>
                  <a:srgbClr val="0B2545"/>
                </a:solidFill>
                <a:latin typeface="Cambria" panose="02040503050406030204"/>
              </a:rPr>
              <a:t> = 5</a:t>
            </a:r>
            <a:r>
              <a:rPr sz="1280" b="0" i="0" baseline="30000">
                <a:solidFill>
                  <a:srgbClr val="0B2545"/>
                </a:solidFill>
                <a:latin typeface="Cambria" panose="02040503050406030204"/>
              </a:rPr>
              <a:t>3</a:t>
            </a:r>
            <a:r>
              <a:rPr sz="2000" b="0" i="0">
                <a:solidFill>
                  <a:srgbClr val="0B2545"/>
                </a:solidFill>
                <a:latin typeface="Cambria" panose="02040503050406030204"/>
              </a:rPr>
              <a:t> </a:t>
            </a:r>
            <a:r>
              <a:rPr sz="2000" b="0" i="1">
                <a:solidFill>
                  <a:srgbClr val="0B2545"/>
                </a:solidFill>
                <a:latin typeface="Cambria" panose="02040503050406030204"/>
              </a:rPr>
              <a:t>c</a:t>
            </a:r>
            <a:r>
              <a:rPr sz="1280" b="0" i="0" baseline="-25000">
                <a:solidFill>
                  <a:srgbClr val="0B2545"/>
                </a:solidFill>
                <a:latin typeface="Cambria" panose="02040503050406030204"/>
              </a:rPr>
              <a:t>1</a:t>
            </a:r>
            <a:r>
              <a:rPr sz="1280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endParaRPr sz="1280" b="0" i="0" baseline="3000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3145536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310128"/>
            <a:ext cx="4617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E8D9A8"/>
                </a:solidFill>
                <a:latin typeface="Cambria" panose="02040503050406030204"/>
              </a:rPr>
              <a:t>记账的结果</a:t>
            </a:r>
            <a:endParaRPr sz="1450" b="1" i="0">
              <a:solidFill>
                <a:srgbClr val="E8D9A8"/>
              </a:solidFill>
              <a:latin typeface="Cambria" panose="02040503050406030204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5F0"/>
                </a:solidFill>
                <a:latin typeface="Segoe UI" panose="020B0502040204020203"/>
              </a:rPr>
              <a:t>A 与 B 互素，而 AB 是「5 次幂乘一个 5 的幂」。由引理 2，v</a:t>
            </a:r>
            <a:r>
              <a:rPr sz="770" b="0" i="0" baseline="-25000">
                <a:solidFill>
                  <a:srgbClr val="DDE5F0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DDE5F0"/>
                </a:solidFill>
                <a:latin typeface="Segoe UI" panose="020B0502040204020203"/>
              </a:rPr>
              <a:t>(Φ</a:t>
            </a:r>
            <a:r>
              <a:rPr sz="770" b="0" i="0" baseline="-25000">
                <a:solidFill>
                  <a:srgbClr val="DDE5F0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DDE5F0"/>
                </a:solidFill>
                <a:latin typeface="Segoe UI" panose="020B0502040204020203"/>
              </a:rPr>
              <a:t>) = 1 故 v</a:t>
            </a:r>
            <a:r>
              <a:rPr sz="770" b="0" i="0" baseline="-25000">
                <a:solidFill>
                  <a:srgbClr val="DDE5F0"/>
                </a:solidFill>
                <a:latin typeface="Segoe UI" panose="020B0502040204020203"/>
              </a:rPr>
              <a:t>5</a:t>
            </a:r>
            <a:r>
              <a:rPr sz="1200" b="0" i="0">
                <a:solidFill>
                  <a:srgbClr val="DDE5F0"/>
                </a:solidFill>
                <a:latin typeface="Segoe UI" panose="020B0502040204020203"/>
              </a:rPr>
              <a:t>(B) = 0，于是 5 的幂全落在 A 上：</a:t>
            </a:r>
            <a:endParaRPr sz="1200" b="0" i="0">
              <a:solidFill>
                <a:srgbClr val="DDE5F0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6248" y="4572000"/>
            <a:ext cx="4663440" cy="3289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 = 5</a:t>
            </a:r>
            <a:r>
              <a:rPr sz="960" b="0" i="1" baseline="30000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α</a:t>
            </a:r>
            <a:r>
              <a:rPr sz="960" b="0" i="0" baseline="30000">
                <a:solidFill>
                  <a:srgbClr val="FFFFFF"/>
                </a:solidFill>
                <a:latin typeface="Cambria" panose="02040503050406030204"/>
              </a:rPr>
              <a:t>5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,   </a:t>
            </a:r>
            <a:r>
              <a:rPr sz="1500" b="0" i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sz="1500" b="0" i="0">
                <a:solidFill>
                  <a:srgbClr val="FFFFFF"/>
                </a:solidFill>
                <a:latin typeface="Cambria" panose="02040503050406030204"/>
              </a:rPr>
              <a:t> = β</a:t>
            </a:r>
            <a:r>
              <a:rPr sz="960" b="0" i="0" baseline="30000">
                <a:solidFill>
                  <a:srgbClr val="FFFFFF"/>
                </a:solidFill>
                <a:latin typeface="Cambria" panose="02040503050406030204"/>
              </a:rPr>
              <a:t>5</a:t>
            </a:r>
            <a:endParaRPr sz="960" b="0" i="0" baseline="3000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1968" y="5047488"/>
            <a:ext cx="461772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0"/>
                </a:solidFill>
                <a:latin typeface="Segoe UI" panose="020B0502040204020203"/>
              </a:rPr>
              <a:t>即 x + y 与 Φ</a:t>
            </a:r>
            <a:r>
              <a:rPr sz="735" b="0" i="0" baseline="-25000">
                <a:solidFill>
                  <a:srgbClr val="DDE5F0"/>
                </a:solidFill>
                <a:latin typeface="Segoe UI" panose="020B0502040204020203"/>
              </a:rPr>
              <a:t>5</a:t>
            </a:r>
            <a:r>
              <a:rPr sz="1150" b="0" i="0">
                <a:solidFill>
                  <a:srgbClr val="DDE5F0"/>
                </a:solidFill>
                <a:latin typeface="Segoe UI" panose="020B0502040204020203"/>
              </a:rPr>
              <a:t> 都已经是「5 次幂形状」的数。要得出矛盾，还需由此构造一组更小的解 —— 这正是 Legendre 与 Dirichlet 在 ℚ(√5) 中完成的无穷递降。</a:t>
            </a:r>
            <a:endParaRPr sz="1150" b="0" i="0">
              <a:solidFill>
                <a:srgbClr val="DDE5F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8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6 · 为什么必须用二次域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Φ</a:t>
            </a:r>
            <a:r>
              <a:rPr sz="1535" b="1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 是 ℚ(√5) 的范形式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5927" y="1627632"/>
            <a:ext cx="8280145" cy="4975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4 Φ</a:t>
            </a:r>
            <a:r>
              <a:rPr sz="1470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) = (2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-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ab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+ 2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)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- 5(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ab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)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= 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U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2300" b="0" i="0">
                <a:solidFill>
                  <a:srgbClr val="0B2545"/>
                </a:solidFill>
                <a:latin typeface="Cambria" panose="02040503050406030204"/>
              </a:rPr>
              <a:t> - 5</a:t>
            </a:r>
            <a:r>
              <a:rPr sz="2300" b="0" i="1">
                <a:solidFill>
                  <a:srgbClr val="0B2545"/>
                </a:solidFill>
                <a:latin typeface="Cambria" panose="02040503050406030204"/>
              </a:rPr>
              <a:t>V</a:t>
            </a:r>
            <a:r>
              <a:rPr sz="1470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endParaRPr sz="1470" b="0" i="0" baseline="3000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615184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即 Φ</a:t>
            </a:r>
            <a:r>
              <a:rPr sz="83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 是范形式 N(u + v·(1+√5)/2) = u</a:t>
            </a:r>
            <a:r>
              <a:rPr sz="830" b="0" i="0" baseline="30000">
                <a:solidFill>
                  <a:srgbClr val="1A1A1A"/>
                </a:solidFill>
                <a:latin typeface="Segoe UI" panose="020B0502040204020203"/>
              </a:rPr>
              <a:t>2</a:t>
            </a: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 + uv − v</a:t>
            </a:r>
            <a:r>
              <a:rPr sz="830" b="0" i="0" baseline="30000">
                <a:solidFill>
                  <a:srgbClr val="1A1A1A"/>
                </a:solidFill>
                <a:latin typeface="Segoe UI" panose="020B0502040204020203"/>
              </a:rPr>
              <a:t>2</a:t>
            </a: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 的 4 倍；Φ</a:t>
            </a:r>
            <a:r>
              <a:rPr sz="83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300" b="0" i="0">
                <a:solidFill>
                  <a:srgbClr val="1A1A1A"/>
                </a:solidFill>
                <a:latin typeface="Segoe UI" panose="020B0502040204020203"/>
              </a:rPr>
              <a:t> 因而是 ℚ(√5) 上的范形式。</a:t>
            </a:r>
            <a:endParaRPr sz="130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3310128"/>
            <a:ext cx="5212080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529584"/>
            <a:ext cx="45720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ℤ[(1+√5)/2]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实二次域 ℚ(√5) 的整数环，类数为 1。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6B4C"/>
                </a:solidFill>
                <a:latin typeface="Segoe UI" panose="020B0502040204020203"/>
              </a:rPr>
              <a:t>是唯一分解环（UFD）</a:t>
            </a:r>
            <a:endParaRPr sz="1400" b="1" i="0">
              <a:solidFill>
                <a:srgbClr val="1B6B4C"/>
              </a:solidFill>
              <a:latin typeface="Segoe UI" panose="020B0502040204020203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因此可以把 z</a:t>
            </a:r>
            <a:r>
              <a:rPr sz="800" b="0" i="0" baseline="30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 = (x+y)Φ</a:t>
            </a:r>
            <a:r>
              <a:rPr sz="800" b="0" i="0" baseline="-25000">
                <a:solidFill>
                  <a:srgbClr val="1A1A1A"/>
                </a:solidFill>
                <a:latin typeface="Segoe UI" panose="020B0502040204020203"/>
              </a:rPr>
              <a:t>5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 分解到素因子层面，再由「互素的乘积是 5 次幂 ⟹ 每个因子是 5 次幂」得到更小的解。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3310128"/>
            <a:ext cx="5166360" cy="2432304"/>
          </a:xfrm>
          <a:prstGeom prst="roundRect">
            <a:avLst>
              <a:gd name="adj" fmla="val 6000"/>
            </a:avLst>
          </a:prstGeom>
          <a:solidFill>
            <a:srgbClr val="F2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3529584"/>
            <a:ext cx="45262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B2545"/>
                </a:solidFill>
                <a:latin typeface="Cambria" panose="02040503050406030204"/>
              </a:rPr>
              <a:t>对照：ℤ[√−5] 不行</a:t>
            </a:r>
            <a:endParaRPr sz="1500" b="1" i="0">
              <a:solidFill>
                <a:srgbClr val="0B2545"/>
              </a:solidFill>
              <a:latin typeface="Cambria" panose="02040503050406030204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虚二次域 ℚ(√−5) 的整数环，类数为 2。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A83A1E"/>
                </a:solidFill>
                <a:latin typeface="Segoe UI" panose="020B0502040204020203"/>
              </a:rPr>
              <a:t>唯一分解失效</a:t>
            </a:r>
            <a:endParaRPr sz="1400" b="1" i="0">
              <a:solidFill>
                <a:srgbClr val="A83A1E"/>
              </a:solidFill>
              <a:latin typeface="Segoe UI" panose="020B0502040204020203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例如 6 = 2·3 = (1+√−5)(1−√−5)，两种分解本质不同。分解论证无法进行 —— 这正是 n = 5 与 n = 3 的本质差别。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9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7 · 验证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全部初等论断的独立计算复核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10881360" cy="420624"/>
          </a:xfrm>
          <a:prstGeom prst="roundRect">
            <a:avLst>
              <a:gd name="adj" fmla="val 18000"/>
            </a:avLst>
          </a:prstGeom>
          <a:solidFill>
            <a:srgbClr val="F2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Segoe UI" panose="020B0502040204020203"/>
              </a:rPr>
              <a:t>论断</a:t>
            </a:r>
            <a:endParaRPr sz="1150" b="1" i="0">
              <a:solidFill>
                <a:srgbClr val="0B2545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Segoe UI" panose="020B0502040204020203"/>
              </a:rPr>
              <a:t>复核方式</a:t>
            </a:r>
            <a:endParaRPr sz="1150" b="1" i="0">
              <a:solidFill>
                <a:srgbClr val="0B2545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12680" y="14630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Segoe UI" panose="020B0502040204020203"/>
              </a:rPr>
              <a:t>结果</a:t>
            </a:r>
            <a:endParaRPr sz="1150" b="1" i="0">
              <a:solidFill>
                <a:srgbClr val="0B2545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" y="1920240"/>
            <a:ext cx="108813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4380" y="1993392"/>
            <a:ext cx="2662936" cy="3500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) Φ</a:t>
            </a:r>
            <a:r>
              <a:rPr sz="102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,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) = 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 + 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endParaRPr sz="1025" b="0" i="0" baseline="3000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9360" y="202082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4C"/>
                </a:solidFill>
                <a:latin typeface="Segoe UI" panose="020B0502040204020203"/>
              </a:rPr>
              <a:t>✓  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6561 组（含负数）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12680" y="202082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5E6A"/>
                </a:solidFill>
                <a:latin typeface="Segoe UI" panose="020B0502040204020203"/>
              </a:rPr>
              <a:t>0 失败</a:t>
            </a:r>
            <a:endParaRPr sz="110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32204" y="2601468"/>
            <a:ext cx="3447288" cy="3500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4 Φ</a:t>
            </a:r>
            <a:r>
              <a:rPr sz="102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 = (2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-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ab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+2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)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 - 5(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ab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)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2</a:t>
            </a:r>
            <a:endParaRPr sz="1025" b="0" i="0" baseline="3000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9360" y="26289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4C"/>
                </a:solidFill>
                <a:latin typeface="Segoe UI" panose="020B0502040204020203"/>
              </a:rPr>
              <a:t>✓  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10 201 组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12680" y="26289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5E6A"/>
                </a:solidFill>
                <a:latin typeface="Segoe UI" panose="020B0502040204020203"/>
              </a:rPr>
              <a:t>0 失败</a:t>
            </a:r>
            <a:endParaRPr sz="110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8368" y="3136392"/>
            <a:ext cx="108813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2972" y="3209544"/>
            <a:ext cx="1825752" cy="3500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gcd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(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, Φ</a:t>
            </a:r>
            <a:r>
              <a:rPr sz="102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) ∣ 5</a:t>
            </a:r>
            <a:endParaRPr sz="16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3236976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4C"/>
                </a:solidFill>
                <a:latin typeface="Segoe UI" panose="020B0502040204020203"/>
              </a:rPr>
              <a:t>✓  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151 831 组互素对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12680" y="323697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5E6A"/>
                </a:solidFill>
                <a:latin typeface="Segoe UI" panose="020B0502040204020203"/>
              </a:rPr>
              <a:t>只取 1, 5</a:t>
            </a:r>
            <a:endParaRPr sz="110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56460" y="3817620"/>
            <a:ext cx="2398776" cy="3500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5 ∣ (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+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b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) ⇒ 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v</a:t>
            </a:r>
            <a:r>
              <a:rPr sz="102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(Φ</a:t>
            </a:r>
            <a:r>
              <a:rPr sz="1025" b="0" i="0" baseline="-25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)=1</a:t>
            </a:r>
            <a:endParaRPr sz="16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09360" y="38450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4C"/>
                </a:solidFill>
                <a:latin typeface="Segoe UI" panose="020B0502040204020203"/>
              </a:rPr>
              <a:t>✓  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36 482 组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12680" y="384505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5E6A"/>
                </a:solidFill>
                <a:latin typeface="Segoe UI" panose="020B0502040204020203"/>
              </a:rPr>
              <a:t>恒成立</a:t>
            </a:r>
            <a:endParaRPr sz="110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" y="4352544"/>
            <a:ext cx="108813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7372" y="4425696"/>
            <a:ext cx="2536952" cy="3500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{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a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 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mod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 11} = {0,1,10}</a:t>
            </a:r>
            <a:endParaRPr sz="1600" b="0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44531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4C"/>
                </a:solidFill>
                <a:latin typeface="Segoe UI" panose="020B0502040204020203"/>
              </a:rPr>
              <a:t>✓  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直接枚举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12680" y="445312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5E6A"/>
                </a:solidFill>
                <a:latin typeface="Segoe UI" panose="020B0502040204020203"/>
              </a:rPr>
              <a:t>(i)(ii) 成立</a:t>
            </a:r>
            <a:endParaRPr sz="110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36012" y="5033772"/>
            <a:ext cx="1439672" cy="3500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x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 + 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y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r>
              <a:rPr sz="1600" b="0" i="0">
                <a:solidFill>
                  <a:srgbClr val="0B2545"/>
                </a:solidFill>
                <a:latin typeface="Cambria" panose="02040503050406030204"/>
              </a:rPr>
              <a:t> = </a:t>
            </a:r>
            <a:r>
              <a:rPr sz="1600" b="0" i="1">
                <a:solidFill>
                  <a:srgbClr val="0B2545"/>
                </a:solidFill>
                <a:latin typeface="Cambria" panose="02040503050406030204"/>
              </a:rPr>
              <a:t>z</a:t>
            </a:r>
            <a:r>
              <a:rPr sz="1025" b="0" i="0" baseline="30000">
                <a:solidFill>
                  <a:srgbClr val="0B2545"/>
                </a:solidFill>
                <a:latin typeface="Cambria" panose="02040503050406030204"/>
              </a:rPr>
              <a:t>5</a:t>
            </a:r>
            <a:endParaRPr sz="1025" b="0" i="0" baseline="3000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60" y="506120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4C"/>
                </a:solidFill>
                <a:latin typeface="Segoe UI" panose="020B0502040204020203"/>
              </a:rPr>
              <a:t>✓  </a:t>
            </a:r>
            <a:r>
              <a:rPr sz="1250" b="0" i="0">
                <a:solidFill>
                  <a:srgbClr val="1A1A1A"/>
                </a:solidFill>
                <a:latin typeface="Segoe UI" panose="020B0502040204020203"/>
              </a:rPr>
              <a:t>穷举 1 ≤ x ≤ y &lt; 1200</a:t>
            </a:r>
            <a:endParaRPr sz="125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12680" y="5061204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5E6A"/>
                </a:solidFill>
                <a:latin typeface="Segoe UI" panose="020B0502040204020203"/>
              </a:rPr>
              <a:t>无解</a:t>
            </a:r>
            <a:endParaRPr sz="110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" y="57424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Segoe UI" panose="020B0502040204020203"/>
              </a:rPr>
              <a:t>复核脚本：</a:t>
            </a:r>
            <a:r>
              <a:rPr sz="1150" b="0" i="0">
                <a:solidFill>
                  <a:srgbClr val="1A1A1A"/>
                </a:solidFill>
                <a:latin typeface="Segoe UI" panose="020B0502040204020203"/>
              </a:rPr>
              <a:t>verify</a:t>
            </a:r>
            <a:r>
              <a:rPr sz="735" b="0" i="1" baseline="-25000">
                <a:solidFill>
                  <a:srgbClr val="1A1A1A"/>
                </a:solidFill>
                <a:latin typeface="Cambria" panose="02040503050406030204"/>
              </a:rPr>
              <a:t>f</a:t>
            </a:r>
            <a:r>
              <a:rPr sz="1150" b="0" i="0">
                <a:solidFill>
                  <a:srgbClr val="1A1A1A"/>
                </a:solidFill>
                <a:latin typeface="Segoe UI" panose="020B0502040204020203"/>
              </a:rPr>
              <a:t>lt</a:t>
            </a:r>
            <a:r>
              <a:rPr sz="1150" b="0" i="0">
                <a:solidFill>
                  <a:srgbClr val="1A1A1A"/>
                </a:solidFill>
                <a:latin typeface="Segoe UI" panose="020B0502040204020203"/>
              </a:rPr>
              <a:t>5.</a:t>
            </a:r>
            <a:r>
              <a:rPr sz="1150" b="0" i="0">
                <a:solidFill>
                  <a:srgbClr val="1A1A1A"/>
                </a:solidFill>
                <a:latin typeface="Segoe UI" panose="020B0502040204020203"/>
              </a:rPr>
              <a:t>py</a:t>
            </a:r>
            <a:r>
              <a:rPr sz="1150" b="0" i="0">
                <a:solidFill>
                  <a:srgbClr val="1A1A1A"/>
                </a:solidFill>
                <a:latin typeface="Segoe UI" panose="020B0502040204020203"/>
              </a:rPr>
              <a:t>（仅用 </a:t>
            </a:r>
            <a:r>
              <a:rPr sz="1150" b="0" i="0">
                <a:solidFill>
                  <a:srgbClr val="1A1A1A"/>
                </a:solidFill>
                <a:latin typeface="Segoe UI" panose="020B0502040204020203"/>
              </a:rPr>
              <a:t>Python</a:t>
            </a:r>
            <a:r>
              <a:rPr sz="1150" b="0" i="0">
                <a:solidFill>
                  <a:srgbClr val="1A1A1A"/>
                </a:solidFill>
                <a:latin typeface="Segoe UI" panose="020B0502040204020203"/>
              </a:rPr>
              <a:t> 标准库，运行即得上述全部结果）。</a:t>
            </a:r>
            <a:endParaRPr sz="1150" b="0" i="0">
              <a:solidFill>
                <a:srgbClr val="1A1A1A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费马大定理  ·  n = 5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352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5E6A"/>
                </a:solidFill>
                <a:latin typeface="Segoe UI" panose="020B0502040204020203"/>
              </a:rPr>
              <a:t>10</a:t>
            </a:r>
            <a:endParaRPr sz="950" b="0" i="0">
              <a:solidFill>
                <a:srgbClr val="565E6A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457200"/>
            <a:ext cx="68580" cy="54864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10875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1932E"/>
                </a:solidFill>
                <a:latin typeface="Segoe UI" panose="020B0502040204020203"/>
              </a:rPr>
              <a:t>8 · 历史与文献</a:t>
            </a:r>
            <a:endParaRPr sz="105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545"/>
                </a:solidFill>
                <a:latin typeface="Cambria" panose="02040503050406030204"/>
              </a:rPr>
              <a:t>从 Fermat 到 n = 5</a:t>
            </a:r>
            <a:endParaRPr sz="2400" b="1" i="0">
              <a:solidFill>
                <a:srgbClr val="0B2545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932688" cy="786384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992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D9A8"/>
                </a:solidFill>
                <a:latin typeface="Segoe UI" panose="020B0502040204020203"/>
              </a:rPr>
              <a:t>1637</a:t>
            </a:r>
            <a:endParaRPr sz="1250" b="1" i="0">
              <a:solidFill>
                <a:srgbClr val="E8D9A8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83664" y="1536192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Segoe UI" panose="020B0502040204020203"/>
              </a:rPr>
              <a:t>Fermat 在 Diophantus 书页边写下猜想。</a:t>
            </a:r>
            <a:endParaRPr sz="118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386584"/>
            <a:ext cx="932688" cy="786384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15184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D9A8"/>
                </a:solidFill>
                <a:latin typeface="Segoe UI" panose="020B0502040204020203"/>
              </a:rPr>
              <a:t>1770</a:t>
            </a:r>
            <a:endParaRPr sz="1250" b="1" i="0">
              <a:solidFill>
                <a:srgbClr val="E8D9A8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83664" y="2441448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Segoe UI" panose="020B0502040204020203"/>
              </a:rPr>
              <a:t>Euler 证明 n = 3（后由 Legendre 补足）。</a:t>
            </a:r>
            <a:endParaRPr sz="118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3291840"/>
            <a:ext cx="932688" cy="786384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2044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D9A8"/>
                </a:solidFill>
                <a:latin typeface="Segoe UI" panose="020B0502040204020203"/>
              </a:rPr>
              <a:t>1823</a:t>
            </a:r>
            <a:endParaRPr sz="1250" b="1" i="0">
              <a:solidFill>
                <a:srgbClr val="E8D9A8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83664" y="3346704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Segoe UI" panose="020B0502040204020203"/>
              </a:rPr>
              <a:t>Sophie Germain 提出辅助素数法；Legendre 在论文脚注中发表并致谢。</a:t>
            </a:r>
            <a:endParaRPr sz="118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4197096"/>
            <a:ext cx="932688" cy="786384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42569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D9A8"/>
                </a:solidFill>
                <a:latin typeface="Segoe UI" panose="020B0502040204020203"/>
              </a:rPr>
              <a:t>1825</a:t>
            </a:r>
            <a:endParaRPr sz="1250" b="1" i="0">
              <a:solidFill>
                <a:srgbClr val="E8D9A8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3664" y="4251960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Segoe UI" panose="020B0502040204020203"/>
              </a:rPr>
              <a:t>Legendre 与 Dirichlet 各自独立证明 n = 5 —— 第一个被解决的非正则指数。</a:t>
            </a:r>
            <a:endParaRPr sz="118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5102352"/>
            <a:ext cx="932688" cy="786384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33095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D9A8"/>
                </a:solidFill>
                <a:latin typeface="Segoe UI" panose="020B0502040204020203"/>
              </a:rPr>
              <a:t>1840s</a:t>
            </a:r>
            <a:endParaRPr sz="1250" b="1" i="0">
              <a:solidFill>
                <a:srgbClr val="E8D9A8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83664" y="5157216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Segoe UI" panose="020B0502040204020203"/>
              </a:rPr>
              <a:t>Lamé 与 Kummer 发展分圆域与理想理论，处理全部正则素数。</a:t>
            </a:r>
            <a:endParaRPr sz="1180" b="0" i="0">
              <a:solidFill>
                <a:srgbClr val="1A1A1A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675120" y="1481328"/>
            <a:ext cx="4846320" cy="4041648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1719072"/>
            <a:ext cx="41605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E8D9A8"/>
                </a:solidFill>
                <a:latin typeface="Cambria" panose="02040503050406030204"/>
              </a:rPr>
              <a:t>主要文献</a:t>
            </a:r>
            <a:endParaRPr sz="1550" b="1" i="0">
              <a:solidFill>
                <a:srgbClr val="E8D9A8"/>
              </a:solidFill>
              <a:latin typeface="Cambria" panose="02040503050406030204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150" b="0" i="0">
                <a:solidFill>
                  <a:srgbClr val="DDE5F0"/>
                </a:solidFill>
                <a:latin typeface="Segoe UI" panose="020B0502040204020203"/>
              </a:rPr>
              <a:t>Legendre, Second Supplément …, Paris 1825。</a:t>
            </a:r>
            <a:endParaRPr sz="115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150" b="0" i="0">
                <a:solidFill>
                  <a:srgbClr val="DDE5F0"/>
                </a:solidFill>
                <a:latin typeface="Segoe UI" panose="020B0502040204020203"/>
              </a:rPr>
              <a:t>Dirichlet, Crelle 3 (1828), 354–375。</a:t>
            </a:r>
            <a:endParaRPr sz="115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150" b="0" i="0">
                <a:solidFill>
                  <a:srgbClr val="DDE5F0"/>
                </a:solidFill>
                <a:latin typeface="Segoe UI" panose="020B0502040204020203"/>
              </a:rPr>
              <a:t>Edwards, Fermat's Last Theorem: A Genetic Introduction，第 3 章。</a:t>
            </a:r>
            <a:endParaRPr sz="115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150" b="0" i="0">
                <a:solidFill>
                  <a:srgbClr val="DDE5F0"/>
                </a:solidFill>
                <a:latin typeface="Segoe UI" panose="020B0502040204020203"/>
              </a:rPr>
              <a:t>Ribenboim, Fermat's Last Theorem for Amateurs，第 IV 章。</a:t>
            </a:r>
            <a:endParaRPr sz="1150" b="0" i="0">
              <a:solidFill>
                <a:srgbClr val="DDE5F0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C1932E"/>
                </a:solidFill>
                <a:latin typeface="Segoe UI" panose="020B0502040204020203"/>
              </a:rPr>
              <a:t>▪  </a:t>
            </a:r>
            <a:r>
              <a:rPr sz="1150" b="0" i="0">
                <a:solidFill>
                  <a:srgbClr val="DDE5F0"/>
                </a:solidFill>
                <a:latin typeface="Segoe UI" panose="020B0502040204020203"/>
              </a:rPr>
              <a:t>Laubenbacher &amp; Pengelley, Historia Math. 37 (2010), 641–692。</a:t>
            </a:r>
            <a:endParaRPr sz="1150" b="0" i="0">
              <a:solidFill>
                <a:srgbClr val="DDE5F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1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86384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C1932E"/>
                </a:solidFill>
                <a:latin typeface="Segoe UI" panose="020B0502040204020203"/>
              </a:rPr>
              <a:t>SUMMARY</a:t>
            </a:r>
            <a:endParaRPr sz="1200" b="1" i="0">
              <a:solidFill>
                <a:srgbClr val="C1932E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 panose="02040503050406030204"/>
              </a:rPr>
              <a:t>一页总结</a:t>
            </a:r>
            <a:endParaRPr sz="32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5840" y="2029968"/>
            <a:ext cx="10149840" cy="914400"/>
          </a:xfrm>
          <a:prstGeom prst="roundRect">
            <a:avLst>
              <a:gd name="adj" fmla="val 6000"/>
            </a:avLst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231136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D9A8"/>
                </a:solidFill>
                <a:latin typeface="Segoe UI" panose="020B0502040204020203"/>
              </a:rPr>
              <a:t>起点    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090" b="0" i="0" baseline="30000">
                <a:solidFill>
                  <a:srgbClr val="FFFFFF"/>
                </a:solidFill>
                <a:latin typeface="Segoe UI" panose="020B0502040204020203"/>
              </a:rPr>
              <a:t>5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+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sz="1090" b="0" i="0" baseline="30000">
                <a:solidFill>
                  <a:srgbClr val="FFFFFF"/>
                </a:solidFill>
                <a:latin typeface="Segoe UI" panose="020B0502040204020203"/>
              </a:rPr>
              <a:t>5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 = (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+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) Φ</a:t>
            </a:r>
            <a:r>
              <a:rPr sz="1090" b="0" i="0" baseline="-25000">
                <a:solidFill>
                  <a:srgbClr val="FFFFFF"/>
                </a:solidFill>
                <a:latin typeface="Segoe UI" panose="020B0502040204020203"/>
              </a:rPr>
              <a:t>5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(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,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),   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gcd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(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a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+</a:t>
            </a:r>
            <a:r>
              <a:rPr sz="1700" b="0" i="1">
                <a:solidFill>
                  <a:srgbClr val="FFFFFF"/>
                </a:solidFill>
                <a:latin typeface="Cambria" panose="02040503050406030204"/>
              </a:rPr>
              <a:t>b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,Φ</a:t>
            </a:r>
            <a:r>
              <a:rPr sz="1090" b="0" i="0" baseline="-25000">
                <a:solidFill>
                  <a:srgbClr val="FFFFFF"/>
                </a:solidFill>
                <a:latin typeface="Segoe UI" panose="020B0502040204020203"/>
              </a:rPr>
              <a:t>5</a:t>
            </a:r>
            <a:r>
              <a:rPr sz="1700" b="0" i="0">
                <a:solidFill>
                  <a:srgbClr val="FFFFFF"/>
                </a:solidFill>
                <a:latin typeface="Segoe UI" panose="020B0502040204020203"/>
              </a:rPr>
              <a:t>) ∣ 5</a:t>
            </a:r>
            <a:endParaRPr sz="1700" b="0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05840" y="3236976"/>
            <a:ext cx="2331720" cy="1609344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34198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1932E"/>
                </a:solidFill>
                <a:latin typeface="Segoe UI" panose="020B0502040204020203"/>
              </a:rPr>
              <a:t>①  </a:t>
            </a:r>
            <a:r>
              <a:rPr sz="1300" b="1" i="0">
                <a:solidFill>
                  <a:srgbClr val="FFFFFF"/>
                </a:solidFill>
                <a:latin typeface="Segoe UI" panose="020B0502040204020203"/>
              </a:rPr>
              <a:t>分解</a:t>
            </a:r>
            <a:endParaRPr sz="13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93596" y="3968496"/>
            <a:ext cx="1165352" cy="2656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DDE5F0"/>
                </a:solidFill>
                <a:latin typeface="Cambria" panose="02040503050406030204"/>
              </a:rPr>
              <a:t>z</a:t>
            </a:r>
            <a:r>
              <a:rPr sz="770" b="0" i="0" baseline="30000">
                <a:solidFill>
                  <a:srgbClr val="DDE5F0"/>
                </a:solidFill>
                <a:latin typeface="Cambria" panose="02040503050406030204"/>
              </a:rPr>
              <a:t>5</a:t>
            </a: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 = (</a:t>
            </a:r>
            <a:r>
              <a:rPr sz="1200" b="0" i="1">
                <a:solidFill>
                  <a:srgbClr val="DDE5F0"/>
                </a:solidFill>
                <a:latin typeface="Cambria" panose="02040503050406030204"/>
              </a:rPr>
              <a:t>x</a:t>
            </a: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+</a:t>
            </a:r>
            <a:r>
              <a:rPr sz="1200" b="0" i="1">
                <a:solidFill>
                  <a:srgbClr val="DDE5F0"/>
                </a:solidFill>
                <a:latin typeface="Cambria" panose="02040503050406030204"/>
              </a:rPr>
              <a:t>y</a:t>
            </a: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) Φ</a:t>
            </a:r>
            <a:r>
              <a:rPr sz="770" b="0" i="0" baseline="-25000">
                <a:solidFill>
                  <a:srgbClr val="DDE5F0"/>
                </a:solidFill>
                <a:latin typeface="Cambria" panose="02040503050406030204"/>
              </a:rPr>
              <a:t>5</a:t>
            </a:r>
            <a:endParaRPr sz="770" b="0" i="0" baseline="-25000">
              <a:solidFill>
                <a:srgbClr val="DDE5F0"/>
              </a:solidFill>
              <a:latin typeface="Cambria" panose="02040503050406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47872" y="3236976"/>
            <a:ext cx="2331720" cy="1609344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34198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1932E"/>
                </a:solidFill>
                <a:latin typeface="Segoe UI" panose="020B0502040204020203"/>
              </a:rPr>
              <a:t>②  </a:t>
            </a:r>
            <a:r>
              <a:rPr sz="1300" b="1" i="0">
                <a:solidFill>
                  <a:srgbClr val="FFFFFF"/>
                </a:solidFill>
                <a:latin typeface="Segoe UI" panose="020B0502040204020203"/>
              </a:rPr>
              <a:t>辅助素数</a:t>
            </a:r>
            <a:endParaRPr sz="13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55212" y="3968496"/>
            <a:ext cx="1726184" cy="2656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{</a:t>
            </a:r>
            <a:r>
              <a:rPr sz="1200" b="0" i="1">
                <a:solidFill>
                  <a:srgbClr val="DDE5F0"/>
                </a:solidFill>
                <a:latin typeface="Cambria" panose="02040503050406030204"/>
              </a:rPr>
              <a:t>a</a:t>
            </a:r>
            <a:r>
              <a:rPr sz="770" b="0" i="0" baseline="30000">
                <a:solidFill>
                  <a:srgbClr val="DDE5F0"/>
                </a:solidFill>
                <a:latin typeface="Cambria" panose="02040503050406030204"/>
              </a:rPr>
              <a:t>5</a:t>
            </a: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 </a:t>
            </a:r>
            <a:r>
              <a:rPr sz="1200" b="0" i="1">
                <a:solidFill>
                  <a:srgbClr val="DDE5F0"/>
                </a:solidFill>
                <a:latin typeface="Cambria" panose="02040503050406030204"/>
              </a:rPr>
              <a:t>mod</a:t>
            </a: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 11}={0,1,10}</a:t>
            </a:r>
            <a:endParaRPr sz="1200" b="0" i="0">
              <a:solidFill>
                <a:srgbClr val="DDE5F0"/>
              </a:solidFill>
              <a:latin typeface="Cambria" panose="02040503050406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9904" y="3236976"/>
            <a:ext cx="2331720" cy="1609344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4198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1932E"/>
                </a:solidFill>
                <a:latin typeface="Segoe UI" panose="020B0502040204020203"/>
              </a:rPr>
              <a:t>③  </a:t>
            </a:r>
            <a:r>
              <a:rPr sz="1300" b="1" i="0">
                <a:solidFill>
                  <a:srgbClr val="FFFFFF"/>
                </a:solidFill>
                <a:latin typeface="Segoe UI" panose="020B0502040204020203"/>
              </a:rPr>
              <a:t>Case 1</a:t>
            </a:r>
            <a:endParaRPr sz="13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29476" y="3968496"/>
            <a:ext cx="1061719" cy="2656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5 ∤ </a:t>
            </a:r>
            <a:r>
              <a:rPr sz="1200" b="0" i="1">
                <a:solidFill>
                  <a:srgbClr val="DDE5F0"/>
                </a:solidFill>
                <a:latin typeface="Cambria" panose="02040503050406030204"/>
              </a:rPr>
              <a:t>xyz</a:t>
            </a: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   排除</a:t>
            </a:r>
            <a:endParaRPr sz="1200" b="0" i="0">
              <a:solidFill>
                <a:srgbClr val="DDE5F0"/>
              </a:solidFill>
              <a:latin typeface="Cambria" panose="02040503050406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31936" y="3236976"/>
            <a:ext cx="2331720" cy="1609344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34198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1932E"/>
                </a:solidFill>
                <a:latin typeface="Segoe UI" panose="020B0502040204020203"/>
              </a:rPr>
              <a:t>④  </a:t>
            </a:r>
            <a:r>
              <a:rPr sz="1300" b="1" i="0">
                <a:solidFill>
                  <a:srgbClr val="FFFFFF"/>
                </a:solidFill>
                <a:latin typeface="Segoe UI" panose="020B0502040204020203"/>
              </a:rPr>
              <a:t>Case 2</a:t>
            </a:r>
            <a:endParaRPr sz="13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02572" y="3968496"/>
            <a:ext cx="799592" cy="2656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DE5F0"/>
                </a:solidFill>
                <a:latin typeface="Cambria" panose="02040503050406030204"/>
              </a:rPr>
              <a:t>ℚ(√5) 中递降</a:t>
            </a:r>
            <a:endParaRPr sz="1200" b="0" i="0">
              <a:solidFill>
                <a:srgbClr val="DDE5F0"/>
              </a:solidFill>
              <a:latin typeface="Cambria" panose="02040503050406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Segoe UI" panose="020B0502040204020203"/>
              </a:rPr>
              <a:t>Case 1 由 Sophie Germain 定理（θ = 11）彻底排除；Case 2 由实二次域 ℚ(√5) 中唯一分解环里的无穷递降排除。两者合起来即</a:t>
            </a:r>
            <a:endParaRPr sz="1500" b="0" i="0">
              <a:solidFill>
                <a:srgbClr val="FFFFFF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E8D9A8"/>
                </a:solidFill>
                <a:latin typeface="Cambria" panose="02040503050406030204"/>
              </a:rPr>
              <a:t>x</a:t>
            </a:r>
            <a:r>
              <a:rPr sz="1150" b="1" i="0" baseline="30000">
                <a:solidFill>
                  <a:srgbClr val="E8D9A8"/>
                </a:solidFill>
                <a:latin typeface="Segoe UI" panose="020B0502040204020203"/>
              </a:rPr>
              <a:t>5</a:t>
            </a:r>
            <a:r>
              <a:rPr sz="1800" b="1" i="0">
                <a:solidFill>
                  <a:srgbClr val="E8D9A8"/>
                </a:solidFill>
                <a:latin typeface="Segoe UI" panose="020B0502040204020203"/>
              </a:rPr>
              <a:t> + </a:t>
            </a:r>
            <a:r>
              <a:rPr sz="1800" b="1" i="1">
                <a:solidFill>
                  <a:srgbClr val="E8D9A8"/>
                </a:solidFill>
                <a:latin typeface="Cambria" panose="02040503050406030204"/>
              </a:rPr>
              <a:t>y</a:t>
            </a:r>
            <a:r>
              <a:rPr sz="1150" b="1" i="0" baseline="30000">
                <a:solidFill>
                  <a:srgbClr val="E8D9A8"/>
                </a:solidFill>
                <a:latin typeface="Segoe UI" panose="020B0502040204020203"/>
              </a:rPr>
              <a:t>5</a:t>
            </a:r>
            <a:r>
              <a:rPr sz="1800" b="1" i="0">
                <a:solidFill>
                  <a:srgbClr val="E8D9A8"/>
                </a:solidFill>
                <a:latin typeface="Segoe UI" panose="020B0502040204020203"/>
              </a:rPr>
              <a:t> = </a:t>
            </a:r>
            <a:r>
              <a:rPr sz="1800" b="1" i="1">
                <a:solidFill>
                  <a:srgbClr val="E8D9A8"/>
                </a:solidFill>
                <a:latin typeface="Cambria" panose="02040503050406030204"/>
              </a:rPr>
              <a:t>z</a:t>
            </a:r>
            <a:r>
              <a:rPr sz="1150" b="1" i="0" baseline="30000">
                <a:solidFill>
                  <a:srgbClr val="E8D9A8"/>
                </a:solidFill>
                <a:latin typeface="Segoe UI" panose="020B0502040204020203"/>
              </a:rPr>
              <a:t>5</a:t>
            </a:r>
            <a:r>
              <a:rPr sz="1500" b="0" i="0">
                <a:solidFill>
                  <a:srgbClr val="FFFFFF"/>
                </a:solidFill>
                <a:latin typeface="Segoe UI" panose="020B0502040204020203"/>
              </a:rPr>
              <a:t>   没有正整数解。</a:t>
            </a:r>
            <a:endParaRPr sz="1500" b="0" i="0">
              <a:solidFill>
                <a:srgbClr val="FFFF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3612</Words>
  <Application>WPS 演示</Application>
  <PresentationFormat>On-screen Show (4:3)</PresentationFormat>
  <Paragraphs>274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Arial</vt:lpstr>
      <vt:lpstr>Segoe UI</vt:lpstr>
      <vt:lpstr>Cambria</vt:lpstr>
      <vt:lpstr>Calibri</vt:lpstr>
      <vt:lpstr>微软雅黑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WPS_1789778042</cp:lastModifiedBy>
  <cp:revision>2</cp:revision>
  <dcterms:created xsi:type="dcterms:W3CDTF">2013-01-27T09:14:00Z</dcterms:created>
  <dcterms:modified xsi:type="dcterms:W3CDTF">2026-10-16T09:40:26Z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3E34513D0D704E41B2BD941C22823B18_13</vt:lpwstr>
  </property>
  <property fmtid="{D5CDD505-2E9C-101B-9397-08002B2CF9AE}" pid="3" name="KSOProductBuildVer">
    <vt:lpwstr>2052-12.1.0.26375</vt:lpwstr>
  </property>
</Properties>
</file>