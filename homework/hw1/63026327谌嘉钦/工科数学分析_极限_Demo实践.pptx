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各位老师、同学好。这次 Demo 实践我选了一道工科数学分析中的经典极限题：当 x 趋于 0 时，(tan x − sin x) / x³ 的极限。它看起来是一个普通的 0/0 型，但真正关键是分子可以因式分解。接下来我会用三种方法求解，并展示如何用 dsh 把解题过程整理成可展示的 PPT。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先明确题目本身。这个函数在 x=0 处没有定义，定义域是 0 &lt; |x| &lt; π/2。右边图像已经给出直觉：两侧函数值都向 1/2 靠拢。图像不是证明，但它能提示我们答案大概是多少。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观察结构：把 tan x 写成 sin x / cos x，提出 sin x，就得到 tan x(1 − cos x)。这一步把“差”变成了“积”，后面就可以用两个标准极限。右边这个问题很重要：为什么不能把 tan x 和 sin x 都换成 x 得到 0？因为低阶项抵消后，真正的主部是 x³/2。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解法一：先提公因式，得到 tan x(1 − cos x)；再拆成 tan x / x 和 (1 − cos x) / x² 两个因子；用二倍角把第二项写成 1/2 乘以 sin²(x/2)/(x/2)²；最后代入两个标准极限，结果是 1/2。每一步只用一个标准事实：tan x/x → 1、sin t/t → 1，以及极限乘积法则。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解法二：泰勒展开。因为分母是 x³，所以分子只需要展开到 x³。tan x 的 x³ 系数是 1/3，sin x 的 x³ 系数是 −1/6，相减得到 x³/2，再除以 x³ 就是 1/2。右图把“阶数匹配”讲清楚：x 项相消，x³ 项留下，x⁵ 项除以 x³ 后趋于 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解法三：洛必达也能做，但需要连续求导三次：第一次得到 (sec²x − cos x)/(3x²)，第二次得到 (2sec²x tan x + sin x)/(6x)，第三次代入后得到 3/6 = 1/2。它能算出答案，但路径长、符号多，不是本题的首选。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最常见的错误是直接把 tan x 和 sin x 都换成 x，得到 x − x = 0。错在相减时低阶项抵消，真正的主部 x³/2 被丢掉了。正确做法是展开到足够阶，保留最低阶非零项。判断规则是：加减法中，先问最低阶项会不会抵消。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数值表显示：x=0.5 时是 0.535016，x=0.1 时是 0.501255，x=0.01 时是 0.500013，x=0.001 时已经是 0.500000。图像也确认了这一点。注意，函数在 x=0 处没有定义，但极限只关心去心邻域，所以这是一个可去间断点。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这三个变式说明同一方法：x − sin x 的最低阶是 x³/6，tan x − x 是 x³/3，tan x − sin x 是 x³/2。先找最低阶非零项，再除以分母的阶，这就是极限题的“阶数思维”。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第一次 Demo：我没有直接问“答案是多少”，而是给 dsh 一个明确的输出标准：两种独立解法、每一步注明依据、指出一个常见错误、用数值表验证、输出适合 PPT 的短句，并总结可迁移的方法。提示词不是“帮我算”，而是“按什么标准算”。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第二次 Demo：初稿直接洛必达，有 9 步，虽然能算出答案，但不够清楚。我继续追问：能否用因式分解？为什么等价替换会错？然后做符号、数值、图像三重校验，最后重构成三法对照。dsh 负责展开可能性，人负责筛选与把关。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最后总结三个习惯：第一，看结构，差化积、提公因式；第二，配阶数，分母几阶，分子就展到几阶；第三，交叉验，用两种方法加数值或图像互相验证。答案是 1/2。好的极限解答，不是算得快，而是每一步都知道为什么。谢谢大家。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58368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spc="16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工科数学分析 · 极限专题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41832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 spc="180">
                <a:solidFill>
                  <a:srgbClr val="B9A77F"/>
                </a:solidFill>
                <a:latin typeface="Microsoft YaHei"/>
                <a:ea typeface="Microsoft YaHei"/>
                <a:cs typeface="Microsoft YaHei"/>
              </a:rPr>
              <a:t>COURSE DEMO  /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16736"/>
            <a:ext cx="658368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5257800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一道极限题的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三种打开方式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521208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D9D2C2"/>
                </a:solidFill>
                <a:latin typeface="Microsoft YaHei"/>
                <a:ea typeface="Microsoft YaHei"/>
                <a:cs typeface="Microsoft YaHei"/>
              </a:rPr>
              <a:t>从  </a:t>
            </a:r>
            <a:r>
              <a:rPr sz="1900" b="0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tan x − sin x</a:t>
            </a:r>
            <a:r>
              <a:rPr sz="1550" b="0" i="0">
                <a:solidFill>
                  <a:srgbClr val="D9D2C2"/>
                </a:solidFill>
                <a:latin typeface="Microsoft YaHei"/>
                <a:ea typeface="Microsoft YaHei"/>
                <a:cs typeface="Microsoft YaHei"/>
              </a:rPr>
              <a:t>  到  </a:t>
            </a:r>
            <a:r>
              <a:rPr sz="2000" b="1" i="0">
                <a:solidFill>
                  <a:srgbClr val="C9A227"/>
                </a:solidFill>
                <a:latin typeface="Cambria Math"/>
                <a:ea typeface="Cambria Math"/>
                <a:cs typeface="Cambria Math"/>
              </a:rPr>
              <a:t>1/2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862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spc="80">
                <a:solidFill>
                  <a:srgbClr val="C9C1B1"/>
                </a:solidFill>
                <a:latin typeface="Microsoft YaHei"/>
                <a:ea typeface="Microsoft YaHei"/>
                <a:cs typeface="Microsoft YaHei"/>
              </a:rPr>
              <a:t>观察结构  ·  选择工具  ·  交叉验证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596128"/>
            <a:ext cx="54864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05840" y="5504688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9C1B1"/>
                </a:solidFill>
                <a:latin typeface="Microsoft YaHei"/>
                <a:ea typeface="Microsoft YaHei"/>
                <a:cs typeface="Microsoft YaHei"/>
              </a:rPr>
              <a:t>DeepSeek Harness Demo 实践  ｜  第一次：求解 · 第二次：表达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833872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8D7E"/>
                </a:solidFill>
                <a:latin typeface="Microsoft YaHei"/>
                <a:ea typeface="Microsoft YaHei"/>
                <a:cs typeface="Microsoft YaHei"/>
              </a:rPr>
              <a:t>汇报人：________    2026.10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5285232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9A08E"/>
                </a:solidFill>
                <a:latin typeface="Microsoft YaHei"/>
                <a:ea typeface="Microsoft YaHei"/>
                <a:cs typeface="Microsoft YaHei"/>
              </a:rPr>
              <a:t>x  →  0  时，函数值向  1/2  靠拢</a:t>
            </a:r>
          </a:p>
        </p:txBody>
      </p:sp>
      <p:pic>
        <p:nvPicPr>
          <p:cNvPr id="13" name="Picture 12" descr="graph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307592"/>
            <a:ext cx="5504688" cy="38221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" y="0"/>
            <a:ext cx="320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77240" y="6446520"/>
            <a:ext cx="10637215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6510528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工科数学分析 · 极限专题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651052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DeepSeek Harness  ·  Demo 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51052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02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01  /  题目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7784"/>
            <a:ext cx="101498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先看一道“短小”的极限题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280160"/>
            <a:ext cx="658368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527048" y="1291132"/>
            <a:ext cx="9887407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77240" y="1536192"/>
            <a:ext cx="6446520" cy="20299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42415" y="1664208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pic>
        <p:nvPicPr>
          <p:cNvPr id="14" name="Picture 13" descr="problem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5" y="1901952"/>
            <a:ext cx="5806440" cy="152073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77240" y="3712463"/>
            <a:ext cx="1024128" cy="310896"/>
          </a:xfrm>
          <a:prstGeom prst="roundRect">
            <a:avLst>
              <a:gd name="adj" fmla="val 50000"/>
            </a:avLst>
          </a:prstGeom>
          <a:solidFill>
            <a:srgbClr val="F1E8CF"/>
          </a:solidFill>
          <a:ln w="7620">
            <a:solidFill>
              <a:srgbClr val="DEC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0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0/0 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3712463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8F5EE"/>
          </a:solidFill>
          <a:ln w="7620">
            <a:solidFill>
              <a:srgbClr val="E2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0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三角结构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18104" y="3712463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F8F5EE"/>
          </a:solidFill>
          <a:ln w="7620">
            <a:solidFill>
              <a:srgbClr val="E2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0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可去间断点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8521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来源：工科数学分析 · 极限章节经典例题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416552"/>
            <a:ext cx="57607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定义域：0 &lt; |x| &lt; π/2（tan x 有意义）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773168"/>
            <a:ext cx="50292" cy="9326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87552" y="4700016"/>
            <a:ext cx="589788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先别急着洛必达——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这个 0/0 型里，藏着一个因式分解。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536192"/>
            <a:ext cx="3977639" cy="3675887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graph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1664208"/>
            <a:ext cx="3657600" cy="244144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662672" y="4206240"/>
            <a:ext cx="3584448" cy="658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x = 0 处无定义；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两侧函数值却向 1/2 靠拢。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2" y="4828032"/>
            <a:ext cx="3584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图像不是证明，但能先告诉我们答案大概在哪里。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" y="0"/>
            <a:ext cx="320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77240" y="6446520"/>
            <a:ext cx="10637215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6510528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工科数学分析 · 极限专题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651052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DeepSeek Harness  ·  Demo 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51052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03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02  /  观察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7784"/>
            <a:ext cx="101498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关键一步：把“差”变成“积”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280160"/>
            <a:ext cx="658368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527048" y="1291132"/>
            <a:ext cx="9887407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1527048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755648"/>
            <a:ext cx="6601968" cy="1234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factor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103120"/>
            <a:ext cx="5989320" cy="476668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804672" y="3328416"/>
            <a:ext cx="292608" cy="292608"/>
          </a:xfrm>
          <a:prstGeom prst="ellipse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3291840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统一成 sin x 与 cos 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3557016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785"/>
                </a:solidFill>
                <a:latin typeface="Cambria Math"/>
                <a:ea typeface="Cambria Math"/>
                <a:cs typeface="Cambria Math"/>
              </a:rPr>
              <a:t>tan x = sin x / cos x</a:t>
            </a:r>
          </a:p>
        </p:txBody>
      </p:sp>
      <p:sp>
        <p:nvSpPr>
          <p:cNvPr id="18" name="Oval 17"/>
          <p:cNvSpPr/>
          <p:nvPr/>
        </p:nvSpPr>
        <p:spPr>
          <a:xfrm>
            <a:off x="804672" y="4041648"/>
            <a:ext cx="292608" cy="292608"/>
          </a:xfrm>
          <a:prstGeom prst="ellipse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4005072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提出公因式 sin 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4270248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785"/>
                </a:solidFill>
                <a:latin typeface="Cambria Math"/>
                <a:ea typeface="Cambria Math"/>
                <a:cs typeface="Cambria Math"/>
              </a:rPr>
              <a:t>sin x · (1 / cos x − 1)</a:t>
            </a:r>
          </a:p>
        </p:txBody>
      </p:sp>
      <p:sp>
        <p:nvSpPr>
          <p:cNvPr id="21" name="Oval 20"/>
          <p:cNvSpPr/>
          <p:nvPr/>
        </p:nvSpPr>
        <p:spPr>
          <a:xfrm>
            <a:off x="804672" y="4754879"/>
            <a:ext cx="292608" cy="292608"/>
          </a:xfrm>
          <a:prstGeom prst="ellipse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5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4718304"/>
            <a:ext cx="539496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合并为一个乘积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4983479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785"/>
                </a:solidFill>
                <a:latin typeface="Cambria Math"/>
                <a:ea typeface="Cambria Math"/>
                <a:cs typeface="Cambria Math"/>
              </a:rPr>
              <a:t>tan x · (1 − cos x)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650992"/>
            <a:ext cx="6601968" cy="512064"/>
          </a:xfrm>
          <a:prstGeom prst="roundRect">
            <a:avLst>
              <a:gd name="adj" fmla="val 12000"/>
            </a:avLst>
          </a:prstGeom>
          <a:solidFill>
            <a:srgbClr val="F1E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87552" y="5751576"/>
            <a:ext cx="62179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3233F"/>
                </a:solidFill>
                <a:latin typeface="Microsoft YaHei"/>
                <a:ea typeface="Microsoft YaHei"/>
                <a:cs typeface="Microsoft YaHei"/>
              </a:rPr>
              <a:t>差  →  积：把未知变成两个已知极限的乘积。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1755648"/>
            <a:ext cx="3749039" cy="3703320"/>
          </a:xfrm>
          <a:prstGeom prst="roundRect">
            <a:avLst>
              <a:gd name="adj" fmla="val 6000"/>
            </a:avLst>
          </a:prstGeom>
          <a:solidFill>
            <a:srgbClr val="13233F"/>
          </a:solidFill>
          <a:ln>
            <a:noFill/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882127" y="1920240"/>
            <a:ext cx="31089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为什么不是 0？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7" y="2157984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低阶项抵消了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82127" y="2697480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9D3C5"/>
                </a:solidFill>
                <a:latin typeface="Microsoft YaHei"/>
                <a:ea typeface="Microsoft YaHei"/>
                <a:cs typeface="Microsoft YaHei"/>
              </a:rPr>
              <a:t>tan x 与 sin x 在 0 附近都像 x；但它们的差不是 0，而是 x³/2。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45552" y="3730752"/>
            <a:ext cx="3337560" cy="1115568"/>
          </a:xfrm>
          <a:prstGeom prst="roundRect">
            <a:avLst>
              <a:gd name="adj" fmla="val 6000"/>
            </a:avLst>
          </a:prstGeom>
          <a:solidFill>
            <a:srgbClr val="F8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leading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3913632"/>
            <a:ext cx="3090672" cy="9161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882127" y="5029200"/>
            <a:ext cx="32461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9C1B1"/>
                </a:solidFill>
                <a:latin typeface="Microsoft YaHei"/>
                <a:ea typeface="Microsoft YaHei"/>
                <a:cs typeface="Microsoft YaHei"/>
              </a:rPr>
              <a:t>两个无穷小相减，最低阶不一定还是 1 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" y="0"/>
            <a:ext cx="320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77240" y="6446520"/>
            <a:ext cx="10637215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6510528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工科数学分析 · 极限专题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651052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DeepSeek Harness  ·  Demo 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51052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04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03  /  解法一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7784"/>
            <a:ext cx="101498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因式分解 + 标准极限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280160"/>
            <a:ext cx="658368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527048" y="1291132"/>
            <a:ext cx="9887407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77240" y="1536192"/>
            <a:ext cx="660196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41248" y="1645919"/>
            <a:ext cx="283464" cy="283464"/>
          </a:xfrm>
          <a:prstGeom prst="ellipse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3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1609344"/>
            <a:ext cx="5669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提公因式</a:t>
            </a:r>
          </a:p>
        </p:txBody>
      </p:sp>
      <p:pic>
        <p:nvPicPr>
          <p:cNvPr id="15" name="Picture 14" descr="factor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1901952"/>
            <a:ext cx="5486400" cy="43664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77240" y="2560320"/>
            <a:ext cx="6601968" cy="1417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41248" y="2670048"/>
            <a:ext cx="283464" cy="283464"/>
          </a:xfrm>
          <a:prstGeom prst="ellipse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3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2633472"/>
            <a:ext cx="5669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拆成两个因子</a:t>
            </a:r>
          </a:p>
        </p:txBody>
      </p:sp>
      <p:pic>
        <p:nvPicPr>
          <p:cNvPr id="19" name="Picture 18" descr="split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2926079"/>
            <a:ext cx="5532120" cy="96665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77240" y="4096512"/>
            <a:ext cx="6601968" cy="1353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841248" y="4206240"/>
            <a:ext cx="283464" cy="283464"/>
          </a:xfrm>
          <a:prstGeom prst="ellipse">
            <a:avLst/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3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2728" y="4169664"/>
            <a:ext cx="5669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二倍角，凑出标准极限</a:t>
            </a:r>
          </a:p>
        </p:txBody>
      </p:sp>
      <p:pic>
        <p:nvPicPr>
          <p:cNvPr id="23" name="Picture 22" descr="half_squar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4462272"/>
            <a:ext cx="3611880" cy="907237"/>
          </a:xfrm>
          <a:prstGeom prst="rect">
            <a:avLst/>
          </a:prstGeom>
        </p:spPr>
      </p:pic>
      <p:sp>
        <p:nvSpPr>
          <p:cNvPr id="24" name="Oval 23"/>
          <p:cNvSpPr/>
          <p:nvPr/>
        </p:nvSpPr>
        <p:spPr>
          <a:xfrm>
            <a:off x="841248" y="5559552"/>
            <a:ext cx="283464" cy="28346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30" b="1" i="0">
                <a:solidFill>
                  <a:srgbClr val="13233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2728" y="5513832"/>
            <a:ext cx="38404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代入三个极限，相乘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52728" y="5779008"/>
            <a:ext cx="43891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A7724"/>
                </a:solidFill>
                <a:latin typeface="Cambria Math"/>
                <a:ea typeface="Cambria Math"/>
                <a:cs typeface="Cambria Math"/>
              </a:rPr>
              <a:t>L = 1 · 1/2 · 1 = 1/2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1536192"/>
            <a:ext cx="3767328" cy="4526280"/>
          </a:xfrm>
          <a:prstGeom prst="roundRect">
            <a:avLst>
              <a:gd name="adj" fmla="val 6000"/>
            </a:avLst>
          </a:prstGeom>
          <a:solidFill>
            <a:srgbClr val="13233F"/>
          </a:solidFill>
          <a:ln>
            <a:noFill/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882127" y="170078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pic>
        <p:nvPicPr>
          <p:cNvPr id="29" name="Picture 28" descr="answ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2188" y="1920240"/>
            <a:ext cx="2331720" cy="184558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882127" y="3877056"/>
            <a:ext cx="3246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C1B1"/>
                </a:solidFill>
                <a:latin typeface="Microsoft YaHei"/>
                <a:ea typeface="Microsoft YaHei"/>
                <a:cs typeface="Microsoft YaHei"/>
              </a:rPr>
              <a:t>两个标准极限的乘积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4233672"/>
            <a:ext cx="3218688" cy="914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7936992" y="4507992"/>
            <a:ext cx="50292" cy="5029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092440" y="4416552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E8E1D2"/>
                </a:solidFill>
                <a:latin typeface="Microsoft YaHei"/>
                <a:ea typeface="Microsoft YaHei"/>
                <a:cs typeface="Microsoft YaHei"/>
              </a:rPr>
              <a:t>tan x / x  → 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36992" y="4837176"/>
            <a:ext cx="50292" cy="5029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092440" y="4745736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E8E1D2"/>
                </a:solidFill>
                <a:latin typeface="Microsoft YaHei"/>
                <a:ea typeface="Microsoft YaHei"/>
                <a:cs typeface="Microsoft YaHei"/>
              </a:rPr>
              <a:t>sin t / t  →  1（t = x/2）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36992" y="5166359"/>
            <a:ext cx="50292" cy="5029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092440" y="5074920"/>
            <a:ext cx="29992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E8E1D2"/>
                </a:solidFill>
                <a:latin typeface="Microsoft YaHei"/>
                <a:ea typeface="Microsoft YaHei"/>
                <a:cs typeface="Microsoft YaHei"/>
              </a:rPr>
              <a:t>极限乘积法则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2127" y="5733288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每一步都有依据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90488"/>
            <a:ext cx="6629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每一步只用一个标准事实——这就是“原理正确”的含义。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" y="0"/>
            <a:ext cx="320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77240" y="6446520"/>
            <a:ext cx="10637215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6510528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工科数学分析 · 极限专题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651052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DeepSeek Harness  ·  Demo 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51052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05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03  /  解法二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7784"/>
            <a:ext cx="101498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泰勒展开：只看最低阶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280160"/>
            <a:ext cx="658368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527048" y="1291132"/>
            <a:ext cx="9887407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1499616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分母是 x³，所以分子展开到 x³ 就够；更高阶项除以 x³ 后仍趋于 0。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73936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tan x 的展开</a:t>
            </a:r>
          </a:p>
        </p:txBody>
      </p:sp>
      <p:pic>
        <p:nvPicPr>
          <p:cNvPr id="14" name="Picture 13" descr="tan_exp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56816"/>
            <a:ext cx="3794760" cy="8959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2889504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sin x 的展开</a:t>
            </a:r>
          </a:p>
        </p:txBody>
      </p:sp>
      <p:pic>
        <p:nvPicPr>
          <p:cNvPr id="16" name="Picture 15" descr="sin_ex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90672"/>
            <a:ext cx="3794760" cy="91004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77240" y="4087368"/>
            <a:ext cx="6355080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4178808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相减，再除以 x³</a:t>
            </a:r>
          </a:p>
        </p:txBody>
      </p:sp>
      <p:pic>
        <p:nvPicPr>
          <p:cNvPr id="19" name="Picture 18" descr="diff_ex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379976"/>
            <a:ext cx="6080760" cy="715765"/>
          </a:xfrm>
          <a:prstGeom prst="rect">
            <a:avLst/>
          </a:prstGeom>
        </p:spPr>
      </p:pic>
      <p:pic>
        <p:nvPicPr>
          <p:cNvPr id="20" name="Picture 19" descr="taylor_final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230368"/>
            <a:ext cx="4526280" cy="7921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77240" y="6163056"/>
            <a:ext cx="6309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两种独立方法得到同一结果，可信度更高。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1810512"/>
            <a:ext cx="3721608" cy="3584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918704" y="1975104"/>
            <a:ext cx="23774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阶数匹配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18704" y="2194560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低阶相消，留下 x³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18704" y="2697480"/>
            <a:ext cx="822960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x 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2679192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33A"/>
                </a:solidFill>
                <a:latin typeface="Cambria Math"/>
                <a:ea typeface="Cambria Math"/>
                <a:cs typeface="Cambria Math"/>
              </a:rPr>
              <a:t>x − x =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97312" y="2679192"/>
            <a:ext cx="594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相消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18704" y="3355848"/>
            <a:ext cx="822960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x³ 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3337560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33A"/>
                </a:solidFill>
                <a:latin typeface="Cambria Math"/>
                <a:ea typeface="Cambria Math"/>
                <a:cs typeface="Cambria Math"/>
              </a:rPr>
              <a:t>x³/3 + x³/6 = x³/2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97312" y="3337560"/>
            <a:ext cx="594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留下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8704" y="4014216"/>
            <a:ext cx="822960" cy="2103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x⁵ 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3995928"/>
            <a:ext cx="2148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6233A"/>
                </a:solidFill>
                <a:latin typeface="Cambria Math"/>
                <a:ea typeface="Cambria Math"/>
                <a:cs typeface="Cambria Math"/>
              </a:rPr>
              <a:t>O(x⁵) / x³ →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97312" y="3995928"/>
            <a:ext cx="594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消失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18704" y="4663440"/>
            <a:ext cx="3246120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918704" y="4791456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只保留 x³ 项  →  极限 1/2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8704" y="5065776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展开到与分母同阶，是泰勒法的关键。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" y="0"/>
            <a:ext cx="320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77240" y="6446520"/>
            <a:ext cx="10637215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6510528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工科数学分析 · 极限专题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651052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DeepSeek Harness  ·  Demo 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51052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06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03  /  解法三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7784"/>
            <a:ext cx="101498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洛必达：可行，但不是首选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280160"/>
            <a:ext cx="658368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527048" y="1291132"/>
            <a:ext cx="9887407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1499616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连续三次使用洛必达法则，每次都仍是 0/0；能算出答案，但计算量和出错率都更高。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810512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① 第一次求导</a:t>
            </a:r>
          </a:p>
        </p:txBody>
      </p:sp>
      <p:pic>
        <p:nvPicPr>
          <p:cNvPr id="14" name="Picture 13" descr="lhopital1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29968"/>
            <a:ext cx="4160520" cy="111512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74920" y="3035808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4134"/>
                </a:solidFill>
                <a:latin typeface="Microsoft YaHei"/>
                <a:ea typeface="Microsoft YaHei"/>
                <a:cs typeface="Microsoft YaHei"/>
              </a:rPr>
              <a:t>仍是 0/0 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236976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② 第二次求导</a:t>
            </a:r>
          </a:p>
        </p:txBody>
      </p:sp>
      <p:pic>
        <p:nvPicPr>
          <p:cNvPr id="17" name="Picture 16" descr="lhopital2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56432"/>
            <a:ext cx="4617720" cy="102864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532120" y="4434840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4134"/>
                </a:solidFill>
                <a:latin typeface="Microsoft YaHei"/>
                <a:ea typeface="Microsoft YaHei"/>
                <a:cs typeface="Microsoft YaHei"/>
              </a:rPr>
              <a:t>仍是 0/0  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45152"/>
            <a:ext cx="4572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③ 第三次求导后，代入 x = 0</a:t>
            </a:r>
          </a:p>
        </p:txBody>
      </p:sp>
      <p:pic>
        <p:nvPicPr>
          <p:cNvPr id="20" name="Picture 19" descr="lhopital3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864608"/>
            <a:ext cx="5669280" cy="683408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7635240" y="1810512"/>
            <a:ext cx="3767328" cy="3246120"/>
          </a:xfrm>
          <a:prstGeom prst="roundRect">
            <a:avLst>
              <a:gd name="adj" fmla="val 6000"/>
            </a:avLst>
          </a:prstGeom>
          <a:solidFill>
            <a:srgbClr val="F1E8CF"/>
          </a:solidFill>
          <a:ln w="9525">
            <a:solidFill>
              <a:srgbClr val="DEC992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82127" y="1975104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2212848"/>
            <a:ext cx="324612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3233F"/>
                </a:solidFill>
                <a:latin typeface="Noto Serif SC"/>
                <a:ea typeface="Noto Serif SC"/>
                <a:cs typeface="Noto Serif SC"/>
              </a:rPr>
              <a:t>能做  ≠  该做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09560" y="2852928"/>
            <a:ext cx="50292" cy="5029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065008" y="2761488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连续 3 次处理 0/0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3246120"/>
            <a:ext cx="50292" cy="5029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065008" y="3154680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三角求导容易丢符号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09560" y="3639312"/>
            <a:ext cx="50292" cy="50292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065008" y="3547872"/>
            <a:ext cx="304495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恒等式并没有变简单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4187952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1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路径越长，出错面越大。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833872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2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方法选择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737360" y="5742432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F1E8CF"/>
          </a:solidFill>
          <a:ln w="7620">
            <a:solidFill>
              <a:srgbClr val="DEC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00" b="1" i="0">
                <a:solidFill>
                  <a:srgbClr val="13233F"/>
                </a:solidFill>
                <a:latin typeface="Microsoft YaHei"/>
                <a:ea typeface="Microsoft YaHei"/>
                <a:cs typeface="Microsoft YaHei"/>
              </a:rPr>
              <a:t>因式分解  ★★★★★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24528" y="5742432"/>
            <a:ext cx="23317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00" b="0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泰勒展开  ★★★★☆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11696" y="5742432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E2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0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洛必达  ★★☆☆☆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5852160"/>
            <a:ext cx="2331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推荐度针对本题，不是通用排名。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" y="0"/>
            <a:ext cx="320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77240" y="6446520"/>
            <a:ext cx="10637215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6510528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工科数学分析 · 极限专题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651052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DeepSeek Harness  ·  Demo 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51052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07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04  /  易错点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7784"/>
            <a:ext cx="101498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等价无穷小，不能直接相减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280160"/>
            <a:ext cx="658368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527048" y="1291132"/>
            <a:ext cx="9887407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77240" y="1554480"/>
            <a:ext cx="50749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77240" y="1554480"/>
            <a:ext cx="5074920" cy="59436"/>
          </a:xfrm>
          <a:prstGeom prst="rect">
            <a:avLst/>
          </a:prstGeom>
          <a:solidFill>
            <a:srgbClr val="A64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005840" y="1773936"/>
            <a:ext cx="475488" cy="475488"/>
          </a:xfrm>
          <a:prstGeom prst="ellipse">
            <a:avLst/>
          </a:prstGeom>
          <a:solidFill>
            <a:srgbClr val="A64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181051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A64134"/>
                </a:solidFill>
                <a:latin typeface="Microsoft YaHei"/>
                <a:ea typeface="Microsoft YaHei"/>
                <a:cs typeface="Microsoft YaHei"/>
              </a:rPr>
              <a:t>错误示范</a:t>
            </a:r>
          </a:p>
        </p:txBody>
      </p:sp>
      <p:pic>
        <p:nvPicPr>
          <p:cNvPr id="16" name="Picture 15" descr="wrong1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40864"/>
            <a:ext cx="4160520" cy="441851"/>
          </a:xfrm>
          <a:prstGeom prst="rect">
            <a:avLst/>
          </a:prstGeom>
        </p:spPr>
      </p:pic>
      <p:pic>
        <p:nvPicPr>
          <p:cNvPr id="17" name="Picture 16" descr="wrong2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16352"/>
            <a:ext cx="4681728" cy="30625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05840" y="3328416"/>
            <a:ext cx="452628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把两个等价量直接相减，低阶项抵消；真正的主部 x³/2 被丢掉了。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224528"/>
            <a:ext cx="4526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64134"/>
                </a:solidFill>
                <a:latin typeface="Microsoft YaHei"/>
                <a:ea typeface="Microsoft YaHei"/>
                <a:cs typeface="Microsoft YaHei"/>
              </a:rPr>
              <a:t>于是得到 0 —— 与正确答案相差甚远。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554480"/>
            <a:ext cx="5074920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355080" y="1554480"/>
            <a:ext cx="5074920" cy="59436"/>
          </a:xfrm>
          <a:prstGeom prst="rect">
            <a:avLst/>
          </a:prstGeom>
          <a:solidFill>
            <a:srgbClr val="2F76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6583680" y="1773936"/>
            <a:ext cx="475488" cy="475488"/>
          </a:xfrm>
          <a:prstGeom prst="ellipse">
            <a:avLst/>
          </a:prstGeom>
          <a:solidFill>
            <a:srgbClr val="2F76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1810512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20">
                <a:solidFill>
                  <a:srgbClr val="2F7665"/>
                </a:solidFill>
                <a:latin typeface="Microsoft YaHei"/>
                <a:ea typeface="Microsoft YaHei"/>
                <a:cs typeface="Microsoft YaHei"/>
              </a:rPr>
              <a:t>正确做法</a:t>
            </a:r>
          </a:p>
        </p:txBody>
      </p:sp>
      <p:pic>
        <p:nvPicPr>
          <p:cNvPr id="24" name="Picture 23" descr="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359152"/>
            <a:ext cx="4572000" cy="76781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583680" y="3273552"/>
            <a:ext cx="4526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展开到足够阶，保留最低阶非零项，再除以 x³。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169663"/>
            <a:ext cx="45262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7665"/>
                </a:solidFill>
                <a:latin typeface="Microsoft YaHei"/>
                <a:ea typeface="Microsoft YaHei"/>
                <a:cs typeface="Microsoft YaHei"/>
              </a:rPr>
              <a:t>于是得到 1/2 —— 与图像、数值表一致。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084064"/>
            <a:ext cx="10652760" cy="1042415"/>
          </a:xfrm>
          <a:prstGeom prst="roundRect">
            <a:avLst>
              <a:gd name="adj" fmla="val 6000"/>
            </a:avLst>
          </a:prstGeom>
          <a:solidFill>
            <a:srgbClr val="13233F"/>
          </a:solidFill>
          <a:ln>
            <a:noFill/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77240" y="5084064"/>
            <a:ext cx="50292" cy="1042415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24128" y="5230368"/>
            <a:ext cx="9966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判断规则：加减法中，先问“最低阶项会不会抵消？”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5605272"/>
            <a:ext cx="9875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9D3C5"/>
                </a:solidFill>
                <a:latin typeface="Microsoft YaHei"/>
                <a:ea typeface="Microsoft YaHei"/>
                <a:cs typeface="Microsoft YaHei"/>
              </a:rPr>
              <a:t>稳妥策略：能因式分解就先因式分解；不能就展开到与分母同阶。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" y="0"/>
            <a:ext cx="320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77240" y="6446520"/>
            <a:ext cx="10637215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6510528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工科数学分析 · 极限专题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651052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DeepSeek Harness  ·  Demo 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51052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08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05  /  验证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7784"/>
            <a:ext cx="101498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数值与图像：答案真的是 1/2 吗？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280160"/>
            <a:ext cx="658368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527048" y="1291132"/>
            <a:ext cx="9887407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1517904"/>
            <a:ext cx="16459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数值实验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755648"/>
            <a:ext cx="4617720" cy="438912"/>
          </a:xfrm>
          <a:prstGeom prst="roundRect">
            <a:avLst>
              <a:gd name="adj" fmla="val 3000"/>
            </a:avLst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3544" y="1865376"/>
            <a:ext cx="169163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61488" y="1865376"/>
            <a:ext cx="257860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f(x) = (tan x − sin x) / x³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2194560"/>
            <a:ext cx="461772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77240" y="2627985"/>
            <a:ext cx="4617720" cy="5486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23544" y="2295144"/>
            <a:ext cx="169163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A"/>
                </a:solidFill>
                <a:latin typeface="Cambria Math"/>
                <a:ea typeface="Cambria Math"/>
                <a:cs typeface="Cambria Math"/>
              </a:rPr>
              <a:t>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295144"/>
            <a:ext cx="257860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A"/>
                </a:solidFill>
                <a:latin typeface="Cambria Math"/>
                <a:ea typeface="Cambria Math"/>
                <a:cs typeface="Cambria Math"/>
              </a:rPr>
              <a:t>0.535016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2633472"/>
            <a:ext cx="4617720" cy="438912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777240" y="3066897"/>
            <a:ext cx="4617720" cy="5486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23544" y="2734056"/>
            <a:ext cx="169163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A"/>
                </a:solidFill>
                <a:latin typeface="Cambria Math"/>
                <a:ea typeface="Cambria Math"/>
                <a:cs typeface="Cambria Math"/>
              </a:rPr>
              <a:t>0.1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61488" y="2734056"/>
            <a:ext cx="257860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A"/>
                </a:solidFill>
                <a:latin typeface="Cambria Math"/>
                <a:ea typeface="Cambria Math"/>
                <a:cs typeface="Cambria Math"/>
              </a:rPr>
              <a:t>0.501255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072384"/>
            <a:ext cx="461772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777240" y="3505809"/>
            <a:ext cx="4617720" cy="5486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3544" y="3172968"/>
            <a:ext cx="169163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A"/>
                </a:solidFill>
                <a:latin typeface="Cambria Math"/>
                <a:ea typeface="Cambria Math"/>
                <a:cs typeface="Cambria Math"/>
              </a:rPr>
              <a:t>0.01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61488" y="3172968"/>
            <a:ext cx="257860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A"/>
                </a:solidFill>
                <a:latin typeface="Cambria Math"/>
                <a:ea typeface="Cambria Math"/>
                <a:cs typeface="Cambria Math"/>
              </a:rPr>
              <a:t>0.500013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3511296"/>
            <a:ext cx="4617720" cy="438912"/>
          </a:xfrm>
          <a:prstGeom prst="rect">
            <a:avLst/>
          </a:prstGeom>
          <a:solidFill>
            <a:srgbClr val="F4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777240" y="3944721"/>
            <a:ext cx="4617720" cy="5486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23544" y="3611879"/>
            <a:ext cx="169163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A"/>
                </a:solidFill>
                <a:latin typeface="Cambria Math"/>
                <a:ea typeface="Cambria Math"/>
                <a:cs typeface="Cambria Math"/>
              </a:rPr>
              <a:t>0.001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61488" y="3611879"/>
            <a:ext cx="257860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233A"/>
                </a:solidFill>
                <a:latin typeface="Cambria Math"/>
                <a:ea typeface="Cambria Math"/>
                <a:cs typeface="Cambria Math"/>
              </a:rPr>
              <a:t>0.500000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950208"/>
            <a:ext cx="4617720" cy="438912"/>
          </a:xfrm>
          <a:prstGeom prst="rect">
            <a:avLst/>
          </a:prstGeom>
          <a:solidFill>
            <a:srgbClr val="F1E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23544" y="4050792"/>
            <a:ext cx="1691639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233A"/>
                </a:solidFill>
                <a:latin typeface="Cambria Math"/>
                <a:ea typeface="Cambria Math"/>
                <a:cs typeface="Cambria Math"/>
              </a:rPr>
              <a:t>x → 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61488" y="4050792"/>
            <a:ext cx="2578608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A7724"/>
                </a:solidFill>
                <a:latin typeface="Cambria Math"/>
                <a:ea typeface="Cambria Math"/>
                <a:cs typeface="Cambria Math"/>
              </a:rPr>
              <a:t>1/2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553712"/>
            <a:ext cx="4617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x = 0 不在定义域内；极限只关心去心邻域。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4809744"/>
            <a:ext cx="4617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f(x) 是偶函数，左右极限相同。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157216"/>
            <a:ext cx="4617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越靠近 0，数值越稳定地落在 1/2 附近。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06440" y="1536192"/>
            <a:ext cx="5230368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graph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64208"/>
            <a:ext cx="4956048" cy="330098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5943600" y="5010912"/>
            <a:ext cx="4754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纵轴局部放大；虚线为 y = 1/2。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5559552"/>
            <a:ext cx="10652760" cy="749808"/>
          </a:xfrm>
          <a:prstGeom prst="roundRect">
            <a:avLst>
              <a:gd name="adj" fmla="val 6000"/>
            </a:avLst>
          </a:prstGeom>
          <a:solidFill>
            <a:srgbClr val="13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005840" y="5705856"/>
            <a:ext cx="78638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函数在 x = 0 处没有定义，但极限存在——这是可去间断点。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79408" y="5733288"/>
            <a:ext cx="5943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极限值</a:t>
            </a:r>
          </a:p>
        </p:txBody>
      </p:sp>
      <p:pic>
        <p:nvPicPr>
          <p:cNvPr id="44" name="Picture 43" descr="answer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5632704"/>
            <a:ext cx="694944" cy="5500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" y="0"/>
            <a:ext cx="320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77240" y="6446520"/>
            <a:ext cx="10637215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6510528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工科数学分析 · 极限专题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651052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DeepSeek Harness  ·  Demo 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51052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09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06  /  迁移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7784"/>
            <a:ext cx="101498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一题多变：同一结构，不同阶数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280160"/>
            <a:ext cx="658368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527048" y="1291132"/>
            <a:ext cx="9887407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77240" y="1572768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77240" y="1572768"/>
            <a:ext cx="33832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96695" y="1755648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3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变式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5" y="1975104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x − sin x</a:t>
            </a:r>
          </a:p>
        </p:txBody>
      </p:sp>
      <p:pic>
        <p:nvPicPr>
          <p:cNvPr id="16" name="Picture 15" descr="variant1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5" y="2395728"/>
            <a:ext cx="2542032" cy="78808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96695" y="3246120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x 与 sin x 的差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5" y="391363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最低阶：x³ /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572768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389120" y="1572768"/>
            <a:ext cx="33832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608576" y="1755648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3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变式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1975104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tan x − x</a:t>
            </a:r>
          </a:p>
        </p:txBody>
      </p:sp>
      <p:pic>
        <p:nvPicPr>
          <p:cNvPr id="23" name="Picture 22" descr="variant2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8576" y="2395728"/>
            <a:ext cx="2542032" cy="77593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608576" y="3246120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tan x 与 x 的差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08576" y="391363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最低阶：x³ /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1572768"/>
            <a:ext cx="3383280" cy="2971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01000" y="1572768"/>
            <a:ext cx="3383280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0456" y="1755648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3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变式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1975104"/>
            <a:ext cx="29260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tan x − sin x</a:t>
            </a:r>
          </a:p>
        </p:txBody>
      </p:sp>
      <p:pic>
        <p:nvPicPr>
          <p:cNvPr id="30" name="Picture 29" descr="variant3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2395728"/>
            <a:ext cx="2542032" cy="6530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220456" y="3246120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tan x 与 sin x 的差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0456" y="3913632"/>
            <a:ext cx="292608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最低阶：x³ /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892040"/>
            <a:ext cx="10652760" cy="1188720"/>
          </a:xfrm>
          <a:prstGeom prst="roundRect">
            <a:avLst>
              <a:gd name="adj" fmla="val 6000"/>
            </a:avLst>
          </a:prstGeom>
          <a:solidFill>
            <a:srgbClr val="F1E8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24128" y="5047488"/>
            <a:ext cx="99669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3233F"/>
                </a:solidFill>
                <a:latin typeface="Noto Serif SC"/>
                <a:ea typeface="Noto Serif SC"/>
                <a:cs typeface="Noto Serif SC"/>
              </a:rPr>
              <a:t>方法迁移：先找最低阶非零项，再除以分母的阶。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5486400"/>
            <a:ext cx="98755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同一个极限结构，换一个函数，就是一道新题；但“配阶数”的思路没有变。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" y="0"/>
            <a:ext cx="320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77240" y="6446520"/>
            <a:ext cx="10637215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6510528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工科数学分析 · 极限专题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651052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DeepSeek Harness  ·  Demo 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51052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10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07  /  Demo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7784"/>
            <a:ext cx="101498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把问题交给 dsh：先定义“好答案”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280160"/>
            <a:ext cx="658368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527048" y="1291132"/>
            <a:ext cx="9887407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77240" y="1536192"/>
            <a:ext cx="5989320" cy="3886200"/>
          </a:xfrm>
          <a:prstGeom prst="roundRect">
            <a:avLst>
              <a:gd name="adj" fmla="val 7000"/>
            </a:avLst>
          </a:prstGeom>
          <a:solidFill>
            <a:srgbClr val="0B1B33"/>
          </a:solidFill>
          <a:ln>
            <a:noFill/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024128" y="17465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C85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225296" y="17465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D6A5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1426464" y="1746504"/>
            <a:ext cx="82296" cy="82296"/>
          </a:xfrm>
          <a:prstGeom prst="roundRect">
            <a:avLst>
              <a:gd name="adj" fmla="val 50000"/>
            </a:avLst>
          </a:prstGeom>
          <a:solidFill>
            <a:srgbClr val="5E9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783080" y="1691640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80">
                <a:solidFill>
                  <a:srgbClr val="C9A227"/>
                </a:solidFill>
                <a:latin typeface="Consolas"/>
                <a:ea typeface="Consolas"/>
                <a:cs typeface="Consolas"/>
              </a:rPr>
              <a:t>prompt.md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1965960"/>
            <a:ext cx="5532120" cy="7315"/>
          </a:xfrm>
          <a:prstGeom prst="rect">
            <a:avLst/>
          </a:prstGeom>
          <a:solidFill>
            <a:srgbClr val="2A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2103120"/>
            <a:ext cx="5504688" cy="2834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F1EADB"/>
                </a:solidFill>
                <a:latin typeface="Microsoft YaHei"/>
                <a:ea typeface="Microsoft YaHei"/>
                <a:cs typeface="Microsoft YaHei"/>
              </a:rPr>
              <a:t>你是工科数学分析助教。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F1EADB"/>
                </a:solidFill>
                <a:latin typeface="Microsoft YaHei"/>
                <a:ea typeface="Microsoft YaHei"/>
                <a:cs typeface="Microsoft YaHei"/>
              </a:rPr>
              <a:t>求解  L = lim(x→0) (tan x − sin x) / x³。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F1EAD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F1EADB"/>
                </a:solidFill>
                <a:latin typeface="Microsoft YaHei"/>
                <a:ea typeface="Microsoft YaHei"/>
                <a:cs typeface="Microsoft YaHei"/>
              </a:rPr>
              <a:t>要求：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F1EADB"/>
                </a:solidFill>
                <a:latin typeface="Microsoft YaHei"/>
                <a:ea typeface="Microsoft YaHei"/>
                <a:cs typeface="Microsoft YaHei"/>
              </a:rPr>
              <a:t>① 给出两种独立解法；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F1EADB"/>
                </a:solidFill>
                <a:latin typeface="Microsoft YaHei"/>
                <a:ea typeface="Microsoft YaHei"/>
                <a:cs typeface="Microsoft YaHei"/>
              </a:rPr>
              <a:t>② 每一步注明依据；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F1EADB"/>
                </a:solidFill>
                <a:latin typeface="Microsoft YaHei"/>
                <a:ea typeface="Microsoft YaHei"/>
                <a:cs typeface="Microsoft YaHei"/>
              </a:rPr>
              <a:t>③ 指出一个常见错误；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F1EADB"/>
                </a:solidFill>
                <a:latin typeface="Microsoft YaHei"/>
                <a:ea typeface="Microsoft YaHei"/>
                <a:cs typeface="Microsoft YaHei"/>
              </a:rPr>
              <a:t>④ 用数值表验证；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F1EADB"/>
                </a:solidFill>
                <a:latin typeface="Microsoft YaHei"/>
                <a:ea typeface="Microsoft YaHei"/>
                <a:cs typeface="Microsoft YaHei"/>
              </a:rPr>
              <a:t>⑤ 输出适合 PPT 的短句；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F1EADB"/>
                </a:solidFill>
                <a:latin typeface="Microsoft YaHei"/>
                <a:ea typeface="Microsoft YaHei"/>
                <a:cs typeface="Microsoft YaHei"/>
              </a:rPr>
              <a:t>⑥ 用一句话总结可迁移的方法。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5074920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1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— 第一次 Demo：先解题，再谈表达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86600" y="1572768"/>
            <a:ext cx="4160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296912" y="171907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227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2127" y="1691640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多解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2127" y="2020824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因式分解 + 泰勒展开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2715768"/>
            <a:ext cx="4160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96912" y="286207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227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82127" y="2834639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易错点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2127" y="3163824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等价无穷小相减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86600" y="3858768"/>
            <a:ext cx="4160520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296912" y="4005072"/>
            <a:ext cx="5029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227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7" y="3977639"/>
            <a:ext cx="31089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82127" y="4306824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数值表 + 图像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5230368"/>
            <a:ext cx="41148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13233F"/>
                </a:solidFill>
                <a:latin typeface="Noto Serif SC"/>
                <a:ea typeface="Noto Serif SC"/>
                <a:cs typeface="Noto Serif SC"/>
              </a:rPr>
              <a:t>提示词不是“帮我算”，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13233F"/>
                </a:solidFill>
                <a:latin typeface="Noto Serif SC"/>
                <a:ea typeface="Noto Serif SC"/>
                <a:cs typeface="Noto Serif SC"/>
              </a:rPr>
              <a:t>而是“按什么标准算”。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" y="0"/>
            <a:ext cx="320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77240" y="6446520"/>
            <a:ext cx="10637215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6510528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工科数学分析 · 极限专题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651052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DeepSeek Harness  ·  Demo 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51052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11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08  /  Demo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7784"/>
            <a:ext cx="101498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从“解出来”到“讲清楚”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280160"/>
            <a:ext cx="658368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527048" y="1291132"/>
            <a:ext cx="9887407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22960" y="1609344"/>
            <a:ext cx="24231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22960" y="1609344"/>
            <a:ext cx="24231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05840" y="1773936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A227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139696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523744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初稿：直接洛必达，9 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395728"/>
            <a:ext cx="237744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20440" y="1609344"/>
            <a:ext cx="24231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520440" y="1609344"/>
            <a:ext cx="24231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703320" y="1773936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A227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2139696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质疑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2523744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“能否因式分解？为什么等价替换会错？”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2395728"/>
            <a:ext cx="237744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609344"/>
            <a:ext cx="24231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217920" y="1609344"/>
            <a:ext cx="24231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0" y="1773936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A227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39696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校验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523744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符号 + 数值 + 图像，三重合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59368" y="2395728"/>
            <a:ext cx="237744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15400" y="1609344"/>
            <a:ext cx="242316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DACB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915400" y="1609344"/>
            <a:ext cx="2423160" cy="502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098280" y="1773936"/>
            <a:ext cx="5486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9A227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139696"/>
            <a:ext cx="20116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6233A"/>
                </a:solidFill>
                <a:latin typeface="Microsoft YaHei"/>
                <a:ea typeface="Microsoft YaHei"/>
                <a:cs typeface="Microsoft YaHei"/>
              </a:rPr>
              <a:t>重构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2523744"/>
            <a:ext cx="205740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三法对照，一页一个重点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023360"/>
            <a:ext cx="4937760" cy="1417320"/>
          </a:xfrm>
          <a:prstGeom prst="roundRect">
            <a:avLst>
              <a:gd name="adj" fmla="val 6000"/>
            </a:avLst>
          </a:prstGeom>
          <a:solidFill>
            <a:srgbClr val="13233F"/>
          </a:solidFill>
          <a:ln>
            <a:noFill/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24128" y="4187952"/>
            <a:ext cx="4480560" cy="4389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9 步  →  4 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" y="4773168"/>
            <a:ext cx="4389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C1B1"/>
                </a:solidFill>
                <a:latin typeface="Microsoft YaHei"/>
                <a:ea typeface="Microsoft YaHei"/>
                <a:cs typeface="Microsoft YaHei"/>
              </a:rPr>
              <a:t>不是更短，而是每一步都有依据。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89320" y="4023360"/>
            <a:ext cx="5440680" cy="1417320"/>
          </a:xfrm>
          <a:prstGeom prst="roundRect">
            <a:avLst>
              <a:gd name="adj" fmla="val 6000"/>
            </a:avLst>
          </a:prstGeom>
          <a:solidFill>
            <a:srgbClr val="F1E8CF"/>
          </a:solidFill>
          <a:ln w="9525">
            <a:solidFill>
              <a:srgbClr val="DEC992"/>
            </a:solidFill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17920" y="4187952"/>
            <a:ext cx="34747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3233F"/>
                </a:solidFill>
                <a:latin typeface="Microsoft YaHei"/>
                <a:ea typeface="Microsoft YaHei"/>
                <a:cs typeface="Microsoft YaHei"/>
              </a:rPr>
              <a:t>人工把关三条底线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459028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EC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00" b="1" i="0">
                <a:solidFill>
                  <a:srgbClr val="13233F"/>
                </a:solidFill>
                <a:latin typeface="Microsoft YaHei"/>
                <a:ea typeface="Microsoft YaHei"/>
                <a:cs typeface="Microsoft YaHei"/>
              </a:rPr>
              <a:t>条件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24927" y="459028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EC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00" b="1" i="0">
                <a:solidFill>
                  <a:srgbClr val="13233F"/>
                </a:solidFill>
                <a:latin typeface="Microsoft YaHei"/>
                <a:ea typeface="Microsoft YaHei"/>
                <a:cs typeface="Microsoft YaHei"/>
              </a:rPr>
              <a:t>等价性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51976" y="459028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7620">
            <a:solidFill>
              <a:srgbClr val="DEC9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1000" b="1" i="0">
                <a:solidFill>
                  <a:srgbClr val="13233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925312"/>
            <a:ext cx="104241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dsh 负责展开可能性，人负责筛选与把关。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91440" y="0"/>
            <a:ext cx="32004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77240" y="6446520"/>
            <a:ext cx="10637215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6510528"/>
            <a:ext cx="292608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工科数学分析 · 极限专题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6510528"/>
            <a:ext cx="347472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DeepSeek Harness  ·  Demo 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00055" y="6510528"/>
            <a:ext cx="914400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12  / 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"/>
            <a:ext cx="2926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spc="140">
                <a:solidFill>
                  <a:srgbClr val="9A7724"/>
                </a:solidFill>
                <a:latin typeface="Microsoft YaHei"/>
                <a:ea typeface="Microsoft YaHei"/>
                <a:cs typeface="Microsoft YaHei"/>
              </a:rPr>
              <a:t>09  /  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57784"/>
            <a:ext cx="10149840" cy="6035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答案之外，带走三个习惯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1280160"/>
            <a:ext cx="658368" cy="320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527048" y="1291132"/>
            <a:ext cx="9887407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777240" y="1536192"/>
            <a:ext cx="3977639" cy="4160520"/>
          </a:xfrm>
          <a:prstGeom prst="roundRect">
            <a:avLst>
              <a:gd name="adj" fmla="val 7000"/>
            </a:avLst>
          </a:prstGeom>
          <a:solidFill>
            <a:srgbClr val="13233F"/>
          </a:solidFill>
          <a:ln>
            <a:noFill/>
          </a:ln>
          <a:effectLst>
            <a:outerShdw blurRad="203200" dist="38100" dir="5400000" rotWithShape="0">
              <a:srgbClr val="0B1B33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24128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 spc="14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答案</a:t>
            </a:r>
          </a:p>
        </p:txBody>
      </p:sp>
      <p:pic>
        <p:nvPicPr>
          <p:cNvPr id="14" name="Picture 13" descr="answer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628" y="1965960"/>
            <a:ext cx="2331720" cy="1845581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029968" y="3913632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/>
            <a:r>
              <a:rPr sz="950" b="1" i="0">
                <a:solidFill>
                  <a:srgbClr val="13233F"/>
                </a:solidFill>
                <a:latin typeface="Microsoft YaHei"/>
                <a:ea typeface="Microsoft YaHei"/>
                <a:cs typeface="Microsoft YaHei"/>
              </a:rPr>
              <a:t>可去间断点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434840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D9D3C5"/>
                </a:solidFill>
                <a:latin typeface="Microsoft YaHei"/>
                <a:ea typeface="Microsoft YaHei"/>
                <a:cs typeface="Microsoft YaHei"/>
              </a:rPr>
              <a:t>x = 0 处无定义，但极限存在。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27632" y="4919472"/>
            <a:ext cx="2267712" cy="7315"/>
          </a:xfrm>
          <a:prstGeom prst="rect">
            <a:avLst/>
          </a:prstGeom>
          <a:solidFill>
            <a:srgbClr val="8B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5029200"/>
            <a:ext cx="3246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C9A227"/>
                </a:solidFill>
                <a:latin typeface="Microsoft YaHei"/>
                <a:ea typeface="Microsoft YaHei"/>
                <a:cs typeface="Microsoft YaHei"/>
              </a:rPr>
              <a:t>极限只与去心邻域有关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627632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60934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看结构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1956816"/>
            <a:ext cx="54406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差化积、提公因式，先把未知变成已知。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38928" y="2596896"/>
            <a:ext cx="5989320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138928" y="2889503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2871215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配阶数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3218687"/>
            <a:ext cx="54406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分母几阶，分子就展到几阶。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38928" y="3858768"/>
            <a:ext cx="5989320" cy="7315"/>
          </a:xfrm>
          <a:prstGeom prst="rect">
            <a:avLst/>
          </a:prstGeom>
          <a:solidFill>
            <a:srgbClr val="E2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138928" y="4151375"/>
            <a:ext cx="5029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A227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4133087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6233A"/>
                </a:solidFill>
                <a:latin typeface="Noto Serif SC"/>
                <a:ea typeface="Noto Serif SC"/>
                <a:cs typeface="Noto Serif SC"/>
              </a:rPr>
              <a:t>交叉验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4480559"/>
            <a:ext cx="54406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E7785"/>
                </a:solidFill>
                <a:latin typeface="Microsoft YaHei"/>
                <a:ea typeface="Microsoft YaHei"/>
                <a:cs typeface="Microsoft YaHei"/>
              </a:rPr>
              <a:t>两种方法 + 数值/图像，避免“算对但想错”。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38928" y="5440680"/>
            <a:ext cx="50292" cy="6858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394960" y="5413248"/>
            <a:ext cx="5669280" cy="6949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13233F"/>
                </a:solidFill>
                <a:latin typeface="Noto Serif SC"/>
                <a:ea typeface="Noto Serif SC"/>
                <a:cs typeface="Noto Serif SC"/>
              </a:rPr>
              <a:t>好的极限解答，不是算得快，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13233F"/>
                </a:solidFill>
                <a:latin typeface="Noto Serif SC"/>
                <a:ea typeface="Noto Serif SC"/>
                <a:cs typeface="Noto Serif SC"/>
              </a:rPr>
              <a:t>而是每一步都知道为什么。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6144768"/>
            <a:ext cx="17373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59D8E"/>
                </a:solidFill>
                <a:latin typeface="Microsoft YaHei"/>
                <a:ea typeface="Microsoft YaHei"/>
                <a:cs typeface="Microsoft YaHei"/>
              </a:rPr>
              <a:t>谢谢  / 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