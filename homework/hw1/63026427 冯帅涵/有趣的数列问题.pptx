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1148"/>
          </a:xfrm>
          <a:prstGeom prst="rect">
            <a:avLst/>
          </a:prstGeom>
          <a:solidFill>
            <a:srgbClr val="B4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Microsoft YaHei"/>
              </a:rPr>
              <a:t>有趣的数列问题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BFD0E8"/>
                </a:solidFill>
                <a:latin typeface="Microsoft YaHei"/>
              </a:rPr>
              <a:t>m-有趣数列：最小数 m₀ 与数列计数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9FB8DA"/>
                </a:solidFill>
                <a:latin typeface="Microsoft YaHei"/>
              </a:rPr>
              <a:t>完整推理  ·  引理证明  ·  构造与计数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F9BC4"/>
                </a:solidFill>
                <a:latin typeface="Microsoft YaHei"/>
              </a:rPr>
              <a:t>数学原理 · 逻辑清晰 · 结论严谨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问题陈述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定义与目标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定义（m-有趣数列）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8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称满足下列 (i)、(ii) 的实数列  a₁, a₂, …, aₘ  (m ≥ 10)  为一个 m-有趣数列：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0518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(i)  对任意 k = 1, 2, …, m−1，都有  |aₖ₊₁ − aₖ| = 1；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7177"/>
            <a:ext cx="10698480" cy="7470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(ii)  存在正整数  i₁ &lt; i₂ &lt; ⋯ &lt; i₁₀ ≤ m，使  aᵢ₁, aᵢ₂, …, aᵢ₁₀ 成等比数列，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5931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且该等比数列的公比 q 满足  q ≠ ±1。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26890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62754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① 求使 m-有趣数列存在的最小正整数 m₀；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4014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② 确定不同的 m₀-有趣数列的个数。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关键观察：整数步行走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把条件 (i) 翻译为「±1 行走」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观察 1（同余于模 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8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|aₖ₊₁ − aₖ| = 1  ⟹  aₖ₊₁ − aₖ = ±1，累加得  aₖ = a₁ + 整数。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018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5A5A"/>
                </a:solidFill>
                <a:latin typeface="Microsoft YaHei"/>
              </a:rPr>
              <a:t>于是整个数列落在同一「模 1 剩余类」上：任意两项之差都是整数。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52573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观察 2（等比子列之差）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5737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令  bⱼ = aᵢⱼ  (j = 1, …, 10) 为等比数列的 10 项，则  bⱼ − b₁ ∈ 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4296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记相邻差  dⱼ = bⱼ₊₁ − bⱼ  (j = 1, …, 9)。由等比性：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30955"/>
            <a:ext cx="11064240" cy="603504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12121"/>
                </a:solidFill>
                <a:latin typeface="Microsoft YaHei"/>
              </a:rPr>
              <a:t>dⱼ = bⱼ (q − 1) = b₁ qʲ⁻¹ (q − 1) = d₁ qʲ⁻¹，其中 d₁ = b₁(q − 1)。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86859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5A5A"/>
                </a:solidFill>
                <a:latin typeface="Microsoft YaHei"/>
              </a:rPr>
              <a:t>因为 b₁ ≠ 0 且 q ≠ 1，所以 d₁ ≠ 0；又 dⱼ 是行走两值之差，故 dⱼ ∈ 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公比 q 必为有理数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由整数差反推出 q 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第一步：q 是有理数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8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d₁ 与 d₂ = d₁ q 都是非零整数 ⟹  q = d₂ / d₁ ∈ 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7818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令  q = u / v，其中 u, v ∈ ℤ，v ≥ 1，gcd(u, v) = 1。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3678"/>
            <a:ext cx="11064240" cy="425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A5A5A"/>
                </a:solidFill>
                <a:latin typeface="Microsoft YaHei"/>
              </a:rPr>
              <a:t>（等比数列公比须非零，故 q ≠ 0 ⟹ u ≠ 0；题设 q ≠ ±1 ⟹ |u| ≠ v。）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0022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第二步：确定 d₁ 的结构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93186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dⱼ = d₁ uʲ⁻¹ / vʲ⁻¹ ∈ ℤ  对 j = 1, …, 9 成立。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01745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由 gcd(u, v) = 1 得  vʲ⁻¹ | d₁（每个 j），特别取 j = 9： v⁸ | d₁。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10303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故存在非零整数 c，使  d₁ = c·v⁸。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6962"/>
            <a:ext cx="11064240" cy="603504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12121"/>
                </a:solidFill>
                <a:latin typeface="Microsoft YaHei"/>
              </a:rPr>
              <a:t>于是  |dⱼ| = |c| · |u|ʲ⁻¹ · v⁹⁻ʲ  (j = 1, …, 9)。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引理：差的和的最小值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本引理给出关键下界，附完整证明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00000"/>
                </a:solidFill>
                <a:latin typeface="Microsoft YaHei"/>
              </a:rPr>
              <a:t>引理.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84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设 A, B 为正整数，A ≠ B 且 gcd(A, B) = 1。令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019"/>
            <a:ext cx="11064240" cy="548640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212121"/>
                </a:solidFill>
                <a:latin typeface="Microsoft YaHei"/>
              </a:rPr>
              <a:t>T(A, B) = B⁸ + A·B⁷ + A²·B⁶ + ⋯ + A⁷·B + A⁸  （共 9 项）。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2659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则  T(A, B) ≥ 511，且等号成立 ⟺ {A, B} = {1, 2}。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92018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4B5"/>
                </a:solidFill>
                <a:latin typeface="Microsoft YaHei"/>
              </a:rPr>
              <a:t>证明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73272"/>
            <a:ext cx="11064240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① T 关于 A、B 对称，且随 A、B 严格单调递增（每项 Aʲ⁻¹ B⁹⁻ʲ 均如此）。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2621"/>
            <a:ext cx="11064240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② 若 min(A, B) ≥ 2，则 T(A, B) ≥ T(2, 2) = 9 · 2⁸ = 2304 &gt; 511。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31970"/>
            <a:ext cx="11064240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③ 若 min(A, B) = 1，不妨 A = 1，则 B ≥ 2，且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5919"/>
            <a:ext cx="10698480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T(1, B) = 1 + B + B² + ⋯ + B⁸ ≥ 1 + 2 + 2² + ⋯ + 2⁸ = 2⁹ − 1 = 511，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7967"/>
            <a:ext cx="10698480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等号成立当且仅当 B = 2。  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下界：m ≥ 512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把引理接到行走长度上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行走长度与差的关系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8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每一步值至多改变 1，由三角不等式：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9719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|bⱼ₊₁ − bⱼ| = |aᵢⱼ₊₁ − aᵢⱼ| ≤ iⱼ₊₁ − iⱼ，即  iⱼ₊₁ − iⱼ ≥ |dⱼ|。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6378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对 j = 1, …, 9 累加：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4937"/>
            <a:ext cx="11064240" cy="7470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i₁₀ − i₁ = (i₂−i₁) + ⋯ + (i₁₀−i₉) ≥ |d₁| + |d₂| + ⋯ + |d₉| = |c| · T(|u|, v)。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6391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由引理  T(|u|, v) ≥ 511，且 |c| ≥ 1，故  i₁₀ − i₁ ≥ 511。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8305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又 1 ≤ i₁ &lt; i₁₀ ≤ m，于是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91608"/>
            <a:ext cx="11064240" cy="658368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00000"/>
                </a:solidFill>
                <a:latin typeface="Microsoft YaHei"/>
              </a:rPr>
              <a:t>m ≥ i₁₀ ≥ i₁ + 511 ≥ 1 + 511 = 512。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2376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5A5A"/>
                </a:solidFill>
                <a:latin typeface="Microsoft YaHei"/>
              </a:rPr>
              <a:t>结论：任何 m-有趣数列都满足 m ≥ 512。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构造：m₀ = 512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达到下界的例子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760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121"/>
                </a:solidFill>
                <a:latin typeface="Microsoft YaHei"/>
              </a:rPr>
              <a:t>取  aₖ = k  (k = 1, 2, …, 512)。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验证 (i)：|aₖ₊₁ − aₖ| = |(k+1) − k| = 1，满足。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84019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验证 (ii)：取下标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7177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i₁, i₂, …, i₁₀ = 1, 2, 4, 8, 16, 32, 64, 128, 256, 512，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0336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对应值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3495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a₁, a₂, a₄, a₈, … = 1, 2, 4, 8, 16, 32, 64, 128, 256, 512，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54754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构成公比 q = 2 的等比数列。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15714"/>
            <a:ext cx="11064240" cy="676656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00000"/>
                </a:solidFill>
                <a:latin typeface="Microsoft YaHei"/>
              </a:rPr>
              <a:t>故  m₀ = 512。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计数：512-有趣数列的紧性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m = 512 时下界处处取等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当 m = 512 时，下界链条必须处处取等：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7355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①  i₁₀ − i₁ = 511  ⟹  |c| = 1 且 {|u|, v} = {1, 2}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0513"/>
            <a:ext cx="1069848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⟹  q = u/v ∈ { 2, −2, 1/2, −1/2 }。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27172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②  i₁ = 1，i₁₀ = 512（首末恰好占满）。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3831"/>
            <a:ext cx="11064240" cy="469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121"/>
                </a:solidFill>
                <a:latin typeface="Microsoft YaHei"/>
              </a:rPr>
              <a:t>③  每段  iⱼ₊₁ − iⱼ = |dⱼ|（逐段严格单调，绝不「回头」）。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0490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121"/>
                </a:solidFill>
                <a:latin typeface="Microsoft YaHei"/>
              </a:rPr>
              <a:t>因此：一旦给定 (q, c)，等比子列 bⱼ 与各段行走方向都被唯一确定，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9044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121"/>
                </a:solidFill>
                <a:latin typeface="Microsoft YaHei"/>
              </a:rPr>
              <a:t>整个数列  a₁, …, a₅₁₂ 也随之唯一确定。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46498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121"/>
                </a:solidFill>
                <a:latin typeface="Microsoft YaHei"/>
              </a:rPr>
              <a:t>所以 512-有趣数列恰由 (q, c) 取值决定：q 有 4 种、c 有 ±1 两种。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八个 512-有趣数列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4 个单调型 + 4 个折返型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0696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4B5"/>
                </a:solidFill>
                <a:latin typeface="Microsoft YaHei"/>
              </a:rPr>
              <a:t>单调型（q = 2 或 q = 1/2，c 决定走向）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31950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① aₖ = k          q = 2      子列 (1, 2, 4, …, 512)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73198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② aₖ = −k         q = 2      子列 (−1, −2, −4, …, −512)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4447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③ aₖ = k − 513    q = 1/2    子列 (−512, −256, …, −1)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55696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④ aₖ = 513 − k    q = 1/2    子列 (512, 256, …,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11245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4B5"/>
                </a:solidFill>
                <a:latin typeface="Microsoft YaHei"/>
              </a:rPr>
              <a:t>折返型（q = −2 或 q = −1/2，各取 c = ±1，共 4 个）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92499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⑤⑥ q = −2：  bⱼ = (−1)ʲ · c · 2ʲ⁻¹ / 3，下标 iⱼ = 2ʲ⁻¹；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33748"/>
            <a:ext cx="10789919" cy="44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121"/>
                </a:solidFill>
                <a:latin typeface="Microsoft YaHei"/>
              </a:rPr>
              <a:t>⑦⑧ q = −1/2：bⱼ = (−1)ʲ · c · 2¹⁰⁻ʲ / 3，下标 iⱼ = 513 − 2¹⁰⁻ʲ；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74997"/>
            <a:ext cx="10789919" cy="411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A5A"/>
                </a:solidFill>
                <a:latin typeface="Microsoft YaHei"/>
              </a:rPr>
              <a:t>（j = 1, …, 10；c = ±1 各给一个数列，段间按单调直线行走连接）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01337"/>
            <a:ext cx="11064240" cy="454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0000"/>
                </a:solidFill>
                <a:latin typeface="Microsoft YaHei"/>
              </a:rPr>
              <a:t>合计：4 + 4 = 8 个，两两不同（首项、走向或分段长度不同）。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640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241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D0E8"/>
                </a:solidFill>
                <a:latin typeface="Microsoft YaHei"/>
              </a:rPr>
              <a:t>问题答案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28496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最小正整数 m₀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51660"/>
            <a:ext cx="11064240" cy="914400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F3864"/>
                </a:solidFill>
                <a:latin typeface="Microsoft YaHei"/>
              </a:rPr>
              <a:t>m₀ = 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45460"/>
            <a:ext cx="11064240" cy="484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4B5"/>
                </a:solidFill>
                <a:latin typeface="Microsoft YaHei"/>
              </a:rPr>
              <a:t>不同的 m₀-有趣数列个数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68624"/>
            <a:ext cx="11064240" cy="914400"/>
          </a:xfrm>
          <a:prstGeom prst="roundRect">
            <a:avLst/>
          </a:prstGeom>
          <a:solidFill>
            <a:srgbClr val="EFF5FB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F3864"/>
                </a:solidFill>
                <a:latin typeface="Microsoft YaHei"/>
              </a:rPr>
              <a:t>8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86224"/>
            <a:ext cx="11064240" cy="411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A5A5A"/>
                </a:solidFill>
                <a:latin typeface="Microsoft YaHei"/>
              </a:rPr>
              <a:t>（q = 2, −2, 1/2, −1/2 四种公比 × 两种符号 c = ±1）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