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EEF3FB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34500" y="-381000"/>
            <a:ext cx="3429000" cy="3429000"/>
          </a:xfrm>
          <a:prstGeom prst="roundRect">
            <a:avLst/>
          </a:prstGeom>
          <a:solidFill>
            <a:srgbClr val="E8EFF8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1000" y="5334000"/>
            <a:ext cx="2476500" cy="2476500"/>
          </a:xfrm>
          <a:prstGeom prst="roundRect">
            <a:avLst/>
          </a:prstGeom>
          <a:solidFill>
            <a:srgbClr val="F0F5F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819150"/>
            <a:ext cx="400050" cy="47625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49" y="723900"/>
            <a:ext cx="7239000" cy="249555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500" b="1" spc="10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人工智能导论</a:t>
            </a:r>
            <a:endParaRPr sz="1500" b="1" spc="10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2381250"/>
            <a:ext cx="10477500" cy="11430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兔子与猎人</a:t>
            </a:r>
            <a:endParaRPr sz="7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52450" y="3543300"/>
            <a:ext cx="800100" cy="47625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3733799"/>
            <a:ext cx="10477500" cy="4762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一场注定失败的围猎 —— 解读 IMO 2017 年第 6 题</a:t>
            </a:r>
            <a:endParaRPr sz="30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4257675"/>
            <a:ext cx="10477500" cy="3429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spc="1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Hunter and an Invisible Rabbit · IMO 2017 Problem 6</a:t>
            </a:r>
            <a:endParaRPr sz="2000" b="0" spc="1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4876800"/>
            <a:ext cx="11049000" cy="285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700" b="0" spc="6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汇报提纲　问题重述 · 直觉分析 · 两次尝试 · 两阶段证明 · 定量结论</a:t>
            </a:r>
            <a:endParaRPr sz="1700" b="0" spc="6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5905500"/>
            <a:ext cx="6667500" cy="29591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lang="zh-CN" sz="1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吕品睿</a:t>
            </a:r>
            <a:endParaRPr sz="1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34500" y="5905500"/>
            <a:ext cx="2476500" cy="3810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r"/>
            <a:r>
              <a:rPr sz="1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10 月</a:t>
            </a:r>
            <a:endParaRPr sz="1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3400" y="5715000"/>
            <a:ext cx="11277600" cy="14287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42900"/>
            <a:ext cx="11430000" cy="514350"/>
          </a:xfrm>
          <a:prstGeom prst="roundRect">
            <a:avLst/>
          </a:prstGeom>
          <a:solidFill>
            <a:srgbClr val="0E3F8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76250"/>
            <a:ext cx="57150" cy="247649"/>
          </a:xfrm>
          <a:prstGeom prst="round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93345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题目重述：游戏规则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87000" y="419100"/>
            <a:ext cx="142875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r"/>
            <a:r>
              <a:rPr sz="1400" b="0" spc="200">
                <a:solidFill>
                  <a:srgbClr val="CFE0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Rules</a:t>
            </a:r>
            <a:endParaRPr sz="1400" b="0" spc="200">
              <a:solidFill>
                <a:srgbClr val="CFE0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1143000"/>
            <a:ext cx="2857500" cy="5143500"/>
          </a:xfrm>
          <a:prstGeom prst="roundRect">
            <a:avLst/>
          </a:prstGeom>
          <a:solidFill>
            <a:srgbClr val="0E3F8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28750"/>
            <a:ext cx="2400300" cy="5715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题目重述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2019300"/>
            <a:ext cx="2400300" cy="285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800" b="0">
                <a:solidFill>
                  <a:srgbClr val="AFC6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Game Rules</a:t>
            </a:r>
            <a:endParaRPr sz="1800" b="0">
              <a:solidFill>
                <a:srgbClr val="AFC6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4724400"/>
            <a:ext cx="2400300" cy="1428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D6E2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双方每步移动距离都恰为 1；兔子不可见，装置误差 ≤ 1。游戏共进行 10⁹ 回合，每回合三步如上。</a:t>
            </a:r>
            <a:endParaRPr sz="1600" b="0">
              <a:solidFill>
                <a:srgbClr val="D6E2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3300" y="1219200"/>
            <a:ext cx="8001000" cy="285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双方从平面上的不同起点 A₀、B₀ 出发，第 n 回合依次发生三件事：</a:t>
            </a:r>
            <a:endParaRPr sz="18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543300" y="180975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3300" y="1809750"/>
            <a:ext cx="323850" cy="32385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981450" y="1771650"/>
            <a:ext cx="7562850" cy="43815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2900" y="1809750"/>
            <a:ext cx="72390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兔子移动：不可见地走到 Aₙ，与上一位置距离恰为 1。</a:t>
            </a:r>
            <a:endParaRPr sz="18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543300" y="238125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3300" y="2381250"/>
            <a:ext cx="323850" cy="32385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981450" y="2343150"/>
            <a:ext cx="7562850" cy="43815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52900" y="2381250"/>
            <a:ext cx="72390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装置报点：报告 Pₙ，仅保证 Pₙ 与实际位置 Aₙ 的距离 ≤ 1。</a:t>
            </a:r>
            <a:endParaRPr sz="18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3543300" y="2952750"/>
            <a:ext cx="323850" cy="323850"/>
          </a:xfrm>
          <a:prstGeom prst="ellipse">
            <a:avLst/>
          </a:prstGeom>
          <a:solidFill>
            <a:srgbClr val="1E4FA8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3300" y="2952750"/>
            <a:ext cx="323850" cy="32385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981450" y="2914650"/>
            <a:ext cx="7562850" cy="43815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2900" y="2952750"/>
            <a:ext cx="72390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猎人移动：可见地走到 Bₙ，与上一位置距离恰为 1。</a:t>
            </a:r>
            <a:endParaRPr sz="18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43300" y="3657600"/>
            <a:ext cx="8001000" cy="32385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19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核心问题：猎人能否保证 10⁹ 回合后，把二者距离压到 100 以内？</a:t>
            </a:r>
            <a:endParaRPr sz="19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14800" y="4076699"/>
            <a:ext cx="6858000" cy="9525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10050" y="4190999"/>
            <a:ext cx="47625" cy="72390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q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2849" y="4152900"/>
            <a:ext cx="2921900" cy="590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14800" y="4819650"/>
            <a:ext cx="6858000" cy="1905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|AₙBₙ| 表示第 n 回合时兔子与猎人的距离（目标：≤ 100）</a:t>
            </a:r>
            <a:endParaRPr sz="13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16" name="Connector 2115"/>
          <p:cNvCxnSpPr/>
          <p:nvPr/>
        </p:nvCxnSpPr>
        <p:spPr>
          <a:xfrm>
            <a:off x="381000" y="6419850"/>
            <a:ext cx="11430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7" name="TextBox 2116"/>
          <p:cNvSpPr txBox="1"/>
          <p:nvPr/>
        </p:nvSpPr>
        <p:spPr>
          <a:xfrm>
            <a:off x="381000" y="6572250"/>
            <a:ext cx="3429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IMO 2017 · Problem 6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8" name="TextBox 2117"/>
          <p:cNvSpPr txBox="1"/>
          <p:nvPr/>
        </p:nvSpPr>
        <p:spPr>
          <a:xfrm>
            <a:off x="8572500" y="6572250"/>
            <a:ext cx="3238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r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10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42900"/>
            <a:ext cx="11430000" cy="514350"/>
          </a:xfrm>
          <a:prstGeom prst="roundRect">
            <a:avLst/>
          </a:prstGeom>
          <a:solidFill>
            <a:srgbClr val="0E3F8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76250"/>
            <a:ext cx="57150" cy="247649"/>
          </a:xfrm>
          <a:prstGeom prst="round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93345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核心问题与直觉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87000" y="419100"/>
            <a:ext cx="142875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r"/>
            <a:r>
              <a:rPr sz="1400" b="0" spc="200">
                <a:solidFill>
                  <a:srgbClr val="CFE0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Intuition</a:t>
            </a:r>
            <a:endParaRPr sz="1400" b="0" spc="200">
              <a:solidFill>
                <a:srgbClr val="CFE0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9100" y="1428750"/>
            <a:ext cx="6096000" cy="666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猎人真的能赢吗？</a:t>
            </a:r>
            <a:endParaRPr sz="4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9100" y="2381250"/>
            <a:ext cx="6286500" cy="20002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22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直觉上，猎人“看得见”地追、兔子“看不见”地逃，似乎猎人占优。但注意：</a:t>
            </a:r>
            <a:r>
              <a:rPr sz="2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双方每步移动距离都恰为 1——速度完全相同。</a:t>
            </a:r>
            <a:endParaRPr sz="22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22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若兔子直线远离、猎人直线追，两者相对速度为零，距离</a:t>
            </a:r>
            <a:r>
              <a:rPr sz="22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根本不会被拉近</a:t>
            </a:r>
            <a:r>
              <a:rPr sz="22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22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例如初始距离 100，同速直线跑任意多回合，距离始终 ≥ 100——正面追击注定无效。</a:t>
            </a:r>
            <a:endParaRPr sz="22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048500" y="1333500"/>
            <a:ext cx="4572000" cy="495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619250"/>
            <a:ext cx="4095750" cy="3810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2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三个直觉陷阱</a:t>
            </a:r>
            <a:endParaRPr sz="2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53299" y="2152650"/>
            <a:ext cx="4095750" cy="9525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同速追逐</a:t>
            </a:r>
            <a:r>
              <a:rPr sz="20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：距离一点不缩短，永远追不上。</a:t>
            </a:r>
            <a:endParaRPr sz="20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53299" y="3162300"/>
            <a:ext cx="4095750" cy="9525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信息缺失</a:t>
            </a:r>
            <a:r>
              <a:rPr sz="20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：兔子不可见，猎人只知报点 Pₙ，不知真位置。</a:t>
            </a:r>
            <a:endParaRPr sz="20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53299" y="4171950"/>
            <a:ext cx="4095750" cy="9525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误差双刃</a:t>
            </a:r>
            <a:r>
              <a:rPr sz="20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：|PₙAₙ|≤1 既是噪声，也可被兔子利用。</a:t>
            </a:r>
            <a:endParaRPr sz="20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0" y="5334000"/>
            <a:ext cx="4095750" cy="57150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3D7BD9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5700" y="5410200"/>
            <a:ext cx="3810000" cy="43815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18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结论（待证）：猎人没有必胜策略</a:t>
            </a:r>
            <a:endParaRPr sz="18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56" name="Connector 2155"/>
          <p:cNvCxnSpPr/>
          <p:nvPr/>
        </p:nvCxnSpPr>
        <p:spPr>
          <a:xfrm>
            <a:off x="381000" y="6419850"/>
            <a:ext cx="11430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7" name="TextBox 2156"/>
          <p:cNvSpPr txBox="1"/>
          <p:nvPr/>
        </p:nvSpPr>
        <p:spPr>
          <a:xfrm>
            <a:off x="381000" y="6572250"/>
            <a:ext cx="3429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IMO 2017 · Problem 6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8" name="TextBox 2157"/>
          <p:cNvSpPr txBox="1"/>
          <p:nvPr/>
        </p:nvSpPr>
        <p:spPr>
          <a:xfrm>
            <a:off x="8572500" y="6572250"/>
            <a:ext cx="3238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r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10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42900"/>
            <a:ext cx="11430000" cy="514350"/>
          </a:xfrm>
          <a:prstGeom prst="roundRect">
            <a:avLst/>
          </a:prstGeom>
          <a:solidFill>
            <a:srgbClr val="0E3F8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76250"/>
            <a:ext cx="57150" cy="247649"/>
          </a:xfrm>
          <a:prstGeom prst="round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93345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尝试一：猎人直线追击（失败）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87000" y="419100"/>
            <a:ext cx="142875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r"/>
            <a:r>
              <a:rPr sz="1400" b="0" spc="200">
                <a:solidFill>
                  <a:srgbClr val="CFE0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Attempt 1</a:t>
            </a:r>
            <a:endParaRPr sz="1400" b="0" spc="200">
              <a:solidFill>
                <a:srgbClr val="CFE0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1143000"/>
            <a:ext cx="5143500" cy="51435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0500" y="1276350"/>
            <a:ext cx="1428750" cy="323850"/>
          </a:xfrm>
          <a:prstGeom prst="roundRect">
            <a:avLst/>
          </a:prstGeom>
          <a:solidFill>
            <a:srgbClr val="D9534F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500" y="1333500"/>
            <a:ext cx="1428750" cy="2286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✗ 直线追击失败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285875" y="3476625"/>
            <a:ext cx="285750" cy="28575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9625" y="1952624"/>
            <a:ext cx="285750" cy="285750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76674" y="3495675"/>
            <a:ext cx="247649" cy="247649"/>
          </a:xfrm>
          <a:prstGeom prst="ellipse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600200" y="3619500"/>
            <a:ext cx="2133599" cy="0"/>
          </a:xfrm>
          <a:prstGeom prst="line">
            <a:avLst/>
          </a:prstGeom>
          <a:ln w="38100">
            <a:solidFill>
              <a:srgbClr val="1E4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114800" y="2228850"/>
            <a:ext cx="514350" cy="1257300"/>
          </a:xfrm>
          <a:prstGeom prst="line">
            <a:avLst/>
          </a:prstGeom>
          <a:ln w="25400">
            <a:solidFill>
              <a:srgbClr val="FFC10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43000" y="3943350"/>
            <a:ext cx="1143000" cy="2286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猎人 H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67200" y="2419350"/>
            <a:ext cx="1238250" cy="2286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兔（真位置）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95700" y="3943350"/>
            <a:ext cx="1143000" cy="2286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Pₙ（报点）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0750" y="3333750"/>
            <a:ext cx="1905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500" b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猎人扑向 Pₙ</a:t>
            </a:r>
            <a:endParaRPr sz="1500" b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95750" y="2762250"/>
            <a:ext cx="1143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500" b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 ≤ 1</a:t>
            </a:r>
            <a:endParaRPr sz="1500" b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1500" y="5295900"/>
            <a:ext cx="4762500" cy="666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误区：把报点 </a:t>
            </a:r>
            <a:r>
              <a:rPr sz="16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Pₙ</a:t>
            </a:r>
            <a:r>
              <a:rPr sz="16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当成兔子的真位置。</a:t>
            </a:r>
            <a:endParaRPr sz="16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29300" y="1428750"/>
            <a:ext cx="5715000" cy="1047749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2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猎人最自然的策略：每回合朝装置报点 Pₙ 的方向走 1，试图逼近兔子。</a:t>
            </a:r>
            <a:endParaRPr sz="22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29300" y="2571750"/>
            <a:ext cx="5715000" cy="1428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2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但装置只保证 </a:t>
            </a:r>
            <a:r>
              <a:rPr sz="2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|PₙAₙ| ≤ 1</a:t>
            </a:r>
            <a:r>
              <a:rPr sz="22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——兔子可让真位置落在 Pₙ 的“另一侧”。</a:t>
            </a:r>
            <a:endParaRPr sz="22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29300" y="4095750"/>
            <a:ext cx="5715000" cy="1047749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2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于是猎人扑向 Pₙ，却离兔子越来越远。</a:t>
            </a:r>
            <a:r>
              <a:rPr sz="22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装置的误差成了兔子的掩护。</a:t>
            </a:r>
            <a:endParaRPr sz="220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829300" y="5334000"/>
            <a:ext cx="5715000" cy="66675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3D7BD9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19800" y="5410200"/>
            <a:ext cx="5334000" cy="51435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19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结论：直线追击被“误导”，猎人无法借此获胜。</a:t>
            </a:r>
            <a:endParaRPr sz="19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26" name="Connector 2225"/>
          <p:cNvCxnSpPr/>
          <p:nvPr/>
        </p:nvCxnSpPr>
        <p:spPr>
          <a:xfrm>
            <a:off x="381000" y="6419850"/>
            <a:ext cx="11430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7" name="TextBox 2226"/>
          <p:cNvSpPr txBox="1"/>
          <p:nvPr/>
        </p:nvSpPr>
        <p:spPr>
          <a:xfrm>
            <a:off x="381000" y="6572250"/>
            <a:ext cx="3429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IMO 2017 · Problem 6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28" name="TextBox 2227"/>
          <p:cNvSpPr txBox="1"/>
          <p:nvPr/>
        </p:nvSpPr>
        <p:spPr>
          <a:xfrm>
            <a:off x="8572500" y="6572250"/>
            <a:ext cx="3238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r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10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42900"/>
            <a:ext cx="11430000" cy="514350"/>
          </a:xfrm>
          <a:prstGeom prst="roundRect">
            <a:avLst/>
          </a:prstGeom>
          <a:solidFill>
            <a:srgbClr val="0E3F8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76250"/>
            <a:ext cx="57150" cy="247649"/>
          </a:xfrm>
          <a:prstGeom prst="round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93345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尝试二：兔子正面逃跑（不足）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87000" y="419100"/>
            <a:ext cx="142875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r"/>
            <a:r>
              <a:rPr sz="1400" b="0" spc="200">
                <a:solidFill>
                  <a:srgbClr val="CFE0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Attempt 2</a:t>
            </a:r>
            <a:endParaRPr sz="1400" b="0" spc="200">
              <a:solidFill>
                <a:srgbClr val="CFE0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1143000"/>
            <a:ext cx="11430000" cy="28575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63150" y="1276350"/>
            <a:ext cx="1657350" cy="323850"/>
          </a:xfrm>
          <a:prstGeom prst="roundRect">
            <a:avLst/>
          </a:prstGeom>
          <a:solidFill>
            <a:srgbClr val="D9534F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3150" y="1333500"/>
            <a:ext cx="1657350" cy="2286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 仍不足以取胜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952500" y="2381250"/>
            <a:ext cx="10287000" cy="0"/>
          </a:xfrm>
          <a:prstGeom prst="line">
            <a:avLst/>
          </a:prstGeom>
          <a:ln w="25400">
            <a:solidFill>
              <a:srgbClr val="D6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581150" y="2247900"/>
            <a:ext cx="266700" cy="2667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2150" y="2247900"/>
            <a:ext cx="266700" cy="266700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847850" y="2381250"/>
            <a:ext cx="2019300" cy="0"/>
          </a:xfrm>
          <a:prstGeom prst="line">
            <a:avLst/>
          </a:prstGeom>
          <a:ln w="38100">
            <a:solidFill>
              <a:srgbClr val="1E4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8850" y="2381250"/>
            <a:ext cx="2019300" cy="0"/>
          </a:xfrm>
          <a:prstGeom prst="line">
            <a:avLst/>
          </a:prstGeom>
          <a:ln w="38100">
            <a:solidFill>
              <a:srgbClr val="D953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867150" y="2247900"/>
            <a:ext cx="266700" cy="266700"/>
          </a:xfrm>
          <a:prstGeom prst="ellipse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58150" y="2247900"/>
            <a:ext cx="266700" cy="266700"/>
          </a:xfrm>
          <a:prstGeom prst="ellipse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8500" y="2000250"/>
            <a:ext cx="1143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6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dₙ</a:t>
            </a:r>
            <a:endParaRPr sz="16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1952624"/>
            <a:ext cx="123825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6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dₙ₊₁ = dₙ</a:t>
            </a:r>
            <a:endParaRPr sz="16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33500" y="2724150"/>
            <a:ext cx="762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猎人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24500" y="2724150"/>
            <a:ext cx="762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兔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19500" y="2724150"/>
            <a:ext cx="762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猎人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10499" y="2724150"/>
            <a:ext cx="762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兔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81000" y="4229100"/>
            <a:ext cx="11430000" cy="20574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50" y="4476750"/>
            <a:ext cx="10858500" cy="17145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9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数学本质：双方同速 ⇒ 距离函数单调不降，谁也无法单方面拉开。</a:t>
            </a:r>
            <a:endParaRPr sz="19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20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 d₀ &lt; 100 且猎人已逼近，兔子沿连线逃跑：双方同速各走 1，</a:t>
            </a:r>
            <a:r>
              <a:rPr sz="20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相对速度为零，距离不变</a:t>
            </a:r>
            <a:r>
              <a:rPr sz="20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兔子既要“不被拉近”，还要“主动拉开”——</a:t>
            </a:r>
            <a:r>
              <a:rPr sz="20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正面硬跑永远推不过 100</a:t>
            </a:r>
            <a:r>
              <a:rPr sz="20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，需借助几何机动。</a:t>
            </a:r>
            <a:endParaRPr sz="20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93" name="Connector 2292"/>
          <p:cNvCxnSpPr/>
          <p:nvPr/>
        </p:nvCxnSpPr>
        <p:spPr>
          <a:xfrm>
            <a:off x="381000" y="6419850"/>
            <a:ext cx="11430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4" name="TextBox 2293"/>
          <p:cNvSpPr txBox="1"/>
          <p:nvPr/>
        </p:nvSpPr>
        <p:spPr>
          <a:xfrm>
            <a:off x="381000" y="6572250"/>
            <a:ext cx="3429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IMO 2017 · Problem 6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95" name="TextBox 2294"/>
          <p:cNvSpPr txBox="1"/>
          <p:nvPr/>
        </p:nvSpPr>
        <p:spPr>
          <a:xfrm>
            <a:off x="8572500" y="6572250"/>
            <a:ext cx="3238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r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10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857250"/>
            <a:ext cx="400050" cy="5715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47749" y="762000"/>
            <a:ext cx="6667500" cy="285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8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关键洞察 · KEY INSIGHT</a:t>
            </a:r>
            <a:endParaRPr sz="18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1600200"/>
            <a:ext cx="11049000" cy="8572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6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把装置的“误差”变成兔子的武器</a:t>
            </a:r>
            <a:endParaRPr sz="46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552700"/>
            <a:ext cx="11049000" cy="3810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因此兔子不必“逃离”，而要“误导”——让报点永远落在猎人的另一侧。</a:t>
            </a:r>
            <a:endParaRPr sz="2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29000" y="3048000"/>
            <a:ext cx="5334000" cy="2095499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15000" y="3524250"/>
            <a:ext cx="1143000" cy="114300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962399" y="3962399"/>
            <a:ext cx="266700" cy="2667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53150" y="3962399"/>
            <a:ext cx="266700" cy="266700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229100" y="4095750"/>
            <a:ext cx="1485900" cy="0"/>
          </a:xfrm>
          <a:prstGeom prst="line">
            <a:avLst/>
          </a:prstGeom>
          <a:ln w="25400">
            <a:solidFill>
              <a:srgbClr val="1E4FA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86500" y="3219450"/>
            <a:ext cx="2286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400" b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Pₙ 的全部可能位置</a:t>
            </a:r>
            <a:endParaRPr sz="1400" b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05249" y="4419600"/>
            <a:ext cx="762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4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猎人 H</a:t>
            </a:r>
            <a:endParaRPr sz="14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34200" y="4019549"/>
            <a:ext cx="123825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4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A′（兔）</a:t>
            </a:r>
            <a:endParaRPr sz="14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86500" y="4743450"/>
            <a:ext cx="2286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400" b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全部落在猎人的远侧</a:t>
            </a:r>
            <a:endParaRPr sz="1400" b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500" y="5410200"/>
            <a:ext cx="11049000" cy="666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22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据此，问题归结为：如何用 200 步的弧线机动，把距离平方稳步抬高，直至突破 100。</a:t>
            </a:r>
            <a:endParaRPr sz="22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36" name="Connector 2335"/>
          <p:cNvCxnSpPr/>
          <p:nvPr/>
        </p:nvCxnSpPr>
        <p:spPr>
          <a:xfrm>
            <a:off x="381000" y="6419850"/>
            <a:ext cx="11430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7" name="TextBox 2336"/>
          <p:cNvSpPr txBox="1"/>
          <p:nvPr/>
        </p:nvSpPr>
        <p:spPr>
          <a:xfrm>
            <a:off x="381000" y="6572250"/>
            <a:ext cx="3429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IMO 2017 · Problem 6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38" name="TextBox 2337"/>
          <p:cNvSpPr txBox="1"/>
          <p:nvPr/>
        </p:nvSpPr>
        <p:spPr>
          <a:xfrm>
            <a:off x="8572500" y="6572250"/>
            <a:ext cx="3238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r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10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42900"/>
            <a:ext cx="11430000" cy="514350"/>
          </a:xfrm>
          <a:prstGeom prst="roundRect">
            <a:avLst/>
          </a:prstGeom>
          <a:solidFill>
            <a:srgbClr val="0E3F8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76250"/>
            <a:ext cx="57150" cy="247649"/>
          </a:xfrm>
          <a:prstGeom prst="round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93345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证明框架：两阶段论证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87000" y="419100"/>
            <a:ext cx="142875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r"/>
            <a:r>
              <a:rPr sz="1400" b="0" spc="200">
                <a:solidFill>
                  <a:srgbClr val="CFE0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Framework</a:t>
            </a:r>
            <a:endParaRPr sz="1400" b="0" spc="200">
              <a:solidFill>
                <a:srgbClr val="CFE0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1333500"/>
            <a:ext cx="3543300" cy="3429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1500" y="1600200"/>
            <a:ext cx="381000" cy="381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1600200"/>
            <a:ext cx="3810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4900" y="1600200"/>
            <a:ext cx="2686050" cy="4191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2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阶段一（d ≥ 100）</a:t>
            </a:r>
            <a:endParaRPr sz="2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2381250"/>
            <a:ext cx="3162300" cy="2095499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兔子直线远离，双方同速使距离不减，永久保持 ≥ 100，直接获胜。</a:t>
            </a:r>
            <a:endParaRPr sz="19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43350" y="2857500"/>
            <a:ext cx="3048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ctr"/>
            <a:r>
              <a:rPr sz="30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0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095750" y="1333500"/>
            <a:ext cx="3543300" cy="3429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6250" y="1600200"/>
            <a:ext cx="381000" cy="381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6250" y="1600200"/>
            <a:ext cx="3810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19650" y="1600200"/>
            <a:ext cx="2686050" cy="4191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2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阶段二（d &lt; 100）</a:t>
            </a:r>
            <a:endParaRPr sz="2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86250" y="2381250"/>
            <a:ext cx="3162300" cy="2095499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 200 回合几何机动，使 d² 增 ½ 以上，把距离平方稳定推高。</a:t>
            </a:r>
            <a:endParaRPr sz="19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58100" y="2857500"/>
            <a:ext cx="3048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ctr"/>
            <a:r>
              <a:rPr sz="30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0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810499" y="1333500"/>
            <a:ext cx="3543300" cy="342900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3D7BD9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01000" y="1600200"/>
            <a:ext cx="381000" cy="381000"/>
          </a:xfrm>
          <a:prstGeom prst="ellipse">
            <a:avLst/>
          </a:prstGeom>
          <a:solidFill>
            <a:srgbClr val="0E3F8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600200"/>
            <a:ext cx="3810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34400" y="1600200"/>
            <a:ext cx="2686050" cy="4191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2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计数收尾</a:t>
            </a:r>
            <a:endParaRPr sz="2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01000" y="2381250"/>
            <a:ext cx="3162300" cy="2095499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至多 2×10⁴ 个回合块；</a:t>
            </a:r>
            <a:endParaRPr sz="19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 4×10⁶ &lt; 10⁹，</a:t>
            </a:r>
            <a:endParaRPr sz="19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距离必突破 100。</a:t>
            </a:r>
            <a:endParaRPr sz="19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81000" y="4991100"/>
            <a:ext cx="11430000" cy="990599"/>
          </a:xfrm>
          <a:prstGeom prst="roundRect">
            <a:avLst/>
          </a:prstGeom>
          <a:solidFill>
            <a:srgbClr val="0E3F8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5105400"/>
            <a:ext cx="10972800" cy="762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核心思路：把“能否逼近”转化为“能否在限定回合内把距离推过 100”——三阶段闭环（直线逃离 → 几何机动 → 计数收尾），剩下的只是构造与计数。</a:t>
            </a:r>
            <a:endParaRPr sz="19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06" name="Connector 2405"/>
          <p:cNvCxnSpPr/>
          <p:nvPr/>
        </p:nvCxnSpPr>
        <p:spPr>
          <a:xfrm>
            <a:off x="381000" y="6419850"/>
            <a:ext cx="11430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7" name="TextBox 2406"/>
          <p:cNvSpPr txBox="1"/>
          <p:nvPr/>
        </p:nvSpPr>
        <p:spPr>
          <a:xfrm>
            <a:off x="381000" y="6572250"/>
            <a:ext cx="3429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IMO 2017 · Problem 6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08" name="TextBox 2407"/>
          <p:cNvSpPr txBox="1"/>
          <p:nvPr/>
        </p:nvSpPr>
        <p:spPr>
          <a:xfrm>
            <a:off x="8572500" y="6572250"/>
            <a:ext cx="3238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r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10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42900"/>
            <a:ext cx="11430000" cy="514350"/>
          </a:xfrm>
          <a:prstGeom prst="roundRect">
            <a:avLst/>
          </a:prstGeom>
          <a:solidFill>
            <a:srgbClr val="0E3F8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76250"/>
            <a:ext cx="57150" cy="247649"/>
          </a:xfrm>
          <a:prstGeom prst="round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93345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 回合的几何构造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87000" y="419100"/>
            <a:ext cx="142875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r"/>
            <a:r>
              <a:rPr sz="1400" b="0" spc="200">
                <a:solidFill>
                  <a:srgbClr val="CFE0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Geometry</a:t>
            </a:r>
            <a:endParaRPr sz="1400" b="0" spc="200">
              <a:solidFill>
                <a:srgbClr val="CFE0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1143000"/>
            <a:ext cx="5334000" cy="51435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5E7EB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66750" y="3429000"/>
            <a:ext cx="4762500" cy="0"/>
          </a:xfrm>
          <a:prstGeom prst="line">
            <a:avLst/>
          </a:prstGeom>
          <a:ln w="25400">
            <a:solidFill>
              <a:srgbClr val="D6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95425" y="3305175"/>
            <a:ext cx="247649" cy="247649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38600" y="3371850"/>
            <a:ext cx="114300" cy="11430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76850" y="3371850"/>
            <a:ext cx="114300" cy="114300"/>
          </a:xfrm>
          <a:prstGeom prst="ellipse">
            <a:avLst/>
          </a:prstGeom>
          <a:solidFill>
            <a:srgbClr val="8B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71925" y="2066924"/>
            <a:ext cx="247649" cy="247649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71925" y="4543425"/>
            <a:ext cx="247649" cy="247649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676400" y="2266950"/>
            <a:ext cx="2362200" cy="1104900"/>
          </a:xfrm>
          <a:prstGeom prst="line">
            <a:avLst/>
          </a:prstGeom>
          <a:ln w="31750">
            <a:solidFill>
              <a:srgbClr val="1E4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095750" y="2324100"/>
            <a:ext cx="0" cy="1028700"/>
          </a:xfrm>
          <a:prstGeom prst="line">
            <a:avLst/>
          </a:prstGeom>
          <a:ln w="25400">
            <a:solidFill>
              <a:srgbClr val="D9534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52900" y="3429000"/>
            <a:ext cx="1123950" cy="0"/>
          </a:xfrm>
          <a:prstGeom prst="line">
            <a:avLst/>
          </a:prstGeom>
          <a:ln w="25400">
            <a:solidFill>
              <a:srgbClr val="1E4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8250" y="3733799"/>
            <a:ext cx="762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H′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10000" y="1771650"/>
            <a:ext cx="571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Y₁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0000" y="4838700"/>
            <a:ext cx="571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Y₂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48250" y="3733799"/>
            <a:ext cx="571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R′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875" y="2590800"/>
            <a:ext cx="571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600" b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endParaRPr sz="1600" b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0" y="3200400"/>
            <a:ext cx="381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ε</a:t>
            </a:r>
            <a:endParaRPr sz="1500" b="0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0" y="3543300"/>
            <a:ext cx="1143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5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dₙ − ε</a:t>
            </a:r>
            <a:endParaRPr sz="15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0" y="4114800"/>
            <a:ext cx="2286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4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= HₙRₙ（水平线）</a:t>
            </a:r>
            <a:endParaRPr sz="14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81700" y="1104900"/>
            <a:ext cx="5600700" cy="990599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兔子沿半径 1 的圆弧走 200 步，落于关于水平线 r 对称的两点 Y₁、Y₂ 之一；猎人被误导至 r 上的 H′。记 R′ 为 r 上距 Rₙ 为 200 的点，ε = ZR′。</a:t>
            </a:r>
            <a:endParaRPr sz="18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981700" y="2171700"/>
            <a:ext cx="5600700" cy="62865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76950" y="2286000"/>
            <a:ext cx="47625" cy="40005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8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5082" y="2247900"/>
            <a:ext cx="3393934" cy="2667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81700" y="2590800"/>
            <a:ext cx="5600700" cy="1905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距离平方的展开</a:t>
            </a:r>
            <a:endParaRPr sz="13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81700" y="2895600"/>
            <a:ext cx="56007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其中 ε = 200 − √(200²−1) &gt; 1/400，且 dₙ &lt; 100，故</a:t>
            </a:r>
            <a:endParaRPr sz="17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981700" y="3333750"/>
            <a:ext cx="5600700" cy="609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76950" y="3448050"/>
            <a:ext cx="47625" cy="38100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825" y="3409950"/>
            <a:ext cx="2512449" cy="24764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81700" y="3733799"/>
            <a:ext cx="5600700" cy="1905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300" b="0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关键不等式</a:t>
            </a:r>
            <a:endParaRPr sz="1300" b="0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81700" y="4457700"/>
            <a:ext cx="5600700" cy="74295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3D7BD9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533900"/>
            <a:ext cx="5257800" cy="59055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18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⇒ dₙ₊₂₀₀² &gt; dₙ² + ½：每 200 回合，距离平方稳定净增。</a:t>
            </a:r>
            <a:endParaRPr sz="18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81700" y="5295900"/>
            <a:ext cx="5600700" cy="5334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注：200 步仅为计数方便；每步沿半径 1 圆弧累积，落点对称于 r，是推高 d² 的关键。</a:t>
            </a:r>
            <a:endParaRPr sz="15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12" name="Connector 2511"/>
          <p:cNvCxnSpPr/>
          <p:nvPr/>
        </p:nvCxnSpPr>
        <p:spPr>
          <a:xfrm>
            <a:off x="381000" y="6419850"/>
            <a:ext cx="11430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3" name="TextBox 2512"/>
          <p:cNvSpPr txBox="1"/>
          <p:nvPr/>
        </p:nvSpPr>
        <p:spPr>
          <a:xfrm>
            <a:off x="381000" y="6572250"/>
            <a:ext cx="3429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IMO 2017 · Problem 6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14" name="TextBox 2513"/>
          <p:cNvSpPr txBox="1"/>
          <p:nvPr/>
        </p:nvSpPr>
        <p:spPr>
          <a:xfrm>
            <a:off x="8572500" y="6572250"/>
            <a:ext cx="3238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r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10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42900"/>
            <a:ext cx="11430000" cy="514350"/>
          </a:xfrm>
          <a:prstGeom prst="roundRect">
            <a:avLst/>
          </a:prstGeom>
          <a:solidFill>
            <a:srgbClr val="0E3F8C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76250"/>
            <a:ext cx="57150" cy="247649"/>
          </a:xfrm>
          <a:prstGeom prst="round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419100"/>
            <a:ext cx="933450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定量计算与结论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87000" y="419100"/>
            <a:ext cx="1428750" cy="38100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r"/>
            <a:r>
              <a:rPr sz="1400" b="0" spc="200">
                <a:solidFill>
                  <a:srgbClr val="CFE0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Conclusion</a:t>
            </a:r>
            <a:endParaRPr sz="1400" b="0" spc="200">
              <a:solidFill>
                <a:srgbClr val="CFE0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1000" y="1333500"/>
            <a:ext cx="5143500" cy="495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1600200"/>
            <a:ext cx="4762500" cy="285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22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回合计数</a:t>
            </a:r>
            <a:endParaRPr sz="22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7" descr="f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857500"/>
            <a:ext cx="4381500" cy="7926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476750"/>
            <a:ext cx="4762500" cy="4762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ctr"/>
            <a:r>
              <a:rPr sz="1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所需回合上限　vs　给定回合数</a:t>
            </a:r>
            <a:endParaRPr sz="1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29300" y="1524000"/>
            <a:ext cx="5715000" cy="15240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21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d &lt; 100 出发，d² 每 200 回合至少 +½，至多需 </a:t>
            </a:r>
            <a:r>
              <a:rPr sz="21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2×10⁴</a:t>
            </a:r>
            <a:r>
              <a:rPr sz="21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个回合块。</a:t>
            </a:r>
            <a:endParaRPr sz="21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2100" b="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总回合 ≤ 2×10⁴ × 200 = 4×10⁶，远小于给定的 10⁹。</a:t>
            </a:r>
            <a:endParaRPr sz="2100" b="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29300" y="3543300"/>
            <a:ext cx="5715000" cy="66675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3D7BD9"/>
            </a:solidFill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9800" y="3619500"/>
            <a:ext cx="5334000" cy="514350"/>
          </a:xfrm>
          <a:prstGeom prst="rect">
            <a:avLst/>
          </a:prstGeom>
          <a:noFill/>
        </p:spPr>
        <p:txBody>
          <a:bodyPr wrap="square" lIns="19050" tIns="9525" rIns="19050" bIns="9525" anchor="ctr">
            <a:spAutoFit/>
          </a:bodyPr>
          <a:lstStyle/>
          <a:p>
            <a:pPr algn="l"/>
            <a:r>
              <a:rPr sz="20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结论：猎人无法保证逼近，兔子必胜。</a:t>
            </a:r>
            <a:endParaRPr sz="20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29300" y="4457700"/>
            <a:ext cx="5715000" cy="1428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6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注：200 并非最优——取 101 亦够（每 101 回合 +1/101，约需 1.0×10⁸ 回合）。</a:t>
            </a:r>
            <a:endParaRPr sz="16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更尖锐版本：要求 10¹⁰⁰ 回合内保持距离 10¹⁰。</a:t>
            </a:r>
            <a:endParaRPr sz="16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46" name="Connector 2545"/>
          <p:cNvCxnSpPr/>
          <p:nvPr/>
        </p:nvCxnSpPr>
        <p:spPr>
          <a:xfrm>
            <a:off x="381000" y="6419850"/>
            <a:ext cx="114300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7" name="TextBox 2546"/>
          <p:cNvSpPr txBox="1"/>
          <p:nvPr/>
        </p:nvSpPr>
        <p:spPr>
          <a:xfrm>
            <a:off x="381000" y="6572250"/>
            <a:ext cx="34290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IMO 2017 · Problem 6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48" name="TextBox 2547"/>
          <p:cNvSpPr txBox="1"/>
          <p:nvPr/>
        </p:nvSpPr>
        <p:spPr>
          <a:xfrm>
            <a:off x="8572500" y="6572250"/>
            <a:ext cx="3238500" cy="2095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r"/>
            <a:r>
              <a:rPr sz="1200" b="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10</a:t>
            </a:r>
            <a:endParaRPr sz="1200" b="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3F8C"/>
            </a:gs>
            <a:gs pos="100000">
              <a:srgbClr val="0A2E66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34500" y="-381000"/>
            <a:ext cx="3429000" cy="3429000"/>
          </a:xfrm>
          <a:prstGeom prst="roundRect">
            <a:avLst/>
          </a:prstGeom>
          <a:solidFill>
            <a:srgbClr val="1E4FA8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381000" y="5334000"/>
            <a:ext cx="2476500" cy="2476500"/>
          </a:xfrm>
          <a:prstGeom prst="roundRect">
            <a:avLst/>
          </a:prstGeom>
          <a:solidFill>
            <a:srgbClr val="3D7BD9"/>
          </a:solidFill>
          <a:ln>
            <a:noFill/>
          </a:ln>
          <a:effectLst>
            <a:outerShdw blurRad="38000" dist="180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666750"/>
            <a:ext cx="400050" cy="5715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49" y="571500"/>
            <a:ext cx="6667500" cy="2857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/>
            <a:r>
              <a:rPr sz="1800" b="1">
                <a:solidFill>
                  <a:srgbClr val="CFE0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最终答案 · FINAL ANSWER</a:t>
            </a:r>
            <a:endParaRPr sz="1800" b="1">
              <a:solidFill>
                <a:srgbClr val="CFE0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2381250"/>
            <a:ext cx="11049000" cy="114300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兔子获胜</a:t>
            </a:r>
            <a:endParaRPr sz="9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3619500"/>
            <a:ext cx="10477500" cy="476250"/>
          </a:xfrm>
          <a:prstGeom prst="rect">
            <a:avLst/>
          </a:prstGeom>
          <a:noFill/>
        </p:spPr>
        <p:txBody>
          <a:bodyPr wrap="square" lIns="19050" tIns="9525" rIns="19050" bIns="9525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CFE0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猎人没有必胜策略 —— The Rabbit Wins</a:t>
            </a:r>
            <a:endParaRPr sz="3000" b="0">
              <a:solidFill>
                <a:srgbClr val="CFE0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2184</Words>
  <Application>WPS 演示</Application>
  <PresentationFormat>On-screen Show (4:3)</PresentationFormat>
  <Paragraphs>242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吕德俊</cp:lastModifiedBy>
  <cp:revision>2</cp:revision>
  <dcterms:created xsi:type="dcterms:W3CDTF">2013-01-27T09:14:00Z</dcterms:created>
  <dcterms:modified xsi:type="dcterms:W3CDTF">2026-10-19T05:42:57Z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31CE862536494084B6083E4E1D38B204_12</vt:lpwstr>
  </property>
  <property fmtid="{D5CDD505-2E9C-101B-9397-08002B2CF9AE}" pid="3" name="KSOProductBuildVer">
    <vt:lpwstr>2052-12.1.0.23125</vt:lpwstr>
  </property>
</Properties>
</file>