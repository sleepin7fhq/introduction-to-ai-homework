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开场：D(x0)只有一句话——记录所有能让函数值变大的平移量。三问分别在算集合、比集合、用集合反推函数性质。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先把题目完整读一遍。条件①的方向是本题的骨架：函数值小的一方，D 反而更大。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这一页只做一件事：让学生把 d∈D(x0) 和 f(x0+d)&gt;f(x0) 自由互换，并记住条件①的包含方向。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端点最容易丢分：d=1 时 t=0，f(0)=1&gt;1/2，属于；d=3/2 时 t=1/2，函数值恰好等于1/2，不属于。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正半轴的 D 有一个向左的负区间 (-∞,-x]：只要把点平移到 0 或负半轴，函数值就从负数变成非负数。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三种位置关系不要漏。异号时只有 x2&lt;0&lt;x1 会满足前提；另一种异号情形函数值顺序反了，条件①根本用不上。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关键不是硬算 f(0)，而是让一个具体的 d 同时落入和不落入 D(0)。d=-y/2 既保证在 (0,1) 内能用条件②，又保证 y+d 仍在负半轴。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引理把“两个函数值的大小”翻译成“一个平移量属于 D(a)”。最后证明递增时，就是让 v-u 充当这个平移量。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 -x 把 (0,1) 上的正值打掉：f(x)&lt;f(0) 使 -x∈D(x)，但 m-x&lt;m&lt;0 又让 -x 不可能属于 D(m)。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第二步把 x≥1 的正值逼到 1/2 处：取 n=m-x+1/2，利用 D(m)⊆D(n) 与 x-m∈D(m)，得到 f(1/2)&gt;0，与第一步矛盾。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最后一步非常短：u 在正半轴，f(u)≤0；-v 和 -u 在负半轴，函数值一正一更大。引理正好把这两个负半轴点的差转换成 v-u。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复盘时强调三件事：定义翻译、条件方向、反证构造。比记住某一步计算更重要的是知道为什么每一步会发生。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71231" y="0"/>
            <a:ext cx="4620463" cy="6858000"/>
          </a:xfrm>
          <a:prstGeom prst="rect">
            <a:avLst/>
          </a:prstGeom>
          <a:solidFill>
            <a:srgbClr val="1C3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841248" y="1078992"/>
            <a:ext cx="0" cy="4517136"/>
          </a:xfrm>
          <a:prstGeom prst="line">
            <a:avLst/>
          </a:prstGeom>
          <a:ln w="12700">
            <a:solidFill>
              <a:srgbClr val="B88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78992" y="1042415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 spc="10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高考数学 · 新定义压轴题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1572768"/>
            <a:ext cx="6309360" cy="1783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zh-CN" altLang="en-US">
                <a:solidFill>
                  <a:srgbClr val="F1E7D4"/>
                </a:solidFill>
                <a:latin typeface="Microsoft YaHei"/>
                <a:ea typeface="Microsoft YaHei"/>
                <a:cs typeface="Microsoft YaHei"/>
              </a:rPr>
              <a:t>从集合 D 读懂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zh-CN" altLang="en-US">
                <a:solidFill>
                  <a:srgbClr val="F1E7D4"/>
                </a:solidFill>
                <a:latin typeface="Microsoft YaHei"/>
                <a:ea typeface="Microsoft YaHei"/>
                <a:cs typeface="Microsoft YaHei"/>
              </a:rPr>
              <a:t>函数的“增长方向”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78992" y="3584448"/>
            <a:ext cx="2834640" cy="0"/>
          </a:xfrm>
          <a:prstGeom prst="line">
            <a:avLst/>
          </a:prstGeom>
          <a:ln w="15240">
            <a:solidFill>
              <a:srgbClr val="B88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992" y="3822191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>
                <a:solidFill>
                  <a:srgbClr val="D9E2E6"/>
                </a:solidFill>
                <a:latin typeface="Microsoft YaHei"/>
                <a:ea typeface="Microsoft YaHei"/>
                <a:cs typeface="Microsoft YaHei"/>
              </a:rPr>
              <a:t>第 19 题（17 分）完整解析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>
                <a:solidFill>
                  <a:srgbClr val="D9E2E6"/>
                </a:solidFill>
                <a:latin typeface="Microsoft YaHei"/>
                <a:ea typeface="Microsoft YaHei"/>
                <a:cs typeface="Microsoft YaHei"/>
              </a:rPr>
              <a:t>分类讨论 · 反证法 · 集合包含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65099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9FB0BA"/>
                </a:solidFill>
                <a:latin typeface="Microsoft YaHei"/>
                <a:ea typeface="Microsoft YaHei"/>
                <a:cs typeface="Microsoft YaHei"/>
              </a:rPr>
              <a:t>高三数学 · 解题过程与思路复盘</a:t>
            </a:r>
          </a:p>
        </p:txBody>
      </p:sp>
      <p:sp>
        <p:nvSpPr>
          <p:cNvPr id="9" name="Oval 8"/>
          <p:cNvSpPr/>
          <p:nvPr/>
        </p:nvSpPr>
        <p:spPr>
          <a:xfrm>
            <a:off x="7799831" y="1051560"/>
            <a:ext cx="3840480" cy="3840480"/>
          </a:xfrm>
          <a:prstGeom prst="ellipse">
            <a:avLst/>
          </a:prstGeom>
          <a:noFill/>
          <a:ln w="13970">
            <a:solidFill>
              <a:srgbClr val="6E5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68512" y="1920240"/>
            <a:ext cx="2103120" cy="2103120"/>
          </a:xfrm>
          <a:prstGeom prst="ellipse">
            <a:avLst/>
          </a:prstGeom>
          <a:noFill/>
          <a:ln w="10160">
            <a:solidFill>
              <a:srgbClr val="8B6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83496" y="932688"/>
            <a:ext cx="91440" cy="91440"/>
          </a:xfrm>
          <a:prstGeom prst="ellipse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03152" y="2926080"/>
            <a:ext cx="91440" cy="91440"/>
          </a:xfrm>
          <a:prstGeom prst="ellipse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83496" y="4828032"/>
            <a:ext cx="91440" cy="91440"/>
          </a:xfrm>
          <a:prstGeom prst="ellipse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44968" y="2926080"/>
            <a:ext cx="91440" cy="91440"/>
          </a:xfrm>
          <a:prstGeom prst="ellipse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233172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2838" b="0" i="0" lang="zh-CN" altLang="en-US" baseline="-22000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4300" b="0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273552"/>
            <a:ext cx="40782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E6D9C4"/>
                </a:solidFill>
                <a:latin typeface="Cambria Math"/>
                <a:ea typeface="Cambria Math"/>
                <a:cs typeface="Cambria Math"/>
              </a:rPr>
              <a:t>{ d ∈ ℝ  |  f(x</a:t>
            </a:r>
            <a:r>
              <a:rPr sz="825" b="0" i="0" lang="zh-CN" altLang="en-US" baseline="-22000">
                <a:solidFill>
                  <a:srgbClr val="E6D9C4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250" b="0" i="0" lang="zh-CN" altLang="en-US">
                <a:solidFill>
                  <a:srgbClr val="E6D9C4"/>
                </a:solidFill>
                <a:latin typeface="Cambria Math"/>
                <a:ea typeface="Cambria Math"/>
                <a:cs typeface="Cambria Math"/>
              </a:rPr>
              <a:t>+d) &gt; f(x</a:t>
            </a:r>
            <a:r>
              <a:rPr sz="825" b="0" i="0" lang="zh-CN" altLang="en-US" baseline="-22000">
                <a:solidFill>
                  <a:srgbClr val="E6D9C4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250" b="0" i="0" lang="zh-CN" altLang="en-US">
                <a:solidFill>
                  <a:srgbClr val="E6D9C4"/>
                </a:solidFill>
                <a:latin typeface="Cambria Math"/>
                <a:ea typeface="Cambria Math"/>
                <a:cs typeface="Cambria Math"/>
              </a:rPr>
              <a:t>)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513892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B9A991"/>
                </a:solidFill>
                <a:latin typeface="Microsoft YaHei"/>
                <a:ea typeface="Microsoft YaHei"/>
                <a:cs typeface="Microsoft YaHei"/>
              </a:rPr>
              <a:t>一个集合，三种函数性质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READ · 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题目条件与三个小问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517904"/>
            <a:ext cx="10863072" cy="1243584"/>
          </a:xfrm>
          <a:prstGeom prst="roundRect">
            <a:avLst>
              <a:gd name="adj" fmla="val 5000"/>
            </a:avLst>
          </a:prstGeom>
          <a:solidFill>
            <a:srgbClr val="10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1037844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lang="zh-CN" altLang="en-US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当 x&lt;0 时，f(x)=2</a:t>
            </a:r>
            <a:r>
              <a:rPr sz="1190" b="1" i="0" lang="zh-CN" altLang="en-US" baseline="48000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750" b="1" i="0" lang="zh-CN" altLang="en-US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；  D(x</a:t>
            </a:r>
            <a:r>
              <a:rPr sz="1155" b="1" i="0" lang="zh-CN" altLang="en-US" baseline="-22000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750" b="1" i="0" lang="zh-CN" altLang="en-US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)={ d∈ℝ | f(x</a:t>
            </a:r>
            <a:r>
              <a:rPr sz="1155" b="1" i="0" lang="zh-CN" altLang="en-US" baseline="-22000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750" b="1" i="0" lang="zh-CN" altLang="en-US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+d)&gt;f(x</a:t>
            </a:r>
            <a:r>
              <a:rPr sz="1155" b="1" i="0" lang="zh-CN" altLang="en-US" baseline="-22000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750" b="1" i="0" lang="zh-CN" altLang="en-US">
                <a:solidFill>
                  <a:srgbClr val="F1E7D4"/>
                </a:solidFill>
                <a:latin typeface="Cambria Math"/>
                <a:ea typeface="Microsoft YaHei"/>
                <a:cs typeface="Cambria Math"/>
              </a:rPr>
              <a:t>) }。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BFCDD4"/>
                </a:solidFill>
                <a:latin typeface="Cambria Math"/>
                <a:ea typeface="Microsoft YaHei"/>
                <a:cs typeface="Cambria Math"/>
              </a:rPr>
              <a:t>f 的定义域为 ℝ，x</a:t>
            </a:r>
            <a:r>
              <a:rPr sz="759" b="0" i="0" lang="zh-CN" altLang="en-US" baseline="-22000">
                <a:solidFill>
                  <a:srgbClr val="BFCDD4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150" b="0" i="0" lang="zh-CN" altLang="en-US">
                <a:solidFill>
                  <a:srgbClr val="BFCDD4"/>
                </a:solidFill>
                <a:latin typeface="Cambria Math"/>
                <a:ea typeface="Microsoft YaHei"/>
                <a:cs typeface="Cambria Math"/>
              </a:rPr>
              <a:t> 可取任意实数。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9504"/>
            <a:ext cx="10863072" cy="78638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59536" y="30266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 altLang="en-US">
                <a:solidFill>
                  <a:srgbClr val="155053"/>
                </a:solidFill>
                <a:latin typeface="Microsoft YaHei"/>
                <a:ea typeface="Microsoft YaHei"/>
                <a:cs typeface="Microsoft YaHei"/>
              </a:rPr>
              <a:t>（1）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044952"/>
            <a:ext cx="9555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若当 x≥0 时，f(x)=1−x，求 D(−1)。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67328"/>
            <a:ext cx="10863072" cy="896112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59536" y="3913632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AD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（2）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840480"/>
            <a:ext cx="9582912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若 f(x) 是奇函数，f(x</a:t>
            </a:r>
            <a:r>
              <a:rPr sz="924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)≤f(x</a:t>
            </a:r>
            <a:r>
              <a:rPr sz="924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)，且 x</a:t>
            </a:r>
            <a:r>
              <a:rPr sz="924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24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≠0，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证明：D(x</a:t>
            </a:r>
            <a:r>
              <a:rPr sz="924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)⊆D(x</a:t>
            </a:r>
            <a:r>
              <a:rPr sz="924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4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54880"/>
            <a:ext cx="10863072" cy="1554480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59536" y="490118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6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 altLang="en-US">
                <a:solidFill>
                  <a:srgbClr val="B44C3B"/>
                </a:solidFill>
                <a:latin typeface="Microsoft YaHei"/>
                <a:ea typeface="Microsoft YaHei"/>
                <a:cs typeface="Microsoft YaHei"/>
              </a:rPr>
              <a:t>（3）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4828032"/>
            <a:ext cx="9582912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3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设 f 满足：① 若 f(x</a:t>
            </a:r>
            <a:r>
              <a:rPr sz="897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)≤f(x</a:t>
            </a:r>
            <a:r>
              <a:rPr sz="897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)，则 D(x</a:t>
            </a:r>
            <a:r>
              <a:rPr sz="897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)⊆D(x</a:t>
            </a:r>
            <a:r>
              <a:rPr sz="897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② 当 0&lt;x&lt;1 时，f(x)&lt;f(0)。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证明：(i) f(0)≥1；(ii) f(x) 在区间 (0,+∞) 单调递增。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READ · 翻译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把新定义翻译成一句人话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1572768"/>
            <a:ext cx="10680192" cy="1481328"/>
          </a:xfrm>
          <a:prstGeom prst="roundRect">
            <a:avLst>
              <a:gd name="adj" fmla="val 4500"/>
            </a:avLst>
          </a:prstGeom>
          <a:solidFill>
            <a:srgbClr val="DDEBE7"/>
          </a:solidFill>
          <a:ln w="11430">
            <a:solidFill>
              <a:srgbClr val="D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1773936"/>
            <a:ext cx="10680192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zh-CN" altLang="en-US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d∈D(x</a:t>
            </a:r>
            <a:r>
              <a:rPr sz="1782" b="1" i="0" lang="zh-CN" altLang="en-US" baseline="-22000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700" b="1" i="0" lang="zh-CN" altLang="en-US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)  ⇔  f(x</a:t>
            </a:r>
            <a:r>
              <a:rPr sz="1782" b="1" i="0" lang="zh-CN" altLang="en-US" baseline="-22000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700" b="1" i="0" lang="zh-CN" altLang="en-US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+d)&gt;f(x</a:t>
            </a:r>
            <a:r>
              <a:rPr sz="1782" b="1" i="0" lang="zh-CN" altLang="en-US" baseline="-22000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700" b="1" i="0" lang="zh-CN" altLang="en-US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05456"/>
            <a:ext cx="106801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从 x</a:t>
            </a:r>
            <a:r>
              <a:rPr sz="924" b="0" i="0" lang="zh-CN" altLang="en-US" baseline="-22000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40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 平移到 x</a:t>
            </a:r>
            <a:r>
              <a:rPr sz="924" b="0" i="0" lang="zh-CN" altLang="en-US" baseline="-22000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40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+d 后，函数值比原来大。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310128"/>
            <a:ext cx="5230368" cy="224942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9264" y="3493008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推论 ①（最常用）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858768"/>
            <a:ext cx="47365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f(a)≤f(b) ⇒ D(b)⊆D(a)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389120"/>
            <a:ext cx="4681728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函数值小的一方，增长方向集合反而更大。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条件①是“反向包含”，方向不能写反。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310128"/>
            <a:ext cx="5230368" cy="224942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0528" y="3493008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E6B6E"/>
                </a:solidFill>
                <a:latin typeface="Microsoft YaHei"/>
                <a:ea typeface="Microsoft YaHei"/>
                <a:cs typeface="Microsoft YaHei"/>
              </a:rPr>
              <a:t>推论 ②（同值可换）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858768"/>
            <a:ext cx="47365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f(a)=f(b) ⇒ D(a)=D(b)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389120"/>
            <a:ext cx="4681728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两个方向都包含，所以两个集合相等。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遇到“同值”时，可以直接替换使用。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3387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后面所有证明，都在反复使用这两条推论。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01 · 直接计算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第（1）问：把集合语言化成不等式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554480"/>
            <a:ext cx="106984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f(−1)=1/2。令 t=−1+d，则 d∈D(−1) ⇔ f(t)&gt;1/2。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94560"/>
            <a:ext cx="5230368" cy="188366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77824" y="237744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EAD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t &lt;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79776"/>
            <a:ext cx="470916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f(t)=2</a:t>
            </a:r>
            <a:r>
              <a:rPr sz="1122" b="0" i="0" lang="zh-CN" altLang="en-US" baseline="48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16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&gt;2</a:t>
            </a:r>
            <a:r>
              <a:rPr sz="1122" b="0" i="0" lang="zh-CN" altLang="en-US" baseline="48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−1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⇒ t&gt;−1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6B6E"/>
                </a:solidFill>
                <a:latin typeface="Cambria Math"/>
                <a:ea typeface="Cambria Math"/>
                <a:cs typeface="Cambria Math"/>
              </a:rPr>
              <a:t>所以 0&lt;d&lt;1。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30368" cy="188366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528816" y="2377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D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155053"/>
                </a:solidFill>
                <a:latin typeface="Microsoft YaHei"/>
                <a:ea typeface="Microsoft YaHei"/>
                <a:cs typeface="Microsoft YaHei"/>
              </a:rPr>
              <a:t>t ≥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779776"/>
            <a:ext cx="470916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f(t)=1−t&gt;1/2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⇒ 0≤t&lt;1/2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6B6E"/>
                </a:solidFill>
                <a:latin typeface="Cambria Math"/>
                <a:ea typeface="Cambria Math"/>
                <a:cs typeface="Cambria Math"/>
              </a:rPr>
              <a:t>所以 1≤d&lt;3/2。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4709160"/>
            <a:ext cx="8979408" cy="0"/>
          </a:xfrm>
          <a:prstGeom prst="line">
            <a:avLst/>
          </a:prstGeom>
          <a:ln w="25400">
            <a:solidFill>
              <a:srgbClr val="C8B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4709160"/>
            <a:ext cx="4489704" cy="0"/>
          </a:xfrm>
          <a:prstGeom prst="line">
            <a:avLst/>
          </a:prstGeom>
          <a:ln w="88900">
            <a:solidFill>
              <a:srgbClr val="1E6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86984" y="4709160"/>
            <a:ext cx="2244852" cy="0"/>
          </a:xfrm>
          <a:prstGeom prst="line">
            <a:avLst/>
          </a:prstGeom>
          <a:ln w="88900">
            <a:solidFill>
              <a:srgbClr val="B88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51560" y="4654296"/>
            <a:ext cx="109728" cy="109728"/>
          </a:xfrm>
          <a:prstGeom prst="ellipse">
            <a:avLst/>
          </a:prstGeom>
          <a:solidFill>
            <a:srgbClr val="F6F2E9"/>
          </a:solidFill>
          <a:ln w="17780">
            <a:solidFill>
              <a:srgbClr val="1E6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27548" y="4649724"/>
            <a:ext cx="118872" cy="118872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6971" y="4654296"/>
            <a:ext cx="109728" cy="109728"/>
          </a:xfrm>
          <a:prstGeom prst="ellipse">
            <a:avLst/>
          </a:prstGeom>
          <a:solidFill>
            <a:srgbClr val="F6F2E9"/>
          </a:solidFill>
          <a:ln w="17780">
            <a:solidFill>
              <a:srgbClr val="B88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87375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2717C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487375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2717C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515" y="487375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2717C"/>
                </a:solidFill>
                <a:latin typeface="Cambria Math"/>
                <a:ea typeface="Cambria Math"/>
                <a:cs typeface="Cambria Math"/>
              </a:rPr>
              <a:t>3/2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487375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2717C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443484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2717C"/>
                </a:solidFill>
                <a:latin typeface="Cambria Math"/>
                <a:ea typeface="Cambria Math"/>
                <a:cs typeface="Cambria Math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48072"/>
            <a:ext cx="7223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d=1 属于；d=3/2 不属于。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68112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zh-CN" altLang="en-US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D(−1) = ( 0 , 3/2 )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5559552"/>
            <a:ext cx="548640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两个区间在 d=1 处相接，所以并起来是一个连续区间。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02 · 解析式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第（2）问：奇函数补全正半轴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554480"/>
            <a:ext cx="3931920" cy="4498848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737360"/>
            <a:ext cx="34930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E6B6E"/>
                </a:solidFill>
                <a:latin typeface="Microsoft YaHei"/>
                <a:ea typeface="Microsoft YaHei"/>
                <a:cs typeface="Microsoft YaHei"/>
              </a:rPr>
              <a:t>由奇函数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349300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f(0)=0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x&gt;0 时：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f(x)=−f(−x)=−2</a:t>
            </a:r>
            <a:r>
              <a:rPr sz="938" b="0" i="0" lang="zh-CN" altLang="en-US" baseline="48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−x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3127248"/>
            <a:ext cx="3456432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" y="3273552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完整解析式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84448"/>
            <a:ext cx="3456432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f(x) =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054" b="0" i="0" lang="zh-CN" altLang="en-US" baseline="48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5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，      x&lt;0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0，          x=0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−2</a:t>
            </a:r>
            <a:r>
              <a:rPr sz="1054" b="0" i="0" lang="zh-CN" altLang="en-US" baseline="48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5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，  x&gt;0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577840"/>
            <a:ext cx="34930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负半轴已知，正半轴由奇性得到。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6" y="1554480"/>
            <a:ext cx="6638544" cy="2029968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02352" y="1737360"/>
            <a:ext cx="61630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E6B6E"/>
                </a:solidFill>
                <a:latin typeface="Microsoft YaHei"/>
                <a:ea typeface="Microsoft YaHei"/>
                <a:cs typeface="Microsoft YaHei"/>
              </a:rPr>
              <a:t>x &lt; 0 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011680"/>
            <a:ext cx="607161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D(x) = ( 0 , −x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523744"/>
            <a:ext cx="6126480" cy="877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f(x)=2</a:t>
            </a:r>
            <a:r>
              <a:rPr sz="843" b="0" i="0" lang="zh-CN" altLang="en-US" baseline="48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&gt;0。要 f(x+d)&gt;f(x)，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必须仍落在负半轴，于是 0&lt;d&lt;−x。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82896" y="3803904"/>
            <a:ext cx="6638544" cy="224942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02352" y="3986784"/>
            <a:ext cx="61630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x &gt; 0 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4261104"/>
            <a:ext cx="607161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D(x) = (−∞, −x] ∪ (0, +∞)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4736592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f(x)=−2</a:t>
            </a:r>
            <a:r>
              <a:rPr sz="843" b="0" i="0" lang="zh-CN" altLang="en-US" baseline="48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−x</a:t>
            </a: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&lt;0。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当 x+d≤0 时，f(x+d)≥0&gt;f(x)；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当 x+d&gt;0 时，需且只需 d&gt;0。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02 · 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第（2）问：分类比较两个集合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53619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f 在 (−∞,0) 与 (0,+∞) 上分别严格递增，先判断 x</a:t>
            </a:r>
            <a:r>
              <a:rPr sz="792" b="0" i="0" lang="zh-CN" altLang="en-US" baseline="-22000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0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、x</a:t>
            </a:r>
            <a:r>
              <a:rPr sz="792" b="0" i="0" lang="zh-CN" altLang="en-US" baseline="-22000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0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 的位置。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3529584" cy="325526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59536" y="20848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>
                <a:solidFill>
                  <a:srgbClr val="155053"/>
                </a:solidFill>
                <a:latin typeface="Microsoft YaHei"/>
                <a:ea typeface="Microsoft YaHei"/>
                <a:cs typeface="Microsoft YaHei"/>
              </a:rPr>
              <a:t>① 同负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50592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891" b="1" i="0" lang="zh-CN" altLang="en-US" baseline="-22000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1" i="0" lang="zh-CN" altLang="en-US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≤x</a:t>
            </a:r>
            <a:r>
              <a:rPr sz="891" b="1" i="0" lang="zh-CN" altLang="en-US" baseline="-22000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1" i="0" lang="zh-CN" altLang="en-US">
                <a:solidFill>
                  <a:srgbClr val="155053"/>
                </a:solidFill>
                <a:latin typeface="Cambria Math"/>
                <a:ea typeface="Cambria Math"/>
                <a:cs typeface="Cambria Math"/>
              </a:rPr>
              <a:t>&lt;0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98064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844" b="0" i="0" lang="zh-CN" altLang="en-US" baseline="-22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8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)=(0,−x</a:t>
            </a:r>
            <a:r>
              <a:rPr sz="844" b="0" i="0" lang="zh-CN" altLang="en-US" baseline="-22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8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844" b="0" i="0" lang="zh-CN" altLang="en-US" baseline="-22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8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)=(0,−x</a:t>
            </a:r>
            <a:r>
              <a:rPr sz="844" b="0" i="0" lang="zh-CN" altLang="en-US" baseline="-22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8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858768"/>
            <a:ext cx="3090672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12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−x</a:t>
            </a:r>
            <a:r>
              <a:rPr sz="811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≤−x</a:t>
            </a:r>
            <a:r>
              <a:rPr sz="811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，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 lang="zh-CN" altLang="en-US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所以 D(x</a:t>
            </a:r>
            <a:r>
              <a:rPr sz="811" b="1" i="0" lang="zh-CN" altLang="en-US" baseline="-22000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30" b="1" i="0" lang="zh-CN" altLang="en-US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)⊆D(x</a:t>
            </a:r>
            <a:r>
              <a:rPr sz="811" b="1" i="0" lang="zh-CN" altLang="en-US" baseline="-22000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30" b="1" i="0" lang="zh-CN" altLang="en-US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920240"/>
            <a:ext cx="3529584" cy="325526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517136" y="20848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1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② 同正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50592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0&lt;x</a:t>
            </a:r>
            <a:r>
              <a:rPr sz="891" b="1" i="0" lang="zh-CN" altLang="en-US" baseline="-22000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1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≤x</a:t>
            </a:r>
            <a:r>
              <a:rPr sz="891" b="1" i="0" lang="zh-CN" altLang="en-US" baseline="-22000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3108960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两集合都含 (0,+∞)，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只需比较负半轴部分：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511296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(−∞,−x</a:t>
            </a:r>
            <a:r>
              <a:rPr sz="858" b="1" i="0" lang="zh-CN" altLang="en-US" baseline="-22000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1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] ⊆ (−∞,−x</a:t>
            </a:r>
            <a:r>
              <a:rPr sz="858" b="1" i="0" lang="zh-CN" altLang="en-US" baseline="-22000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1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4096512"/>
            <a:ext cx="3090672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因为 −x</a:t>
            </a:r>
            <a:r>
              <a:rPr sz="778" b="0" i="0" lang="zh-CN" altLang="en-US" baseline="-22000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180" b="0" i="0" lang="zh-CN" altLang="en-US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≤−x</a:t>
            </a:r>
            <a:r>
              <a:rPr sz="778" b="0" i="0" lang="zh-CN" altLang="en-US" baseline="-22000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180" b="0" i="0" lang="zh-CN" altLang="en-US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1C3446"/>
                </a:solidFill>
                <a:latin typeface="Cambria Math"/>
                <a:ea typeface="Microsoft YaHei"/>
                <a:cs typeface="Cambria Math"/>
              </a:rPr>
              <a:t>所以包含成立。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920240"/>
            <a:ext cx="3529584" cy="325526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74736" y="20848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6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>
                <a:solidFill>
                  <a:srgbClr val="B44C3B"/>
                </a:solidFill>
                <a:latin typeface="Microsoft YaHei"/>
                <a:ea typeface="Microsoft YaHei"/>
                <a:cs typeface="Microsoft YaHei"/>
              </a:rPr>
              <a:t>③ 异号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450592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891" b="1" i="0" lang="zh-CN" altLang="en-US" baseline="-22000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&lt;0&lt;x</a:t>
            </a:r>
            <a:r>
              <a:rPr sz="891" b="1" i="0" lang="zh-CN" altLang="en-US" baseline="-22000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798064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818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)&gt;0&gt;f(x</a:t>
            </a:r>
            <a:r>
              <a:rPr sz="818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前提自动成立。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3712463"/>
            <a:ext cx="3108960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759" b="0" i="0" lang="zh-CN" altLang="en-US" baseline="-22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1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)=(0,−x</a:t>
            </a:r>
            <a:r>
              <a:rPr sz="759" b="0" i="0" lang="zh-CN" altLang="en-US" baseline="-22000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1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⊂(0,+∞)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⊂D(x</a:t>
            </a:r>
            <a:r>
              <a:rPr sz="759" b="1" i="0" lang="zh-CN" altLang="en-US" baseline="-22000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15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431536"/>
            <a:ext cx="10863072" cy="640080"/>
          </a:xfrm>
          <a:prstGeom prst="roundRect">
            <a:avLst>
              <a:gd name="adj" fmla="val 8000"/>
            </a:avLst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lang="zh-CN" altLang="en-US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综上，D(x</a:t>
            </a:r>
            <a:r>
              <a:rPr sz="871" b="1" i="0" lang="zh-CN" altLang="en-US" baseline="-22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20" b="1" i="0" lang="zh-CN" altLang="en-US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)⊆D(x</a:t>
            </a:r>
            <a:r>
              <a:rPr sz="871" b="1" i="0" lang="zh-CN" altLang="en-US" baseline="-22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20" b="1" i="0" lang="zh-CN" altLang="en-US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)。若 x</a:t>
            </a:r>
            <a:r>
              <a:rPr sz="871" b="1" i="0" lang="zh-CN" altLang="en-US" baseline="-22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20" b="1" i="0" lang="zh-CN" altLang="en-US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&lt;0&lt;x</a:t>
            </a:r>
            <a:r>
              <a:rPr sz="871" b="1" i="0" lang="zh-CN" altLang="en-US" baseline="-22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20" b="1" i="0" lang="zh-CN" altLang="en-US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，则 f(x</a:t>
            </a:r>
            <a:r>
              <a:rPr sz="871" b="1" i="0" lang="zh-CN" altLang="en-US" baseline="-22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20" b="1" i="0" lang="zh-CN" altLang="en-US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)&gt;0&gt;f(x</a:t>
            </a:r>
            <a:r>
              <a:rPr sz="871" b="1" i="0" lang="zh-CN" altLang="en-US" baseline="-22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20" b="1" i="0" lang="zh-CN" altLang="en-US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)，前提不成立。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03（i）· 反证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第（3）（i）问：制造一个“该在却不在”的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22960" y="1627632"/>
            <a:ext cx="310896" cy="310896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36776"/>
            <a:ext cx="310896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00200"/>
            <a:ext cx="9326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反设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1591056"/>
            <a:ext cx="429768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f(0)&lt;1。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42032"/>
            <a:ext cx="310896" cy="310896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51175"/>
            <a:ext cx="310896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514600"/>
            <a:ext cx="9326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取点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505456"/>
            <a:ext cx="429768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取 y∈(−1,0)，使 f(y)=2</a:t>
            </a:r>
            <a:r>
              <a:rPr sz="829" b="0" i="0" lang="zh-CN" altLang="en-US" baseline="48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y</a:t>
            </a: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&gt;f(0)；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令 d=−y/2。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56432"/>
            <a:ext cx="310896" cy="310896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65575"/>
            <a:ext cx="310896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429000"/>
            <a:ext cx="9326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入 D(y)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3419856"/>
            <a:ext cx="429768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0&lt;d&lt;1，且 y+d=y/2&gt;y，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故 f(y+d)&gt;f(y)，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即 d∈D(y)。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70831"/>
            <a:ext cx="310896" cy="310896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79975"/>
            <a:ext cx="310896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343400"/>
            <a:ext cx="9326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出 D(0)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334256"/>
            <a:ext cx="429768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由条件②，f(d)&lt;f(0)，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所以 d∉D(0)。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285231"/>
            <a:ext cx="310896" cy="310896"/>
          </a:xfrm>
          <a:prstGeom prst="ellipse">
            <a:avLst/>
          </a:prstGeom>
          <a:solidFill>
            <a:srgbClr val="B4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94375"/>
            <a:ext cx="310896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257800"/>
            <a:ext cx="9326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矛盾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5248656"/>
            <a:ext cx="429768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由 f(y)&gt;f(0) 及条件①，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得 D(y)⊆D(0)，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于是 d∈D(0)，与 d∉D(0) 矛盾。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76288" y="1609344"/>
            <a:ext cx="4626864" cy="4041648"/>
          </a:xfrm>
          <a:prstGeom prst="roundRect">
            <a:avLst>
              <a:gd name="adj" fmla="val 4500"/>
            </a:avLst>
          </a:prstGeom>
          <a:solidFill>
            <a:srgbClr val="10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4032" y="1810512"/>
            <a:ext cx="41330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矛盾的核心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2194560"/>
            <a:ext cx="4114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zh-CN" altLang="en-US">
                <a:solidFill>
                  <a:srgbClr val="F1E7D4"/>
                </a:solidFill>
                <a:latin typeface="Cambria Math"/>
                <a:ea typeface="Cambria Math"/>
                <a:cs typeface="Cambria Math"/>
              </a:rPr>
              <a:t>d ∈ D(y)  ⊆  D(0)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61518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BFCDD4"/>
                </a:solidFill>
                <a:latin typeface="Microsoft YaHei"/>
                <a:ea typeface="Microsoft YaHei"/>
                <a:cs typeface="Microsoft YaHei"/>
              </a:rPr>
              <a:t>但由 f(d)&lt;f(0) 得到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3054096"/>
            <a:ext cx="4114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zh-CN" altLang="en-US">
                <a:solidFill>
                  <a:srgbClr val="F0A895"/>
                </a:solidFill>
                <a:latin typeface="Cambria Math"/>
                <a:ea typeface="Cambria Math"/>
                <a:cs typeface="Cambria Math"/>
              </a:rPr>
              <a:t>d ∉ D(0)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79792" y="3694176"/>
            <a:ext cx="3419856" cy="0"/>
          </a:xfrm>
          <a:prstGeom prst="line">
            <a:avLst/>
          </a:prstGeom>
          <a:ln w="10160">
            <a:solidFill>
              <a:srgbClr val="48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14032" y="3877056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zh-CN" altLang="en-US">
                <a:solidFill>
                  <a:srgbClr val="D9E2E6"/>
                </a:solidFill>
                <a:latin typeface="Microsoft YaHei"/>
                <a:ea typeface="Microsoft YaHei"/>
                <a:cs typeface="Microsoft YaHei"/>
              </a:rPr>
              <a:t>同一元素 d，既在又不在 D(0)。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4681728"/>
            <a:ext cx="41148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 i="0" lang="zh-CN" altLang="en-US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故  f(0) ≥ 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03（ii）· 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先准备一个“值序—平移”引理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86384" y="1572768"/>
            <a:ext cx="10588752" cy="2157984"/>
          </a:xfrm>
          <a:prstGeom prst="roundRect">
            <a:avLst>
              <a:gd name="adj" fmla="val 4500"/>
            </a:avLst>
          </a:prstGeom>
          <a:solidFill>
            <a:srgbClr val="DDEBE7"/>
          </a:solidFill>
          <a:ln w="11430">
            <a:solidFill>
              <a:srgbClr val="D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24128" y="1755648"/>
            <a:ext cx="1078992" cy="283464"/>
          </a:xfrm>
          <a:prstGeom prst="roundRect">
            <a:avLst>
              <a:gd name="adj" fmla="val 50000"/>
            </a:avLst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核心引理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76272"/>
            <a:ext cx="10040112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zh-CN" altLang="en-US">
                <a:solidFill>
                  <a:srgbClr val="102233"/>
                </a:solidFill>
                <a:latin typeface="Cambria Math"/>
                <a:ea typeface="Cambria Math"/>
                <a:cs typeface="Cambria Math"/>
              </a:rPr>
              <a:t>若  f(a) ≤ f(b) &lt; f(c)，则  f(a) &lt; f(a−b+c)。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16352"/>
            <a:ext cx="10040112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把 c−b 看成“从 b 走到 c”的平移量；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它属于 D(b)，也就属于 D(a)。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95020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证明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913632"/>
            <a:ext cx="7973568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300"/>
              </a:spcAft>
            </a:pPr>
            <a:r>
              <a:rPr sz="138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①  f(c)&gt;f(b)  ⇒  c−b∈D(b)。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300"/>
              </a:spcAft>
            </a:pPr>
            <a:r>
              <a:rPr sz="138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②  f(a)≤f(b)  ⇒  D(b)⊆D(a)。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③  所以 c−b∈D(a)，即 f(a+c−b)&gt;f(a)。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3895344"/>
            <a:ext cx="1572768" cy="1170432"/>
          </a:xfrm>
          <a:prstGeom prst="roundRect">
            <a:avLst>
              <a:gd name="adj" fmla="val 4500"/>
            </a:avLst>
          </a:prstGeom>
          <a:solidFill>
            <a:srgbClr val="F6E1DB"/>
          </a:solidFill>
          <a:ln w="11430">
            <a:solidFill>
              <a:srgbClr val="F6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93808" y="4041648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 altLang="en-US">
                <a:solidFill>
                  <a:srgbClr val="B44C3B"/>
                </a:solidFill>
                <a:latin typeface="Microsoft YaHei"/>
                <a:ea typeface="Microsoft YaHei"/>
                <a:cs typeface="Microsoft YaHei"/>
              </a:rPr>
              <a:t>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4315968"/>
            <a:ext cx="138988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值小的一方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D 更大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5376672"/>
            <a:ext cx="10387584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555955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用法：要证 f(v)&gt;f(u)，只需让 v−u 成为某个 D(u) 中的元素。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03（ii）· 排除正值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先排除 0&lt;x&lt;1 上的正值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1572768"/>
            <a:ext cx="10680192" cy="4389120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87552" y="1773936"/>
            <a:ext cx="101498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lang="zh-CN" altLang="en-US">
                <a:solidFill>
                  <a:srgbClr val="B44C3B"/>
                </a:solidFill>
                <a:latin typeface="Cambria Math"/>
                <a:ea typeface="Microsoft YaHei"/>
                <a:cs typeface="Cambria Math"/>
              </a:rPr>
              <a:t>反设存在 x∈(0,1)，使 f(x)&gt;0。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231136"/>
            <a:ext cx="274320" cy="274320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79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21284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取 m&lt;0，使 f(m)=2</a:t>
            </a:r>
            <a:r>
              <a:rPr sz="904" b="0" i="0" lang="zh-CN" altLang="en-US" baseline="48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m</a:t>
            </a: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&lt;f(x)。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871216"/>
            <a:ext cx="274320" cy="274320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85292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由 f(m)&lt;f(x)，得 D(x)⊆D(m)。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511296"/>
            <a:ext cx="274320" cy="274320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39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49300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因 0&lt;x&lt;1，f(x)&lt;f(0)，故 −x∈D(x)。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151375"/>
            <a:ext cx="274320" cy="274320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19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4133087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于是 −x∈D(m)，即 f(m−x)&gt;f(m)。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791455"/>
            <a:ext cx="274320" cy="274320"/>
          </a:xfrm>
          <a:prstGeom prst="ellipse">
            <a:avLst/>
          </a:prstGeom>
          <a:solidFill>
            <a:srgbClr val="B4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00599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47731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但 m−x&lt;m&lt;0，函数值反而更小：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1488" y="5321808"/>
            <a:ext cx="6583680" cy="402336"/>
          </a:xfrm>
          <a:prstGeom prst="roundRect">
            <a:avLst>
              <a:gd name="adj" fmla="val 8000"/>
            </a:avLst>
          </a:prstGeom>
          <a:solidFill>
            <a:srgbClr val="F6E1DB"/>
          </a:solidFill>
          <a:ln w="11430">
            <a:solidFill>
              <a:srgbClr val="F6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f(m−x)=2</a:t>
            </a:r>
            <a:r>
              <a:rPr sz="870" b="1" i="0" lang="zh-CN" altLang="en-US" baseline="48000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m−x</a:t>
            </a:r>
            <a:r>
              <a:rPr sz="128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&lt;2</a:t>
            </a:r>
            <a:r>
              <a:rPr sz="870" b="1" i="0" lang="zh-CN" altLang="en-US" baseline="48000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128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=f(m)，矛盾。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6016752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55053"/>
                </a:solidFill>
                <a:latin typeface="Microsoft YaHei"/>
                <a:ea typeface="Microsoft YaHei"/>
                <a:cs typeface="Microsoft YaHei"/>
              </a:rPr>
              <a:t>所以 0&lt;x&lt;1 时，f(x)≤0。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03（ii）· 排除正值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再排除 x≥1 上的正值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1572768"/>
            <a:ext cx="10680192" cy="4169663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87552" y="1773936"/>
            <a:ext cx="101498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lang="zh-CN" altLang="en-US">
                <a:solidFill>
                  <a:srgbClr val="B44C3B"/>
                </a:solidFill>
                <a:latin typeface="Cambria Math"/>
                <a:ea typeface="Microsoft YaHei"/>
                <a:cs typeface="Cambria Math"/>
              </a:rPr>
              <a:t>反设存在 x≥1，使 f(x)&gt;0。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231136"/>
            <a:ext cx="274320" cy="274320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79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194560"/>
            <a:ext cx="9555480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取 m&lt;0 使 f(m)&lt;f(x)，令 n=m−x+1/2。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926079"/>
            <a:ext cx="274320" cy="274320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35223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889503"/>
            <a:ext cx="9555480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因 x≥1，n&lt;m&lt;0，故 f(n)&lt;f(m)，从而 D(m)⊆D(n)。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621024"/>
            <a:ext cx="274320" cy="274320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30168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584448"/>
            <a:ext cx="9555480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又 x−m∈D(m)（因为 m+(x−m)=x，且 f(x)&gt;f(m)）。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315968"/>
            <a:ext cx="274320" cy="274320"/>
          </a:xfrm>
          <a:prstGeom prst="ellipse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25112"/>
            <a:ext cx="274320" cy="2560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4279392"/>
            <a:ext cx="9555480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所以 x−m∈D(n)，即 f(1/2)=f(n+x−m)&gt;f(n)&gt;0。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25296" y="4992624"/>
            <a:ext cx="9692640" cy="585216"/>
          </a:xfrm>
          <a:prstGeom prst="roundRect">
            <a:avLst>
              <a:gd name="adj" fmla="val 8000"/>
            </a:avLst>
          </a:prstGeom>
          <a:solidFill>
            <a:srgbClr val="F6E1DB"/>
          </a:solidFill>
          <a:ln w="11430">
            <a:solidFill>
              <a:srgbClr val="F6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 lang="zh-CN" altLang="en-US">
                <a:solidFill>
                  <a:srgbClr val="B44C3B"/>
                </a:solidFill>
                <a:latin typeface="Cambria Math"/>
                <a:ea typeface="Microsoft YaHei"/>
                <a:cs typeface="Cambria Math"/>
              </a:rPr>
              <a:t>但 1/2∈(0,1)，由第一步 f(1/2)≤0，与 f(1/2)&gt;0 矛盾。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5852160"/>
            <a:ext cx="10680192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6112" y="5833872"/>
            <a:ext cx="1038758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155053"/>
                </a:solidFill>
                <a:latin typeface="Cambria Math"/>
                <a:ea typeface="Microsoft YaHei"/>
                <a:cs typeface="Cambria Math"/>
              </a:rPr>
              <a:t>所以  f(x)≤0  对所有 x&gt;0 成立。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PART 03（ii）· 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最后一步：用引理证明严格递增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554480"/>
            <a:ext cx="63093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任取 0&lt;u&lt;v。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6419088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① 由上面的结论，f(u)≤0。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② 又 −v&lt;−u&lt;0，且 f(t)=2</a:t>
            </a:r>
            <a:r>
              <a:rPr sz="918" b="0" i="0" lang="zh-CN" altLang="en-US" baseline="48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t</a:t>
            </a:r>
            <a:r>
              <a:rPr sz="135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 在负半轴递增，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所以 0&lt;f(−v)&lt;f(−u)。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③ 于是 f(u)≤0&lt;f(−v)&lt;f(−u)。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④ 对 (a,b,c)=(u,−v,−u) 使用引理：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315968"/>
            <a:ext cx="6492240" cy="694944"/>
          </a:xfrm>
          <a:prstGeom prst="roundRect">
            <a:avLst>
              <a:gd name="adj" fmla="val 7000"/>
            </a:avLst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 lang="zh-CN" altLang="en-US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f(u) &lt; f(u+v−u) = f(v)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285232"/>
            <a:ext cx="64922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即对任意 0&lt;u&lt;v，都有 f(u)&lt;f(v)。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760720"/>
            <a:ext cx="64922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 lang="zh-CN" altLang="en-US">
                <a:solidFill>
                  <a:srgbClr val="155053"/>
                </a:solidFill>
                <a:latin typeface="Microsoft YaHei"/>
                <a:ea typeface="Microsoft YaHei"/>
                <a:cs typeface="Microsoft YaHei"/>
              </a:rPr>
              <a:t>所以 f(x) 在 (0,+∞) 上严格单调递增。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6096" y="1554480"/>
            <a:ext cx="3895344" cy="4443984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45552" y="1755648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数轴上的位置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18120" y="3017520"/>
            <a:ext cx="3474720" cy="0"/>
          </a:xfrm>
          <a:prstGeom prst="line">
            <a:avLst/>
          </a:prstGeom>
          <a:ln w="22860">
            <a:solidFill>
              <a:srgbClr val="C8B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950708" y="2967227"/>
            <a:ext cx="100584" cy="100584"/>
          </a:xfrm>
          <a:prstGeom prst="ellipse">
            <a:avLst/>
          </a:prstGeom>
          <a:solidFill>
            <a:srgbClr val="B4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317296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altLang="en-US">
                <a:solidFill>
                  <a:srgbClr val="B44C3B"/>
                </a:solidFill>
                <a:latin typeface="Cambria Math"/>
                <a:ea typeface="Cambria Math"/>
                <a:cs typeface="Cambria Math"/>
              </a:rPr>
              <a:t>−v</a:t>
            </a:r>
          </a:p>
        </p:txBody>
      </p:sp>
      <p:sp>
        <p:nvSpPr>
          <p:cNvPr id="17" name="Oval 16"/>
          <p:cNvSpPr/>
          <p:nvPr/>
        </p:nvSpPr>
        <p:spPr>
          <a:xfrm>
            <a:off x="8636508" y="2967227"/>
            <a:ext cx="100584" cy="100584"/>
          </a:xfrm>
          <a:prstGeom prst="ellipse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317296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altLang="en-US">
                <a:solidFill>
                  <a:srgbClr val="B8894B"/>
                </a:solidFill>
                <a:latin typeface="Cambria Math"/>
                <a:ea typeface="Cambria Math"/>
                <a:cs typeface="Cambria Math"/>
              </a:rPr>
              <a:t>−u</a:t>
            </a:r>
          </a:p>
        </p:txBody>
      </p:sp>
      <p:sp>
        <p:nvSpPr>
          <p:cNvPr id="19" name="Oval 18"/>
          <p:cNvSpPr/>
          <p:nvPr/>
        </p:nvSpPr>
        <p:spPr>
          <a:xfrm>
            <a:off x="9459468" y="2967227"/>
            <a:ext cx="100584" cy="100584"/>
          </a:xfrm>
          <a:prstGeom prst="ellipse">
            <a:avLst/>
          </a:prstGeom>
          <a:solidFill>
            <a:srgbClr val="62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317296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altLang="en-US">
                <a:solidFill>
                  <a:srgbClr val="62717C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10282428" y="2967227"/>
            <a:ext cx="100584" cy="100584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4976" y="317296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altLang="en-US">
                <a:solidFill>
                  <a:srgbClr val="1E6B6E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23" name="Oval 22"/>
          <p:cNvSpPr/>
          <p:nvPr/>
        </p:nvSpPr>
        <p:spPr>
          <a:xfrm>
            <a:off x="10968228" y="2967227"/>
            <a:ext cx="100584" cy="100584"/>
          </a:xfrm>
          <a:prstGeom prst="ellipse">
            <a:avLst/>
          </a:prstGeom>
          <a:solidFill>
            <a:srgbClr val="1E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0776" y="317296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altLang="en-US">
                <a:solidFill>
                  <a:srgbClr val="1E6B6E"/>
                </a:solidFill>
                <a:latin typeface="Cambria Math"/>
                <a:ea typeface="Cambria Math"/>
                <a:cs typeface="Cambria Math"/>
              </a:rPr>
              <a:t>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01000" y="2578608"/>
            <a:ext cx="685800" cy="0"/>
          </a:xfrm>
          <a:prstGeom prst="line">
            <a:avLst/>
          </a:prstGeom>
          <a:ln w="11430">
            <a:solidFill>
              <a:srgbClr val="B88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2578608"/>
            <a:ext cx="0" cy="256031"/>
          </a:xfrm>
          <a:prstGeom prst="line">
            <a:avLst/>
          </a:prstGeom>
          <a:ln w="11430">
            <a:solidFill>
              <a:srgbClr val="B88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0" y="2578608"/>
            <a:ext cx="0" cy="256031"/>
          </a:xfrm>
          <a:prstGeom prst="line">
            <a:avLst/>
          </a:prstGeom>
          <a:ln w="11430">
            <a:solidFill>
              <a:srgbClr val="B88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09560" y="226771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负半轴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694176"/>
            <a:ext cx="3456432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负半轴：f(x)&gt;0，且随 x 增大；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正半轴：f(x)≤0。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altLang="en-US">
                <a:solidFill>
                  <a:srgbClr val="1C3446"/>
                </a:solidFill>
                <a:latin typeface="Microsoft YaHei"/>
                <a:ea typeface="Microsoft YaHei"/>
                <a:cs typeface="Microsoft YaHei"/>
              </a:rPr>
              <a:t>u 在正半轴，−v,−u 在负半轴。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974336"/>
            <a:ext cx="347472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关键：把 v−u 变成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从 −v 到 −u 的差。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557784"/>
            <a:ext cx="59436" cy="75895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3931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 spc="80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REVIEW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13232"/>
            <a:ext cx="10378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这道题的方法骨架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4206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第 19 题 · 17 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554480"/>
            <a:ext cx="3493008" cy="2395728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719072"/>
            <a:ext cx="74980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1E6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783080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59152"/>
            <a:ext cx="3035808" cy="1353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d∈D(x</a:t>
            </a:r>
            <a:r>
              <a:rPr sz="778" b="0" i="0" lang="zh-CN" altLang="en-US" baseline="-22000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) ⇔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778" b="0" i="0" lang="zh-CN" altLang="en-US" baseline="-22000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+d)&gt;f(x</a:t>
            </a:r>
            <a:r>
              <a:rPr sz="778" b="0" i="0" lang="zh-CN" altLang="en-US" baseline="-22000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)。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D 是“增长方向”的集合。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554480"/>
            <a:ext cx="3493008" cy="2395728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26864" y="1719072"/>
            <a:ext cx="74980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1783080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359152"/>
            <a:ext cx="3035808" cy="1353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条件①：函数值小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⇒ D 反而大。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同值 ⇒ D 相等。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554480"/>
            <a:ext cx="3493008" cy="2395728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1430">
            <a:solidFill>
              <a:srgbClr val="DD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75904" y="1719072"/>
            <a:ext cx="74980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B44C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1783080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102233"/>
                </a:solidFill>
                <a:latin typeface="Microsoft YaHei"/>
                <a:ea typeface="Microsoft YaHei"/>
                <a:cs typeface="Microsoft YaHei"/>
              </a:rPr>
              <a:t>构造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359152"/>
            <a:ext cx="3035808" cy="1353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反证 + 取 m&lt;0；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用引理把目标变成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 altLang="en-US">
                <a:solidFill>
                  <a:srgbClr val="62717C"/>
                </a:solidFill>
                <a:latin typeface="Cambria Math"/>
                <a:ea typeface="Microsoft YaHei"/>
                <a:cs typeface="Cambria Math"/>
              </a:rPr>
              <a:t>v−u∈D(u)。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06240"/>
            <a:ext cx="6876288" cy="1280160"/>
          </a:xfrm>
          <a:prstGeom prst="roundRect">
            <a:avLst>
              <a:gd name="adj" fmla="val 4500"/>
            </a:avLst>
          </a:prstGeom>
          <a:solidFill>
            <a:srgbClr val="10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77824" y="4352544"/>
            <a:ext cx="64190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8894B"/>
                </a:solidFill>
                <a:latin typeface="Microsoft YaHei"/>
                <a:ea typeface="Microsoft YaHei"/>
                <a:cs typeface="Microsoft YaHei"/>
              </a:rPr>
              <a:t>易错提醒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626864"/>
            <a:ext cx="643737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 lang="zh-CN" altLang="en-US">
                <a:solidFill>
                  <a:srgbClr val="D9E2E6"/>
                </a:solidFill>
                <a:latin typeface="Cambria Math"/>
                <a:ea typeface="Microsoft YaHei"/>
                <a:cs typeface="Cambria Math"/>
              </a:rPr>
              <a:t>① 条件①方向别写反；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 lang="zh-CN" altLang="en-US">
                <a:solidFill>
                  <a:srgbClr val="D9E2E6"/>
                </a:solidFill>
                <a:latin typeface="Cambria Math"/>
                <a:ea typeface="Microsoft YaHei"/>
                <a:cs typeface="Cambria Math"/>
              </a:rPr>
              <a:t>② 端点 0 与 3/2 的取舍；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 lang="zh-CN" altLang="en-US">
                <a:solidFill>
                  <a:srgbClr val="D9E2E6"/>
                </a:solidFill>
                <a:latin typeface="Cambria Math"/>
                <a:ea typeface="Microsoft YaHei"/>
                <a:cs typeface="Cambria Math"/>
              </a:rPr>
              <a:t>③ 正半轴解析式是 −2</a:t>
            </a:r>
            <a:r>
              <a:rPr sz="707" b="0" i="0" lang="zh-CN" altLang="en-US" baseline="48000">
                <a:solidFill>
                  <a:srgbClr val="D9E2E6"/>
                </a:solidFill>
                <a:latin typeface="Cambria Math"/>
                <a:ea typeface="Microsoft YaHei"/>
                <a:cs typeface="Cambria Math"/>
              </a:rPr>
              <a:t>−x</a:t>
            </a:r>
            <a:r>
              <a:rPr sz="1040" b="0" i="0" lang="zh-CN" altLang="en-US">
                <a:solidFill>
                  <a:srgbClr val="D9E2E6"/>
                </a:solidFill>
                <a:latin typeface="Cambria Math"/>
                <a:ea typeface="Microsoft YaHei"/>
                <a:cs typeface="Cambria Math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4206240"/>
            <a:ext cx="3767328" cy="1280160"/>
          </a:xfrm>
          <a:prstGeom prst="roundRect">
            <a:avLst>
              <a:gd name="adj" fmla="val 4500"/>
            </a:avLst>
          </a:prstGeom>
          <a:solidFill>
            <a:srgbClr val="DDEBE7"/>
          </a:solidFill>
          <a:ln w="11430">
            <a:solidFill>
              <a:srgbClr val="D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73568" y="4334256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155053"/>
                </a:solidFill>
                <a:latin typeface="Microsoft YaHei"/>
                <a:ea typeface="Microsoft YaHei"/>
                <a:cs typeface="Microsoft YaHei"/>
              </a:rPr>
              <a:t>答案速览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590288"/>
            <a:ext cx="3346704" cy="7680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（1）D(−1)=(0,3/2)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0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（2）D(x</a:t>
            </a:r>
            <a:r>
              <a:rPr sz="699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0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)⊆D(x</a:t>
            </a:r>
            <a:r>
              <a:rPr sz="699" b="0" i="0" lang="zh-CN" altLang="en-US" baseline="-22000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0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lang="zh-CN" altLang="en-US">
                <a:solidFill>
                  <a:srgbClr val="102233"/>
                </a:solidFill>
                <a:latin typeface="Cambria Math"/>
                <a:ea typeface="Microsoft YaHei"/>
                <a:cs typeface="Cambria Math"/>
              </a:rPr>
              <a:t>（3）(i)(ii) 均得证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5724144"/>
            <a:ext cx="10863072" cy="0"/>
          </a:xfrm>
          <a:prstGeom prst="line">
            <a:avLst/>
          </a:prstGeom>
          <a:ln w="1016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5888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1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通用节奏：先翻译定义，再把条件变成集合关系，最后用反证或构造收口。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55664"/>
            <a:ext cx="10874959" cy="0"/>
          </a:xfrm>
          <a:prstGeom prst="line">
            <a:avLst/>
          </a:prstGeom>
          <a:ln w="7620">
            <a:solidFill>
              <a:srgbClr val="DD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5196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集合 D 与函数增长 · 第 19 题解析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519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altLang="en-US">
                <a:solidFill>
                  <a:srgbClr val="62717C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第19题：集合D与函数增长</dc:title>
  <dc:subject>高三数学新定义压轴题解析</dc:subject>
  <dc:creator>AI 教学助理</dc:creator>
  <cp:keywords>集合D, 函数单调性, 反证法, 高考数学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