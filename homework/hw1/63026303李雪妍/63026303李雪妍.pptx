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68312" y="1490472"/>
            <a:ext cx="4242816" cy="4242816"/>
          </a:xfrm>
          <a:prstGeom prst="ellipse">
            <a:avLst/>
          </a:prstGeom>
          <a:noFill/>
          <a:ln w="12700">
            <a:solidFill>
              <a:srgbClr val="E6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74447" y="2296607"/>
            <a:ext cx="2630545" cy="2630545"/>
          </a:xfrm>
          <a:prstGeom prst="ellipse">
            <a:avLst/>
          </a:prstGeom>
          <a:noFill/>
          <a:ln w="10160">
            <a:solidFill>
              <a:srgbClr val="EF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818120" y="2148840"/>
            <a:ext cx="731520" cy="1005840"/>
          </a:xfrm>
          <a:prstGeom prst="line">
            <a:avLst/>
          </a:prstGeom>
          <a:ln w="11430">
            <a:solidFill>
              <a:srgbClr val="EAD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0" y="1874519"/>
            <a:ext cx="91440" cy="2651761"/>
          </a:xfrm>
          <a:prstGeom prst="line">
            <a:avLst/>
          </a:prstGeom>
          <a:ln w="11430">
            <a:solidFill>
              <a:srgbClr val="EAD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61320" y="2697480"/>
            <a:ext cx="182880" cy="2011680"/>
          </a:xfrm>
          <a:prstGeom prst="line">
            <a:avLst/>
          </a:prstGeom>
          <a:ln w="11430">
            <a:solidFill>
              <a:srgbClr val="EAD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269480" y="3794760"/>
            <a:ext cx="731520" cy="1280160"/>
          </a:xfrm>
          <a:prstGeom prst="line">
            <a:avLst/>
          </a:prstGeom>
          <a:ln w="11430">
            <a:solidFill>
              <a:srgbClr val="EAD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49640" y="3154680"/>
            <a:ext cx="548640" cy="2286000"/>
          </a:xfrm>
          <a:prstGeom prst="line">
            <a:avLst/>
          </a:prstGeom>
          <a:ln w="11430">
            <a:solidFill>
              <a:srgbClr val="EAD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269480" y="2148840"/>
            <a:ext cx="548640" cy="1645920"/>
          </a:xfrm>
          <a:prstGeom prst="line">
            <a:avLst/>
          </a:prstGeom>
          <a:ln w="11430">
            <a:solidFill>
              <a:srgbClr val="EAD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549640" y="2697480"/>
            <a:ext cx="2011680" cy="457200"/>
          </a:xfrm>
          <a:prstGeom prst="line">
            <a:avLst/>
          </a:prstGeom>
          <a:ln w="11430">
            <a:solidFill>
              <a:srgbClr val="EADF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49640" y="3154680"/>
            <a:ext cx="2194560" cy="1554480"/>
          </a:xfrm>
          <a:prstGeom prst="line">
            <a:avLst/>
          </a:prstGeom>
          <a:ln w="2286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785201" y="2115921"/>
            <a:ext cx="65836" cy="65836"/>
          </a:xfrm>
          <a:prstGeom prst="ellipse">
            <a:avLst/>
          </a:prstGeom>
          <a:solidFill>
            <a:srgbClr val="7D8B97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39681" y="1841601"/>
            <a:ext cx="65836" cy="65836"/>
          </a:xfrm>
          <a:prstGeom prst="ellipse">
            <a:avLst/>
          </a:prstGeom>
          <a:solidFill>
            <a:srgbClr val="7D8B97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28401" y="2664561"/>
            <a:ext cx="65836" cy="65836"/>
          </a:xfrm>
          <a:prstGeom prst="ellipse">
            <a:avLst/>
          </a:prstGeom>
          <a:solidFill>
            <a:srgbClr val="7D8B97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6561" y="3761841"/>
            <a:ext cx="65836" cy="65836"/>
          </a:xfrm>
          <a:prstGeom prst="ellipse">
            <a:avLst/>
          </a:prstGeom>
          <a:solidFill>
            <a:srgbClr val="7D8B97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7" y="3035808"/>
            <a:ext cx="237744" cy="237744"/>
          </a:xfrm>
          <a:prstGeom prst="ellipse">
            <a:avLst/>
          </a:prstGeom>
          <a:noFill/>
          <a:ln w="1270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5748" y="3110788"/>
            <a:ext cx="87782" cy="87782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31121" y="4493361"/>
            <a:ext cx="65836" cy="65836"/>
          </a:xfrm>
          <a:prstGeom prst="ellipse">
            <a:avLst/>
          </a:prstGeom>
          <a:solidFill>
            <a:srgbClr val="7D8B97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5328" y="4590288"/>
            <a:ext cx="237744" cy="237744"/>
          </a:xfrm>
          <a:prstGeom prst="ellipse">
            <a:avLst/>
          </a:prstGeom>
          <a:noFill/>
          <a:ln w="1270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00308" y="4665268"/>
            <a:ext cx="87782" cy="87782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68081" y="5042001"/>
            <a:ext cx="65836" cy="65836"/>
          </a:xfrm>
          <a:prstGeom prst="ellipse">
            <a:avLst/>
          </a:prstGeom>
          <a:solidFill>
            <a:srgbClr val="7D8B97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65361" y="5407761"/>
            <a:ext cx="65836" cy="65836"/>
          </a:xfrm>
          <a:prstGeom prst="ellipse">
            <a:avLst/>
          </a:prstGeom>
          <a:solidFill>
            <a:srgbClr val="7D8B97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713232"/>
            <a:ext cx="6400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220">
                <a:solidFill>
                  <a:srgbClr val="B23A2E"/>
                </a:solidFill>
                <a:latin typeface="Microsoft YaHei"/>
                <a:ea typeface="Microsoft YaHei"/>
              </a:rPr>
              <a:t>组合几何 · 一条普通线的 120 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115568"/>
            <a:ext cx="5760720" cy="21031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324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1B2A3A"/>
                </a:solidFill>
                <a:latin typeface="Microsoft YaHei"/>
                <a:ea typeface="Microsoft YaHei"/>
              </a:rPr>
              <a:t>至少有一条</a:t>
            </a:r>
          </a:p>
          <a:p>
            <a:pPr algn="l">
              <a:lnSpc>
                <a:spcPts val="6324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1B2A3A"/>
                </a:solidFill>
                <a:latin typeface="Microsoft YaHei"/>
                <a:ea typeface="Microsoft YaHei"/>
              </a:rPr>
              <a:t>普通线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" y="3310128"/>
            <a:ext cx="1234440" cy="3200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529584"/>
            <a:ext cx="5486400" cy="10972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6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E2C23"/>
                </a:solidFill>
                <a:latin typeface="Microsoft YaHei"/>
                <a:ea typeface="Microsoft YaHei"/>
              </a:rPr>
              <a:t>Sylvester–Gallai 定理</a:t>
            </a:r>
          </a:p>
          <a:p>
            <a:pPr algn="l">
              <a:lnSpc>
                <a:spcPts val="21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43566A"/>
                </a:solidFill>
                <a:latin typeface="Microsoft YaHei"/>
                <a:ea typeface="Microsoft YaHei"/>
              </a:rPr>
              <a:t>从 1893 年的一纸提问，到 2013 年的 n/2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38928"/>
            <a:ext cx="5394960" cy="8229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60">
                <a:solidFill>
                  <a:srgbClr val="8B8272"/>
                </a:solidFill>
                <a:latin typeface="Microsoft YaHei"/>
                <a:ea typeface="Microsoft YaHei"/>
              </a:rPr>
              <a:t>问题 · 证明 · 加强 · 计算验证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一道关于“存在性”的题，答案只有一行反证法那么长。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01  /  问题的提出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一个“几乎不可能”的断言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02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539496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43566A"/>
                </a:solidFill>
                <a:latin typeface="Microsoft YaHei"/>
                <a:ea typeface="Microsoft YaHei"/>
              </a:rPr>
              <a:t>1893 年，Sylvester 在《教育时报》写下“数学问题 11851”：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95728"/>
            <a:ext cx="5532120" cy="1481328"/>
          </a:xfrm>
          <a:prstGeom prst="roundRect">
            <a:avLst>
              <a:gd name="adj" fmla="val 3703"/>
            </a:avLst>
          </a:prstGeom>
          <a:solidFill>
            <a:srgbClr val="FFFCF5"/>
          </a:solidFill>
          <a:ln w="10160">
            <a:solidFill>
              <a:srgbClr val="E2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395728"/>
            <a:ext cx="45720" cy="1481328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578608"/>
            <a:ext cx="5074920" cy="8229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B2A3A"/>
                </a:solidFill>
                <a:latin typeface="Microsoft YaHei"/>
                <a:ea typeface="Microsoft YaHei"/>
              </a:rPr>
              <a:t>“平面上有限个不共线的点，是否总能找到一条恰</a:t>
            </a:r>
          </a:p>
          <a:p>
            <a:pPr algn="l">
              <a:lnSpc>
                <a:spcPts val="2557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B2A3A"/>
                </a:solidFill>
                <a:latin typeface="Microsoft YaHei"/>
                <a:ea typeface="Microsoft YaHei"/>
              </a:rPr>
              <a:t>好穿过其中两个点的直线？”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20440"/>
            <a:ext cx="4846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2"/>
                </a:solidFill>
                <a:latin typeface="Microsoft YaHei"/>
                <a:ea typeface="Microsoft YaHei"/>
              </a:rPr>
              <a:t>—— J. J. Sylvester, 1893</a:t>
            </a:r>
          </a:p>
        </p:txBody>
      </p:sp>
      <p:sp>
        <p:nvSpPr>
          <p:cNvPr id="14" name="Oval 13"/>
          <p:cNvSpPr/>
          <p:nvPr/>
        </p:nvSpPr>
        <p:spPr>
          <a:xfrm>
            <a:off x="918972" y="4229100"/>
            <a:ext cx="64008" cy="64008"/>
          </a:xfrm>
          <a:prstGeom prst="ellipse">
            <a:avLst/>
          </a:prstGeom>
          <a:solidFill>
            <a:srgbClr val="B23A2E"/>
          </a:solidFill>
          <a:ln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133087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23A2E"/>
                </a:solidFill>
                <a:latin typeface="Microsoft YaHei"/>
                <a:ea typeface="Microsoft YaHei"/>
              </a:rPr>
              <a:t>直觉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123944"/>
            <a:ext cx="452628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点越多，直线越“拥挤”，恰好两个点像是小概率事件。</a:t>
            </a:r>
          </a:p>
        </p:txBody>
      </p:sp>
      <p:sp>
        <p:nvSpPr>
          <p:cNvPr id="17" name="Oval 16"/>
          <p:cNvSpPr/>
          <p:nvPr/>
        </p:nvSpPr>
        <p:spPr>
          <a:xfrm>
            <a:off x="918972" y="4942332"/>
            <a:ext cx="64008" cy="64008"/>
          </a:xfrm>
          <a:prstGeom prst="ellipse">
            <a:avLst/>
          </a:prstGeom>
          <a:solidFill>
            <a:srgbClr val="B23A2E"/>
          </a:solidFill>
          <a:ln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846320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23A2E"/>
                </a:solidFill>
                <a:latin typeface="Microsoft YaHei"/>
                <a:ea typeface="Microsoft YaHei"/>
              </a:rPr>
              <a:t>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837176"/>
            <a:ext cx="452628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随手画 7 个点、两两连线，却总能撞见这样一条线。</a:t>
            </a:r>
          </a:p>
        </p:txBody>
      </p:sp>
      <p:sp>
        <p:nvSpPr>
          <p:cNvPr id="20" name="Oval 19"/>
          <p:cNvSpPr/>
          <p:nvPr/>
        </p:nvSpPr>
        <p:spPr>
          <a:xfrm>
            <a:off x="918972" y="5655564"/>
            <a:ext cx="64008" cy="64008"/>
          </a:xfrm>
          <a:prstGeom prst="ellipse">
            <a:avLst/>
          </a:prstGeom>
          <a:solidFill>
            <a:srgbClr val="B23A2E"/>
          </a:solidFill>
          <a:ln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5559552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23A2E"/>
                </a:solidFill>
                <a:latin typeface="Microsoft YaHei"/>
                <a:ea typeface="Microsoft YaHei"/>
              </a:rPr>
              <a:t>结局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5550408"/>
            <a:ext cx="452628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它不是巧合。1944 年，Gallai 给出了一个极短的证明。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543800" y="2029968"/>
            <a:ext cx="1188720" cy="301752"/>
          </a:xfrm>
          <a:prstGeom prst="line">
            <a:avLst/>
          </a:prstGeom>
          <a:ln w="12700">
            <a:solidFill>
              <a:srgbClr val="E3D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32520" y="2029968"/>
            <a:ext cx="1371600" cy="576072"/>
          </a:xfrm>
          <a:prstGeom prst="line">
            <a:avLst/>
          </a:prstGeom>
          <a:ln w="12700">
            <a:solidFill>
              <a:srgbClr val="E3D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43800" y="2331720"/>
            <a:ext cx="338327" cy="1371600"/>
          </a:xfrm>
          <a:prstGeom prst="line">
            <a:avLst/>
          </a:prstGeom>
          <a:ln w="12700">
            <a:solidFill>
              <a:srgbClr val="E3D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882127" y="3611880"/>
            <a:ext cx="1444753" cy="91440"/>
          </a:xfrm>
          <a:prstGeom prst="line">
            <a:avLst/>
          </a:prstGeom>
          <a:ln w="12700">
            <a:solidFill>
              <a:srgbClr val="E3D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04120" y="2606040"/>
            <a:ext cx="640080" cy="1371599"/>
          </a:xfrm>
          <a:prstGeom prst="line">
            <a:avLst/>
          </a:prstGeom>
          <a:ln w="12700">
            <a:solidFill>
              <a:srgbClr val="E3D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796528" y="3977639"/>
            <a:ext cx="1947672" cy="914401"/>
          </a:xfrm>
          <a:prstGeom prst="line">
            <a:avLst/>
          </a:prstGeom>
          <a:ln w="12700">
            <a:solidFill>
              <a:srgbClr val="E3D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796528" y="3611880"/>
            <a:ext cx="530352" cy="1280160"/>
          </a:xfrm>
          <a:prstGeom prst="line">
            <a:avLst/>
          </a:prstGeom>
          <a:ln w="12700">
            <a:solidFill>
              <a:srgbClr val="E3D8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43800" y="2331720"/>
            <a:ext cx="3200400" cy="1645919"/>
          </a:xfrm>
          <a:prstGeom prst="line">
            <a:avLst/>
          </a:prstGeom>
          <a:ln w="2413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429500" y="2217420"/>
            <a:ext cx="228600" cy="228600"/>
          </a:xfrm>
          <a:prstGeom prst="ellipse">
            <a:avLst/>
          </a:prstGeom>
          <a:noFill/>
          <a:ln w="1270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00823" y="2288743"/>
            <a:ext cx="85953" cy="85953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95944" y="1993392"/>
            <a:ext cx="73152" cy="73152"/>
          </a:xfrm>
          <a:prstGeom prst="ellipse">
            <a:avLst/>
          </a:prstGeom>
          <a:solidFill>
            <a:srgbClr val="6F7F8C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67544" y="2569464"/>
            <a:ext cx="73152" cy="73152"/>
          </a:xfrm>
          <a:prstGeom prst="ellipse">
            <a:avLst/>
          </a:prstGeom>
          <a:solidFill>
            <a:srgbClr val="6F7F8C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45552" y="3666744"/>
            <a:ext cx="73152" cy="73152"/>
          </a:xfrm>
          <a:prstGeom prst="ellipse">
            <a:avLst/>
          </a:prstGeom>
          <a:solidFill>
            <a:srgbClr val="6F7F8C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90304" y="3575304"/>
            <a:ext cx="73152" cy="73152"/>
          </a:xfrm>
          <a:prstGeom prst="ellipse">
            <a:avLst/>
          </a:prstGeom>
          <a:solidFill>
            <a:srgbClr val="6F7F8C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29900" y="3863339"/>
            <a:ext cx="228600" cy="228600"/>
          </a:xfrm>
          <a:prstGeom prst="ellipse">
            <a:avLst/>
          </a:prstGeom>
          <a:noFill/>
          <a:ln w="1270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01223" y="3934663"/>
            <a:ext cx="85953" cy="85953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59952" y="4855464"/>
            <a:ext cx="73152" cy="73152"/>
          </a:xfrm>
          <a:prstGeom prst="ellipse">
            <a:avLst/>
          </a:prstGeom>
          <a:solidFill>
            <a:srgbClr val="6F7F8C"/>
          </a:solidFill>
          <a:ln w="1270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5650992"/>
            <a:ext cx="4023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Microsoft YaHei"/>
                <a:ea typeface="Microsoft YaHei"/>
              </a:rPr>
              <a:t>红线恰好经过 2 个点 —— 这就是一条“普通线”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02  /  形式化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把直觉写成命题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74519"/>
            <a:ext cx="5806440" cy="1572768"/>
          </a:xfrm>
          <a:prstGeom prst="roundRect">
            <a:avLst>
              <a:gd name="adj" fmla="val 2906"/>
            </a:avLst>
          </a:prstGeom>
          <a:solidFill>
            <a:srgbClr val="FFFCF5"/>
          </a:solidFill>
          <a:ln w="10160">
            <a:solidFill>
              <a:srgbClr val="E2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20116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>
                <a:solidFill>
                  <a:srgbClr val="B23A2E"/>
                </a:solidFill>
                <a:latin typeface="Microsoft YaHei"/>
                <a:ea typeface="Microsoft YaHei"/>
              </a:rPr>
              <a:t>定义 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67712"/>
            <a:ext cx="534924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A3A"/>
                </a:solidFill>
                <a:latin typeface="Microsoft YaHei"/>
                <a:ea typeface="Microsoft YaHei"/>
              </a:rPr>
              <a:t>设 S 是平面上的有限点集。若直线 ℓ 经过 S 中至少两个点，且</a:t>
            </a:r>
          </a:p>
          <a:p>
            <a:pPr algn="l">
              <a:lnSpc>
                <a:spcPts val="2247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A3A"/>
                </a:solidFill>
                <a:latin typeface="Microsoft YaHei"/>
                <a:ea typeface="Microsoft YaHei"/>
              </a:rPr>
              <a:t>恰好只经过两个点，则称 ℓ 为 S 的一条普通线。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76288" y="1874519"/>
            <a:ext cx="4443984" cy="1572768"/>
          </a:xfrm>
          <a:prstGeom prst="roundRect">
            <a:avLst>
              <a:gd name="adj" fmla="val 2906"/>
            </a:avLst>
          </a:prstGeom>
          <a:solidFill>
            <a:srgbClr val="FBF3E3"/>
          </a:solidFill>
          <a:ln w="11430">
            <a:solidFill>
              <a:srgbClr val="E4D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76288" y="1874519"/>
            <a:ext cx="50292" cy="1572768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011680"/>
            <a:ext cx="20116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>
                <a:solidFill>
                  <a:srgbClr val="B08A3E"/>
                </a:solidFill>
                <a:latin typeface="Microsoft YaHei"/>
                <a:ea typeface="Microsoft YaHei"/>
              </a:rPr>
              <a:t>定理  THEOREM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2267712"/>
            <a:ext cx="402336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Microsoft YaHei"/>
                <a:ea typeface="Microsoft YaHei"/>
              </a:rPr>
              <a:t>设 |S| = n ≥ 3。若 S 不全共线，则 S 至少确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Microsoft YaHei"/>
                <a:ea typeface="Microsoft YaHei"/>
              </a:rPr>
              <a:t>定一条普通线。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22191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8A3E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794760"/>
            <a:ext cx="2926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3A"/>
                </a:solidFill>
                <a:latin typeface="Microsoft YaHei"/>
                <a:ea typeface="Microsoft YaHei"/>
              </a:rPr>
              <a:t>条件不可省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160520"/>
            <a:ext cx="292608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全部点共线时，普通线为 0 条；“不全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共线”是结论成立的前提。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3822191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8A3E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3794760"/>
            <a:ext cx="2926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3A"/>
                </a:solidFill>
                <a:latin typeface="Microsoft YaHei"/>
                <a:ea typeface="Microsoft YaHei"/>
              </a:rPr>
              <a:t>“恰好两个”是核心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4160520"/>
            <a:ext cx="292608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三点共线会把一条候选线“吃掉”。非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普通线越多，普通线越少。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3822191"/>
            <a:ext cx="640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8A3E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794760"/>
            <a:ext cx="2926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95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3A"/>
                </a:solidFill>
                <a:latin typeface="Microsoft YaHei"/>
                <a:ea typeface="Microsoft YaHei"/>
              </a:rPr>
              <a:t>这是存在性结论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160520"/>
            <a:ext cx="292608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证明不指出普通线在哪里，只断言：它</a:t>
            </a:r>
          </a:p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一定存在。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60520" y="3822191"/>
            <a:ext cx="0" cy="1344169"/>
          </a:xfrm>
          <a:prstGeom prst="line">
            <a:avLst/>
          </a:prstGeom>
          <a:ln w="1016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43800" y="3822191"/>
            <a:ext cx="0" cy="1344169"/>
          </a:xfrm>
          <a:prstGeom prst="line">
            <a:avLst/>
          </a:prstGeom>
          <a:ln w="1016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8680" y="5468112"/>
            <a:ext cx="10451592" cy="658368"/>
          </a:xfrm>
          <a:prstGeom prst="roundRect">
            <a:avLst>
              <a:gd name="adj" fmla="val 4166"/>
            </a:avLst>
          </a:prstGeom>
          <a:solidFill>
            <a:srgbClr val="F1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605272"/>
            <a:ext cx="100126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等价说法：若 S 中每条由点确定的直线都至少含 3 个点，则 S 的全部点共线。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03  /  先看例子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让点“排队”，普通线反而变少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04 / 14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4709160"/>
            <a:ext cx="4846320" cy="0"/>
          </a:xfrm>
          <a:prstGeom prst="line">
            <a:avLst/>
          </a:prstGeom>
          <a:ln w="22860">
            <a:solidFill>
              <a:srgbClr val="1B2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828800" y="2514600"/>
            <a:ext cx="1920239" cy="2194560"/>
          </a:xfrm>
          <a:prstGeom prst="line">
            <a:avLst/>
          </a:prstGeom>
          <a:ln w="1397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788920" y="2514600"/>
            <a:ext cx="960119" cy="2194560"/>
          </a:xfrm>
          <a:prstGeom prst="line">
            <a:avLst/>
          </a:prstGeom>
          <a:ln w="1397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39" y="2514600"/>
            <a:ext cx="0" cy="2194560"/>
          </a:xfrm>
          <a:prstGeom prst="line">
            <a:avLst/>
          </a:prstGeom>
          <a:ln w="1397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49039" y="2514600"/>
            <a:ext cx="960121" cy="2194560"/>
          </a:xfrm>
          <a:prstGeom prst="line">
            <a:avLst/>
          </a:prstGeom>
          <a:ln w="1397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775764" y="4656124"/>
            <a:ext cx="106070" cy="10607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35884" y="4656124"/>
            <a:ext cx="106070" cy="10607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96004" y="4656124"/>
            <a:ext cx="106070" cy="10607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6124" y="4656124"/>
            <a:ext cx="106070" cy="10607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2347" y="2457907"/>
            <a:ext cx="113385" cy="113385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1" y="2121408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23A2E"/>
                </a:solidFill>
                <a:latin typeface="Microsoft YaHei"/>
                <a:ea typeface="Microsoft YaHei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325112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Microsoft YaHei"/>
                <a:ea typeface="Microsoft YaHei"/>
              </a:rPr>
              <a:t>ℓ：4 点共线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46120"/>
            <a:ext cx="1828800" cy="8229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E2C23"/>
                </a:solidFill>
                <a:latin typeface="Microsoft YaHei"/>
                <a:ea typeface="Microsoft YaHei"/>
              </a:rPr>
              <a:t>4 条红线
都是普通线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431536"/>
            <a:ext cx="51206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2"/>
                </a:solidFill>
                <a:latin typeface="Microsoft YaHei"/>
                <a:ea typeface="Microsoft YaHei"/>
              </a:rPr>
              <a:t>共线的 4 个点只贡献 1 条直线，且它不是普通线。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01952"/>
            <a:ext cx="448056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3A"/>
                </a:solidFill>
                <a:latin typeface="Microsoft YaHei"/>
                <a:ea typeface="Microsoft YaHei"/>
              </a:rPr>
              <a:t>5 个点：4 个排成一线，另 1 个在线外。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42032"/>
            <a:ext cx="4389120" cy="1143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外部点与线上每个点各连一条线，共 4 条；每条都恰好</a:t>
            </a: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经过 2 个点，恰好都是普通线。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3675887"/>
            <a:ext cx="4434840" cy="1417320"/>
          </a:xfrm>
          <a:prstGeom prst="roundRect">
            <a:avLst>
              <a:gd name="adj" fmla="val 3225"/>
            </a:avLst>
          </a:prstGeom>
          <a:solidFill>
            <a:srgbClr val="FFFCF5"/>
          </a:solidFill>
          <a:ln w="10160">
            <a:solidFill>
              <a:srgbClr val="E2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3794760"/>
            <a:ext cx="17373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40">
                <a:solidFill>
                  <a:srgbClr val="8B8272"/>
                </a:solidFill>
                <a:latin typeface="Microsoft YaHei"/>
                <a:ea typeface="Microsoft YaHei"/>
              </a:rPr>
              <a:t>普通线数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069080"/>
            <a:ext cx="118872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B23A2E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4224528"/>
            <a:ext cx="310896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B2A3A"/>
                </a:solidFill>
                <a:latin typeface="Georgia"/>
                <a:ea typeface="Georgia"/>
              </a:rPr>
              <a:t>= n − 1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663440"/>
            <a:ext cx="30175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Microsoft YaHei"/>
                <a:ea typeface="Microsoft YaHei"/>
              </a:rPr>
              <a:t>当 n = 5 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742432"/>
            <a:ext cx="10451592" cy="475488"/>
          </a:xfrm>
          <a:prstGeom prst="roundRect">
            <a:avLst>
              <a:gd name="adj" fmla="val 5769"/>
            </a:avLst>
          </a:prstGeom>
          <a:solidFill>
            <a:srgbClr val="F1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852160"/>
            <a:ext cx="10058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问题：把点排得更“省”，普通线能否少于 n − 1？  n = 7 时，答案低至 3。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04  /  边界在哪里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Fano 平面：0 条普通线的“反例”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05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5074920" cy="21031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A3A"/>
                </a:solidFill>
                <a:latin typeface="Microsoft YaHei"/>
                <a:ea typeface="Microsoft YaHei"/>
              </a:rPr>
              <a:t>换一个几何世界，定理立刻失效。</a:t>
            </a:r>
          </a:p>
          <a:p>
            <a:pPr algn="l">
              <a:lnSpc>
                <a:spcPts val="2092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在二元域 GF(2) 的射影平面 PG(2,2) 中，存在 7 个点、7 条线：</a:t>
            </a: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每条线恰好含 3 个点，每一对点恰好落在一条线上。</a:t>
            </a:r>
          </a:p>
          <a:p>
            <a:pPr algn="l">
              <a:lnSpc>
                <a:spcPts val="1889"/>
              </a:lnSpc>
              <a:spcBef>
                <a:spcPts val="800"/>
              </a:spcBef>
              <a:spcAft>
                <a:spcPts val="0"/>
              </a:spcAft>
            </a:pPr>
            <a:r>
              <a:rPr sz="1350" b="1" i="0">
                <a:solidFill>
                  <a:srgbClr val="8E2C23"/>
                </a:solidFill>
                <a:latin typeface="Microsoft YaHei"/>
                <a:ea typeface="Microsoft YaHei"/>
              </a:rPr>
              <a:t>于是普通线的数量是 0。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9144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2A3A"/>
                </a:solidFill>
                <a:latin typeface="Georgia"/>
                <a:ea typeface="Georg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4315968"/>
            <a:ext cx="10058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Microsoft YaHei"/>
                <a:ea typeface="Microsoft YaHei"/>
              </a:rPr>
              <a:t>个点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114800"/>
            <a:ext cx="9144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2A3A"/>
                </a:solidFill>
                <a:latin typeface="Georgia"/>
                <a:ea typeface="Georgia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4315968"/>
            <a:ext cx="10058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Microsoft YaHei"/>
                <a:ea typeface="Microsoft YaHei"/>
              </a:rPr>
              <a:t>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4114800"/>
            <a:ext cx="9144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2A3A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4315968"/>
            <a:ext cx="10058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Microsoft YaHei"/>
                <a:ea typeface="Microsoft YaHei"/>
              </a:rPr>
              <a:t>点 / 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502920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它无法用实数平面上的直线画出。定理失效的地方，正是“顺序”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3566A"/>
                </a:solidFill>
                <a:latin typeface="Microsoft YaHei"/>
                <a:ea typeface="Microsoft YaHei"/>
              </a:rPr>
              <a:t>和“距离”消失的地方。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452360" y="2194560"/>
            <a:ext cx="1463040" cy="2651760"/>
          </a:xfrm>
          <a:prstGeom prst="line">
            <a:avLst/>
          </a:prstGeom>
          <a:ln w="15240">
            <a:solidFill>
              <a:srgbClr val="71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4846320"/>
            <a:ext cx="2926080" cy="0"/>
          </a:xfrm>
          <a:prstGeom prst="line">
            <a:avLst/>
          </a:prstGeom>
          <a:ln w="15240">
            <a:solidFill>
              <a:srgbClr val="71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8915400" y="2194560"/>
            <a:ext cx="1463040" cy="2651760"/>
          </a:xfrm>
          <a:prstGeom prst="line">
            <a:avLst/>
          </a:prstGeom>
          <a:ln w="15240">
            <a:solidFill>
              <a:srgbClr val="71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15400" y="2194560"/>
            <a:ext cx="0" cy="2651760"/>
          </a:xfrm>
          <a:prstGeom prst="line">
            <a:avLst/>
          </a:prstGeom>
          <a:ln w="15240">
            <a:solidFill>
              <a:srgbClr val="71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52360" y="3520439"/>
            <a:ext cx="2194560" cy="1325881"/>
          </a:xfrm>
          <a:prstGeom prst="line">
            <a:avLst/>
          </a:prstGeom>
          <a:ln w="15240">
            <a:solidFill>
              <a:srgbClr val="71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8183879" y="3520439"/>
            <a:ext cx="2194561" cy="1325881"/>
          </a:xfrm>
          <a:prstGeom prst="line">
            <a:avLst/>
          </a:prstGeom>
          <a:ln w="15240">
            <a:solidFill>
              <a:srgbClr val="71818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050661" y="3116842"/>
            <a:ext cx="1729477" cy="1729477"/>
          </a:xfrm>
          <a:prstGeom prst="ellipse">
            <a:avLst/>
          </a:prstGeom>
          <a:noFill/>
          <a:ln w="17780">
            <a:solidFill>
              <a:srgbClr val="B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69680" y="2148840"/>
            <a:ext cx="91440" cy="9144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92024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7406640" y="4800600"/>
            <a:ext cx="91440" cy="9144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14616" y="4956048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10332719" y="4800600"/>
            <a:ext cx="91440" cy="9144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88167" y="4956048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8138159" y="3474720"/>
            <a:ext cx="91440" cy="9144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538727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D</a:t>
            </a:r>
          </a:p>
        </p:txBody>
      </p:sp>
      <p:sp>
        <p:nvSpPr>
          <p:cNvPr id="32" name="Oval 31"/>
          <p:cNvSpPr/>
          <p:nvPr/>
        </p:nvSpPr>
        <p:spPr>
          <a:xfrm>
            <a:off x="8869680" y="4800600"/>
            <a:ext cx="91440" cy="9144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502920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0" y="3474720"/>
            <a:ext cx="91440" cy="9144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6648" y="3319271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F</a:t>
            </a:r>
          </a:p>
        </p:txBody>
      </p:sp>
      <p:sp>
        <p:nvSpPr>
          <p:cNvPr id="36" name="Oval 35"/>
          <p:cNvSpPr/>
          <p:nvPr/>
        </p:nvSpPr>
        <p:spPr>
          <a:xfrm>
            <a:off x="8869680" y="3916680"/>
            <a:ext cx="91440" cy="9144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5128" y="3742943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532120"/>
            <a:ext cx="36576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2"/>
                </a:solidFill>
                <a:latin typeface="Microsoft YaHei"/>
                <a:ea typeface="Microsoft YaHei"/>
              </a:rPr>
              <a:t>第 7 条线画成了圆：在 GF(2) 里，它同样是一条“直线”。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05  /  证明策略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反设之后，挑一个“最极端”的对象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06 / 14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1920240"/>
            <a:ext cx="310896" cy="310896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310896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8F4EB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1883664"/>
            <a:ext cx="4526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3A"/>
                </a:solidFill>
                <a:latin typeface="Microsoft YaHei"/>
                <a:ea typeface="Microsoft YaHei"/>
              </a:rPr>
              <a:t>反设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194560"/>
            <a:ext cx="4956048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3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3566A"/>
                </a:solidFill>
                <a:latin typeface="Microsoft YaHei"/>
                <a:ea typeface="Microsoft YaHei"/>
              </a:rPr>
              <a:t>假设没有普通线。于是每条由 S 确定的直线，都至少含 3 个点。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3182112"/>
            <a:ext cx="310896" cy="310896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27832"/>
            <a:ext cx="310896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8F4EB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145536"/>
            <a:ext cx="4526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8E2C23"/>
                </a:solidFill>
                <a:latin typeface="Microsoft YaHei"/>
                <a:ea typeface="Microsoft YaHei"/>
              </a:rPr>
              <a:t>取极端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456432"/>
            <a:ext cx="4956048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3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3566A"/>
                </a:solidFill>
                <a:latin typeface="Microsoft YaHei"/>
                <a:ea typeface="Microsoft YaHei"/>
              </a:rPr>
              <a:t>因为 S 不全共线，存在由 S 确定的直线 ℓ 和点 P ∉ ℓ。在所有这些</a:t>
            </a:r>
          </a:p>
          <a:p>
            <a:pPr algn="l">
              <a:lnSpc>
                <a:spcPts val="1953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3566A"/>
                </a:solidFill>
                <a:latin typeface="Microsoft YaHei"/>
                <a:ea typeface="Microsoft YaHei"/>
              </a:rPr>
              <a:t>(P, ℓ) 中，取距离 d = dist(P, ℓ) 最小的一对。</a:t>
            </a:r>
          </a:p>
        </p:txBody>
      </p:sp>
      <p:sp>
        <p:nvSpPr>
          <p:cNvPr id="17" name="Oval 16"/>
          <p:cNvSpPr/>
          <p:nvPr/>
        </p:nvSpPr>
        <p:spPr>
          <a:xfrm>
            <a:off x="886968" y="4443983"/>
            <a:ext cx="310896" cy="310896"/>
          </a:xfrm>
          <a:prstGeom prst="ellipse">
            <a:avLst/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489704"/>
            <a:ext cx="310896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8F4EB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407408"/>
            <a:ext cx="4526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A3A"/>
                </a:solidFill>
                <a:latin typeface="Microsoft YaHei"/>
                <a:ea typeface="Microsoft YaHei"/>
              </a:rPr>
              <a:t>用结构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718304"/>
            <a:ext cx="4956048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3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3566A"/>
                </a:solidFill>
                <a:latin typeface="Microsoft YaHei"/>
                <a:ea typeface="Microsoft YaHei"/>
              </a:rPr>
              <a:t>ℓ 上至少有 3 个 S 中的点，记为 A、B、C；设 H 是 P 在 ℓ 上的垂足。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504688"/>
            <a:ext cx="5440680" cy="566928"/>
          </a:xfrm>
          <a:prstGeom prst="roundRect">
            <a:avLst>
              <a:gd name="adj" fmla="val 4838"/>
            </a:avLst>
          </a:prstGeom>
          <a:solidFill>
            <a:srgbClr val="F1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614416"/>
            <a:ext cx="51206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566A"/>
                </a:solidFill>
                <a:latin typeface="Microsoft YaHei"/>
                <a:ea typeface="Microsoft YaHei"/>
              </a:rPr>
              <a:t>为什么选最小距离？因为接下来要造出一个更小的距离。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37960" y="4956048"/>
            <a:ext cx="4846320" cy="0"/>
          </a:xfrm>
          <a:prstGeom prst="line">
            <a:avLst/>
          </a:prstGeom>
          <a:ln w="22860">
            <a:solidFill>
              <a:srgbClr val="1B2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98280" y="2542032"/>
            <a:ext cx="0" cy="2414016"/>
          </a:xfrm>
          <a:prstGeom prst="line">
            <a:avLst/>
          </a:prstGeom>
          <a:ln w="13970">
            <a:solidFill>
              <a:srgbClr val="356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88552" y="4846320"/>
            <a:ext cx="219455" cy="0"/>
          </a:xfrm>
          <a:prstGeom prst="line">
            <a:avLst/>
          </a:prstGeom>
          <a:ln w="11430">
            <a:solidFill>
              <a:srgbClr val="356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88552" y="4846320"/>
            <a:ext cx="0" cy="109728"/>
          </a:xfrm>
          <a:prstGeom prst="line">
            <a:avLst/>
          </a:prstGeom>
          <a:ln w="11430">
            <a:solidFill>
              <a:srgbClr val="356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083296" y="4901184"/>
            <a:ext cx="109728" cy="109728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57815" y="4901184"/>
            <a:ext cx="109728" cy="109728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689336" y="4901184"/>
            <a:ext cx="109728" cy="109728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38844" y="2482596"/>
            <a:ext cx="118872" cy="118872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72676" y="4930444"/>
            <a:ext cx="51206" cy="51206"/>
          </a:xfrm>
          <a:prstGeom prst="ellipse">
            <a:avLst/>
          </a:prstGeom>
          <a:solidFill>
            <a:srgbClr val="35607A"/>
          </a:solidFill>
          <a:ln w="1016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7" y="2267712"/>
            <a:ext cx="3657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23A2E"/>
                </a:solidFill>
                <a:latin typeface="Microsoft YaHei"/>
                <a:ea typeface="Microsoft YaHei"/>
              </a:rPr>
              <a:t>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2" y="507492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566A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507492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566A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4472" y="507492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566A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5294376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607A"/>
                </a:solidFill>
                <a:latin typeface="Microsoft YaHei"/>
                <a:ea typeface="Microsoft YaHei"/>
              </a:rPr>
              <a:t>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657600"/>
            <a:ext cx="320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35607A"/>
                </a:solidFill>
                <a:latin typeface="Georgia"/>
                <a:ea typeface="Georgia"/>
              </a:rP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645152"/>
            <a:ext cx="3657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Microsoft YaHei"/>
                <a:ea typeface="Microsoft YaHei"/>
              </a:rPr>
              <a:t>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650992"/>
            <a:ext cx="47548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2"/>
                </a:solidFill>
                <a:latin typeface="Microsoft YaHei"/>
                <a:ea typeface="Microsoft YaHei"/>
              </a:rPr>
              <a:t>H 为垂足；ℓ 上这三点来自“每条线至少 3 点”的反设。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06  /  关键一步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为什么新距离一定更小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07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5257800" cy="10058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3566A"/>
                </a:solidFill>
                <a:latin typeface="Microsoft YaHei"/>
                <a:ea typeface="Microsoft YaHei"/>
              </a:rPr>
              <a:t>设 B、C 在 H 的同侧，且 |HB| = b &lt; c = |HC|。把 B 到直线 PC 的</a:t>
            </a:r>
          </a:p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3566A"/>
                </a:solidFill>
                <a:latin typeface="Microsoft YaHei"/>
                <a:ea typeface="Microsoft YaHei"/>
              </a:rPr>
              <a:t>距离记为 d′。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97480"/>
            <a:ext cx="5257800" cy="1207008"/>
          </a:xfrm>
          <a:prstGeom prst="roundRect">
            <a:avLst>
              <a:gd name="adj" fmla="val 3030"/>
            </a:avLst>
          </a:prstGeom>
          <a:solidFill>
            <a:srgbClr val="FBF3E3"/>
          </a:solidFill>
          <a:ln w="11430">
            <a:solidFill>
              <a:srgbClr val="E4D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846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140">
                <a:solidFill>
                  <a:srgbClr val="B08A3E"/>
                </a:solidFill>
                <a:latin typeface="Microsoft YaHei"/>
                <a:ea typeface="Microsoft YaHei"/>
              </a:rPr>
              <a:t>点到直线的距离公式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35808"/>
            <a:ext cx="480060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B2A3A"/>
                </a:solidFill>
                <a:latin typeface="Georgia"/>
                <a:ea typeface="Georgia"/>
              </a:rPr>
              <a:t>d′ = d(c − b) / √(d² + c²)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11296"/>
            <a:ext cx="4846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8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8B8272"/>
                </a:solidFill>
                <a:latin typeface="Microsoft YaHei"/>
                <a:ea typeface="Microsoft YaHei"/>
              </a:rPr>
              <a:t>取 H 为原点、ℓ 为 x 轴：PC: d·x + c·y − cd = 0，代入 B(b, 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5212080" cy="11887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A3A"/>
                </a:solidFill>
                <a:latin typeface="Microsoft YaHei"/>
                <a:ea typeface="Microsoft YaHei"/>
              </a:rPr>
              <a:t>因为 c − b &lt; c &lt; √(d² + c²)，所以 d′ &lt; d。</a:t>
            </a:r>
          </a:p>
          <a:p>
            <a:pPr algn="l">
              <a:lnSpc>
                <a:spcPts val="1984"/>
              </a:lnSpc>
              <a:spcBef>
                <a:spcPts val="600"/>
              </a:spcBef>
              <a:spcAft>
                <a:spcPts val="0"/>
              </a:spcAft>
            </a:pPr>
            <a:r>
              <a:rPr sz="1280" b="0" i="0">
                <a:solidFill>
                  <a:srgbClr val="43566A"/>
                </a:solidFill>
                <a:latin typeface="Microsoft YaHei"/>
                <a:ea typeface="Microsoft YaHei"/>
              </a:rPr>
              <a:t>又 B ∉ PC：直线 PC 与 ℓ 只交于 C，而 B ≠ C。于是 (B, PC) 是一个距</a:t>
            </a:r>
          </a:p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43566A"/>
                </a:solidFill>
                <a:latin typeface="Microsoft YaHei"/>
                <a:ea typeface="Microsoft YaHei"/>
              </a:rPr>
              <a:t>离更小的合法候选。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285232"/>
            <a:ext cx="5257800" cy="777240"/>
          </a:xfrm>
          <a:prstGeom prst="roundRect">
            <a:avLst>
              <a:gd name="adj" fmla="val 4705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431536"/>
            <a:ext cx="484632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7EA"/>
                </a:solidFill>
                <a:latin typeface="Microsoft YaHei"/>
                <a:ea typeface="Microsoft YaHei"/>
              </a:rPr>
              <a:t>与 d 的最小性矛盾。普通线必须存在。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4956048"/>
            <a:ext cx="4754880" cy="0"/>
          </a:xfrm>
          <a:prstGeom prst="line">
            <a:avLst/>
          </a:prstGeom>
          <a:ln w="22860">
            <a:solidFill>
              <a:srgbClr val="1B2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52560" y="2578608"/>
            <a:ext cx="1664208" cy="2377440"/>
          </a:xfrm>
          <a:prstGeom prst="line">
            <a:avLst/>
          </a:prstGeom>
          <a:ln w="2032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52560" y="2578608"/>
            <a:ext cx="0" cy="2377440"/>
          </a:xfrm>
          <a:prstGeom prst="line">
            <a:avLst/>
          </a:prstGeom>
          <a:ln w="13970">
            <a:solidFill>
              <a:srgbClr val="3560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0012680" y="4625268"/>
            <a:ext cx="472542" cy="330780"/>
          </a:xfrm>
          <a:prstGeom prst="line">
            <a:avLst/>
          </a:prstGeom>
          <a:ln w="15240">
            <a:solidFill>
              <a:srgbClr val="B23A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42832" y="4846320"/>
            <a:ext cx="219456" cy="0"/>
          </a:xfrm>
          <a:prstGeom prst="line">
            <a:avLst/>
          </a:prstGeom>
          <a:ln w="11430">
            <a:solidFill>
              <a:srgbClr val="356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42832" y="4846320"/>
            <a:ext cx="0" cy="109728"/>
          </a:xfrm>
          <a:prstGeom prst="line">
            <a:avLst/>
          </a:prstGeom>
          <a:ln w="11430">
            <a:solidFill>
              <a:srgbClr val="3560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959644" y="4903012"/>
            <a:ext cx="106070" cy="10607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63732" y="4903012"/>
            <a:ext cx="106070" cy="106070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93124" y="2519172"/>
            <a:ext cx="118872" cy="118872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28785" y="4932273"/>
            <a:ext cx="47548" cy="47548"/>
          </a:xfrm>
          <a:prstGeom prst="ellipse">
            <a:avLst/>
          </a:prstGeom>
          <a:solidFill>
            <a:srgbClr val="35607A"/>
          </a:solidFill>
          <a:ln w="1016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59619" y="4599665"/>
            <a:ext cx="51206" cy="51206"/>
          </a:xfrm>
          <a:prstGeom prst="ellipse">
            <a:avLst/>
          </a:prstGeom>
          <a:solidFill>
            <a:srgbClr val="B23A2E"/>
          </a:solidFill>
          <a:ln w="1016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2304288"/>
            <a:ext cx="3657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23A2E"/>
                </a:solidFill>
                <a:latin typeface="Microsoft YaHei"/>
                <a:ea typeface="Microsoft YaHei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507492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566A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6184" y="507492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3566A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285232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5607A"/>
                </a:solidFill>
                <a:latin typeface="Microsoft YaHei"/>
                <a:ea typeface="Microsoft YaHei"/>
              </a:rP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6608" y="5285232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3566A"/>
                </a:solidFill>
                <a:latin typeface="Georgia"/>
                <a:ea typeface="Georgia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285232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3566A"/>
                </a:solidFill>
                <a:latin typeface="Georgia"/>
                <a:ea typeface="Georgia"/>
              </a:rPr>
              <a:t>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675887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35607A"/>
                </a:solidFill>
                <a:latin typeface="Georgia"/>
                <a:ea typeface="Georgia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4389120"/>
            <a:ext cx="5029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B23A2E"/>
                </a:solidFill>
                <a:latin typeface="Georgia"/>
                <a:ea typeface="Georgia"/>
              </a:rPr>
              <a:t>d′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26864"/>
            <a:ext cx="3657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A3A"/>
                </a:solidFill>
                <a:latin typeface="Microsoft YaHei"/>
                <a:ea typeface="Microsoft YaHei"/>
              </a:rPr>
              <a:t>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614416"/>
            <a:ext cx="47548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2"/>
                </a:solidFill>
                <a:latin typeface="Microsoft YaHei"/>
                <a:ea typeface="Microsoft YaHei"/>
              </a:rPr>
              <a:t>蓝色虚线是原距离 d；红色虚线是新的、更短的距离 d′。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07  /  证明归档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一条完整的矛盾链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08 / 14</a:t>
            </a:r>
          </a:p>
        </p:txBody>
      </p:sp>
      <p:sp>
        <p:nvSpPr>
          <p:cNvPr id="9" name="Oval 8"/>
          <p:cNvSpPr/>
          <p:nvPr/>
        </p:nvSpPr>
        <p:spPr>
          <a:xfrm>
            <a:off x="886968" y="1911095"/>
            <a:ext cx="292608" cy="292608"/>
          </a:xfrm>
          <a:prstGeom prst="ellipse">
            <a:avLst/>
          </a:prstGeom>
          <a:noFill/>
          <a:ln w="1397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56816"/>
            <a:ext cx="292608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A2E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883664"/>
            <a:ext cx="598932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Microsoft YaHei"/>
                <a:ea typeface="Microsoft YaHei"/>
              </a:rPr>
              <a:t>反设：S 没有普通线 → 每条由 S 确定的直线至少含 3 个点。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33271" y="2231136"/>
            <a:ext cx="0" cy="310896"/>
          </a:xfrm>
          <a:prstGeom prst="line">
            <a:avLst/>
          </a:prstGeom>
          <a:ln w="1270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86968" y="2578608"/>
            <a:ext cx="292608" cy="292608"/>
          </a:xfrm>
          <a:prstGeom prst="ellipse">
            <a:avLst/>
          </a:prstGeom>
          <a:noFill/>
          <a:ln w="1397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624328"/>
            <a:ext cx="292608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A2E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551176"/>
            <a:ext cx="598932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Microsoft YaHei"/>
                <a:ea typeface="Microsoft YaHei"/>
              </a:rPr>
              <a:t>因 S 不全共线，存在 P ∉ ℓ；在所有 (P, ℓ) 中取 dist(P, ℓ) 最小，记为 d。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1" y="2898648"/>
            <a:ext cx="0" cy="310896"/>
          </a:xfrm>
          <a:prstGeom prst="line">
            <a:avLst/>
          </a:prstGeom>
          <a:ln w="1270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86968" y="3246120"/>
            <a:ext cx="292608" cy="292608"/>
          </a:xfrm>
          <a:prstGeom prst="ellipse">
            <a:avLst/>
          </a:prstGeom>
          <a:noFill/>
          <a:ln w="1397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291840"/>
            <a:ext cx="292608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A2E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218688"/>
            <a:ext cx="598932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Microsoft YaHei"/>
                <a:ea typeface="Microsoft YaHei"/>
              </a:rPr>
              <a:t>ℓ 上取 A、B、C 三点，H 为 P 在 ℓ 上的垂足。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3271" y="3566160"/>
            <a:ext cx="0" cy="310896"/>
          </a:xfrm>
          <a:prstGeom prst="line">
            <a:avLst/>
          </a:prstGeom>
          <a:ln w="1270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86968" y="3913632"/>
            <a:ext cx="292608" cy="292608"/>
          </a:xfrm>
          <a:prstGeom prst="ellipse">
            <a:avLst/>
          </a:prstGeom>
          <a:noFill/>
          <a:ln w="1397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959352"/>
            <a:ext cx="292608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A2E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3886200"/>
            <a:ext cx="598932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Microsoft YaHei"/>
                <a:ea typeface="Microsoft YaHei"/>
              </a:rPr>
              <a:t>由抽屉原理，两点在 H 同侧；取近者 B、远者 C，得 dist(B, PC) &lt; d。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3271" y="4233672"/>
            <a:ext cx="0" cy="310896"/>
          </a:xfrm>
          <a:prstGeom prst="line">
            <a:avLst/>
          </a:prstGeom>
          <a:ln w="1270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86968" y="4581144"/>
            <a:ext cx="292608" cy="292608"/>
          </a:xfrm>
          <a:prstGeom prst="ellipse">
            <a:avLst/>
          </a:prstGeom>
          <a:noFill/>
          <a:ln w="13970">
            <a:solidFill>
              <a:srgbClr val="B2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626864"/>
            <a:ext cx="292608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23A2E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4553712"/>
            <a:ext cx="598932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A3A"/>
                </a:solidFill>
                <a:latin typeface="Microsoft YaHei"/>
                <a:ea typeface="Microsoft YaHei"/>
              </a:rPr>
              <a:t>B ∉ PC，所以 (B, PC) 也是候选，且距离更小。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33271" y="4901184"/>
            <a:ext cx="0" cy="310896"/>
          </a:xfrm>
          <a:prstGeom prst="line">
            <a:avLst/>
          </a:prstGeom>
          <a:ln w="1270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86968" y="5248656"/>
            <a:ext cx="292608" cy="292608"/>
          </a:xfrm>
          <a:prstGeom prst="ellips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294376"/>
            <a:ext cx="292608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8F4EB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5221224"/>
            <a:ext cx="598932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E2C23"/>
                </a:solidFill>
                <a:latin typeface="Microsoft YaHei"/>
                <a:ea typeface="Microsoft YaHei"/>
              </a:rPr>
              <a:t>矛盾。故 S 至少确定一条普通线。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1883664"/>
            <a:ext cx="3502152" cy="3246120"/>
          </a:xfrm>
          <a:prstGeom prst="roundRect">
            <a:avLst>
              <a:gd name="adj" fmla="val 1408"/>
            </a:avLst>
          </a:prstGeom>
          <a:solidFill>
            <a:srgbClr val="FFFCF5"/>
          </a:solidFill>
          <a:ln w="10160">
            <a:solidFill>
              <a:srgbClr val="E2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2029968"/>
            <a:ext cx="20116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50">
                <a:solidFill>
                  <a:srgbClr val="B23A2E"/>
                </a:solidFill>
                <a:latin typeface="Microsoft YaHei"/>
                <a:ea typeface="Microsoft YaHei"/>
              </a:rPr>
              <a:t>三个容易漏掉的细节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395728"/>
            <a:ext cx="320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237744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最小距离存在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2651760"/>
            <a:ext cx="269748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566A"/>
                </a:solidFill>
                <a:latin typeface="Microsoft YaHei"/>
                <a:ea typeface="Microsoft YaHei"/>
              </a:rPr>
              <a:t>候选只有有限多个，距离均为正，故最小</a:t>
            </a:r>
          </a:p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566A"/>
                </a:solidFill>
                <a:latin typeface="Microsoft YaHei"/>
                <a:ea typeface="Microsoft YaHei"/>
              </a:rPr>
              <a:t>值可取到。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273552"/>
            <a:ext cx="320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255264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B 不在 PC 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3529584"/>
            <a:ext cx="269748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566A"/>
                </a:solidFill>
                <a:latin typeface="Microsoft YaHei"/>
                <a:ea typeface="Microsoft YaHei"/>
              </a:rPr>
              <a:t>否则 B = C，与 b &lt; c 矛盾。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151376"/>
            <a:ext cx="3200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4133088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不等式是严格的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407408"/>
            <a:ext cx="269748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3566A"/>
                </a:solidFill>
                <a:latin typeface="Microsoft YaHei"/>
                <a:ea typeface="Microsoft YaHei"/>
              </a:rPr>
              <a:t>c − b &lt; c，且 c &lt; √(d² + c²)。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36408" y="5285232"/>
            <a:ext cx="34747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Microsoft YaHei"/>
                <a:ea typeface="Microsoft YaHei"/>
              </a:rPr>
              <a:t>证明只用到了：有限、不共线、距离。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08  /  从 1 到 n/2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普通线不止一条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09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2412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3566A"/>
                </a:solidFill>
                <a:latin typeface="Microsoft YaHei"/>
                <a:ea typeface="Microsoft YaHei"/>
              </a:rPr>
              <a:t>一旦知道“至少一条”，自然要问：最少能有多少条？这条下界被一次次抬高。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639312"/>
            <a:ext cx="10378440" cy="0"/>
          </a:xfrm>
          <a:prstGeom prst="line">
            <a:avLst/>
          </a:prstGeom>
          <a:ln w="1524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17320" y="2651760"/>
            <a:ext cx="17373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B8272"/>
                </a:solidFill>
                <a:latin typeface="Georgia"/>
                <a:ea typeface="Georgia"/>
              </a:rPr>
              <a:t>1893</a:t>
            </a:r>
          </a:p>
        </p:txBody>
      </p:sp>
      <p:sp>
        <p:nvSpPr>
          <p:cNvPr id="12" name="Oval 11"/>
          <p:cNvSpPr/>
          <p:nvPr/>
        </p:nvSpPr>
        <p:spPr>
          <a:xfrm>
            <a:off x="1394460" y="3589020"/>
            <a:ext cx="100584" cy="100584"/>
          </a:xfrm>
          <a:prstGeom prst="ellipse">
            <a:avLst/>
          </a:prstGeom>
          <a:solidFill>
            <a:srgbClr val="8B8272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803904"/>
            <a:ext cx="1828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B8272"/>
                </a:solidFill>
                <a:latin typeface="Microsoft YaHei"/>
                <a:ea typeface="Microsoft YaHei"/>
              </a:rPr>
              <a:t>提出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4242816"/>
            <a:ext cx="1828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Sylvester 提问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51760"/>
            <a:ext cx="17373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23A2E"/>
                </a:solidFill>
                <a:latin typeface="Georgia"/>
                <a:ea typeface="Georgia"/>
              </a:rPr>
              <a:t>1944</a:t>
            </a:r>
          </a:p>
        </p:txBody>
      </p:sp>
      <p:sp>
        <p:nvSpPr>
          <p:cNvPr id="16" name="Oval 15"/>
          <p:cNvSpPr/>
          <p:nvPr/>
        </p:nvSpPr>
        <p:spPr>
          <a:xfrm>
            <a:off x="3497579" y="3589020"/>
            <a:ext cx="100584" cy="100584"/>
          </a:xfrm>
          <a:prstGeom prst="ellipse">
            <a:avLst/>
          </a:prstGeom>
          <a:solidFill>
            <a:srgbClr val="B23A2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3803904"/>
            <a:ext cx="1828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23A2E"/>
                </a:solidFill>
                <a:latin typeface="Microsoft YaHei"/>
                <a:ea typeface="Microsoft YaHei"/>
              </a:rPr>
              <a:t>≥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242816"/>
            <a:ext cx="1828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Gallai 证明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651760"/>
            <a:ext cx="17373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35607A"/>
                </a:solidFill>
                <a:latin typeface="Georgia"/>
                <a:ea typeface="Georgia"/>
              </a:rPr>
              <a:t>1958</a:t>
            </a:r>
          </a:p>
        </p:txBody>
      </p:sp>
      <p:sp>
        <p:nvSpPr>
          <p:cNvPr id="20" name="Oval 19"/>
          <p:cNvSpPr/>
          <p:nvPr/>
        </p:nvSpPr>
        <p:spPr>
          <a:xfrm>
            <a:off x="5600700" y="3589020"/>
            <a:ext cx="100584" cy="100584"/>
          </a:xfrm>
          <a:prstGeom prst="ellipse">
            <a:avLst/>
          </a:prstGeom>
          <a:solidFill>
            <a:srgbClr val="35607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3803904"/>
            <a:ext cx="1828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5607A"/>
                </a:solidFill>
                <a:latin typeface="Microsoft YaHei"/>
                <a:ea typeface="Microsoft YaHei"/>
              </a:rPr>
              <a:t>≥ 3n/7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4242816"/>
            <a:ext cx="1828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Kelly–Moser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651760"/>
            <a:ext cx="17373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B08A3E"/>
                </a:solidFill>
                <a:latin typeface="Georgia"/>
                <a:ea typeface="Georgia"/>
              </a:rPr>
              <a:t>1993</a:t>
            </a:r>
          </a:p>
        </p:txBody>
      </p:sp>
      <p:sp>
        <p:nvSpPr>
          <p:cNvPr id="24" name="Oval 23"/>
          <p:cNvSpPr/>
          <p:nvPr/>
        </p:nvSpPr>
        <p:spPr>
          <a:xfrm>
            <a:off x="7703819" y="3589020"/>
            <a:ext cx="100584" cy="100584"/>
          </a:xfrm>
          <a:prstGeom prst="ellipse">
            <a:avLst/>
          </a:prstGeom>
          <a:solidFill>
            <a:srgbClr val="B08A3E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1" y="3803904"/>
            <a:ext cx="1828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08A3E"/>
                </a:solidFill>
                <a:latin typeface="Microsoft YaHei"/>
                <a:ea typeface="Microsoft YaHei"/>
              </a:rPr>
              <a:t>≥ 6n/13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1" y="4242816"/>
            <a:ext cx="1828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Csima–Sawyer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651760"/>
            <a:ext cx="173736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A3A"/>
                </a:solidFill>
                <a:latin typeface="Georgia"/>
                <a:ea typeface="Georgia"/>
              </a:rPr>
              <a:t>2013</a:t>
            </a:r>
          </a:p>
        </p:txBody>
      </p:sp>
      <p:sp>
        <p:nvSpPr>
          <p:cNvPr id="28" name="Oval 27"/>
          <p:cNvSpPr/>
          <p:nvPr/>
        </p:nvSpPr>
        <p:spPr>
          <a:xfrm>
            <a:off x="9806940" y="3589020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32" y="3803904"/>
            <a:ext cx="182880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B2A3A"/>
                </a:solidFill>
                <a:latin typeface="Microsoft YaHei"/>
                <a:ea typeface="Microsoft YaHei"/>
              </a:rPr>
              <a:t>≥ n/2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4242816"/>
            <a:ext cx="1828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Green–Tao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074920"/>
            <a:ext cx="10451592" cy="960120"/>
          </a:xfrm>
          <a:prstGeom prst="roundRect">
            <a:avLst>
              <a:gd name="adj" fmla="val 2857"/>
            </a:avLst>
          </a:prstGeom>
          <a:solidFill>
            <a:srgbClr val="F1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5193792"/>
            <a:ext cx="1001268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43566A"/>
                </a:solidFill>
                <a:latin typeface="Microsoft YaHei"/>
                <a:ea typeface="Microsoft YaHei"/>
              </a:rPr>
              <a:t>Dirac–Motzkin 猜想（1951 / 1967）：任意 n 个不共线点至少确定 n/2 条普通线。Green 与 Tao 在 2013 年对充分大的 n 证明了它。</a:t>
            </a:r>
          </a:p>
          <a:p>
            <a:pPr algn="l">
              <a:lnSpc>
                <a:spcPts val="1711"/>
              </a:lnSpc>
              <a:spcBef>
                <a:spcPts val="200"/>
              </a:spcBef>
              <a:spcAft>
                <a:spcPts val="0"/>
              </a:spcAft>
            </a:pPr>
            <a:r>
              <a:rPr sz="1180" b="0" i="0">
                <a:solidFill>
                  <a:srgbClr val="8E2C23"/>
                </a:solidFill>
                <a:latin typeface="Microsoft YaHei"/>
                <a:ea typeface="Microsoft YaHei"/>
              </a:rPr>
              <a:t>与此同时，存在只含 3n/7 条普通线的构型 —— 下界与构造之间，仍留着一段窄缝。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163056"/>
            <a:ext cx="100584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B8272"/>
                </a:solidFill>
                <a:latin typeface="Microsoft YaHei"/>
                <a:ea typeface="Microsoft YaHei"/>
              </a:rPr>
              <a:t>注：1941 年 Melchior 已用射影几何证明至少 3 条；6n/13 在 n = 7 处有例外；n/2 在 n = 7、13 处不成立，Green–Tao 只对充分大的 n 证明。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09  /  极值构型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7 个点，只有 3 条普通线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10 / 14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1635" y="5660136"/>
            <a:ext cx="4331970" cy="0"/>
          </a:xfrm>
          <a:prstGeom prst="line">
            <a:avLst/>
          </a:prstGeom>
          <a:ln w="13335">
            <a:solidFill>
              <a:srgbClr val="7E8C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136881" y="2194560"/>
            <a:ext cx="2846724" cy="3465576"/>
          </a:xfrm>
          <a:prstGeom prst="line">
            <a:avLst/>
          </a:prstGeom>
          <a:ln w="13335">
            <a:solidFill>
              <a:srgbClr val="7E8C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651635" y="2194560"/>
            <a:ext cx="1485246" cy="3465576"/>
          </a:xfrm>
          <a:prstGeom prst="line">
            <a:avLst/>
          </a:prstGeom>
          <a:ln w="13335">
            <a:solidFill>
              <a:srgbClr val="7E8C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51635" y="3927348"/>
            <a:ext cx="2908608" cy="1732788"/>
          </a:xfrm>
          <a:prstGeom prst="line">
            <a:avLst/>
          </a:prstGeom>
          <a:ln w="13335">
            <a:solidFill>
              <a:srgbClr val="7E8C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394258" y="3927348"/>
            <a:ext cx="3589347" cy="1732788"/>
          </a:xfrm>
          <a:prstGeom prst="line">
            <a:avLst/>
          </a:prstGeom>
          <a:ln w="13335">
            <a:solidFill>
              <a:srgbClr val="7E8C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36881" y="2194560"/>
            <a:ext cx="680739" cy="3465576"/>
          </a:xfrm>
          <a:prstGeom prst="line">
            <a:avLst/>
          </a:prstGeom>
          <a:ln w="13335">
            <a:solidFill>
              <a:srgbClr val="7E8C9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817620" y="3927348"/>
            <a:ext cx="742623" cy="1732788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94258" y="3927348"/>
            <a:ext cx="2165985" cy="0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94258" y="3927348"/>
            <a:ext cx="1423362" cy="1732788"/>
          </a:xfrm>
          <a:prstGeom prst="line">
            <a:avLst/>
          </a:prstGeom>
          <a:ln w="2794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601343" y="5609844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2179" y="5751575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5933313" y="5609844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5045" y="5751575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3086589" y="2144268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8593" y="1920240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3767328" y="5609844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9332" y="5788151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4509951" y="3877056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1683" y="3963924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28" name="Oval 27"/>
          <p:cNvSpPr/>
          <p:nvPr/>
        </p:nvSpPr>
        <p:spPr>
          <a:xfrm>
            <a:off x="2343966" y="3877056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74802" y="3963924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3540415" y="4454652"/>
            <a:ext cx="100584" cy="100584"/>
          </a:xfrm>
          <a:prstGeom prst="ellipse">
            <a:avLst/>
          </a:prstGeom>
          <a:solidFill>
            <a:srgbClr val="1B2A3A"/>
          </a:solidFill>
          <a:ln w="15240">
            <a:solidFill>
              <a:srgbClr val="F8F4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2147" y="4285488"/>
            <a:ext cx="27432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566A"/>
                </a:solidFill>
                <a:latin typeface="Microsoft YaHei"/>
                <a:ea typeface="Microsoft YaHei"/>
              </a:rPr>
              <a:t>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1938528"/>
            <a:ext cx="8686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2A3A"/>
                </a:solidFill>
                <a:latin typeface="Georgia"/>
                <a:ea typeface="Georgia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139696"/>
            <a:ext cx="20116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个点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651760"/>
            <a:ext cx="8686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2A3A"/>
                </a:solidFill>
                <a:latin typeface="Georgia"/>
                <a:ea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852928"/>
            <a:ext cx="20116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条三点线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364992"/>
            <a:ext cx="8686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B2A3A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566160"/>
            <a:ext cx="20116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3566A"/>
                </a:solidFill>
                <a:latin typeface="Microsoft YaHei"/>
                <a:ea typeface="Microsoft YaHei"/>
              </a:rPr>
              <a:t>条普通线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4114800"/>
            <a:ext cx="4343400" cy="960120"/>
          </a:xfrm>
          <a:prstGeom prst="roundRect">
            <a:avLst>
              <a:gd name="adj" fmla="val 3809"/>
            </a:avLst>
          </a:prstGeom>
          <a:solidFill>
            <a:srgbClr val="FBF3E3"/>
          </a:solidFill>
          <a:ln w="11430">
            <a:solidFill>
              <a:srgbClr val="E4D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0608" y="4206240"/>
            <a:ext cx="3977639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B23A2E"/>
                </a:solidFill>
                <a:latin typeface="Georgia"/>
                <a:ea typeface="Georgia"/>
              </a:rPr>
              <a:t>3 = 3n/7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617720"/>
            <a:ext cx="39319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3566A"/>
                </a:solidFill>
                <a:latin typeface="Microsoft YaHei"/>
                <a:ea typeface="Microsoft YaHei"/>
              </a:rPr>
              <a:t>恰好达到 Kelly–Moser 下界（n = 7）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138928"/>
            <a:ext cx="4389120" cy="8229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566A"/>
                </a:solidFill>
                <a:latin typeface="Microsoft YaHei"/>
                <a:ea typeface="Microsoft YaHei"/>
              </a:rPr>
              <a:t>把 Fano 平面删去一条线，就得到这个“非 Fano”构型：它可以</a:t>
            </a:r>
          </a:p>
          <a:p>
            <a:pPr algn="l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566A"/>
                </a:solidFill>
                <a:latin typeface="Microsoft YaHei"/>
                <a:ea typeface="Microsoft YaHei"/>
              </a:rPr>
              <a:t>在实数平面中实现。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5907024"/>
            <a:ext cx="43891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8272"/>
                </a:solidFill>
                <a:latin typeface="Microsoft YaHei"/>
                <a:ea typeface="Microsoft YaHei"/>
              </a:rPr>
              <a:t>灰线：各含 3 点　·　红线：各含 2 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10  /  计算验证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同一个 n，普通线数能差多少？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11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19656"/>
            <a:ext cx="100584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3566A"/>
                </a:solidFill>
                <a:latin typeface="Microsoft YaHei"/>
                <a:ea typeface="Microsoft YaHei"/>
              </a:rPr>
              <a:t>固定 n = 7，用精确有理数判定共线，逐一计数：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89565" y="2066543"/>
            <a:ext cx="0" cy="3950208"/>
          </a:xfrm>
          <a:prstGeom prst="line">
            <a:avLst/>
          </a:prstGeom>
          <a:ln w="11430">
            <a:solidFill>
              <a:srgbClr val="B23A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249424"/>
            <a:ext cx="2697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</a:rPr>
              <a:t>全共线（退化）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2697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272"/>
                </a:solidFill>
                <a:latin typeface="Microsoft YaHei"/>
                <a:ea typeface="Microsoft YaHei"/>
              </a:rPr>
              <a:t>定理不适用</a:t>
            </a:r>
          </a:p>
        </p:txBody>
      </p:sp>
      <p:sp>
        <p:nvSpPr>
          <p:cNvPr id="13" name="Oval 12"/>
          <p:cNvSpPr/>
          <p:nvPr/>
        </p:nvSpPr>
        <p:spPr>
          <a:xfrm>
            <a:off x="3762756" y="2336291"/>
            <a:ext cx="64008" cy="64008"/>
          </a:xfrm>
          <a:prstGeom prst="ellipse">
            <a:avLst/>
          </a:prstGeom>
          <a:solidFill>
            <a:srgbClr val="F8F4EB"/>
          </a:solidFill>
          <a:ln w="19050">
            <a:solidFill>
              <a:srgbClr val="B9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2776" y="2258568"/>
            <a:ext cx="36576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AE9B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9504"/>
            <a:ext cx="2697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</a:rPr>
              <a:t>Fano 平面（GF(2)）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45536"/>
            <a:ext cx="2697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B8272"/>
                </a:solidFill>
                <a:latin typeface="Microsoft YaHei"/>
                <a:ea typeface="Microsoft YaHei"/>
              </a:rPr>
              <a:t>实数平面不可实现</a:t>
            </a:r>
          </a:p>
        </p:txBody>
      </p:sp>
      <p:sp>
        <p:nvSpPr>
          <p:cNvPr id="17" name="Oval 16"/>
          <p:cNvSpPr/>
          <p:nvPr/>
        </p:nvSpPr>
        <p:spPr>
          <a:xfrm>
            <a:off x="3762756" y="2976372"/>
            <a:ext cx="64008" cy="64008"/>
          </a:xfrm>
          <a:prstGeom prst="ellipse">
            <a:avLst/>
          </a:prstGeom>
          <a:solidFill>
            <a:srgbClr val="F8F4EB"/>
          </a:solidFill>
          <a:ln w="19050">
            <a:solidFill>
              <a:srgbClr val="B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22776" y="2898648"/>
            <a:ext cx="36576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8A3E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9584"/>
            <a:ext cx="2697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非 Fano 构型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85615"/>
            <a:ext cx="26974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23A2E"/>
                </a:solidFill>
                <a:latin typeface="Microsoft YaHei"/>
                <a:ea typeface="Microsoft YaHei"/>
              </a:rPr>
              <a:t>最小值 · 可达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529584"/>
            <a:ext cx="894805" cy="256032"/>
          </a:xfrm>
          <a:prstGeom prst="roundRect">
            <a:avLst>
              <a:gd name="adj" fmla="val 7142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8941" y="3538727"/>
            <a:ext cx="347472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69663"/>
            <a:ext cx="2697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</a:rPr>
              <a:t>6 点共线 + 1 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4169663"/>
            <a:ext cx="1789611" cy="256032"/>
          </a:xfrm>
          <a:prstGeom prst="roundRect">
            <a:avLst>
              <a:gd name="adj" fmla="val 7142"/>
            </a:avLst>
          </a:prstGeom>
          <a:solidFill>
            <a:srgbClr val="35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3747" y="4178807"/>
            <a:ext cx="347472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09744"/>
            <a:ext cx="2697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</a:rPr>
              <a:t>正六边形 + 中心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4809744"/>
            <a:ext cx="3579222" cy="256032"/>
          </a:xfrm>
          <a:prstGeom prst="roundRect">
            <a:avLst>
              <a:gd name="adj" fmla="val 7142"/>
            </a:avLst>
          </a:prstGeom>
          <a:solidFill>
            <a:srgbClr val="435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3358" y="4818888"/>
            <a:ext cx="347472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49824"/>
            <a:ext cx="2697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A3A"/>
                </a:solidFill>
                <a:latin typeface="Microsoft YaHei"/>
                <a:ea typeface="Microsoft YaHei"/>
              </a:rPr>
              <a:t>一般位置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60" y="5449824"/>
            <a:ext cx="6263640" cy="256032"/>
          </a:xfrm>
          <a:prstGeom prst="roundRect">
            <a:avLst>
              <a:gd name="adj" fmla="val 7142"/>
            </a:avLst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7776" y="5458968"/>
            <a:ext cx="347472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DF7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961888"/>
            <a:ext cx="10241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3566A"/>
                </a:solidFill>
                <a:latin typeface="Microsoft YaHei"/>
                <a:ea typeface="Microsoft YaHei"/>
              </a:rPr>
              <a:t>0 只属于别的几何；实数平面中 3 已经是最小值，而且真的能达到。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11  /  方法回望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三个可以带走的思想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38528"/>
            <a:ext cx="3246120" cy="2724912"/>
          </a:xfrm>
          <a:prstGeom prst="roundRect">
            <a:avLst>
              <a:gd name="adj" fmla="val 1677"/>
            </a:avLst>
          </a:prstGeom>
          <a:solidFill>
            <a:srgbClr val="FFFCF5"/>
          </a:solidFill>
          <a:ln w="10160">
            <a:solidFill>
              <a:srgbClr val="E2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938528"/>
            <a:ext cx="3246120" cy="50292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94560"/>
            <a:ext cx="10972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B08A3E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34640"/>
            <a:ext cx="26974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3A"/>
                </a:solidFill>
                <a:latin typeface="Microsoft YaHei"/>
                <a:ea typeface="Microsoft YaHei"/>
              </a:rPr>
              <a:t>极端原理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46704"/>
            <a:ext cx="2697480" cy="1280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在有限多个候选中挑出“最小距离”。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最小值不是终点，而是矛盾的起点。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1938528"/>
            <a:ext cx="3246120" cy="2724912"/>
          </a:xfrm>
          <a:prstGeom prst="roundRect">
            <a:avLst>
              <a:gd name="adj" fmla="val 1677"/>
            </a:avLst>
          </a:prstGeom>
          <a:solidFill>
            <a:srgbClr val="FFFCF5"/>
          </a:solidFill>
          <a:ln w="10160">
            <a:solidFill>
              <a:srgbClr val="E2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1416" y="1938528"/>
            <a:ext cx="3246120" cy="50292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45736" y="2194560"/>
            <a:ext cx="10972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B23A2E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5736" y="2834640"/>
            <a:ext cx="26974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3A"/>
                </a:solidFill>
                <a:latin typeface="Microsoft YaHei"/>
                <a:ea typeface="Microsoft YaHei"/>
              </a:rPr>
              <a:t>反证法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3346704"/>
            <a:ext cx="2697480" cy="1280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把“存在一条普通线”改写成“每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条线都至少 3 点”，结构立刻变强。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938528"/>
            <a:ext cx="3246120" cy="2724912"/>
          </a:xfrm>
          <a:prstGeom prst="roundRect">
            <a:avLst>
              <a:gd name="adj" fmla="val 1677"/>
            </a:avLst>
          </a:prstGeom>
          <a:solidFill>
            <a:srgbClr val="FFFCF5"/>
          </a:solidFill>
          <a:ln w="10160">
            <a:solidFill>
              <a:srgbClr val="E2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938528"/>
            <a:ext cx="3246120" cy="50292"/>
          </a:xfrm>
          <a:prstGeom prst="rect">
            <a:avLst/>
          </a:prstGeom>
          <a:solidFill>
            <a:srgbClr val="35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194560"/>
            <a:ext cx="10972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35607A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834640"/>
            <a:ext cx="26974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3A"/>
                </a:solidFill>
                <a:latin typeface="Microsoft YaHei"/>
                <a:ea typeface="Microsoft YaHei"/>
              </a:rPr>
              <a:t>边界意识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346704"/>
            <a:ext cx="2697480" cy="1280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Fano 平面提醒我们：定理依赖实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数平面的顺序结构；换公理，结论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3566A"/>
                </a:solidFill>
                <a:latin typeface="Microsoft YaHei"/>
                <a:ea typeface="Microsoft YaHei"/>
              </a:rPr>
              <a:t>会变。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" y="5138928"/>
            <a:ext cx="100584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03520"/>
            <a:ext cx="932688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A3A"/>
                </a:solidFill>
                <a:latin typeface="Microsoft YaHei"/>
                <a:ea typeface="Microsoft YaHei"/>
              </a:rPr>
              <a:t>极端原理负责制造矛盾，反证法负责把矛盾变成定理。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5340096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8272"/>
                </a:solidFill>
                <a:latin typeface="Georgia"/>
                <a:ea typeface="Georgia"/>
              </a:rPr>
              <a:t>1893 → 2013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566928"/>
            <a:ext cx="0" cy="5760720"/>
          </a:xfrm>
          <a:prstGeom prst="line">
            <a:avLst/>
          </a:prstGeom>
          <a:ln w="1143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68680" y="512064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200">
                <a:solidFill>
                  <a:srgbClr val="B23A2E"/>
                </a:solidFill>
                <a:latin typeface="Microsoft YaHei"/>
                <a:ea typeface="Microsoft YaHei"/>
              </a:rPr>
              <a:t>附录  /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24128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B2A3A"/>
                </a:solidFill>
                <a:latin typeface="Microsoft YaHei"/>
                <a:ea typeface="Microsoft YaHei"/>
              </a:rPr>
              <a:t>参考文献与延伸阅读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886968" y="1636776"/>
            <a:ext cx="868680" cy="23774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" y="6400800"/>
            <a:ext cx="10451592" cy="0"/>
          </a:xfrm>
          <a:prstGeom prst="line">
            <a:avLst/>
          </a:prstGeom>
          <a:ln w="889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6492240"/>
            <a:ext cx="5486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8B8272"/>
                </a:solidFill>
                <a:latin typeface="Microsoft YaHei"/>
                <a:ea typeface="Microsoft YaHei"/>
              </a:rPr>
              <a:t>SYLVESTER–GALLAI  ·  普通线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92240"/>
            <a:ext cx="98755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B8272"/>
                </a:solidFill>
                <a:latin typeface="Microsoft YaHei"/>
                <a:ea typeface="Microsoft YaHei"/>
              </a:rPr>
              <a:t>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1"/>
            <a:ext cx="411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10512"/>
            <a:ext cx="9784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J. J. Sylvester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9784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566A"/>
                </a:solidFill>
                <a:latin typeface="Microsoft YaHei"/>
                <a:ea typeface="Microsoft YaHei"/>
              </a:rPr>
              <a:t>Mathematical Question 11851. Educational Times 59 (1893), 98.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2404872"/>
            <a:ext cx="9921240" cy="0"/>
          </a:xfrm>
          <a:prstGeom prst="line">
            <a:avLst/>
          </a:prstGeom>
          <a:ln w="762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6968" y="2514600"/>
            <a:ext cx="411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9784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E. Melchior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15768"/>
            <a:ext cx="9784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566A"/>
                </a:solidFill>
                <a:latin typeface="Microsoft YaHei"/>
                <a:ea typeface="Microsoft YaHei"/>
              </a:rPr>
              <a:t>Über Vielseite der projektiven Ebene. Deutsche Mathematik 5 (1941), 461–475.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3063240"/>
            <a:ext cx="9921240" cy="0"/>
          </a:xfrm>
          <a:prstGeom prst="line">
            <a:avLst/>
          </a:prstGeom>
          <a:ln w="762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6968" y="3172968"/>
            <a:ext cx="411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27248"/>
            <a:ext cx="9784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T. Gallai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374136"/>
            <a:ext cx="9784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566A"/>
                </a:solidFill>
                <a:latin typeface="Microsoft YaHei"/>
                <a:ea typeface="Microsoft YaHei"/>
              </a:rPr>
              <a:t>Solution to Problem 4065. American Mathematical Monthly 51 (1944), 169–171.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" y="3721608"/>
            <a:ext cx="9921240" cy="0"/>
          </a:xfrm>
          <a:prstGeom prst="line">
            <a:avLst/>
          </a:prstGeom>
          <a:ln w="762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6968" y="3831335"/>
            <a:ext cx="411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85615"/>
            <a:ext cx="9784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L. M. Kelly, W. O. J. Moser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32504"/>
            <a:ext cx="9784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566A"/>
                </a:solidFill>
                <a:latin typeface="Microsoft YaHei"/>
                <a:ea typeface="Microsoft YaHei"/>
              </a:rPr>
              <a:t>On the number of ordinary lines determined by n points. Canadian J. Math. 10 (1958), 210–219.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71600" y="4379976"/>
            <a:ext cx="9921240" cy="0"/>
          </a:xfrm>
          <a:prstGeom prst="line">
            <a:avLst/>
          </a:prstGeom>
          <a:ln w="762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6968" y="4489703"/>
            <a:ext cx="411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43983"/>
            <a:ext cx="9784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J. Csima, E. T. Sawyer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90872"/>
            <a:ext cx="9784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566A"/>
                </a:solidFill>
                <a:latin typeface="Microsoft YaHei"/>
                <a:ea typeface="Microsoft YaHei"/>
              </a:rPr>
              <a:t>There exist 6n/13 ordinary points. Discrete &amp; Computational Geometry 9 (1993), 187–202.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71600" y="5038344"/>
            <a:ext cx="9921240" cy="0"/>
          </a:xfrm>
          <a:prstGeom prst="line">
            <a:avLst/>
          </a:prstGeom>
          <a:ln w="7620">
            <a:solidFill>
              <a:srgbClr val="E2D8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86968" y="5148071"/>
            <a:ext cx="4114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08A3E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102351"/>
            <a:ext cx="97840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3A"/>
                </a:solidFill>
                <a:latin typeface="Microsoft YaHei"/>
                <a:ea typeface="Microsoft YaHei"/>
              </a:rPr>
              <a:t>B. Green, T. Tao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97840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43566A"/>
                </a:solidFill>
                <a:latin typeface="Microsoft YaHei"/>
                <a:ea typeface="Microsoft YaHei"/>
              </a:rPr>
              <a:t>On sets defining few ordinary lines. Discrete &amp; Computational Geometry 50 (2013), 409–468.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897880"/>
            <a:ext cx="1024128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2"/>
                </a:solidFill>
                <a:latin typeface="Microsoft YaHei"/>
                <a:ea typeface="Microsoft YaHei"/>
              </a:rPr>
              <a:t>延伸：MathWorld, “Ordinary Line”；Green–Tao 的证明同时解决了 Dirac–Motzkin 猜想（n 充分大）。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54864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20">
                <a:solidFill>
                  <a:srgbClr val="B08A3E"/>
                </a:solidFill>
                <a:latin typeface="Microsoft YaHei"/>
                <a:ea typeface="Microsoft YaHei"/>
              </a:rPr>
              <a:t>结语  /  CODA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08760"/>
            <a:ext cx="7680960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EDDD"/>
                </a:solidFill>
                <a:latin typeface="Microsoft YaHei"/>
                <a:ea typeface="Microsoft YaHei"/>
              </a:rPr>
              <a:t>存在性的答案，</a:t>
            </a:r>
          </a:p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EDDD"/>
                </a:solidFill>
                <a:latin typeface="Microsoft YaHei"/>
                <a:ea typeface="Microsoft YaHei"/>
              </a:rPr>
              <a:t>常常藏在一个</a:t>
            </a:r>
          </a:p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EDDD"/>
                </a:solidFill>
                <a:latin typeface="Microsoft YaHei"/>
                <a:ea typeface="Microsoft YaHei"/>
              </a:rPr>
              <a:t>“最极端”的对象里。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86968" y="4160520"/>
            <a:ext cx="1188720" cy="27432"/>
          </a:xfrm>
          <a:prstGeom prst="rect">
            <a:avLst/>
          </a:prstGeom>
          <a:solidFill>
            <a:srgbClr val="B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6949440" cy="8229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D2D8"/>
                </a:solidFill>
                <a:latin typeface="Microsoft YaHei"/>
                <a:ea typeface="Microsoft YaHei"/>
              </a:rPr>
              <a:t>从 Sylvester 的一纸提问，到 Green–Tao 的 n/2，</a:t>
            </a:r>
          </a:p>
          <a:p>
            <a:pPr algn="l">
              <a:lnSpc>
                <a:spcPts val="2100"/>
              </a:lnSpc>
              <a:spcBef>
                <a:spcPts val="200"/>
              </a:spcBef>
              <a:spcAft>
                <a:spcPts val="0"/>
              </a:spcAft>
            </a:pPr>
            <a:r>
              <a:rPr sz="1400" b="0" i="0">
                <a:solidFill>
                  <a:srgbClr val="C9D2D8"/>
                </a:solidFill>
                <a:latin typeface="Microsoft YaHei"/>
                <a:ea typeface="Microsoft YaHei"/>
              </a:rPr>
              <a:t>一条普通线，牵出了一整套组合几何。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052560" y="1920240"/>
            <a:ext cx="731520" cy="1508760"/>
          </a:xfrm>
          <a:prstGeom prst="line">
            <a:avLst/>
          </a:prstGeom>
          <a:ln w="12700">
            <a:solidFill>
              <a:srgbClr val="2C4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595360" y="2240280"/>
            <a:ext cx="1645920" cy="777240"/>
          </a:xfrm>
          <a:prstGeom prst="line">
            <a:avLst/>
          </a:prstGeom>
          <a:ln w="12700">
            <a:solidFill>
              <a:srgbClr val="2C4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3108960"/>
            <a:ext cx="365760" cy="1097280"/>
          </a:xfrm>
          <a:prstGeom prst="line">
            <a:avLst/>
          </a:prstGeom>
          <a:ln w="12700">
            <a:solidFill>
              <a:srgbClr val="2C4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326880" y="3429000"/>
            <a:ext cx="457200" cy="1234440"/>
          </a:xfrm>
          <a:prstGeom prst="line">
            <a:avLst/>
          </a:prstGeom>
          <a:ln w="12700">
            <a:solidFill>
              <a:srgbClr val="2C4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07040" y="4206240"/>
            <a:ext cx="457200" cy="685800"/>
          </a:xfrm>
          <a:prstGeom prst="line">
            <a:avLst/>
          </a:prstGeom>
          <a:ln w="12700">
            <a:solidFill>
              <a:srgbClr val="2C4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595360" y="1920240"/>
            <a:ext cx="457200" cy="1097280"/>
          </a:xfrm>
          <a:prstGeom prst="line">
            <a:avLst/>
          </a:prstGeom>
          <a:ln w="12700">
            <a:solidFill>
              <a:srgbClr val="2C40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84080" y="3429000"/>
            <a:ext cx="1280160" cy="1463040"/>
          </a:xfrm>
          <a:prstGeom prst="line">
            <a:avLst/>
          </a:prstGeom>
          <a:ln w="17780">
            <a:solidFill>
              <a:srgbClr val="B08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011412" y="1879092"/>
            <a:ext cx="82296" cy="82296"/>
          </a:xfrm>
          <a:prstGeom prst="ellipse">
            <a:avLst/>
          </a:prstGeom>
          <a:solidFill>
            <a:srgbClr val="7E8F9B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00132" y="2199132"/>
            <a:ext cx="82296" cy="82296"/>
          </a:xfrm>
          <a:prstGeom prst="ellipse">
            <a:avLst/>
          </a:prstGeom>
          <a:solidFill>
            <a:srgbClr val="7E8F9B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31652" y="3067812"/>
            <a:ext cx="82296" cy="82296"/>
          </a:xfrm>
          <a:prstGeom prst="ellipse">
            <a:avLst/>
          </a:prstGeom>
          <a:solidFill>
            <a:srgbClr val="7E8F9B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4212" y="2976372"/>
            <a:ext cx="82296" cy="82296"/>
          </a:xfrm>
          <a:prstGeom prst="ellipse">
            <a:avLst/>
          </a:prstGeom>
          <a:solidFill>
            <a:srgbClr val="7E8F9B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42932" y="3387852"/>
            <a:ext cx="82296" cy="82296"/>
          </a:xfrm>
          <a:prstGeom prst="ellipse">
            <a:avLst/>
          </a:prstGeom>
          <a:solidFill>
            <a:srgbClr val="B08A3E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65892" y="4165091"/>
            <a:ext cx="82296" cy="82296"/>
          </a:xfrm>
          <a:prstGeom prst="ellipse">
            <a:avLst/>
          </a:prstGeom>
          <a:solidFill>
            <a:srgbClr val="7E8F9B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5732" y="4622292"/>
            <a:ext cx="82296" cy="82296"/>
          </a:xfrm>
          <a:prstGeom prst="ellipse">
            <a:avLst/>
          </a:prstGeom>
          <a:solidFill>
            <a:srgbClr val="7E8F9B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23092" y="4850892"/>
            <a:ext cx="82296" cy="82296"/>
          </a:xfrm>
          <a:prstGeom prst="ellipse">
            <a:avLst/>
          </a:prstGeom>
          <a:solidFill>
            <a:srgbClr val="B08A3E"/>
          </a:solidFill>
          <a:ln w="12700">
            <a:solidFill>
              <a:srgbClr val="16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36576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DD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598932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F9B"/>
                </a:solidFill>
                <a:latin typeface="Microsoft YaHei"/>
                <a:ea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至少有一条普通线：Sylvester–Gallai 定理</dc:title>
  <dc:subject>从 1893 年的提问到 2013 年的 n/2：问题、证明、加强、计算验证</dc:subject>
  <dc:creator/>
  <cp:keywords>Sylvester-Gallai, 普通线, 组合几何, 反证法, 极端原理</cp:keywords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