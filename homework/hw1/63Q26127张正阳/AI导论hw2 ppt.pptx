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附录-素材" id="{3050140B-5B37-47BE-8423-F6A0577ED44C}">
          <p14:sldIdLst/>
        </p14:section>
        <p14:section name="使用规范" id="{47918508-6F2A-4DC8-ACB3-0B9712E4E205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2000"/>
              </a:lnSpc>
            </a:pPr>
            <a:r>
              <a:rPr sz="4000" b="1" i="0" spc="150">
                <a:solidFill>
                  <a:srgbClr val="2E3A22"/>
                </a:solidFill>
                <a:latin typeface="微软雅黑" panose="020B0503020204020204" charset="-122"/>
                <a:ea typeface="微软雅黑" panose="020B0503020204020204" charset="-122"/>
              </a:rPr>
              <a:t>导数综合题解析</a:t>
            </a:r>
            <a:endParaRPr sz="4000" b="1" i="0" spc="150">
              <a:solidFill>
                <a:srgbClr val="2E3A2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550" b="0" i="0" spc="16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2026 高考数学 · 全国二卷 · 第 19 题</a:t>
            </a:r>
            <a:endParaRPr sz="1550" b="0" i="0" spc="16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450" b="0" i="0" spc="12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切线定参 · 同构变形 · 对称差求最值</a:t>
            </a:r>
            <a:endParaRPr sz="1450" b="0" i="0" spc="12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504748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4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从“切线定参”到“对称差定下界”——一题三问的完整板书</a:t>
            </a:r>
            <a:endParaRPr sz="1200" b="0" i="0" spc="4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高三一轮复习 · 函数与导数专题</a:t>
            </a:r>
            <a:endParaRPr sz="1050" b="0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sz="1900" b="1" i="0" spc="6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原题呈现</a:t>
            </a:r>
            <a:endParaRPr sz="1900" b="1" i="0" spc="6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217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2026 高考数学 · 全国二卷 19 题</a:t>
            </a:r>
            <a:endParaRPr sz="1050" b="0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8240" y="62179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B4E5B0D2-3F1A-4C77-9A11-102}" type="slidenum">
              <a:rPr lang="zh-CN" sz="1050" b="0">
                <a:solidFill>
                  <a:srgbClr val="445437"/>
                </a:solidFill>
                <a:latin typeface="微软雅黑" panose="020B0503020204020204" charset="-122"/>
              </a:rPr>
            </a:fld>
            <a:endParaRPr lang="zh-CN" sz="1050" b="0">
              <a:solidFill>
                <a:srgbClr val="4454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71323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已知函数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7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ax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b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，曲线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y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在点 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(0,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(0))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处的切线方程为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y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=−2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+1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7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2615184"/>
            <a:ext cx="7132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（1）求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a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，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b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7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（2）当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时，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，求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的取值范围；</a:t>
            </a:r>
            <a:endParaRPr sz="17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（3）当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时，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)+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)&gt;2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7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，求 </a:t>
            </a:r>
            <a:r>
              <a:rPr sz="17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7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的最小值．</a:t>
            </a:r>
            <a:endParaRPr sz="17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504688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4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考查：导数的几何意义 · 单调性转化 · 对称差中线性项的抵消</a:t>
            </a:r>
            <a:endParaRPr sz="1100" b="0" i="0" spc="4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p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1243584"/>
            <a:ext cx="320040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Placeholder 1" descr="p3.jpg"/>
          <p:cNvPicPr>
            <a:picLocks noGrp="1" noChangeAspect="1"/>
          </p:cNvPicPr>
          <p:nvPr>
            <p:ph type="pic" sz="quarter" idx="12"/>
          </p:nvPr>
        </p:nvPicPr>
        <p:blipFill>
          <a:blip r:embed="rId1"/>
          <a:srcRect t="15" b="15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sz="1900" b="1" i="0" spc="6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（1）求 a，b：一个切点，一个斜率</a:t>
            </a:r>
            <a:endParaRPr sz="1900" b="1" i="0" spc="6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217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2026 高考数学 · 全国二卷 19 题</a:t>
            </a:r>
            <a:endParaRPr sz="1050" b="0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78240" y="62179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B4E5B0D2-3F1A-4C77-9A11-103}" type="slidenum">
              <a:rPr lang="zh-CN" sz="1050" b="0">
                <a:solidFill>
                  <a:srgbClr val="445437"/>
                </a:solidFill>
                <a:latin typeface="微软雅黑" panose="020B0503020204020204" charset="-122"/>
              </a:rPr>
            </a:fld>
            <a:endParaRPr lang="zh-CN" sz="1050" b="0">
              <a:solidFill>
                <a:srgbClr val="445437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76288" y="173736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9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两个条件，两个未知数</a:t>
            </a:r>
            <a:endParaRPr sz="1200" b="0" i="0" spc="9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76288" y="2596896"/>
            <a:ext cx="461772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① 点：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切线在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处给出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y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=1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，故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(0)=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b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=1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② 斜率：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′(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+1)e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a</a:t>
            </a:r>
            <a:endParaRPr sz="1500" b="0" i="1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③ 代入：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1+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a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=−2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，得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a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=−3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76288" y="4443984"/>
            <a:ext cx="1143000" cy="292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455371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所以 </a:t>
            </a:r>
            <a:r>
              <a:rPr sz="195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95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95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95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95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95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950" b="1" i="1" baseline="3000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95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−3</a:t>
            </a:r>
            <a:r>
              <a:rPr sz="195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95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+1</a:t>
            </a:r>
            <a:endParaRPr sz="1950" b="1" i="0">
              <a:solidFill>
                <a:srgbClr val="2E3A22"/>
              </a:solidFill>
              <a:latin typeface="Cambria Math" panose="020405030504060302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76288" y="5650992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3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先看“点”，再看“斜率”：切点本身也在切线上．</a:t>
            </a:r>
            <a:endParaRPr sz="1050" b="0" i="0" spc="3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sz="1900" b="1" i="0" spc="6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（2）求 m 的取值范围</a:t>
            </a:r>
            <a:endParaRPr sz="1900" b="1" i="0" spc="6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217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2026 高考数学 · 全国二卷 19 题</a:t>
            </a:r>
            <a:endParaRPr sz="1050" b="0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8240" y="62179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B4E5B0D2-3F1A-4C77-9A11-104}" type="slidenum">
              <a:rPr lang="zh-CN" sz="1050" b="0">
                <a:solidFill>
                  <a:srgbClr val="445437"/>
                </a:solidFill>
                <a:latin typeface="微软雅黑" panose="020B0503020204020204" charset="-122"/>
              </a:rPr>
            </a:fld>
            <a:endParaRPr lang="zh-CN" sz="1050" b="0">
              <a:solidFill>
                <a:srgbClr val="4454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841248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① 代入整理　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)e</a:t>
            </a:r>
            <a:r>
              <a:rPr sz="16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x+m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6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−3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endParaRPr sz="1600" b="0" i="1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marL="311150" indent="0"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⟺ 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)&gt;4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，其中 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6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6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② 看单调性　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′(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)=(1+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)e</a:t>
            </a:r>
            <a:r>
              <a:rPr sz="16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），故 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在 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(0,+∞)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上递增．</a:t>
            </a:r>
            <a:endParaRPr sz="16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③ 分类讨论　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令 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endParaRPr sz="1600" b="0" i="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marL="311150" indent="0" algn="l"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′(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′(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′(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递增，下确界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(0)=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603250" indent="0" algn="l"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需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≥4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，即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≥2ln2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11150" indent="0" algn="l"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0&gt;0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，不成立；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11150" indent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&lt;0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→+∞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时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g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)→−∞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，不成立．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5138928"/>
            <a:ext cx="1051560" cy="292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248656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④ 结论：</a:t>
            </a:r>
            <a:r>
              <a:rPr sz="200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20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≥2ln2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，即 </a:t>
            </a:r>
            <a:r>
              <a:rPr sz="160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∈[2ln2, +∞)</a:t>
            </a:r>
            <a:endParaRPr sz="1600" b="1" i="0">
              <a:solidFill>
                <a:srgbClr val="2E3A22"/>
              </a:solidFill>
              <a:latin typeface="Cambria Math" panose="02040503050406030204"/>
              <a:ea typeface="微软雅黑" panose="020B0503020204020204" charset="-122"/>
            </a:endParaRPr>
          </a:p>
        </p:txBody>
      </p:sp>
      <p:pic>
        <p:nvPicPr>
          <p:cNvPr id="8" name="Picture 7" descr="p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9820" y="1012190"/>
            <a:ext cx="3553460" cy="4479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sz="1900" b="1" i="0" spc="6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（3）求 k 的最小值</a:t>
            </a:r>
            <a:endParaRPr sz="1900" b="1" i="0" spc="6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217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2026 高考数学 · 全国二卷 19 题</a:t>
            </a:r>
            <a:endParaRPr sz="1050" b="0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8240" y="62179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B4E5B0D2-3F1A-4C77-9A11-105}" type="slidenum">
              <a:rPr lang="zh-CN" sz="1050" b="0">
                <a:solidFill>
                  <a:srgbClr val="445437"/>
                </a:solidFill>
                <a:latin typeface="微软雅黑" panose="020B0503020204020204" charset="-122"/>
              </a:rPr>
            </a:fld>
            <a:endParaRPr lang="zh-CN" sz="1050" b="0">
              <a:solidFill>
                <a:srgbClr val="445437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p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43584"/>
            <a:ext cx="2139696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2384" y="1188720"/>
            <a:ext cx="8321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线性项在对称差中整体抵消，剩下的只是 </a:t>
            </a:r>
            <a:r>
              <a:rPr sz="14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4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4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t</a:t>
            </a:r>
            <a:r>
              <a:rPr sz="14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型结构．</a:t>
            </a:r>
            <a:endParaRPr sz="14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① 作对称差　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)+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)−2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endParaRPr sz="1550" b="0" i="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marL="311150" indent="0"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= 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k+x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+(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k−x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−2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endParaRPr sz="1550" b="0" i="1" baseline="3000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② 提出 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= 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[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−2)+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−e</a:t>
            </a:r>
            <a:r>
              <a:rPr sz="155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)]&gt;0</a:t>
            </a:r>
            <a:endParaRPr sz="1550" b="0" i="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③ 分离参数　</a:t>
            </a:r>
            <a:r>
              <a:rPr sz="15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对一切 </a:t>
            </a:r>
            <a:r>
              <a:rPr sz="155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5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5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有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&gt;−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)/(e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−2)≜−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φ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</a:t>
            </a:r>
            <a:endParaRPr sz="1500" b="0" i="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marL="311150" indent="0" algn="l">
              <a:lnSpc>
                <a:spcPct val="13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令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ψ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)−2(e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−2)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ψ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(0)=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ψ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′(0)=0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11150" indent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ψ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″(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−e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⟹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ψ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)&gt;0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，即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φ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)&gt;2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；又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→0</a:t>
            </a:r>
            <a:r>
              <a:rPr sz="15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时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φ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)→2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，故 </a:t>
            </a:r>
            <a:r>
              <a:rPr sz="15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5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≥−2</a:t>
            </a:r>
            <a:r>
              <a:rPr sz="15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5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72384" y="5047488"/>
            <a:ext cx="1051560" cy="29260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5157216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④ 结论：</a:t>
            </a:r>
            <a:r>
              <a:rPr sz="1800" b="0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600" b="0" i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 的最小值为 </a:t>
            </a:r>
            <a:r>
              <a:rPr sz="20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−2</a:t>
            </a:r>
            <a:r>
              <a:rPr sz="1350" b="0" i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（此时对一切 </a:t>
            </a:r>
            <a:r>
              <a:rPr sz="1350" b="0" i="1">
                <a:solidFill>
                  <a:srgbClr val="445437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350" b="0" i="0">
                <a:solidFill>
                  <a:srgbClr val="445437"/>
                </a:solidFill>
                <a:latin typeface="Cambria Math" panose="02040503050406030204"/>
                <a:ea typeface="微软雅黑" panose="020B0503020204020204" charset="-122"/>
              </a:rPr>
              <a:t>&gt;0</a:t>
            </a:r>
            <a:r>
              <a:rPr sz="1350" b="0" i="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 恒成立）</a:t>
            </a:r>
            <a:endParaRPr sz="1350" b="0" i="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sz="1900" b="1" i="0" spc="6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答案与小结</a:t>
            </a:r>
            <a:endParaRPr sz="1900" b="1" i="0" spc="6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6217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2026 高考数学 · 全国二卷 19 题</a:t>
            </a:r>
            <a:endParaRPr sz="1050" b="0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8240" y="621792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B4E5B0D2-3F1A-4C77-9A11-106}" type="slidenum">
              <a:rPr lang="zh-CN" sz="1050" b="0">
                <a:solidFill>
                  <a:srgbClr val="445437"/>
                </a:solidFill>
                <a:latin typeface="微软雅黑" panose="020B0503020204020204" charset="-122"/>
              </a:rPr>
            </a:fld>
            <a:endParaRPr lang="zh-CN" sz="1050" b="0">
              <a:solidFill>
                <a:srgbClr val="4454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7315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（1）</a:t>
            </a:r>
            <a:r>
              <a:rPr sz="190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a</a:t>
            </a:r>
            <a:r>
              <a:rPr sz="19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=−3，</a:t>
            </a:r>
            <a:r>
              <a:rPr sz="190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b</a:t>
            </a:r>
            <a:r>
              <a:rPr sz="19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=1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f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(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)=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e</a:t>
            </a:r>
            <a:r>
              <a:rPr sz="1600" b="0" i="1" baseline="3000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−3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x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+1</a:t>
            </a:r>
            <a:endParaRPr sz="1600" b="0" i="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（2）</a:t>
            </a:r>
            <a:r>
              <a:rPr sz="190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9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≥2ln2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，即 </a:t>
            </a:r>
            <a:r>
              <a:rPr sz="1600" b="0" i="1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m</a:t>
            </a:r>
            <a:r>
              <a:rPr sz="1600" b="0" i="0">
                <a:solidFill>
                  <a:srgbClr val="262626"/>
                </a:solidFill>
                <a:latin typeface="Cambria Math" panose="02040503050406030204"/>
                <a:ea typeface="微软雅黑" panose="020B0503020204020204" charset="-122"/>
              </a:rPr>
              <a:t>∈[2ln2, +∞)</a:t>
            </a:r>
            <a:endParaRPr sz="1600" b="0" i="0">
              <a:solidFill>
                <a:srgbClr val="262626"/>
              </a:solidFill>
              <a:latin typeface="Cambria Math" panose="02040503050406030204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4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（3）</a:t>
            </a:r>
            <a:r>
              <a:rPr sz="1900" b="1" i="1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k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 的最小值为 </a:t>
            </a:r>
            <a:r>
              <a:rPr sz="1900" b="1" i="0">
                <a:solidFill>
                  <a:srgbClr val="2E3A22"/>
                </a:solidFill>
                <a:latin typeface="Cambria Math" panose="02040503050406030204"/>
                <a:ea typeface="微软雅黑" panose="020B0503020204020204" charset="-122"/>
              </a:rPr>
              <a:t>−2</a:t>
            </a:r>
            <a:r>
              <a:rPr sz="16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．</a:t>
            </a:r>
            <a:endParaRPr sz="16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3931920"/>
            <a:ext cx="10698480" cy="18288"/>
          </a:xfrm>
          <a:prstGeom prst="rect">
            <a:avLst/>
          </a:prstGeom>
          <a:solidFill>
            <a:srgbClr val="CCC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133087"/>
            <a:ext cx="7315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1" i="0" spc="14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方法提炼</a:t>
            </a:r>
            <a:endParaRPr sz="1100" b="1" i="0" spc="14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切线定参</a:t>
            </a:r>
            <a:r>
              <a:rPr sz="1500" b="0" i="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1500" b="1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同构减元</a:t>
            </a:r>
            <a:r>
              <a:rPr sz="1500" b="0" i="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1500" b="1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单调定界</a:t>
            </a:r>
            <a:r>
              <a:rPr sz="1500" b="0" i="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1500" b="1" i="0" spc="50">
                <a:solidFill>
                  <a:srgbClr val="445437"/>
                </a:solidFill>
                <a:latin typeface="微软雅黑" panose="020B0503020204020204" charset="-122"/>
                <a:ea typeface="微软雅黑" panose="020B0503020204020204" charset="-122"/>
              </a:rPr>
              <a:t>对称差消项</a:t>
            </a:r>
            <a:endParaRPr sz="1500" b="1" i="0" spc="50">
              <a:solidFill>
                <a:srgbClr val="4454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</a:rPr>
              <a:t>三问同源：把“恒成立”化成函数的下确界问题．</a:t>
            </a:r>
            <a:endParaRPr sz="130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550468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30">
                <a:solidFill>
                  <a:srgbClr val="868686"/>
                </a:solidFill>
                <a:latin typeface="微软雅黑" panose="020B0503020204020204" charset="-122"/>
                <a:ea typeface="微软雅黑" panose="020B0503020204020204" charset="-122"/>
              </a:rPr>
              <a:t>易错点：b 由切点定、m&lt;0 别漏、分离参数后别忘了取下确界</a:t>
            </a:r>
            <a:endParaRPr sz="1200" b="0" i="0" spc="30">
              <a:solidFill>
                <a:srgbClr val="8686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p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985" y="880745"/>
            <a:ext cx="6231255" cy="30626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1256</Words>
  <Application>WPS 演示</Application>
  <PresentationFormat>宽屏</PresentationFormat>
  <Paragraphs>89</Paragraphs>
  <Slides>6</Slides>
  <Notes>78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等线</vt:lpstr>
      <vt:lpstr>Segoe UI</vt:lpstr>
      <vt:lpstr>Segoe UI Light</vt:lpstr>
      <vt:lpstr>Cambria Math</vt:lpstr>
      <vt:lpstr>Arial Unicode MS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Journey</cp:lastModifiedBy>
  <cp:revision>32</cp:revision>
  <dcterms:created xsi:type="dcterms:W3CDTF">2019-03-11T14:11:00Z</dcterms:created>
  <dcterms:modified xsi:type="dcterms:W3CDTF">2026-10-18T14:57:12Z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2052-12.1.0.29161</vt:lpwstr>
  </property>
  <property fmtid="{D5CDD505-2E9C-101B-9397-08002B2CF9AE}" pid="12" name="ICV">
    <vt:lpwstr>886DE0D74A4844A3B7F74F2B5CADC99D_12</vt:lpwstr>
  </property>
</Properties>
</file>