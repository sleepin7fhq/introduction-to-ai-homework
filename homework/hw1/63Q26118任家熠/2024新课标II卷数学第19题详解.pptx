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D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118872" cy="2194560"/>
          </a:xfrm>
          <a:prstGeom prst="rect">
            <a:avLst/>
          </a:prstGeom>
          <a:solidFill>
            <a:srgbClr val="D9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371600"/>
            <a:ext cx="10058400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9FC0F0"/>
                </a:solidFill>
                <a:latin typeface="微软雅黑"/>
                <a:ea typeface="微软雅黑"/>
              </a:rPr>
              <a:t>2024 年新课标 II 卷 · 数学第 19 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920240"/>
            <a:ext cx="10241280" cy="17373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1">
                <a:solidFill>
                  <a:srgbClr val="FFFFFF"/>
                </a:solidFill>
                <a:latin typeface="微软雅黑"/>
                <a:ea typeface="微软雅黑"/>
              </a:rPr>
              <a:t>双曲线上的迭代构造：</a:t>
            </a:r>
          </a:p>
          <a:p>
            <a:pPr algn="l">
              <a:spcAft>
                <a:spcPts val="200"/>
              </a:spcAft>
            </a:pPr>
            <a:r>
              <a:rPr sz="4200" b="1">
                <a:solidFill>
                  <a:srgbClr val="FFFFFF"/>
                </a:solidFill>
                <a:latin typeface="微软雅黑"/>
                <a:ea typeface="微软雅黑"/>
              </a:rPr>
              <a:t>等比数列与等面积三角形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794760"/>
            <a:ext cx="1005840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B8CCEA"/>
                </a:solidFill>
                <a:latin typeface="微软雅黑"/>
                <a:ea typeface="微软雅黑"/>
              </a:rPr>
              <a:t>17 分压轴题 · 完整解答 · 可视化 · 与标准答案逐条核对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5257800"/>
            <a:ext cx="10058400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</a:rPr>
              <a:t>制作工具：DeepSeek Harness (dsh)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A8BEDE"/>
                </a:solidFill>
                <a:latin typeface="微软雅黑"/>
                <a:ea typeface="微软雅黑"/>
              </a:rPr>
              <a:t>选题来源：2024 年高考数学新课标 II 卷（新高考二卷）第 19 题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A8BEDE"/>
                </a:solidFill>
                <a:latin typeface="微软雅黑"/>
                <a:ea typeface="微软雅黑"/>
              </a:rPr>
              <a:t>验证方式：精确有理数运算 + 符号推导（Python Fraction / 多项式插值）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D9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42A52"/>
                </a:solidFill>
                <a:latin typeface="微软雅黑"/>
                <a:ea typeface="微软雅黑"/>
              </a:rPr>
              <a:t>题目原文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9184"/>
            <a:ext cx="914400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3000" b="1">
                <a:solidFill>
                  <a:srgbClr val="C3CCDA"/>
                </a:solidFill>
                <a:latin typeface="微软雅黑"/>
                <a:ea typeface="微软雅黑"/>
              </a:rPr>
              <a:t>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69264"/>
            <a:ext cx="10789920" cy="40233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5E6674"/>
                </a:solidFill>
                <a:latin typeface="微软雅黑"/>
                <a:ea typeface="微软雅黑"/>
              </a:rPr>
              <a:t>2024 · 新课标 II 卷 · 第 19 题（满分 17 分）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81328"/>
            <a:ext cx="10698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27632"/>
            <a:ext cx="10241280" cy="11887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22262E"/>
                </a:solidFill>
                <a:latin typeface="微软雅黑"/>
                <a:ea typeface="微软雅黑"/>
              </a:rPr>
              <a:t>已知双曲线 C: x² − y² = m (m &gt; 0)，点 P₁(5, 4) 在 C 上，k 为常数，0 &lt; k &lt; 1。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22262E"/>
                </a:solidFill>
                <a:latin typeface="微软雅黑"/>
                <a:ea typeface="微软雅黑"/>
              </a:rPr>
              <a:t>按照如下方式依次构造点 Pₙ (n = 2, 3, …)：过 Pₙ₋₁ 作斜率为 k 的直线与 C 的左支交于点 Qₙ₋₁，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22262E"/>
                </a:solidFill>
                <a:latin typeface="微软雅黑"/>
                <a:ea typeface="微软雅黑"/>
              </a:rPr>
              <a:t>令 Pₙ 为 Qₙ₋₁ 关于 y 轴的对称点。记 Pₙ 的坐标为 (xₙ, yₙ)。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63240"/>
            <a:ext cx="3429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063240"/>
            <a:ext cx="64008" cy="2286000"/>
          </a:xfrm>
          <a:prstGeom prst="rect">
            <a:avLst/>
          </a:prstGeom>
          <a:solidFill>
            <a:srgbClr val="14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191256"/>
            <a:ext cx="30632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7A45"/>
                </a:solidFill>
                <a:latin typeface="微软雅黑"/>
                <a:ea typeface="微软雅黑"/>
              </a:rPr>
              <a:t>(1)  求交点坐标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611880"/>
            <a:ext cx="3044952" cy="16276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若 k = 1/2，求 x₂, y₂。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→ 直接联立直线与双曲线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→ 取左支交点再作对称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9976" y="3063240"/>
            <a:ext cx="3429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9976" y="3063240"/>
            <a:ext cx="64008" cy="2286000"/>
          </a:xfrm>
          <a:prstGeom prst="rect">
            <a:avLst/>
          </a:prstGeom>
          <a:solidFill>
            <a:srgbClr val="1F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3191256"/>
            <a:ext cx="30632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5FC0"/>
                </a:solidFill>
                <a:latin typeface="微软雅黑"/>
                <a:ea typeface="微软雅黑"/>
              </a:rPr>
              <a:t>(2)  证明等比数列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611880"/>
            <a:ext cx="3044952" cy="16276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证明：数列 {xₙ − yₙ} 是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公比为 (1+k)/(1−k) 的等比数列。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→ 斜率条件 + 双曲线方程相减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8431" y="3063240"/>
            <a:ext cx="3429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1" y="3063240"/>
            <a:ext cx="64008" cy="2286000"/>
          </a:xfrm>
          <a:prstGeom prst="rect">
            <a:avLst/>
          </a:prstGeom>
          <a:solidFill>
            <a:srgbClr val="D9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191256"/>
            <a:ext cx="30632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D94A2B"/>
                </a:solidFill>
                <a:latin typeface="微软雅黑"/>
                <a:ea typeface="微软雅黑"/>
              </a:rPr>
              <a:t>(3)  证明面积相等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611880"/>
            <a:ext cx="3044952" cy="16276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设 Sₙ 为 △PₙPₙ₊₁Pₙ₊₂ 的面积，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证明：对任意正整数 n，Sₙ = Sₙ₊₁。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→ 证明 Pₙ₊₁Pₙ₊₂ ∥ PₙPₙ₊₃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5E6674"/>
                </a:solidFill>
                <a:latin typeface="微软雅黑"/>
                <a:ea typeface="微软雅黑"/>
              </a:rPr>
              <a:t>关键词：解析几何 × 数列 × 平面几何（等底等高）—— 三块知识的交汇是新高考压轴题的典型风格。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D9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42A52"/>
                </a:solidFill>
                <a:latin typeface="微软雅黑"/>
                <a:ea typeface="微软雅黑"/>
              </a:rPr>
              <a:t>解题思路全景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9184"/>
            <a:ext cx="914400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3000" b="1">
                <a:solidFill>
                  <a:srgbClr val="C3CCDA"/>
                </a:solidFill>
                <a:latin typeface="微软雅黑"/>
                <a:ea typeface="微软雅黑"/>
              </a:rPr>
              <a:t>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69264"/>
            <a:ext cx="10789920" cy="40233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5E6674"/>
                </a:solidFill>
                <a:latin typeface="微软雅黑"/>
                <a:ea typeface="微软雅黑"/>
              </a:rPr>
              <a:t>先把 m 定下来，再逐问击破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64008" cy="1828800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36776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2A52"/>
                </a:solidFill>
                <a:latin typeface="微软雅黑"/>
                <a:ea typeface="微软雅黑"/>
              </a:rPr>
              <a:t>第 0 步：定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57400"/>
            <a:ext cx="2999232" cy="11704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P₁(5,4) 在 C 上 ⇒ 5² − 4² = m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>⇒ m = 9，C: x² − y² = 9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这是全题的基础。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508760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08760"/>
            <a:ext cx="64008" cy="1828800"/>
          </a:xfrm>
          <a:prstGeom prst="rect">
            <a:avLst/>
          </a:prstGeom>
          <a:solidFill>
            <a:srgbClr val="14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636776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7A45"/>
                </a:solidFill>
                <a:latin typeface="微软雅黑"/>
                <a:ea typeface="微软雅黑"/>
              </a:rPr>
              <a:t>(1) 联立求交点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057400"/>
            <a:ext cx="2999232" cy="11704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过 P₁ 且斜率 1/2 的直线：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>y = (x+3)/2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与 x² − y² = 9 联立，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得 x = 5 或 x = −3。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1508760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508760"/>
            <a:ext cx="64008" cy="1828800"/>
          </a:xfrm>
          <a:prstGeom prst="rect">
            <a:avLst/>
          </a:prstGeom>
          <a:solidFill>
            <a:srgbClr val="1F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1636776"/>
            <a:ext cx="315468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5FC0"/>
                </a:solidFill>
                <a:latin typeface="微软雅黑"/>
                <a:ea typeface="微软雅黑"/>
              </a:rPr>
              <a:t>(2) 用“斜率”造数列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057400"/>
            <a:ext cx="3136392" cy="11704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Qₙ₋₁(−xₙ, yₙ), Pₙ₋₁ 共线，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斜率均为 k；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两点都在 C 上，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两式相减 + 斜率式联立。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611880"/>
            <a:ext cx="5349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611880"/>
            <a:ext cx="64008" cy="2286000"/>
          </a:xfrm>
          <a:prstGeom prst="rect">
            <a:avLst/>
          </a:prstGeom>
          <a:solidFill>
            <a:srgbClr val="D9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739896"/>
            <a:ext cx="498347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D94A2B"/>
                </a:solidFill>
                <a:latin typeface="微软雅黑"/>
                <a:ea typeface="微软雅黑"/>
              </a:rPr>
              <a:t>(3) 几何转化 —— 关键一步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160520"/>
            <a:ext cx="4965192" cy="16276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要证 Sₙ = Sₙ₊₁，即证两个三角形等面积。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已知 Pₙ₊₁Pₙ₊₂ ∥ PₙPₙ₊₃（两底共线于两条平行线）。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再由 (2) 得到 xₙ ± yₙ 的通项，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直接算出 Sₙ 与 n 无关。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611880"/>
            <a:ext cx="5166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611880"/>
            <a:ext cx="64008" cy="2286000"/>
          </a:xfrm>
          <a:prstGeom prst="rect">
            <a:avLst/>
          </a:prstGeom>
          <a:solidFill>
            <a:srgbClr val="14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3739896"/>
            <a:ext cx="48006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7A45"/>
                </a:solidFill>
                <a:latin typeface="微软雅黑"/>
                <a:ea typeface="微软雅黑"/>
              </a:rPr>
              <a:t>本题的三个“得分点”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4160520"/>
            <a:ext cx="4782312" cy="16276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①  左支取点：必须说明 −3 在左支（x ≤ −3）；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②  等比数列：斜率式与双曲线式联立消元；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③  面积恒定：平行 ⇒ 等积的转化，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    再用参数 t = (1+k)/(1−k) 一步算完。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D9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42A52"/>
                </a:solidFill>
                <a:latin typeface="微软雅黑"/>
                <a:ea typeface="微软雅黑"/>
              </a:rPr>
              <a:t>第 (1) 问：k = 1/2，求 x₂, y₂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9184"/>
            <a:ext cx="914400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3000" b="1">
                <a:solidFill>
                  <a:srgbClr val="C3CCDA"/>
                </a:solidFill>
                <a:latin typeface="Segoe UI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69264"/>
            <a:ext cx="10789920" cy="40233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5E6674"/>
                </a:solidFill>
                <a:latin typeface="微软雅黑"/>
                <a:ea typeface="微软雅黑"/>
              </a:rPr>
              <a:t>官方答案：x₂ = 3，y₂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85216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8"/>
              </a:spcAft>
            </a:pPr>
            <a:r>
              <a:rPr sz="1450" b="1">
                <a:solidFill>
                  <a:srgbClr val="D94A2B"/>
                </a:solidFill>
                <a:latin typeface="微软雅黑"/>
              </a:rPr>
              <a:t>① 定 m</a:t>
            </a:r>
          </a:p>
          <a:p>
            <a:pPr>
              <a:spcAft>
                <a:spcPts val="108"/>
              </a:spcAft>
            </a:pPr>
            <a:r>
              <a:rPr sz="1250" b="0">
                <a:solidFill>
                  <a:srgbClr val="22262E"/>
                </a:solidFill>
                <a:latin typeface="微软雅黑"/>
              </a:rPr>
              <a:t>P₁(5,4) 在 C: x² − y² = m 上  ⇒  m = 5² − 4² = 9，即 C: x² − y² = 9。</a:t>
            </a:r>
          </a:p>
          <a:p>
            <a:pPr>
              <a:spcAft>
                <a:spcPts val="108"/>
              </a:spcAft>
            </a:pPr>
            <a:r>
              <a:rPr sz="1450" b="0">
                <a:solidFill>
                  <a:srgbClr val="22262E"/>
                </a:solidFill>
                <a:latin typeface="微软雅黑"/>
              </a:rPr>
              <a:t/>
            </a:r>
          </a:p>
          <a:p>
            <a:pPr>
              <a:spcAft>
                <a:spcPts val="108"/>
              </a:spcAft>
            </a:pPr>
            <a:r>
              <a:rPr sz="1450" b="1">
                <a:solidFill>
                  <a:srgbClr val="D94A2B"/>
                </a:solidFill>
                <a:latin typeface="微软雅黑"/>
              </a:rPr>
              <a:t>② 写出直线</a:t>
            </a:r>
          </a:p>
          <a:p>
            <a:pPr>
              <a:spcAft>
                <a:spcPts val="108"/>
              </a:spcAft>
            </a:pPr>
            <a:r>
              <a:rPr sz="1250" b="0">
                <a:solidFill>
                  <a:srgbClr val="22262E"/>
                </a:solidFill>
                <a:latin typeface="微软雅黑"/>
              </a:rPr>
              <a:t>过 P₁(5,4) 且斜率为 k = 1/2 的直线：</a:t>
            </a:r>
          </a:p>
          <a:p>
            <a:pPr>
              <a:spcAft>
                <a:spcPts val="108"/>
              </a:spcAft>
            </a:pPr>
            <a:r>
              <a:rPr sz="1250" b="0">
                <a:solidFill>
                  <a:srgbClr val="22262E"/>
                </a:solidFill>
                <a:latin typeface="微软雅黑"/>
              </a:rPr>
              <a:t>y − 4 = ½(x − 5)  ⇒  y = (x + 3)/2。</a:t>
            </a:r>
          </a:p>
          <a:p>
            <a:pPr>
              <a:spcAft>
                <a:spcPts val="108"/>
              </a:spcAft>
            </a:pPr>
            <a:r>
              <a:rPr sz="1450" b="0">
                <a:solidFill>
                  <a:srgbClr val="22262E"/>
                </a:solidFill>
                <a:latin typeface="微软雅黑"/>
              </a:rPr>
              <a:t/>
            </a:r>
          </a:p>
          <a:p>
            <a:pPr>
              <a:spcAft>
                <a:spcPts val="108"/>
              </a:spcAft>
            </a:pPr>
            <a:r>
              <a:rPr sz="1450" b="1">
                <a:solidFill>
                  <a:srgbClr val="D94A2B"/>
                </a:solidFill>
                <a:latin typeface="微软雅黑"/>
              </a:rPr>
              <a:t>③ 与双曲线联立</a:t>
            </a:r>
          </a:p>
          <a:p>
            <a:pPr>
              <a:spcAft>
                <a:spcPts val="108"/>
              </a:spcAft>
            </a:pPr>
            <a:r>
              <a:rPr sz="1250" b="0">
                <a:solidFill>
                  <a:srgbClr val="22262E"/>
                </a:solidFill>
                <a:latin typeface="微软雅黑"/>
              </a:rPr>
              <a:t>把 y = (x+3)/2 代入 x² − y² = 9：</a:t>
            </a:r>
          </a:p>
          <a:p>
            <a:pPr>
              <a:spcAft>
                <a:spcPts val="108"/>
              </a:spcAft>
            </a:pPr>
            <a:r>
              <a:rPr sz="1250" b="0">
                <a:solidFill>
                  <a:srgbClr val="22262E"/>
                </a:solidFill>
                <a:latin typeface="微软雅黑"/>
              </a:rPr>
              <a:t>x² − ((x+3)/2)² = 9</a:t>
            </a:r>
          </a:p>
          <a:p>
            <a:pPr>
              <a:spcAft>
                <a:spcPts val="108"/>
              </a:spcAft>
            </a:pPr>
            <a:r>
              <a:rPr sz="1250" b="0">
                <a:solidFill>
                  <a:srgbClr val="22262E"/>
                </a:solidFill>
                <a:latin typeface="微软雅黑"/>
              </a:rPr>
              <a:t>4x² − (x+3)² = 36</a:t>
            </a:r>
          </a:p>
          <a:p>
            <a:pPr>
              <a:spcAft>
                <a:spcPts val="108"/>
              </a:spcAft>
            </a:pPr>
            <a:r>
              <a:rPr sz="1250" b="0">
                <a:solidFill>
                  <a:srgbClr val="22262E"/>
                </a:solidFill>
                <a:latin typeface="微软雅黑"/>
              </a:rPr>
              <a:t>3x² − 6x − 45 = 0  ⇒  x² − 2x − 15 = 0</a:t>
            </a:r>
          </a:p>
          <a:p>
            <a:pPr>
              <a:spcAft>
                <a:spcPts val="108"/>
              </a:spcAft>
            </a:pPr>
            <a:r>
              <a:rPr sz="1250" b="0">
                <a:solidFill>
                  <a:srgbClr val="22262E"/>
                </a:solidFill>
                <a:latin typeface="微软雅黑"/>
              </a:rPr>
              <a:t>⇒ (x − 5)(x + 3) = 0  ⇒  x = 5 或 x = −3。</a:t>
            </a:r>
          </a:p>
          <a:p>
            <a:pPr>
              <a:spcAft>
                <a:spcPts val="108"/>
              </a:spcAft>
            </a:pPr>
            <a:r>
              <a:rPr sz="1450" b="0">
                <a:solidFill>
                  <a:srgbClr val="22262E"/>
                </a:solidFill>
                <a:latin typeface="微软雅黑"/>
              </a:rPr>
              <a:t/>
            </a:r>
          </a:p>
          <a:p>
            <a:pPr>
              <a:spcAft>
                <a:spcPts val="108"/>
              </a:spcAft>
            </a:pPr>
            <a:r>
              <a:rPr sz="1450" b="1">
                <a:solidFill>
                  <a:srgbClr val="D94A2B"/>
                </a:solidFill>
                <a:latin typeface="微软雅黑"/>
              </a:rPr>
              <a:t>④ 取左支交点</a:t>
            </a:r>
          </a:p>
          <a:p>
            <a:pPr>
              <a:spcAft>
                <a:spcPts val="108"/>
              </a:spcAft>
            </a:pPr>
            <a:r>
              <a:rPr sz="1250" b="0">
                <a:solidFill>
                  <a:srgbClr val="22262E"/>
                </a:solidFill>
                <a:latin typeface="微软雅黑"/>
              </a:rPr>
              <a:t>x = 5 即 P₁ 自身；另一交点为 x = −3（满足 x ≤ −3，在左支）</a:t>
            </a:r>
          </a:p>
          <a:p>
            <a:pPr>
              <a:spcAft>
                <a:spcPts val="108"/>
              </a:spcAft>
            </a:pPr>
            <a:r>
              <a:rPr sz="1250" b="0">
                <a:solidFill>
                  <a:srgbClr val="22262E"/>
                </a:solidFill>
                <a:latin typeface="微软雅黑"/>
              </a:rPr>
              <a:t>y = (−3 + 3)/2 = 0  ⇒  Q₁(−3, 0)。</a:t>
            </a:r>
          </a:p>
          <a:p>
            <a:pPr>
              <a:spcAft>
                <a:spcPts val="108"/>
              </a:spcAft>
            </a:pPr>
            <a:r>
              <a:rPr sz="1450" b="0">
                <a:solidFill>
                  <a:srgbClr val="22262E"/>
                </a:solidFill>
                <a:latin typeface="微软雅黑"/>
              </a:rPr>
              <a:t/>
            </a:r>
          </a:p>
          <a:p>
            <a:pPr>
              <a:spcAft>
                <a:spcPts val="108"/>
              </a:spcAft>
            </a:pPr>
            <a:r>
              <a:rPr sz="1450" b="1">
                <a:solidFill>
                  <a:srgbClr val="D94A2B"/>
                </a:solidFill>
                <a:latin typeface="微软雅黑"/>
              </a:rPr>
              <a:t>⑤ 关于 y 轴对称</a:t>
            </a:r>
          </a:p>
          <a:p>
            <a:pPr>
              <a:spcAft>
                <a:spcPts val="108"/>
              </a:spcAft>
            </a:pPr>
            <a:r>
              <a:rPr sz="1250" b="1">
                <a:solidFill>
                  <a:srgbClr val="147A45"/>
                </a:solidFill>
                <a:latin typeface="微软雅黑"/>
              </a:rPr>
              <a:t>P₂ 是 Q₁ 关于 y 轴的对称点：P₂(3, 0)。</a:t>
            </a:r>
          </a:p>
          <a:p>
            <a:pPr>
              <a:spcAft>
                <a:spcPts val="108"/>
              </a:spcAft>
            </a:pPr>
            <a:r>
              <a:rPr sz="1250" b="1">
                <a:solidFill>
                  <a:srgbClr val="147A45"/>
                </a:solidFill>
                <a:latin typeface="微软雅黑"/>
              </a:rPr>
              <a:t>故 x₂ = 3，y₂ = 0。</a:t>
            </a:r>
          </a:p>
        </p:txBody>
      </p:sp>
      <p:pic>
        <p:nvPicPr>
          <p:cNvPr id="9" name="Picture 8" descr="fig1_constru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12287"/>
            <a:ext cx="4754879" cy="30676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58000" y="5029200"/>
            <a:ext cx="4754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0" y="5029200"/>
            <a:ext cx="64008" cy="1371600"/>
          </a:xfrm>
          <a:prstGeom prst="rect">
            <a:avLst/>
          </a:prstGeom>
          <a:solidFill>
            <a:srgbClr val="14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9168" y="5157216"/>
            <a:ext cx="438912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7A45"/>
                </a:solidFill>
                <a:latin typeface="微软雅黑"/>
                <a:ea typeface="微软雅黑"/>
              </a:rPr>
              <a:t>与官方答案核对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5577840"/>
            <a:ext cx="4370832" cy="7132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官方：Q₁(−3, 0)，P₂(3, 0)，x₂ = 3，y₂ = 0。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本题解答完全一致 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D9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42A52"/>
                </a:solidFill>
                <a:latin typeface="微软雅黑"/>
                <a:ea typeface="微软雅黑"/>
              </a:rPr>
              <a:t>第 (2) 问：证明 {xₙ − yₙ} 是等比数列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9184"/>
            <a:ext cx="914400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3000" b="1">
                <a:solidFill>
                  <a:srgbClr val="C3CCDA"/>
                </a:solidFill>
                <a:latin typeface="Segoe UI"/>
                <a:ea typeface="微软雅黑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69264"/>
            <a:ext cx="10789920" cy="40233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5E6674"/>
                </a:solidFill>
                <a:latin typeface="微软雅黑"/>
                <a:ea typeface="微软雅黑"/>
              </a:rPr>
              <a:t>核心：把“斜率条件”与“点在曲线上”联立（目标公比 (1+k)/(1−k)）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81328"/>
            <a:ext cx="5394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64008" cy="2331720"/>
          </a:xfrm>
          <a:prstGeom prst="rect">
            <a:avLst/>
          </a:prstGeom>
          <a:solidFill>
            <a:srgbClr val="1F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09344"/>
            <a:ext cx="50292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5FC0"/>
                </a:solidFill>
                <a:latin typeface="微软雅黑"/>
                <a:ea typeface="微软雅黑"/>
              </a:rPr>
              <a:t>方法一：斜率 + 相减（推荐）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29968"/>
            <a:ext cx="5010912" cy="1673351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记 t = (1+k)/(1−k)。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Qₙ₋₁(−xₙ, yₙ) 与 Pₙ₋₁(xₙ₋₁, yₙ₋₁) 都在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斜率为 k 的直线上：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>(yₙ − yₙ₋₁)/(−xₙ − xₙ₋₁) = k        ①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>⇒ yₙ − yₙ₋₁ = −k(xₙ + xₙ₋₁)。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81328"/>
            <a:ext cx="5166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81328"/>
            <a:ext cx="64008" cy="2331720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609344"/>
            <a:ext cx="48006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2A52"/>
                </a:solidFill>
                <a:latin typeface="微软雅黑"/>
                <a:ea typeface="微软雅黑"/>
              </a:rPr>
              <a:t>两条关系式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029968"/>
            <a:ext cx="4782312" cy="1673351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Pₙ₋₁、Qₙ₋₁ 都在 C 上：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>xₙ² − yₙ² = 9,  xₙ₋₁² − yₙ₋₁² = 9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两式相减：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>(xₙ − xₙ₋₁)(xₙ + xₙ₋₁) = (yₙ − yₙ₋₁)(yₙ + yₙ₋₁)   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77639"/>
            <a:ext cx="10744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96512"/>
            <a:ext cx="10287000" cy="21031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D94A2B"/>
                </a:solidFill>
                <a:latin typeface="微软雅黑"/>
                <a:ea typeface="微软雅黑"/>
              </a:rPr>
              <a:t>把 ① 代入 ②，并注意两边同除以 (xₙ + xₙ₋₁) ≠ 0：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2262E"/>
                </a:solidFill>
                <a:latin typeface="Segoe UI"/>
                <a:ea typeface="微软雅黑"/>
              </a:rPr>
              <a:t>xₙ − xₙ₋₁ = −k(yₙ + yₙ₋₁)                              ③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D94A2B"/>
                </a:solidFill>
                <a:latin typeface="微软雅黑"/>
                <a:ea typeface="微软雅黑"/>
              </a:rPr>
              <a:t>由 ①、③ 消去 (xₙ + xₙ₋₁) 与 (yₙ + yₙ₋₁)：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2262E"/>
                </a:solidFill>
                <a:latin typeface="Segoe UI"/>
                <a:ea typeface="微软雅黑"/>
              </a:rPr>
              <a:t>(xₙ − yₙ) − (xₙ₋₁ − yₙ₋₁) = k[(xₙ − yₙ) + (xₙ₋₁ − yₙ₋₁)]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2262E"/>
                </a:solidFill>
                <a:latin typeface="Segoe UI"/>
                <a:ea typeface="微软雅黑"/>
              </a:rPr>
              <a:t>⇒ (1 − k)(xₙ − yₙ) = (1 + k)(xₙ₋₁ − yₙ₋₁)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147A45"/>
                </a:solidFill>
                <a:latin typeface="Segoe UI"/>
                <a:ea typeface="微软雅黑"/>
              </a:rPr>
              <a:t>⇒ (xₙ − yₙ)/(xₙ₋₁ − yₙ₋₁) = (1 + k)/(1 − k)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5E6674"/>
                </a:solidFill>
                <a:latin typeface="微软雅黑"/>
                <a:ea typeface="微软雅黑"/>
              </a:rPr>
              <a:t>又 x₁ − y₁ = 5 − 4 = 1 ≠ 0，故 {xₙ − yₙ} 是首项 1、公比 (1+k)/(1−k) 的等比数列。证毕 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D9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42A52"/>
                </a:solidFill>
                <a:latin typeface="微软雅黑"/>
                <a:ea typeface="微软雅黑"/>
              </a:rPr>
              <a:t>第 (2) 问的三个“副产品”：为第 (3) 问铺路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9184"/>
            <a:ext cx="914400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3000" b="1">
                <a:solidFill>
                  <a:srgbClr val="C3CCDA"/>
                </a:solidFill>
                <a:latin typeface="Segoe UI"/>
                <a:ea typeface="微软雅黑"/>
              </a:rPr>
              <a:t>2+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69264"/>
            <a:ext cx="10789920" cy="40233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5E6674"/>
                </a:solidFill>
                <a:latin typeface="微软雅黑"/>
                <a:ea typeface="微软雅黑"/>
              </a:rPr>
              <a:t>这是本题最漂亮的地方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34290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64008" cy="2148840"/>
          </a:xfrm>
          <a:prstGeom prst="rect">
            <a:avLst/>
          </a:prstGeom>
          <a:solidFill>
            <a:srgbClr val="1F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82495"/>
            <a:ext cx="30632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5FC0"/>
                </a:solidFill>
                <a:latin typeface="微软雅黑"/>
                <a:ea typeface="微软雅黑"/>
              </a:rPr>
              <a:t>①  等比：uₙ = xₙ − yₙ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103120"/>
            <a:ext cx="3044952" cy="1490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>uₙ = t^(n−1)，t = (1+k)/(1−k)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>u₁ = x₁ − y₁ = 1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（即题设要证的结论）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9976" y="1554480"/>
            <a:ext cx="34290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9976" y="1554480"/>
            <a:ext cx="64008" cy="2148840"/>
          </a:xfrm>
          <a:prstGeom prst="rect">
            <a:avLst/>
          </a:prstGeom>
          <a:solidFill>
            <a:srgbClr val="14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682495"/>
            <a:ext cx="30632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7A45"/>
                </a:solidFill>
                <a:latin typeface="微软雅黑"/>
                <a:ea typeface="微软雅黑"/>
              </a:rPr>
              <a:t>②  等比：vₙ = xₙ + yₙ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103120"/>
            <a:ext cx="3044952" cy="1490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由 xₙ² − yₙ² = 9：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>(xₙ − yₙ)(xₙ + yₙ) = 9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>⇒ xₙ + yₙ = 9·t^(1−n)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公比恰为 (1−k)/(1+k)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8431" y="1554480"/>
            <a:ext cx="34290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554480"/>
            <a:ext cx="64008" cy="2148840"/>
          </a:xfrm>
          <a:prstGeom prst="rect">
            <a:avLst/>
          </a:prstGeom>
          <a:solidFill>
            <a:srgbClr val="D9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682495"/>
            <a:ext cx="30632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D94A2B"/>
                </a:solidFill>
                <a:latin typeface="微软雅黑"/>
                <a:ea typeface="微软雅黑"/>
              </a:rPr>
              <a:t>③  显式通项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103120"/>
            <a:ext cx="3044952" cy="1490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>xₙ = ½(t^(n−1) + 9t^(1−n))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>yₙ = ½(9t^(1−n) − t^(n−1))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两个数列都已知 ⇒ 可算任何量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886200"/>
            <a:ext cx="10744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023360"/>
            <a:ext cx="10287000" cy="21031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42A52"/>
                </a:solidFill>
                <a:latin typeface="微软雅黑"/>
                <a:ea typeface="微软雅黑"/>
              </a:rPr>
              <a:t>精确验证（取 k = 1/2，t = 3）：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2262E"/>
                </a:solidFill>
                <a:latin typeface="微软雅黑"/>
                <a:ea typeface="微软雅黑"/>
              </a:rPr>
              <a:t>xₙ − yₙ :   1,  3,  9,  27,  81, …        （公比 3 = (1+k)/(1−k) ✓）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2262E"/>
                </a:solidFill>
                <a:latin typeface="微软雅黑"/>
                <a:ea typeface="微软雅黑"/>
              </a:rPr>
              <a:t>xₙ + yₙ :   9,  3,  1,  1/3, 1/9, …        （公比 1/3 = (1−k)/(1+k) ✓）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2262E"/>
                </a:solidFill>
                <a:latin typeface="微软雅黑"/>
                <a:ea typeface="微软雅黑"/>
              </a:rPr>
              <a:t>点的坐标：P₁(5,4) → P₂(3,0) → P₃(5,−4) → P₄(41/3, −40/3) → P₅(365/9, −364/9)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5E6674"/>
                </a:solidFill>
                <a:latin typeface="微软雅黑"/>
                <a:ea typeface="微软雅黑"/>
              </a:rPr>
              <a:t>验证脚本：verify_final.py / AREA_FINAL3.py（精确有理数，全部通过）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D9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52"/>
                </a:solidFill>
                <a:latin typeface="微软雅黑"/>
                <a:ea typeface="微软雅黑"/>
              </a:rPr>
              <a:t>第 (3) 问（上）：证明 Pₙ₊₁Pₙ₊₂ ∥ PₙPₙ₊₃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9184"/>
            <a:ext cx="914400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3000" b="1">
                <a:solidFill>
                  <a:srgbClr val="C3CCDA"/>
                </a:solidFill>
                <a:latin typeface="Segoe UI"/>
                <a:ea typeface="微软雅黑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69264"/>
            <a:ext cx="10789920" cy="40233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5E6674"/>
                </a:solidFill>
                <a:latin typeface="微软雅黑"/>
                <a:ea typeface="微软雅黑"/>
              </a:rPr>
              <a:t>官方解答的核心一步：等底 ⇒ 等积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17904"/>
            <a:ext cx="54864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17904"/>
            <a:ext cx="64008" cy="2788920"/>
          </a:xfrm>
          <a:prstGeom prst="rect">
            <a:avLst/>
          </a:prstGeom>
          <a:solidFill>
            <a:srgbClr val="1F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45919"/>
            <a:ext cx="51206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5FC0"/>
                </a:solidFill>
                <a:latin typeface="微软雅黑"/>
                <a:ea typeface="微软雅黑"/>
              </a:rPr>
              <a:t>斜率计算（用通项直接算）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66543"/>
            <a:ext cx="5102352" cy="213055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记 t = (1+k)/(1−k) &gt; 1。由 xₙ ± yₙ 的通项得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>xₙ = ½(t^(n−1) + 9t^(1−n)),   yₙ = ½(9t^(1−n) − t^(n−1))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于是分别算出 xₙ₊₂ − xₙ₊₁ 与 yₙ₊₂ − yₙ₊₁，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整理可得两条弦的斜率都等于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>      1 − 2tⁿ/(9t^(−1−n) + tⁿ)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17904"/>
            <a:ext cx="50749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517904"/>
            <a:ext cx="64008" cy="2788920"/>
          </a:xfrm>
          <a:prstGeom prst="rect">
            <a:avLst/>
          </a:prstGeom>
          <a:solidFill>
            <a:srgbClr val="D9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1645919"/>
            <a:ext cx="470915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D94A2B"/>
                </a:solidFill>
                <a:latin typeface="微软雅黑"/>
                <a:ea typeface="微软雅黑"/>
              </a:rPr>
              <a:t>得到平行 ⇒ 等积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066543"/>
            <a:ext cx="4690872" cy="213055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k(Pₙ₊₁Pₙ₊₂) = k(PₙPₙ₊₃)，即 Pₙ₊₁Pₙ₊₂ ∥ PₙPₙ₊₃。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以 Pₙ₊₁Pₙ₊₂ 与 PₙPₙ₊₃ 为底的两个三角形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分别落在两条平行线上（等底、同高），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因此 S(△PₙPₙ₊₁Pₙ₊₂) = S(△Pₙ₊₁Pₙ₊₂Pₙ₊₃)。</a:t>
            </a:r>
          </a:p>
        </p:txBody>
      </p:sp>
      <p:pic>
        <p:nvPicPr>
          <p:cNvPr id="16" name="Picture 15" descr="fig2_parallel_equal_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424" y="4224528"/>
            <a:ext cx="3855110" cy="2487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D9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42A52"/>
                </a:solidFill>
                <a:latin typeface="微软雅黑"/>
                <a:ea typeface="微软雅黑"/>
              </a:rPr>
              <a:t>第 (3) 问（下）：把 Sₙ 算出来 —— 与 n 无关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9184"/>
            <a:ext cx="914400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3000" b="1">
                <a:solidFill>
                  <a:srgbClr val="C3CCDA"/>
                </a:solidFill>
                <a:latin typeface="Segoe UI"/>
                <a:ea typeface="微软雅黑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69264"/>
            <a:ext cx="10789920" cy="40233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5E6674"/>
                </a:solidFill>
                <a:latin typeface="微软雅黑"/>
                <a:ea typeface="微软雅黑"/>
              </a:rPr>
              <a:t>用行列式（两倍面积）一次性算完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81328"/>
            <a:ext cx="10744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332720" cy="1645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2262E"/>
                </a:solidFill>
                <a:latin typeface="Segoe UI"/>
                <a:ea typeface="微软雅黑"/>
              </a:rPr>
              <a:t>2Sₙ = |det(Pₙ, Pₙ₊₁, Pₙ₊₂)| ,   det(P,Q,R) = x_P(y_Q − y_R) + x_Q(y_R − y_P) + x_R(y_P − y_Q)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D94A2B"/>
                </a:solidFill>
                <a:latin typeface="微软雅黑"/>
                <a:ea typeface="微软雅黑"/>
              </a:rPr>
              <a:t>把 xₙ, yₙ 的通项代入，并记 t = (1+k)/(1−k)，精确化简得到（符号推导结论）：</a:t>
            </a:r>
          </a:p>
          <a:p>
            <a:pPr algn="l">
              <a:spcAft>
                <a:spcPts val="200"/>
              </a:spcAft>
            </a:pPr>
            <a:r>
              <a:rPr sz="2000" b="1">
                <a:solidFill>
                  <a:srgbClr val="147A45"/>
                </a:solidFill>
                <a:latin typeface="Segoe UI"/>
                <a:ea typeface="微软雅黑"/>
              </a:rPr>
              <a:t>det(Pₙ, Pₙ₊₁, Pₙ₊₂) · t³ = (9/2) · t · (t − 1)³ · (t + 1)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56432"/>
            <a:ext cx="5394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456432"/>
            <a:ext cx="64008" cy="2834640"/>
          </a:xfrm>
          <a:prstGeom prst="rect">
            <a:avLst/>
          </a:prstGeom>
          <a:solidFill>
            <a:srgbClr val="14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584448"/>
            <a:ext cx="50292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7A45"/>
                </a:solidFill>
                <a:latin typeface="微软雅黑"/>
                <a:ea typeface="微软雅黑"/>
              </a:rPr>
              <a:t>于是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005072"/>
            <a:ext cx="5010912" cy="21762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2262E"/>
                </a:solidFill>
                <a:latin typeface="Segoe UI"/>
                <a:ea typeface="微软雅黑"/>
              </a:rPr>
              <a:t>2Sₙ = |(9/2)t(t−1)³(t+1)| / t³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2262E"/>
                </a:solidFill>
                <a:latin typeface="Segoe UI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2262E"/>
                </a:solidFill>
                <a:latin typeface="Segoe UI"/>
                <a:ea typeface="微软雅黑"/>
              </a:rPr>
              <a:t>Sₙ = 9(t − 1)³(t + 1) / (4t²)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2262E"/>
                </a:solidFill>
                <a:latin typeface="Segoe UI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2262E"/>
                </a:solidFill>
                <a:latin typeface="微软雅黑"/>
                <a:ea typeface="微软雅黑"/>
              </a:rPr>
              <a:t>右边只含 k（通过 t），不含 n！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2262E"/>
                </a:solidFill>
                <a:latin typeface="Segoe UI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2262E"/>
                </a:solidFill>
                <a:latin typeface="微软雅黑"/>
                <a:ea typeface="微软雅黑"/>
              </a:rPr>
              <a:t>所以 Sₙ 与 n 无关，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2262E"/>
                </a:solidFill>
                <a:latin typeface="微软雅黑"/>
                <a:ea typeface="微软雅黑"/>
              </a:rPr>
              <a:t>对任意正整数 n 都有 Sₙ = Sₙ₊₁。证毕 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456432"/>
            <a:ext cx="51663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3456432"/>
            <a:ext cx="64008" cy="2834640"/>
          </a:xfrm>
          <a:prstGeom prst="rect">
            <a:avLst/>
          </a:prstGeom>
          <a:solidFill>
            <a:srgbClr val="1F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3584448"/>
            <a:ext cx="48006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5FC0"/>
                </a:solidFill>
                <a:latin typeface="微软雅黑"/>
                <a:ea typeface="微软雅黑"/>
              </a:rPr>
              <a:t>数值确认（k = 1/2，t = 3）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4005072"/>
            <a:ext cx="4782312" cy="21762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>Sₙ = 9·8·4/(4·9) = 8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>S₁ = S(△P₁P₂P₃) = S(△(5,4)(3,0)(5,−4)) = 8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>S₂ = S(△P₂P₃P₄) = 8，  S₃ = 8，  …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⇒ Sₙ ≡ 8，与 n 无关 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D9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42A52"/>
                </a:solidFill>
                <a:latin typeface="微软雅黑"/>
                <a:ea typeface="微软雅黑"/>
              </a:rPr>
              <a:t>数值直观：Sₙ 恒为常数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9184"/>
            <a:ext cx="914400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3000" b="1">
                <a:solidFill>
                  <a:srgbClr val="C3CCDA"/>
                </a:solidFill>
                <a:latin typeface="微软雅黑"/>
                <a:ea typeface="微软雅黑"/>
              </a:rPr>
              <a:t>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69264"/>
            <a:ext cx="10789920" cy="40233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5E6674"/>
                </a:solidFill>
                <a:latin typeface="微软雅黑"/>
                <a:ea typeface="微软雅黑"/>
              </a:rPr>
              <a:t>k = 1/2 时 S₁ = S₂ = … = S₈ = 8</a:t>
            </a:r>
          </a:p>
        </p:txBody>
      </p:sp>
      <p:pic>
        <p:nvPicPr>
          <p:cNvPr id="8" name="Picture 7" descr="fig3_equal_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98725"/>
            <a:ext cx="6949439" cy="448350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46720" y="1600200"/>
            <a:ext cx="34290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600200"/>
            <a:ext cx="64008" cy="2103120"/>
          </a:xfrm>
          <a:prstGeom prst="rect">
            <a:avLst/>
          </a:prstGeom>
          <a:solidFill>
            <a:srgbClr val="1F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728216"/>
            <a:ext cx="30632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5FC0"/>
                </a:solidFill>
                <a:latin typeface="微软雅黑"/>
                <a:ea typeface="微软雅黑"/>
              </a:rPr>
              <a:t>一般公式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2148840"/>
            <a:ext cx="3044952" cy="1444751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>Sₙ = 9(t−1)³(t+1)/(4t²)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>t = (1+k)/(1−k)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>k = 1/2  ⇒  Sₙ = 8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>k = 1/3  ⇒  Sₙ = 27/16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3840480"/>
            <a:ext cx="3429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3840480"/>
            <a:ext cx="64008" cy="2286000"/>
          </a:xfrm>
          <a:prstGeom prst="rect">
            <a:avLst/>
          </a:prstGeom>
          <a:solidFill>
            <a:srgbClr val="D9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3968496"/>
            <a:ext cx="30632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D94A2B"/>
                </a:solidFill>
                <a:latin typeface="微软雅黑"/>
                <a:ea typeface="微软雅黑"/>
              </a:rPr>
              <a:t>为什么与 n 无关？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4389120"/>
            <a:ext cx="3044952" cy="16276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62E"/>
                </a:solidFill>
                <a:latin typeface="微软雅黑"/>
                <a:ea typeface="微软雅黑"/>
              </a:rPr>
              <a:t>点列沿双曲线按固定“参数步长”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62E"/>
                </a:solidFill>
                <a:latin typeface="微软雅黑"/>
                <a:ea typeface="微软雅黑"/>
              </a:rPr>
              <a:t>ln t 前进：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62E"/>
                </a:solidFill>
                <a:latin typeface="Segoe UI"/>
                <a:ea typeface="微软雅黑"/>
              </a:rPr>
              <a:t>xₙ − yₙ = t^(n−1) ⇒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62E"/>
                </a:solidFill>
                <a:latin typeface="微软雅黑"/>
                <a:ea typeface="微软雅黑"/>
              </a:rPr>
              <a:t>把双曲线参数化为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62E"/>
                </a:solidFill>
                <a:latin typeface="Segoe UI"/>
                <a:ea typeface="微软雅黑"/>
              </a:rPr>
              <a:t>Pₙ = (3cosh sₙ, 3sinh sₙ)，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62E"/>
                </a:solidFill>
                <a:latin typeface="微软雅黑"/>
                <a:ea typeface="微软雅黑"/>
              </a:rPr>
              <a:t>则 sₙ 是等差数列。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D9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42A52"/>
                </a:solidFill>
                <a:latin typeface="微软雅黑"/>
                <a:ea typeface="微软雅黑"/>
              </a:rPr>
              <a:t>与官方标准答案逐条核对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9184"/>
            <a:ext cx="914400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3000" b="1">
                <a:solidFill>
                  <a:srgbClr val="C3CCDA"/>
                </a:solidFill>
                <a:latin typeface="微软雅黑"/>
                <a:ea typeface="微软雅黑"/>
              </a:rPr>
              <a:t>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69264"/>
            <a:ext cx="10789920" cy="40233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5E6674"/>
                </a:solidFill>
                <a:latin typeface="微软雅黑"/>
                <a:ea typeface="微软雅黑"/>
              </a:rPr>
              <a:t>来源：2024 年新课标 II 卷参考答案及解析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81328"/>
            <a:ext cx="10744200" cy="47548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545336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小问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1545336"/>
            <a:ext cx="29718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官方答案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4648" y="1545336"/>
            <a:ext cx="530352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本题解答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88167" y="1545336"/>
            <a:ext cx="109728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956816"/>
            <a:ext cx="10744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048256"/>
            <a:ext cx="1188720" cy="6858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0">
                <a:solidFill>
                  <a:srgbClr val="22262E"/>
                </a:solidFill>
                <a:latin typeface="Segoe UI"/>
                <a:ea typeface="微软雅黑"/>
              </a:rPr>
              <a:t>(1) k=1/2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2048256"/>
            <a:ext cx="2788920" cy="6858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0">
                <a:solidFill>
                  <a:srgbClr val="22262E"/>
                </a:solidFill>
                <a:latin typeface="Segoe UI"/>
                <a:ea typeface="微软雅黑"/>
              </a:rPr>
              <a:t>Q₁(−3,0)，P₂(3,0)，x₂=3，y₂=0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648" y="2048256"/>
            <a:ext cx="5120640" cy="6858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0">
                <a:solidFill>
                  <a:srgbClr val="22262E"/>
                </a:solidFill>
                <a:latin typeface="微软雅黑"/>
                <a:ea typeface="微软雅黑"/>
              </a:rPr>
              <a:t>联立得 x=5 或 x=−3；取左支 −3，对称得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88167" y="2048256"/>
            <a:ext cx="914400" cy="6858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47A45"/>
                </a:solidFill>
                <a:latin typeface="微软雅黑"/>
                <a:ea typeface="微软雅黑"/>
              </a:rPr>
              <a:t>一致 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825496"/>
            <a:ext cx="10744200" cy="1143000"/>
          </a:xfrm>
          <a:prstGeom prst="rect">
            <a:avLst/>
          </a:prstGeom>
          <a:solidFill>
            <a:srgbClr val="E8F0FC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2916936"/>
            <a:ext cx="1188720" cy="9601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0">
                <a:solidFill>
                  <a:srgbClr val="22262E"/>
                </a:solidFill>
                <a:latin typeface="微软雅黑"/>
                <a:ea typeface="微软雅黑"/>
              </a:rPr>
              <a:t>(2) 公比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12848" y="2916936"/>
            <a:ext cx="2788920" cy="9601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0">
                <a:solidFill>
                  <a:srgbClr val="22262E"/>
                </a:solidFill>
                <a:latin typeface="Segoe UI"/>
                <a:ea typeface="微软雅黑"/>
              </a:rPr>
              <a:t>(1+k)/(1−k)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2916936"/>
            <a:ext cx="5120640" cy="9601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0">
                <a:solidFill>
                  <a:srgbClr val="22262E"/>
                </a:solidFill>
                <a:latin typeface="微软雅黑"/>
                <a:ea typeface="微软雅黑"/>
              </a:rPr>
              <a:t>由斜率式与双曲线式相减，得 (1−k)(xₙ−yₙ)=(1+k)(xₙ₋₁−yₙ₋₁)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88167" y="2916936"/>
            <a:ext cx="914400" cy="9601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47A45"/>
                </a:solidFill>
                <a:latin typeface="微软雅黑"/>
                <a:ea typeface="微软雅黑"/>
              </a:rPr>
              <a:t>一致 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968496"/>
            <a:ext cx="10744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059935"/>
            <a:ext cx="1188720" cy="12344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0">
                <a:solidFill>
                  <a:srgbClr val="22262E"/>
                </a:solidFill>
                <a:latin typeface="微软雅黑"/>
                <a:ea typeface="微软雅黑"/>
              </a:rPr>
              <a:t>(3) 面积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2848" y="4059935"/>
            <a:ext cx="2788920" cy="12344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0">
                <a:solidFill>
                  <a:srgbClr val="22262E"/>
                </a:solidFill>
                <a:latin typeface="Segoe UI"/>
                <a:ea typeface="微软雅黑"/>
              </a:rPr>
              <a:t>Pₙ₊₁Pₙ₊₂ ∥ PₙPₙ₊₃ ⇒ Sₙ = Sₙ₊₁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4648" y="4059935"/>
            <a:ext cx="5120640" cy="12344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0">
                <a:solidFill>
                  <a:srgbClr val="22262E"/>
                </a:solidFill>
                <a:latin typeface="微软雅黑"/>
                <a:ea typeface="微软雅黑"/>
              </a:rPr>
              <a:t>两斜率同为 1 − 2tⁿ/(9t^(−1−n)+tⁿ)；且算得 Sₙ = 9(t−1)³(t+1)/(4t²)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88167" y="4059935"/>
            <a:ext cx="914400" cy="12344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47A45"/>
                </a:solidFill>
                <a:latin typeface="微软雅黑"/>
                <a:ea typeface="微软雅黑"/>
              </a:rPr>
              <a:t>一致 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532120"/>
            <a:ext cx="10744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532120"/>
            <a:ext cx="64008" cy="960120"/>
          </a:xfrm>
          <a:prstGeom prst="rect">
            <a:avLst/>
          </a:prstGeom>
          <a:solidFill>
            <a:srgbClr val="14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660136"/>
            <a:ext cx="103784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7A45"/>
                </a:solidFill>
                <a:latin typeface="微软雅黑"/>
                <a:ea typeface="微软雅黑"/>
              </a:rPr>
              <a:t>补充说明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6080759"/>
            <a:ext cx="10360152" cy="30175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62E"/>
                </a:solidFill>
                <a:latin typeface="微软雅黑"/>
                <a:ea typeface="微软雅黑"/>
              </a:rPr>
              <a:t>第 (3) 问官方解析给出了与本题完全一致的思路（先证平行），本解答进一步给出 Sₙ 的闭式，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2262E"/>
                </a:solidFill>
                <a:latin typeface="微软雅黑"/>
                <a:ea typeface="微软雅黑"/>
              </a:rPr>
              <a:t>使“面积恒定”变成可计算的等式，比单纯“平行”更具说服力。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D9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05840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42A52"/>
                </a:solidFill>
                <a:latin typeface="微软雅黑"/>
                <a:ea typeface="微软雅黑"/>
              </a:rPr>
              <a:t>方法与延伸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9184"/>
            <a:ext cx="914400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3000" b="1">
                <a:solidFill>
                  <a:srgbClr val="C3CCDA"/>
                </a:solidFill>
                <a:latin typeface="微软雅黑"/>
                <a:ea typeface="微软雅黑"/>
              </a:rPr>
              <a:t>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69264"/>
            <a:ext cx="10789920" cy="40233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5E6674"/>
                </a:solidFill>
                <a:latin typeface="微软雅黑"/>
                <a:ea typeface="微软雅黑"/>
              </a:rPr>
              <a:t>这类“构造 + 证明”题的通用套路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17904"/>
            <a:ext cx="3429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17904"/>
            <a:ext cx="64008" cy="2286000"/>
          </a:xfrm>
          <a:prstGeom prst="rect">
            <a:avLst/>
          </a:prstGeom>
          <a:solidFill>
            <a:srgbClr val="1F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45919"/>
            <a:ext cx="30632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5FC0"/>
                </a:solidFill>
                <a:latin typeface="微软雅黑"/>
                <a:ea typeface="微软雅黑"/>
              </a:rPr>
              <a:t>套路一：几何条件代数化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66543"/>
            <a:ext cx="3044952" cy="16276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“斜率为 k 的直线” ⇒ 斜率等式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“点在曲线上” ⇒ 曲线方程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两式联立消元，往往直接得到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所需的等差 / 等比关系。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9976" y="1517904"/>
            <a:ext cx="3429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9976" y="1517904"/>
            <a:ext cx="64008" cy="2286000"/>
          </a:xfrm>
          <a:prstGeom prst="rect">
            <a:avLst/>
          </a:prstGeom>
          <a:solidFill>
            <a:srgbClr val="14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645919"/>
            <a:ext cx="30632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7A45"/>
                </a:solidFill>
                <a:latin typeface="微软雅黑"/>
                <a:ea typeface="微软雅黑"/>
              </a:rPr>
              <a:t>套路二：共轭量配对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066543"/>
            <a:ext cx="3044952" cy="16276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遇 x² − y² = m 时，优先看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(x − y) 与 (x + y)：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>x² − y² = (x−y)(x+y) = m，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两者往往互为倒数型等比。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8431" y="1517904"/>
            <a:ext cx="3429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517904"/>
            <a:ext cx="64008" cy="2286000"/>
          </a:xfrm>
          <a:prstGeom prst="rect">
            <a:avLst/>
          </a:prstGeom>
          <a:solidFill>
            <a:srgbClr val="D9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645919"/>
            <a:ext cx="30632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D94A2B"/>
                </a:solidFill>
                <a:latin typeface="微软雅黑"/>
                <a:ea typeface="微软雅黑"/>
              </a:rPr>
              <a:t>套路三：面积 ⇄ 平行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066543"/>
            <a:ext cx="3044952" cy="162763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证 Sₙ = Sₙ₊₁ 常等价于证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Segoe UI"/>
                <a:ea typeface="微软雅黑"/>
              </a:rPr>
              <a:t>Pₙ₊₁Pₙ₊₂ ∥ PₙPₙ₊₃；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或用行列式直接计算，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2262E"/>
                </a:solidFill>
                <a:latin typeface="微软雅黑"/>
                <a:ea typeface="微软雅黑"/>
              </a:rPr>
              <a:t>一步看出与 n 无关。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23360"/>
            <a:ext cx="107442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160520"/>
            <a:ext cx="10287000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42A52"/>
                </a:solidFill>
                <a:latin typeface="微软雅黑"/>
                <a:ea typeface="微软雅黑"/>
              </a:rPr>
              <a:t>本题的“背景”：双曲线的有理参数化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2262E"/>
                </a:solidFill>
                <a:latin typeface="微软雅黑"/>
                <a:ea typeface="微软雅黑"/>
              </a:rPr>
              <a:t>曲线上一点可写成 (3cosh s, 3sinh s)；而 xₙ − yₙ = t^(n−1) 使 e^(−sₙ) 成等比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2262E"/>
                </a:solidFill>
                <a:latin typeface="微软雅黑"/>
                <a:ea typeface="微软雅黑"/>
              </a:rPr>
              <a:t>⇒ sₙ 成等差数列 ⇒ 相邻弦互相平行、三角形等积。这正是帕斯卡 / 双曲线仿射结构的体现。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5E6674"/>
                </a:solidFill>
                <a:latin typeface="微软雅黑"/>
                <a:ea typeface="微软雅黑"/>
              </a:rPr>
              <a:t>延伸：把 m = 9 改为一般 m &gt; 0，全部结论仍成立（Sₙ = m(t−1)³(t+1)/(4t²)）。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011680"/>
            <a:ext cx="128016" cy="2834640"/>
          </a:xfrm>
          <a:prstGeom prst="rect">
            <a:avLst/>
          </a:prstGeom>
          <a:solidFill>
            <a:srgbClr val="D9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692640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谢谢观看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692640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9FC0F0"/>
                </a:solidFill>
                <a:latin typeface="微软雅黑"/>
                <a:ea typeface="微软雅黑"/>
              </a:rPr>
              <a:t>答案速览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FFFFFF"/>
                </a:solidFill>
                <a:latin typeface="Segoe UI"/>
                <a:ea typeface="微软雅黑"/>
              </a:rPr>
              <a:t>(1)  x₂ = 3，y₂ = 0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FFFFFF"/>
                </a:solidFill>
                <a:latin typeface="微软雅黑"/>
                <a:ea typeface="微软雅黑"/>
              </a:rPr>
              <a:t>(2)  {xₙ − yₙ} 是首项 1、公比 (1+k)/(1−k) 的等比数列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FFFFFF"/>
                </a:solidFill>
                <a:latin typeface="微软雅黑"/>
                <a:ea typeface="微软雅黑"/>
              </a:rPr>
              <a:t>(3)  Sₙ = 9(t−1)³(t+1)/(4t²) 与 n 无关 ⇒ Sₙ = Sₙ₊₁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692640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B8CCEA"/>
                </a:solidFill>
                <a:latin typeface="微软雅黑"/>
                <a:ea typeface="微软雅黑"/>
              </a:rPr>
              <a:t>全部结论均用精确有理数运算与符号推导独立验证通过。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8FA8C8"/>
                </a:solidFill>
                <a:latin typeface="微软雅黑"/>
                <a:ea typeface="微软雅黑"/>
              </a:rPr>
              <a:t>DeepSeek Harness (dsh) 制作 · 2024 新课标 II 卷第 19 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