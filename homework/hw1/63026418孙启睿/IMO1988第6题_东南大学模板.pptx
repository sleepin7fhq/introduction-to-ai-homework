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sldIdLst>
    <p:sldId id="401" r:id="rId4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  <p:sldId id="412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  <a:p>
            <a:r>
              <a:t>数值核对：112²+30²=13444，112×30+1=3361，13444÷3361=4。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  <a:p>
            <a:r>
              <a:t>程序不调用平方根函数，不枚举候选平方根。非负性、严格下降及终点方程分别保证输入有效时算法可执行、会终止且返回正确答案。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  <a:p>
            <a:r>
              <a:t>完整程序见 solve.py，另包含输入检查、命令行参数与路径输出。Python 同时赋值先计算右侧，因此两个新坐标均使用原来的 a、b。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题目来源：国际数学奥林匹克官方英文题集，1988 年第 6 题，第 2 页。https://www.imo-official.org/assets/documents/problems/1988/1988_eng.pdf</a:t>
            </a:r>
          </a:p>
          <a:p>
            <a:r>
              <a:t>证明与求解代码为本次整理。模板视觉素材来自用户提供的东南大学PPT.pptx。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2143125"/>
            <a:ext cx="65722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3450" b="1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933700"/>
            <a:ext cx="60007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韦达跳跃解法</a:t>
            </a:r>
            <a:endParaRPr sz="37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87667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整数下降证明与 Python 求解算法</a:t>
            </a:r>
            <a:endParaRPr sz="19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5238750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数学问题求解</a:t>
            </a:r>
            <a:endParaRPr sz="1800" b="0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原题与来源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22885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设 a、b 为正整数，且 ab + 1 整除 a² + b²。</a:t>
            </a:r>
            <a:endParaRPr sz="24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527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证明下面的商是一个整数的平方。</a:t>
            </a:r>
            <a:endParaRPr sz="24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87667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(a² + b²) / (ab + 1) = u²</a:t>
            </a:r>
            <a:endParaRPr sz="36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523875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来源：第 29 届国际数学奥林匹克，1988 年，第 6 题</a:t>
            </a:r>
            <a:endParaRPr sz="180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72452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官方英文题集第 2 页  imo-official.org/problems/1988/</a:t>
            </a:r>
            <a:endParaRPr sz="150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把整除条件转化为二次方程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8122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令整数商为 k，由对称性设 a ≥ b ≥ 1。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86702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a² + b² = k(ab + 1)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9243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固定 k、b，把 a 看作二次方程的一个根。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629150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f(x) = x² − kbx + b² − k = 0</a:t>
            </a:r>
            <a:endParaRPr sz="30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64832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目标：构造更小的整数解，同时保持 k 不变。</a:t>
            </a:r>
            <a:endParaRPr sz="21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边界情形与另一整数根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81225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当 k = 1</a:t>
            </a:r>
            <a:endParaRPr sz="22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7527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(a − b)² + ab = 1，而 ab ≥ 1。</a:t>
            </a:r>
            <a:endParaRPr sz="24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31470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因此 a = b = 1，商 k = 1²。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14337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以下设 k ≥ 2，利用韦达定理构造另一根</a:t>
            </a:r>
            <a:endParaRPr sz="22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467677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c = kb − a ∈ ℤ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56578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另一根仍满足方程：b² + c² = k(bc + 1)。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新根的非负性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2098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反设 c &lt; 0，则整数 a − kb ≥ 1。</a:t>
            </a:r>
            <a:endParaRPr sz="24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2417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原方程给出</a:t>
            </a:r>
            <a:endParaRPr sz="21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47662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a(a − kb) = k − b²</a:t>
            </a:r>
            <a:endParaRPr sz="33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4577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由 a − kb ≥ 1、b² ≥ 1，可得 a ≤ k − b² ≤ k − 1。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18160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但 a &gt; kb ≥ k，与上式矛盾。</a:t>
            </a:r>
            <a:endParaRPr sz="24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58007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所以 c ≥ 0。</a:t>
            </a:r>
            <a:endParaRPr sz="24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新根严格小于原来的较小坐标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219325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把 x = b 代入二次多项式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4322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f(b) = (2 − k)b² − k &lt; 0</a:t>
            </a:r>
            <a:endParaRPr sz="3225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91477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f(b) = (b − a)(b − c)</a:t>
            </a:r>
            <a:endParaRPr sz="3225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8577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已知 a ≥ b，故 b − a ≤ 0。乘积严格为负，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3816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于是 b − a &lt; 0 且 b − c &gt; 0，得到 a &gt; b、c &lt; b。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59150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结合上一页：0 ≤ c &lt; b。</a:t>
            </a:r>
            <a:endParaRPr sz="24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整数下降与终点结论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812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若 c &gt; 0，就把 (a, b) 替换为 (b, c)。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800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较小坐标由 b 变为 c，严格减小且始终非负。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41947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因此有限步后必到达 (u, 0)，其中 u ≥ 1。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22910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方程和 k 在每一步保持不变，终点给出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4762500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u² + 0² = k(u × 0 + 1)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58102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所以 k = u²。连同 k = 1 的情形，原题得证。</a:t>
            </a:r>
            <a:endParaRPr sz="24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一条完整的求解路径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200275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取 a = 112，b = 30，计算得到 k = 4。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315277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(112, 30)  →  (30, 8)  →  (8, 2)  →  (2, 0)</a:t>
            </a:r>
            <a:endParaRPr sz="27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43910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第一步：c = 4 × 30 − 112 = 8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91490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第二步：c = 4 × 8 − 30 = 2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43877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第三步：c = 4 × 2 − 8 = 0，终点读出 u = 2。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韦达跳跃求解算法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812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输入：满足整除条件的正整数 a、b</a:t>
            </a:r>
            <a:endParaRPr sz="22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89560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1   计算整数商 k，若 k = 1，返回 u = 1。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49567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2   调整顺序，使 a ≥ b。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0957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3   当 b ≠ 0 时，反复令 (a, b) = (b, kb − a)。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46958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4   当 b = 0 时，返回 u = a。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5591175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输出：整数 u 及下降路径，满足 k = u²。</a:t>
            </a:r>
            <a:endParaRPr sz="24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核心求解代码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43125"/>
            <a:ext cx="10477500" cy="3857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defPPr>
            <a:lvl1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1pPr>
            <a:lvl2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2pPr>
            <a:lvl3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3pPr>
            <a:lvl4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4pPr>
            <a:lvl5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5pPr>
            <a:lvl6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6pPr>
            <a:lvl7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7pPr>
            <a:lvl8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8pPr>
            <a:lvl9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9pPr>
          </a:lstStyle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def square_witness(a, b):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if a &lt;= 0 or b &lt;= 0: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    raise ValueError("positive integers required")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k, r = divmod(a*a + b*b, a*b + 1)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if r: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    raise ValueError("divisibility condition fails")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if k == 1: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    return 1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a, b = max(a, b), min(a, b)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while b != 0: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    a, b = b, k*b - a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>
              <a:def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1875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   return a</a:t>
            </a:r>
            <a:endParaRPr sz="1875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601027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核心循环直接执行韦达跳跃，最后返回终点的非零坐标。</a:t>
            </a:r>
            <a:endParaRPr sz="1875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程序运行结果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1812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defPPr>
            <a:lvl1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1pPr>
            <a:lvl2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2pPr>
            <a:lvl3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3pPr>
            <a:lvl4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4pPr>
            <a:lvl5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5pPr>
            <a:lvl6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6pPr>
            <a:lvl7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7pPr>
            <a:lvl8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8pPr>
            <a:lvl9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lvl9pPr>
          </a:lstStyle>
          <a:p>
            <a:pPr>
              <a:def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defRPr>
            </a:pPr>
            <a:r>
              <a:rPr sz="2100" b="0">
                <a:solidFill>
                  <a:srgbClr val="242824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运行：python3 solve.py 112 30</a:t>
            </a:r>
            <a:endParaRPr sz="2100" b="0">
              <a:solidFill>
                <a:srgbClr val="242824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527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商 k = 4</a:t>
            </a:r>
            <a:endParaRPr sz="24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54330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路径：(112, 30) → (30, 8) → (8, 2) → (2, 0)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1719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求解结果：u = 2，故 k = 2²。</a:t>
            </a:r>
            <a:endParaRPr sz="25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1244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另一个输入 (240, 27)：得到 u = 3，k = 9。</a:t>
            </a:r>
            <a:endParaRPr sz="21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56483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边界输入 (1, 1)：直接得到 u = 1，k = 1。</a:t>
            </a:r>
            <a:endParaRPr sz="210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占位符 6"/>
          <p:cNvSpPr>
            <a:spLocks noGrp="1"/>
          </p:cNvSpPr>
          <p:nvPr>
            <p:ph type="body" idx="11"/>
          </p:nvPr>
        </p:nvSpPr>
        <p:spPr/>
        <p:txBody>
          <a:bodyPr/>
          <a:lstStyle>
            <a:def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IMO 1988 第 6 题</a:t>
            </a:r>
            <a:endParaRPr sz="16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r>
              <a:rPr i="1" spc="300">
                <a:solidFill>
                  <a:schemeClr val="accent1"/>
                </a:solidFill>
                <a:latin typeface="+mn-ea"/>
                <a:ea typeface="+mn-ea"/>
                <a:cs typeface="+mn-ea"/>
              </a:rPr>
              <a:t>止于至善</a:t>
            </a:r>
            <a:endParaRPr spc="3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219200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结论与方法</a:t>
            </a:r>
            <a:endParaRPr sz="315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106150" y="6286500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26A5C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350" b="0">
              <a:solidFill>
                <a:srgbClr val="626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276475"/>
            <a:ext cx="10477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(a² + b²) / (ab + 1) = u²，u ∈ ℤ₊</a:t>
            </a:r>
            <a:endParaRPr sz="33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34385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二次方程提供另一整数根 c = kb − a。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40481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不等式 0 ≤ c &lt; b 保证下降过程终止。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6577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242824"/>
                </a:solidFill>
                <a:latin typeface="微软雅黑"/>
                <a:ea typeface="微软雅黑"/>
                <a:cs typeface="微软雅黑"/>
              </a:rPr>
              <a:t>终点 (u, 0) 同时给出数学结论和程序的输出。</a:t>
            </a:r>
            <a:endParaRPr sz="2250" b="0">
              <a:solidFill>
                <a:srgbClr val="24282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62927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>
            <a:def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65735"/>
                </a:solidFill>
                <a:latin typeface="微软雅黑"/>
                <a:ea typeface="微软雅黑"/>
                <a:cs typeface="微软雅黑"/>
              </a:rPr>
              <a:t>一般性结论由证明保证，程序构造具体输入对应的 u。</a:t>
            </a:r>
            <a:endParaRPr sz="2100" b="1">
              <a:solidFill>
                <a:srgbClr val="4657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2071</Words>
  <Application>WPS 文字</Application>
  <PresentationFormat>宽屏</PresentationFormat>
  <Paragraphs>225</Paragraphs>
  <Slides>12</Slides>
  <Notes>78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方正雅意黑 GB18030L2</vt:lpstr>
      <vt:lpstr>Calibri</vt:lpstr>
      <vt:lpstr>等线</vt:lpstr>
      <vt:lpstr>Segoe UI</vt:lpstr>
      <vt:lpstr>Segoe UI Light</vt:lpstr>
      <vt:lpstr>苹方-简</vt:lpstr>
      <vt:lpstr>微软雅黑</vt:lpstr>
      <vt:lpstr>Courier New</vt:lpstr>
      <vt:lpstr>微软雅黑</vt:lpstr>
      <vt:lpstr>宋体</vt:lpstr>
      <vt:lpstr>Arial Unicode MS</vt:lpstr>
      <vt:lpstr>汉仪中等线KW</vt:lpstr>
      <vt:lpstr>Helvetica Neue</vt:lpstr>
      <vt:lpstr>Century Gothic</vt:lpstr>
      <vt:lpstr>汉仪书宋二KW</vt:lpstr>
      <vt:lpstr>Courier New</vt:lpstr>
      <vt:lpstr>等线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chips~</cp:lastModifiedBy>
  <cp:revision>32</cp:revision>
  <dcterms:created xsi:type="dcterms:W3CDTF">2026-10-18T10:30:13Z</dcterms:created>
  <dcterms:modified xsi:type="dcterms:W3CDTF">2026-10-18T10:30:13Z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2052-12.1.29166.29166</vt:lpwstr>
  </property>
  <property fmtid="{D5CDD505-2E9C-101B-9397-08002B2CF9AE}" pid="12" name="ICV">
    <vt:lpwstr>49C4C7062F034BC3B59FD46A9E2A00CE_43</vt:lpwstr>
  </property>
</Properties>
</file>