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17" Type="http://schemas.openxmlformats.org/officeDocument/2006/relationships/tableStyles" Target="tableStyles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4" Type="http://schemas.openxmlformats.org/officeDocument/2006/relationships/slide" Target="slides/slide14.xml" /><Relationship Id="rId16" Type="http://schemas.openxmlformats.org/officeDocument/2006/relationships/presProps" Target="presProps.xml" /><Relationship Id="rId18" Type="http://schemas.openxmlformats.org/officeDocument/2006/relationships/viewProps" Target="viewProps.xml" /><Relationship Id="rId8" Type="http://schemas.openxmlformats.org/officeDocument/2006/relationships/slide" Target="slides/slide8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7" Type="http://schemas.openxmlformats.org/officeDocument/2006/relationships/image" Target="media/image10.svg" /><Relationship Id="rId6" Type="http://schemas.openxmlformats.org/officeDocument/2006/relationships/image" Target="media/image9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7.svg" /><Relationship Id="rId3" Type="http://schemas.openxmlformats.org/officeDocument/2006/relationships/image" Target="media/image6.svg" /><Relationship Id="rId1" Type="http://schemas.openxmlformats.org/officeDocument/2006/relationships/image" Target="media/image4.svg" /><Relationship Id="rId2" Type="http://schemas.openxmlformats.org/officeDocument/2006/relationships/image" Target="media/image5.svg" /><Relationship Id="rId5" Type="http://schemas.openxmlformats.org/officeDocument/2006/relationships/image" Target="media/image8.svg" /><Relationship Id="rId8" Type="http://schemas.openxmlformats.org/officeDocument/2006/relationships/image" Target="media/image1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5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Relationship Id="rId6" Type="http://schemas.openxmlformats.org/officeDocument/2006/relationships/image" Target="media/image17.svg" /><Relationship Id="rId5" Type="http://schemas.openxmlformats.org/officeDocument/2006/relationships/image" Target="media/image16.svg" /><Relationship Id="rId2" Type="http://schemas.openxmlformats.org/officeDocument/2006/relationships/image" Target="media/image13.svg" /><Relationship Id="rId3" Type="http://schemas.openxmlformats.org/officeDocument/2006/relationships/image" Target="media/image14.svg" /><Relationship Id="rId4" Type="http://schemas.openxmlformats.org/officeDocument/2006/relationships/image" Target="media/image15.svg" /><Relationship Id="rId7" Type="http://schemas.openxmlformats.org/officeDocument/2006/relationships/image" Target="media/image18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2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padding: 0, background: '#FFFFFF' }}&gt;&#10;  &lt;Box style={{ width: 1280, height: 8, background: '#1E4FA8' }} /&gt;&#10;  &lt;Box style={{ flex: 1, flexDirection: 'column', alignItems: 'center', justifyContent: 'center', gap: 34 }}&gt;&#10;    &lt;Box style={{ background: '#E8EFF8', borderRadius: 22, paddingTop: 8, paddingBottom: 8, paddingLeft: 28, paddingRight: 28 }}&gt;&#10;      &lt;Text style={{ fontSize: 18, color: '#1E4FA8', fontWeight: 'bold' }}&gt;神经网络课程 · 第二次作业（实践题）&lt;/Text&gt;&#10;    &lt;/Box&gt;&#10;    &lt;Text style={{ fontSize: 56, fontWeight: 'bold', color: '#0E3F8C' }}&gt;用 DeepSeek Harness 攻克高考压轴题&lt;/Text&gt;&#10;    &lt;Text style={{ fontSize: 26, color: '#1A2230' }}&gt;—— 2026 年高考数学全国Ⅰ卷 · 第 19 题解题实践&lt;/Text&gt;&#10;    &lt;Text style={{ fontSize: 16, color: '#8B97A8', fontFamily: 'Times New Roman, serif' }}&gt;Solving the 2026 Gaokao National Paper I Final Problem with DeepSeek Harness (dsh)&lt;/Text&gt;&#10;    &lt;Box style={{ width: 120, height: 4, background: '#1E4FA8', marginTop: 8 }} /&gt;&#10;    &lt;Text style={{ fontSize: 18, color: '#4A5568' }}&gt;读题翻译 · 提示词设计 · 严格证明 · 代码验证 的完整闭环&lt;/Text&gt;&#10;    &lt;Box style={{ flexDirection: 'row', gap: 16, marginTop: 8 }}&gt;&#10;      {['原题及来源', '提示词', '代码', 'PPT'].map((item, idx) =&gt; (&#10;        &lt;Box key={idx} style={{ background: '#E8EFF8', borderRadius: 18, paddingTop: 8, paddingBottom: 8, paddingLeft: 22, paddingRight: 22 }}&gt;&#10;          &lt;Text style={{ fontSize: 16, fontWeight: 'bold', color: '#1E4FA8' }}&gt;{item}&lt;/Text&gt;&#10;        &lt;/Box&gt;&#10;      ))}&#10;    &lt;/Box&gt;&#10;  &lt;/Box&gt;&#10;  &lt;Box style={{ width: 1280, height: 96, background: '#0E3F8C', flexDirection: 'row', alignItems: 'center', justifyContent: 'center', gap: 64 }}&gt;&#10;    &lt;Text style={{ fontSize: 18, color: '#FFFFFF' }}&gt;汇报人：×××&lt;/Text&gt;&#10;    &lt;Text style={{ fontSize: 18, color: '#FFFFFF' }}&gt;课程：神经网络&lt;/Text&gt;&#10;    &lt;Text style={{ fontSize: 18, color: '#FFFFFF' }}&gt;2026 年 10 月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4371975" y="914400"/>
            <a:ext cx="3457575" cy="361950"/>
          </a:xfrm>
          <a:prstGeom prst="roundRect">
            <a:avLst>
              <a:gd name="adj" fmla="val 5789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4638675" y="990600"/>
            <a:ext cx="2924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神经网络课程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第二次作业（实践题）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314450" y="1600200"/>
            <a:ext cx="95631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0E3F8C"/>
                </a:solidFill>
                <a:latin typeface="Microsoft YaHei"/>
                <a:ea typeface="Microsoft YaHei"/>
              </a:rPr>
              <a:t>用</a:t>
            </a:r>
            <a:r>
              <a:rPr lang="en-US" sz="42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DeepSeek Harness </a:t>
            </a:r>
            <a:r>
              <a:rPr lang="zh-CN" sz="4200" b="1">
                <a:solidFill>
                  <a:srgbClr val="0E3F8C"/>
                </a:solidFill>
                <a:latin typeface="Microsoft YaHei"/>
                <a:ea typeface="Microsoft YaHei"/>
              </a:rPr>
              <a:t>攻克高考压轴题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286125" y="2571750"/>
            <a:ext cx="5629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1A2230"/>
                </a:solidFill>
                <a:latin typeface="Microsoft YaHei"/>
                <a:ea typeface="Microsoft YaHei"/>
              </a:rPr>
              <a:t xml:space="preserve">—— 2026 </a:t>
            </a:r>
            <a:r>
              <a:rPr lang="zh-CN" sz="1950">
                <a:solidFill>
                  <a:srgbClr val="1A2230"/>
                </a:solidFill>
                <a:latin typeface="Microsoft YaHei"/>
                <a:ea typeface="Microsoft YaHei"/>
              </a:rPr>
              <a:t>年高考数学全国Ⅰ卷</a:t>
            </a:r>
            <a:r>
              <a:rPr lang="en-US" sz="195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950">
                <a:solidFill>
                  <a:srgbClr val="1A2230"/>
                </a:solidFill>
                <a:latin typeface="Microsoft YaHei"/>
                <a:ea typeface="Microsoft YaHei"/>
              </a:rPr>
              <a:t>第</a:t>
            </a:r>
            <a:r>
              <a:rPr lang="en-US" sz="1950">
                <a:solidFill>
                  <a:srgbClr val="1A2230"/>
                </a:solidFill>
                <a:latin typeface="Microsoft YaHei"/>
                <a:ea typeface="Microsoft YaHei"/>
              </a:rPr>
              <a:t xml:space="preserve"> 19 </a:t>
            </a:r>
            <a:r>
              <a:rPr lang="zh-CN" sz="1950">
                <a:solidFill>
                  <a:srgbClr val="1A2230"/>
                </a:solidFill>
                <a:latin typeface="Microsoft YaHei"/>
                <a:ea typeface="Microsoft YaHei"/>
              </a:rPr>
              <a:t>题解题实践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3429000" y="3200400"/>
            <a:ext cx="5343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Times New Roman"/>
                <a:ea typeface="Times New Roman"/>
              </a:rPr>
              <a:t>Solving the 2026 Gaokao National Paper I Final Problem with DeepSeek Harness (dsh)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5524500" y="3790950"/>
            <a:ext cx="11430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3971925" y="4152900"/>
            <a:ext cx="4257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读题翻译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提示词设计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严格证明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代码验证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的完整闭环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4114800" y="4762500"/>
            <a:ext cx="11811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324350" y="48387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原题及来源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5448300" y="4762500"/>
            <a:ext cx="8763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657850" y="48387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提示词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477000" y="4762500"/>
            <a:ext cx="7239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686550" y="48387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代码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7353300" y="4762500"/>
            <a:ext cx="7239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562850" y="48387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PPT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0" y="5943600"/>
            <a:ext cx="12192000" cy="914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00475" y="6296025"/>
            <a:ext cx="1076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汇报人：×××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486400" y="62960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课程：神经网络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296150" y="6296025"/>
            <a:ext cx="1104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年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65" name="" descr="&lt;Slide style={{ padding: 0, background: '#FFFFFF' }}&gt;&#10;  &lt;Box style={{ flexDirection: 'row', width: 1280, height: 720 }}&gt;&#10;    &lt;Box style={{ width: 400, height: 720, background: '#0E3F8C', flexDirection: 'column', justifyContent: 'center', padding: 48, gap: 20 }}&gt;&#10;      &lt;Text style={{ fontSize: 64, fontWeight: 'bold', color: '#FFFFFF' }}&gt;目录&lt;/Text&gt;&#10;      &lt;Text style={{ fontSize: 18, color: '#E8EFF8', letterSpacing: 4 }}&gt;CONTENTS&lt;/Text&gt;&#10;      &lt;Box style={{ width: 72, height: 4, background: '#FFFFFF', marginTop: 8 }} /&gt;&#10;      &lt;Text style={{ fontSize: 16, color: '#E8EFF8', lineHeight: 1.6 }}&gt;用 DeepSeek Harness 完成 2026 年高考数学全国Ⅰ卷压轴题的解题实践&lt;/Text&gt;&#10;    &lt;/Box&gt;&#10;    &lt;Box style={{ flex: 1, height: 720, flexDirection: 'column', justifyContent: 'center', paddingLeft: 72, paddingRight: 72, gap: 40 }}&gt;&#10;      {[&#10;        ['01', '任务与工具', '实践要求 · DeepSeek Harness 简介 · 解题流程'],&#10;        ['02', '题目与提示词', '2026 全国Ⅰ卷第 19 题原题 · 四轮提示词设计'],&#10;        ['03', '解题过程', '三问完整解答 · 反证法与四事实证明链'],&#10;        ['04', '验证与总结', 'Python 数值验证 · 提交清单与心得'],&#10;      ].map((item, idx) =&gt; (&#10;        &lt;Box key={idx} style={{ flexDirection: 'row', alignItems: 'center', gap: 28, width: '100%', borderBottom: '1px solid #E5E7EB', paddingBottom: 24 }}&gt;&#10;          &lt;Box style={{ width: 56, height: 56, background: '#1E4FA8', borderRadius: 8, justifyContent: 'center', alignItems: 'center' }}&gt;&#10;            &lt;Text style={{ fontSize: 24, fontWeight: 'bold', color: '#FFFFFF' }}&gt;{item[0]}&lt;/Text&gt;&#10;          &lt;/Box&gt;&#10;          &lt;Box style={{ flexDirection: 'column', gap: 6 }}&gt;&#10;            &lt;Text style={{ fontSize: 28, fontWeight: 'bold', color: '#1A2230' }}&gt;{item[1]}&lt;/Text&gt;&#10;            &lt;Text style={{ fontSize: 16, color: '#4A5568' }}&gt;{item[2]}&lt;/Text&gt;&#10;          &lt;/Box&gt;&#10;        &lt;/Box&gt;&#10;      ))}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0" y="0"/>
            <a:ext cx="3810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57200" y="2324100"/>
            <a:ext cx="28956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57200" y="3248025"/>
            <a:ext cx="289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E8EFF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457200" y="3724275"/>
            <a:ext cx="6858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57200" y="3952875"/>
            <a:ext cx="2895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FF8"/>
                </a:solidFill>
                <a:latin typeface="Microsoft YaHei"/>
                <a:ea typeface="Microsoft YaHei"/>
              </a:rPr>
              <a:t>用</a:t>
            </a:r>
            <a:r>
              <a:rPr lang="en-US" sz="1200">
                <a:solidFill>
                  <a:srgbClr val="E8EFF8"/>
                </a:solidFill>
                <a:latin typeface="Microsoft YaHei"/>
                <a:ea typeface="Microsoft YaHei"/>
              </a:rPr>
              <a:t xml:space="preserve"> DeepSeek Harness </a:t>
            </a:r>
            <a:r>
              <a:rPr lang="zh-CN" sz="1200">
                <a:solidFill>
                  <a:srgbClr val="E8EFF8"/>
                </a:solidFill>
                <a:latin typeface="Microsoft YaHei"/>
                <a:ea typeface="Microsoft YaHei"/>
              </a:rPr>
              <a:t>完成</a:t>
            </a:r>
            <a:r>
              <a:rPr lang="en-US" sz="1200">
                <a:solidFill>
                  <a:srgbClr val="E8EFF8"/>
                </a:solidFill>
                <a:latin typeface="Microsoft YaHei"/>
                <a:ea typeface="Microsoft YaHei"/>
              </a:rPr>
              <a:t xml:space="preserve"> 2026 </a:t>
            </a:r>
            <a:r>
              <a:rPr lang="zh-CN" sz="1200">
                <a:solidFill>
                  <a:srgbClr val="E8EFF8"/>
                </a:solidFill>
                <a:latin typeface="Microsoft YaHei"/>
                <a:ea typeface="Microsoft YaHei"/>
              </a:rPr>
              <a:t>年高考数学全国Ⅰ卷压轴题的解题实践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495800" y="1238250"/>
            <a:ext cx="7010400" cy="819150"/>
          </a:xfrm>
          <a:custGeom>
            <a:pathLst>
              <a:path w="736" h="86">
                <a:moveTo>
                  <a:pt x="0" y="85"/>
                </a:moveTo>
                <a:lnTo>
                  <a:pt x="736" y="85"/>
                </a:lnTo>
                <a:lnTo>
                  <a:pt x="736" y="86"/>
                </a:lnTo>
                <a:lnTo>
                  <a:pt x="0" y="8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4495800" y="12573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619625" y="139065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295900" y="1238250"/>
            <a:ext cx="31813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任务与工具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295900" y="1619250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实践要求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DeepSeek Harness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简介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解题流程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4495800" y="2428875"/>
            <a:ext cx="7010400" cy="819150"/>
          </a:xfrm>
          <a:custGeom>
            <a:pathLst>
              <a:path w="736" h="86">
                <a:moveTo>
                  <a:pt x="0" y="85"/>
                </a:moveTo>
                <a:lnTo>
                  <a:pt x="736" y="85"/>
                </a:lnTo>
                <a:lnTo>
                  <a:pt x="736" y="86"/>
                </a:lnTo>
                <a:lnTo>
                  <a:pt x="0" y="8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4495800" y="244792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619625" y="258127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295900" y="2428875"/>
            <a:ext cx="3086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题目与提示词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295900" y="2809875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全国Ⅰ卷第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19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题原题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四轮提示词设计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495800" y="3619500"/>
            <a:ext cx="7010400" cy="819150"/>
          </a:xfrm>
          <a:custGeom>
            <a:pathLst>
              <a:path w="736" h="86">
                <a:moveTo>
                  <a:pt x="0" y="85"/>
                </a:moveTo>
                <a:lnTo>
                  <a:pt x="736" y="85"/>
                </a:lnTo>
                <a:lnTo>
                  <a:pt x="736" y="86"/>
                </a:lnTo>
                <a:lnTo>
                  <a:pt x="0" y="8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4495800" y="36385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619625" y="3771900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295900" y="3619500"/>
            <a:ext cx="2571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解题过程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295900" y="4000500"/>
            <a:ext cx="2571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三问完整解答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反证法与四事实证明链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495800" y="4810125"/>
            <a:ext cx="7010400" cy="819150"/>
          </a:xfrm>
          <a:custGeom>
            <a:pathLst>
              <a:path w="736" h="86">
                <a:moveTo>
                  <a:pt x="0" y="85"/>
                </a:moveTo>
                <a:lnTo>
                  <a:pt x="736" y="85"/>
                </a:lnTo>
                <a:lnTo>
                  <a:pt x="736" y="86"/>
                </a:lnTo>
                <a:lnTo>
                  <a:pt x="0" y="86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4495800" y="4829175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619625" y="496252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5295900" y="4810125"/>
            <a:ext cx="23717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验证与总结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295900" y="5191125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数值验证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提交清单与心得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92" name="" descr="&lt;Slide style={{ padding: 0, background: '#FFFFFF' }}&gt;&#10;  &lt;Box style={{ width: 1280, height: 8, background: '#1E4FA8' }} /&gt;&#10;  &lt;Box style={{ flex: 1, flexDirection: 'column', justifyContent: 'space-between', paddingTop: 72, paddingBottom: 56, paddingLeft: 96, paddingRight: 96 }}&gt;&#10;    &lt;Box style={{ flexDirection: 'row', alignItems: 'center', gap: 72 }}&gt;&#10;      &lt;Text style={{ fontSize: 200, fontWeight: 'bold', color: '#1E4FA8' }}&gt;01&lt;/Text&gt;&#10;      &lt;Box style={{ flexDirection: 'column', gap: 18 }}&gt;&#10;        &lt;Text style={{ fontSize: 48, fontWeight: 'bold', color: '#0E3F8C' }}&gt;任务与工具&lt;/Text&gt;&#10;        &lt;Box style={{ width: 72, height: 4, background: '#1E4FA8' }} /&gt;&#10;        &lt;Text style={{ fontSize: 18, color: '#8B97A8' }}&gt;Task &amp;amp; Tooling&lt;/Text&gt;&#10;      &lt;/Box&gt;&#10;    &lt;/Box&gt;&#10;    &lt;Box style={{ flexDirection: 'column', gap: 16 }}&gt;&#10;      &lt;Box style={{ width: '100%', height: 1, background: '#D6DCE5' }} /&gt;&#10;      &lt;Text style={{ fontSize: 18, color: '#4A5568' }}&gt;本章交代实践要求与 dsh 工具：一行命令启动，流程可复现。&lt;/Text&gt;&#10;      &lt;Box style={{ width: '100%', height: 1, background: '#D6DCE5' }} /&gt;&#10;    &lt;/Box&gt;&#10;    &lt;Box style={{ flexDirection: 'column', gap: 18 }}&gt;&#10;      &lt;Text style={{ fontSize: 20, color: '#4A5568', lineHeight: 1.6 }}&gt;· 实践题要求：用 DeepSeek Harness 做一道数学题并制作 PPT&lt;/Text&gt;&#10;      &lt;Text style={{ fontSize: 20, color: '#4A5568', lineHeight: 1.6 }}&gt;· 工具：dsh 命令行（Web UI 与 headless 无头模式）&lt;/Text&gt;&#10;      &lt;Text style={{ fontSize: 20, color: '#4A5568', lineHeight: 1.6 }}&gt;· 流程：读题 → 提示词 → 求解 → 验证 → 成稿&lt;/Text&gt;&#10;    &lt;/Box&gt;&#10;  &lt;/Box&gt;&#10;  &lt;Box style={{ width: 1280, height: 64, background: '#F0F5FC', alignItems: 'center', justifyContent: 'center' }}&gt;&#10;    &lt;Text style={{ fontSize: 16, fontWeight: 'bold', color: '#1E4FA8' }}&gt;01 / 04 · 任务与工具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14400" y="7620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952875" y="1333500"/>
            <a:ext cx="2286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任务与工具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3952875" y="2057400"/>
            <a:ext cx="6858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952875" y="2266950"/>
            <a:ext cx="228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Task &amp; Tooling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914400" y="3390900"/>
            <a:ext cx="103632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14400" y="3552825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本章交代实践要求与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dsh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工具：一行命令启动，流程可复现。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914400" y="3914775"/>
            <a:ext cx="103632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914400" y="4257675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实践题要求：用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DeepSeek Harness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做一道数学题并制作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PPT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914400" y="4800600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工具：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dsh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命令行（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Web UI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headless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无头模式）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914400" y="5343525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流程：读题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提示词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求解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验证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成稿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0" y="6248400"/>
            <a:ext cx="12192000" cy="6096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362575" y="6457950"/>
            <a:ext cx="1466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01 / 04 ·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任务与工具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7" name="" descr="&lt;Slide style={{ padding: 0, background: '#F7F9FC' }}&gt;&#10;  &lt;Box style={{ width: 1280, height: 80, background: '#1E4FA8', flexDirection: 'row', alignItems: 'center', justifyContent: 'space-between', paddingLeft: 40, paddingRight: 40 }}&gt;&#10;    &lt;Text style={{ fontSize: 30, fontWeight: 'bold', color: '#FFFFFF' }}&gt;实践任务与 dsh 工具&lt;/Text&gt;&#10;    &lt;Text style={{ fontSize: 16, color: '#E8EFF8' }}&gt;01 · 任务与工具&lt;/Text&gt;&#10;  &lt;/Box&gt;&#10;  &lt;Box style={{ flexDirection: 'row', padding: 24, paddingLeft: 40, paddingRight: 40, gap: 20, height: 600 }}&gt;&#10;    &lt;Box style={{ width: 420, height: 552, background: '#FFFFFF', border: '1px solid #D6DCE5', borderRadius: 10, padding: 24, flexDirection: 'column', gap: 16 }}&gt;&#10;      &lt;Text style={{ fontSize: 24, fontWeight: 'bold', color: '#0E3F8C' }}&gt;实践任务&lt;/Text&gt;&#10;      &lt;Text style={{ fontSize: 18, color: '#4A5568', lineHeight: 1.6 }}&gt;使用 DeepSeek Harness（dsh）完成一道数学题，可选高等数学、线性代数、高考压轴题、奥数或数学猜想，并把过程与结果整理成 PPT。&lt;/Text&gt;&#10;      &lt;Text style={{ fontSize: 18, color: '#1A2230', lineHeight: 1.6 }}&gt;本实践选题：&lt;span style={{ fontWeight: 'bold', color: '#1E4FA8' }}&gt;2026 年高考数学全国Ⅰ卷第 19 题（压轴题）&lt;/span&gt;&lt;/Text&gt;&#10;      &lt;Box style={{ flex: 1 }} /&gt;&#10;      &lt;Text style={{ fontSize: 18, fontWeight: 'bold', color: '#0E3F8C' }}&gt;提交四件套&lt;/Text&gt;&#10;      {[&#10;        ['file-text', '原题及来源'],&#10;        ['comment', '提示词'],&#10;        ['cog', '代码'],&#10;        ['clipboard', 'PPT'],&#10;      ].map((item, idx) =&gt; (&#10;        &lt;Box key={idx} style={{ flexDirection: 'row', alignItems: 'center', gap: 12 }}&gt;&#10;          &lt;FAIcon name={item[0]} style={{ fill: '#1E4FA8', width: 22, height: 22 }} /&gt;&#10;          &lt;Text style={{ fontSize: 18, color: '#1A2230' }}&gt;{item[1]}&lt;/Text&gt;&#10;          &lt;FAIcon name='check-circle' style={{ fill: '#3D7BD9', width: 18, height: 18 }} /&gt;&#10;        &lt;/Box&gt;&#10;      ))}&#10;    &lt;/Box&gt;&#10;    &lt;Box style={{ width: 760, height: 552, flexDirection: 'column', gap: 20 }}&gt;&#10;      &lt;Box style={{ height: 316, background: '#FFFFFF', border: '1px solid #D6DCE5', borderRadius: 10, padding: 24, flexDirection: 'column', gap: 14 }}&gt;&#10;        &lt;Text style={{ fontSize: 24, fontWeight: 'bold', color: '#0E3F8C' }}&gt;DeepSeek Harness（dsh）是什么&lt;/Text&gt;&#10;        &lt;Text style={{ fontSize: 18, color: '#4A5568', lineHeight: 1.6 }}&gt;DeepSeek 官方智能体运行环境：一条命令即可启动，把大模型、工具调用与工作目录组织成可复现的解题流水线。&lt;/Text&gt;&#10;        &lt;Box style={{ flexDirection: 'row', alignItems: 'center', gap: 10 }}&gt;&#10;          &lt;FAIcon name='arrow-right' style={{ fill: '#3D7BD9', width: 18, height: 18 }} /&gt;&#10;          &lt;Text style={{ fontSize: 17, color: '#1A2230' }}&gt;npx @deepseek-ai/dsh web　→　Web UI（127.0.0.1:3080）&lt;/Text&gt;&#10;        &lt;/Box&gt;&#10;        &lt;Box style={{ flexDirection: 'row', alignItems: 'center', gap: 10 }}&gt;&#10;          &lt;FAIcon name='arrow-right' style={{ fill: '#3D7BD9', width: 18, height: 18 }} /&gt;&#10;          &lt;Text style={{ fontSize: 17, color: '#1A2230' }}&gt;npx @deepseek-ai/dsh --profile headless &quot;任务&quot;　→　无头模式，结果输出到 stdout&lt;/Text&gt;&#10;        &lt;/Box&gt;&#10;        &lt;Box style={{ flexDirection: 'row', alignItems: 'center', gap: 10 }}&gt;&#10;          &lt;FAIcon name='key' style={{ fill: '#3D7BD9', width: 18, height: 18 }} /&gt;&#10;          &lt;Text style={{ fontSize: 17, color: '#1A2230' }}&gt;首次使用：Settings → Models 配置 DeepSeek API Key，并选择工作目录&lt;/Text&gt;&#10;        &lt;/Box&gt;&#10;      &lt;/Box&gt;&#10;      &lt;Box style={{ height: 216, background: '#FFFFFF', border: '1px solid #D6DCE5', borderRadius: 10, padding: 22, flexDirection: 'column', gap: 12 }}&gt;&#10;        &lt;Text style={{ fontSize: 24, fontWeight: 'bold', color: '#0E3F8C' }}&gt;本次解题流程&lt;/Text&gt;&#10;        &lt;Box style={{ flexDirection: 'row', alignItems: 'center', gap: 8 }}&gt;&#10;          {['读题翻译', '分轮求解', '反证攻坚', '代码验证', '制作 PPT'].map((step, idx) =&gt; (&#10;            &lt;Box key={idx} style={{ flexDirection: 'row', alignItems: 'center', gap: 8 }}&gt;&#10;              &lt;Box style={{ background: '#E8EFF8', borderRadius: 18, paddingTop: 8, paddingBottom: 8, paddingLeft: 18, paddingRight: 18 }}&gt;&#10;                &lt;Text style={{ fontSize: 16, fontWeight: 'bold', color: '#1E4FA8' }}&gt;{step}&lt;/Text&gt;&#10;              &lt;/Box&gt;&#10;              {idx &lt; 4 &amp;&amp; &lt;FAIcon name='chevron-right' style={{ fill: '#8B97A8', width: 16, height: 16 }} /&gt;}&#10;            &lt;/Box&gt;&#10;          ))}&#10;        &lt;/Box&gt;&#10;        &lt;Text style={{ fontSize: 16, color: '#4A5568', lineHeight: 1.55 }}&gt;headless 模式让每一步都可脚本化复现：同一提示词、同一工作目录，结果可追溯。&lt;/Text&gt;&#10;        &lt;Text style={{ fontSize: 16, color: '#1A2230', lineHeight: 1.55 }}&gt;每步产物落盘：翻译笔记 → 分问解答 → 证明稿 → 验证脚本输出 → PPT 页面。&lt;/Text&gt;&#10;      &lt;/Box&gt;&#10;    &lt;/Box&gt;&#10;  &lt;/Box&gt;&#10;  &lt;Box style={{ width: 1280, height: 40, flexDirection: 'row', alignItems: 'center', justifyContent: 'space-between', paddingLeft: 40, paddingRight: 40 }}&gt;&#10;    &lt;Text style={{ fontSize: 14, color: '#8B97A8' }}&gt;神经网络课程 · 第二次作业（实践题）&lt;/Text&gt;&#10;    &lt;Text style={{ fontSize: 14, fontWeight: 'bold', color: '#1E4FA8' }}&gt;04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6860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实践任务与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dsh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0734675" y="285750"/>
            <a:ext cx="1076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/>
                </a:solidFill>
                <a:latin typeface="Microsoft YaHei"/>
                <a:ea typeface="Microsoft YaHei"/>
              </a:rPr>
              <a:t xml:space="preserve">01 · </a:t>
            </a:r>
            <a:r>
              <a:rPr lang="zh-CN" sz="1200">
                <a:solidFill>
                  <a:srgbClr val="E8EFF8"/>
                </a:solidFill>
                <a:latin typeface="Microsoft YaHei"/>
                <a:ea typeface="Microsoft YaHei"/>
              </a:rPr>
              <a:t>任务与工具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81000" y="990600"/>
            <a:ext cx="4000500" cy="52578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1219200"/>
            <a:ext cx="3543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实践任务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09600" y="1647825"/>
            <a:ext cx="354330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使用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DeepSeek Harness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dsh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）完成一道数学题，可选高等数学、线性代数、高考压轴题、奥数或数学猜想，并把过程与结果整理成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PPT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3124200"/>
            <a:ext cx="3543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本实践选题：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年高考数学全国Ⅰ卷第</a:t>
            </a: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19 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题（压轴题）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4362450"/>
            <a:ext cx="3543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提交四件套</a:t>
            </a:r>
            <a:endParaRPr/>
          </a:p>
        </p:txBody>
      </p:sp>
      <p:pic>
        <p:nvPicPr>
          <p:cNvPr id="2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4724400"/>
            <a:ext cx="209550" cy="209550"/>
          </a:xfrm>
          <a:prstGeom prst="rect">
            <a:avLst/>
          </a:prstGeom>
          <a:ln/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33450" y="47244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原题及来源</a:t>
            </a:r>
            <a:endParaRPr/>
          </a:p>
        </p:txBody>
      </p:sp>
      <p:pic>
        <p:nvPicPr>
          <p:cNvPr id="2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905000" y="4743450"/>
            <a:ext cx="171450" cy="171450"/>
          </a:xfrm>
          <a:prstGeom prst="rect">
            <a:avLst/>
          </a:prstGeom>
          <a:ln/>
        </p:spPr>
      </p:pic>
      <p:pic>
        <p:nvPicPr>
          <p:cNvPr id="2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09600" y="5086350"/>
            <a:ext cx="209550" cy="209550"/>
          </a:xfrm>
          <a:prstGeom prst="rect">
            <a:avLst/>
          </a:prstGeom>
          <a:ln/>
        </p:spPr>
      </p:pic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933450" y="50863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提示词</a:t>
            </a:r>
            <a:endParaRPr/>
          </a:p>
        </p:txBody>
      </p:sp>
      <p:pic>
        <p:nvPicPr>
          <p:cNvPr id="2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562100" y="5105400"/>
            <a:ext cx="171450" cy="171450"/>
          </a:xfrm>
          <a:prstGeom prst="rect">
            <a:avLst/>
          </a:prstGeom>
          <a:ln/>
        </p:spPr>
      </p:pic>
      <p:pic>
        <p:nvPicPr>
          <p:cNvPr id="2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09600" y="5448300"/>
            <a:ext cx="209550" cy="209550"/>
          </a:xfrm>
          <a:prstGeom prst="rect">
            <a:avLst/>
          </a:prstGeom>
          <a:ln/>
        </p:spPr>
      </p:pic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933450" y="544830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代码</a:t>
            </a:r>
            <a:endParaRPr/>
          </a:p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390650" y="5467350"/>
            <a:ext cx="171450" cy="171450"/>
          </a:xfrm>
          <a:prstGeom prst="rect">
            <a:avLst/>
          </a:prstGeom>
          <a:ln/>
        </p:spPr>
      </p:pic>
      <p:pic>
        <p:nvPicPr>
          <p:cNvPr id="2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09600" y="5810250"/>
            <a:ext cx="209550" cy="209550"/>
          </a:xfrm>
          <a:prstGeom prst="rect">
            <a:avLst/>
          </a:prstGeom>
          <a:ln/>
        </p:spPr>
      </p:pic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33450" y="5810250"/>
            <a:ext cx="314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PPT</a:t>
            </a:r>
            <a:endParaRPr/>
          </a:p>
        </p:txBody>
      </p:sp>
      <p:pic>
        <p:nvPicPr>
          <p:cNvPr id="2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362075" y="5829300"/>
            <a:ext cx="171450" cy="171450"/>
          </a:xfrm>
          <a:prstGeom prst="rect">
            <a:avLst/>
          </a:prstGeom>
          <a:ln/>
        </p:spPr>
      </p:pic>
      <p:sp>
        <p:nvSpPr>
          <p:cNvPr id="229" name=""/>
          <p:cNvSpPr/>
          <p:nvPr/>
        </p:nvSpPr>
        <p:spPr>
          <a:xfrm rot="0" flipH="0" flipV="0">
            <a:off x="4572000" y="990600"/>
            <a:ext cx="7239000" cy="3009900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800600" y="1219200"/>
            <a:ext cx="678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DeepSeek Harness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（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dsh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）是什么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800600" y="1628775"/>
            <a:ext cx="67818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DeepSeek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官方智能体运行环境：一条命令即可启动，把大模型、工具调用与工作目录组织成可复现的解题流水线。</a:t>
            </a:r>
            <a:endParaRPr/>
          </a:p>
        </p:txBody>
      </p:sp>
      <p:pic>
        <p:nvPicPr>
          <p:cNvPr id="2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800600" y="2447925"/>
            <a:ext cx="171450" cy="171450"/>
          </a:xfrm>
          <a:prstGeom prst="rect">
            <a:avLst/>
          </a:prstGeom>
          <a:ln/>
        </p:spPr>
      </p:pic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067300" y="2428875"/>
            <a:ext cx="4638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npx @deepseek-ai/dsh web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　→　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Web UI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127.0.0.1:3080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pic>
        <p:nvPicPr>
          <p:cNvPr id="2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800600" y="2781300"/>
            <a:ext cx="171450" cy="171450"/>
          </a:xfrm>
          <a:prstGeom prst="rect">
            <a:avLst/>
          </a:prstGeom>
          <a:ln/>
        </p:spPr>
      </p:pic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067300" y="2762250"/>
            <a:ext cx="634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npx @deepseek-ai/dsh --profile headless 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任务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　→　无头模式，结果输出到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stdout</a:t>
            </a:r>
            <a:endParaRPr/>
          </a:p>
        </p:txBody>
      </p:sp>
      <p:pic>
        <p:nvPicPr>
          <p:cNvPr id="2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4800600" y="3114675"/>
            <a:ext cx="171450" cy="171450"/>
          </a:xfrm>
          <a:prstGeom prst="rect">
            <a:avLst/>
          </a:prstGeom>
          <a:ln/>
        </p:spPr>
      </p:pic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067300" y="3095625"/>
            <a:ext cx="5400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首次使用：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Settings → Models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配置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 xml:space="preserve"> DeepSeek API Key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，并选择工作目录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4572000" y="4191000"/>
            <a:ext cx="7239000" cy="20574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781550" y="4400550"/>
            <a:ext cx="6819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本次解题流程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4781550" y="4791075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953000" y="48672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读题翻译</a:t>
            </a:r>
            <a:endParaRPr/>
          </a:p>
        </p:txBody>
      </p:sp>
      <p:pic>
        <p:nvPicPr>
          <p:cNvPr id="2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5810250" y="4886325"/>
            <a:ext cx="152400" cy="152400"/>
          </a:xfrm>
          <a:prstGeom prst="rect">
            <a:avLst/>
          </a:prstGeom>
          <a:ln/>
        </p:spPr>
      </p:pic>
      <p:sp>
        <p:nvSpPr>
          <p:cNvPr id="243" name=""/>
          <p:cNvSpPr/>
          <p:nvPr/>
        </p:nvSpPr>
        <p:spPr>
          <a:xfrm rot="0" flipH="0" flipV="0">
            <a:off x="6038850" y="4791075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210300" y="48672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分轮求解</a:t>
            </a:r>
            <a:endParaRPr/>
          </a:p>
        </p:txBody>
      </p:sp>
      <p:pic>
        <p:nvPicPr>
          <p:cNvPr id="2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7067550" y="4886325"/>
            <a:ext cx="152400" cy="152400"/>
          </a:xfrm>
          <a:prstGeom prst="rect">
            <a:avLst/>
          </a:prstGeom>
          <a:ln/>
        </p:spPr>
      </p:pic>
      <p:sp>
        <p:nvSpPr>
          <p:cNvPr id="246" name=""/>
          <p:cNvSpPr/>
          <p:nvPr/>
        </p:nvSpPr>
        <p:spPr>
          <a:xfrm rot="0" flipH="0" flipV="0">
            <a:off x="7296150" y="4791075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467600" y="48672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反证攻坚</a:t>
            </a:r>
            <a:endParaRPr/>
          </a:p>
        </p:txBody>
      </p:sp>
      <p:pic>
        <p:nvPicPr>
          <p:cNvPr id="2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8324850" y="4886325"/>
            <a:ext cx="152400" cy="152400"/>
          </a:xfrm>
          <a:prstGeom prst="rect">
            <a:avLst/>
          </a:prstGeom>
          <a:ln/>
        </p:spPr>
      </p:pic>
      <p:sp>
        <p:nvSpPr>
          <p:cNvPr id="249" name=""/>
          <p:cNvSpPr/>
          <p:nvPr/>
        </p:nvSpPr>
        <p:spPr>
          <a:xfrm rot="0" flipH="0" flipV="0">
            <a:off x="8553450" y="4791075"/>
            <a:ext cx="9525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724900" y="48672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代码验证</a:t>
            </a:r>
            <a:endParaRPr/>
          </a:p>
        </p:txBody>
      </p:sp>
      <p:pic>
        <p:nvPicPr>
          <p:cNvPr id="2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9582150" y="4886325"/>
            <a:ext cx="152400" cy="152400"/>
          </a:xfrm>
          <a:prstGeom prst="rect">
            <a:avLst/>
          </a:prstGeom>
          <a:ln/>
        </p:spPr>
      </p:pic>
      <p:sp>
        <p:nvSpPr>
          <p:cNvPr id="252" name=""/>
          <p:cNvSpPr/>
          <p:nvPr/>
        </p:nvSpPr>
        <p:spPr>
          <a:xfrm rot="0" flipH="0" flipV="0">
            <a:off x="9810750" y="4791075"/>
            <a:ext cx="990600" cy="3429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982200" y="4867275"/>
            <a:ext cx="64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制作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PPT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4781550" y="5248275"/>
            <a:ext cx="68199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headless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模式让每一步都可脚本化复现：同一提示词、同一工作目录，结果可追溯。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781550" y="5648325"/>
            <a:ext cx="68199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每步产物落盘：翻译笔记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分问解答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证明稿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验证脚本输出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→ PPT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页面。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神经网络课程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第二次作业（实践题）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58" name="" descr="&lt;Slide style={{ padding: 0, background: '#FFFFFF' }}&gt;&#10;  &lt;Box style={{ width: 1280, height: 8, background: '#1E4FA8' }} /&gt;&#10;  &lt;Box style={{ flex: 1, flexDirection: 'column', justifyContent: 'space-between', paddingTop: 72, paddingBottom: 56, paddingLeft: 96, paddingRight: 96 }}&gt;&#10;    &lt;Box style={{ flexDirection: 'row', alignItems: 'center', gap: 72 }}&gt;&#10;      &lt;Text style={{ fontSize: 200, fontWeight: 'bold', color: '#1E4FA8' }}&gt;02&lt;/Text&gt;&#10;      &lt;Box style={{ flexDirection: 'column', gap: 18 }}&gt;&#10;        &lt;Text style={{ fontSize: 48, fontWeight: 'bold', color: '#0E3F8C' }}&gt;题目与提示词&lt;/Text&gt;&#10;        &lt;Box style={{ width: 72, height: 4, background: '#1E4FA8' }} /&gt;&#10;        &lt;Text style={{ fontSize: 18, color: '#8B97A8' }}&gt;Problem &amp;amp; Prompts&lt;/Text&gt;&#10;      &lt;/Box&gt;&#10;    &lt;/Box&gt;&#10;    &lt;Box style={{ flexDirection: 'column', gap: 16 }}&gt;&#10;      &lt;Box style={{ width: '100%', height: 1, background: '#D6DCE5' }} /&gt;&#10;      &lt;Text style={{ fontSize: 18, color: '#4A5568' }}&gt;先把题读对，再把路引对——读题翻译与提示词设计是解题的上半场。&lt;/Text&gt;&#10;      &lt;Box style={{ width: '100%', height: 1, background: '#D6DCE5' }} /&gt;&#10;    &lt;/Box&gt;&#10;    &lt;Box style={{ flexDirection: 'column', gap: 18 }}&gt;&#10;      &lt;Text style={{ fontSize: 20, color: '#4A5568', lineHeight: 1.6 }}&gt;· 原题：2026 全国Ⅰ卷第 19 题（17 分压轴题）&lt;/Text&gt;&#10;      &lt;Text style={{ fontSize: 20, color: '#4A5568', lineHeight: 1.6 }}&gt;· 新定义 D(x₀) 的读题翻译：让函数值变大的平移量&lt;/Text&gt;&#10;      &lt;Text style={{ fontSize: 20, color: '#4A5568', lineHeight: 1.6 }}&gt;· 四轮提示词：翻译 → 分问 → 反证 → 验证&lt;/Text&gt;&#10;    &lt;/Box&gt;&#10;  &lt;/Box&gt;&#10;  &lt;Box style={{ width: 1280, height: 64, background: '#F0F5FC', alignItems: 'center', justifyContent: 'center' }}&gt;&#10;    &lt;Text style={{ fontSize: 16, fontWeight: 'bold', color: '#1E4FA8' }}&gt;02 / 04 · 题目与提示词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914400" y="7620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952875" y="1333500"/>
            <a:ext cx="27432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题目与提示词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3952875" y="2057400"/>
            <a:ext cx="6858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3952875" y="2266950"/>
            <a:ext cx="274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Problem &amp; Prompts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914400" y="3390900"/>
            <a:ext cx="103632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14400" y="3552825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先把题读对，再把路引对——读题翻译与提示词设计是解题的上半场。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914400" y="3914775"/>
            <a:ext cx="103632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14400" y="4257675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原题：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全国Ⅰ卷第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19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题（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分压轴题）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14400" y="4800600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新定义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D(x₀)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的读题翻译：让函数值变大的平移量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14400" y="5343525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四轮提示词：翻译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分问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反证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0" y="6248400"/>
            <a:ext cx="12192000" cy="6096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286375" y="6457950"/>
            <a:ext cx="1619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02 / 04 ·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题目与提示词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73" name="" descr="&lt;Slide style={{ padding: 0, background: '#F7F9FC' }}&gt;&#10;  &lt;Box style={{ width: 1280, height: 80, background: '#1E4FA8', flexDirection: 'row', alignItems: 'center', justifyContent: 'space-between', paddingLeft: 40, paddingRight: 40 }}&gt;&#10;    &lt;Text style={{ fontSize: 30, fontWeight: 'bold', color: '#FFFFFF' }}&gt;原题及来源&lt;/Text&gt;&#10;    &lt;Text style={{ fontSize: 16, color: '#E8EFF8' }}&gt;02 · 题目与提示词&lt;/Text&gt;&#10;  &lt;/Box&gt;&#10;  &lt;Box style={{ flexDirection: 'row', padding: 24, paddingLeft: 40, paddingRight: 40, gap: 20, height: 600 }}&gt;&#10;    &lt;Box style={{ width: 764, height: 552, background: '#FFFFFF', border: '1px solid #D6DCE5', borderRadius: 10, padding: 24, flexDirection: 'column', gap: 12 }}&gt;&#10;      &lt;Box style={{ flexDirection: 'row', alignItems: 'center', gap: 12 }}&gt;&#10;        &lt;Text style={{ fontSize: 24, fontWeight: 'bold', color: '#0E3F8C' }}&gt;2026 年高考数学全国Ⅰ卷 · 第 19 题&lt;/Text&gt;&#10;        &lt;Box style={{ background: '#D9534F', borderRadius: 14, paddingTop: 4, paddingBottom: 4, paddingLeft: 14, paddingRight: 14 }}&gt;&#10;          &lt;Text style={{ fontSize: 14, fontWeight: 'bold', color: '#FFFFFF' }}&gt;17 分 · 压轴题&lt;/Text&gt;&#10;        &lt;/Box&gt;&#10;      &lt;/Box&gt;&#10;      &lt;Text style={{ fontSize: 18, color: '#1A2230', lineHeight: 1.55 }}&gt;已知函数 f(x) 的定义域为 R，且当 x&amp;lt;0 时，f(x)=2ˣ。对任意 x₀∈R，定义集合&lt;/Text&gt;&#10;      &lt;Box style={{ alignItems: 'center', paddingTop: 4, paddingBottom: 4 }}&gt;&#10;        &lt;Math latex=&quot;D(x_0)=\\{d\\in\\mathbb{R} \\mid f(x_0+d)&gt;f(x_0)\\}&quot; width={420} display={true} color=&quot;#0E3F8C&quot; /&gt;&#10;      &lt;/Box&gt;&#10;      &lt;Text style={{ fontSize: 18, color: '#1A2230', lineHeight: 1.55 }}&gt;(1) 若当 x≥0 时，f(x)=1-x，求 D(-1)；&lt;/Text&gt;&#10;      &lt;Text style={{ fontSize: 18, color: '#1A2230', lineHeight: 1.55 }}&gt;(2) 若 f(x) 是奇函数，f(x₁)≤f(x₂)，且 x₁x₂≠0，证明：D(x₂)⊆D(x₁)；&lt;/Text&gt;&#10;      &lt;Text style={{ fontSize: 18, color: '#1A2230', lineHeight: 1.55 }}&gt;(3) 设 f(x) 满足：① 若 f(x₁)≤f(x₂)，则 D(x₂)⊆D(x₁)；② 当 0&amp;lt;x&amp;lt;1 时，f(x)&amp;lt;f(0)。&lt;/Text&gt;&#10;      &lt;Text style={{ fontSize: 18, color: '#1A2230', lineHeight: 1.55 }}&gt;　　(i) 证明：f(0)≥1；　(ii) 证明：f(x) 在区间 (0,+∞) 单调递增。&lt;/Text&gt;&#10;      &lt;Box style={{ flex: 1 }} /&gt;&#10;      &lt;Text style={{ fontSize: 15, color: '#8B97A8' }}&gt;来源：2026 年普通高等学校招生全国统一考试 · 数学（全国Ⅰ卷）&lt;/Text&gt;&#10;    &lt;/Box&gt;&#10;    &lt;Box style={{ width: 416, height: 552, flexDirection: 'column', gap: 20 }}&gt;&#10;      &lt;Box style={{ height: 236, background: '#FFFFFF', border: '1px solid #D6DCE5', borderRadius: 10, padding: 22, flexDirection: 'column', gap: 12 }}&gt;&#10;        &lt;Text style={{ fontSize: 22, fontWeight: 'bold', color: '#0E3F8C' }}&gt;题目档案&lt;/Text&gt;&#10;        {[&#10;          ['题型', '新定义 · 抽象函数 · 集合包含'],&#10;          ['分值', '17 分（全卷最后一题）'],&#10;          ['难点', '第(3)问：反证法 + 构造'],&#10;          ['素养', '数学抽象 · 逻辑推理'],&#10;        ].map((item, idx) =&gt; (&#10;          &lt;Box key={idx} style={{ flexDirection: 'row', gap: 10 }}&gt;&#10;            &lt;Text style={{ fontSize: 16, fontWeight: 'bold', color: '#1E4FA8', width: 48 }}&gt;{item[0]}&lt;/Text&gt;&#10;            &lt;Text style={{ fontSize: 16, color: '#4A5568', flex: 1, lineHeight: 1.5 }}&gt;{item[1]}&lt;/Text&gt;&#10;          &lt;/Box&gt;&#10;        ))}&#10;      &lt;/Box&gt;&#10;      &lt;Box style={{ flex: 1, background: '#F0F5FC', border: '1px solid #D6DCE5', borderRadius: 10, padding: 22, flexDirection: 'column', gap: 12 }}&gt;&#10;        &lt;Text style={{ fontSize: 22, fontWeight: 'bold', color: '#0E3F8C' }}&gt;定义翻译（读题关键）&lt;/Text&gt;&#10;        &lt;Text style={{ fontSize: 16, color: '#4A5568', lineHeight: 1.55 }}&gt;D(x₀)：所有“让函数值变大的平移量 d”组成的集合（d&amp;gt;0 右移，d&amp;lt;0 左移）。&lt;/Text&gt;&#10;        &lt;Text style={{ fontSize: 16, color: '#4A5568', lineHeight: 1.55 }}&gt;d∈D(x₀) ⟺ 平移后函数值更大；D(x₂)⊆D(x₁) 是单调性的集合化语言。&lt;/Text&gt;&#10;      &lt;/Box&gt;&#10;    &lt;/Box&gt;&#10;  &lt;/Box&gt;&#10;  &lt;Box style={{ width: 1280, height: 40, flexDirection: 'row', alignItems: 'center', justifyContent: 'space-between', paddingLeft: 40, paddingRight: 40 }}&gt;&#10;    &lt;Text style={{ fontSize: 14, color: '#8B97A8' }}&gt;神经网络课程 · 第二次作业（实践题）&lt;/Text&gt;&#10;    &lt;Text style={{ fontSize: 14, fontWeight: 'bold', color: '#1E4FA8' }}&gt;06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原题及来源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0582275" y="285750"/>
            <a:ext cx="1228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200">
                <a:solidFill>
                  <a:srgbClr val="E8EFF8"/>
                </a:solidFill>
                <a:latin typeface="Microsoft YaHei"/>
                <a:ea typeface="Microsoft YaHei"/>
              </a:rPr>
              <a:t>题目与提示词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381000" y="990600"/>
            <a:ext cx="7277100" cy="5257800"/>
          </a:xfrm>
          <a:prstGeom prst="roundRect">
            <a:avLst>
              <a:gd name="adj" fmla="val 181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09600" y="121920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年高考数学全国Ⅰ卷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19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题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4533900" y="1238250"/>
            <a:ext cx="1143000" cy="238125"/>
          </a:xfrm>
          <a:prstGeom prst="roundRect">
            <a:avLst>
              <a:gd name="adj" fmla="val 56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4667250" y="127635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分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压轴题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09600" y="1609725"/>
            <a:ext cx="68199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已知函数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f(x)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的定义域为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R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，且当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x&lt;0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时，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f(x)=2ˣ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。对任意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x₀∈R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，定义集合</a:t>
            </a:r>
            <a:endParaRPr/>
          </a:p>
        </p:txBody>
      </p:sp>
      <p:pic>
        <p:nvPicPr>
          <p:cNvPr id="283" name="" descr="D(x_0)=\\{d\\in\\mathbb{R} \\mid f(x_0+d)&gt;f(x_0)\\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019300" y="2085975"/>
            <a:ext cx="4000500" cy="219075"/>
          </a:xfrm>
          <a:prstGeom prst="rect"/>
          <a:ln/>
        </p:spPr>
      </p:pic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2457450"/>
            <a:ext cx="68199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(1)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若当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x≥0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时，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f(x)=1-x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，求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D(-1)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；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9600" y="2895600"/>
            <a:ext cx="68199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(2)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若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f(x)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是奇函数，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f(x₁)≤f(x₂)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，且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x₁x₂≠0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，证明：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D(x₂)⊆D(x₁)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；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09600" y="3333750"/>
            <a:ext cx="68199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(3)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设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f(x)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满足：①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若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f(x₁)≤f(x₂)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，则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D(x₂)⊆D(x₁)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；②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当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0&lt;x&lt;1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时，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f(x)&lt;f(0)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09600" y="3771900"/>
            <a:ext cx="6819900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　　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(i)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证明：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f(0)≥1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；　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(ii)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证明：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f(x)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在区间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 xml:space="preserve"> (0,+∞)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单调递增。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9600" y="5848350"/>
            <a:ext cx="6819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来源：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年普通高等学校招生全国统一考试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数学（全国Ⅰ卷）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7848600" y="990600"/>
            <a:ext cx="3962400" cy="22479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058150" y="120015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题目档案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058150" y="157162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题型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610600" y="1571625"/>
            <a:ext cx="29908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新定义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抽象函数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集合包含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058150" y="196215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分值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610600" y="1962150"/>
            <a:ext cx="29908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17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分（全卷最后一题）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058150" y="23526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难点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610600" y="2352675"/>
            <a:ext cx="29908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(3)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问：反证法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构造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058150" y="274320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素养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610600" y="2743200"/>
            <a:ext cx="29908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数学抽象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逻辑推理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7848600" y="3429000"/>
            <a:ext cx="3962400" cy="2819400"/>
          </a:xfrm>
          <a:prstGeom prst="roundRect">
            <a:avLst>
              <a:gd name="adj" fmla="val 337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058150" y="3638550"/>
            <a:ext cx="3543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定义翻译（读题关键）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058150" y="4010025"/>
            <a:ext cx="3543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D(x₀)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：所有“让函数值变大的平移量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d”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组成的集合（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d&gt;0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右移，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d&lt;0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左移）。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058150" y="4695825"/>
            <a:ext cx="35433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d∈D(x₀) ⟺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平移后函数值更大；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D(x₂)⊆D(x₁)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是单调性的集合化语言。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神经网络课程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第二次作业（实践题）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05" name="" descr="&lt;Slide style={{ padding: 0, background: '#F7F9FC' }}&gt;&#10;  &lt;Box style={{ width: 1280, height: 80, background: '#1E4FA8', flexDirection: 'row', alignItems: 'center', justifyContent: 'space-between', paddingLeft: 40, paddingRight: 40 }}&gt;&#10;    &lt;Text style={{ fontSize: 30, fontWeight: 'bold', color: '#FFFFFF' }}&gt;提示词设计：四轮递进&lt;/Text&gt;&#10;    &lt;Text style={{ fontSize: 16, color: '#E8EFF8' }}&gt;02 · 题目与提示词&lt;/Text&gt;&#10;  &lt;/Box&gt;&#10;  &lt;Box style={{ flexDirection: 'column', padding: 24, paddingLeft: 40, paddingRight: 40, gap: 20, height: 600 }}&gt;&#10;    &lt;Box style={{ flexDirection: 'row', alignItems: 'center', gap: 12, height: 150 }}&gt;&#10;      {[&#10;        ['第 1 轮', '读题翻译', '只读题不解题，把 D(x₀) 翻译成自然语言'],&#10;        ['第 2 轮', '分问求解', '第(1)(2)问逐问投喂，要求规范解答'],&#10;        ['第 3 轮', '反证攻坚', '给出四个事实的脚手架，引导严格推理'],&#10;        ['第 4 轮', '代码验证', '编写 Python 脚本，数值交叉核验结论'],&#10;      ].map((item, idx) =&gt; (&#10;        &lt;Box key={idx} style={{ flexDirection: 'row', alignItems: 'center', gap: 12 }}&gt;&#10;          &lt;Box style={{ width: 268, height: 150, background: '#FFFFFF', border: '1px solid #D6DCE5', borderRadius: 10, padding: 18, flexDirection: 'column', gap: 8 }}&gt;&#10;            &lt;Box style={{ background: '#1E4FA8', borderRadius: 12, paddingTop: 3, paddingBottom: 3, paddingLeft: 12, paddingRight: 12, alignSelf: 'flex-start' }}&gt;&#10;              &lt;Text style={{ fontSize: 14, fontWeight: 'bold', color: '#FFFFFF' }}&gt;{item[0]}&lt;/Text&gt;&#10;            &lt;/Box&gt;&#10;            &lt;Text style={{ fontSize: 22, fontWeight: 'bold', color: '#0E3F8C' }}&gt;{item[1]}&lt;/Text&gt;&#10;            &lt;Text style={{ fontSize: 15, color: '#4A5568', lineHeight: 1.5 }}&gt;{item[2]}&lt;/Text&gt;&#10;          &lt;/Box&gt;&#10;          {idx &lt; 3 &amp;&amp; &lt;FAIcon name='chevron-right' style={{ fill: '#8B97A8', width: 18, height: 18 }} /&gt;}&#10;        &lt;/Box&gt;&#10;      ))}&#10;    &lt;/Box&gt;&#10;    &lt;Box style={{ flexDirection: 'row', gap: 20, flex: 1 }}&gt;&#10;      &lt;Box style={{ width: 620, height: '100%', background: '#FFFFFF', border: '1px solid #D6DCE5', borderRadius: 10, padding: 22, flexDirection: 'column', gap: 12 }}&gt;&#10;        &lt;Text style={{ fontSize: 22, fontWeight: 'bold', color: '#0E3F8C' }}&gt;关键提示词摘录（第 3 轮 · 攻坚）&lt;/Text&gt;&#10;        &lt;Box style={{ background: '#F0F5FC', borderRadius: 8, padding: 16, flex: 1 }}&gt;&#10;          &lt;Text style={{ fontSize: 16, color: '#1A2230', lineHeight: 1.65 }}&gt;“请证明第(3)问。建议路线（反证法）：(i) 假设 f(0)&amp;lt;1，分 f(0)≤1/2 与 1/2&amp;lt;f(0)&amp;lt;1 两种情形，利用 (0,1)⊆D(-1) 或取 c=log₂f(0) 导出矛盾；(ii) 先证四个事实：Fact A（x&amp;gt;0 时 f(x)∉(0,1)）、Fact B（(0,1) 上 f≤0）、Fact D（D(0)=∅），再排除 x≥1 处 f(x)=f(0)。请检查所有包含关系的方向。”&lt;/Text&gt;&#10;        &lt;/Box&gt;&#10;        &lt;Text style={{ fontSize: 15, color: '#8B97A8' }}&gt;完整四轮提示词见提交附件《dsh_提示词记录.md》&lt;/Text&gt;&#10;      &lt;/Box&gt;&#10;      &lt;Box style={{ flex: 1, height: '100%', background: '#FFFFFF', border: '1px solid #D6DCE5', borderRadius: 10, padding: 22, flexDirection: 'column', gap: 12 }}&gt;&#10;        &lt;Text style={{ fontSize: 22, fontWeight: 'bold', color: '#0E3F8C' }}&gt;设计心得&lt;/Text&gt;&#10;        {[&#10;          '先翻译、再求解：新定义题的瓶颈是读题，第一轮不让模型动笔',&#10;          '化整为零：四小问难度差异大，逐问投喂显著优于一次性提问',&#10;          '给脚手架不给答案：方向由人把握，严格推理由模型补全',&#10;          '代码闭环：数值实验交叉验证，理论 + 机器双保险',&#10;        ].map((item, idx) =&gt; (&#10;          &lt;Box key={idx} style={{ flexDirection: 'row', gap: 10, alignItems: 'flex-start' }}&gt;&#10;            &lt;FAIcon name='check-circle' style={{ fill: '#3D7BD9', width: 18, height: 18 }} /&gt;&#10;            &lt;Text style={{ fontSize: 16, color: '#4A5568', flex: 1, lineHeight: 1.55 }}&gt;{item}&lt;/Text&gt;&#10;          &lt;/Box&gt;&#10;        ))}&#10;      &lt;/Box&gt;&#10;    &lt;/Box&gt;&#10;  &lt;/Box&gt;&#10;  &lt;Box style={{ width: 1280, height: 40, flexDirection: 'row', alignItems: 'center', justifyContent: 'space-between', paddingLeft: 40, paddingRight: 40 }}&gt;&#10;    &lt;Text style={{ fontSize: 14, color: '#8B97A8' }}&gt;神经网络课程 · 第二次作业（实践题）&lt;/Text&gt;&#10;    &lt;Text style={{ fontSize: 14, fontWeight: 'bold', color: '#1E4FA8' }}&gt;07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提示词设计：四轮递进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0582275" y="285750"/>
            <a:ext cx="1228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/>
                </a:solidFill>
                <a:latin typeface="Microsoft YaHei"/>
                <a:ea typeface="Microsoft YaHei"/>
              </a:rPr>
              <a:t xml:space="preserve">02 · </a:t>
            </a:r>
            <a:r>
              <a:rPr lang="zh-CN" sz="1200">
                <a:solidFill>
                  <a:srgbClr val="E8EFF8"/>
                </a:solidFill>
                <a:latin typeface="Microsoft YaHei"/>
                <a:ea typeface="Microsoft YaHei"/>
              </a:rPr>
              <a:t>题目与提示词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381000" y="990600"/>
            <a:ext cx="25527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552450" y="1162050"/>
            <a:ext cx="657225" cy="219075"/>
          </a:xfrm>
          <a:prstGeom prst="roundRect">
            <a:avLst>
              <a:gd name="adj" fmla="val 5217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66750" y="119062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52450" y="1457325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读题翻译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52450" y="1790700"/>
            <a:ext cx="2209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只读题不解题，把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D(x₀)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翻译成自然语言</a:t>
            </a:r>
            <a:endParaRPr/>
          </a:p>
        </p:txBody>
      </p:sp>
      <p:pic>
        <p:nvPicPr>
          <p:cNvPr id="3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48000" y="1619250"/>
            <a:ext cx="171450" cy="171450"/>
          </a:xfrm>
          <a:prstGeom prst="rect">
            <a:avLst/>
          </a:prstGeom>
          <a:ln/>
        </p:spPr>
      </p:pic>
      <p:sp>
        <p:nvSpPr>
          <p:cNvPr id="316" name=""/>
          <p:cNvSpPr/>
          <p:nvPr/>
        </p:nvSpPr>
        <p:spPr>
          <a:xfrm rot="0" flipH="0" flipV="0">
            <a:off x="3333750" y="990600"/>
            <a:ext cx="25527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3505200" y="1162050"/>
            <a:ext cx="657225" cy="219075"/>
          </a:xfrm>
          <a:prstGeom prst="roundRect">
            <a:avLst>
              <a:gd name="adj" fmla="val 5217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3619500" y="119062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3505200" y="1457325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分问求解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3505200" y="1790700"/>
            <a:ext cx="2209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(1)(2)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问逐问投喂，要求规范解答</a:t>
            </a:r>
            <a:endParaRPr/>
          </a:p>
        </p:txBody>
      </p:sp>
      <p:pic>
        <p:nvPicPr>
          <p:cNvPr id="3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00750" y="1619250"/>
            <a:ext cx="171450" cy="171450"/>
          </a:xfrm>
          <a:prstGeom prst="rect">
            <a:avLst/>
          </a:prstGeom>
          <a:ln/>
        </p:spPr>
      </p:pic>
      <p:sp>
        <p:nvSpPr>
          <p:cNvPr id="322" name=""/>
          <p:cNvSpPr/>
          <p:nvPr/>
        </p:nvSpPr>
        <p:spPr>
          <a:xfrm rot="0" flipH="0" flipV="0">
            <a:off x="6286500" y="990600"/>
            <a:ext cx="25527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6457950" y="1162050"/>
            <a:ext cx="657225" cy="219075"/>
          </a:xfrm>
          <a:prstGeom prst="roundRect">
            <a:avLst>
              <a:gd name="adj" fmla="val 5217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572250" y="119062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457950" y="1457325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反证攻坚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457950" y="1790700"/>
            <a:ext cx="2209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给出四个事实的脚手架，引导严格推理</a:t>
            </a:r>
            <a:endParaRPr/>
          </a:p>
        </p:txBody>
      </p:sp>
      <p:pic>
        <p:nvPicPr>
          <p:cNvPr id="3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0" y="1619250"/>
            <a:ext cx="171450" cy="171450"/>
          </a:xfrm>
          <a:prstGeom prst="rect">
            <a:avLst/>
          </a:prstGeom>
          <a:ln/>
        </p:spPr>
      </p:pic>
      <p:sp>
        <p:nvSpPr>
          <p:cNvPr id="328" name=""/>
          <p:cNvSpPr/>
          <p:nvPr/>
        </p:nvSpPr>
        <p:spPr>
          <a:xfrm rot="0" flipH="0" flipV="0">
            <a:off x="9239250" y="990600"/>
            <a:ext cx="25527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9410700" y="1162050"/>
            <a:ext cx="657225" cy="219075"/>
          </a:xfrm>
          <a:prstGeom prst="roundRect">
            <a:avLst>
              <a:gd name="adj" fmla="val 5217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9525000" y="1190625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9410700" y="1457325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代码验证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9410700" y="1790700"/>
            <a:ext cx="2209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编写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Python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脚本，数值交叉核验结论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381000" y="2609850"/>
            <a:ext cx="5905500" cy="3638550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590550" y="2819400"/>
            <a:ext cx="548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关键提示词摘录（第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轮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攻坚）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590550" y="3190875"/>
            <a:ext cx="5486400" cy="2562225"/>
          </a:xfrm>
          <a:prstGeom prst="roundRect">
            <a:avLst>
              <a:gd name="adj" fmla="val 297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742950" y="3343275"/>
            <a:ext cx="51816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“请证明第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(3)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问。建议路线（反证法）：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(i)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假设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f(0)&lt;1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，分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f(0)≤1/2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1/2&lt;f(0)&lt;1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两种情形，利用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(0,1)⊆D(-1)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或取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c=log₂f(0)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导出矛盾；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(ii)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先证四个事实：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Fact A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x&gt;0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时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f(x)∉(0,1)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）、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Fact B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(0,1)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上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f≤0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）、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Fact D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D(0)=∅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），再排除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x≥1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处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f(x)=f(0)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。请检查所有包含关系的方向。”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590550" y="586740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完整四轮提示词见提交附件《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dsh_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提示词记录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.md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》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477000" y="2609850"/>
            <a:ext cx="5334000" cy="3638550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686550" y="2819400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设计心得</a:t>
            </a:r>
            <a:endParaRPr/>
          </a:p>
        </p:txBody>
      </p:sp>
      <p:pic>
        <p:nvPicPr>
          <p:cNvPr id="3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86550" y="3190875"/>
            <a:ext cx="171450" cy="171450"/>
          </a:xfrm>
          <a:prstGeom prst="rect">
            <a:avLst/>
          </a:prstGeom>
          <a:ln/>
        </p:spPr>
      </p:pic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953250" y="3190875"/>
            <a:ext cx="46482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先翻译、再求解：新定义题的瓶颈是读题，第一轮不让模型动笔</a:t>
            </a:r>
            <a:endParaRPr/>
          </a:p>
        </p:txBody>
      </p:sp>
      <p:pic>
        <p:nvPicPr>
          <p:cNvPr id="3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86550" y="3590925"/>
            <a:ext cx="171450" cy="171450"/>
          </a:xfrm>
          <a:prstGeom prst="rect">
            <a:avLst/>
          </a:prstGeom>
          <a:ln/>
        </p:spPr>
      </p:pic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953250" y="3590925"/>
            <a:ext cx="46482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化整为零：四小问难度差异大，逐问投喂显著优于一次性提问</a:t>
            </a:r>
            <a:endParaRPr/>
          </a:p>
        </p:txBody>
      </p:sp>
      <p:pic>
        <p:nvPicPr>
          <p:cNvPr id="3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86550" y="3990975"/>
            <a:ext cx="171450" cy="171450"/>
          </a:xfrm>
          <a:prstGeom prst="rect">
            <a:avLst/>
          </a:prstGeom>
          <a:ln/>
        </p:spPr>
      </p:pic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953250" y="3990975"/>
            <a:ext cx="46482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给脚手架不给答案：方向由人把握，严格推理由模型补全</a:t>
            </a:r>
            <a:endParaRPr/>
          </a:p>
        </p:txBody>
      </p:sp>
      <p:pic>
        <p:nvPicPr>
          <p:cNvPr id="3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686550" y="4391025"/>
            <a:ext cx="171450" cy="171450"/>
          </a:xfrm>
          <a:prstGeom prst="rect">
            <a:avLst/>
          </a:prstGeom>
          <a:ln/>
        </p:spPr>
      </p:pic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953250" y="4391025"/>
            <a:ext cx="46482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代码闭环：数值实验交叉验证，理论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机器双保险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神经网络课程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第二次作业（实践题）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50" name="" descr="&lt;Slide style={{ padding: 0, background: '#FFFFFF' }}&gt;&#10;  &lt;Box style={{ width: 1280, height: 8, background: '#1E4FA8' }} /&gt;&#10;  &lt;Box style={{ flex: 1, flexDirection: 'column', justifyContent: 'space-between', paddingTop: 72, paddingBottom: 56, paddingLeft: 96, paddingRight: 96 }}&gt;&#10;    &lt;Box style={{ flexDirection: 'row', alignItems: 'center', gap: 72 }}&gt;&#10;      &lt;Text style={{ fontSize: 200, fontWeight: 'bold', color: '#1E4FA8' }}&gt;03&lt;/Text&gt;&#10;      &lt;Box style={{ flexDirection: 'column', gap: 18 }}&gt;&#10;        &lt;Text style={{ fontSize: 48, fontWeight: 'bold', color: '#0E3F8C' }}&gt;解题过程&lt;/Text&gt;&#10;        &lt;Box style={{ width: 72, height: 4, background: '#1E4FA8' }} /&gt;&#10;        &lt;Text style={{ fontSize: 18, color: '#8B97A8' }}&gt;Solution&lt;/Text&gt;&#10;      &lt;/Box&gt;&#10;    &lt;/Box&gt;&#10;    &lt;Box style={{ flexDirection: 'column', gap: 16 }}&gt;&#10;      &lt;Box style={{ width: '100%', height: 1, background: '#D6DCE5' }} /&gt;&#10;      &lt;Text style={{ fontSize: 18, color: '#4A5568' }}&gt;三问难度层层递进：计算 → 分类讨论 → 反证构造。&lt;/Text&gt;&#10;      &lt;Box style={{ width: '100%', height: 1, background: '#D6DCE5' }} /&gt;&#10;    &lt;/Box&gt;&#10;    &lt;Box style={{ flexDirection: 'column', gap: 18 }}&gt;&#10;      &lt;Text style={{ fontSize: 20, color: '#4A5568', lineHeight: 1.6 }}&gt;· 第(1)问：分段讨论，得 D(-1) = (0, 3/2)&lt;/Text&gt;&#10;      &lt;Text style={{ fontSize: 20, color: '#4A5568', lineHeight: 1.6 }}&gt;· 第(2)问：奇函数显式集合 + 三种情形证包含&lt;/Text&gt;&#10;      &lt;Text style={{ fontSize: 20, color: '#4A5568', lineHeight: 1.6 }}&gt;· 第(3)问：反证法 + Fact A→B→D→C 证明链&lt;/Text&gt;&#10;    &lt;/Box&gt;&#10;  &lt;/Box&gt;&#10;  &lt;Box style={{ width: 1280, height: 64, background: '#F0F5FC', alignItems: 'center', justifyContent: 'center' }}&gt;&#10;    &lt;Text style={{ fontSize: 16, fontWeight: 'bold', color: '#1E4FA8' }}&gt;03 / 04 · 解题过程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914400" y="7620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3952875" y="1333500"/>
            <a:ext cx="18288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解题过程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952875" y="2057400"/>
            <a:ext cx="6858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3952875" y="2266950"/>
            <a:ext cx="1828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Solution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914400" y="3390900"/>
            <a:ext cx="103632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914400" y="3552825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三问难度层层递进：计算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分类讨论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反证构造。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914400" y="3914775"/>
            <a:ext cx="103632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914400" y="4257675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(1)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问：分段讨论，得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D(-1) = (0, 3/2)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914400" y="4800600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(2)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问：奇函数显式集合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三种情形证包含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914400" y="5343525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(3)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问：反证法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Fact A→B→D→C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证明链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0" y="6248400"/>
            <a:ext cx="12192000" cy="6096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5438775" y="6457950"/>
            <a:ext cx="13144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03 / 04 ·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解题过程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5" name="" descr="&lt;Slide style={{ padding: 0, background: '#F7F9FC' }}&gt;&#10;  &lt;Box style={{ width: 1280, height: 80, background: '#1E4FA8', flexDirection: 'row', alignItems: 'center', justifyContent: 'space-between', paddingLeft: 40, paddingRight: 40 }}&gt;&#10;    &lt;Text style={{ fontSize: 30, fontWeight: 'bold', color: '#FFFFFF' }}&gt;第(1)(2)问解答&lt;/Text&gt;&#10;    &lt;Text style={{ fontSize: 16, color: '#E8EFF8' }}&gt;03 · 解题过程&lt;/Text&gt;&#10;  &lt;/Box&gt;&#10;  &lt;Box style={{ flexDirection: 'column', padding: 24, paddingLeft: 40, paddingRight: 40, gap: 16, height: 600 }}&gt;&#10;    &lt;Box style={{ flexDirection: 'row', gap: 20, flex: 1 }}&gt;&#10;      &lt;Box style={{ width: 680, height: '100%', background: '#FFFFFF', border: '1px solid #D6DCE5', borderRadius: 10, padding: 24, flexDirection: 'column', gap: 12 }}&gt;&#10;        &lt;Text style={{ fontSize: 24, fontWeight: 'bold', color: '#0E3F8C' }}&gt;第(1)问｜求 D(-1)（此时 x≥0 有 f(x)=1-x）&lt;/Text&gt;&#10;        &lt;Box style={{ flexDirection: 'row', alignItems: 'center', gap: 10 }}&gt;&#10;          &lt;Text style={{ fontSize: 18, color: '#4A5568' }}&gt;基准值&lt;/Text&gt;&#10;          &lt;Math latex=&quot;f(-1)=2^{-1}=\\frac{1}{2}&quot; width={150} color=&quot;#1A2230&quot; /&gt;&#10;          &lt;Text style={{ fontSize: 18, color: '#4A5568' }}&gt;，故 d∈D(-1) ⟺ f(d-1)&amp;gt;1/2&lt;/Text&gt;&#10;        &lt;/Box&gt;&#10;        &lt;Box style={{ flexDirection: 'row', alignItems: 'center', gap: 10 }}&gt;&#10;          &lt;Box style={{ background: '#E8EFF8', borderRadius: 12, paddingTop: 2, paddingBottom: 2, paddingLeft: 12, paddingRight: 12 }}&gt;&#10;            &lt;Text style={{ fontSize: 15, fontWeight: 'bold', color: '#1E4FA8' }}&gt;情形一 d&amp;lt;1&lt;/Text&gt;&#10;          &lt;/Box&gt;&#10;          &lt;Math latex=&quot;2^{d-1}&gt;\\frac{1}{2}=2^{-1} \\iff d&gt;0&quot; width={240} color=&quot;#1A2230&quot; /&gt;&#10;        &lt;/Box&gt;&#10;        &lt;Box style={{ flexDirection: 'row', alignItems: 'center', gap: 10 }}&gt;&#10;          &lt;Box style={{ background: '#E8EFF8', borderRadius: 12, paddingTop: 2, paddingBottom: 2, paddingLeft: 12, paddingRight: 12 }}&gt;&#10;            &lt;Text style={{ fontSize: 15, fontWeight: 'bold', color: '#1E4FA8' }}&gt;情形二 d≥1&lt;/Text&gt;&#10;          &lt;/Box&gt;&#10;          &lt;Math latex=&quot;1-(d-1)&gt;\\frac{1}{2} \\iff d&lt;\\frac{3}{2}&quot; width={240} color=&quot;#1A2230&quot; /&gt;&#10;        &lt;/Box&gt;&#10;        &lt;Box style={{ flex: 1 }} /&gt;&#10;        &lt;Box style={{ flexDirection: 'row', alignItems: 'center', gap: 16, background: '#F0F5FC', borderRadius: 10, padding: 18 }}&gt;&#10;          &lt;Text style={{ fontSize: 22, fontWeight: 'bold', color: '#0E3F8C' }}&gt;结论&lt;/Text&gt;&#10;          &lt;Math latex=&quot;D(-1)=\\left(0,\\ \\frac{3}{2}\\right)&quot; width={220} display={true} color=&quot;#0E3F8C&quot; /&gt;&#10;        &lt;/Box&gt;&#10;      &lt;/Box&gt;&#10;      &lt;Box style={{ width: 500, height: '100%', background: '#FFFFFF', border: '1px solid #D6DCE5', borderRadius: 10, padding: 24, flexDirection: 'column', gap: 12 }}&gt;&#10;        &lt;Text style={{ fontSize: 24, fontWeight: 'bold', color: '#0E3F8C' }}&gt;第(2)问｜奇函数情形证包含&lt;/Text&gt;&#10;        &lt;Text style={{ fontSize: 17, color: '#4A5568', lineHeight: 1.5 }}&gt;f 为奇函数 ⟹ f(0)=0，且 x&amp;gt;0 时 f(x)=-f(-x)：&lt;/Text&gt;&#10;        &lt;Box style={{ alignItems: 'center' }}&gt;&#10;          &lt;Math latex=&quot;f(x)=\\begin{cases} 2^x, &amp; x&lt;0 \\\\ 0, &amp; x=0 \\\\ -2^{-x}, &amp; x&gt;0 \\end{cases}&quot; width={200} display={true} color=&quot;#1A2230&quot; /&gt;&#10;        &lt;/Box&gt;&#10;        &lt;Text style={{ fontSize: 17, color: '#4A5568', lineHeight: 1.5 }}&gt;显式求出集合：&lt;/Text&gt;&#10;        &lt;Box style={{ alignItems: 'center' }}&gt;&#10;          &lt;Math latex=&quot;x_0&lt;0:\\ D(x_0)=(0,\\ -x_0)&quot; width={210} color=&quot;#1A2230&quot; /&gt;&#10;        &lt;/Box&gt;&#10;        &lt;Box style={{ alignItems: 'center' }}&gt;&#10;          &lt;Math latex=&quot;x_0&gt;0:\\ D(x_0)=(-\\infty,\\ -x_0]\\cup(0,\\ +\\infty)&quot; width={320} color=&quot;#1A2230&quot; /&gt;&#10;        &lt;/Box&gt;&#10;        &lt;Text style={{ fontSize: 17, color: '#4A5568', lineHeight: 1.55 }}&gt;按 x₁、x₂ 位置分三种情形：① x₁≤x₂&amp;lt;0；② x₂&amp;lt;0&amp;lt;x₁（条件自动成立）；③ 0&amp;lt;x₁≤x₂。逐一比较区间端点，均有 D(x₂)⊆D(x₁)。&lt;/Text&gt;&#10;      &lt;/Box&gt;&#10;    &lt;/Box&gt;&#10;    &lt;Box style={{ height: 64, background: '#0E3F8C', borderRadius: 10, alignItems: 'center', justifyContent: 'center' }}&gt;&#10;      &lt;Text style={{ fontSize: 18, color: '#FFFFFF' }}&gt;直觉：D(x₀) 是“让函数值变大的平移量”的集合——前两问的显式结果正是第(3)问反证法的出发点&lt;/Text&gt;&#10;    &lt;/Box&gt;&#10;  &lt;/Box&gt;&#10;  &lt;Box style={{ width: 1280, height: 40, flexDirection: 'row', alignItems: 'center', justifyContent: 'space-between', paddingLeft: 40, paddingRight: 40 }}&gt;&#10;    &lt;Text style={{ fontSize: 14, color: '#8B97A8' }}&gt;神经网络课程 · 第二次作业（实践题）&lt;/Text&gt;&#10;    &lt;Text style={{ fontSize: 14, fontWeight: 'bold', color: '#1E4FA8' }}&gt;09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1943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(1)(2)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问解答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0887075" y="285750"/>
            <a:ext cx="923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200">
                <a:solidFill>
                  <a:srgbClr val="E8EFF8"/>
                </a:solidFill>
                <a:latin typeface="Microsoft YaHei"/>
                <a:ea typeface="Microsoft YaHei"/>
              </a:rPr>
              <a:t>解题过程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381000" y="990600"/>
            <a:ext cx="6477000" cy="4495800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09600" y="1219200"/>
            <a:ext cx="6019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(1)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问｜求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D(-1)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（此时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x≥0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有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f(x)=1-x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609600" y="16097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基准值</a:t>
            </a:r>
            <a:endParaRPr/>
          </a:p>
        </p:txBody>
      </p:sp>
      <p:pic>
        <p:nvPicPr>
          <p:cNvPr id="373" name="" descr="f(-1)=2^{-1}=\\frac{1}{2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219200" y="1638300"/>
            <a:ext cx="1428750" cy="161925"/>
          </a:xfrm>
          <a:prstGeom prst="rect"/>
          <a:ln/>
        </p:spPr>
      </p:pic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2743200" y="1609725"/>
            <a:ext cx="2276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，故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d∈D(-1) ⟺ f(d-1)&gt;1/2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9600" y="1933575"/>
            <a:ext cx="1000125" cy="209550"/>
          </a:xfrm>
          <a:prstGeom prst="roundRect">
            <a:avLst>
              <a:gd name="adj" fmla="val 5454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23900" y="1952625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情形一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d&lt;1</a:t>
            </a:r>
            <a:endParaRPr/>
          </a:p>
        </p:txBody>
      </p:sp>
      <p:pic>
        <p:nvPicPr>
          <p:cNvPr id="377" name="" descr="2^{d-1}&gt;\\frac{1}{2}=2^{-1} \\iff d&gt;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704975" y="1943100"/>
            <a:ext cx="2286000" cy="190500"/>
          </a:xfrm>
          <a:prstGeom prst="rect"/>
          <a:ln/>
        </p:spPr>
      </p:pic>
      <p:sp>
        <p:nvSpPr>
          <p:cNvPr id="378" name=""/>
          <p:cNvSpPr/>
          <p:nvPr/>
        </p:nvSpPr>
        <p:spPr>
          <a:xfrm rot="0" flipH="0" flipV="0">
            <a:off x="609600" y="2257425"/>
            <a:ext cx="1000125" cy="209550"/>
          </a:xfrm>
          <a:prstGeom prst="roundRect">
            <a:avLst>
              <a:gd name="adj" fmla="val 5454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723900" y="2276475"/>
            <a:ext cx="77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情形二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d≥1</a:t>
            </a:r>
            <a:endParaRPr/>
          </a:p>
        </p:txBody>
      </p:sp>
      <p:pic>
        <p:nvPicPr>
          <p:cNvPr id="380" name="" descr="1-(d-1)&gt;\\frac{1}{2} \\iff d&lt;\\frac{3}{2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704975" y="2286000"/>
            <a:ext cx="2286000" cy="152400"/>
          </a:xfrm>
          <a:prstGeom prst="rect"/>
          <a:ln/>
        </p:spPr>
      </p:pic>
      <p:sp>
        <p:nvSpPr>
          <p:cNvPr id="381" name=""/>
          <p:cNvSpPr/>
          <p:nvPr/>
        </p:nvSpPr>
        <p:spPr>
          <a:xfrm rot="0" flipH="0" flipV="0">
            <a:off x="609600" y="4657725"/>
            <a:ext cx="6019800" cy="600075"/>
          </a:xfrm>
          <a:prstGeom prst="roundRect">
            <a:avLst>
              <a:gd name="adj" fmla="val 1587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781050" y="48291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pic>
        <p:nvPicPr>
          <p:cNvPr id="383" name="" descr="D(-1)=\\left(0,\\ \\frac{3}{2}\\right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352550" y="4876800"/>
            <a:ext cx="2095500" cy="171450"/>
          </a:xfrm>
          <a:prstGeom prst="rect"/>
          <a:ln/>
        </p:spPr>
      </p:pic>
      <p:sp>
        <p:nvSpPr>
          <p:cNvPr id="384" name=""/>
          <p:cNvSpPr/>
          <p:nvPr/>
        </p:nvSpPr>
        <p:spPr>
          <a:xfrm rot="0" flipH="0" flipV="0">
            <a:off x="7048500" y="990600"/>
            <a:ext cx="4762500" cy="4495800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277100" y="1219200"/>
            <a:ext cx="4305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(2)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问｜奇函数情形证包含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277100" y="1609725"/>
            <a:ext cx="4305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f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为奇函数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⟹ f(0)=0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，且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x&gt;0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时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f(x)=-f(-x)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pic>
        <p:nvPicPr>
          <p:cNvPr id="387" name="" descr="f(x)=\\begin{cases} 2^x, &amp; x&lt;0 \\\\ 0, &amp; x=0 \\\\ -2^{-x}, &amp; x&gt;0 \\end{cases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8477250" y="2019300"/>
            <a:ext cx="1905000" cy="47625"/>
          </a:xfrm>
          <a:prstGeom prst="rect"/>
          <a:ln/>
        </p:spPr>
      </p:pic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277100" y="2181225"/>
            <a:ext cx="43053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显式求出集合：</a:t>
            </a:r>
            <a:endParaRPr/>
          </a:p>
        </p:txBody>
      </p:sp>
      <p:pic>
        <p:nvPicPr>
          <p:cNvPr id="389" name="" descr="x_0&lt;0:\\ D(x_0)=(0,\\ -x_0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429625" y="2590800"/>
            <a:ext cx="2000250" cy="180975"/>
          </a:xfrm>
          <a:prstGeom prst="rect"/>
          <a:ln/>
        </p:spPr>
      </p:pic>
      <p:pic>
        <p:nvPicPr>
          <p:cNvPr id="390" name="" descr="x_0&gt;0:\\ D(x_0)=(-\\infty,\\ -x_0]\\cup(0,\\ +\\infty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905750" y="2886075"/>
            <a:ext cx="3048000" cy="152400"/>
          </a:xfrm>
          <a:prstGeom prst="rect"/>
          <a:ln/>
        </p:spPr>
      </p:pic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277100" y="3152775"/>
            <a:ext cx="43053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按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x₁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x₂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位置分三种情形：①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x₁≤x₂&lt;0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；②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x₂&lt;0&lt;x₁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（条件自动成立）；③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0&lt;x₁≤x₂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。逐一比较区间端点，均有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D(x₂)⊆D(x₁)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381000" y="5638800"/>
            <a:ext cx="11430000" cy="609600"/>
          </a:xfrm>
          <a:prstGeom prst="roundRect">
            <a:avLst>
              <a:gd name="adj" fmla="val 1562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2324100" y="5838825"/>
            <a:ext cx="7553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直觉：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D(x₀)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是“让函数值变大的平移量”的集合——前两问的显式结果正是第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>(3)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问反证法的出发点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神经网络课程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第二次作业（实践题）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3" name="" descr="&lt;Slide style={{ padding: 0, background: '#F7F9FC' }}&gt;&#10;  &lt;Box style={{ width: 1280, height: 80, background: '#1E4FA8', flexDirection: 'row', alignItems: 'center', justifyContent: 'space-between', paddingLeft: 40, paddingRight: 40 }}&gt;&#10;    &lt;Text style={{ fontSize: 30, fontWeight: 'bold', color: '#FFFFFF' }}&gt;第(3)问(i)：证明 f(0) ≥ 1&lt;/Text&gt;&#10;    &lt;Text style={{ fontSize: 16, color: '#E8EFF8' }}&gt;03 · 解题过程&lt;/Text&gt;&#10;  &lt;/Box&gt;&#10;  &lt;Box style={{ flexDirection: 'column', padding: 24, paddingLeft: 40, paddingRight: 40, gap: 16, height: 600 }}&gt;&#10;    &lt;Text style={{ fontSize: 18, color: '#4A5568', lineHeight: 1.5 }}&gt;反证法：假设 f(0)&amp;lt;1，分两种情形，都利用条件①的包含关系撞上条件②的矛盾。预备：x&amp;lt;0 时 f(x)=2ˣ 严格递增，f(-1)=1/2。&lt;/Text&gt;&#10;    &lt;Box style={{ flexDirection: 'row', gap: 20, flex: 1 }}&gt;&#10;      &lt;Box style={{ width: 590, height: '100%', background: '#FFFFFF', border: '1px solid #D6DCE5', borderRadius: 10, padding: 22, flexDirection: 'column', gap: 12 }}&gt;&#10;        &lt;Box style={{ background: '#1E4FA8', borderRadius: 12, paddingTop: 4, paddingBottom: 4, paddingLeft: 14, paddingRight: 14, alignSelf: 'flex-start' }}&gt;&#10;          &lt;Text style={{ fontSize: 16, fontWeight: 'bold', color: '#FFFFFF' }}&gt;情形 A　f(0) ≤ 1/2 = f(-1)&lt;/Text&gt;&#10;        &lt;/Box&gt;&#10;        {[&#10;          '由条件①（f(0)≤f(-1)）得  D(-1) ⊆ D(0)',&#10;          '对任意 d∈(0,1)：d-1∈(-1,0)，故 f(d-1)=2^(d-1) &gt; 2^(-1)=1/2=f(-1)',&#10;          '于是 d∈D(-1)，即 (0,1) ⊆ D(-1) ⊆ D(0)，亦即 f(d)&gt;f(0)',&#10;          '但条件②说 0&lt;d&lt;1 时 f(d)&lt;f(0) —— 矛盾',&#10;        ].map((item, idx) =&gt; (&#10;          &lt;Box key={idx} style={{ flexDirection: 'row', gap: 10, alignItems: 'flex-start' }}&gt;&#10;            &lt;Box style={{ width: 26, height: 26, background: '#E8EFF8', borderRadius: 13, justifyContent: 'center', alignItems: 'center' }}&gt;&#10;              &lt;Text style={{ fontSize: 14, fontWeight: 'bold', color: '#1E4FA8' }}&gt;{idx + 1}&lt;/Text&gt;&#10;            &lt;/Box&gt;&#10;            &lt;Text style={{ fontSize: 16, color: '#4A5568', flex: 1, lineHeight: 1.55 }}&gt;{item}&lt;/Text&gt;&#10;          &lt;/Box&gt;&#10;        ))}&#10;        &lt;Box style={{ flex: 1 }} /&gt;&#10;        &lt;Text style={{ fontSize: 15, color: '#D9534F', fontWeight: 'bold' }}&gt;矛盾点：(0,1) 上的函数值既要 &amp;gt; f(0) 又要 &amp;lt; f(0)&lt;/Text&gt;&#10;      &lt;/Box&gt;&#10;      &lt;Box style={{ width: 590, height: '100%', background: '#FFFFFF', border: '1px solid #D6DCE5', borderRadius: 10, padding: 22, flexDirection: 'column', gap: 12 }}&gt;&#10;        &lt;Box style={{ background: '#1E4FA8', borderRadius: 12, paddingTop: 4, paddingBottom: 4, paddingLeft: 14, paddingRight: 14, alignSelf: 'flex-start' }}&gt;&#10;          &lt;Text style={{ fontSize: 16, fontWeight: 'bold', color: '#FFFFFF' }}&gt;情形 B　1/2 &amp;lt; f(0) &amp;lt; 1&lt;/Text&gt;&#10;        &lt;/Box&gt;&#10;        {[&#10;          '取 c = log₂f(0) ∈ (-1,0)，则 f(c) = 2^c = f(0)',&#10;          'f(c)≤f(0) 且 f(0)≤f(c)，由①双向成立 ⟹ D(c) = D(0)',&#10;          '对 d∈(0,-c)（由 -c∈(0,1) 知区间非空）：c+d&lt;0，f(c+d)=2^(c+d) &gt; 2^c = f(c)',&#10;          '于是 d∈D(c)=D(0)，即 f(d)&gt;f(0)，但 0&lt;d&lt;1 与条件②矛盾',&#10;        ].map((item, idx) =&gt; (&#10;          &lt;Box key={idx} style={{ flexDirection: 'row', gap: 10, alignItems: 'flex-start' }}&gt;&#10;            &lt;Box style={{ width: 26, height: 26, background: '#E8EFF8', borderRadius: 13, justifyContent: 'center', alignItems: 'center' }}&gt;&#10;              &lt;Text style={{ fontSize: 14, fontWeight: 'bold', color: '#1E4FA8' }}&gt;{idx + 1}&lt;/Text&gt;&#10;            &lt;/Box&gt;&#10;            &lt;Text style={{ fontSize: 16, color: '#4A5568', flex: 1, lineHeight: 1.55 }}&gt;{item}&lt;/Text&gt;&#10;          &lt;/Box&gt;&#10;        ))}&#10;        &lt;Box style={{ flex: 1 }} /&gt;&#10;        &lt;Text style={{ fontSize: 15, color: '#D9534F', fontWeight: 'bold' }}&gt;矛盾点：借负半轴的点 c 把 f(0) 的值“复制”到 x&amp;lt;0 区域&lt;/Text&gt;&#10;      &lt;/Box&gt;&#10;    &lt;/Box&gt;&#10;    &lt;Box style={{ height: 56, background: '#0E3F8C', borderRadius: 10, alignItems: 'center', justifyContent: 'center' }}&gt;&#10;      &lt;Text style={{ fontSize: 18, color: '#FFFFFF' }}&gt;两情形封死 f(0)&amp;lt;1　⟹　f(0) ≥ 1 —— 全题的分水岭&lt;/Text&gt;&#10;    &lt;/Box&gt;&#10;  &lt;/Box&gt;&#10;  &lt;Box style={{ width: 1280, height: 40, flexDirection: 'row', alignItems: 'center', justifyContent: 'space-between', paddingLeft: 40, paddingRight: 40 }}&gt;&#10;    &lt;Text style={{ fontSize: 14, color: '#8B97A8' }}&gt;神经网络课程 · 第二次作业（实践题）&lt;/Text&gt;&#10;    &lt;Text style={{ fontSize: 14, fontWeight: 'bold', color: '#1E4FA8' }}&gt;10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3051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(3)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问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(i)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：证明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f(0) ≥ 1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0887075" y="285750"/>
            <a:ext cx="923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200">
                <a:solidFill>
                  <a:srgbClr val="E8EFF8"/>
                </a:solidFill>
                <a:latin typeface="Microsoft YaHei"/>
                <a:ea typeface="Microsoft YaHei"/>
              </a:rPr>
              <a:t>解题过程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381000" y="990600"/>
            <a:ext cx="114300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反证法：假设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f(0)&lt;1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，分两种情形，都利用条件①的包含关系撞上条件②的矛盾。预备：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x&lt;0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时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f(x)=2ˣ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严格递增，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f(-1)=1/2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381000" y="1457325"/>
            <a:ext cx="5619750" cy="4105275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590550" y="1666875"/>
            <a:ext cx="2181225" cy="266700"/>
          </a:xfrm>
          <a:prstGeom prst="roundRect">
            <a:avLst>
              <a:gd name="adj" fmla="val 4285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23900" y="1704975"/>
            <a:ext cx="1914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情形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f(0) ≤ 1/2 = f(-1)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90550" y="20478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76275" y="20955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933450" y="2047875"/>
            <a:ext cx="4857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由条件①（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f(0)≤f(-1)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）得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 D(-1) ⊆ D(0)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590550" y="24479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76275" y="24955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33450" y="2447925"/>
            <a:ext cx="4857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对任意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d∈(0,1)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d-1∈(-1,0)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，故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f(d-1)=2^(d-1) &gt; 2^(-1)=1/2=f(-1)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590550" y="31337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76275" y="31813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33450" y="3133725"/>
            <a:ext cx="4857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于是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d∈D(-1)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，即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(0,1) ⊆ D(-1) ⊆ D(0)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，亦即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f(d)&gt;f(0)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90550" y="35337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76275" y="35814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33450" y="3533775"/>
            <a:ext cx="4857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但条件②说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0&lt;d&lt;1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时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f(d)&lt;f(0) ——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矛盾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90550" y="5181600"/>
            <a:ext cx="5200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矛盾点：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(0,1)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上的函数值既要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&gt; f(0)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又要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&lt; f(0)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191250" y="1457325"/>
            <a:ext cx="5619750" cy="4105275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6400800" y="1666875"/>
            <a:ext cx="1924050" cy="266700"/>
          </a:xfrm>
          <a:prstGeom prst="roundRect">
            <a:avLst>
              <a:gd name="adj" fmla="val 4285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534150" y="1704975"/>
            <a:ext cx="165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情形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1/2 &lt; f(0) &lt; 1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400800" y="20478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486525" y="20955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743700" y="2047875"/>
            <a:ext cx="4857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取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c = log₂f(0) ∈ (-1,0)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，则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f(c) = 2^c = f(0)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400800" y="244792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486525" y="24955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743700" y="2447925"/>
            <a:ext cx="4857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f(c)≤f(0)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且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f(0)≤f(c)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，由①双向成立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⟹ D(c) = D(0)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400800" y="28479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486525" y="28956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743700" y="2847975"/>
            <a:ext cx="4857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对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d∈(0,-c)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（由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-c∈(0,1)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知区间非空）：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c+d&lt;0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f(c+d)=2^(c+d) &gt; 2^c = f(c)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400800" y="353377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486525" y="35814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743700" y="3533775"/>
            <a:ext cx="48577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于是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d∈D(c)=D(0)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，即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f(d)&gt;f(0)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，但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0&lt;d&lt;1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与条件②矛盾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400800" y="5181600"/>
            <a:ext cx="5200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矛盾点：借负半轴的点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c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把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f(0)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的值“复制”到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x&lt;0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区域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381000" y="5715000"/>
            <a:ext cx="11430000" cy="533400"/>
          </a:xfrm>
          <a:prstGeom prst="roundRect">
            <a:avLst>
              <a:gd name="adj" fmla="val 1785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057650" y="5876925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两情形封死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 f(0)&lt;1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　⟹　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f(0) ≥ 1 ——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全题的分水岭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神经网络课程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第二次作业（实践题）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5" name="" descr="&lt;Slide style={{ padding: 0, background: '#F7F9FC' }}&gt;&#10;  &lt;Box style={{ width: 1280, height: 80, background: '#1E4FA8', flexDirection: 'row', alignItems: 'center', justifyContent: 'space-between', paddingLeft: 40, paddingRight: 40 }}&gt;&#10;    &lt;Text style={{ fontSize: 30, fontWeight: 'bold', color: '#FFFFFF' }}&gt;第(3)问(ii)：单调性证明链&lt;/Text&gt;&#10;    &lt;Text style={{ fontSize: 16, color: '#E8EFF8' }}&gt;03 · 解题过程&lt;/Text&gt;&#10;  &lt;/Box&gt;&#10;  &lt;Box style={{ flexDirection: 'column', padding: 24, paddingLeft: 40, paddingRight: 40, gap: 14, height: 600 }}&gt;&#10;    &lt;Text style={{ fontSize: 17, color: '#4A5568' }}&gt;目标：对任意 x&amp;gt;0、d&amp;gt;0 都有 d∈D(x)，即 f(x+d)&amp;gt;f(x)。证明链：四个事实逐层压缩 f 在正半轴的值域。&lt;/Text&gt;&#10;    &lt;Box style={{ flexDirection: 'row', alignItems: 'center', gap: 10, height: 182 }}&gt;&#10;      {[&#10;        ['Fact A', 'x&gt;0 ⟹ f(x)∉(0,1)', '若 f(x₀)∈(0,1)，取 a=log₂f(x₀)&lt;0，则 D(x₀)=D(a)；取 a′∈(a,0)，d=a′-x₀∈D(x₀) 却 ∉D(a)，矛盾'],&#10;        ['Fact B', '(0,1) 上 f(x)≤0', '若 f(x₀)≥1，由②得 d=-x₀∈D(x₀)⊆D(a)（∀a&lt;0），但 a-x₀&lt;0 时 2^(a-x₀)&lt;2^a，矛盾'],&#10;        ['Fact D', 'D(0)=∅（f(0) 全局最大）', 'd∈D(0) 须 d≥1；再取 a 使 a+d∈(0,1)，则 f(a+d)≤0&lt;2^a，与 d∈D(a) 矛盾'],&#10;      ].map((item, idx) =&gt; (&#10;        &lt;Box key={idx} style={{ flexDirection: 'row', alignItems: 'center', gap: 10 }}&gt;&#10;          &lt;Box style={{ width: 376, height: 182, background: '#FFFFFF', border: '1px solid #D6DCE5', borderRadius: 10, padding: 18, flexDirection: 'column', gap: 8 }}&gt;&#10;            &lt;Box style={{ background: '#1E4FA8', borderRadius: 12, paddingTop: 3, paddingBottom: 3, paddingLeft: 12, paddingRight: 12, alignSelf: 'flex-start' }}&gt;&#10;              &lt;Text style={{ fontSize: 14, fontWeight: 'bold', color: '#FFFFFF' }}&gt;{item[0]}&lt;/Text&gt;&#10;            &lt;/Box&gt;&#10;            &lt;Text style={{ fontSize: 18, fontWeight: 'bold', color: '#0E3F8C' }}&gt;{item[1]}&lt;/Text&gt;&#10;            &lt;Text style={{ fontSize: 14, color: '#4A5568', lineHeight: 1.5 }}&gt;{item[2]}&lt;/Text&gt;&#10;          &lt;/Box&gt;&#10;          {idx &lt; 2 &amp;&amp; &lt;FAIcon name='chevron-right' style={{ fill: '#8B97A8', width: 16, height: 16 }} /&gt;}&#10;        &lt;/Box&gt;&#10;      ))}&#10;    &lt;/Box&gt;&#10;    &lt;Box style={{ alignItems: 'center' }}&gt;&#10;      &lt;FAIcon name='arrow-down' style={{ fill: '#8B97A8', width: 18, height: 18 }} /&gt;&#10;    &lt;/Box&gt;&#10;    &lt;Box style={{ flexDirection: 'row', alignItems: 'center', gap: 10, height: 182 }}&gt;&#10;      {[&#10;        ['排除', 'x≥1 处 f(x)=f(0) 不可能', '取 b&lt;0 与 a∈(b-x₀, b-x₀+1)：d₀=x₀-b∈D(b)（因 f(x₀)=f(0)≥1），但 a+d₀∈(0,1) 使 d₀∉D(a)，①被击穿'],&#10;        ['Fact C', 'x&gt;0 ⟹ f(x)≤0', 'Fact D 给出 f(x)≤f(0)；≥1 的值被迫等于 f(0)，再被上一步排除；结合 Fact A、B 即得结论'],&#10;        ['收尾', '(0,+∞)⊆D(x) ⟺ 单调递增', '∀a&lt;0：f(x)≤0&lt;2^a=f(a) ⟹ D(a)⊆D(x)，故 (0,+∞)=⋃(0,-a)⊆D(x)，即 f(x+d)&gt;f(x)'],&#10;      ].map((item, idx) =&gt; (&#10;        &lt;Box key={idx} style={{ flexDirection: 'row', alignItems: 'center', gap: 10 }}&gt;&#10;          &lt;Box style={{ width: 376, height: 182, background: '#FFFFFF', border: '1px solid #D6DCE5', borderRadius: 10, padding: 18, flexDirection: 'column', gap: 8 }}&gt;&#10;            &lt;Box style={{ background: '#1E4FA8', borderRadius: 12, paddingTop: 3, paddingBottom: 3, paddingLeft: 12, paddingRight: 12, alignSelf: 'flex-start' }}&gt;&#10;              &lt;Text style={{ fontSize: 14, fontWeight: 'bold', color: '#FFFFFF' }}&gt;{item[0]}&lt;/Text&gt;&#10;            &lt;/Box&gt;&#10;            &lt;Text style={{ fontSize: 18, fontWeight: 'bold', color: '#0E3F8C' }}&gt;{item[1]}&lt;/Text&gt;&#10;            &lt;Text style={{ fontSize: 14, color: '#4A5568', lineHeight: 1.5 }}&gt;{item[2]}&lt;/Text&gt;&#10;          &lt;/Box&gt;&#10;          {idx &lt; 2 &amp;&amp; &lt;FAIcon name='chevron-right' style={{ fill: '#8B97A8', width: 16, height: 16 }} /&gt;}&#10;        &lt;/Box&gt;&#10;      ))}&#10;    &lt;/Box&gt;&#10;    &lt;Box style={{ flex: 1, background: '#0E3F8C', borderRadius: 10, alignItems: 'center', justifyContent: 'center' }}&gt;&#10;      &lt;Text style={{ fontSize: 18, color: '#FFFFFF' }}&gt;四步事实链把 f 在正半轴的值域压进 (-∞,0]——反证法与集合包含是本题的两大杠杆&lt;/Text&gt;&#10;    &lt;/Box&gt;&#10;  &lt;/Box&gt;&#10;  &lt;Box style={{ width: 1280, height: 40, flexDirection: 'row', alignItems: 'center', justifyContent: 'space-between', paddingLeft: 40, paddingRight: 40 }}&gt;&#10;    &lt;Text style={{ fontSize: 14, color: '#8B97A8' }}&gt;神经网络课程 · 第二次作业（实践题）&lt;/Text&gt;&#10;    &lt;Text style={{ fontSize: 14, fontWeight: 'bold', color: '#1E4FA8' }}&gt;11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3371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(3)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问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(ii)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：单调性证明链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0887075" y="285750"/>
            <a:ext cx="923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/>
                </a:solidFill>
                <a:latin typeface="Microsoft YaHei"/>
                <a:ea typeface="Microsoft YaHei"/>
              </a:rPr>
              <a:t xml:space="preserve">03 · </a:t>
            </a:r>
            <a:r>
              <a:rPr lang="zh-CN" sz="1200">
                <a:solidFill>
                  <a:srgbClr val="E8EFF8"/>
                </a:solidFill>
                <a:latin typeface="Microsoft YaHei"/>
                <a:ea typeface="Microsoft YaHei"/>
              </a:rPr>
              <a:t>解题过程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81000" y="990600"/>
            <a:ext cx="11430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目标：对任意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x&gt;0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d&gt;0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都有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d∈D(x)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，即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f(x+d)&gt;f(x)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。证明链：四个事实逐层压缩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 xml:space="preserve"> f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在正半轴的值域。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381000" y="1323975"/>
            <a:ext cx="3581400" cy="173355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552450" y="1495425"/>
            <a:ext cx="647700" cy="219075"/>
          </a:xfrm>
          <a:prstGeom prst="roundRect">
            <a:avLst>
              <a:gd name="adj" fmla="val 5217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66750" y="152400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Fact A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52450" y="17907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x&gt;0 ⟹ f(x)∉(0,1)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52450" y="2076450"/>
            <a:ext cx="3238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若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f(x₀)∈(0,1)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，取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a=log₂f(x₀)&lt;0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，则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D(x₀)=D(a)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；取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a′∈(a,0)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d=a′-x₀∈D(x₀)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却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∉D(a)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，矛盾</a:t>
            </a:r>
            <a:endParaRPr/>
          </a:p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57650" y="2114550"/>
            <a:ext cx="152400" cy="152400"/>
          </a:xfrm>
          <a:prstGeom prst="rect">
            <a:avLst/>
          </a:prstGeom>
          <a:ln/>
        </p:spPr>
      </p:pic>
      <p:sp>
        <p:nvSpPr>
          <p:cNvPr id="77" name=""/>
          <p:cNvSpPr/>
          <p:nvPr/>
        </p:nvSpPr>
        <p:spPr>
          <a:xfrm rot="0" flipH="0" flipV="0">
            <a:off x="4305300" y="1323975"/>
            <a:ext cx="3581400" cy="173355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4476750" y="1495425"/>
            <a:ext cx="638175" cy="219075"/>
          </a:xfrm>
          <a:prstGeom prst="roundRect">
            <a:avLst>
              <a:gd name="adj" fmla="val 5217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591050" y="15240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Fact B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476750" y="17907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(0,1)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上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f(x)≤0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476750" y="2076450"/>
            <a:ext cx="3238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若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f(x₀)≥1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，由②得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d=-x₀∈D(x₀)⊆D(a)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（∀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a&lt;0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），但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a-x₀&lt;0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时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2^(a-x₀)&lt;2^a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，矛盾</a:t>
            </a:r>
            <a:endParaRPr/>
          </a:p>
        </p:txBody>
      </p:sp>
      <p:pic>
        <p:nvPicPr>
          <p:cNvPr id="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81950" y="2114550"/>
            <a:ext cx="152400" cy="152400"/>
          </a:xfrm>
          <a:prstGeom prst="rect">
            <a:avLst/>
          </a:prstGeom>
          <a:ln/>
        </p:spPr>
      </p:pic>
      <p:sp>
        <p:nvSpPr>
          <p:cNvPr id="83" name=""/>
          <p:cNvSpPr/>
          <p:nvPr/>
        </p:nvSpPr>
        <p:spPr>
          <a:xfrm rot="0" flipH="0" flipV="0">
            <a:off x="8229600" y="1323975"/>
            <a:ext cx="3581400" cy="173355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8401050" y="1495425"/>
            <a:ext cx="647700" cy="219075"/>
          </a:xfrm>
          <a:prstGeom prst="roundRect">
            <a:avLst>
              <a:gd name="adj" fmla="val 5217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515350" y="1524000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Fact D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401050" y="17907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D(0)=∅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（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f(0)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全局最大）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401050" y="2076450"/>
            <a:ext cx="3238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d∈D(0)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须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d≥1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；再取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使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a+d∈(0,1)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，则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f(a+d)≤0&lt;2^a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，与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d∈D(a)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矛盾</a:t>
            </a:r>
            <a:endParaRPr/>
          </a:p>
        </p:txBody>
      </p:sp>
      <p:pic>
        <p:nvPicPr>
          <p:cNvPr id="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10275" y="3190875"/>
            <a:ext cx="171450" cy="171450"/>
          </a:xfrm>
          <a:prstGeom prst="rect">
            <a:avLst/>
          </a:prstGeom>
          <a:ln/>
        </p:spPr>
      </p:pic>
      <p:sp>
        <p:nvSpPr>
          <p:cNvPr id="89" name=""/>
          <p:cNvSpPr/>
          <p:nvPr/>
        </p:nvSpPr>
        <p:spPr>
          <a:xfrm rot="0" flipH="0" flipV="0">
            <a:off x="381000" y="3495675"/>
            <a:ext cx="3581400" cy="173355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552450" y="3667125"/>
            <a:ext cx="495300" cy="219075"/>
          </a:xfrm>
          <a:prstGeom prst="roundRect">
            <a:avLst>
              <a:gd name="adj" fmla="val 5217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66750" y="36957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排除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52450" y="39624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x≥1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处</a:t>
            </a: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f(x)=f(0)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不可能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52450" y="424815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取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b&lt;0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a∈(b-x₀, b-x₀+1)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d₀=x₀-b∈D(b)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（因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f(x₀)=f(0)≥1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），但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a+d₀∈(0,1)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使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d₀∉D(a)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，①被击穿</a:t>
            </a:r>
            <a:endParaRPr/>
          </a:p>
        </p:txBody>
      </p:sp>
      <p:pic>
        <p:nvPicPr>
          <p:cNvPr id="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57650" y="4286250"/>
            <a:ext cx="152400" cy="152400"/>
          </a:xfrm>
          <a:prstGeom prst="rect">
            <a:avLst/>
          </a:prstGeom>
          <a:ln/>
        </p:spPr>
      </p:pic>
      <p:sp>
        <p:nvSpPr>
          <p:cNvPr id="95" name=""/>
          <p:cNvSpPr/>
          <p:nvPr/>
        </p:nvSpPr>
        <p:spPr>
          <a:xfrm rot="0" flipH="0" flipV="0">
            <a:off x="4305300" y="3495675"/>
            <a:ext cx="3581400" cy="173355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4476750" y="3667125"/>
            <a:ext cx="638175" cy="219075"/>
          </a:xfrm>
          <a:prstGeom prst="roundRect">
            <a:avLst>
              <a:gd name="adj" fmla="val 5217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591050" y="36957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Fact C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4476750" y="39624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x&gt;0 ⟹ f(x)≤0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476750" y="4248150"/>
            <a:ext cx="3238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Fact D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给出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f(x)≤f(0)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；≥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的值被迫等于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f(0)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，再被上一步排除；结合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Fact A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即得结论</a:t>
            </a:r>
            <a:endParaRPr/>
          </a:p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81950" y="4286250"/>
            <a:ext cx="152400" cy="152400"/>
          </a:xfrm>
          <a:prstGeom prst="rect">
            <a:avLst/>
          </a:prstGeom>
          <a:ln/>
        </p:spPr>
      </p:pic>
      <p:sp>
        <p:nvSpPr>
          <p:cNvPr id="101" name=""/>
          <p:cNvSpPr/>
          <p:nvPr/>
        </p:nvSpPr>
        <p:spPr>
          <a:xfrm rot="0" flipH="0" flipV="0">
            <a:off x="8229600" y="3495675"/>
            <a:ext cx="3581400" cy="1733550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8401050" y="3667125"/>
            <a:ext cx="495300" cy="219075"/>
          </a:xfrm>
          <a:prstGeom prst="roundRect">
            <a:avLst>
              <a:gd name="adj" fmla="val 52174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515350" y="36957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收尾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401050" y="3962400"/>
            <a:ext cx="323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(0,+∞)⊆D(x) ⟺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单调递增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401050" y="4248150"/>
            <a:ext cx="3238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∀a&lt;0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f(x)≤0&lt;2^a=f(a) ⟹ D(a)⊆D(x)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，故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(0,+∞)=⋃(0,-a)⊆D(x)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，即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f(x+d)&gt;f(x)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381000" y="5362575"/>
            <a:ext cx="11430000" cy="885825"/>
          </a:xfrm>
          <a:prstGeom prst="roundRect">
            <a:avLst>
              <a:gd name="adj" fmla="val 1075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2905125" y="5705475"/>
            <a:ext cx="638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四步事实链把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 f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在正半轴的值域压进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 (-∞,0]——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反证法与集合包含是本题的两大杠杆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神经网络课程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第二次作业（实践题）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10" name="" descr="&lt;Slide style={{ padding: 0, background: '#FFFFFF' }}&gt;&#10;  &lt;Box style={{ width: 1280, height: 8, background: '#1E4FA8' }} /&gt;&#10;  &lt;Box style={{ flex: 1, flexDirection: 'column', justifyContent: 'space-between', paddingTop: 72, paddingBottom: 56, paddingLeft: 96, paddingRight: 96 }}&gt;&#10;    &lt;Box style={{ flexDirection: 'row', alignItems: 'center', gap: 72 }}&gt;&#10;      &lt;Text style={{ fontSize: 200, fontWeight: 'bold', color: '#1E4FA8' }}&gt;04&lt;/Text&gt;&#10;      &lt;Box style={{ flexDirection: 'column', gap: 18 }}&gt;&#10;        &lt;Text style={{ fontSize: 48, fontWeight: 'bold', color: '#0E3F8C' }}&gt;验证与总结&lt;/Text&gt;&#10;        &lt;Box style={{ width: 72, height: 4, background: '#1E4FA8' }} /&gt;&#10;        &lt;Text style={{ fontSize: 18, color: '#8B97A8' }}&gt;Verification &amp;amp; Summary&lt;/Text&gt;&#10;      &lt;/Box&gt;&#10;    &lt;/Box&gt;&#10;    &lt;Box style={{ flexDirection: 'column', gap: 16 }}&gt;&#10;      &lt;Box style={{ width: '100%', height: 1, background: '#D6DCE5' }} /&gt;&#10;      &lt;Text style={{ fontSize: 18, color: '#4A5568' }}&gt;理论证明之外，再用 20 万次随机抽样做交叉验证。&lt;/Text&gt;&#10;      &lt;Box style={{ width: '100%', height: 1, background: '#D6DCE5' }} /&gt;&#10;    &lt;/Box&gt;&#10;    &lt;Box style={{ flexDirection: 'column', gap: 18 }}&gt;&#10;      &lt;Text style={{ fontSize: 20, color: '#4A5568', lineHeight: 1.6 }}&gt;· Python 标准库数值验证：区间扫描 + 20 万+ 次随机抽样&lt;/Text&gt;&#10;      &lt;Text style={{ fontSize: 20, color: '#4A5568', lineHeight: 1.6 }}&gt;· 包含关系 0 次违反，Fact A / B / C / D 全部成立&lt;/Text&gt;&#10;      &lt;Text style={{ fontSize: 20, color: '#4A5568', lineHeight: 1.6 }}&gt;· 提交清单盘点与本次实践心得&lt;/Text&gt;&#10;    &lt;/Box&gt;&#10;  &lt;/Box&gt;&#10;  &lt;Box style={{ width: 1280, height: 64, background: '#F0F5FC', alignItems: 'center', justifyContent: 'center' }}&gt;&#10;    &lt;Text style={{ fontSize: 16, fontWeight: 'bold', color: '#1E4FA8' }}&gt;04 / 04 · 验证与总结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14400" y="762000"/>
            <a:ext cx="2352675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E4FA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3952875" y="1333500"/>
            <a:ext cx="2286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验证与总结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3952875" y="2057400"/>
            <a:ext cx="685800" cy="38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952875" y="2266950"/>
            <a:ext cx="228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Verification &amp; Summary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914400" y="3390900"/>
            <a:ext cx="103632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914400" y="3552825"/>
            <a:ext cx="10363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理论证明之外，再用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万次随机抽样做交叉验证。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914400" y="3914775"/>
            <a:ext cx="103632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914400" y="4257675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Python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标准库数值验证：区间扫描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+ 20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万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次随机抽样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14400" y="4800600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包含关系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次违反，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Fact A / B / C / D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全部成立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14400" y="5343525"/>
            <a:ext cx="103632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提交清单盘点与本次实践心得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0" y="6248400"/>
            <a:ext cx="12192000" cy="6096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362575" y="6457950"/>
            <a:ext cx="1466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04 / 04 ·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验证与总结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5" name="" descr="&lt;Slide style={{ padding: 0, background: '#F7F9FC' }}&gt;&#10;  &lt;Box style={{ width: 1280, height: 80, background: '#1E4FA8', flexDirection: 'row', alignItems: 'center', justifyContent: 'space-between', paddingLeft: 40, paddingRight: 40 }}&gt;&#10;    &lt;Text style={{ fontSize: 30, fontWeight: 'bold', color: '#FFFFFF' }}&gt;代码验证与运行结果&lt;/Text&gt;&#10;    &lt;Text style={{ fontSize: 16, color: '#E8EFF8' }}&gt;04 · 验证与总结&lt;/Text&gt;&#10;  &lt;/Box&gt;&#10;  &lt;Box style={{ flexDirection: 'column', padding: 24, paddingLeft: 40, paddingRight: 40, gap: 16, height: 600 }}&gt;&#10;    &lt;Box style={{ flexDirection: 'row', gap: 20, flex: 1 }}&gt;&#10;      &lt;Box style={{ width: 620, height: '100%', flexDirection: 'column', gap: 10 }}&gt;&#10;        &lt;Text style={{ fontSize: 20, fontWeight: 'bold', color: '#0E3F8C' }}&gt;核心验证代码（节选）&lt;/Text&gt;&#10;        &lt;CodeBlock&#10;          code={`def f(x):                 # 第(3)问构造的函数&#10;    if x &lt; 0:  return 2.0**x&#10;    if x == 0: return 1.0&#10;    return -(2.0**(-x))&#10;&#10;def in_D(x0, d):          # d ∈ D(x0) ?&#10;    return f(x0 + d) &gt; f(x0)&#10;&#10;# 条件①：f(x1)&lt;=f(x2) ⇒ D(x2)⊆D(x1)&#10;viol = 0&#10;for _ in range(200000):&#10;    x1, x2 = uniform(-4, 6), uniform(-4, 6)&#10;    if f(x1) &lt;= f(x2):&#10;        d = uniform(-10, 10)&#10;        if in_D(x2, d) and not in_D(x1, d):&#10;            viol += 1&#10;print(viol)               # 输出：0`}&#10;          language='python'&#10;          width={620}&#10;          fontSize={13}&#10;          theme='github-light'&#10;        /&gt;&#10;        &lt;Text style={{ fontSize: 14, color: '#8B97A8' }}&gt;完整脚本：gaokao_2026_N1_Q19_verify.py（Python 3.13 · 仅标准库）&lt;/Text&gt;&#10;      &lt;/Box&gt;&#10;      &lt;Box style={{ flex: 1, height: '100%', flexDirection: 'column', gap: 16 }}&gt;&#10;        {[&#10;          ['0 次', '包含关系违反（20 万+ 次随机抽样，覆盖第(2)(3)问）'],&#10;          ['(0, 1.5)', '数值扫描 D(-1) 与理论值 (0, 3/2) 吻合，边界核验 5/5 通过'],&#10;          ['4 / 4', 'Fact A / B / C / D 全部数值成立，构造函数满足条件①②'],&#10;        ].map((item, idx) =&gt; (&#10;          &lt;Box key={idx} style={{ flex: 1, background: '#FFFFFF', border: '1px solid #D6DCE5', borderRadius: 10, padding: 20, flexDirection: 'row', alignItems: 'center', gap: 20 }}&gt;&#10;            &lt;Text style={{ fontSize: 52, fontWeight: 'bold', color: '#1E4FA8', width: 200 }}&gt;{item[0]}&lt;/Text&gt;&#10;            &lt;Text style={{ fontSize: 16, color: '#4A5568', flex: 1, lineHeight: 1.55 }}&gt;{item[1]}&lt;/Text&gt;&#10;          &lt;/Box&gt;&#10;        ))}&#10;      &lt;/Box&gt;&#10;    &lt;/Box&gt;&#10;    &lt;Box style={{ height: 56, background: '#0E3F8C', borderRadius: 10, alignItems: 'center', justifyContent: 'center' }}&gt;&#10;      &lt;Text style={{ fontSize: 18, color: '#FFFFFF' }}&gt;理论证明 + 机器验证双保险：同一脚本可重复运行，结果可复现、可追溯&lt;/Text&gt;&#10;    &lt;/Box&gt;&#10;  &lt;/Box&gt;&#10;  &lt;Box style={{ width: 1280, height: 40, flexDirection: 'row', alignItems: 'center', justifyContent: 'space-between', paddingLeft: 40, paddingRight: 40 }}&gt;&#10;    &lt;Text style={{ fontSize: 14, color: '#8B97A8' }}&gt;神经网络课程 · 第二次作业（实践题）&lt;/Text&gt;&#10;    &lt;Text style={{ fontSize: 14, fontWeight: 'bold', color: '#1E4FA8' }}&gt;13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代码验证与运行结果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734675" y="285750"/>
            <a:ext cx="1076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FF8"/>
                </a:solidFill>
                <a:latin typeface="Microsoft YaHei"/>
                <a:ea typeface="Microsoft YaHei"/>
              </a:rPr>
              <a:t xml:space="preserve">04 · </a:t>
            </a:r>
            <a:r>
              <a:rPr lang="zh-CN" sz="1200">
                <a:solidFill>
                  <a:srgbClr val="E8EFF8"/>
                </a:solidFill>
                <a:latin typeface="Microsoft YaHei"/>
                <a:ea typeface="Microsoft YaHei"/>
              </a:rPr>
              <a:t>验证与总结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81000" y="990600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核心验证代码（节选）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81000" y="5219700"/>
            <a:ext cx="590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完整脚本：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gaokao_2026_N1_Q19_verify.py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Python 3.13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仅标准库）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477000" y="990600"/>
            <a:ext cx="5334000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667500" y="1400175"/>
            <a:ext cx="1905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0 </a:t>
            </a:r>
            <a:r>
              <a:rPr lang="zh-CN" sz="3900" b="1">
                <a:solidFill>
                  <a:srgbClr val="1E4FA8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763000" y="1419225"/>
            <a:ext cx="2857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包含关系违反（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20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次随机抽样，覆盖第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(2)(3)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问）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477000" y="2562225"/>
            <a:ext cx="53340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667500" y="2981325"/>
            <a:ext cx="1905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E4FA8"/>
                </a:solidFill>
                <a:latin typeface="Microsoft YaHei"/>
                <a:ea typeface="Microsoft YaHei"/>
              </a:rPr>
              <a:t>(0, 1.5)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763000" y="2990850"/>
            <a:ext cx="2857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数值扫描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D(-1)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与理论值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(0, 3/2)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吻合，边界核验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5/5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477000" y="4143375"/>
            <a:ext cx="5334000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667500" y="4552950"/>
            <a:ext cx="19050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E4FA8"/>
                </a:solidFill>
                <a:latin typeface="Microsoft YaHei"/>
                <a:ea typeface="Microsoft YaHei"/>
              </a:rPr>
              <a:t>4 / 4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763000" y="4572000"/>
            <a:ext cx="2857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Fact A / B / C / D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全部数值成立，构造函数满足条件①②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381000" y="5715000"/>
            <a:ext cx="11430000" cy="533400"/>
          </a:xfrm>
          <a:prstGeom prst="roundRect">
            <a:avLst>
              <a:gd name="adj" fmla="val 1785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324225" y="5876925"/>
            <a:ext cx="5553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理论证明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机器验证双保险：同一脚本可重复运行，结果可复现、可追溯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81000" y="6591300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神经网络课程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第二次作业（实践题）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381000" y="1314450"/>
            <a:ext cx="5905500" cy="3810000"/>
          </a:xfrm>
          <a:prstGeom prst="roundRect">
            <a:avLst>
              <a:gd name="adj" fmla="val 2000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146" name=""/>
          <p:cNvSpPr txBox="1"/>
          <p:nvPr/>
        </p:nvSpPr>
        <p:spPr>
          <a:xfrm rot="0" flipH="0" flipV="0">
            <a:off x="533400" y="1447800"/>
            <a:ext cx="5600700" cy="3543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def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(x):             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第(3)问构造的函数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x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&lt;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: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2.0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**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x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x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: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1.0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2.0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**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x))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def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6F42C1"/>
                </a:solidFill>
                <a:latin typeface="Menlo"/>
                <a:ea typeface="Menlo"/>
              </a:rPr>
              <a:t>in_D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(x0, d):      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d ∈ D(x0) ?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return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f(x0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d)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&gt;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f(x0)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条件①：f(x1)&lt;=f(x2) ⇒ D(x2)⊆D(x1)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viol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0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for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_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in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range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(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200000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):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x1, x2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uniform(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4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6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), uniform(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4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6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f(x1)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&lt;=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f(x2):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    d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uniform(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,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10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   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if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in_D(x2, d)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and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not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in_D(x1, d):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           viol </a:t>
            </a:r>
            <a:r>
              <a:rPr sz="975">
                <a:solidFill>
                  <a:srgbClr val="D73A49"/>
                </a:solidFill>
                <a:latin typeface="Menlo"/>
                <a:ea typeface="Menlo"/>
              </a:rPr>
              <a:t>+=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1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005CC5"/>
                </a:solidFill>
                <a:latin typeface="Menlo"/>
                <a:ea typeface="Menlo"/>
              </a:rPr>
              <a:t>print</a:t>
            </a:r>
            <a:r>
              <a:rPr sz="975">
                <a:solidFill>
                  <a:srgbClr val="24292E"/>
                </a:solidFill>
                <a:latin typeface="Menlo"/>
                <a:ea typeface="Menlo"/>
              </a:rPr>
              <a:t xml:space="preserve">(viol)               </a:t>
            </a:r>
            <a:r>
              <a:rPr sz="975">
                <a:solidFill>
                  <a:srgbClr val="6A737D"/>
                </a:solidFill>
                <a:latin typeface="Menlo"/>
                <a:ea typeface="Menlo"/>
              </a:rPr>
              <a:t># 输出：0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7" name="" descr="&lt;Slide style={{ padding: 0, background: '#0E3F8C' }}&gt;&#10;  &lt;Box style={{ width: 1280, height: 720, flexDirection: 'column', alignItems: 'center', justifyContent: 'center', gap: 28 }}&gt;&#10;    &lt;Text style={{ fontSize: 64, fontWeight: 'bold', color: '#FFFFFF' }}&gt;感谢聆听&lt;/Text&gt;&#10;    &lt;Text style={{ fontSize: 22, color: '#E8EFF8' }}&gt;请各位老师、同学批评指正&lt;/Text&gt;&#10;    &lt;Box style={{ width: 120, height: 4, background: '#FFFFFF', marginTop: 8, marginBottom: 8 }} /&gt;&#10;    &lt;Box style={{ flexDirection: 'row', gap: 20 }}&gt;&#10;      {['原题及来源', '提示词', '代码', 'PPT'].map((item, idx) =&gt; (&#10;        &lt;Box key={idx} style={{ flexDirection: 'row', alignItems: 'center', gap: 10, background: '#1E4FA8', borderRadius: 24, paddingTop: 10, paddingBottom: 10, paddingLeft: 22, paddingRight: 22 }}&gt;&#10;          &lt;FAIcon name='check-circle' style={{ fill: '#FFFFFF', width: 20, height: 20 }} /&gt;&#10;          &lt;Text style={{ fontSize: 18, fontWeight: 'bold', color: '#FFFFFF' }}&gt;{item}&lt;/Text&gt;&#10;        &lt;/Box&gt;&#10;      ))}&#10;    &lt;/Box&gt;&#10;    &lt;Text style={{ fontSize: 18, color: '#E8EFF8', marginTop: 12 }}&gt;心得：AI 擅长计算与枚举验证，严格证明的路线仍需人来把握——人机协同才是解题的完整闭环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876800" y="1943100"/>
            <a:ext cx="24384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感谢聆听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838700" y="2943225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E8EFF8"/>
                </a:solidFill>
                <a:latin typeface="Microsoft YaHei"/>
                <a:ea typeface="Microsoft YaHei"/>
              </a:rPr>
              <a:t>请各位老师、同学批评指正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5524500" y="3543300"/>
            <a:ext cx="1143000" cy="381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3381375" y="3924300"/>
            <a:ext cx="1562100" cy="400050"/>
          </a:xfrm>
          <a:prstGeom prst="roundRect">
            <a:avLst>
              <a:gd name="adj" fmla="val 57143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1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90925" y="4029075"/>
            <a:ext cx="190500" cy="190500"/>
          </a:xfrm>
          <a:prstGeom prst="rect">
            <a:avLst/>
          </a:prstGeom>
          <a:ln/>
        </p:spPr>
      </p:pic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3876675" y="40195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原题及来源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133975" y="3924300"/>
            <a:ext cx="1219200" cy="400050"/>
          </a:xfrm>
          <a:prstGeom prst="roundRect">
            <a:avLst>
              <a:gd name="adj" fmla="val 57143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1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43525" y="4029075"/>
            <a:ext cx="190500" cy="190500"/>
          </a:xfrm>
          <a:prstGeom prst="rect">
            <a:avLst/>
          </a:prstGeom>
          <a:ln/>
        </p:spPr>
      </p:pic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629275" y="40195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提示词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543675" y="3924300"/>
            <a:ext cx="1047750" cy="400050"/>
          </a:xfrm>
          <a:prstGeom prst="roundRect">
            <a:avLst>
              <a:gd name="adj" fmla="val 57143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753225" y="4029075"/>
            <a:ext cx="190500" cy="190500"/>
          </a:xfrm>
          <a:prstGeom prst="rect">
            <a:avLst/>
          </a:prstGeom>
          <a:ln/>
        </p:spPr>
      </p:pic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038975" y="40195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代码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7781925" y="3924300"/>
            <a:ext cx="1038225" cy="400050"/>
          </a:xfrm>
          <a:prstGeom prst="roundRect">
            <a:avLst>
              <a:gd name="adj" fmla="val 57143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1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91475" y="4029075"/>
            <a:ext cx="190500" cy="190500"/>
          </a:xfrm>
          <a:prstGeom prst="rect">
            <a:avLst/>
          </a:prstGeom>
          <a:ln/>
        </p:spPr>
      </p:pic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277225" y="4019550"/>
            <a:ext cx="333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PPT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2457450" y="4705350"/>
            <a:ext cx="7286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E8EFF8"/>
                </a:solidFill>
                <a:latin typeface="Microsoft YaHei"/>
                <a:ea typeface="Microsoft YaHei"/>
              </a:rPr>
              <a:t>心得：</a:t>
            </a:r>
            <a:r>
              <a:rPr lang="en-US" sz="1350">
                <a:solidFill>
                  <a:srgbClr val="E8EFF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>
                <a:solidFill>
                  <a:srgbClr val="E8EFF8"/>
                </a:solidFill>
                <a:latin typeface="Microsoft YaHei"/>
                <a:ea typeface="Microsoft YaHei"/>
              </a:rPr>
              <a:t>擅长计算与枚举验证，严格证明的路线仍需人来把握——人机协同才是解题的完整闭环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2026-10-18T01:44:39Z</dcterms:created>
  <dcterms:modified xsi:type="dcterms:W3CDTF">2026-10-18T01:44:39Z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{"AIGC":{"Label":"1","ContentProducer":"00119111010856365494821B355","ProduceID":"01a14aba1d1b7c1caf08171305800c74","ReservedCode1":"","ContentPropagator":"00119111010856365494821B355","PropagateID":"01a14aba1d1b7c1caf08171305800c74","ReservedCode2":""}}</vt:lpwstr>
  </property>
</Properties>
</file>