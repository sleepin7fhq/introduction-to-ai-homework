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本题的舞台是周长为 2π 的圆。B 由若干段长度为 π/m 的弧组成；把 A 每次逆时针转动 π/m。核心结论是：在 2m 次旋转中，必有一次交集至少达到 ℓ(A)ℓ(B)/(2π)。证明只用三件事：长度写成积分、一段弧的 2m 个平移铺满圆、以及平均值原理。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先把题目的结构讲清楚：B 的每一段都等长，长度 h=π/m；而 A_j 的旋转步长也正好是 h。这个“步长=弧长”的巧合是全部证明的支点。因为 2mh=2π，所以 A_{j+2m}=A_j，只需考虑 2m 个旋转。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证明路线可以压缩成三步。第一步只是语言转换；第二步是几何核心，说明一段弧的 2m 个平移刚好铺满圆；第三步把 2m 个交集长度相加，发现总和恰好是目标值的 2m 倍，于是至少有一项不小于目标。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长度用积分表示，是测度论里最自然的一步。A_j 的指示函数等于 A 的指示函数在 x-jh 处取值；B 不动。于是交集长度就是两个 0/1 函数乘积的积分。端点只有有限个，不影响积分值。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这是全题最关键的画面：一段长度 h 的弧，按 h 的步长平移 2m 次。因为总周长是 2mh，这 2m 段弧首尾相接，恰好铺满圆。于是对任意点 x，2m 个平移像中恰好有一个包含 x；端点除外，但端点长度为 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把圆从 a 点剪开。2m 个像分别是从 a+jh 到 a+(j+1)h 的区间，j=0,...,2m-1。它们首尾相接，正好组成 [a,a+2π]。所以在每个非端点 x 处，指示函数之和恒等于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对固定的一段弧 I，把 2m 个交集长度相加。第一步展开成积分；第二步换元 x=y+jh，旋转转移到 B 上；第三步用铺满引理，内层 1_B(y+jh) 对 j 求和恒等于 1。于是总和等于 ∫1_A=ℓ(A)。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一般情形没有新的几何困难。把 B 写成 N 段不交弧的并，交集长度对 B 可加；对每一段用单弧结论，总和就是 Nℓ(A)。再用 N=ℓ(B)/h=mℓ(B)/π，就得到 (m/π)ℓ(A)ℓ(B)。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把一般情形的总和除以 2m，平均值正好是 ℓ(A)ℓ(B)/(2π)。有限个数中，最大值不可能小于平均值，否则总和小于 2m 倍平均值。因此存在 k∈{1,...,2m} 达到目标。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取 A=B=I 为同一段长度 h 的弧。当 j=1,...,2m-1 时，A_j 是相邻的另一段弧，与 I 只在端点相交；当 j=2m 时 A_j=A=I，交集长度为 h。目标值是 h²/(2π)=h/(2m)，恰好由 k=2m 取到，所以不等式是紧的。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最后把证明压缩成三行：单弧的总和精确等于 ℓ(A)；N 段时是 Nℓ(A)=(m/π)ℓ(A)ℓ(B)；除以 2m 后用平均值原理，得到存在 k。核心机制只有一句：步长等于弧长，所以 2m 次平移铺满圆。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11A2B"/>
              </a:gs>
              <a:gs pos="58000">
                <a:srgbClr val="101827"/>
              </a:gs>
              <a:gs pos="100000">
                <a:srgbClr val="0B122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59536" y="1133856"/>
            <a:ext cx="50292" cy="3246120"/>
          </a:xfrm>
          <a:prstGeom prst="rect">
            <a:avLst/>
          </a:prstGeom>
          <a:solidFill>
            <a:srgbClr val="B8893B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7280" y="694944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E4B86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数学奥林匹克  ·  圆上的测度</a:t>
            </a:r>
            <a:endParaRPr sz="950" b="1" i="0" spc="240">
              <a:solidFill>
                <a:srgbClr val="E4B86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" y="1243584"/>
            <a:ext cx="5852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6F1E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旋转中的</a:t>
            </a:r>
            <a:endParaRPr sz="5400" b="1" i="0">
              <a:solidFill>
                <a:srgbClr val="F6F1E5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" y="2048256"/>
            <a:ext cx="5852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E4B86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必然相遇</a:t>
            </a:r>
            <a:endParaRPr sz="5400" b="1" i="0">
              <a:solidFill>
                <a:srgbClr val="E4B865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" y="301752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CAD3E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圆上弧集的离散平均</a:t>
            </a:r>
            <a:endParaRPr sz="2100" b="0" i="0">
              <a:solidFill>
                <a:srgbClr val="CAD3E1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3639312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EB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 的每一段都恰好长 π/m。转动 2m 次，</a:t>
            </a:r>
            <a:endParaRPr sz="1450" b="0" i="0">
              <a:solidFill>
                <a:srgbClr val="AEB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EB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总有一次的交集不小于平均相交长度。</a:t>
            </a:r>
            <a:endParaRPr sz="1450" b="0" i="0">
              <a:solidFill>
                <a:srgbClr val="AEB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459028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80">
                <a:solidFill>
                  <a:srgbClr val="E4B86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要证</a:t>
            </a:r>
            <a:endParaRPr sz="850" b="1" i="0" spc="180">
              <a:solidFill>
                <a:srgbClr val="E4B86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0" name="Picture 9" descr="数学公式：cover_mai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4818888"/>
            <a:ext cx="6144768" cy="6033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7280" y="5788152"/>
            <a:ext cx="5623560" cy="9144"/>
          </a:xfrm>
          <a:prstGeom prst="rect">
            <a:avLst/>
          </a:prstGeom>
          <a:solidFill>
            <a:srgbClr val="3C4A6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97280" y="592531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8F9B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指示函数</a:t>
            </a:r>
            <a:endParaRPr sz="900" b="0" i="0" spc="120">
              <a:solidFill>
                <a:srgbClr val="8F9B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41448" y="5925312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88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·</a:t>
            </a:r>
            <a:endParaRPr sz="900" b="0" i="0">
              <a:solidFill>
                <a:srgbClr val="B889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42616" y="592531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8F9B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平移铺满</a:t>
            </a:r>
            <a:endParaRPr sz="900" b="0" i="0" spc="120">
              <a:solidFill>
                <a:srgbClr val="8F9B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86784" y="5925312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88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·</a:t>
            </a:r>
            <a:endParaRPr sz="900" b="0" i="0">
              <a:solidFill>
                <a:srgbClr val="B889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87952" y="592531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8F9B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平均值原理</a:t>
            </a:r>
            <a:endParaRPr sz="900" b="0" i="0" spc="120">
              <a:solidFill>
                <a:srgbClr val="8F9B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7" name="Picture 16" descr="圆周被 2m 段等长弧铺满，A_j 与 B 的交集以金色标出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927" y="804672"/>
            <a:ext cx="507492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829800" y="-1874519"/>
            <a:ext cx="3977639" cy="3977639"/>
          </a:xfrm>
          <a:prstGeom prst="ellipse">
            <a:avLst/>
          </a:prstGeom>
          <a:noFill/>
          <a:ln w="11430">
            <a:solidFill>
              <a:srgbClr val="E7DECC">
                <a:alpha val="7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-1234440"/>
            <a:ext cx="2697480" cy="2697480"/>
          </a:xfrm>
          <a:prstGeom prst="ellipse">
            <a:avLst/>
          </a:prstGeom>
          <a:noFill/>
          <a:ln w="8890">
            <a:solidFill>
              <a:srgbClr val="E7DECC">
                <a:alpha val="5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spc="180">
                <a:solidFill>
                  <a:srgbClr val="C24B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  /  问题与记号</a:t>
            </a:r>
            <a:endParaRPr sz="880" b="1" i="0" spc="180">
              <a:solidFill>
                <a:srgbClr val="C24B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621792"/>
            <a:ext cx="10607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720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把题目搬到单位圆上</a:t>
            </a:r>
            <a:endParaRPr sz="3100" b="1" i="0">
              <a:solidFill>
                <a:srgbClr val="1720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566928" cy="27432"/>
          </a:xfrm>
          <a:prstGeom prst="rect">
            <a:avLst/>
          </a:prstGeom>
          <a:solidFill>
            <a:srgbClr val="B8893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72600" y="411480"/>
            <a:ext cx="2029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 spc="15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ROTATION  /  AVERAGE</a:t>
            </a:r>
            <a:endParaRPr sz="720" b="0" i="0" spc="15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5486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用弧长参数 x 标记圆上的点；圆周长是 2π。所有集合都由有限段互不相交的弧组成。</a:t>
            </a:r>
            <a:endParaRPr sz="145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77240" y="2322576"/>
            <a:ext cx="310896" cy="310896"/>
          </a:xfrm>
          <a:prstGeom prst="ellipse">
            <a:avLst/>
          </a:prstGeom>
          <a:solidFill>
            <a:srgbClr val="F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72868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>
                <a:solidFill>
                  <a:srgbClr val="8F68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820" b="1" i="0">
              <a:solidFill>
                <a:srgbClr val="8F68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07008" y="2286000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0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两个弧集</a:t>
            </a:r>
            <a:endParaRPr sz="1450" b="1" i="0">
              <a:solidFill>
                <a:srgbClr val="1720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06040" y="2286000"/>
            <a:ext cx="3794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A、B 都是有限段互不相交的弧的并；</a:t>
            </a:r>
            <a:endParaRPr sz="130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ℓ(·) 表示各弧段长度之和。</a:t>
            </a:r>
            <a:endParaRPr sz="130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77240" y="3255264"/>
            <a:ext cx="310896" cy="310896"/>
          </a:xfrm>
          <a:prstGeom prst="ellipse">
            <a:avLst/>
          </a:prstGeom>
          <a:solidFill>
            <a:srgbClr val="F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05556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>
                <a:solidFill>
                  <a:srgbClr val="8F68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820" b="1" i="0">
              <a:solidFill>
                <a:srgbClr val="8F68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07008" y="3218688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0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B 的刚性</a:t>
            </a:r>
            <a:endParaRPr sz="1450" b="1" i="0">
              <a:solidFill>
                <a:srgbClr val="1720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06040" y="3218688"/>
            <a:ext cx="3794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 由 N 段互不相交的弧组成；</a:t>
            </a:r>
            <a:endParaRPr sz="130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每段长度都等于 h := π/m。</a:t>
            </a:r>
            <a:endParaRPr sz="130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77240" y="4187952"/>
            <a:ext cx="310896" cy="310896"/>
          </a:xfrm>
          <a:prstGeom prst="ellipse">
            <a:avLst/>
          </a:prstGeom>
          <a:solidFill>
            <a:srgbClr val="F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38244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>
                <a:solidFill>
                  <a:srgbClr val="8F68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820" b="1" i="0">
              <a:solidFill>
                <a:srgbClr val="8F68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07008" y="4151376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0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离散旋转</a:t>
            </a:r>
            <a:endParaRPr sz="1450" b="1" i="0">
              <a:solidFill>
                <a:srgbClr val="1720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06040" y="4151376"/>
            <a:ext cx="3794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把整个 A 沿逆时针转动 jh，</a:t>
            </a:r>
            <a:endParaRPr sz="130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所得集合记作 A</a:t>
            </a:r>
            <a:r>
              <a:rPr sz="1040" b="0" i="0" baseline="-2000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j</a:t>
            </a:r>
            <a:r>
              <a:rPr sz="130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  <a:endParaRPr sz="130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656832" y="1572768"/>
            <a:ext cx="4754880" cy="2743200"/>
          </a:xfrm>
          <a:prstGeom prst="roundRect">
            <a:avLst>
              <a:gd name="adj" fmla="val 3500"/>
            </a:avLst>
          </a:prstGeom>
          <a:solidFill>
            <a:srgbClr val="FFFCF5"/>
          </a:solidFill>
          <a:ln w="11430">
            <a:solidFill>
              <a:srgbClr val="DDD5C6"/>
            </a:solidFill>
          </a:ln>
          <a:effectLst>
            <a:outerShdw blurRad="165100" dist="38100" dir="5400000" algn="ctr" rotWithShape="0">
              <a:srgbClr val="1720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76872" y="1810512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C24B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要证明</a:t>
            </a:r>
            <a:endParaRPr sz="850" b="1" i="0" spc="200">
              <a:solidFill>
                <a:srgbClr val="C24B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24" name="Picture 23" descr="数学公式：go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2194560"/>
            <a:ext cx="4005072" cy="463143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67728" y="2907792"/>
            <a:ext cx="4041648" cy="9144"/>
          </a:xfrm>
          <a:prstGeom prst="rect">
            <a:avLst/>
          </a:prstGeom>
          <a:solidFill>
            <a:srgbClr val="DDD5C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976872" y="3090672"/>
            <a:ext cx="39684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存在正整数 k，使得上面的不等式成立。</a:t>
            </a:r>
            <a:endParaRPr sz="110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76872" y="3447288"/>
            <a:ext cx="396849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1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注意：k 不依赖于 A、B，</a:t>
            </a:r>
            <a:endParaRPr sz="1100" b="0" i="0">
              <a:solidFill>
                <a:srgbClr val="2531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1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只需在 1, 2, …, 2m 中找到一个。</a:t>
            </a:r>
            <a:endParaRPr sz="1100" b="0" i="0">
              <a:solidFill>
                <a:srgbClr val="2531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5001768"/>
            <a:ext cx="10634472" cy="1024128"/>
          </a:xfrm>
          <a:prstGeom prst="roundRect">
            <a:avLst>
              <a:gd name="adj" fmla="val 2500"/>
            </a:avLst>
          </a:prstGeom>
          <a:solidFill>
            <a:srgbClr val="EFE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24128" y="5175504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80">
                <a:solidFill>
                  <a:srgbClr val="8F68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周期关系</a:t>
            </a:r>
            <a:endParaRPr sz="850" b="1" i="0" spc="180">
              <a:solidFill>
                <a:srgbClr val="8F68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0" name="Picture 29" descr="数学公式：period_li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192" y="5358384"/>
            <a:ext cx="6144768" cy="39243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503920" y="539496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只需考察 2m 个不同的旋转。</a:t>
            </a:r>
            <a:endParaRPr sz="110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77240" y="6419088"/>
            <a:ext cx="10634472" cy="9144"/>
          </a:xfrm>
          <a:prstGeom prst="rect">
            <a:avLst/>
          </a:prstGeom>
          <a:solidFill>
            <a:srgbClr val="D9D1C1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724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36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圆上的旋转平均 · 证明</a:t>
            </a:r>
            <a:endParaRPr sz="800" b="0" i="0">
              <a:solidFill>
                <a:srgbClr val="5360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469880" y="6492240"/>
            <a:ext cx="9418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36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  /  11</a:t>
            </a:r>
            <a:endParaRPr sz="800" b="0" i="0">
              <a:solidFill>
                <a:srgbClr val="5360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829800" y="-1874519"/>
            <a:ext cx="3977639" cy="3977639"/>
          </a:xfrm>
          <a:prstGeom prst="ellipse">
            <a:avLst/>
          </a:prstGeom>
          <a:noFill/>
          <a:ln w="11430">
            <a:solidFill>
              <a:srgbClr val="E7DECC">
                <a:alpha val="7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-1234440"/>
            <a:ext cx="2697480" cy="2697480"/>
          </a:xfrm>
          <a:prstGeom prst="ellipse">
            <a:avLst/>
          </a:prstGeom>
          <a:noFill/>
          <a:ln w="8890">
            <a:solidFill>
              <a:srgbClr val="E7DECC">
                <a:alpha val="5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spc="180">
                <a:solidFill>
                  <a:srgbClr val="C24B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  /  证明路线</a:t>
            </a:r>
            <a:endParaRPr sz="880" b="1" i="0" spc="180">
              <a:solidFill>
                <a:srgbClr val="C24B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621792"/>
            <a:ext cx="10607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720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证明只有三步</a:t>
            </a:r>
            <a:endParaRPr sz="3100" b="1" i="0">
              <a:solidFill>
                <a:srgbClr val="1720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566928" cy="27432"/>
          </a:xfrm>
          <a:prstGeom prst="rect">
            <a:avLst/>
          </a:prstGeom>
          <a:solidFill>
            <a:srgbClr val="B8893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72600" y="411480"/>
            <a:ext cx="2029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 spc="15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ROTATION  /  AVERAGE</a:t>
            </a:r>
            <a:endParaRPr sz="720" b="0" i="0" spc="15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1627632"/>
            <a:ext cx="3273552" cy="3675887"/>
          </a:xfrm>
          <a:prstGeom prst="roundRect">
            <a:avLst>
              <a:gd name="adj" fmla="val 3000"/>
            </a:avLst>
          </a:prstGeom>
          <a:solidFill>
            <a:srgbClr val="FFFCF5"/>
          </a:solidFill>
          <a:ln w="10795">
            <a:solidFill>
              <a:srgbClr val="DDD5C6"/>
            </a:solidFill>
          </a:ln>
          <a:effectLst>
            <a:outerShdw blurRad="165100" dist="38100" dir="5400000" algn="ctr" rotWithShape="0">
              <a:srgbClr val="1720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1627632"/>
            <a:ext cx="3273552" cy="50292"/>
          </a:xfrm>
          <a:prstGeom prst="rect">
            <a:avLst/>
          </a:prstGeom>
          <a:solidFill>
            <a:srgbClr val="B8893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033271" y="1901952"/>
            <a:ext cx="365760" cy="365760"/>
          </a:xfrm>
          <a:prstGeom prst="ellipse">
            <a:avLst/>
          </a:prstGeom>
          <a:solidFill>
            <a:srgbClr val="B88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70531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840" b="1" i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3271" y="2441448"/>
            <a:ext cx="2743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0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长度 → 积分</a:t>
            </a:r>
            <a:endParaRPr sz="1800" b="1" i="0">
              <a:solidFill>
                <a:srgbClr val="1720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33271" y="2852928"/>
            <a:ext cx="2706624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用指示函数，把交集长度写成内积。</a:t>
            </a:r>
            <a:endParaRPr sz="130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5" name="Picture 14" descr="数学公式：meas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767328"/>
            <a:ext cx="2834640" cy="51050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33271" y="4572000"/>
            <a:ext cx="270662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746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积分让长度可以换元、求和。</a:t>
            </a:r>
            <a:endParaRPr sz="1000" b="0" i="0">
              <a:solidFill>
                <a:srgbClr val="7C746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34256" y="1627632"/>
            <a:ext cx="3273552" cy="3675887"/>
          </a:xfrm>
          <a:prstGeom prst="roundRect">
            <a:avLst>
              <a:gd name="adj" fmla="val 3000"/>
            </a:avLst>
          </a:prstGeom>
          <a:solidFill>
            <a:srgbClr val="FFFCF5"/>
          </a:solidFill>
          <a:ln w="10795">
            <a:solidFill>
              <a:srgbClr val="DDD5C6"/>
            </a:solidFill>
          </a:ln>
          <a:effectLst>
            <a:outerShdw blurRad="165100" dist="38100" dir="5400000" algn="ctr" rotWithShape="0">
              <a:srgbClr val="1720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334256" y="1627632"/>
            <a:ext cx="3273552" cy="50292"/>
          </a:xfrm>
          <a:prstGeom prst="rect">
            <a:avLst/>
          </a:prstGeom>
          <a:solidFill>
            <a:srgbClr val="2D7F7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4590288" y="1901952"/>
            <a:ext cx="365760" cy="365760"/>
          </a:xfrm>
          <a:prstGeom prst="ellipse">
            <a:avLst/>
          </a:prstGeom>
          <a:solidFill>
            <a:srgbClr val="2D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1970531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840" b="1" i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90288" y="2441448"/>
            <a:ext cx="2743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0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一段弧 → 铺满圆</a:t>
            </a:r>
            <a:endParaRPr sz="1800" b="1" i="0">
              <a:solidFill>
                <a:srgbClr val="1720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90288" y="2852928"/>
            <a:ext cx="2706624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平移步长等于弧长；</a:t>
            </a:r>
            <a:endParaRPr sz="130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2m 个像无缝覆盖。</a:t>
            </a:r>
            <a:endParaRPr sz="130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23" name="Picture 22" descr="数学公式：tiling_sum_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3767328"/>
            <a:ext cx="2670048" cy="7175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90288" y="4572000"/>
            <a:ext cx="270662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746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这是 B 的弧长被限定为 π/m 的全部作用。</a:t>
            </a:r>
            <a:endParaRPr sz="1000" b="0" i="0">
              <a:solidFill>
                <a:srgbClr val="7C746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891272" y="1627632"/>
            <a:ext cx="3273552" cy="3675887"/>
          </a:xfrm>
          <a:prstGeom prst="roundRect">
            <a:avLst>
              <a:gd name="adj" fmla="val 3000"/>
            </a:avLst>
          </a:prstGeom>
          <a:solidFill>
            <a:srgbClr val="FFFCF5"/>
          </a:solidFill>
          <a:ln w="10795">
            <a:solidFill>
              <a:srgbClr val="DDD5C6"/>
            </a:solidFill>
          </a:ln>
          <a:effectLst>
            <a:outerShdw blurRad="165100" dist="38100" dir="5400000" algn="ctr" rotWithShape="0">
              <a:srgbClr val="1720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7891272" y="1627632"/>
            <a:ext cx="3273552" cy="50292"/>
          </a:xfrm>
          <a:prstGeom prst="rect">
            <a:avLst/>
          </a:prstGeom>
          <a:solidFill>
            <a:srgbClr val="C24B3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147304" y="1901952"/>
            <a:ext cx="365760" cy="365760"/>
          </a:xfrm>
          <a:prstGeom prst="ellipse">
            <a:avLst/>
          </a:prstGeom>
          <a:solidFill>
            <a:srgbClr val="C2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47304" y="1970531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840" b="1" i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47304" y="2441448"/>
            <a:ext cx="2743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0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求和 → 平均</a:t>
            </a:r>
            <a:endParaRPr sz="1800" b="1" i="0">
              <a:solidFill>
                <a:srgbClr val="1720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147304" y="2852928"/>
            <a:ext cx="2706624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2m 次旋转的总和达到目标；</a:t>
            </a:r>
            <a:endParaRPr sz="130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取最大者。</a:t>
            </a:r>
            <a:endParaRPr sz="130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1" name="Picture 30" descr="数学公式：max_sho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3767328"/>
            <a:ext cx="2743200" cy="47945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147304" y="4572000"/>
            <a:ext cx="270662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746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否则总和会低于 2m 倍平均。</a:t>
            </a:r>
            <a:endParaRPr sz="1000" b="0" i="0">
              <a:solidFill>
                <a:srgbClr val="7C746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77240" y="5559552"/>
            <a:ext cx="10634472" cy="603504"/>
          </a:xfrm>
          <a:prstGeom prst="roundRect">
            <a:avLst>
              <a:gd name="adj" fmla="val 5000"/>
            </a:avLst>
          </a:prstGeom>
          <a:solidFill>
            <a:srgbClr val="F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05840" y="5733288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180">
                <a:solidFill>
                  <a:srgbClr val="8F68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关键契合</a:t>
            </a:r>
            <a:endParaRPr sz="860" b="1" i="0" spc="180">
              <a:solidFill>
                <a:srgbClr val="8F68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993392" y="5687568"/>
            <a:ext cx="9098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2531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平移步长 h 恰好等于 B 的每一段弧长；2m 步之后，一段弧的像正好铺满整个圆周。</a:t>
            </a:r>
            <a:endParaRPr sz="1320" b="0" i="0">
              <a:solidFill>
                <a:srgbClr val="2531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77240" y="6419088"/>
            <a:ext cx="10634472" cy="9144"/>
          </a:xfrm>
          <a:prstGeom prst="rect">
            <a:avLst/>
          </a:prstGeom>
          <a:solidFill>
            <a:srgbClr val="D9D1C1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724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36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圆上的旋转平均 · 证明</a:t>
            </a:r>
            <a:endParaRPr sz="800" b="0" i="0">
              <a:solidFill>
                <a:srgbClr val="5360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469880" y="6492240"/>
            <a:ext cx="9418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36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  /  11</a:t>
            </a:r>
            <a:endParaRPr sz="800" b="0" i="0">
              <a:solidFill>
                <a:srgbClr val="5360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829800" y="-1874519"/>
            <a:ext cx="3977639" cy="3977639"/>
          </a:xfrm>
          <a:prstGeom prst="ellipse">
            <a:avLst/>
          </a:prstGeom>
          <a:noFill/>
          <a:ln w="11430">
            <a:solidFill>
              <a:srgbClr val="E7DECC">
                <a:alpha val="7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-1234440"/>
            <a:ext cx="2697480" cy="2697480"/>
          </a:xfrm>
          <a:prstGeom prst="ellipse">
            <a:avLst/>
          </a:prstGeom>
          <a:noFill/>
          <a:ln w="8890">
            <a:solidFill>
              <a:srgbClr val="E7DECC">
                <a:alpha val="5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spc="180">
                <a:solidFill>
                  <a:srgbClr val="C24B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  /  第一步 · 长度写成积分</a:t>
            </a:r>
            <a:endParaRPr sz="880" b="1" i="0" spc="180">
              <a:solidFill>
                <a:srgbClr val="C24B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621792"/>
            <a:ext cx="10607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720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长度就是积分</a:t>
            </a:r>
            <a:endParaRPr sz="3100" b="1" i="0">
              <a:solidFill>
                <a:srgbClr val="1720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566928" cy="27432"/>
          </a:xfrm>
          <a:prstGeom prst="rect">
            <a:avLst/>
          </a:prstGeom>
          <a:solidFill>
            <a:srgbClr val="B8893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72600" y="411480"/>
            <a:ext cx="2029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 spc="15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ROTATION  /  AVERAGE</a:t>
            </a:r>
            <a:endParaRPr sz="720" b="0" i="0" spc="15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5303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 1</a:t>
            </a:r>
            <a:r>
              <a:rPr sz="1185" b="0" i="0" baseline="-2000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</a:t>
            </a:r>
            <a:r>
              <a:rPr sz="148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是集合 E 的指示函数：点在 E 中取 1，否则取 0。圆上的长度就是它的积分。</a:t>
            </a:r>
            <a:endParaRPr sz="148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0" name="Picture 9" descr="数学公式：meas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31720"/>
            <a:ext cx="3218688" cy="5796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3081528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31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把 E 换成 A</a:t>
            </a:r>
            <a:r>
              <a:rPr sz="1000" b="0" i="0" baseline="-20000">
                <a:solidFill>
                  <a:srgbClr val="2531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j</a:t>
            </a:r>
            <a:r>
              <a:rPr sz="1250" b="0" i="0">
                <a:solidFill>
                  <a:srgbClr val="2531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∩ B：</a:t>
            </a:r>
            <a:endParaRPr sz="1250" b="0" i="0">
              <a:solidFill>
                <a:srgbClr val="2531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2" name="Picture 11" descr="数学公式：integr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429000"/>
            <a:ext cx="4846320" cy="47079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68680" y="4114800"/>
            <a:ext cx="4892040" cy="9144"/>
          </a:xfrm>
          <a:prstGeom prst="rect">
            <a:avLst/>
          </a:prstGeom>
          <a:solidFill>
            <a:srgbClr val="DDD5C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4297680"/>
            <a:ext cx="48920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31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右端只涉及两个指示函数。</a:t>
            </a:r>
            <a:endParaRPr sz="1300" b="0" i="0">
              <a:solidFill>
                <a:srgbClr val="2531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31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旋转 A 等价于平移第一个因子；</a:t>
            </a:r>
            <a:endParaRPr sz="1300" b="0" i="0">
              <a:solidFill>
                <a:srgbClr val="2531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31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这为下一步换元做好了准备。</a:t>
            </a:r>
            <a:endParaRPr sz="1300" b="0" i="0">
              <a:solidFill>
                <a:srgbClr val="2531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5806440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端点不影响长度，以下等式均在 a.e. 意义下成立。</a:t>
            </a:r>
            <a:endParaRPr sz="95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6" name="Picture 15" descr="圆上的 B 弧、A_j 弧以及金色标出的交集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389888"/>
            <a:ext cx="4892040" cy="4892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0" y="603504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8F68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金色 = A</a:t>
            </a:r>
            <a:r>
              <a:rPr sz="760" b="1" i="0" spc="100" baseline="-20000">
                <a:solidFill>
                  <a:srgbClr val="8F68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j</a:t>
            </a:r>
            <a:r>
              <a:rPr sz="950" b="1" i="0" spc="100">
                <a:solidFill>
                  <a:srgbClr val="8F68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∩ B</a:t>
            </a:r>
            <a:endParaRPr sz="950" b="1" i="0" spc="100">
              <a:solidFill>
                <a:srgbClr val="8F68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77240" y="6419088"/>
            <a:ext cx="10634472" cy="9144"/>
          </a:xfrm>
          <a:prstGeom prst="rect">
            <a:avLst/>
          </a:prstGeom>
          <a:solidFill>
            <a:srgbClr val="D9D1C1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36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圆上的旋转平均 · 证明</a:t>
            </a:r>
            <a:endParaRPr sz="800" b="0" i="0">
              <a:solidFill>
                <a:srgbClr val="5360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469880" y="6492240"/>
            <a:ext cx="9418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36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  /  11</a:t>
            </a:r>
            <a:endParaRPr sz="800" b="0" i="0">
              <a:solidFill>
                <a:srgbClr val="5360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829800" y="-1874519"/>
            <a:ext cx="3977639" cy="3977639"/>
          </a:xfrm>
          <a:prstGeom prst="ellipse">
            <a:avLst/>
          </a:prstGeom>
          <a:noFill/>
          <a:ln w="11430">
            <a:solidFill>
              <a:srgbClr val="E7DECC">
                <a:alpha val="7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-1234440"/>
            <a:ext cx="2697480" cy="2697480"/>
          </a:xfrm>
          <a:prstGeom prst="ellipse">
            <a:avLst/>
          </a:prstGeom>
          <a:noFill/>
          <a:ln w="8890">
            <a:solidFill>
              <a:srgbClr val="E7DECC">
                <a:alpha val="5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spc="180">
                <a:solidFill>
                  <a:srgbClr val="C24B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  /  第二步 · 铺满引理</a:t>
            </a:r>
            <a:endParaRPr sz="880" b="1" i="0" spc="180">
              <a:solidFill>
                <a:srgbClr val="C24B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621792"/>
            <a:ext cx="10607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720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一段弧，2m 次平移恰好铺满圆</a:t>
            </a:r>
            <a:endParaRPr sz="3100" b="1" i="0">
              <a:solidFill>
                <a:srgbClr val="1720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566928" cy="27432"/>
          </a:xfrm>
          <a:prstGeom prst="rect">
            <a:avLst/>
          </a:prstGeom>
          <a:solidFill>
            <a:srgbClr val="B8893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72600" y="411480"/>
            <a:ext cx="2029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 spc="15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ROTATION  /  AVERAGE</a:t>
            </a:r>
            <a:endParaRPr sz="720" b="0" i="0" spc="15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9" name="Picture 8" descr="长度 h 的弧 I 及其 2m 个平移依次铺满圆周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53312"/>
            <a:ext cx="4983480" cy="4983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33872" y="1572768"/>
            <a:ext cx="5532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7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取 B 的任意一段弧 I，长度为 h=π/m。</a:t>
            </a:r>
            <a:endParaRPr sz="1550" b="0" i="0">
              <a:solidFill>
                <a:srgbClr val="17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33872" y="1901952"/>
            <a:ext cx="5440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取 I 的这 2m 个平移：</a:t>
            </a:r>
            <a:endParaRPr sz="125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2" name="Picture 11" descr="数学公式：shifts_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267712"/>
            <a:ext cx="5175504" cy="29930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33872" y="2798064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7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它们首尾相接、没有缝隙，恰好覆盖整个圆周。</a:t>
            </a:r>
            <a:endParaRPr sz="1450" b="0" i="0">
              <a:solidFill>
                <a:srgbClr val="17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833872" y="3200400"/>
            <a:ext cx="5138928" cy="1280160"/>
          </a:xfrm>
          <a:prstGeom prst="roundRect">
            <a:avLst>
              <a:gd name="adj" fmla="val 4500"/>
            </a:avLst>
          </a:prstGeom>
          <a:solidFill>
            <a:srgbClr val="E1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089904" y="33375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 spc="160">
                <a:solidFill>
                  <a:srgbClr val="2D7F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覆盖一次</a:t>
            </a:r>
            <a:endParaRPr sz="840" b="1" i="0" spc="160">
              <a:solidFill>
                <a:srgbClr val="2D7F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6" name="Picture 15" descr="数学公式：tiling_sum_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3401568"/>
            <a:ext cx="3310128" cy="8895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33872" y="475488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180">
                <a:solidFill>
                  <a:srgbClr val="8F68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关键条件</a:t>
            </a:r>
            <a:endParaRPr sz="860" b="1" i="0" spc="180">
              <a:solidFill>
                <a:srgbClr val="8F68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33872" y="49834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F68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步长 = 弧长</a:t>
            </a:r>
            <a:endParaRPr sz="2200" b="1" i="0">
              <a:solidFill>
                <a:srgbClr val="8F68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33872" y="5440680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如果弧长不是 h，这 2m 个像就会留下空隙或重叠，铺满引理不再成立。</a:t>
            </a:r>
            <a:endParaRPr sz="115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77240" y="6419088"/>
            <a:ext cx="10634472" cy="9144"/>
          </a:xfrm>
          <a:prstGeom prst="rect">
            <a:avLst/>
          </a:prstGeom>
          <a:solidFill>
            <a:srgbClr val="D9D1C1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724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36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圆上的旋转平均 · 证明</a:t>
            </a:r>
            <a:endParaRPr sz="800" b="0" i="0">
              <a:solidFill>
                <a:srgbClr val="5360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469880" y="6492240"/>
            <a:ext cx="9418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36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  /  11</a:t>
            </a:r>
            <a:endParaRPr sz="800" b="0" i="0">
              <a:solidFill>
                <a:srgbClr val="5360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829800" y="-1874519"/>
            <a:ext cx="3977639" cy="3977639"/>
          </a:xfrm>
          <a:prstGeom prst="ellipse">
            <a:avLst/>
          </a:prstGeom>
          <a:noFill/>
          <a:ln w="11430">
            <a:solidFill>
              <a:srgbClr val="E7DECC">
                <a:alpha val="7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-1234440"/>
            <a:ext cx="2697480" cy="2697480"/>
          </a:xfrm>
          <a:prstGeom prst="ellipse">
            <a:avLst/>
          </a:prstGeom>
          <a:noFill/>
          <a:ln w="8890">
            <a:solidFill>
              <a:srgbClr val="E7DECC">
                <a:alpha val="5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spc="180">
                <a:solidFill>
                  <a:srgbClr val="C24B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  /  第二步 · 严格化</a:t>
            </a:r>
            <a:endParaRPr sz="880" b="1" i="0" spc="180">
              <a:solidFill>
                <a:srgbClr val="C24B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621792"/>
            <a:ext cx="10607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720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剪开圆周：区间首尾相接</a:t>
            </a:r>
            <a:endParaRPr sz="3100" b="1" i="0">
              <a:solidFill>
                <a:srgbClr val="1720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566928" cy="27432"/>
          </a:xfrm>
          <a:prstGeom prst="rect">
            <a:avLst/>
          </a:prstGeom>
          <a:solidFill>
            <a:srgbClr val="B8893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72600" y="411480"/>
            <a:ext cx="2029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 spc="15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ROTATION  /  AVERAGE</a:t>
            </a:r>
            <a:endParaRPr sz="720" b="0" i="0" spc="15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9" name="Picture 8" descr="把圆周剪开拉直后，2m 个等长区间首尾相接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10744200" cy="28019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864608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第 j 个平移像是</a:t>
            </a:r>
            <a:endParaRPr sz="125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1" name="Picture 10" descr="数学公式：arc_def_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166360"/>
            <a:ext cx="6720840" cy="30660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623560"/>
            <a:ext cx="69037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31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2m 个长度 h 的区间恰好填满 [a, a+2π]。相邻区间只在端点相交，而端点不影响长度。</a:t>
            </a:r>
            <a:endParaRPr sz="1150" b="0" i="0">
              <a:solidFill>
                <a:srgbClr val="2531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28431" y="4846320"/>
            <a:ext cx="3246120" cy="1280160"/>
          </a:xfrm>
          <a:prstGeom prst="roundRect">
            <a:avLst>
              <a:gd name="adj" fmla="val 4000"/>
            </a:avLst>
          </a:prstGeom>
          <a:solidFill>
            <a:srgbClr val="FFFCF5"/>
          </a:solidFill>
          <a:ln w="10160">
            <a:solidFill>
              <a:srgbClr val="DDD5C6"/>
            </a:solidFill>
          </a:ln>
          <a:effectLst>
            <a:outerShdw blurRad="165100" dist="38100" dir="5400000" algn="ctr" rotWithShape="0">
              <a:srgbClr val="1720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数学公式：tiling_sum_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5001768"/>
            <a:ext cx="2889504" cy="77655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0" y="5833872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每个点恰被覆盖一次</a:t>
            </a:r>
            <a:endParaRPr sz="92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7240" y="6419088"/>
            <a:ext cx="10634472" cy="9144"/>
          </a:xfrm>
          <a:prstGeom prst="rect">
            <a:avLst/>
          </a:prstGeom>
          <a:solidFill>
            <a:srgbClr val="D9D1C1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36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圆上的旋转平均 · 证明</a:t>
            </a:r>
            <a:endParaRPr sz="800" b="0" i="0">
              <a:solidFill>
                <a:srgbClr val="5360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469880" y="6492240"/>
            <a:ext cx="9418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36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  /  11</a:t>
            </a:r>
            <a:endParaRPr sz="800" b="0" i="0">
              <a:solidFill>
                <a:srgbClr val="5360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829800" y="-1874519"/>
            <a:ext cx="3977639" cy="3977639"/>
          </a:xfrm>
          <a:prstGeom prst="ellipse">
            <a:avLst/>
          </a:prstGeom>
          <a:noFill/>
          <a:ln w="11430">
            <a:solidFill>
              <a:srgbClr val="E7DECC">
                <a:alpha val="7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-1234440"/>
            <a:ext cx="2697480" cy="2697480"/>
          </a:xfrm>
          <a:prstGeom prst="ellipse">
            <a:avLst/>
          </a:prstGeom>
          <a:noFill/>
          <a:ln w="8890">
            <a:solidFill>
              <a:srgbClr val="E7DECC">
                <a:alpha val="5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spc="180">
                <a:solidFill>
                  <a:srgbClr val="C24B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07  /  第三步 · 对旋转求和</a:t>
            </a:r>
            <a:endParaRPr sz="880" b="1" i="0" spc="180">
              <a:solidFill>
                <a:srgbClr val="C24B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621792"/>
            <a:ext cx="10607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720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把 2m 个交集长度加起来</a:t>
            </a:r>
            <a:endParaRPr sz="3100" b="1" i="0">
              <a:solidFill>
                <a:srgbClr val="1720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566928" cy="27432"/>
          </a:xfrm>
          <a:prstGeom prst="rect">
            <a:avLst/>
          </a:prstGeom>
          <a:solidFill>
            <a:srgbClr val="B8893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72600" y="411480"/>
            <a:ext cx="2029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 spc="15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ROTATION  /  AVERAGE</a:t>
            </a:r>
            <a:endParaRPr sz="720" b="0" i="0" spc="15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15179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先设 B 只有一段弧 I。对 j=1,…,2m 求和，并令 x = y+jh 换元：</a:t>
            </a:r>
            <a:endParaRPr sz="145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1874519"/>
            <a:ext cx="7333488" cy="3035808"/>
          </a:xfrm>
          <a:prstGeom prst="roundRect">
            <a:avLst>
              <a:gd name="adj" fmla="val 3000"/>
            </a:avLst>
          </a:prstGeom>
          <a:solidFill>
            <a:srgbClr val="FFFCF5"/>
          </a:solidFill>
          <a:ln w="10795">
            <a:solidFill>
              <a:srgbClr val="DDD5C6"/>
            </a:solidFill>
          </a:ln>
          <a:effectLst>
            <a:outerShdw blurRad="165100" dist="38100" dir="5400000" algn="ctr" rotWithShape="0">
              <a:srgbClr val="1720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2029968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80">
                <a:solidFill>
                  <a:srgbClr val="8F68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推导</a:t>
            </a:r>
            <a:endParaRPr sz="850" b="1" i="0" spc="180">
              <a:solidFill>
                <a:srgbClr val="8F68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2" name="Picture 11" descr="数学公式：lhs_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267712"/>
            <a:ext cx="1442466" cy="772667"/>
          </a:xfrm>
          <a:prstGeom prst="rect">
            <a:avLst/>
          </a:prstGeom>
        </p:spPr>
      </p:pic>
      <p:pic>
        <p:nvPicPr>
          <p:cNvPr id="13" name="Picture 12" descr="数学公式：rhs_21_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886" y="2267712"/>
            <a:ext cx="3268980" cy="772668"/>
          </a:xfrm>
          <a:prstGeom prst="rect">
            <a:avLst/>
          </a:prstGeom>
        </p:spPr>
      </p:pic>
      <p:pic>
        <p:nvPicPr>
          <p:cNvPr id="14" name="Picture 13" descr="数学公式：rhs_21_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886" y="3200400"/>
            <a:ext cx="3268980" cy="772668"/>
          </a:xfrm>
          <a:prstGeom prst="rect">
            <a:avLst/>
          </a:prstGeom>
        </p:spPr>
      </p:pic>
      <p:pic>
        <p:nvPicPr>
          <p:cNvPr id="15" name="Picture 14" descr="数学公式：rhs_21_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6886" y="4096512"/>
            <a:ext cx="2436876" cy="3931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24128" y="4590288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 spc="10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① 展开积分</a:t>
            </a:r>
            <a:endParaRPr sz="820" b="0" i="0" spc="10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50592" y="4590288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 spc="10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② 换元</a:t>
            </a:r>
            <a:endParaRPr sz="820" b="0" i="0" spc="10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01568" y="4590288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 spc="10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③ 铺满引理</a:t>
            </a:r>
            <a:endParaRPr sz="820" b="0" i="0" spc="10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36592" y="459028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>
                <a:solidFill>
                  <a:srgbClr val="2D7F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内层和恒等于 1</a:t>
            </a:r>
            <a:endParaRPr sz="820" b="1" i="0">
              <a:solidFill>
                <a:srgbClr val="2D7F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5074920"/>
            <a:ext cx="7333488" cy="1143000"/>
          </a:xfrm>
          <a:prstGeom prst="roundRect">
            <a:avLst>
              <a:gd name="adj" fmla="val 4000"/>
            </a:avLst>
          </a:prstGeom>
          <a:solidFill>
            <a:srgbClr val="E1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24128" y="524865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 spc="160">
                <a:solidFill>
                  <a:srgbClr val="2D7F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单弧结果</a:t>
            </a:r>
            <a:endParaRPr sz="840" b="1" i="0" spc="160">
              <a:solidFill>
                <a:srgbClr val="2D7F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22" name="Picture 21" descr="数学公式：single_su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3664" y="5138928"/>
            <a:ext cx="2880360" cy="97809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193792" y="54132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D7F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与旋转次数无关</a:t>
            </a:r>
            <a:endParaRPr sz="1050" b="0" i="0">
              <a:solidFill>
                <a:srgbClr val="2D7F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03920" y="181051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spc="180">
                <a:solidFill>
                  <a:srgbClr val="C24B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三个动作</a:t>
            </a:r>
            <a:endParaRPr sz="880" b="1" i="0" spc="180">
              <a:solidFill>
                <a:srgbClr val="C24B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03920" y="221284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68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900" b="1" i="0">
              <a:solidFill>
                <a:srgbClr val="8F68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42832" y="217627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展开</a:t>
            </a:r>
            <a:endParaRPr sz="1400" b="1" i="0">
              <a:solidFill>
                <a:srgbClr val="1720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942832" y="2523744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把每个交集长度写成积分。</a:t>
            </a:r>
            <a:endParaRPr sz="110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03920" y="340156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68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900" b="1" i="0">
              <a:solidFill>
                <a:srgbClr val="8F68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42832" y="3364991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换元</a:t>
            </a:r>
            <a:endParaRPr sz="1400" b="1" i="0">
              <a:solidFill>
                <a:srgbClr val="1720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942832" y="3712463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把 A 的平移从第一个因子移到积分变量。</a:t>
            </a:r>
            <a:endParaRPr sz="110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503920" y="45902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68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900" b="1" i="0">
              <a:solidFill>
                <a:srgbClr val="8F68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942832" y="455371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铺满</a:t>
            </a:r>
            <a:endParaRPr sz="1400" b="1" i="0">
              <a:solidFill>
                <a:srgbClr val="1720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42832" y="4901183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内层指示函数之和恒等于 1。</a:t>
            </a:r>
            <a:endParaRPr sz="110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77240" y="6419088"/>
            <a:ext cx="10634472" cy="9144"/>
          </a:xfrm>
          <a:prstGeom prst="rect">
            <a:avLst/>
          </a:prstGeom>
          <a:solidFill>
            <a:srgbClr val="D9D1C1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7724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36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圆上的旋转平均 · 证明</a:t>
            </a:r>
            <a:endParaRPr sz="800" b="0" i="0">
              <a:solidFill>
                <a:srgbClr val="5360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469880" y="6492240"/>
            <a:ext cx="9418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36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07  /  11</a:t>
            </a:r>
            <a:endParaRPr sz="800" b="0" i="0">
              <a:solidFill>
                <a:srgbClr val="5360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829800" y="-1874519"/>
            <a:ext cx="3977639" cy="3977639"/>
          </a:xfrm>
          <a:prstGeom prst="ellipse">
            <a:avLst/>
          </a:prstGeom>
          <a:noFill/>
          <a:ln w="11430">
            <a:solidFill>
              <a:srgbClr val="E7DECC">
                <a:alpha val="7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-1234440"/>
            <a:ext cx="2697480" cy="2697480"/>
          </a:xfrm>
          <a:prstGeom prst="ellipse">
            <a:avLst/>
          </a:prstGeom>
          <a:noFill/>
          <a:ln w="8890">
            <a:solidFill>
              <a:srgbClr val="E7DECC">
                <a:alpha val="5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spc="180">
                <a:solidFill>
                  <a:srgbClr val="C24B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08  /  推广到 N 段</a:t>
            </a:r>
            <a:endParaRPr sz="880" b="1" i="0" spc="180">
              <a:solidFill>
                <a:srgbClr val="C24B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621792"/>
            <a:ext cx="10607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720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B 有 N 段：逐段相加</a:t>
            </a:r>
            <a:endParaRPr sz="3100" b="1" i="0">
              <a:solidFill>
                <a:srgbClr val="1720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566928" cy="27432"/>
          </a:xfrm>
          <a:prstGeom prst="rect">
            <a:avLst/>
          </a:prstGeom>
          <a:solidFill>
            <a:srgbClr val="B8893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72600" y="411480"/>
            <a:ext cx="2029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 spc="15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ROTATION  /  AVERAGE</a:t>
            </a:r>
            <a:endParaRPr sz="720" b="0" i="0" spc="15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1517904"/>
            <a:ext cx="5349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 的各段 I</a:t>
            </a:r>
            <a:r>
              <a:rPr sz="1160" b="0" i="0" baseline="-2000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</a:t>
            </a:r>
            <a:r>
              <a:rPr sz="145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,…,I</a:t>
            </a:r>
            <a:r>
              <a:rPr sz="1160" b="0" i="0" baseline="-2000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N</a:t>
            </a:r>
            <a:r>
              <a:rPr sz="145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互不相交，而交集长度对 B 是可加的。</a:t>
            </a:r>
            <a:endParaRPr sz="145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0" name="Picture 9" descr="数学公式：b_decom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5321808" cy="4121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2761488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31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对每一段应用单弧结论，再相加：</a:t>
            </a:r>
            <a:endParaRPr sz="1150" b="0" i="0">
              <a:solidFill>
                <a:srgbClr val="2531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2" name="Picture 11" descr="数学公式：multi_su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36392"/>
            <a:ext cx="5321808" cy="870877"/>
          </a:xfrm>
          <a:prstGeom prst="rect">
            <a:avLst/>
          </a:prstGeom>
        </p:spPr>
      </p:pic>
      <p:pic>
        <p:nvPicPr>
          <p:cNvPr id="13" name="Picture 12" descr="数学公式：multi_resu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87952"/>
            <a:ext cx="3822191" cy="51388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77240" y="4892040"/>
            <a:ext cx="5413248" cy="822960"/>
          </a:xfrm>
          <a:prstGeom prst="roundRect">
            <a:avLst>
              <a:gd name="adj" fmla="val 5000"/>
            </a:avLst>
          </a:prstGeom>
          <a:solidFill>
            <a:srgbClr val="F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5047488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F68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N ℓ(A)</a:t>
            </a:r>
            <a:endParaRPr sz="2100" b="1" i="0">
              <a:solidFill>
                <a:srgbClr val="8F68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40280" y="5102352"/>
            <a:ext cx="374903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531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每段弧贡献一份；总量只由 N 决定。</a:t>
            </a:r>
            <a:endParaRPr sz="1080" b="0" i="0">
              <a:solidFill>
                <a:srgbClr val="2531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4128" y="5477256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每个 I</a:t>
            </a:r>
            <a:r>
              <a:rPr sz="735" b="0" i="0" baseline="-2000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i</a:t>
            </a:r>
            <a:r>
              <a:rPr sz="92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贡献相同的一份 ℓ(A)。</a:t>
            </a:r>
            <a:endParaRPr sz="92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8" name="Picture 17" descr="N 段弧各自平移 2m 次，分别覆盖圆一次，共 N 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1572768"/>
            <a:ext cx="4983480" cy="239335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92240" y="4224528"/>
            <a:ext cx="48463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每段弧的 2m 个像覆盖圆一次；N 段叠加，任意点被覆盖 N 次。</a:t>
            </a:r>
            <a:endParaRPr sz="105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92240" y="4892040"/>
            <a:ext cx="4864608" cy="822960"/>
          </a:xfrm>
          <a:prstGeom prst="roundRect">
            <a:avLst>
              <a:gd name="adj" fmla="val 5000"/>
            </a:avLst>
          </a:prstGeom>
          <a:solidFill>
            <a:srgbClr val="FFFCF5"/>
          </a:solidFill>
          <a:ln w="10160">
            <a:solidFill>
              <a:srgbClr val="DD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748272" y="523036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 spc="160">
                <a:solidFill>
                  <a:srgbClr val="C24B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加法性</a:t>
            </a:r>
            <a:endParaRPr sz="840" b="1" i="0" spc="160">
              <a:solidFill>
                <a:srgbClr val="C24B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43800" y="4892040"/>
            <a:ext cx="3584448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531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 的各段互不相交，所以交集长度可以逐段求和。</a:t>
            </a:r>
            <a:endParaRPr sz="1080" b="0" i="0">
              <a:solidFill>
                <a:srgbClr val="2531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77240" y="6419088"/>
            <a:ext cx="10634472" cy="9144"/>
          </a:xfrm>
          <a:prstGeom prst="rect">
            <a:avLst/>
          </a:prstGeom>
          <a:solidFill>
            <a:srgbClr val="D9D1C1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724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36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圆上的旋转平均 · 证明</a:t>
            </a:r>
            <a:endParaRPr sz="800" b="0" i="0">
              <a:solidFill>
                <a:srgbClr val="5360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469880" y="6492240"/>
            <a:ext cx="9418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36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08  /  11</a:t>
            </a:r>
            <a:endParaRPr sz="800" b="0" i="0">
              <a:solidFill>
                <a:srgbClr val="5360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829800" y="-1874519"/>
            <a:ext cx="3977639" cy="3977639"/>
          </a:xfrm>
          <a:prstGeom prst="ellipse">
            <a:avLst/>
          </a:prstGeom>
          <a:noFill/>
          <a:ln w="11430">
            <a:solidFill>
              <a:srgbClr val="E7DECC">
                <a:alpha val="7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-1234440"/>
            <a:ext cx="2697480" cy="2697480"/>
          </a:xfrm>
          <a:prstGeom prst="ellipse">
            <a:avLst/>
          </a:prstGeom>
          <a:noFill/>
          <a:ln w="8890">
            <a:solidFill>
              <a:srgbClr val="E7DECC">
                <a:alpha val="5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spc="180">
                <a:solidFill>
                  <a:srgbClr val="C24B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09  /  收口 · 平均值</a:t>
            </a:r>
            <a:endParaRPr sz="880" b="1" i="0" spc="180">
              <a:solidFill>
                <a:srgbClr val="C24B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621792"/>
            <a:ext cx="10607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720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平均达到目标，必有一次不低于平均</a:t>
            </a:r>
            <a:endParaRPr sz="3100" b="1" i="0">
              <a:solidFill>
                <a:srgbClr val="1720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566928" cy="27432"/>
          </a:xfrm>
          <a:prstGeom prst="rect">
            <a:avLst/>
          </a:prstGeom>
          <a:solidFill>
            <a:srgbClr val="B8893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72600" y="411480"/>
            <a:ext cx="2029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 spc="15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ROTATION  /  AVERAGE</a:t>
            </a:r>
            <a:endParaRPr sz="720" b="0" i="0" spc="15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6309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一般情形下，2m 次旋转的总相交长度是</a:t>
            </a:r>
            <a:endParaRPr sz="135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1847088"/>
            <a:ext cx="7205472" cy="1389888"/>
          </a:xfrm>
          <a:prstGeom prst="roundRect">
            <a:avLst>
              <a:gd name="adj" fmla="val 3500"/>
            </a:avLst>
          </a:prstGeom>
          <a:solidFill>
            <a:srgbClr val="FFFCF5"/>
          </a:solidFill>
          <a:ln w="10795">
            <a:solidFill>
              <a:srgbClr val="DDD5C6"/>
            </a:solidFill>
          </a:ln>
          <a:effectLst>
            <a:outerShdw blurRad="165100" dist="38100" dir="5400000" algn="ctr" rotWithShape="0">
              <a:srgbClr val="1720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数学公式：a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5" y="2084831"/>
            <a:ext cx="6419088" cy="10149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319272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31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把总和除以 2m：平均值恰好等于定理右端。</a:t>
            </a:r>
            <a:endParaRPr sz="1250" b="0" i="0">
              <a:solidFill>
                <a:srgbClr val="2531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370332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31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所以  2m 个数中至少有一个不小于平均值：</a:t>
            </a:r>
            <a:endParaRPr sz="1250" b="0" i="0">
              <a:solidFill>
                <a:srgbClr val="2531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4096512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24B3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即  最大值不低于平均值。</a:t>
            </a:r>
            <a:endParaRPr sz="1700" b="1" i="0">
              <a:solidFill>
                <a:srgbClr val="C24B3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77240" y="4828032"/>
            <a:ext cx="7452360" cy="1188720"/>
          </a:xfrm>
          <a:prstGeom prst="roundRect">
            <a:avLst>
              <a:gd name="adj" fmla="val 3500"/>
            </a:avLst>
          </a:prstGeom>
          <a:solidFill>
            <a:srgbClr val="172033"/>
          </a:solidFill>
          <a:ln>
            <a:noFill/>
          </a:ln>
          <a:effectLst>
            <a:outerShdw blurRad="165100" dist="38100" dir="5400000" algn="ctr" rotWithShape="0">
              <a:srgbClr val="1720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42415" y="4992624"/>
            <a:ext cx="28346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E4B86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存在 k ∈ {1, 2, …, 2m}</a:t>
            </a:r>
            <a:endParaRPr sz="900" b="1" i="0" spc="140">
              <a:solidFill>
                <a:srgbClr val="E4B86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7" name="Picture 16" descr="数学公式：fin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5202936"/>
            <a:ext cx="4187952" cy="6497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76288" y="5266944"/>
            <a:ext cx="621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4B86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证毕</a:t>
            </a:r>
            <a:endParaRPr sz="1400" b="1" i="0">
              <a:solidFill>
                <a:srgbClr val="E4B865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32520" y="169164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spc="180">
                <a:solidFill>
                  <a:srgbClr val="C24B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平均值原理</a:t>
            </a:r>
            <a:endParaRPr sz="880" b="1" i="0" spc="180">
              <a:solidFill>
                <a:srgbClr val="C24B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796528" y="4023360"/>
            <a:ext cx="201168" cy="685800"/>
          </a:xfrm>
          <a:prstGeom prst="roundRect">
            <a:avLst>
              <a:gd name="adj" fmla="val 3500"/>
            </a:avLst>
          </a:prstGeom>
          <a:solidFill>
            <a:srgbClr val="C9D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9144000" y="3474720"/>
            <a:ext cx="201168" cy="1234440"/>
          </a:xfrm>
          <a:prstGeom prst="roundRect">
            <a:avLst>
              <a:gd name="adj" fmla="val 3500"/>
            </a:avLst>
          </a:prstGeom>
          <a:solidFill>
            <a:srgbClr val="C9D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9491472" y="3840480"/>
            <a:ext cx="201168" cy="868680"/>
          </a:xfrm>
          <a:prstGeom prst="roundRect">
            <a:avLst>
              <a:gd name="adj" fmla="val 3500"/>
            </a:avLst>
          </a:prstGeom>
          <a:solidFill>
            <a:srgbClr val="C9D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9838944" y="3108960"/>
            <a:ext cx="201168" cy="1600200"/>
          </a:xfrm>
          <a:prstGeom prst="roundRect">
            <a:avLst>
              <a:gd name="adj" fmla="val 3500"/>
            </a:avLst>
          </a:prstGeom>
          <a:solidFill>
            <a:srgbClr val="C9D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10186415" y="3611880"/>
            <a:ext cx="201168" cy="1097280"/>
          </a:xfrm>
          <a:prstGeom prst="roundRect">
            <a:avLst>
              <a:gd name="adj" fmla="val 3500"/>
            </a:avLst>
          </a:prstGeom>
          <a:solidFill>
            <a:srgbClr val="C9D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0533888" y="2743200"/>
            <a:ext cx="201168" cy="1965960"/>
          </a:xfrm>
          <a:prstGeom prst="roundRect">
            <a:avLst>
              <a:gd name="adj" fmla="val 3500"/>
            </a:avLst>
          </a:prstGeom>
          <a:solidFill>
            <a:srgbClr val="C9D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0881359" y="3291840"/>
            <a:ext cx="201168" cy="1417320"/>
          </a:xfrm>
          <a:prstGeom prst="roundRect">
            <a:avLst>
              <a:gd name="adj" fmla="val 3500"/>
            </a:avLst>
          </a:prstGeom>
          <a:solidFill>
            <a:srgbClr val="C9D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1228832" y="2240280"/>
            <a:ext cx="201168" cy="2468880"/>
          </a:xfrm>
          <a:prstGeom prst="roundRect">
            <a:avLst>
              <a:gd name="adj" fmla="val 3500"/>
            </a:avLst>
          </a:prstGeom>
          <a:solidFill>
            <a:srgbClr val="C2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705088" y="4709160"/>
            <a:ext cx="2706624" cy="12801"/>
          </a:xfrm>
          <a:prstGeom prst="rect">
            <a:avLst/>
          </a:prstGeom>
          <a:solidFill>
            <a:srgbClr val="BFB7A7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705088" y="3291840"/>
            <a:ext cx="2706624" cy="16459"/>
          </a:xfrm>
          <a:prstGeom prst="rect">
            <a:avLst/>
          </a:prstGeom>
          <a:solidFill>
            <a:srgbClr val="B8893B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732520" y="308152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F68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平均</a:t>
            </a:r>
            <a:endParaRPr sz="750" b="0" i="0">
              <a:solidFill>
                <a:srgbClr val="8F68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796528" y="488289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必有一项</a:t>
            </a:r>
            <a:endParaRPr sz="900" b="1" i="0">
              <a:solidFill>
                <a:srgbClr val="17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628632" y="488289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24B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越过平均线</a:t>
            </a:r>
            <a:endParaRPr sz="900" b="1" i="0">
              <a:solidFill>
                <a:srgbClr val="C24B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796528" y="5230368"/>
            <a:ext cx="269748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若每一项都小于平均数，</a:t>
            </a:r>
            <a:endParaRPr sz="105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总和就小于 2m 倍平均数，矛盾。</a:t>
            </a:r>
            <a:endParaRPr sz="105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77240" y="6419088"/>
            <a:ext cx="10634472" cy="9144"/>
          </a:xfrm>
          <a:prstGeom prst="rect">
            <a:avLst/>
          </a:prstGeom>
          <a:solidFill>
            <a:srgbClr val="D9D1C1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7724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36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圆上的旋转平均 · 证明</a:t>
            </a:r>
            <a:endParaRPr sz="800" b="0" i="0">
              <a:solidFill>
                <a:srgbClr val="5360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469880" y="6492240"/>
            <a:ext cx="9418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36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09  /  11</a:t>
            </a:r>
            <a:endParaRPr sz="800" b="0" i="0">
              <a:solidFill>
                <a:srgbClr val="5360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829800" y="-1874519"/>
            <a:ext cx="3977639" cy="3977639"/>
          </a:xfrm>
          <a:prstGeom prst="ellipse">
            <a:avLst/>
          </a:prstGeom>
          <a:noFill/>
          <a:ln w="11430">
            <a:solidFill>
              <a:srgbClr val="E7DECC">
                <a:alpha val="7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-1234440"/>
            <a:ext cx="2697480" cy="2697480"/>
          </a:xfrm>
          <a:prstGeom prst="ellipse">
            <a:avLst/>
          </a:prstGeom>
          <a:noFill/>
          <a:ln w="8890">
            <a:solidFill>
              <a:srgbClr val="E7DECC">
                <a:alpha val="5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spc="180">
                <a:solidFill>
                  <a:srgbClr val="C24B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10  /  常数是紧的</a:t>
            </a:r>
            <a:endParaRPr sz="880" b="1" i="0" spc="180">
              <a:solidFill>
                <a:srgbClr val="C24B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621792"/>
            <a:ext cx="10607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720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常数不能再改进：等号确实发生</a:t>
            </a:r>
            <a:endParaRPr sz="3100" b="1" i="0">
              <a:solidFill>
                <a:srgbClr val="1720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566928" cy="27432"/>
          </a:xfrm>
          <a:prstGeom prst="rect">
            <a:avLst/>
          </a:prstGeom>
          <a:solidFill>
            <a:srgbClr val="B8893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72600" y="411480"/>
            <a:ext cx="2029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 spc="15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ROTATION  /  AVERAGE</a:t>
            </a:r>
            <a:endParaRPr sz="720" b="0" i="0" spc="15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9" name="Picture 8" descr="数学公式：sharp_de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99616"/>
            <a:ext cx="3931920" cy="3526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1920240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图中取 m=1；一般 m 同理。</a:t>
            </a:r>
            <a:endParaRPr sz="92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1" name="Picture 10" descr="A=B 为半圆时，只有 j=2m 的旋转才与 B 完全重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21408"/>
            <a:ext cx="6473952" cy="35112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69480" y="1810512"/>
            <a:ext cx="416052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31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当 1 ≤ j ≤ 2m−1 时，A</a:t>
            </a:r>
            <a:r>
              <a:rPr sz="1040" b="0" i="0" baseline="-20000">
                <a:solidFill>
                  <a:srgbClr val="2531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j</a:t>
            </a:r>
            <a:r>
              <a:rPr sz="1300" b="0" i="0">
                <a:solidFill>
                  <a:srgbClr val="2531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与 I 只在端点相遇；当 j=2m 时，A</a:t>
            </a:r>
            <a:r>
              <a:rPr sz="1040" b="0" i="0" baseline="-20000">
                <a:solidFill>
                  <a:srgbClr val="2531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2m</a:t>
            </a:r>
            <a:r>
              <a:rPr sz="1300" b="0" i="0">
                <a:solidFill>
                  <a:srgbClr val="2531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=A 与 I 完全重合。</a:t>
            </a:r>
            <a:endParaRPr sz="1300" b="0" i="0">
              <a:solidFill>
                <a:srgbClr val="2531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69480" y="2761488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 spc="12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j &lt; 2m</a:t>
            </a:r>
            <a:endParaRPr sz="820" b="1" i="0" spc="12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4" name="Picture 13" descr="数学公式：ze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2706624"/>
            <a:ext cx="1737360" cy="34657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69480" y="3255264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 spc="12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j = 2m</a:t>
            </a:r>
            <a:endParaRPr sz="820" b="1" i="0" spc="12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6" name="Picture 15" descr="数学公式：fu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3200400"/>
            <a:ext cx="2011680" cy="2933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269480" y="3703320"/>
            <a:ext cx="4069080" cy="9144"/>
          </a:xfrm>
          <a:prstGeom prst="rect">
            <a:avLst/>
          </a:prstGeom>
          <a:solidFill>
            <a:srgbClr val="DDD5C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269480" y="3913632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平均值是</a:t>
            </a:r>
            <a:endParaRPr sz="115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9" name="Picture 18" descr="数学公式：target_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3" y="3840480"/>
            <a:ext cx="438912" cy="45016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13648" y="3913632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31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，而 j=2m 一项就达到 h。</a:t>
            </a:r>
            <a:endParaRPr sz="1150" b="0" i="0">
              <a:solidFill>
                <a:srgbClr val="2531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21" name="Picture 20" descr="数学公式：sharp_cal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4343400"/>
            <a:ext cx="1298448" cy="52161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705088" y="4407408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C24B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正是定理右端。</a:t>
            </a:r>
            <a:endParaRPr sz="1120" b="1" i="0">
              <a:solidFill>
                <a:srgbClr val="C24B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269480" y="4919472"/>
            <a:ext cx="404164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所以等号可以发生，且 k=2m 有时不可避开；</a:t>
            </a:r>
            <a:endParaRPr sz="110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4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定理中的常数 1/(2π) 不能再放大。</a:t>
            </a:r>
            <a:endParaRPr sz="1100" b="0" i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77240" y="5742432"/>
            <a:ext cx="10634472" cy="502920"/>
          </a:xfrm>
          <a:prstGeom prst="roundRect">
            <a:avLst>
              <a:gd name="adj" fmla="val 5000"/>
            </a:avLst>
          </a:prstGeom>
          <a:solidFill>
            <a:srgbClr val="F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05840" y="58521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1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因此：2m 次已经足够，而且这个“2m”与常数 1/(2π) 都是最优的。</a:t>
            </a:r>
            <a:endParaRPr sz="1200" b="0" i="0">
              <a:solidFill>
                <a:srgbClr val="2531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77240" y="6419088"/>
            <a:ext cx="10634472" cy="9144"/>
          </a:xfrm>
          <a:prstGeom prst="rect">
            <a:avLst/>
          </a:prstGeom>
          <a:solidFill>
            <a:srgbClr val="D9D1C1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36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圆上的旋转平均 · 证明</a:t>
            </a:r>
            <a:endParaRPr sz="800" b="0" i="0">
              <a:solidFill>
                <a:srgbClr val="5360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469880" y="6492240"/>
            <a:ext cx="9418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36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10  /  11</a:t>
            </a:r>
            <a:endParaRPr sz="800" b="0" i="0">
              <a:solidFill>
                <a:srgbClr val="5360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11A2B"/>
              </a:gs>
              <a:gs pos="58000">
                <a:srgbClr val="101827"/>
              </a:gs>
              <a:gs pos="100000">
                <a:srgbClr val="0B122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53035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E4B86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Q.E.D.  /  回顾</a:t>
            </a:r>
            <a:endParaRPr sz="900" b="1" i="0" spc="200">
              <a:solidFill>
                <a:srgbClr val="E4B86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6F1E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把证明压缩成三行</a:t>
            </a:r>
            <a:endParaRPr sz="4000" b="1" i="0">
              <a:solidFill>
                <a:srgbClr val="F6F1E5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8961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80">
                <a:solidFill>
                  <a:srgbClr val="AEB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长度 → 积分  ·  一段弧 → 铺满圆  ·  求和 → 平均</a:t>
            </a:r>
            <a:endParaRPr sz="1150" b="0" i="0" spc="80">
              <a:solidFill>
                <a:srgbClr val="AEB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7240" y="2103120"/>
            <a:ext cx="3246120" cy="9144"/>
          </a:xfrm>
          <a:prstGeom prst="rect">
            <a:avLst/>
          </a:prstGeom>
          <a:solidFill>
            <a:srgbClr val="3B485D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224942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E4B86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900" b="1" i="0" spc="120">
              <a:solidFill>
                <a:srgbClr val="E4B86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52728" y="219456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6F1E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单弧</a:t>
            </a:r>
            <a:endParaRPr sz="1700" b="1" i="0">
              <a:solidFill>
                <a:srgbClr val="F6F1E5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pic>
        <p:nvPicPr>
          <p:cNvPr id="9" name="Picture 8" descr="数学公式：recap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596896"/>
            <a:ext cx="2852928" cy="101588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931920"/>
            <a:ext cx="306324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EB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长度写成积分，换元后内层和恒为 1。</a:t>
            </a:r>
            <a:endParaRPr sz="1080" b="0" i="0">
              <a:solidFill>
                <a:srgbClr val="AEB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61688" y="2103120"/>
            <a:ext cx="3246120" cy="9144"/>
          </a:xfrm>
          <a:prstGeom prst="rect">
            <a:avLst/>
          </a:prstGeom>
          <a:solidFill>
            <a:srgbClr val="3B485D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61688" y="224942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E4B86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900" b="1" i="0" spc="120">
              <a:solidFill>
                <a:srgbClr val="E4B86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37175" y="219456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6F1E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N 段</a:t>
            </a:r>
            <a:endParaRPr sz="1700" b="1" i="0">
              <a:solidFill>
                <a:srgbClr val="F6F1E5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pic>
        <p:nvPicPr>
          <p:cNvPr id="14" name="Picture 13" descr="数学公式：recap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2724912"/>
            <a:ext cx="3063240" cy="94003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61688" y="3931920"/>
            <a:ext cx="306324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EB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逐段相加，共 N 份。</a:t>
            </a:r>
            <a:endParaRPr sz="1080" b="0" i="0">
              <a:solidFill>
                <a:srgbClr val="AEB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946136" y="2103120"/>
            <a:ext cx="3246120" cy="9144"/>
          </a:xfrm>
          <a:prstGeom prst="rect">
            <a:avLst/>
          </a:prstGeom>
          <a:solidFill>
            <a:srgbClr val="3B485D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946136" y="224942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E4B86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900" b="1" i="0" spc="120">
              <a:solidFill>
                <a:srgbClr val="E4B86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21624" y="219456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6F1E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平均</a:t>
            </a:r>
            <a:endParaRPr sz="1700" b="1" i="0">
              <a:solidFill>
                <a:srgbClr val="F6F1E5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pic>
        <p:nvPicPr>
          <p:cNvPr id="19" name="Picture 18" descr="数学公式：recap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136" y="3054096"/>
            <a:ext cx="3182112" cy="48900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46136" y="3931920"/>
            <a:ext cx="306324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EB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平均值达到目标，故有一项不低于它。</a:t>
            </a:r>
            <a:endParaRPr sz="1080" b="0" i="0">
              <a:solidFill>
                <a:srgbClr val="AEB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7240" y="4892040"/>
            <a:ext cx="10634472" cy="9144"/>
          </a:xfrm>
          <a:prstGeom prst="rect">
            <a:avLst/>
          </a:prstGeom>
          <a:solidFill>
            <a:srgbClr val="3B485D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43000" y="5138928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E4B86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铺满给出精确的总和，平均把总和变成必然。</a:t>
            </a:r>
            <a:endParaRPr sz="2100" b="1" i="0">
              <a:solidFill>
                <a:srgbClr val="E4B865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pic>
        <p:nvPicPr>
          <p:cNvPr id="23" name="Picture 22" descr="数学公式：recap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5806440"/>
            <a:ext cx="3840480" cy="5901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625328" y="5806440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4B86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证毕</a:t>
            </a:r>
            <a:endParaRPr sz="1300" b="1" i="0">
              <a:solidFill>
                <a:srgbClr val="E4B865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802368" y="-1755648"/>
            <a:ext cx="3840480" cy="3840480"/>
          </a:xfrm>
          <a:prstGeom prst="ellipse">
            <a:avLst/>
          </a:prstGeom>
          <a:noFill/>
          <a:ln w="11430">
            <a:solidFill>
              <a:srgbClr val="2E3A4E">
                <a:alpha val="9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69880" y="6492240"/>
            <a:ext cx="9418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839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11  /  11</a:t>
            </a:r>
            <a:endParaRPr sz="800" b="0" i="0">
              <a:solidFill>
                <a:srgbClr val="76839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839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圆上的旋转平均 · 证明</a:t>
            </a:r>
            <a:endParaRPr sz="800" b="0" i="0">
              <a:solidFill>
                <a:srgbClr val="76839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2192</Words>
  <Application>WPS 演示</Application>
  <PresentationFormat>On-screen Show (4:3)</PresentationFormat>
  <Paragraphs>335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Arial</vt:lpstr>
      <vt:lpstr>Noto Sans SC</vt:lpstr>
      <vt:lpstr>Noto Serif SC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旋转中的必然相遇：圆上弧集的离散平均</dc:title>
  <dc:creator>数学证明演示</dc:creator>
  <cp:keywords>圆上弧长, 旋转, 指示函数, 平均值原理, 数学奥林匹克</cp:keywords>
  <dc:description>证明存在正整数 k，使得 ℓ(A_k∩B) ≥ ℓ(A)ℓ(B)/(2π)。</dc:description>
  <dc:subject>数学奥林匹克：圆上弧集的旋转相交定理</dc:subject>
  <cp:category>数学证明</cp:category>
  <cp:lastModifiedBy>WPS_1690367678</cp:lastModifiedBy>
  <cp:revision>2</cp:revision>
  <dcterms:created xsi:type="dcterms:W3CDTF">2013-01-27T09:14:00Z</dcterms:created>
  <dcterms:modified xsi:type="dcterms:W3CDTF">2026-10-18T18:00:58Z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92BBB9F9BD9B46BD9D80BAFA0174AECA_13</vt:lpwstr>
  </property>
  <property fmtid="{D5CDD505-2E9C-101B-9397-08002B2CF9AE}" pid="3" name="KSOProductBuildVer">
    <vt:lpwstr>2052-12.1.0.21915</vt:lpwstr>
  </property>
</Properties>
</file>