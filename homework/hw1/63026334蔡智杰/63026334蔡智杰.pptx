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tableStyles" Target="tableStyles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5" Type="http://schemas.openxmlformats.org/officeDocument/2006/relationships/viewProps" Target="viewProp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3" Type="http://schemas.openxmlformats.org/officeDocument/2006/relationships/presProps" Target="presProps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Relationship Id="rId4" Type="http://schemas.openxmlformats.org/officeDocument/2006/relationships/image" Target="media/image5.sv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3" Type="http://schemas.openxmlformats.org/officeDocument/2006/relationships/image" Target="media/image8.svg" /><Relationship Id="rId4" Type="http://schemas.openxmlformats.org/officeDocument/2006/relationships/image" Target="media/image9.svg" /><Relationship Id="rId5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133350"/>
            <a:ext cx="12192000" cy="38100"/>
          </a:xfrm>
          <a:prstGeom prst="rect">
            <a:avLst/>
          </a:prstGeom>
          <a:solidFill>
            <a:srgbClr val="1E4FA8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8191500" y="0"/>
            <a:ext cx="4000500" cy="3238500"/>
          </a:xfrm>
          <a:custGeom>
            <a:pathLst>
              <a:path w="420" h="340">
                <a:moveTo>
                  <a:pt x="260" y="0"/>
                </a:moveTo>
                <a:lnTo>
                  <a:pt x="420" y="0"/>
                </a:lnTo>
                <a:lnTo>
                  <a:pt x="420" y="0"/>
                </a:lnTo>
                <a:lnTo>
                  <a:pt x="420" y="340"/>
                </a:lnTo>
                <a:lnTo>
                  <a:pt x="420" y="340"/>
                </a:lnTo>
                <a:lnTo>
                  <a:pt x="0" y="340"/>
                </a:lnTo>
                <a:lnTo>
                  <a:pt x="0" y="340"/>
                </a:lnTo>
                <a:lnTo>
                  <a:pt x="0" y="260"/>
                </a:lnTo>
                <a:cubicBezTo>
                  <a:pt x="0" y="117"/>
                  <a:pt x="117" y="0"/>
                  <a:pt x="260" y="0"/>
                </a:cubicBezTo>
                <a:close/>
              </a:path>
            </a:pathLst>
          </a:custGeom>
          <a:solidFill>
            <a:srgbClr val="E8EFF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4552950" y="800100"/>
            <a:ext cx="3095625" cy="409575"/>
          </a:xfrm>
          <a:prstGeom prst="roundRect">
            <a:avLst>
              <a:gd name="adj" fmla="val 4651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819650" y="876300"/>
            <a:ext cx="2562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1E4FA8"/>
                </a:solidFill>
                <a:latin typeface="Microsoft YaHei"/>
                <a:ea typeface="Microsoft YaHei"/>
              </a:rPr>
              <a:t>高等数学</a:t>
            </a:r>
            <a:r>
              <a:rPr lang="en-US" sz="1650" b="1" spc="15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 spc="150">
                <a:solidFill>
                  <a:srgbClr val="1E4FA8"/>
                </a:solidFill>
                <a:latin typeface="Microsoft YaHei"/>
                <a:ea typeface="Microsoft YaHei"/>
              </a:rPr>
              <a:t>课程实践作业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43000" y="1438275"/>
            <a:ext cx="9906000" cy="1238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4050" b="1" spc="75">
                <a:solidFill>
                  <a:srgbClr val="0E3F8C"/>
                </a:solidFill>
                <a:latin typeface="Microsoft YaHei"/>
                <a:ea typeface="Microsoft YaHei"/>
              </a:rPr>
              <a:t>用</a:t>
            </a:r>
            <a:r>
              <a:rPr lang="en-US" sz="40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DeepSeek Harness </a:t>
            </a:r>
            <a:r>
              <a:rPr lang="zh-CN" sz="4050" b="1" spc="75">
                <a:solidFill>
                  <a:srgbClr val="0E3F8C"/>
                </a:solidFill>
                <a:latin typeface="Microsoft YaHei"/>
                <a:ea typeface="Microsoft YaHei"/>
              </a:rPr>
              <a:t>证明</a:t>
            </a:r>
            <a:r>
              <a:rPr lang="en-US" sz="40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4050" b="1" spc="75">
                <a:solidFill>
                  <a:srgbClr val="0E3F8C"/>
                </a:solidFill>
                <a:latin typeface="Microsoft YaHei"/>
                <a:ea typeface="Microsoft YaHei"/>
              </a:rPr>
              <a:t>阶对称差商公式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295400" y="2847975"/>
            <a:ext cx="9601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i="1">
                <a:solidFill>
                  <a:srgbClr val="4A5568"/>
                </a:solidFill>
                <a:latin typeface="Georgia"/>
                <a:ea typeface="Georgia"/>
              </a:rPr>
              <a:t>Proving the n-th Order Symmetric Difference Quotient Formula with DeepSeek Harness (dsh)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5524500" y="335280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809750" y="3733800"/>
            <a:ext cx="8572500" cy="1714500"/>
          </a:xfrm>
          <a:prstGeom prst="roundRect">
            <a:avLst>
              <a:gd name="adj" fmla="val 77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" name="" descr="\lim_{x\to 0}\frac{\sum_{k=0}^{n}\binom{n}{k}(-1)^{k}f\big((n-2k)x\big)}{(2x)^{n}}=f^{(n)}(0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429000" y="3981450"/>
            <a:ext cx="5334000" cy="762000"/>
          </a:xfrm>
          <a:prstGeom prst="rect"/>
          <a:ln/>
        </p:spPr>
      </p:pic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429125" y="4857750"/>
            <a:ext cx="3343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原题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提示词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代码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证明与数值验证全过程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143000" y="6448425"/>
            <a:ext cx="4371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dsh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）数学实践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高等数学课程作业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915525" y="6448425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年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81000" y="762000"/>
            <a:ext cx="28575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 spc="45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81000" y="163830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81000" y="186690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225">
                <a:solidFill>
                  <a:srgbClr val="BFD2E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3743325"/>
            <a:ext cx="2857500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BFD2EF"/>
                </a:solidFill>
                <a:latin typeface="Microsoft YaHei"/>
                <a:ea typeface="Microsoft YaHei"/>
              </a:rPr>
              <a:t>围绕「原题</a:t>
            </a:r>
            <a:r>
              <a:rPr lang="en-US" sz="1350">
                <a:solidFill>
                  <a:srgbClr val="BFD2E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350">
                <a:solidFill>
                  <a:srgbClr val="BFD2EF"/>
                </a:solidFill>
                <a:latin typeface="Microsoft YaHei"/>
                <a:ea typeface="Microsoft YaHei"/>
              </a:rPr>
              <a:t>提示词</a:t>
            </a:r>
            <a:r>
              <a:rPr lang="en-US" sz="1350">
                <a:solidFill>
                  <a:srgbClr val="BFD2E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350">
                <a:solidFill>
                  <a:srgbClr val="BFD2EF"/>
                </a:solidFill>
                <a:latin typeface="Microsoft YaHei"/>
                <a:ea typeface="Microsoft YaHei"/>
              </a:rPr>
              <a:t>代码</a:t>
            </a:r>
            <a:r>
              <a:rPr lang="en-US" sz="1350">
                <a:solidFill>
                  <a:srgbClr val="BFD2EF"/>
                </a:solidFill>
                <a:latin typeface="Microsoft YaHei"/>
                <a:ea typeface="Microsoft YaHei"/>
              </a:rPr>
              <a:t xml:space="preserve"> — PPT</a:t>
            </a:r>
            <a:r>
              <a:rPr lang="zh-CN" sz="1350">
                <a:solidFill>
                  <a:srgbClr val="BFD2EF"/>
                </a:solidFill>
                <a:latin typeface="Microsoft YaHei"/>
                <a:ea typeface="Microsoft YaHei"/>
              </a:rPr>
              <a:t>」四项提交内容，完整呈现用</a:t>
            </a:r>
            <a:r>
              <a:rPr lang="en-US" sz="1350">
                <a:solidFill>
                  <a:srgbClr val="BFD2EF"/>
                </a:solidFill>
                <a:latin typeface="Microsoft YaHei"/>
                <a:ea typeface="Microsoft YaHei"/>
              </a:rPr>
              <a:t xml:space="preserve"> DeepSeek Harness </a:t>
            </a:r>
            <a:r>
              <a:rPr lang="zh-CN" sz="1350">
                <a:solidFill>
                  <a:srgbClr val="BFD2EF"/>
                </a:solidFill>
                <a:latin typeface="Microsoft YaHei"/>
                <a:ea typeface="Microsoft YaHei"/>
              </a:rPr>
              <a:t>解题的闭环过程。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619500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095750" y="53340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362450" y="6667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476750" y="7905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105400" y="647700"/>
            <a:ext cx="2409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作业概述与工具链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105400" y="9906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dsh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五步工作流与提交内容清单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095750" y="144780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362450" y="15811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476750" y="17049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105400" y="1562100"/>
            <a:ext cx="1885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105400" y="19050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普特南竞赛经典定积分题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095750" y="236220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62450" y="24955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76750" y="26193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105400" y="2476500"/>
            <a:ext cx="2686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提示词设计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105400" y="2819400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角色设定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三项硬性要求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输出格式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095750" y="327660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362450" y="34099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476750" y="35337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105400" y="3390900"/>
            <a:ext cx="2809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105400" y="3733800"/>
            <a:ext cx="2809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换元法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国王法（对称性）两步推导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095750" y="419100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362450" y="43243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476750" y="44481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105400" y="4305300"/>
            <a:ext cx="2543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代码与数值验证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105400" y="4648200"/>
            <a:ext cx="2543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verify.py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梯形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辛普森收敛对比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095750" y="510540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362450" y="52387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76750" y="53625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105400" y="5219700"/>
            <a:ext cx="2371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总结与心得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105400" y="556260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数学收获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提示词与验证的体会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3381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作业概述与工具链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9239250" y="266700"/>
            <a:ext cx="257175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410700" y="3238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dsh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）实践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1066800"/>
            <a:ext cx="1143000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28650" y="1238250"/>
            <a:ext cx="1093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本次作业要做什么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28650" y="1590675"/>
            <a:ext cx="109347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DeepSeek Harness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dsh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）证明一道高阶导数极限经典题——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n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阶对称差商公式：设计提示词驱动模型给出引理、推导与代码，亲手验证后，把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原题及来源、提示词、代码、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PPT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四项内容整理提交。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381000" y="2514600"/>
            <a:ext cx="11430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28650" y="2686050"/>
            <a:ext cx="1093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dsh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解题闭环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五步工作流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28650" y="3114675"/>
            <a:ext cx="1847850" cy="1066800"/>
          </a:xfrm>
          <a:prstGeom prst="roundRect">
            <a:avLst>
              <a:gd name="adj" fmla="val 89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62000" y="3228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57250" y="3276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3950" y="3257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选题输入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1581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选定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阶对称差商公式证明题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2552700" y="35337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2838450" y="3114675"/>
            <a:ext cx="1838325" cy="1066800"/>
          </a:xfrm>
          <a:prstGeom prst="roundRect">
            <a:avLst>
              <a:gd name="adj" fmla="val 89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2971800" y="3228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067050" y="3276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333750" y="32575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提示词设计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2971800" y="3609975"/>
            <a:ext cx="15716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四项硬性要求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输出格式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752975" y="35337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038725" y="3114675"/>
            <a:ext cx="1847850" cy="1066800"/>
          </a:xfrm>
          <a:prstGeom prst="roundRect">
            <a:avLst>
              <a:gd name="adj" fmla="val 89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172075" y="3228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267325" y="3276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534025" y="3257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模型求解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172075" y="3609975"/>
            <a:ext cx="15811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输出引理、推导与代码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62775" y="35337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248525" y="3114675"/>
            <a:ext cx="1838325" cy="1066800"/>
          </a:xfrm>
          <a:prstGeom prst="roundRect">
            <a:avLst>
              <a:gd name="adj" fmla="val 89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7381875" y="3228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77125" y="3276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743825" y="3257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代码验证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381875" y="360997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数值计算比值核对极限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163050" y="35337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9448800" y="3114675"/>
            <a:ext cx="2114550" cy="1066800"/>
          </a:xfrm>
          <a:prstGeom prst="roundRect">
            <a:avLst>
              <a:gd name="adj" fmla="val 89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582150" y="3228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677400" y="3276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944100" y="3257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整理汇报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582150" y="3609975"/>
            <a:ext cx="18478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过程结果整理成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81000" y="4572000"/>
            <a:ext cx="11430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28650" y="4743450"/>
            <a:ext cx="1093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提交内容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四件套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28650" y="5153025"/>
            <a:ext cx="2609850" cy="990600"/>
          </a:xfrm>
          <a:prstGeom prst="roundRect">
            <a:avLst>
              <a:gd name="adj" fmla="val 961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2266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00100" y="5610225"/>
            <a:ext cx="2266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题目原文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中心差商公式出处考证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409950" y="5153025"/>
            <a:ext cx="2600325" cy="990600"/>
          </a:xfrm>
          <a:prstGeom prst="roundRect">
            <a:avLst>
              <a:gd name="adj" fmla="val 961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581400" y="5286375"/>
            <a:ext cx="2257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581400" y="5610225"/>
            <a:ext cx="22574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投喂给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dsh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的完整提示词文本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181725" y="5153025"/>
            <a:ext cx="2609850" cy="990600"/>
          </a:xfrm>
          <a:prstGeom prst="roundRect">
            <a:avLst>
              <a:gd name="adj" fmla="val 961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53175" y="5286375"/>
            <a:ext cx="2266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353175" y="5610225"/>
            <a:ext cx="22669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可独立运行的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verify.py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脚本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963025" y="5153025"/>
            <a:ext cx="2600325" cy="990600"/>
          </a:xfrm>
          <a:prstGeom prst="roundRect">
            <a:avLst>
              <a:gd name="adj" fmla="val 9615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134475" y="5286375"/>
            <a:ext cx="2257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PPT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134475" y="5610225"/>
            <a:ext cx="22574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BFD2EF"/>
                </a:solidFill>
                <a:latin typeface="Microsoft YaHei"/>
                <a:ea typeface="Microsoft YaHei"/>
              </a:rPr>
              <a:t>本份汇报文档（共</a:t>
            </a:r>
            <a:r>
              <a:rPr lang="en-US" sz="1200">
                <a:solidFill>
                  <a:srgbClr val="BFD2EF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200">
                <a:solidFill>
                  <a:srgbClr val="BFD2EF"/>
                </a:solidFill>
                <a:latin typeface="Microsoft YaHei"/>
                <a:ea typeface="Microsoft YaHei"/>
              </a:rPr>
              <a:t>页）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24098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9239250" y="266700"/>
            <a:ext cx="257175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410700" y="3238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dsh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）实践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81000" y="1104900"/>
            <a:ext cx="66675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66750" y="1333500"/>
            <a:ext cx="723900" cy="342900"/>
          </a:xfrm>
          <a:prstGeom prst="roundRect">
            <a:avLst>
              <a:gd name="adj" fmla="val 2222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13906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原题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524000" y="1390650"/>
            <a:ext cx="3267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设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为正整数，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 xml:space="preserve">f^(n)(0)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存在，证明：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66750" y="1866900"/>
            <a:ext cx="6096000" cy="1152525"/>
          </a:xfrm>
          <a:prstGeom prst="roundRect">
            <a:avLst>
              <a:gd name="adj" fmla="val 9917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5" name="" descr="\lim_{x\to 0}\frac{\sum_{k=0}^{n}\binom{n}{k}(-1)^{k}f\big((n-2k)x\big)}{(2x)^{n}}=f^{(n)}(0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5143500" cy="733425"/>
          </a:xfrm>
          <a:prstGeom prst="rect"/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6750" y="3209925"/>
            <a:ext cx="60960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这是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对称差商求高阶导数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的极限式：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n=2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时即大家熟悉的二阶中心差商，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n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阶情形需要组合权重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 (−1)^k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的精巧配平。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277100" y="1104900"/>
            <a:ext cx="45339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524750" y="1314450"/>
            <a:ext cx="403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来源考证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524750" y="1724025"/>
            <a:ext cx="57150" cy="82867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696200" y="1724025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出处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696200" y="1981200"/>
            <a:ext cx="3867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数学分析经典习题：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阶中心差商公式，常见于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Taylor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公式与数值微分章节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524750" y="2667000"/>
            <a:ext cx="57150" cy="82867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696200" y="2667000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特例背景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696200" y="2924175"/>
            <a:ext cx="3867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n=2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时即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(f(h)−2f(0)+f(−h))/h² → f″(0)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，是最常用的二阶中心差商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7524750" y="3609975"/>
            <a:ext cx="57150" cy="82867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696200" y="3609975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选用理由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696200" y="3867150"/>
            <a:ext cx="3867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组合恒等式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Peano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展开两段式证明，非常适合展示「模型推导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代码验证」闭环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7524750" y="4572000"/>
            <a:ext cx="981075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658100" y="46196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二项式定理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8601075" y="4572000"/>
            <a:ext cx="1019175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734425" y="4619625"/>
            <a:ext cx="752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Peano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余项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715500" y="4572000"/>
            <a:ext cx="1123950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848850" y="46196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离散矩恒等式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81000" y="5105400"/>
            <a:ext cx="11430000" cy="1104900"/>
          </a:xfrm>
          <a:prstGeom prst="roundRect">
            <a:avLst>
              <a:gd name="adj" fmla="val 1206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62000" y="5438775"/>
            <a:ext cx="12096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n+1 </a:t>
            </a:r>
            <a:r>
              <a:rPr lang="zh-CN" sz="2850" b="1">
                <a:solidFill>
                  <a:srgbClr val="FFC107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124075" y="5505450"/>
            <a:ext cx="219075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对称节点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 xml:space="preserve"> (n−2k)x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>k=0,…,n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314825" y="5438775"/>
            <a:ext cx="3571875" cy="438150"/>
          </a:xfrm>
          <a:custGeom>
            <a:pathLst>
              <a:path w="375" h="46">
                <a:moveTo>
                  <a:pt x="0" y="0"/>
                </a:moveTo>
                <a:lnTo>
                  <a:pt x="1" y="0"/>
                </a:lnTo>
                <a:lnTo>
                  <a:pt x="1" y="46"/>
                </a:lnTo>
                <a:lnTo>
                  <a:pt x="0" y="46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629150" y="5438775"/>
            <a:ext cx="6953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2850" b="1">
                <a:solidFill>
                  <a:srgbClr val="FFC107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476875" y="550545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离散矩引理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 xml:space="preserve"> + Peano 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展开即完成证明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877175" y="5438775"/>
            <a:ext cx="3562350" cy="438150"/>
          </a:xfrm>
          <a:custGeom>
            <a:pathLst>
              <a:path w="374" h="46">
                <a:moveTo>
                  <a:pt x="0" y="0"/>
                </a:moveTo>
                <a:lnTo>
                  <a:pt x="1" y="0"/>
                </a:lnTo>
                <a:lnTo>
                  <a:pt x="1" y="46"/>
                </a:lnTo>
                <a:lnTo>
                  <a:pt x="0" y="46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91500" y="5438775"/>
            <a:ext cx="7239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C107"/>
                </a:solidFill>
                <a:latin typeface="Microsoft YaHei"/>
                <a:ea typeface="Microsoft YaHei"/>
              </a:rPr>
              <a:t>一般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067800" y="5505450"/>
            <a:ext cx="23622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对一切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阶可导的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 xml:space="preserve"> f 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统一成立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24098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提示词设计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744075" y="266700"/>
            <a:ext cx="2066925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915525" y="3238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投喂给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dsh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的完整提示词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81000" y="1104900"/>
            <a:ext cx="6953250" cy="510540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1295400"/>
            <a:ext cx="6496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提示词全文（与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提示词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.txt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一致）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1704975"/>
            <a:ext cx="6496050" cy="4219575"/>
          </a:xfrm>
          <a:prstGeom prst="roundRect">
            <a:avLst>
              <a:gd name="adj" fmla="val 180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/>
          <p:cNvSpPr txBox="1"/>
          <p:nvPr/>
        </p:nvSpPr>
        <p:spPr>
          <a:xfrm rot="0" flipH="0" flipV="0">
            <a:off x="762000" y="1838325"/>
            <a:ext cx="6191250" cy="3952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【角色】你是一名严谨的数学老师。</a:t>
            </a:r>
            <a:endParaRPr/>
          </a:p>
          <a:p>
            <a:pPr>
              <a:lnSpc>
                <a:spcPct val="140000"/>
              </a:lnSpc>
            </a:pP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【题目】设 n 为正整数，f^(n)(0) 存在，证明：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lim_{x→0} Σ C(n,k)(−1)^k f((n−2k)x)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       ÷ (2x)^n = f^(n)(0)。</a:t>
            </a:r>
            <a:endParaRPr/>
          </a:p>
          <a:p>
            <a:pPr>
              <a:lnSpc>
                <a:spcPct val="140000"/>
              </a:lnSpc>
            </a:pP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【要求】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1. 先证引理（离散矩恒等式）：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Σ C(n,k)(−1)^k (n−2k)^m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  = 0（m&lt;n），= 2^n·n!（m=n），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建议用母函数法（二项式定理）；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2. 用带 Peano 余项的 Taylor 公式展开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f((n−2k)x)，逐步注明依据；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3. 说明有限项求和可交换次序的理由；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4. 写仅用标准库 math 的 Python 代码，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对 cos x、exp(x²)、exp x 数值验证该极限。</a:t>
            </a:r>
            <a:endParaRPr/>
          </a:p>
          <a:p>
            <a:pPr>
              <a:lnSpc>
                <a:spcPct val="140000"/>
              </a:lnSpc>
            </a:pP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【输出格式】思路概述 → 引理证明 → 主证明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           （分步编号）→ 代码与结果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562850" y="1104900"/>
            <a:ext cx="42481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791450" y="1314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924800" y="13906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86750" y="1371600"/>
            <a:ext cx="876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角色设定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791450" y="1790700"/>
            <a:ext cx="37909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以「严谨的数学老师」身份作答，不跳步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7562850" y="2476500"/>
            <a:ext cx="42481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791450" y="26860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924800" y="27622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286750" y="2743200"/>
            <a:ext cx="1314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四项硬性要求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791450" y="3162300"/>
            <a:ext cx="37909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引理先行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注明依据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代码验证收尾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562850" y="3848100"/>
            <a:ext cx="42481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791450" y="40576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924800" y="41338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286750" y="4114800"/>
            <a:ext cx="1314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锁定输出格式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91450" y="4533900"/>
            <a:ext cx="37909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「思路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引理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证明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代码」四段式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562850" y="5219700"/>
            <a:ext cx="4248150" cy="962025"/>
          </a:xfrm>
          <a:prstGeom prst="roundRect">
            <a:avLst>
              <a:gd name="adj" fmla="val 1386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791450" y="5372100"/>
            <a:ext cx="3790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关键心得：</a:t>
            </a:r>
            <a:r>
              <a:rPr lang="zh-CN" sz="1425" b="1">
                <a:solidFill>
                  <a:srgbClr val="FFC107"/>
                </a:solidFill>
                <a:latin typeface="Microsoft YaHei"/>
                <a:ea typeface="Microsoft YaHei"/>
              </a:rPr>
              <a:t>把「引理先行</a:t>
            </a:r>
            <a:r>
              <a:rPr lang="en-US" sz="1425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C107"/>
                </a:solidFill>
                <a:latin typeface="Microsoft YaHei"/>
                <a:ea typeface="Microsoft YaHei"/>
              </a:rPr>
              <a:t>验证收尾」写进提示词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，让证明结构清晰、结论可被复核。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46767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解题过程（一）离散矩引理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9239250" y="266700"/>
            <a:ext cx="257175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410700" y="3238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dsh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）实践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1104900"/>
            <a:ext cx="3810000" cy="4305300"/>
          </a:xfrm>
          <a:prstGeom prst="roundRect">
            <a:avLst>
              <a:gd name="adj" fmla="val 350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7700" y="1333500"/>
            <a:ext cx="32766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400" b="1">
                <a:solidFill>
                  <a:srgbClr val="FFC107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47700" y="2200275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为什么先证引理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47700" y="2619375"/>
            <a:ext cx="32766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DCE6F5"/>
                </a:solidFill>
                <a:latin typeface="Microsoft YaHei"/>
                <a:ea typeface="Microsoft YaHei"/>
              </a:rPr>
              <a:t>把</a:t>
            </a:r>
            <a:r>
              <a:rPr lang="en-US" sz="1500">
                <a:solidFill>
                  <a:srgbClr val="DCE6F5"/>
                </a:solidFill>
                <a:latin typeface="Microsoft YaHei"/>
                <a:ea typeface="Microsoft YaHei"/>
              </a:rPr>
              <a:t xml:space="preserve"> f </a:t>
            </a:r>
            <a:r>
              <a:rPr lang="zh-CN" sz="1500">
                <a:solidFill>
                  <a:srgbClr val="DCE6F5"/>
                </a:solidFill>
                <a:latin typeface="Microsoft YaHei"/>
                <a:ea typeface="Microsoft YaHei"/>
              </a:rPr>
              <a:t>按</a:t>
            </a:r>
            <a:r>
              <a:rPr lang="en-US" sz="1500">
                <a:solidFill>
                  <a:srgbClr val="DCE6F5"/>
                </a:solidFill>
                <a:latin typeface="Microsoft YaHei"/>
                <a:ea typeface="Microsoft YaHei"/>
              </a:rPr>
              <a:t xml:space="preserve"> Taylor </a:t>
            </a:r>
            <a:r>
              <a:rPr lang="zh-CN" sz="1500">
                <a:solidFill>
                  <a:srgbClr val="DCE6F5"/>
                </a:solidFill>
                <a:latin typeface="Microsoft YaHei"/>
                <a:ea typeface="Microsoft YaHei"/>
              </a:rPr>
              <a:t>展开后，会出现组合加权和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47700" y="3448050"/>
            <a:ext cx="3276600" cy="523875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35" name="" descr="\sum_{k}\binom{n}{k}(-1)^k(n-2k)^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3543300"/>
            <a:ext cx="2667000" cy="333375"/>
          </a:xfrm>
          <a:prstGeom prst="rect"/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47700" y="4086225"/>
            <a:ext cx="32766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DCE6F5"/>
                </a:solidFill>
                <a:latin typeface="Microsoft YaHei"/>
                <a:ea typeface="Microsoft YaHei"/>
              </a:rPr>
              <a:t>必须知道它何时为零。用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母函数法</a:t>
            </a:r>
            <a:r>
              <a:rPr lang="zh-CN" sz="1500">
                <a:solidFill>
                  <a:srgbClr val="DCE6F5"/>
                </a:solidFill>
                <a:latin typeface="Microsoft YaHei"/>
                <a:ea typeface="Microsoft YaHei"/>
              </a:rPr>
              <a:t>：把离散求和变成指数生成函数，读系数即可。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419600" y="1104900"/>
            <a:ext cx="7391400" cy="4305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686300" y="1314450"/>
            <a:ext cx="685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母函数三步（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dsh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给出的推导）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686300" y="1724025"/>
            <a:ext cx="6858000" cy="838200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876800" y="1838325"/>
            <a:ext cx="14287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构造指数生成函数</a:t>
            </a:r>
            <a:endParaRPr/>
          </a:p>
        </p:txBody>
      </p:sp>
      <p:pic>
        <p:nvPicPr>
          <p:cNvPr id="241" name="" descr="G(t)=\sum_{k=0}^{n}\binom{n}{k}(-1)^k e^{(n-2k)t}=e^{-nt}(e^{2t}-1)^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67525" y="1847850"/>
            <a:ext cx="4095750" cy="590550"/>
          </a:xfrm>
          <a:prstGeom prst="rect"/>
          <a:ln/>
        </p:spPr>
      </p:pic>
      <p:sp>
        <p:nvSpPr>
          <p:cNvPr id="242" name=""/>
          <p:cNvSpPr/>
          <p:nvPr/>
        </p:nvSpPr>
        <p:spPr>
          <a:xfrm rot="0" flipH="0" flipV="0">
            <a:off x="4686300" y="2676525"/>
            <a:ext cx="6858000" cy="533400"/>
          </a:xfrm>
          <a:prstGeom prst="roundRect">
            <a:avLst>
              <a:gd name="adj" fmla="val 21429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876800" y="2790825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小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t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展开</a:t>
            </a:r>
            <a:endParaRPr/>
          </a:p>
        </p:txBody>
      </p:sp>
      <p:pic>
        <p:nvPicPr>
          <p:cNvPr id="244" name="" descr="e^{2t}-1=2t+O(t^2)\;\Rightarrow\;G(t)=2^n t^n+O(t^{n+1}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67525" y="2828925"/>
            <a:ext cx="4095750" cy="228600"/>
          </a:xfrm>
          <a:prstGeom prst="rect"/>
          <a:ln/>
        </p:spPr>
      </p:pic>
      <p:sp>
        <p:nvSpPr>
          <p:cNvPr id="245" name=""/>
          <p:cNvSpPr/>
          <p:nvPr/>
        </p:nvSpPr>
        <p:spPr>
          <a:xfrm rot="0" flipH="0" flipV="0">
            <a:off x="4686300" y="3324225"/>
            <a:ext cx="6858000" cy="828675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876800" y="3590925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比较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t^m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系数</a:t>
            </a:r>
            <a:endParaRPr/>
          </a:p>
        </p:txBody>
      </p:sp>
      <p:pic>
        <p:nvPicPr>
          <p:cNvPr id="247" name="" descr="\sum_{k}\binom{n}{k}(-1)^k(n-2k)^m=\begin{cases}0, &amp; m&lt;n\\ 2^n n!\!, &amp; m=n\end{cases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67525" y="3438525"/>
            <a:ext cx="4095750" cy="600075"/>
          </a:xfrm>
          <a:prstGeom prst="rect"/>
          <a:ln/>
        </p:spPr>
      </p:pic>
      <p:sp>
        <p:nvSpPr>
          <p:cNvPr id="248" name=""/>
          <p:cNvSpPr/>
          <p:nvPr/>
        </p:nvSpPr>
        <p:spPr>
          <a:xfrm rot="0" flipH="0" flipV="0">
            <a:off x="4686300" y="4286250"/>
            <a:ext cx="2200275" cy="352425"/>
          </a:xfrm>
          <a:prstGeom prst="roundRect">
            <a:avLst>
              <a:gd name="adj" fmla="val 270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038725" y="43624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n=1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1+1=2=2·1!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019925" y="4286250"/>
            <a:ext cx="2190750" cy="352425"/>
          </a:xfrm>
          <a:prstGeom prst="roundRect">
            <a:avLst>
              <a:gd name="adj" fmla="val 270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229475" y="43624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n=2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4−0+4=8=2²·2!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9344025" y="4286250"/>
            <a:ext cx="2200275" cy="352425"/>
          </a:xfrm>
          <a:prstGeom prst="roundRect">
            <a:avLst>
              <a:gd name="adj" fmla="val 270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886950" y="4362450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低阶矩全部为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81000" y="5562600"/>
            <a:ext cx="11430000" cy="64770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47700" y="5734050"/>
            <a:ext cx="609600" cy="304800"/>
          </a:xfrm>
          <a:prstGeom prst="roundRect">
            <a:avLst>
              <a:gd name="adj" fmla="val 4375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0100" y="5791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铺垫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428750" y="5772150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引理像一把「筛子」：下一页代入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Peano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展开后，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m&lt;n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的项全部筛掉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，只留下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m=n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的一项。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65341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解题过程（二）</a:t>
            </a: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Peano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展开</a:t>
            </a: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合并消项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9239250" y="266700"/>
            <a:ext cx="257175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410700" y="3238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dsh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）实践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81000" y="1104900"/>
            <a:ext cx="38100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28650" y="1314450"/>
            <a:ext cx="331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Peano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余项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Taylor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公式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28650" y="1743075"/>
            <a:ext cx="3314700" cy="866775"/>
          </a:xfrm>
          <a:prstGeom prst="roundRect">
            <a:avLst>
              <a:gd name="adj" fmla="val 13187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9" name="" descr="f(y)=\sum_{m=0}^{n}\frac{f^{(m)}(0)}{m!}y^m+r(y),\ \ \frac{r(y)}{y^n}\to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914525"/>
            <a:ext cx="3238500" cy="523875"/>
          </a:xfrm>
          <a:prstGeom prst="rect"/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28650" y="2743200"/>
            <a:ext cx="3314700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4A5568"/>
                </a:solidFill>
                <a:latin typeface="Microsoft YaHei"/>
                <a:ea typeface="Microsoft YaHei"/>
              </a:rPr>
              <a:t>y = (n−2k)x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（只取有限个值），得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r_k(x) = o(xⁿ)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n+1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项相加，有限项求和可自由交换次序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这是逐项系数对齐的合法性来源。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419600" y="1104900"/>
            <a:ext cx="73914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686300" y="1314450"/>
            <a:ext cx="685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三步合并出结论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4686300" y="1724025"/>
            <a:ext cx="6858000" cy="704850"/>
          </a:xfrm>
          <a:prstGeom prst="roundRect">
            <a:avLst>
              <a:gd name="adj" fmla="val 16216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876800" y="1924050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加权求和</a:t>
            </a:r>
            <a:endParaRPr/>
          </a:p>
        </p:txBody>
      </p:sp>
      <p:pic>
        <p:nvPicPr>
          <p:cNvPr id="275" name="" descr="S_n(x)=\sum_{m=0}^{n}\frac{f^{(m)}(0)}{m!}x^m\Big(\sum_{k}\binom{n}{k}(-1)^k(n-2k)^m\Big)+o(x^n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77025" y="1838325"/>
            <a:ext cx="4286250" cy="476250"/>
          </a:xfrm>
          <a:prstGeom prst="rect"/>
          <a:ln/>
        </p:spPr>
      </p:pic>
      <p:sp>
        <p:nvSpPr>
          <p:cNvPr id="276" name=""/>
          <p:cNvSpPr/>
          <p:nvPr/>
        </p:nvSpPr>
        <p:spPr>
          <a:xfrm rot="0" flipH="0" flipV="0">
            <a:off x="4686300" y="2543175"/>
            <a:ext cx="6858000" cy="619125"/>
          </a:xfrm>
          <a:prstGeom prst="roundRect">
            <a:avLst>
              <a:gd name="adj" fmla="val 18462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876800" y="2705100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引理筛项</a:t>
            </a:r>
            <a:endParaRPr/>
          </a:p>
        </p:txBody>
      </p:sp>
      <p:pic>
        <p:nvPicPr>
          <p:cNvPr id="278" name="" descr="S_n(x)=\frac{f^{(n)}(0)}{n!}x^n\cdot 2^n n!+o(x^n)=2^n x^n f^{(n)}(0)+o(x^n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772275" y="2657475"/>
            <a:ext cx="4095750" cy="390525"/>
          </a:xfrm>
          <a:prstGeom prst="rect"/>
          <a:ln/>
        </p:spPr>
      </p:pic>
      <p:sp>
        <p:nvSpPr>
          <p:cNvPr id="279" name=""/>
          <p:cNvSpPr/>
          <p:nvPr/>
        </p:nvSpPr>
        <p:spPr>
          <a:xfrm rot="0" flipH="0" flipV="0">
            <a:off x="4686300" y="3276600"/>
            <a:ext cx="6858000" cy="819150"/>
          </a:xfrm>
          <a:prstGeom prst="roundRect">
            <a:avLst>
              <a:gd name="adj" fmla="val 13953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876800" y="3533775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相除取极限</a:t>
            </a:r>
            <a:endParaRPr/>
          </a:p>
        </p:txBody>
      </p:sp>
      <p:pic>
        <p:nvPicPr>
          <p:cNvPr id="281" name="" descr="\frac{S_n(x)}{(2x)^n}=f^{(n)}(0)+o(1)\;\longrightarrow\;f^{(n)}(0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15150" y="3390900"/>
            <a:ext cx="3810000" cy="590550"/>
          </a:xfrm>
          <a:prstGeom prst="rect"/>
          <a:ln/>
        </p:spPr>
      </p:pic>
      <p:sp>
        <p:nvSpPr>
          <p:cNvPr id="282" name=""/>
          <p:cNvSpPr/>
          <p:nvPr/>
        </p:nvSpPr>
        <p:spPr>
          <a:xfrm rot="0" flipH="0" flipV="0">
            <a:off x="381000" y="4991100"/>
            <a:ext cx="11430000" cy="1295400"/>
          </a:xfrm>
          <a:prstGeom prst="roundRect">
            <a:avLst>
              <a:gd name="adj" fmla="val 10294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14400" y="534352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BFD2EF"/>
                </a:solidFill>
                <a:latin typeface="Microsoft YaHei"/>
                <a:ea typeface="Microsoft YaHei"/>
              </a:rPr>
              <a:t>最终结论</a:t>
            </a:r>
            <a:r>
              <a:rPr lang="en-US" sz="1350" spc="150">
                <a:solidFill>
                  <a:srgbClr val="BFD2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150">
                <a:solidFill>
                  <a:srgbClr val="BFD2EF"/>
                </a:solidFill>
                <a:latin typeface="Microsoft YaHei"/>
                <a:ea typeface="Microsoft YaHei"/>
              </a:rPr>
              <a:t>解析证明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14400" y="5629275"/>
            <a:ext cx="60579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引理当筛子、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 xml:space="preserve">Peano 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展开供料：低阶矩归零，只留</a:t>
            </a:r>
            <a:r>
              <a:rPr lang="en-US" sz="1350">
                <a:solidFill>
                  <a:srgbClr val="DCE6F5"/>
                </a:solidFill>
                <a:latin typeface="Microsoft YaHei"/>
                <a:ea typeface="Microsoft YaHei"/>
              </a:rPr>
              <a:t xml:space="preserve"> m=n </a:t>
            </a:r>
            <a:r>
              <a:rPr lang="zh-CN" sz="1350">
                <a:solidFill>
                  <a:srgbClr val="DCE6F5"/>
                </a:solidFill>
                <a:latin typeface="Microsoft YaHei"/>
                <a:ea typeface="Microsoft YaHei"/>
              </a:rPr>
              <a:t>一项，极限水落石出。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972300" y="5067300"/>
            <a:ext cx="4305300" cy="1152525"/>
          </a:xfrm>
          <a:prstGeom prst="roundRect">
            <a:avLst>
              <a:gd name="adj" fmla="val 99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86" name="" descr="\lim_{x\to 0}\frac{S_n(x)}{(2x)^n}=f^{(n)}(0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315200" y="5143500"/>
            <a:ext cx="3619500" cy="1000125"/>
          </a:xfrm>
          <a:prstGeom prst="rect"/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3057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05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代码与数值验证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9972675" y="266700"/>
            <a:ext cx="1838325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144125" y="323850"/>
            <a:ext cx="1495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verify.py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可独立运行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81000" y="1104900"/>
            <a:ext cx="7620000" cy="4848225"/>
          </a:xfrm>
          <a:prstGeom prst="roundRect">
            <a:avLst>
              <a:gd name="adj" fmla="val 1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/>
          <p:cNvSpPr txBox="1"/>
          <p:nvPr/>
        </p:nvSpPr>
        <p:spPr>
          <a:xfrm rot="0" flipH="0" flipV="0">
            <a:off x="533400" y="1238250"/>
            <a:ext cx="7315200" cy="458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verify.py —— 数值验证 n 阶对称差商公式：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lim_{x-&gt;0} [sum C(n,k)(-1)^k f((n-2k)x)] / (2x)^n = f^(n)(0)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math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math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comb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ratio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(f, n, x):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s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sum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(comb(n, k)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)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k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f((n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k)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x)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k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(n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))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s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/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x)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n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cases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[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(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"cos x"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   math.cos,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1.0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),      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f''(0) = -1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(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"exp(x^2)"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lambda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t: math.exp(t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t),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2.0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),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f''(0) = 2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(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"exp(x)"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  math.exp,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3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1.0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),       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f'''(0) = 1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name, f, n, target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cases: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 xml:space="preserve">"f =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name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 xml:space="preserve">, n =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n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 xml:space="preserve">, f^(n)(0) =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target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x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0.4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0.2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0.1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0.05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0.01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  r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ratio(f, n, x)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  x=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x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:&lt;5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 xml:space="preserve"> S_n/(2x)^n =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 .12f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      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 xml:space="preserve">"  误差 =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{abs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(r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target)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:.2e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()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229600" y="1104900"/>
            <a:ext cx="35814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439150" y="1352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648700" y="12763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三个案例对照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439150" y="1628775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cos x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n=2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exp(x²)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n=2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exp x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n=3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），目标值各不相同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229600" y="2571750"/>
            <a:ext cx="35814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439150" y="2819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648700" y="27432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比值直接对照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439150" y="3095625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直接计算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S_n/(2x)^n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f^(n)(0)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逐位比较并输出误差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8229600" y="4038600"/>
            <a:ext cx="3581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439150" y="4286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648700" y="4210050"/>
            <a:ext cx="147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零依赖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可复现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439150" y="4562475"/>
            <a:ext cx="31623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仅用标准库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math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，一键复现结论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229600" y="5191125"/>
            <a:ext cx="3581400" cy="838200"/>
          </a:xfrm>
          <a:prstGeom prst="roundRect">
            <a:avLst>
              <a:gd name="adj" fmla="val 1590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420100" y="5324475"/>
            <a:ext cx="3200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运行方式：</a:t>
            </a: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>python verify.py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，输出见下一页。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27336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05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数值验证结果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9401175" y="266700"/>
            <a:ext cx="2409825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572625" y="323850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本机实际运行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verify.py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的输出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" y="1104900"/>
            <a:ext cx="3686175" cy="1428750"/>
          </a:xfrm>
          <a:prstGeom prst="roundRect">
            <a:avLst>
              <a:gd name="adj" fmla="val 9333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81075" y="1314450"/>
            <a:ext cx="2495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比值（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>f=cos x, n=2, x=0.01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28625" y="1609725"/>
            <a:ext cx="36004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75">
                <a:solidFill>
                  <a:srgbClr val="0E3F8C"/>
                </a:solidFill>
                <a:latin typeface="Microsoft YaHei"/>
                <a:ea typeface="Microsoft YaHei"/>
              </a:rPr>
              <a:t>−0.999966667111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466850" y="2143125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FD2EF"/>
                </a:solidFill>
                <a:latin typeface="Microsoft YaHei"/>
                <a:ea typeface="Microsoft YaHei"/>
              </a:rPr>
              <a:t>已与目标</a:t>
            </a:r>
            <a:r>
              <a:rPr lang="en-US" sz="1200">
                <a:solidFill>
                  <a:srgbClr val="BFD2EF"/>
                </a:solidFill>
                <a:latin typeface="Microsoft YaHei"/>
                <a:ea typeface="Microsoft YaHei"/>
              </a:rPr>
              <a:t xml:space="preserve"> −1 </a:t>
            </a:r>
            <a:r>
              <a:rPr lang="zh-CN" sz="1200">
                <a:solidFill>
                  <a:srgbClr val="BFD2EF"/>
                </a:solidFill>
                <a:latin typeface="Microsoft YaHei"/>
                <a:ea typeface="Microsoft YaHei"/>
              </a:rPr>
              <a:t>高度吻合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257675" y="1104900"/>
            <a:ext cx="3676650" cy="1428750"/>
          </a:xfrm>
          <a:prstGeom prst="roundRect">
            <a:avLst>
              <a:gd name="adj" fmla="val 9333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524500" y="1314450"/>
            <a:ext cx="1152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解析目标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f″(0)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819775" y="1609725"/>
            <a:ext cx="5524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75">
                <a:solidFill>
                  <a:srgbClr val="0E3F8C"/>
                </a:solidFill>
                <a:latin typeface="Microsoft YaHei"/>
                <a:ea typeface="Microsoft YaHei"/>
              </a:rPr>
              <a:t>−1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124450" y="2143125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cos x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的二阶导数在原点的值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8124825" y="1104900"/>
            <a:ext cx="3686175" cy="1428750"/>
          </a:xfrm>
          <a:prstGeom prst="roundRect">
            <a:avLst>
              <a:gd name="adj" fmla="val 9333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610725" y="13144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绝对误差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096375" y="1609725"/>
            <a:ext cx="1752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75">
                <a:solidFill>
                  <a:srgbClr val="0E3F8C"/>
                </a:solidFill>
                <a:latin typeface="Microsoft YaHei"/>
                <a:ea typeface="Microsoft YaHei"/>
              </a:rPr>
              <a:t>3.33e-05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153525" y="214312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x=0.01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时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|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比值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目标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81000" y="2724150"/>
            <a:ext cx="11430000" cy="3009900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28650" y="2914650"/>
            <a:ext cx="1093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多案例对照（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x=0.01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，比值随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x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减小趋于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f^(n)(0)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graphicFrame>
        <p:nvGraphicFramePr>
          <p:cNvPr id="333" name=""/>
          <p:cNvGraphicFramePr/>
          <p:nvPr/>
        </p:nvGraphicFramePr>
        <p:xfrm rot="0" flipH="0" flipV="0">
          <a:off x="628650" y="3305175"/>
          <a:ext cx="10934700" cy="1647825"/>
        </p:xfrm>
        <a:graphic>
          <a:graphicData uri="http://schemas.openxmlformats.org/drawingml/2006/table">
            <a:tbl>
              <a:tblGrid>
                <a:gridCol w="2414720">
                  <a:extLst>
                    <a:ext uri="{9D8B030D-6E8A-4147-A177-3AD203B41FA5}">
                      <a16:colId val="1"/>
                    </a:ext>
                  </a:extLst>
                </a:gridCol>
                <a:gridCol w="672139">
                  <a:extLst>
                    <a:ext uri="{9D8B030D-6E8A-4147-A177-3AD203B41FA5}">
                      <a16:colId val="2"/>
                    </a:ext>
                  </a:extLst>
                </a:gridCol>
                <a:gridCol w="5433121">
                  <a:extLst>
                    <a:ext uri="{9D8B030D-6E8A-4147-A177-3AD203B41FA5}">
                      <a16:colId val="3"/>
                    </a:ext>
                  </a:extLst>
                </a:gridCol>
                <a:gridCol w="241472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295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计算案例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比值 S_n/(2x)^n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f^(n)(0)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295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cos 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−0.999966667111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−1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295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exp(x²)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2.000400053339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295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exp 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1.000050001129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95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sin 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0（对一切 x 恒成立）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34" name=""/>
          <p:cNvSpPr/>
          <p:nvPr/>
        </p:nvSpPr>
        <p:spPr>
          <a:xfrm rot="0" flipH="0" flipV="0">
            <a:off x="381000" y="5829300"/>
            <a:ext cx="114300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28650" y="5953125"/>
            <a:ext cx="609600" cy="285750"/>
          </a:xfrm>
          <a:prstGeom prst="roundRect">
            <a:avLst>
              <a:gd name="adj" fmla="val 4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81050" y="60007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洞察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390650" y="5991225"/>
            <a:ext cx="872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cos x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收敛：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x=0.8→−0.804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0.05→−0.9992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sin x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（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n=4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）恒为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0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是退化验证案例，须精选非平凡函数。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38125"/>
            <a:ext cx="24098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06 · </a:t>
            </a:r>
            <a:r>
              <a:rPr lang="zh-CN" sz="2400" b="1" spc="150">
                <a:solidFill>
                  <a:srgbClr val="FFFFFF"/>
                </a:solidFill>
                <a:latin typeface="Microsoft YaHei"/>
                <a:ea typeface="Microsoft YaHei"/>
              </a:rPr>
              <a:t>总结与心得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239250" y="266700"/>
            <a:ext cx="257175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410700" y="3238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dsh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）实践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81000" y="1104900"/>
            <a:ext cx="5619750" cy="20764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8650" y="13144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23900" y="1390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43000" y="13811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数学收获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28650" y="1847850"/>
            <a:ext cx="5124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母函数法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把组合求和变成生成函数的系数，一举证出离散矩恒等式；再配合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Peano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余项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Taylor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展开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，「引理筛项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展开供料」是处理差商型极限的通用套路。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191250" y="1104900"/>
            <a:ext cx="5619750" cy="20764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438900" y="13144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534150" y="1390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词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953250" y="13811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提示词心得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847850"/>
            <a:ext cx="5124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角色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硬性要求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输出格式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三要素缺一不可；最关键的是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指定证明路线（引理先行）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并要求代码验证——模型不再自由发挥，产出结构清晰、可逐段核对。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381000" y="3333750"/>
            <a:ext cx="5619750" cy="20764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28650" y="35433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23900" y="36195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码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43000" y="36099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代码验证的价值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28650" y="4076700"/>
            <a:ext cx="5124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数值实验让抽象证明「看得见」：三个案例的比值随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x→0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精确收敛到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f^(n)(0)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；而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4A5568"/>
                </a:solidFill>
                <a:latin typeface="Microsoft YaHei"/>
                <a:ea typeface="Microsoft YaHei"/>
              </a:rPr>
              <a:t>sin x</a:t>
            </a: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500" b="1">
                <a:solidFill>
                  <a:srgbClr val="4A5568"/>
                </a:solidFill>
                <a:latin typeface="Microsoft YaHei"/>
                <a:ea typeface="Microsoft YaHei"/>
              </a:rPr>
              <a:t>n=4</a:t>
            </a: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）恒为</a:t>
            </a:r>
            <a:r>
              <a:rPr lang="en-US" sz="1500" b="1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的退化例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提醒我们——验证案例必须精心挑选，避免「假验证」。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191250" y="3333750"/>
            <a:ext cx="5619750" cy="20764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438900" y="35433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534150" y="36195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器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953250" y="36099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工具使用体会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438900" y="4076700"/>
            <a:ext cx="5124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dsh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把「提问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推导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验证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整理」串成完整闭环：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负责给出草稿与计算，人负责选题、把关与验证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，二者结合才是高效且可靠的学习方式。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1000" y="5562600"/>
            <a:ext cx="11430000" cy="647700"/>
          </a:xfrm>
          <a:prstGeom prst="roundRect">
            <a:avLst>
              <a:gd name="adj" fmla="val 1764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800350" y="5762625"/>
            <a:ext cx="6600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一句话总结：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好问题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好提示词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独立验证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= AI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时代的正确做题姿势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DeepSeek Harness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0" y="133350"/>
            <a:ext cx="12192000" cy="38100"/>
          </a:xfrm>
          <a:prstGeom prst="rect">
            <a:avLst/>
          </a:prstGeom>
          <a:solidFill>
            <a:srgbClr val="1E4FA8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0" y="3619500"/>
            <a:ext cx="4000500" cy="3238500"/>
          </a:xfrm>
          <a:custGeom>
            <a:pathLst>
              <a:path w="420" h="340">
                <a:moveTo>
                  <a:pt x="0" y="0"/>
                </a:moveTo>
                <a:lnTo>
                  <a:pt x="160" y="0"/>
                </a:lnTo>
                <a:cubicBezTo>
                  <a:pt x="303" y="0"/>
                  <a:pt x="420" y="117"/>
                  <a:pt x="420" y="260"/>
                </a:cubicBezTo>
                <a:lnTo>
                  <a:pt x="420" y="340"/>
                </a:lnTo>
                <a:lnTo>
                  <a:pt x="420" y="340"/>
                </a:lnTo>
                <a:lnTo>
                  <a:pt x="0" y="340"/>
                </a:lnTo>
                <a:lnTo>
                  <a:pt x="0" y="3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FF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334000" y="1619250"/>
            <a:ext cx="1533525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600700" y="1695450"/>
            <a:ext cx="1000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1E4FA8"/>
                </a:solidFill>
                <a:latin typeface="Microsoft YaHei"/>
                <a:ea typeface="Microsoft YaHei"/>
              </a:rPr>
              <a:t>THANKS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762500" y="2247900"/>
            <a:ext cx="2667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0E3F8C"/>
                </a:solidFill>
                <a:latin typeface="Microsoft YaHei"/>
                <a:ea typeface="Microsoft YaHei"/>
              </a:rPr>
              <a:t>谢谢聆听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524500" y="32289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67150" y="3476625"/>
            <a:ext cx="4457700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原题及来源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提示词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代码（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verify.py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）·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本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四项材料已随作业一并提交，欢迎批评指正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43000" y="6448425"/>
            <a:ext cx="4371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dsh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）数学实践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高等数学课程作业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134475" y="6448425"/>
            <a:ext cx="1914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11 / 11 · 2026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年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2026-10-18T14:15:01Z</dcterms:created>
  <dcterms:modified xsi:type="dcterms:W3CDTF">2026-10-18T14:15:01Z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{"AIGC":{"Label":"1","ContentProducer":"00119111010856365494821B355","ProduceID":"01a14aa08953773a86f56d8cce1adcf0","ReservedCode1":"","ContentPropagator":"00119111010856365494821B355","PropagateID":"01a14aa08953773a86f56d8cce1adcf0","ReservedCode2":""}}</vt:lpwstr>
  </property>
</Properties>
</file>