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18872" cy="137160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129844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2026 年普通高等学校招生全国统一考试（新高考Ⅰ卷 · 全国一卷）</a:t>
            </a:r>
            <a:endParaRPr sz="1550" b="1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755648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数学第 19 题（压轴题）解析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新定义集合 D(x</a:t>
            </a:r>
            <a:r>
              <a:rPr sz="1430" b="0" i="0" baseline="-2500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2100" b="0" i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) 与抽象函数的单调性</a:t>
            </a:r>
            <a:endParaRPr sz="2100" b="0" i="0">
              <a:solidFill>
                <a:srgbClr val="D9E6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0432" y="3584448"/>
            <a:ext cx="2834640" cy="41148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143000" y="3977639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80744" y="41422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4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0744" y="44622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FE0EF"/>
                </a:solidFill>
                <a:latin typeface="微软雅黑" panose="020B0503020204020204" charset="-122"/>
                <a:ea typeface="微软雅黑" panose="020B0503020204020204" charset="-122"/>
              </a:rPr>
              <a:t>翻译定义 · 解不等式</a:t>
            </a:r>
            <a:endParaRPr sz="1250" b="0" i="0">
              <a:solidFill>
                <a:srgbClr val="CFE0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3977639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09744" y="41422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(2) 问</a:t>
            </a:r>
            <a:endParaRPr sz="14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9744" y="44622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FE0EF"/>
                </a:solidFill>
                <a:latin typeface="微软雅黑" panose="020B0503020204020204" charset="-122"/>
                <a:ea typeface="微软雅黑" panose="020B0503020204020204" charset="-122"/>
              </a:rPr>
              <a:t>分段求 D · 分类讨论</a:t>
            </a:r>
            <a:endParaRPr sz="1250" b="0" i="0">
              <a:solidFill>
                <a:srgbClr val="CFE0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01000" y="3977639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38744" y="41422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</a:t>
            </a:r>
            <a:endParaRPr sz="14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38744" y="44622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CFE0EF"/>
                </a:solidFill>
                <a:latin typeface="微软雅黑" panose="020B0503020204020204" charset="-122"/>
                <a:ea typeface="微软雅黑" panose="020B0503020204020204" charset="-122"/>
              </a:rPr>
              <a:t>反证 · 构造 · 递增</a:t>
            </a:r>
            <a:endParaRPr sz="1250" b="0" i="0">
              <a:solidFill>
                <a:srgbClr val="CFE0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53949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结论速览：</a:t>
            </a:r>
            <a:r>
              <a:rPr sz="1350" b="0" i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D(−1) = (0, 3/2)；D(x</a:t>
            </a:r>
            <a:r>
              <a:rPr sz="920" b="0" i="0" baseline="-2500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) ⊆ D(x</a:t>
            </a:r>
            <a:r>
              <a:rPr sz="920" b="0" i="0" baseline="-2500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</a:rPr>
              <a:t>)；f(0) ≥ 1，且 f 在 (0, +∞) 上严格递增。</a:t>
            </a:r>
            <a:endParaRPr sz="1350" b="0" i="0">
              <a:solidFill>
                <a:srgbClr val="D9E6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条件 ①② 的完整刻画：f(0) ≥ 1，且 f 在 (0, +∞) 上取值非正、严格递增。</a:t>
            </a:r>
            <a:endParaRPr sz="1250" b="0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02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68580" cy="676656"/>
          </a:xfrm>
          <a:prstGeom prst="roundRect">
            <a:avLst>
              <a:gd name="adj" fmla="val 4054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5636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15087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原题呈现与题目信息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15727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题面、三问结构、考点定位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221992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66928" y="2221992"/>
            <a:ext cx="68580" cy="676656"/>
          </a:xfrm>
          <a:prstGeom prst="roundRect">
            <a:avLst>
              <a:gd name="adj" fmla="val 4054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231343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定义翻译：D(x</a:t>
            </a:r>
            <a:r>
              <a:rPr sz="105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) 到底是什么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把新定义换成“函数值变大”的语言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3026664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66928" y="3026664"/>
            <a:ext cx="68580" cy="676656"/>
          </a:xfrm>
          <a:prstGeom prst="roundRect">
            <a:avLst>
              <a:gd name="adj" fmla="val 4054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1729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31181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(1) 问：分段函数求 D(−1)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0" y="31821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直接翻译 + 解两个不等式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" y="3831336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6928" y="3831336"/>
            <a:ext cx="68580" cy="676656"/>
          </a:xfrm>
          <a:prstGeom prst="roundRect">
            <a:avLst>
              <a:gd name="adj" fmla="val 4054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3977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39227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(2) 问：奇函数与集合包含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398678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求解析式 → 三段 D(x</a:t>
            </a:r>
            <a:r>
              <a:rPr sz="8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→ 分类讨论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6928" y="4636008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66928" y="4636008"/>
            <a:ext cx="68580" cy="676656"/>
          </a:xfrm>
          <a:prstGeom prst="roundRect">
            <a:avLst>
              <a:gd name="adj" fmla="val 4054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478231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472744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(3) 问：两条条件推出的必然结论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0" y="479145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反证 f(0) ≥ 1；三步证明 (0,+∞) 上递增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" y="544068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66928" y="5440680"/>
            <a:ext cx="68580" cy="676656"/>
          </a:xfrm>
          <a:prstGeom prst="roundRect">
            <a:avLst>
              <a:gd name="adj" fmla="val 4054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558698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7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532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完整刻画、数值校验与方法提炼</a:t>
            </a:r>
            <a:endParaRPr sz="15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75120" y="559612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充要条件 · 数值校验 · 易错清单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原题呈现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第 19 题（解答题，17 分）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03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已知函数 </a:t>
            </a:r>
            <a:r>
              <a:rPr sz="1450" b="0" i="1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的定义域为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R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，且当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 &lt; 0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时，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= 2</a:t>
            </a:r>
            <a:r>
              <a:rPr sz="98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。对任意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∈ R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，定义集合</a:t>
            </a:r>
            <a:endParaRPr sz="14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0" descr="m_5332ccab81373d1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499" y="1993392"/>
            <a:ext cx="4690241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2542032"/>
            <a:ext cx="104698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4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（1）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若当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 ≥ 0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时，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= 1 − x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，求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D(−1)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4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4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（2）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若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是奇函数，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≤ f(x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，且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≠ 0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，证明：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⊆ D(x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4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4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（3）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设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满足：</a:t>
            </a:r>
            <a:r>
              <a:rPr sz="14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若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≤ f(x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，则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⊆ D(x</a:t>
            </a:r>
            <a:r>
              <a:rPr sz="9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sz="14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当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 &lt; x &lt; 1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时，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&lt; f(0)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。证明：</a:t>
            </a:r>
            <a:endParaRPr sz="14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　　（i）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f(0) ≥ 1</a:t>
            </a:r>
            <a:r>
              <a:rPr sz="14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；　（ii）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在区间 </a:t>
            </a:r>
            <a:r>
              <a:rPr sz="14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(0, +∞)</a:t>
            </a:r>
            <a:r>
              <a:rPr sz="14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上单调递增。</a:t>
            </a:r>
            <a:endParaRPr sz="14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5376672" cy="1691640"/>
          </a:xfrm>
          <a:prstGeom prst="roundRect">
            <a:avLst>
              <a:gd name="adj" fmla="val 4324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命题特点</a:t>
            </a:r>
            <a:endParaRPr sz="1350" b="1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50292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新定义（集合 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)）+ 抽象函数，属“现场学习”型压轴题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第 (1) 问送分，第 (2) 问需分类讨论，第 (3) 问以反证与构造为主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54496" y="4526280"/>
            <a:ext cx="5376672" cy="1691640"/>
          </a:xfrm>
          <a:prstGeom prst="roundRect">
            <a:avLst>
              <a:gd name="adj" fmla="val 4324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28816" y="46817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答题要求</a:t>
            </a:r>
            <a:endParaRPr sz="13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8816" y="50292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写出文字说明、证明过程或演算步骤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结论必须落在“集合包含 / 函数值比较 / 单调性”的规范表述上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题目信息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题目出处、三问结构与考点定位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04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1188720"/>
          </a:xfrm>
          <a:prstGeom prst="roundRect">
            <a:avLst>
              <a:gd name="adj" fmla="val 6153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出处：</a:t>
            </a:r>
            <a:r>
              <a:rPr sz="14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2026 年普通高等学校招生全国统一考试（新高考全国Ⅰ卷）数学，解答题第 19 题，17 分。</a:t>
            </a:r>
            <a:endParaRPr sz="14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定位：</a:t>
            </a:r>
            <a:r>
              <a:rPr sz="14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全卷最后一题（压轴），新定义 + 抽象函数，第 (1) 问具体、第 (2) 问分类、第 (3) 问以反证与构造为主。</a:t>
            </a:r>
            <a:endParaRPr sz="14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697480"/>
            <a:ext cx="11064240" cy="1060704"/>
          </a:xfrm>
          <a:prstGeom prst="roundRect">
            <a:avLst>
              <a:gd name="adj" fmla="val 6896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2697480"/>
            <a:ext cx="77724" cy="1060704"/>
          </a:xfrm>
          <a:prstGeom prst="roundRect">
            <a:avLst>
              <a:gd name="adj" fmla="val 2586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82549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3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具体分段函数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40" y="2807208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f(x)=2</a:t>
            </a:r>
            <a:r>
              <a:rPr sz="78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(x&lt;0)，f(x)=1−x (x≥0)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3264408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把定义翻译成不等式，求 D(−1)</a:t>
            </a:r>
            <a:endParaRPr sz="1150" b="0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5440" y="30083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约 4 分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3813048"/>
            <a:ext cx="11064240" cy="1060704"/>
          </a:xfrm>
          <a:prstGeom prst="roundRect">
            <a:avLst>
              <a:gd name="adj" fmla="val 6896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66928" y="3813048"/>
            <a:ext cx="77724" cy="1060704"/>
          </a:xfrm>
          <a:prstGeom prst="roundRect">
            <a:avLst>
              <a:gd name="adj" fmla="val 258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3941063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第 (2) 问</a:t>
            </a:r>
            <a:endParaRPr sz="13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28853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奇函数 + 集合包含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4640" y="3922776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 为奇函数，f(x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≤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且 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≠ 0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34640" y="4379976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求出三段 D(x</a:t>
            </a:r>
            <a:r>
              <a:rPr sz="780" b="0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)，分类讨论验证包含</a:t>
            </a:r>
            <a:endParaRPr sz="1150" b="0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35440" y="41239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约 6 分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4928616"/>
            <a:ext cx="11064240" cy="1060704"/>
          </a:xfrm>
          <a:prstGeom prst="roundRect">
            <a:avLst>
              <a:gd name="adj" fmla="val 6896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6928" y="4928616"/>
            <a:ext cx="77724" cy="1060704"/>
          </a:xfrm>
          <a:prstGeom prst="roundRect">
            <a:avLst>
              <a:gd name="adj" fmla="val 2586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056631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</a:t>
            </a:r>
            <a:endParaRPr sz="13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540410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两条公理式条件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34640" y="5038344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①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≤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⇒ D(x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⊆ D(x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)；② 0&lt;x&lt;1 ⇒ f(x)&lt;f(0)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34640" y="5495544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反证 f(0) ≥ 1；构造证明 (0,+∞) 上递增</a:t>
            </a:r>
            <a:endParaRPr sz="1150" b="0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35440" y="523951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约 7 分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605332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考点：集合语言与函数值比较、分段函数与奇偶性、分类讨论、反证法与构造法、单调性的集合刻画。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定义翻译（关键一步）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把新定义翻译成“函数值变大”的语言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05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1024128"/>
          </a:xfrm>
          <a:prstGeom prst="roundRect">
            <a:avLst>
              <a:gd name="adj" fmla="val 7142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m_b2e97bb07d73284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4300" y="1481328"/>
            <a:ext cx="4458639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1938528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一句话：D(x</a:t>
            </a:r>
            <a:r>
              <a:rPr sz="885" b="0" i="0" baseline="-2500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300" b="0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) 就是“使函数值变大的增量 d”的集合；把 d 换成终点 y = x</a:t>
            </a:r>
            <a:r>
              <a:rPr sz="885" b="0" i="0" baseline="-2500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300" b="0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 + d，就得到</a:t>
            </a:r>
            <a:endParaRPr sz="1300" b="0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2395728"/>
            <a:ext cx="3520440" cy="2788920"/>
          </a:xfrm>
          <a:prstGeom prst="roundRect">
            <a:avLst>
              <a:gd name="adj" fmla="val 2622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3520440" cy="402336"/>
          </a:xfrm>
          <a:prstGeom prst="roundRect">
            <a:avLst>
              <a:gd name="adj" fmla="val 18181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2688336"/>
            <a:ext cx="3520440" cy="109728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24688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 翻译定义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" y="292608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∈ D(x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⇔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+d) &gt;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令 y = 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+ d，则：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    y − 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D(x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⇔ f(y) &gt;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于是“集合的成员关系”与“函数值的大小关系”可以自由互换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06824" y="2395728"/>
            <a:ext cx="3520440" cy="2788920"/>
          </a:xfrm>
          <a:prstGeom prst="roundRect">
            <a:avLst>
              <a:gd name="adj" fmla="val 2622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306824" y="2395728"/>
            <a:ext cx="3520440" cy="402336"/>
          </a:xfrm>
          <a:prstGeom prst="roundRect">
            <a:avLst>
              <a:gd name="adj" fmla="val 18181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06824" y="2688336"/>
            <a:ext cx="3520440" cy="10972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07992" y="24688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 翻译条件①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7992" y="292608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f(u) ≤ f(v) ⇒ D(v) ⊆ D(u)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函数值越大，允许的“上升方向集合”反而越小 —— D 随函数值单调递减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实践中的唯一用法：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    f(u) ≤ f(v) 且 f(t) &gt; f(v) ⇒ f(u + t − v) &gt; f(u)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46719" y="2395728"/>
            <a:ext cx="3520440" cy="2788920"/>
          </a:xfrm>
          <a:prstGeom prst="roundRect">
            <a:avLst>
              <a:gd name="adj" fmla="val 2622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046719" y="2395728"/>
            <a:ext cx="3520440" cy="402336"/>
          </a:xfrm>
          <a:prstGeom prst="roundRect">
            <a:avLst>
              <a:gd name="adj" fmla="val 1818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6719" y="2688336"/>
            <a:ext cx="352044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47888" y="24688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 翻译条件②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47888" y="292608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0 &lt; x &lt; 1 ⇒ f(x) &lt; f(0)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区间 (0,1) 上的函数值被 f(0) 严格压住，是后面反证的“雷区”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配合 (3)(i) 的结论 f(0) ≥ 1，可得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    0 &lt; x &lt; 1 ⇒ f(x) &lt; 0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349240"/>
            <a:ext cx="11064240" cy="841248"/>
          </a:xfrm>
          <a:prstGeom prst="roundRect">
            <a:avLst>
              <a:gd name="adj" fmla="val 8695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0469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因此全题的“总钥匙”是：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要证 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8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&gt; f(x</a:t>
            </a:r>
            <a:r>
              <a:rPr sz="8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，只需证 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8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− x</a:t>
            </a:r>
            <a:r>
              <a:rPr sz="8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∈ D(x</a:t>
            </a:r>
            <a:r>
              <a:rPr sz="88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；要使用条件 ①，就把“包含”展开成“对每个 t 的不等式”。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解题路线图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三问三步，层层加码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06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53312"/>
            <a:ext cx="11064240" cy="1097280"/>
          </a:xfrm>
          <a:prstGeom prst="roundRect">
            <a:avLst>
              <a:gd name="adj" fmla="val 6666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77724" cy="1097280"/>
          </a:xfrm>
          <a:prstGeom prst="roundRect">
            <a:avLst>
              <a:gd name="adj" fmla="val 25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472184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4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翻译 + 解不等式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7560" y="1481328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D(−1) = { d : f(d − 1) &gt; ½ }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560" y="1764792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按 d &lt; 1 与 d ≥ 1 分两段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37560" y="2048256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得 D(−1) = (0, 3/2)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11064240" cy="1097280"/>
          </a:xfrm>
          <a:prstGeom prst="roundRect">
            <a:avLst>
              <a:gd name="adj" fmla="val 6666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6928" y="2578608"/>
            <a:ext cx="77724" cy="1097280"/>
          </a:xfrm>
          <a:prstGeom prst="roundRect">
            <a:avLst>
              <a:gd name="adj" fmla="val 25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269748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(2) 问</a:t>
            </a:r>
            <a:endParaRPr sz="14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05409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求解析式 + 分类讨论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37560" y="2706624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奇函数 ⇒ f(0) = 0，x &gt; 0 时 f(x) = −2</a:t>
            </a:r>
            <a:r>
              <a:rPr sz="8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-x</a:t>
            </a:r>
            <a:endParaRPr sz="850" b="0" i="0" baseline="3000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37560" y="2990088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分三段写出 D(x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的表达式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37560" y="3273552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按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、x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的符号分三类验证包含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3803904"/>
            <a:ext cx="11064240" cy="1097280"/>
          </a:xfrm>
          <a:prstGeom prst="roundRect">
            <a:avLst>
              <a:gd name="adj" fmla="val 6666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66928" y="3803904"/>
            <a:ext cx="77724" cy="1097280"/>
          </a:xfrm>
          <a:prstGeom prst="roundRect">
            <a:avLst>
              <a:gd name="adj" fmla="val 25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922776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(i)</a:t>
            </a:r>
            <a:endParaRPr sz="145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42793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反证 + 用一次条件①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37560" y="3931920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假设 f(0) &lt; 1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7560" y="4215383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找 p ∈ (−1,0) 使 2</a:t>
            </a:r>
            <a:r>
              <a:rPr sz="8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&gt; f(0)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37560" y="4498848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得 (0, −p) ⊆ D(0)，与条件②矛盾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11064240" cy="1097280"/>
          </a:xfrm>
          <a:prstGeom prst="roundRect">
            <a:avLst>
              <a:gd name="adj" fmla="val 6666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77724" cy="1097280"/>
          </a:xfrm>
          <a:prstGeom prst="roundRect">
            <a:avLst>
              <a:gd name="adj" fmla="val 25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514807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</a:t>
            </a:r>
            <a:endParaRPr sz="14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两步铺垫 + 一步收口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37560" y="5157216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先证 (0,1) 上 f ≤ 0，再证 (0,+∞) 上 f ≤ 0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37560" y="5440679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于是 D(u) = (0, −u]（u &lt; 0）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37560" y="5724144"/>
            <a:ext cx="8092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由 ① 得 (0,+∞) ⊆ D(v) ⇒ f 严格递增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直接翻译定义，解两个不等式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07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此时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= 2</a:t>
            </a:r>
            <a:r>
              <a:rPr sz="92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(x &lt; 0)，f(x) = 1 − x (x ≥ 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，所以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f(−1) = 2</a:t>
            </a:r>
            <a:r>
              <a:rPr sz="92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-1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= ½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按定义：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D(−1) = { d : f(−1 + d) &gt; f(−1) } = { d : f(d − 1) &gt; ½ }，令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t = d − 1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，分两段讨论。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450592"/>
            <a:ext cx="5376672" cy="1874519"/>
          </a:xfrm>
          <a:prstGeom prst="roundRect">
            <a:avLst>
              <a:gd name="adj" fmla="val 3902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57860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当 t &lt; 0（即 d &lt; 1）</a:t>
            </a:r>
            <a:endParaRPr sz="13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 descr="m_97344b8685c0e2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944368"/>
            <a:ext cx="3538617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345643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此时函数值为正、且严格递增，所以超过 ½ 的部分是 t ∈ (−1, 0)，对应 d ∈ (0, 1)。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54496" y="2450592"/>
            <a:ext cx="5376672" cy="1874519"/>
          </a:xfrm>
          <a:prstGeom prst="roundRect">
            <a:avLst>
              <a:gd name="adj" fmla="val 3902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28816" y="257860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当 t ≥ 0（即 d ≥ 1）</a:t>
            </a:r>
            <a:endParaRPr sz="13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m_2261d34c7fc230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944368"/>
            <a:ext cx="3738381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8816" y="345643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此时函数值为 1 − t，随 t 递减，故 t ∈ [0, ½)，对应 d ∈ [1, 3/2)。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4498848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8" y="46177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两段合并</a:t>
            </a:r>
            <a:endParaRPr sz="1400" b="1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m_2c41b9f2c943dc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56048"/>
            <a:ext cx="4699118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0" y="4663440"/>
            <a:ext cx="44805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端点核对：</a:t>
            </a:r>
            <a:endParaRPr sz="1200" b="1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= 1：f(0) = 1 &gt; ½，</a:t>
            </a:r>
            <a:r>
              <a:rPr sz="11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取得到</a:t>
            </a:r>
            <a:endParaRPr sz="11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= 3/2：f(½) = ½，不满足严格大于，</a:t>
            </a:r>
            <a:r>
              <a:rPr sz="11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取不到</a:t>
            </a:r>
            <a:endParaRPr sz="115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数值复核：1e−5 步长扫描得 (0.00001, 1.49999)，与解析解一致 ✓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(1) 问 · 几何直观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“看得见”的 D(−1)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08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fig1_Dminus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4579"/>
            <a:ext cx="5806440" cy="412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37160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78040" y="151790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读图三步</a:t>
            </a:r>
            <a:endParaRPr sz="14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883664"/>
            <a:ext cx="42062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1.  先定位 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f(−1) = ½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：在图上作水平虚线 y = ½。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2.  再看哪些 x 让函数“高过”这条线：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      x ∈ (−1, ½)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3.  由 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y − 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∈ D(x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⇔ f(y) &gt; f(x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，把解集整体平移 +1 个单位，即得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3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      D(−1) = (0, 3/2)</a:t>
            </a:r>
            <a:endParaRPr sz="13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提示：D(x</a:t>
            </a:r>
            <a:r>
              <a:rPr sz="8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中的 d 可正可负。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在第 (2) 问里，负方向的 d 会大量出现（例如 D(1) 含 (−∞,−1]）。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(2) 问 · 第 1 步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奇函数延拓：先求解析式，再算三段 D(x</a:t>
            </a:r>
            <a:r>
              <a:rPr sz="1700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09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fig2_od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6472" y="1417320"/>
            <a:ext cx="3892296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325880"/>
            <a:ext cx="6720840" cy="1234440"/>
          </a:xfrm>
          <a:prstGeom prst="roundRect">
            <a:avLst>
              <a:gd name="adj" fmla="val 5925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444752"/>
            <a:ext cx="6263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 为奇函数，且 x &lt; 0 时 f(x) = 2</a:t>
            </a:r>
            <a:r>
              <a:rPr sz="88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▪  f(0) = 0；</a:t>
            </a:r>
            <a:endParaRPr sz="130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▪  当 x &gt; 0 时，f(x) = −f(−x) = −2</a:t>
            </a:r>
            <a:r>
              <a:rPr sz="88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-x</a:t>
            </a:r>
            <a:r>
              <a:rPr sz="13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，值域为 (−1, 0)。</a:t>
            </a:r>
            <a:endParaRPr sz="130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6720840" cy="1993392"/>
          </a:xfrm>
          <a:prstGeom prst="roundRect">
            <a:avLst>
              <a:gd name="adj" fmla="val 3669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代入定义，可得三段表达式（注意每段都要检查 d&lt;0、d=0、d&gt;0）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19125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1" i="0" baseline="-2500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 &lt;0</a:t>
            </a:r>
            <a:endParaRPr sz="1250" b="1" i="0">
              <a:solidFill>
                <a:srgbClr val="1F6F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m_58c6230471301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145536"/>
            <a:ext cx="2199695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3666744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1" i="0" baseline="-2500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 =0</a:t>
            </a:r>
            <a:endParaRPr sz="1250" b="1" i="0">
              <a:solidFill>
                <a:srgbClr val="1F6F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m_c9e6745b039980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621024"/>
            <a:ext cx="1963329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4142232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1" i="0" baseline="-2500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1" i="0">
                <a:solidFill>
                  <a:srgbClr val="1F6FB2"/>
                </a:solidFill>
                <a:latin typeface="微软雅黑" panose="020B0503020204020204" charset="-122"/>
                <a:ea typeface="微软雅黑" panose="020B0503020204020204" charset="-122"/>
              </a:rPr>
              <a:t> &gt;0</a:t>
            </a:r>
            <a:endParaRPr sz="1250" b="1" i="0">
              <a:solidFill>
                <a:srgbClr val="1F6F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m_04ec3548ebb3e0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096512"/>
            <a:ext cx="3996930" cy="31089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52360" y="4297680"/>
            <a:ext cx="4160520" cy="1783080"/>
          </a:xfrm>
          <a:prstGeom prst="roundRect">
            <a:avLst>
              <a:gd name="adj" fmla="val 4102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26679" y="442569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关键提醒</a:t>
            </a:r>
            <a:endParaRPr sz="13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26679" y="4754880"/>
            <a:ext cx="36576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 在 (−∞,0) 与 (0,+∞) 上分别递增，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但在 R 上并不单调：f(−½) = 0.71 &gt; f(0) = 0。</a:t>
            </a:r>
            <a:endParaRPr sz="115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所以不能“一步到位”地用单调性，必须分类讨论 —— 这也正是题设 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≠ 0 的用意。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(2) 问 · 第 2 步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三类情形逐一验证 D(x</a:t>
            </a:r>
            <a:r>
              <a:rPr sz="1700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) ⊆ D(x</a:t>
            </a:r>
            <a:r>
              <a:rPr sz="1700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53312"/>
            <a:ext cx="11064240" cy="786384"/>
          </a:xfrm>
          <a:prstGeom prst="roundRect">
            <a:avLst>
              <a:gd name="adj" fmla="val 813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73152" cy="786384"/>
          </a:xfrm>
          <a:prstGeom prst="roundRect">
            <a:avLst>
              <a:gd name="adj" fmla="val 3488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49961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情形 ①</a:t>
            </a:r>
            <a:endParaRPr sz="13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8840" y="149961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 ≤ 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 &lt; 0</a:t>
            </a:r>
            <a:endParaRPr sz="13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9080" y="1536192"/>
            <a:ext cx="7360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= (0, −x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⊆ (0, −x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= 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267712"/>
            <a:ext cx="11064240" cy="786384"/>
          </a:xfrm>
          <a:prstGeom prst="roundRect">
            <a:avLst>
              <a:gd name="adj" fmla="val 813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66928" y="2267712"/>
            <a:ext cx="73152" cy="786384"/>
          </a:xfrm>
          <a:prstGeom prst="roundRect">
            <a:avLst>
              <a:gd name="adj" fmla="val 3488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41401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情形 ②</a:t>
            </a:r>
            <a:endParaRPr sz="13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8840" y="241401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0 &lt; 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 ≤ 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885" b="1" i="0" baseline="-2500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69080" y="2450592"/>
            <a:ext cx="7360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= (−∞, −x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] ∪ (0, ∞) ⊆ (−∞, −x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] ∪ (0, ∞) = 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3182112"/>
            <a:ext cx="11064240" cy="932688"/>
          </a:xfrm>
          <a:prstGeom prst="roundRect">
            <a:avLst>
              <a:gd name="adj" fmla="val 6862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66928" y="3182112"/>
            <a:ext cx="73152" cy="932688"/>
          </a:xfrm>
          <a:prstGeom prst="roundRect">
            <a:avLst>
              <a:gd name="adj" fmla="val 2941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332841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情形 ③</a:t>
            </a:r>
            <a:endParaRPr sz="13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8840" y="332841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 &lt; 0 &lt; 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885" b="1" i="0" baseline="-2500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69080" y="3273552"/>
            <a:ext cx="7360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0 ⟹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&gt; 0；x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&gt; 0 ⟹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&lt; 0，故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&gt;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自动成立；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3566160"/>
            <a:ext cx="7360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而 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= (0, −x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⊆ (0, ∞) ⊆ D(x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4242816"/>
            <a:ext cx="11064240" cy="786384"/>
          </a:xfrm>
          <a:prstGeom prst="roundRect">
            <a:avLst>
              <a:gd name="adj" fmla="val 8139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6928" y="4242816"/>
            <a:ext cx="73152" cy="786384"/>
          </a:xfrm>
          <a:prstGeom prst="roundRect">
            <a:avLst>
              <a:gd name="adj" fmla="val 3488"/>
            </a:avLst>
          </a:prstGeom>
          <a:solidFill>
            <a:srgbClr val="6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438912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不需讨论</a:t>
            </a:r>
            <a:endParaRPr sz="1300" b="1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48840" y="438912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 &lt; 0 &lt; x</a:t>
            </a:r>
            <a:r>
              <a:rPr sz="885" b="1" i="0" baseline="-2500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885" b="1" i="0" baseline="-2500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69080" y="4425696"/>
            <a:ext cx="7360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此时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&gt; 0 &gt;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)，与题设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≤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矛盾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6928" y="4956048"/>
            <a:ext cx="11064240" cy="1207008"/>
          </a:xfrm>
          <a:prstGeom prst="roundRect">
            <a:avLst>
              <a:gd name="adj" fmla="val 606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5065776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为什么 x</a:t>
            </a:r>
            <a:r>
              <a:rPr sz="885" b="1" i="0" baseline="-2500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85" b="1" i="0" baseline="-2500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 ≠ 0 不可省？</a:t>
            </a:r>
            <a:endParaRPr sz="13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5376672"/>
            <a:ext cx="10469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取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= 0 &lt;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：则 f(x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&lt; 0 = f(0) 满足前提，但 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D(0) = (−∞, 0) ⊄ (−∞, −x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] ∪ (0, +∞) = D(x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—— 反例 d = −x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/2 ∈ (−x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, 0)。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数值复核：在 321×2401 网格上，前提“f(x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≤ f(x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且 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≠ 0”成立的组合中，包含关系违例数为 0。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(i)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证明 f(0) ≥ 1：反证法 + 只用一次条件①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第 1 步（反设）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　假设 f(0) &lt; 1。</a:t>
            </a:r>
            <a:endParaRPr sz="135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1865376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2 步（找“高点”）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因为 </a:t>
            </a:r>
            <a:r>
              <a:rPr sz="1350" b="0" i="1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lim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x→0</a:t>
            </a:r>
            <a:r>
              <a:rPr sz="92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r>
              <a:rPr sz="92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= 1 &gt; f(0)，所以存在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p ∈ (−1, 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使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f(p) = 2</a:t>
            </a:r>
            <a:r>
              <a:rPr sz="92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p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&gt; f(0)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3 步（用一次条件①）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由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f(0) ≤ f(p)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得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D(p) ⊆ D(0)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10469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4 步（落进“雷区”）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任取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 ∈ (0, −p)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（注意 p ∈ (−1,0) ⇒ −p ∈ (0,1)）：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　由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p &lt; p + d &lt; 0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及 2</a:t>
            </a:r>
            <a:r>
              <a:rPr sz="92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在 (−∞,0) 上递增，得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f(p+d) = 2</a:t>
            </a:r>
            <a:r>
              <a:rPr sz="92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p+d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&gt; 2</a:t>
            </a:r>
            <a:r>
              <a:rPr sz="92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p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= f(p)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，即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 ∈ D(p) ⊆ D(0)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　于是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f(d) &gt; f(0)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；但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 &lt; d &lt; 1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，与条件②（f(x) &lt; f(0)）矛盾！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5138928"/>
            <a:ext cx="11064240" cy="1024128"/>
          </a:xfrm>
          <a:prstGeom prst="roundRect">
            <a:avLst>
              <a:gd name="adj" fmla="val 7142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5248656"/>
            <a:ext cx="10469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故假设不成立，</a:t>
            </a:r>
            <a:r>
              <a:rPr sz="140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f(0) ≥ 1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　（证毕）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要点：把 p 取在 (−1, 0) 内，是为了保证 −p ∈ (0,1)，让“反例点” d 一定落在条件②的射程 (0,1) 之内。</a:t>
            </a:r>
            <a:endParaRPr sz="1250" b="0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 · 总览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三步走：先“压住符号”，再“读集合”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对任意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 &lt;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&lt;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证明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&gt; 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。翻译成集合语言：只需证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−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∈ D(x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3520440" cy="1965960"/>
          </a:xfrm>
          <a:prstGeom prst="roundRect">
            <a:avLst>
              <a:gd name="adj" fmla="val 372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2395728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06624"/>
            <a:ext cx="352044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247802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 1 步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" y="292608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(0,1) 上 f ≤ 0</a:t>
            </a:r>
            <a:endParaRPr sz="14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反证 + f 在 (−∞,0) 上递增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把 −x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送进 D(a) 制造矛盾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06824" y="2395728"/>
            <a:ext cx="3520440" cy="1965960"/>
          </a:xfrm>
          <a:prstGeom prst="roundRect">
            <a:avLst>
              <a:gd name="adj" fmla="val 372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306824" y="2395728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06824" y="2706624"/>
            <a:ext cx="3520440" cy="109728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07992" y="247802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 2 步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7992" y="292608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(0,+∞) 上 f ≤ 0</a:t>
            </a:r>
            <a:endParaRPr sz="140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07992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取 m &lt; 0 使 2</a:t>
            </a:r>
            <a:r>
              <a:rPr sz="78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f(x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令 n = m − 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+ ½，把高点平移到 ½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6719" y="2395728"/>
            <a:ext cx="3520440" cy="1965960"/>
          </a:xfrm>
          <a:prstGeom prst="roundRect">
            <a:avLst>
              <a:gd name="adj" fmla="val 3720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046719" y="2395728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46719" y="2706624"/>
            <a:ext cx="3520440" cy="10972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47888" y="247802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 3 步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47888" y="292608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收口：f 严格递增</a:t>
            </a:r>
            <a:endParaRPr sz="14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47888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算出 D(u) = (0, −u]（u &lt; 0）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由 ① 得 (0,+∞) ⊆ D(v)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6928" y="4590288"/>
            <a:ext cx="11064240" cy="1572768"/>
          </a:xfrm>
          <a:prstGeom prst="roundRect">
            <a:avLst>
              <a:gd name="adj" fmla="val 4651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4700016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为什么必须绕这么大一圈？</a:t>
            </a:r>
            <a:endParaRPr sz="13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104698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抽象函数没有解析式，能用的只有两样东西：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 &lt; 0 时 f(x) = 2</a:t>
            </a:r>
            <a:r>
              <a:rPr sz="850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，以及条件 ①②；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条件① 是“函数值大小 ⇔ 集合包含”的桥梁，但它总是把结论推到“另一个点的函数值”上，所以需要先锁定符号（f ≤ 0），再让集合关系直接给出单调性。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 · 第 1 步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先证：(0,1) 上 f(x) ≤ 0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3794760"/>
          </a:xfrm>
          <a:prstGeom prst="roundRect">
            <a:avLst>
              <a:gd name="adj" fmla="val 1927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反设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存在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∈ (0,1)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使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&gt; 0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1920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19705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192938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取 a &lt; 0 使 f(a) = 2</a:t>
            </a:r>
            <a:r>
              <a:rPr sz="88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f(x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194767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（因 2</a:t>
            </a:r>
            <a:r>
              <a:rPr sz="780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→ 0，这样的 a 一定存在）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23957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446020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3312" y="2404872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由条件①得 D(x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⊆ D(a)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78040" y="242316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（x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= a 时 f(a) &lt; f(x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)，套用 ①）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28712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2921508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53312" y="288036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−x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D(x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8040" y="289864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（因为 f(x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+ (−x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)) = f(0) &gt; f(x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)，用了条件②）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3467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339699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53312" y="335584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于是 −x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D(a)，即 f(a − 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&gt; f(a) = 2</a:t>
            </a:r>
            <a:r>
              <a:rPr sz="88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885" b="0" i="0" baseline="3000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78040" y="337413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（D(x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⊆ D(a) 把成员关系传递过去）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3822191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3872483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53312" y="3831335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但 a − 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a &lt; 0，而 x &lt; 0 时 f(x) = 2</a:t>
            </a:r>
            <a:r>
              <a:rPr sz="88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严格递增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78040" y="384962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故 f(a − x</a:t>
            </a:r>
            <a:r>
              <a:rPr sz="78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= 2</a:t>
            </a:r>
            <a:r>
              <a:rPr sz="780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a − x1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&lt; 2</a:t>
            </a:r>
            <a:r>
              <a:rPr sz="780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，矛盾！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6928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5376672"/>
            <a:ext cx="10469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对一切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 ∈ (0,1)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都有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≤ 0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。（证毕）　（配合 (3)(i) 的 f(0) ≥ 1，这一步把 (0,1) 变成了一块“没有正值的雷区”。）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 · 第 2 步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再证：(0,+∞) 上 f(x) ≤ 0 —— 全题的“神来之笔”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6720840" cy="3063240"/>
          </a:xfrm>
          <a:prstGeom prst="roundRect">
            <a:avLst>
              <a:gd name="adj" fmla="val 2388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399032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反设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　存在 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&gt; 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使 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85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&gt; 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169164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（0 &lt; x</a:t>
            </a:r>
            <a:r>
              <a:rPr sz="75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&lt; 1 的情形已由第 1 步排除，故只需讨论 x</a:t>
            </a:r>
            <a:r>
              <a:rPr sz="750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≥ 1）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1248" y="208483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2130551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98448" y="207568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取 m &lt; 0 使 2</a:t>
            </a:r>
            <a:r>
              <a:rPr sz="81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f(x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15968" y="2093975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由 ①（f(m) ≤ f(x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)）得 D(x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⊆ D(m)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" y="2523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2569463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8448" y="251460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− m ∈ D(m)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5968" y="2532887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因为 f(m + (x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− m)) = f(x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) &gt; f(m)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1248" y="29626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3008375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8448" y="295351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取 n = m − 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+ ½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15968" y="2971799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≥ 1 &gt; ½ ⟹ n &lt; m ⟹ f(n) = 2</a:t>
            </a:r>
            <a:r>
              <a:rPr sz="715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&lt; 2</a:t>
            </a:r>
            <a:r>
              <a:rPr sz="715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= f(m)，再由 ① 得 D(m) ⊆ D(n)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1248" y="3401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3447287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98448" y="339242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故 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− m ∈ D(m) ⊆ D(n)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15968" y="3410711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代入得 f(n + x</a:t>
            </a:r>
            <a:r>
              <a:rPr sz="715" b="0" i="0" baseline="-25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− m) &gt; f(n) = 2</a:t>
            </a:r>
            <a:r>
              <a:rPr sz="715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&gt; 0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41248" y="384047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" y="3886199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98448" y="3831335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而 n + x</a:t>
            </a:r>
            <a:r>
              <a:rPr sz="8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− m = ½ ∈ (0,1)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15968" y="3849623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与第 1 步的 f(½) ≤ 0 矛盾！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1298448"/>
            <a:ext cx="4178808" cy="3063240"/>
          </a:xfrm>
          <a:prstGeom prst="roundRect">
            <a:avLst>
              <a:gd name="adj" fmla="val 2388"/>
            </a:avLst>
          </a:prstGeom>
          <a:solidFill>
            <a:srgbClr val="F7FAFD"/>
          </a:solidFill>
          <a:ln w="12700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80960" y="1408176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“同一个 d” 的平移示意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Picture 33" descr="fig3_shi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37095"/>
            <a:ext cx="3794760" cy="130928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3310128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 = x</a:t>
            </a:r>
            <a:r>
              <a:rPr sz="7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− m 同时把 m 送到 x</a:t>
            </a:r>
            <a:r>
              <a:rPr sz="71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0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、把 n 送到 ½：一次平移，两处落点。</a:t>
            </a:r>
            <a:endParaRPr sz="10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选 n 的方法并不神秘：先定 m，再要求 m + d ∈ (0,1)。</a:t>
            </a:r>
            <a:endParaRPr sz="10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66928" y="45262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68680" y="4645152"/>
            <a:ext cx="10469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0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一句话：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把 x</a:t>
            </a:r>
            <a:r>
              <a:rPr sz="885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处的“正值”沿同一个 d 平移，让它落在 ½ 处 —— 正好掉进条件②控制的 (0,1)。</a:t>
            </a:r>
            <a:endParaRPr sz="13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结论：对一切 x &gt; 0 都有 f(x) ≤ 0。</a:t>
            </a:r>
            <a:endParaRPr sz="13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这一步是全题唯一需要“主动构造”的地方：条件①只能搬动函数值，不能改变函数值，所以必须借助 x &lt; 0 上已知的 2</a:t>
            </a:r>
            <a:r>
              <a:rPr sz="780" b="0" i="0" baseline="3000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 作为“跳板”。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 · 第 3 步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收口：由“非正”读出单调递增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15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先算出 u &lt; 0 时的 D(u)</a:t>
            </a:r>
            <a:endParaRPr sz="13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1792224"/>
            <a:ext cx="5029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此时 f(u) = 2</a:t>
            </a:r>
            <a:r>
              <a:rPr sz="815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(0,1)，逐段检查增量 d：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≤ 0：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u+d ≤ u ⇒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u+d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≤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 ×</a:t>
            </a:r>
            <a:endParaRPr sz="1200" b="0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0 &lt; d &lt; −u：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u+d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&gt;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 ✓</a:t>
            </a:r>
            <a:endParaRPr sz="1200" b="0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= −u：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f(0) ≥ 1 &gt;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 ✓</a:t>
            </a:r>
            <a:endParaRPr sz="1200" b="0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d &gt; −u：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u+d &gt; 0 ⇒ f(u+d) ≤ 0 &lt;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 ×</a:t>
            </a:r>
            <a:endParaRPr sz="1200" b="0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⇒  D(u) = (0, −u]</a:t>
            </a:r>
            <a:endParaRPr sz="13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6208" y="13258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0528" y="14447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再用一次条件①（关键）</a:t>
            </a:r>
            <a:endParaRPr sz="13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1792224"/>
            <a:ext cx="489204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对任意 v &gt; 0 与任意 u &lt; 0：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f(v) ≤ 0 &lt; 2</a:t>
            </a:r>
            <a:r>
              <a:rPr sz="815" b="0" i="0" baseline="30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u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= f(u)</a:t>
            </a:r>
            <a:endParaRPr sz="120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由 ①（x</a:t>
            </a:r>
            <a:r>
              <a:rPr sz="81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= v, x</a:t>
            </a:r>
            <a:r>
              <a:rPr sz="815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= u）：D(u) ⊆ D(v)</a:t>
            </a:r>
            <a:endParaRPr sz="120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⇒ (0, −u] ⊆ D(v)</a:t>
            </a:r>
            <a:endParaRPr sz="1200" b="0" i="0">
              <a:solidFill>
                <a:srgbClr val="22303C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令 u → −∞（即 −u → +∞），得</a:t>
            </a:r>
            <a:endParaRPr sz="12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(0, +∞) ⊆ D(v)　对一切 v &gt; 0 成立</a:t>
            </a:r>
            <a:endParaRPr sz="130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收口：把“集合包含”翻译回“函数值”</a:t>
            </a:r>
            <a:endParaRPr sz="1400" b="1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334256"/>
            <a:ext cx="104698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任取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0 &lt;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&lt;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，则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 =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− 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&gt; 0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，由上一步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(0, +∞) ⊆ D(x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得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d ∈ D(x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即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 + d) = 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2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 &gt; f(x</a:t>
            </a:r>
            <a:r>
              <a:rPr sz="920" b="0" i="0" baseline="-2500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1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所以 f(x) 在区间 (0, +∞) 上单调递增。　（证毕）</a:t>
            </a:r>
            <a:endParaRPr sz="14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结构回顾：第 1 步得到 (0,1) 的“雷区” → 第 2 步把整个 (0,+∞) 压成非正 → 第 3 步让 D(u) = (0,−u] 与条件①合流，直接把“非正”升级为“严格递增”。</a:t>
            </a:r>
            <a:endParaRPr sz="12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结论升华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条件①②的“完整刻画”（充要条件）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10469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定理　</a:t>
            </a:r>
            <a:r>
              <a:rPr sz="14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在题设（f 定义域为 R，且 x &lt; 0 时 f(x) = 2</a:t>
            </a:r>
            <a:r>
              <a:rPr sz="9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4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）之下，下面两条等价：</a:t>
            </a:r>
            <a:endParaRPr sz="14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（A）f 满足条件 ① 与 ②；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（B）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f(0) ≥ 1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，且 </a:t>
            </a:r>
            <a:r>
              <a:rPr sz="1350" b="0" i="0">
                <a:solidFill>
                  <a:srgbClr val="22303C"/>
                </a:solidFill>
                <a:latin typeface="Cambria Math" panose="02040503050406030204"/>
                <a:ea typeface="微软雅黑" panose="020B0503020204020204" charset="-122"/>
              </a:rPr>
              <a:t>f(x) ≤ 0</a:t>
            </a:r>
            <a:r>
              <a:rPr sz="13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在 (0, +∞) 上恒成立、并在此区间上严格递增。</a:t>
            </a:r>
            <a:endParaRPr sz="13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8346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E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必要性（A ⇒ B）</a:t>
            </a:r>
            <a:endParaRPr sz="13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3273552"/>
            <a:ext cx="4983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f(0) ≥ 1 就是第 (3)(i) 问；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f ≤ 0 on (0,+∞) 由第 1、2 步给出；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严格递增就是第 (3)(ii)。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44768" y="28346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088" y="2944368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A5B00"/>
                </a:solidFill>
                <a:latin typeface="微软雅黑" panose="020B0503020204020204" charset="-122"/>
                <a:ea typeface="微软雅黑" panose="020B0503020204020204" charset="-122"/>
              </a:rPr>
              <a:t>充分性（B ⇒ A）</a:t>
            </a:r>
            <a:endParaRPr sz="1350" b="1" i="0">
              <a:solidFill>
                <a:srgbClr val="8A5B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3273552"/>
            <a:ext cx="4983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把三段 D(x</a:t>
            </a:r>
            <a:r>
              <a:rPr sz="78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的表达式代回条件①，按 u、v 的符号逐类验证即可（见第 9 页表达式）；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条件② 由 f(x) ≤ 0 &lt; 1 ≤ f(0) 立即成立。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fig4_famil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353" y="4462272"/>
            <a:ext cx="2852252" cy="187451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66928" y="4526280"/>
            <a:ext cx="6629400" cy="1828800"/>
          </a:xfrm>
          <a:prstGeom prst="roundRect">
            <a:avLst>
              <a:gd name="adj" fmla="val 4000"/>
            </a:avLst>
          </a:prstGeom>
          <a:solidFill>
            <a:srgbClr val="F1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4626864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例子与反例（数值实验佐证）</a:t>
            </a:r>
            <a:endParaRPr sz="13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" y="4956048"/>
            <a:ext cx="61264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正例：f(x) = 2</a:t>
            </a:r>
            <a:r>
              <a:rPr sz="78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(x&lt;0)，f(0) = 1，f(x) = −1/x (x&gt;0) 满足 ①②；在 201×201 网格上找不到反例。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▪  反例：f(x) = 1 − x (x ≥ 0) 不满足 ①；数值上给出的反例是 (u, v, d) = (−3, 0.8, −3)。</a:t>
            </a:r>
            <a:endParaRPr sz="11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▪  直观：① 既要求 (0,+∞) 上没有正值，也要求那里不能“平”不能“降”。</a:t>
            </a:r>
            <a:endParaRPr sz="11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数值校验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用数值实验给结论“上保险”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68580" cy="713232"/>
          </a:xfrm>
          <a:prstGeom prst="roundRect">
            <a:avLst>
              <a:gd name="adj" fmla="val 384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" y="14173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实验 1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14173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389888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解析解 (0, 3/2) 与 1e−5 步长扫描 (0.00001, 1.49999) 完全一致；端点 d = 1 在内、d = 3/2 不在内 ✓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09397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66928" y="2093976"/>
            <a:ext cx="68580" cy="713232"/>
          </a:xfrm>
          <a:prstGeom prst="roundRect">
            <a:avLst>
              <a:gd name="adj" fmla="val 384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" y="218541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实验 2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第 (2) 问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157984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三段 D(x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表达式在 2401 个格点上零不符；321×2401 网格上“f(x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≤ f(x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且 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≠ 0”的包含关系零违例；去掉 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≠ 0 立刻出现反例（x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= 1, x</a:t>
            </a:r>
            <a:r>
              <a:rPr sz="7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= 0, d = −0.995）✓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28620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66928" y="2862072"/>
            <a:ext cx="68580" cy="713232"/>
          </a:xfrm>
          <a:prstGeom prst="roundRect">
            <a:avLst>
              <a:gd name="adj" fmla="val 384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29535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实验 3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295351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条件①的筛选力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2926079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 = 1−x、f = 2</a:t>
            </a:r>
            <a:r>
              <a:rPr sz="7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−1、f = −x 三种候选都被 ① 抓到反例；只有 f = −1/x 通过 ✓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" y="363016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6928" y="3630168"/>
            <a:ext cx="68580" cy="713232"/>
          </a:xfrm>
          <a:prstGeom prst="roundRect">
            <a:avLst>
              <a:gd name="adj" fmla="val 384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8" y="37216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实验 4a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74519" y="3721607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充分性（B ⇒ A）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0" y="3694176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允许族随机取样 300 个（f(0)≥1，(0,+∞) 上递增且非正）→ 全部通过 ①② ✓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6928" y="439826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66928" y="4398264"/>
            <a:ext cx="68580" cy="713232"/>
          </a:xfrm>
          <a:prstGeom prst="roundRect">
            <a:avLst>
              <a:gd name="adj" fmla="val 3846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41248" y="4489703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E8449"/>
                </a:solidFill>
                <a:latin typeface="微软雅黑" panose="020B0503020204020204" charset="-122"/>
                <a:ea typeface="微软雅黑" panose="020B0503020204020204" charset="-122"/>
              </a:rPr>
              <a:t>实验 4b</a:t>
            </a:r>
            <a:endParaRPr sz="1250" b="1" i="0">
              <a:solidFill>
                <a:srgbClr val="1E84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74519" y="4489703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必要性（A ⇒ B）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74720" y="4462272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定向扰动 300×3 个 → 全部被 ① 抓住（正值凸起、下降段由网格抓；f(0)&lt;1 的 300 个由反证构造抓出）✓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" y="5166359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66928" y="5166359"/>
            <a:ext cx="68580" cy="713232"/>
          </a:xfrm>
          <a:prstGeom prst="roundRect">
            <a:avLst>
              <a:gd name="adj" fmla="val 3846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1248" y="5257799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实验 4c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874519" y="5257799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条件的强度</a:t>
            </a:r>
            <a:endParaRPr sz="125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74720" y="5230368"/>
            <a:ext cx="79552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3000 个随机分段线性函数中，同时通过 ①② 的有 0 个 —— 条件②+① 非常“紧”</a:t>
            </a:r>
            <a:endParaRPr sz="110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" y="5943600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说明：数值实验只对结论作“佐证”，不能代替第二至五页的严格证明；所有网格取样步长与样本量均记录在实验设置中。</a:t>
            </a:r>
            <a:endParaRPr sz="110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0467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80467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方法提炼</a:t>
            </a:r>
            <a:endParaRPr sz="12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12064"/>
            <a:ext cx="11155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可迁移的四条经验 + 易错清单</a:t>
            </a:r>
            <a:endParaRPr sz="25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129284"/>
            <a:ext cx="11064240" cy="12801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7A8A"/>
                </a:solidFill>
                <a:latin typeface="微软雅黑" panose="020B0503020204020204" charset="-122"/>
                <a:ea typeface="微软雅黑" panose="020B0503020204020204" charset="-122"/>
              </a:rPr>
              <a:t>2026 · 新课标全国Ⅰ卷 · 数学第 19 题（压轴题）解析</a:t>
            </a:r>
            <a:endParaRPr sz="950" b="0" i="0">
              <a:solidFill>
                <a:srgbClr val="6B7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2823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sz="11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5394960" cy="4069080"/>
          </a:xfrm>
          <a:prstGeom prst="roundRect">
            <a:avLst>
              <a:gd name="adj" fmla="val 1797"/>
            </a:avLst>
          </a:prstGeom>
          <a:solidFill>
            <a:srgbClr val="EA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微软雅黑" panose="020B0503020204020204" charset="-122"/>
                <a:ea typeface="微软雅黑" panose="020B0503020204020204" charset="-122"/>
              </a:rPr>
              <a:t>四条可迁移的经验</a:t>
            </a:r>
            <a:endParaRPr sz="1400" b="1" i="0">
              <a:solidFill>
                <a:srgbClr val="0F2C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1810512"/>
            <a:ext cx="48920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1.  新定义先“翻译”。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把 D(x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读成“让 f 变大的增量集合”，再用 y =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+ d 换元，就有 y −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D(x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⇔ f(y) &gt; f(x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2.  条件①只有一个套路。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f(u) ≤ f(v) 且 f(t) &gt; f(v) ⇒ f(u + t − v) &gt; f(u)；本质是“把高点平移过去仍是高点”。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3.  要证单调，就证“增量属于 D”。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−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∈ D(x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⇔ f(x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 &gt; f(x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)，把函数问题变成集合问题。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4.  抽象函数要“落到已知区域”。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全题唯一已知的解析式是 x &lt; 0 时的 2</a:t>
            </a:r>
            <a:r>
              <a:rPr sz="8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，所以所有构造（−x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、a −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、m、n = m − 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+ ½）都指向负半轴或 (0,1)。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6208" y="1325880"/>
            <a:ext cx="5394960" cy="4069080"/>
          </a:xfrm>
          <a:prstGeom prst="roundRect">
            <a:avLst>
              <a:gd name="adj" fmla="val 1797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0528" y="14447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易错清单</a:t>
            </a:r>
            <a:endParaRPr sz="14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1810512"/>
            <a:ext cx="48920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①  把“分段递增”当成“整体递增”。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奇函数延拓后 f(−½) = 0.71 &gt; f(0) = 0，必须分类讨论。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②  丢掉 x</a:t>
            </a:r>
            <a:r>
              <a:rPr sz="850" b="1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1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≠ 0。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= 0 时前提成立而结论失败（D(0) = (−∞,0) 不含 (−x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,0)）。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③  只考虑 d &gt; 0。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 &lt; 0 同样可以属于 D(x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)：第 (1) 问的 (0,1)、第 (2) 问的 (−∞,−x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] 都来自 d &lt; 0。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④  反证中的取值“越界”。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p 必须取在 (−1,0) 内（保证 −p ∈ (0,1)）；m 必须满足 2</a:t>
            </a:r>
            <a:r>
              <a:rPr sz="850" b="0" i="0" baseline="30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 &lt; f(x</a:t>
            </a:r>
            <a:r>
              <a:rPr sz="850" b="0" i="0" baseline="-2500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)。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1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⑤  忽略端点开闭。</a:t>
            </a:r>
            <a:r>
              <a:rPr sz="1250" b="0" i="0">
                <a:solidFill>
                  <a:srgbClr val="22303C"/>
                </a:solidFill>
                <a:latin typeface="微软雅黑" panose="020B0503020204020204" charset="-122"/>
                <a:ea typeface="微软雅黑" panose="020B0503020204020204" charset="-122"/>
              </a:rPr>
              <a:t>D(−1) = (0, 3/2)：d = 1 取得到，d = 3/2 取不到。</a:t>
            </a:r>
            <a:endParaRPr sz="1250" b="0" i="0">
              <a:solidFill>
                <a:srgbClr val="2230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F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18872" cy="91440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11430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一题三问，层层加码</a:t>
            </a:r>
            <a:endParaRPr sz="3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FE0EF"/>
                </a:solidFill>
                <a:latin typeface="微软雅黑" panose="020B0503020204020204" charset="-122"/>
                <a:ea typeface="微软雅黑" panose="020B0503020204020204" charset="-122"/>
              </a:rPr>
              <a:t>翻译定义 → 计算集合 → 分类讨论 → 反证取值 → 构造平移 → 归纳刻画</a:t>
            </a:r>
            <a:endParaRPr sz="1600" b="0" i="0">
              <a:solidFill>
                <a:srgbClr val="CFE0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61872" y="2633472"/>
            <a:ext cx="2377440" cy="36576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234440" y="3017520"/>
            <a:ext cx="9692640" cy="603504"/>
          </a:xfrm>
          <a:prstGeom prst="roundRect">
            <a:avLst>
              <a:gd name="adj" fmla="val 10606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44752" y="318211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(1) 问</a:t>
            </a:r>
            <a:endParaRPr sz="11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316382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D(−1) = (0, 3/2)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9320" y="3136391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分段函数：翻译定义 + 解两个不等式，端点开闭需逐一核对</a:t>
            </a:r>
            <a:endParaRPr sz="1050" b="0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34440" y="3675887"/>
            <a:ext cx="9692640" cy="603504"/>
          </a:xfrm>
          <a:prstGeom prst="roundRect">
            <a:avLst>
              <a:gd name="adj" fmla="val 10606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44752" y="3840479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(2) 问</a:t>
            </a:r>
            <a:endParaRPr sz="11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63240" y="3822191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D(x</a:t>
            </a:r>
            <a:r>
              <a:rPr sz="885" b="1" i="0" baseline="-25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) ⊆ D(x</a:t>
            </a:r>
            <a:r>
              <a:rPr sz="885" b="1" i="0" baseline="-25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9320" y="3794759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三段 D(x</a:t>
            </a:r>
            <a:r>
              <a:rPr sz="715" b="0" i="0" baseline="-2500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)（x</a:t>
            </a:r>
            <a:r>
              <a:rPr sz="715" b="0" i="0" baseline="-2500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&lt;0 / x</a:t>
            </a:r>
            <a:r>
              <a:rPr sz="715" b="0" i="0" baseline="-2500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=0 / x</a:t>
            </a:r>
            <a:r>
              <a:rPr sz="715" b="0" i="0" baseline="-2500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&gt;0）+ 按符号分类讨论</a:t>
            </a:r>
            <a:endParaRPr sz="1050" b="0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234440" y="4334255"/>
            <a:ext cx="9692640" cy="603504"/>
          </a:xfrm>
          <a:prstGeom prst="roundRect">
            <a:avLst>
              <a:gd name="adj" fmla="val 10606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44752" y="4498847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(i)</a:t>
            </a:r>
            <a:endParaRPr sz="11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3240" y="4480559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f(0) ≥ 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89320" y="4453127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反证 + 只用一次条件①：把 −p 送进 (0,1) 与条件②相撞</a:t>
            </a:r>
            <a:endParaRPr sz="1050" b="0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234440" y="4992623"/>
            <a:ext cx="9692640" cy="603504"/>
          </a:xfrm>
          <a:prstGeom prst="roundRect">
            <a:avLst>
              <a:gd name="adj" fmla="val 10606"/>
            </a:avLst>
          </a:prstGeom>
          <a:solidFill>
            <a:srgbClr val="16395F"/>
          </a:solidFill>
          <a:ln w="12700">
            <a:solidFill>
              <a:srgbClr val="2A5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444752" y="5157215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C98A12"/>
                </a:solidFill>
                <a:latin typeface="微软雅黑" panose="020B0503020204020204" charset="-122"/>
                <a:ea typeface="微软雅黑" panose="020B0503020204020204" charset="-122"/>
              </a:rPr>
              <a:t>第 (3) 问 (ii)</a:t>
            </a:r>
            <a:endParaRPr sz="1150" b="1" i="0">
              <a:solidFill>
                <a:srgbClr val="C98A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3240" y="5138927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 在 (0,+∞) 严格递增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89320" y="5111495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C4E4"/>
                </a:solidFill>
                <a:latin typeface="微软雅黑" panose="020B0503020204020204" charset="-122"/>
                <a:ea typeface="微软雅黑" panose="020B0503020204020204" charset="-122"/>
              </a:rPr>
              <a:t>先证 (0,1) 上 f ≤ 0，再证 (0,+∞) 上 f ≤ 0，最后由 (0,+∞) ⊆ D(v) 收口</a:t>
            </a:r>
            <a:endParaRPr sz="1050" b="0" i="0">
              <a:solidFill>
                <a:srgbClr val="9FC4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4440" y="574243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E7C37A"/>
                </a:solidFill>
                <a:latin typeface="微软雅黑" panose="020B0503020204020204" charset="-122"/>
                <a:ea typeface="微软雅黑" panose="020B0503020204020204" charset="-122"/>
              </a:rPr>
              <a:t>完整刻画：f 满足 ①② ⇔ f(0) ≥ 1，且 f 在 (0, +∞) 上取值非正、严格递增。</a:t>
            </a:r>
            <a:endParaRPr sz="1250" b="1" i="0">
              <a:solidFill>
                <a:srgbClr val="E7C3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4440" y="614476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压轴题考的不是“见过”，而是现场把新定义翻译成旧知识的能力。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8972</Words>
  <Application>WPS 演示</Application>
  <PresentationFormat>On-screen Show (4:3)</PresentationFormat>
  <Paragraphs>636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Cambria Math</vt:lpstr>
      <vt:lpstr>Calibri</vt:lpstr>
      <vt:lpstr>MS PGothic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夕颜</cp:lastModifiedBy>
  <cp:revision>2</cp:revision>
  <dcterms:created xsi:type="dcterms:W3CDTF">2013-01-27T09:14:00Z</dcterms:created>
  <dcterms:modified xsi:type="dcterms:W3CDTF">2026-10-13T07:57:25Z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928D166E65CF44D882B54CA101C7C07B_13</vt:lpwstr>
  </property>
  <property fmtid="{D5CDD505-2E9C-101B-9397-08002B2CF9AE}" pid="3" name="KSOProductBuildVer">
    <vt:lpwstr>2052-12.1.0.28505</vt:lpwstr>
  </property>
</Properties>
</file>