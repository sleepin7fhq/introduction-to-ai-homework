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slideMasters/slideMaster1.xml" ContentType="application/vnd.openxmlformats-officedocument.presentationml.slideMaster+xml"/>
  <Override PartName="/ppt/slideLayouts/slideLayout7.xml" ContentType="application/vnd.openxmlformats-officedocument.presentationml.slideLayout+xml"/>
  <Override PartName="/ppt/notesSlides/notesSlide2.xml" ContentType="application/vnd.openxmlformats-officedocument.presentationml.notesSlide+xml"/>
  <Override PartName="/ppt/slides/slide2.xml" ContentType="application/vnd.openxmlformats-officedocument.presentationml.slide+xml"/>
  <Override PartName="/ppt/presentation.xml" ContentType="application/vnd.openxmlformats-officedocument.presentationml.presentation.main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1.xml" ContentType="application/vnd.openxmlformats-officedocument.presentationml.slide+xml"/>
  <Override PartName="/ppt/slideLayouts/slideLayout8.xml" ContentType="application/vnd.openxmlformats-officedocument.presentationml.slideLayout+xml"/>
  <Override PartName="/ppt/presProps.xml" ContentType="application/vnd.openxmlformats-officedocument.presentationml.presProps+xml"/>
  <Override PartName="/ppt/slides/slide10.xml" ContentType="application/vnd.openxmlformats-officedocument.presentationml.slide+xml"/>
  <Override PartName="/ppt/notesSlides/notesSlide4.xml" ContentType="application/vnd.openxmlformats-officedocument.presentationml.notesSlide+xml"/>
  <Override PartName="/ppt/tableStyles.xml" ContentType="application/vnd.openxmlformats-officedocument.presentationml.tableStyles+xml"/>
  <Override PartName="/ppt/slides/slide12.xml" ContentType="application/vnd.openxmlformats-officedocument.presentationml.slide+xml"/>
  <Override PartName="/ppt/slides/slide7.xml" ContentType="application/vnd.openxmlformats-officedocument.presentationml.slide+xml"/>
  <Override PartName="/ppt/viewProps.xml" ContentType="application/vnd.openxmlformats-officedocument.presentationml.viewProps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9.xml" ContentType="application/vnd.openxmlformats-officedocument.presentationml.slideLayout+xml"/>
  <Override PartName="/ppt/notesSlides/notesSlide1.xml" ContentType="application/vnd.openxmlformats-officedocument.presentationml.notesSlide+xml"/>
  <Override PartName="/ppt/theme/theme2.xml" ContentType="application/vnd.openxmlformats-officedocument.theme+xml"/>
  <Override PartName="/ppt/notesSlides/notesSlide5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</Types>
</file>

<file path=_rels/.rels><?xml version="1.0" encoding="UTF-8" standalone="yes"?><Relationships xmlns="http://schemas.openxmlformats.org/package/2006/relationships"><Relationship Id="rId0" Type="http://schemas.openxmlformats.org/officeDocument/2006/relationships/officeDocument" Target="ppt/presentation.xml" /><Relationship Id="rId1" Type="http://schemas.openxmlformats.org/package/2006/relationships/metadata/core-properties" Target="docProps/core.xml" /><Relationship Id="rId2" Type="http://schemas.openxmlformats.org/officeDocument/2006/relationships/extended-properties" Target="docProps/app.xml" /></Relationships>
</file>

<file path=ppt/presentation.xml><?xml version="1.0" encoding="utf-8"?>
<p:presentation xmlns:p="http://schemas.openxmlformats.org/presentationml/2006/main" xmlns:a="http://schemas.openxmlformats.org/drawingml/2006/main" xmlns:r="http://schemas.openxmlformats.org/officeDocument/2006/relationships" firstSlideNum="1">
  <p:sldMasterIdLst>
    <p:sldMasterId id="2147483648" r:id="rId0"/>
  </p:sldMasterIdLst>
  <p:notesMasterIdLst>
    <p:notesMasterId r:id="rId13"/>
  </p:notesMasterIdLst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uri="{E76CE94A-603C-4142-B9EB-6D1370010A27}"/>
    <p:ext uri="{D31A062A-798A-4329-ABDD-BBA856620510}"/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 xmlns:a="http://schemas.openxmlformats.org/drawing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1" Type="http://schemas.openxmlformats.org/officeDocument/2006/relationships/slide" Target="slides/slide11.xml" /><Relationship Id="rId1" Type="http://schemas.openxmlformats.org/officeDocument/2006/relationships/slide" Target="slides/slide1.xml" /><Relationship Id="rId0" Type="http://schemas.openxmlformats.org/officeDocument/2006/relationships/slideMaster" Target="slideMasters/slideMaster1.xml" /><Relationship Id="rId14" Type="http://schemas.openxmlformats.org/officeDocument/2006/relationships/presProps" Target="presProps.xml" /><Relationship Id="rId10" Type="http://schemas.openxmlformats.org/officeDocument/2006/relationships/slide" Target="slides/slide10.xml" /><Relationship Id="rId15" Type="http://schemas.openxmlformats.org/officeDocument/2006/relationships/tableStyles" Target="tableStyles.xml" /><Relationship Id="rId13" Type="http://schemas.openxmlformats.org/officeDocument/2006/relationships/notesMaster" Target="notesMasters/notesMaster1.xml" /><Relationship Id="rId12" Type="http://schemas.openxmlformats.org/officeDocument/2006/relationships/slide" Target="slides/slide12.xml" /><Relationship Id="rId16" Type="http://schemas.openxmlformats.org/officeDocument/2006/relationships/viewProps" Target="viewProps.xml" /><Relationship Id="rId2" Type="http://schemas.openxmlformats.org/officeDocument/2006/relationships/slide" Target="slides/slide2.xml" /><Relationship Id="rId3" Type="http://schemas.openxmlformats.org/officeDocument/2006/relationships/slide" Target="slides/slide3.xml" /><Relationship Id="rId4" Type="http://schemas.openxmlformats.org/officeDocument/2006/relationships/slide" Target="slides/slide4.xml" /><Relationship Id="rId5" Type="http://schemas.openxmlformats.org/officeDocument/2006/relationships/slide" Target="slides/slide5.xml" /><Relationship Id="rId6" Type="http://schemas.openxmlformats.org/officeDocument/2006/relationships/slide" Target="slides/slide6.xml" /><Relationship Id="rId7" Type="http://schemas.openxmlformats.org/officeDocument/2006/relationships/slide" Target="slides/slide7.xml" /><Relationship Id="rId8" Type="http://schemas.openxmlformats.org/officeDocument/2006/relationships/slide" Target="slides/slide8.xml" /><Relationship Id="rId9" Type="http://schemas.openxmlformats.org/officeDocument/2006/relationships/slide" Target="slides/slide9.xml" /></Relationships>
</file>

<file path=ppt/notesMasters/_rels/notesMaster1.xml.rels><?xml version="1.0" encoding="UTF-8" standalone="yes"?><Relationships xmlns="http://schemas.openxmlformats.org/package/2006/relationships"><Relationship Id="rId0" Type="http://schemas.openxmlformats.org/officeDocument/2006/relationships/theme" Target="../theme/theme2.xml" /></Relationships>
</file>

<file path=ppt/notesMasters/notesMaster1.xml><?xml version="1.0" encoding="utf-8"?>
<p:notesMaster xmlns:p="http://schemas.openxmlformats.org/presentationml/2006/main" xmlns:a="http://schemas.openxmlformats.org/drawing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/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/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/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/>
          </a:p>
          <a:p>
            <a:pPr lvl="1"/>
            <a:r>
              <a:rPr lang="en-US" smtClean="0"/>
              <a:t>Second level</a:t>
            </a:r>
            <a:endParaRPr/>
          </a:p>
          <a:p>
            <a:pPr lvl="2"/>
            <a:r>
              <a:rPr lang="en-US" smtClean="0"/>
              <a:t>Third level</a:t>
            </a:r>
            <a:endParaRPr/>
          </a:p>
          <a:p>
            <a:pPr lvl="3"/>
            <a:r>
              <a:rPr lang="en-US" smtClean="0"/>
              <a:t>Fourth level</a:t>
            </a:r>
            <a:endParaRPr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/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/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0" Type="http://schemas.openxmlformats.org/officeDocument/2006/relationships/slide" Target="../slides/slide1.xml" /><Relationship Id="rId1" Type="http://schemas.openxmlformats.org/officeDocument/2006/relationships/notesMaster" Target="../notesMasters/notesMaster1.xml" /></Relationships>
</file>

<file path=ppt/notesSlides/_rels/notesSlide2.xml.rels><?xml version="1.0" encoding="UTF-8" standalone="yes"?><Relationships xmlns="http://schemas.openxmlformats.org/package/2006/relationships"><Relationship Id="rId0" Type="http://schemas.openxmlformats.org/officeDocument/2006/relationships/slide" Target="../slides/slide10.xml" /><Relationship Id="rId1" Type="http://schemas.openxmlformats.org/officeDocument/2006/relationships/notesMaster" Target="../notesMasters/notesMaster1.xml" /></Relationships>
</file>

<file path=ppt/notesSlides/_rels/notesSlide3.xml.rels><?xml version="1.0" encoding="UTF-8" standalone="yes"?><Relationships xmlns="http://schemas.openxmlformats.org/package/2006/relationships"><Relationship Id="rId0" Type="http://schemas.openxmlformats.org/officeDocument/2006/relationships/slide" Target="../slides/slide11.xml" /><Relationship Id="rId1" Type="http://schemas.openxmlformats.org/officeDocument/2006/relationships/notesMaster" Target="../notesMasters/notesMaster1.xml" /></Relationships>
</file>

<file path=ppt/notesSlides/_rels/notesSlide4.xml.rels><?xml version="1.0" encoding="UTF-8" standalone="yes"?><Relationships xmlns="http://schemas.openxmlformats.org/package/2006/relationships"><Relationship Id="rId0" Type="http://schemas.openxmlformats.org/officeDocument/2006/relationships/slide" Target="../slides/slide12.xml" /><Relationship Id="rId1" Type="http://schemas.openxmlformats.org/officeDocument/2006/relationships/notesMaster" Target="../notesMasters/notesMaster1.xml" /></Relationships>
</file>

<file path=ppt/notesSlides/_rels/notesSlide5.xml.rels><?xml version="1.0" encoding="UTF-8" standalone="yes"?><Relationships xmlns="http://schemas.openxmlformats.org/package/2006/relationships"><Relationship Id="rId0" Type="http://schemas.openxmlformats.org/officeDocument/2006/relationships/slide" Target="../slides/slide2.xml" /><Relationship Id="rId1" Type="http://schemas.openxmlformats.org/officeDocument/2006/relationships/notesMaster" Target="../notesMasters/notesMaster1.xml" /></Relationships>
</file>

<file path=ppt/notesSlides/_rels/notesSlide6.xml.rels><?xml version="1.0" encoding="UTF-8" standalone="yes"?><Relationships xmlns="http://schemas.openxmlformats.org/package/2006/relationships"><Relationship Id="rId0" Type="http://schemas.openxmlformats.org/officeDocument/2006/relationships/slide" Target="../slides/slide3.xml" /><Relationship Id="rId1" Type="http://schemas.openxmlformats.org/officeDocument/2006/relationships/notesMaster" Target="../notesMasters/notesMaster1.xml" /></Relationships>
</file>

<file path=ppt/notesSlides/_rels/notesSlide7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0" Type="http://schemas.openxmlformats.org/officeDocument/2006/relationships/slide" Target="../slides/slide4.xml" /></Relationships>
</file>

<file path=ppt/notesSlides/_rels/notesSlide8.xml.rels><?xml version="1.0" encoding="UTF-8" standalone="yes"?><Relationships xmlns="http://schemas.openxmlformats.org/package/2006/relationships"><Relationship Id="rId0" Type="http://schemas.openxmlformats.org/officeDocument/2006/relationships/slide" Target="../slides/slide5.xml" /><Relationship Id="rId1" Type="http://schemas.openxmlformats.org/officeDocument/2006/relationships/notesMaster" Target="../notesMasters/notesMaster1.xml" /></Relationships>
</file>

<file path=ppt/notesSlides/_rels/notesSlide9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0" Type="http://schemas.openxmlformats.org/officeDocument/2006/relationships/slide" Target="../slides/slide6.xml" /></Relationships>
</file>

<file path=ppt/notesSlides/_rels/notesSlide10.xml.rels><?xml version="1.0" encoding="UTF-8" standalone="yes"?><Relationships xmlns="http://schemas.openxmlformats.org/package/2006/relationships"><Relationship Id="rId0" Type="http://schemas.openxmlformats.org/officeDocument/2006/relationships/slide" Target="../slides/slide7.xml" /><Relationship Id="rId1" Type="http://schemas.openxmlformats.org/officeDocument/2006/relationships/notesMaster" Target="../notesMasters/notesMaster1.xml" /></Relationships>
</file>

<file path=ppt/notesSlides/_rels/notesSlide11.xml.rels><?xml version="1.0" encoding="UTF-8" standalone="yes"?><Relationships xmlns="http://schemas.openxmlformats.org/package/2006/relationships"><Relationship Id="rId0" Type="http://schemas.openxmlformats.org/officeDocument/2006/relationships/slide" Target="../slides/slide8.xml" /><Relationship Id="rId1" Type="http://schemas.openxmlformats.org/officeDocument/2006/relationships/notesMaster" Target="../notesMasters/notesMaster1.xml" /></Relationships>
</file>

<file path=ppt/notesSlides/_rels/notesSlide12.xml.rels><?xml version="1.0" encoding="UTF-8" standalone="yes"?><Relationships xmlns="http://schemas.openxmlformats.org/package/2006/relationships"><Relationship Id="rId0" Type="http://schemas.openxmlformats.org/officeDocument/2006/relationships/slide" Target="../slides/slide9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/>
              <a:t>开场：这道题是 2026 年新高考Ⅱ卷第 18 题，17 分的解析几何大题。我们会走两条线：一条是标准的代数解法，一条是几何直观模型——最后会发现整道题其实只在讲一件事：离心率 e 决定曲线形状。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p/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>
      <p:nvGrpSpPr>
        <p:cNvPr id="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Image Placeholder 1"/>
          <p:cNvSpPr>
            <a:spLocks noGrp="1"/>
          </p:cNvSpPr>
          <p:nvPr>
            <p:ph type="sldImg" idx="2"/>
          </p:nvPr>
        </p:nvSpPr>
        <p:spPr/>
        <p:txBody>
          <a:bodyPr/>
          <a:p/>
        </p:txBody>
      </p:sp>
      <p:sp>
        <p:nvSpPr>
          <p:cNvPr id="7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/>
              <a:t>三张图分别对应 e&gt;1、e=1、e&lt;1。可以让学生自己代入 t₀=3 试一下（椭圆，中心在 (−6/7, 0)），验证表格。</a:t>
            </a:r>
            <a:endParaRPr/>
          </a:p>
        </p:txBody>
      </p:sp>
      <p:sp>
        <p:nvSpPr>
          <p:cNvPr id="8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p/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>
      <p:nvGrpSpPr>
        <p:cNvPr id="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Image Placeholder 1"/>
          <p:cNvSpPr>
            <a:spLocks noGrp="1"/>
          </p:cNvSpPr>
          <p:nvPr>
            <p:ph type="sldImg" idx="2"/>
          </p:nvPr>
        </p:nvSpPr>
        <p:spPr/>
        <p:txBody>
          <a:bodyPr/>
          <a:p/>
        </p:txBody>
      </p:sp>
      <p:sp>
        <p:nvSpPr>
          <p:cNvPr id="11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/>
              <a:t>把易错点讲一遍比讲一遍答案更有效。特别是第一条：B 的位置错了，整道题就全错。</a:t>
            </a:r>
            <a:endParaRPr/>
          </a:p>
        </p:txBody>
      </p:sp>
      <p:sp>
        <p:nvSpPr>
          <p:cNvPr id="12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p/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>
      <p:nvGrpSpPr>
        <p:cNvPr id="1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lide Image Placeholder 1"/>
          <p:cNvSpPr>
            <a:spLocks noGrp="1"/>
          </p:cNvSpPr>
          <p:nvPr>
            <p:ph type="sldImg" idx="2"/>
          </p:nvPr>
        </p:nvSpPr>
        <p:spPr/>
        <p:txBody>
          <a:bodyPr/>
          <a:p/>
        </p:txBody>
      </p:sp>
      <p:sp>
        <p:nvSpPr>
          <p:cNvPr id="15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/>
              <a:t>结束语：这道题的“难”在计算，“易”在思想。抓住 e，就抓住了整题。</a:t>
            </a:r>
            <a:endParaRPr/>
          </a:p>
        </p:txBody>
      </p:sp>
      <p:sp>
        <p:nvSpPr>
          <p:cNvPr id="16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p/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>
      <p:nvGrpSpPr>
        <p:cNvPr id="1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lide Image Placeholder 1"/>
          <p:cNvSpPr>
            <a:spLocks noGrp="1"/>
          </p:cNvSpPr>
          <p:nvPr>
            <p:ph type="sldImg" idx="2"/>
          </p:nvPr>
        </p:nvSpPr>
        <p:spPr/>
        <p:txBody>
          <a:bodyPr/>
          <a:p/>
        </p:txBody>
      </p:sp>
      <p:sp>
        <p:nvSpPr>
          <p:cNvPr id="19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/>
              <a:t>读题三件事：① 通径长给出 a；② B 是 A 到 y 轴的垂足，所以 B(0, y₀)，注意 B 不在椭圆上；③ 整题参数只有 t₀。</a:t>
            </a:r>
            <a:endParaRPr/>
          </a:p>
        </p:txBody>
      </p:sp>
      <p:sp>
        <p:nvSpPr>
          <p:cNvPr id="20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p/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>
      <p:nvGrpSpPr>
        <p:cNvPr id="2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Slide Image Placeholder 1"/>
          <p:cNvSpPr>
            <a:spLocks noGrp="1"/>
          </p:cNvSpPr>
          <p:nvPr>
            <p:ph type="sldImg" idx="2"/>
          </p:nvPr>
        </p:nvSpPr>
        <p:spPr/>
        <p:txBody>
          <a:bodyPr/>
          <a:p/>
        </p:txBody>
      </p:sp>
      <p:sp>
        <p:nvSpPr>
          <p:cNvPr id="2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/>
              <a:t>第（1）问是送分题：通径公式记住就行。注意 b²=1 是题干直接给的（y² 的系数为 1），所以 2/a=√2。</a:t>
            </a:r>
            <a:endParaRPr/>
          </a:p>
        </p:txBody>
      </p:sp>
      <p:sp>
        <p:nvSpPr>
          <p:cNvPr id="2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p/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>
      <p:nvGrpSpPr>
        <p:cNvPr id="2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Slide Image Placeholder 1"/>
          <p:cNvSpPr>
            <a:spLocks noGrp="1"/>
          </p:cNvSpPr>
          <p:nvPr>
            <p:ph type="sldImg" idx="2"/>
          </p:nvPr>
        </p:nvSpPr>
        <p:spPr/>
        <p:txBody>
          <a:bodyPr/>
          <a:p/>
        </p:txBody>
      </p:sp>
      <p:sp>
        <p:nvSpPr>
          <p:cNvPr id="27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/>
              <a:t>这一页只做一件事：把文字读成图形。强调 B(0,y₀)——很多同学在这里把 B 当成椭圆上的点，后面全部崩盘。虚线的大椭圆就是最终答案 M（这里取 t₀=2.5 时的形状）。</a:t>
            </a:r>
            <a:endParaRPr/>
          </a:p>
        </p:txBody>
      </p:sp>
      <p:sp>
        <p:nvSpPr>
          <p:cNvPr id="28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p/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>
      <p:nvGrpSpPr>
        <p:cNvPr id="2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lide Image Placeholder 1"/>
          <p:cNvSpPr>
            <a:spLocks noGrp="1"/>
          </p:cNvSpPr>
          <p:nvPr>
            <p:ph type="sldImg" idx="2"/>
          </p:nvPr>
        </p:nvSpPr>
        <p:spPr/>
        <p:txBody>
          <a:bodyPr/>
          <a:p/>
        </p:txBody>
      </p:sp>
      <p:sp>
        <p:nvSpPr>
          <p:cNvPr id="31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/>
              <a:t>λ 的几何意义：λ = OP/OA = GP/GB。它把 A 和 B 两个动点用同一个比例绑定，这样消参时只需处理一个参数。</a:t>
            </a:r>
            <a:endParaRPr/>
          </a:p>
        </p:txBody>
      </p:sp>
      <p:sp>
        <p:nvSpPr>
          <p:cNvPr id="32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p/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>
      <p:nvGrpSpPr>
        <p:cNvPr id="3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Slide Image Placeholder 1"/>
          <p:cNvSpPr>
            <a:spLocks noGrp="1"/>
          </p:cNvSpPr>
          <p:nvPr>
            <p:ph type="sldImg" idx="2"/>
          </p:nvPr>
        </p:nvSpPr>
        <p:spPr/>
        <p:txBody>
          <a:bodyPr/>
          <a:p/>
        </p:txBody>
      </p:sp>
      <p:sp>
        <p:nvSpPr>
          <p:cNvPr id="35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/>
              <a:t>消参的关键是反解：把 (x₀,y₀) 用 (x,y) 表示，再代回椭圆方程。得到的方程里 x、y 都是二次的——已经可以判断它是圆锥曲线了。挖点部分考试里写一句“y≠0”即可，但别漏。</a:t>
            </a:r>
            <a:endParaRPr/>
          </a:p>
        </p:txBody>
      </p:sp>
      <p:sp>
        <p:nvSpPr>
          <p:cNvPr id="36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p/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>
      <p:nvGrpSpPr>
        <p:cNvPr id="3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Slide Image Placeholder 1"/>
          <p:cNvSpPr>
            <a:spLocks noGrp="1"/>
          </p:cNvSpPr>
          <p:nvPr>
            <p:ph type="sldImg" idx="2"/>
          </p:nvPr>
        </p:nvSpPr>
        <p:spPr/>
        <p:txBody>
          <a:bodyPr/>
          <a:p/>
        </p:txBody>
      </p:sp>
      <p:sp>
        <p:nvSpPr>
          <p:cNvPr id="39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/>
              <a:t>这是全场最重要的一页：把方程化成“到点的距离 = e × 到直线的距离”，圆锥曲线的三种形状就统一了。e 由 t₀ 唯一决定。</a:t>
            </a:r>
            <a:endParaRPr/>
          </a:p>
        </p:txBody>
      </p:sp>
      <p:sp>
        <p:nvSpPr>
          <p:cNvPr id="40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p/>
        </p:txBody>
      </p:sp>
    </p:spTree>
  </p:cSld>
  <p:clrMapOvr>
    <a:masterClrMapping/>
  </p:clrMapOvr>
</p:notes>
</file>

<file path=ppt/notesSlides/notesSlide11.xml><?xml version="1.0" encoding="utf-8"?>
<p:notes xmlns:p="http://schemas.openxmlformats.org/presentationml/2006/main" xmlns:a="http://schemas.openxmlformats.org/drawingml/2006/main">
  <p:cSld>
    <p:spTree>
      <p:nvGrpSpPr>
        <p:cNvPr id="4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Slide Image Placeholder 1"/>
          <p:cNvSpPr>
            <a:spLocks noGrp="1"/>
          </p:cNvSpPr>
          <p:nvPr>
            <p:ph type="sldImg" idx="2"/>
          </p:nvPr>
        </p:nvSpPr>
        <p:spPr/>
        <p:txBody>
          <a:bodyPr/>
          <a:p/>
        </p:txBody>
      </p:sp>
      <p:sp>
        <p:nvSpPr>
          <p:cNvPr id="4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/>
              <a:t>中心点 = 配方。注意 A=0 的退化情形，这正好对应 e=1 的抛物线——和上一页的模型完全一致：没有中心的曲线就是抛物线。</a:t>
            </a:r>
            <a:endParaRPr/>
          </a:p>
        </p:txBody>
      </p:sp>
      <p:sp>
        <p:nvSpPr>
          <p:cNvPr id="4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p/>
        </p:txBody>
      </p:sp>
    </p:spTree>
  </p:cSld>
  <p:clrMapOvr>
    <a:masterClrMapping/>
  </p:clrMapOvr>
</p:notes>
</file>

<file path=ppt/notesSlides/notesSlide12.xml><?xml version="1.0" encoding="utf-8"?>
<p:notes xmlns:p="http://schemas.openxmlformats.org/presentationml/2006/main" xmlns:a="http://schemas.openxmlformats.org/drawingml/2006/main">
  <p:cSld>
    <p:spTree>
      <p:nvGrpSpPr>
        <p:cNvPr id="4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lide Image Placeholder 1"/>
          <p:cNvSpPr>
            <a:spLocks noGrp="1"/>
          </p:cNvSpPr>
          <p:nvPr>
            <p:ph type="sldImg" idx="2"/>
          </p:nvPr>
        </p:nvSpPr>
        <p:spPr/>
        <p:txBody>
          <a:bodyPr/>
          <a:p/>
        </p:txBody>
      </p:sp>
      <p:sp>
        <p:nvSpPr>
          <p:cNvPr id="47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/>
              <a:t>表格是这道题的最终答案。注意：t₀=±√2 是唯一的分界，它同时是“抛物线”和“M′ 没有标准方程”的分界。</a:t>
            </a:r>
            <a:endParaRPr/>
          </a:p>
        </p:txBody>
      </p:sp>
      <p:sp>
        <p:nvSpPr>
          <p:cNvPr id="48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p/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2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3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4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5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6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7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8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9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10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11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slideLayout1.xml><?xml version="1.0" encoding="utf-8"?>
<p:sldLayout xmlns:p="http://schemas.openxmlformats.org/presentationml/2006/main" xmlns:a="http://schemas.openxmlformats.org/drawing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pPr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/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p="http://schemas.openxmlformats.org/presentationml/2006/main" xmlns:a="http://schemas.openxmlformats.org/drawingml/2006/main" type="obj">
  <p:cSld name="Title and Content">
    <p:spTree>
      <p:nvGrpSpPr>
        <p:cNvPr id="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9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/>
          </a:p>
          <a:p>
            <a:pPr lvl="1"/>
            <a:r>
              <a:rPr lang="en-US" smtClean="0"/>
              <a:t>Second level</a:t>
            </a:r>
            <a:endParaRPr/>
          </a:p>
          <a:p>
            <a:pPr lvl="2"/>
            <a:r>
              <a:rPr lang="en-US" smtClean="0"/>
              <a:t>Third level</a:t>
            </a:r>
            <a:endParaRPr/>
          </a:p>
          <a:p>
            <a:pPr lvl="3"/>
            <a:r>
              <a:rPr lang="en-US" smtClean="0"/>
              <a:t>Fourth level</a:t>
            </a:r>
            <a:endParaRPr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11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p="http://schemas.openxmlformats.org/presentationml/2006/main" xmlns:a="http://schemas.openxmlformats.org/drawingml/2006/main" type="secHead">
  <p:cSld name="Section Header">
    <p:spTree>
      <p:nvGrpSpPr>
        <p:cNvPr id="1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pPr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21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/>
          </a:p>
        </p:txBody>
      </p:sp>
      <p:sp>
        <p:nvSpPr>
          <p:cNvPr id="2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2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2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p="http://schemas.openxmlformats.org/presentationml/2006/main" xmlns:a="http://schemas.openxmlformats.org/drawingml/2006/main" type="twoObj">
  <p:cSld name="Two Content">
    <p:spTree>
      <p:nvGrpSpPr>
        <p:cNvPr id="2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27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/>
          </a:p>
          <a:p>
            <a:pPr lvl="1"/>
            <a:r>
              <a:rPr lang="en-US" smtClean="0"/>
              <a:t>Second level</a:t>
            </a:r>
            <a:endParaRPr/>
          </a:p>
          <a:p>
            <a:pPr lvl="2"/>
            <a:r>
              <a:rPr lang="en-US" smtClean="0"/>
              <a:t>Third level</a:t>
            </a:r>
            <a:endParaRPr/>
          </a:p>
          <a:p>
            <a:pPr lvl="3"/>
            <a:r>
              <a:rPr lang="en-US" smtClean="0"/>
              <a:t>Fourth level</a:t>
            </a:r>
            <a:endParaRPr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28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/>
          </a:p>
          <a:p>
            <a:pPr lvl="1"/>
            <a:r>
              <a:rPr lang="en-US" smtClean="0"/>
              <a:t>Second level</a:t>
            </a:r>
            <a:endParaRPr/>
          </a:p>
          <a:p>
            <a:pPr lvl="2"/>
            <a:r>
              <a:rPr lang="en-US" smtClean="0"/>
              <a:t>Third level</a:t>
            </a:r>
            <a:endParaRPr/>
          </a:p>
          <a:p>
            <a:pPr lvl="3"/>
            <a:r>
              <a:rPr lang="en-US" smtClean="0"/>
              <a:t>Fourth level</a:t>
            </a:r>
            <a:endParaRPr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29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0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31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p="http://schemas.openxmlformats.org/presentationml/2006/main" xmlns:a="http://schemas.openxmlformats.org/drawingml/2006/main" type="twoTxTwoObj">
  <p:cSld name="Comparison">
    <p:spTree>
      <p:nvGrpSpPr>
        <p:cNvPr id="3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4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/>
          </a:p>
        </p:txBody>
      </p:sp>
      <p:sp>
        <p:nvSpPr>
          <p:cNvPr id="35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/>
          </a:p>
          <a:p>
            <a:pPr lvl="1"/>
            <a:r>
              <a:rPr lang="en-US" smtClean="0"/>
              <a:t>Second level</a:t>
            </a:r>
            <a:endParaRPr/>
          </a:p>
          <a:p>
            <a:pPr lvl="2"/>
            <a:r>
              <a:rPr lang="en-US" smtClean="0"/>
              <a:t>Third level</a:t>
            </a:r>
            <a:endParaRPr/>
          </a:p>
          <a:p>
            <a:pPr lvl="3"/>
            <a:r>
              <a:rPr lang="en-US" smtClean="0"/>
              <a:t>Fourth level</a:t>
            </a:r>
            <a:endParaRPr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36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/>
          </a:p>
        </p:txBody>
      </p:sp>
      <p:sp>
        <p:nvSpPr>
          <p:cNvPr id="37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/>
          </a:p>
          <a:p>
            <a:pPr lvl="1"/>
            <a:r>
              <a:rPr lang="en-US" smtClean="0"/>
              <a:t>Second level</a:t>
            </a:r>
            <a:endParaRPr/>
          </a:p>
          <a:p>
            <a:pPr lvl="2"/>
            <a:r>
              <a:rPr lang="en-US" smtClean="0"/>
              <a:t>Third level</a:t>
            </a:r>
            <a:endParaRPr/>
          </a:p>
          <a:p>
            <a:pPr lvl="3"/>
            <a:r>
              <a:rPr lang="en-US" smtClean="0"/>
              <a:t>Fourth level</a:t>
            </a:r>
            <a:endParaRPr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38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9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40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p="http://schemas.openxmlformats.org/presentationml/2006/main" xmlns:a="http://schemas.openxmlformats.org/drawingml/2006/main" type="titleOnly">
  <p:cSld name="Title Only">
    <p:spTree>
      <p:nvGrpSpPr>
        <p:cNvPr id="4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4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4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p="http://schemas.openxmlformats.org/presentationml/2006/main" xmlns:a="http://schemas.openxmlformats.org/drawingml/2006/main" type="blank">
  <p:cSld name="Blank">
    <p:spTree>
      <p:nvGrpSpPr>
        <p:cNvPr id="4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8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49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p="http://schemas.openxmlformats.org/presentationml/2006/main" xmlns:a="http://schemas.openxmlformats.org/drawingml/2006/main" type="objTx">
  <p:cSld name="Content with Caption">
    <p:spTree>
      <p:nvGrpSpPr>
        <p:cNvPr id="5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pPr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52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/>
          </a:p>
          <a:p>
            <a:pPr lvl="1"/>
            <a:r>
              <a:rPr lang="en-US" smtClean="0"/>
              <a:t>Second level</a:t>
            </a:r>
            <a:endParaRPr/>
          </a:p>
          <a:p>
            <a:pPr lvl="2"/>
            <a:r>
              <a:rPr lang="en-US" smtClean="0"/>
              <a:t>Third level</a:t>
            </a:r>
            <a:endParaRPr/>
          </a:p>
          <a:p>
            <a:pPr lvl="3"/>
            <a:r>
              <a:rPr lang="en-US" smtClean="0"/>
              <a:t>Fourth level</a:t>
            </a:r>
            <a:endParaRPr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3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/>
          </a:p>
        </p:txBody>
      </p:sp>
      <p:sp>
        <p:nvSpPr>
          <p:cNvPr id="54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5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p="http://schemas.openxmlformats.org/presentationml/2006/main" xmlns:a="http://schemas.openxmlformats.org/drawingml/2006/main" type="picTx">
  <p:cSld name="Picture with Caption">
    <p:spTree>
      <p:nvGrpSpPr>
        <p:cNvPr id="5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pPr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59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/>
            <a:endParaRPr lang="en-US"/>
          </a:p>
        </p:txBody>
      </p:sp>
      <p:sp>
        <p:nvSpPr>
          <p:cNvPr id="60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/>
          </a:p>
        </p:txBody>
      </p:sp>
      <p:sp>
        <p:nvSpPr>
          <p:cNvPr id="61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2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63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p="http://schemas.openxmlformats.org/presentationml/2006/main" xmlns:a="http://schemas.openxmlformats.org/drawingml/2006/main" type="vertTx">
  <p:cSld name="Title and Vertical Text">
    <p:spTree>
      <p:nvGrpSpPr>
        <p:cNvPr id="6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66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/>
          </a:p>
          <a:p>
            <a:pPr lvl="1"/>
            <a:r>
              <a:rPr lang="en-US" smtClean="0"/>
              <a:t>Second level</a:t>
            </a:r>
            <a:endParaRPr/>
          </a:p>
          <a:p>
            <a:pPr lvl="2"/>
            <a:r>
              <a:rPr lang="en-US" smtClean="0"/>
              <a:t>Third level</a:t>
            </a:r>
            <a:endParaRPr/>
          </a:p>
          <a:p>
            <a:pPr lvl="3"/>
            <a:r>
              <a:rPr lang="en-US" smtClean="0"/>
              <a:t>Fourth level</a:t>
            </a:r>
            <a:endParaRPr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6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p="http://schemas.openxmlformats.org/presentationml/2006/main" xmlns:a="http://schemas.openxmlformats.org/drawingml/2006/main" type="vertTitleAndTx">
  <p:cSld name="Vertical Title and Text">
    <p:spTree>
      <p:nvGrpSpPr>
        <p:cNvPr id="1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pPr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5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/>
          </a:p>
          <a:p>
            <a:pPr lvl="1"/>
            <a:r>
              <a:rPr lang="en-US" smtClean="0"/>
              <a:t>Second level</a:t>
            </a:r>
            <a:endParaRPr/>
          </a:p>
          <a:p>
            <a:pPr lvl="2"/>
            <a:r>
              <a:rPr lang="en-US" smtClean="0"/>
              <a:t>Third level</a:t>
            </a:r>
            <a:endParaRPr/>
          </a:p>
          <a:p>
            <a:pPr lvl="3"/>
            <a:r>
              <a:rPr lang="en-US" smtClean="0"/>
              <a:t>Fourth level</a:t>
            </a:r>
            <a:endParaRPr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6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17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18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1" Type="http://schemas.openxmlformats.org/officeDocument/2006/relationships/theme" Target="../theme/theme1.xml" /><Relationship Id="rId1" Type="http://schemas.openxmlformats.org/officeDocument/2006/relationships/slideLayout" Target="../slideLayouts/slideLayout2.xml" /><Relationship Id="rId3" Type="http://schemas.openxmlformats.org/officeDocument/2006/relationships/slideLayout" Target="../slideLayouts/slideLayout4.xml" /><Relationship Id="rId10" Type="http://schemas.openxmlformats.org/officeDocument/2006/relationships/slideLayout" Target="../slideLayouts/slideLayout11.xml" /><Relationship Id="rId2" Type="http://schemas.openxmlformats.org/officeDocument/2006/relationships/slideLayout" Target="../slideLayouts/slideLayout3.xml" /><Relationship Id="rId4" Type="http://schemas.openxmlformats.org/officeDocument/2006/relationships/slideLayout" Target="../slideLayouts/slideLayout5.xml" /><Relationship Id="rId5" Type="http://schemas.openxmlformats.org/officeDocument/2006/relationships/slideLayout" Target="../slideLayouts/slideLayout6.xml" /><Relationship Id="rId6" Type="http://schemas.openxmlformats.org/officeDocument/2006/relationships/slideLayout" Target="../slideLayouts/slideLayout7.xml" /><Relationship Id="rId7" Type="http://schemas.openxmlformats.org/officeDocument/2006/relationships/slideLayout" Target="../slideLayouts/slideLayout8.xml" /><Relationship Id="rId8" Type="http://schemas.openxmlformats.org/officeDocument/2006/relationships/slideLayout" Target="../slideLayouts/slideLayout9.xml" /><Relationship Id="rId9" Type="http://schemas.openxmlformats.org/officeDocument/2006/relationships/slideLayout" Target="../slideLayouts/slideLayout10.xml" /></Relationships>
</file>

<file path=ppt/slideMasters/slideMaster1.xml><?xml version="1.0" encoding="utf-8"?>
<p:sldMaster xmlns:p="http://schemas.openxmlformats.org/presentationml/2006/main" xmlns:a="http://schemas.openxmlformats.org/drawing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/>
          </a:p>
          <a:p>
            <a:pPr lvl="1"/>
            <a:r>
              <a:rPr lang="en-US" smtClean="0"/>
              <a:t>Second level</a:t>
            </a:r>
            <a:endParaRPr/>
          </a:p>
          <a:p>
            <a:pPr lvl="2"/>
            <a:r>
              <a:rPr lang="en-US" smtClean="0"/>
              <a:t>Third level</a:t>
            </a:r>
            <a:endParaRPr/>
          </a:p>
          <a:p>
            <a:pPr lvl="3"/>
            <a:r>
              <a:rPr lang="en-US" smtClean="0"/>
              <a:t>Fourth level</a:t>
            </a:r>
            <a:endParaRPr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/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/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0"/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</p:sldLayoutIdLst>
  <p:txStyles>
    <p:titleStyle>
      <a:lvl1pPr algn="ctr" defTabSz="457200" rtl="0" eaLnBrk="1" latinLnBrk="0" hangingPunct="1">
        <a:spcBef>
          <a:spcPct val="1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7.xml" /><Relationship Id="rId1" Type="http://schemas.openxmlformats.org/officeDocument/2006/relationships/notesSlide" Target="../notesSlides/notesSlide1.xml" /></Relationships>
</file>

<file path=ppt/slides/_rels/slide2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7.xml" /><Relationship Id="rId1" Type="http://schemas.openxmlformats.org/officeDocument/2006/relationships/notesSlide" Target="../notesSlides/notesSlide5.xml" /></Relationships>
</file>

<file path=ppt/slides/_rels/slide3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7.xml" /><Relationship Id="rId1" Type="http://schemas.openxmlformats.org/officeDocument/2006/relationships/notesSlide" Target="../notesSlides/notesSlide6.xml" /></Relationships>
</file>

<file path=ppt/slides/_rels/slide4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7.xml" /><Relationship Id="rId1" Type="http://schemas.openxmlformats.org/officeDocument/2006/relationships/notesSlide" Target="../notesSlides/notesSlide7.xml" /></Relationships>
</file>

<file path=ppt/slides/_rels/slide5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7.xml" /><Relationship Id="rId1" Type="http://schemas.openxmlformats.org/officeDocument/2006/relationships/notesSlide" Target="../notesSlides/notesSlide8.xml" /></Relationships>
</file>

<file path=ppt/slides/_rels/slide6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7.xml" /><Relationship Id="rId1" Type="http://schemas.openxmlformats.org/officeDocument/2006/relationships/notesSlide" Target="../notesSlides/notesSlide9.xml" /></Relationships>
</file>

<file path=ppt/slides/_rels/slide7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7.xml" /><Relationship Id="rId1" Type="http://schemas.openxmlformats.org/officeDocument/2006/relationships/notesSlide" Target="../notesSlides/notesSlide10.xml" /></Relationships>
</file>

<file path=ppt/slides/_rels/slide8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7.xml" /><Relationship Id="rId1" Type="http://schemas.openxmlformats.org/officeDocument/2006/relationships/notesSlide" Target="../notesSlides/notesSlide11.xml" /></Relationships>
</file>

<file path=ppt/slides/_rels/slide9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7.xml" /><Relationship Id="rId1" Type="http://schemas.openxmlformats.org/officeDocument/2006/relationships/notesSlide" Target="../notesSlides/notesSlide12.xml" /></Relationships>
</file>

<file path=ppt/slides/_rels/slide10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7.xml" /><Relationship Id="rId1" Type="http://schemas.openxmlformats.org/officeDocument/2006/relationships/notesSlide" Target="../notesSlides/notesSlide2.xml" /></Relationships>
</file>

<file path=ppt/slides/_rels/slide1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7.xml" /><Relationship Id="rId1" Type="http://schemas.openxmlformats.org/officeDocument/2006/relationships/notesSlide" Target="../notesSlides/notesSlide3.xml" /></Relationships>
</file>

<file path=ppt/slides/_rels/slide12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7.xml" /><Relationship Id="rId1" Type="http://schemas.openxmlformats.org/officeDocument/2006/relationships/notesSlide" Target="../notesSlides/notesSlide4.xml" 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22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装饰_Oval 2"/>
          <p:cNvSpPr/>
          <p:nvPr/>
        </p:nvSpPr>
        <p:spPr>
          <a:xfrm>
            <a:off x="8595360" y="-1554480"/>
            <a:ext cx="5669280" cy="5669280"/>
          </a:xfrm>
          <a:prstGeom prst="ellipse">
            <a:avLst/>
          </a:prstGeom>
          <a:solidFill>
            <a:srgbClr val="1A30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" name="装饰_Oval 3"/>
          <p:cNvSpPr/>
          <p:nvPr/>
        </p:nvSpPr>
        <p:spPr>
          <a:xfrm>
            <a:off x="10241280" y="4114800"/>
            <a:ext cx="4754880" cy="4754880"/>
          </a:xfrm>
          <a:prstGeom prst="ellipse">
            <a:avLst/>
          </a:prstGeom>
          <a:solidFill>
            <a:srgbClr val="16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" name="Freeform 4"/>
          <p:cNvSpPr/>
          <p:nvPr/>
        </p:nvSpPr>
        <p:spPr>
          <a:xfrm>
            <a:off x="7360920" y="3429000"/>
            <a:ext cx="4206240" cy="0"/>
          </a:xfrm>
          <a:custGeom>
            <a:avLst/>
            <a:gdLst/>
            <a:ahLst/>
            <a:cxnLst/>
            <a:rect l="l" t="t" r="r" b="b"/>
            <a:pathLst>
              <a:path w="4206240" h="0">
                <a:moveTo>
                  <a:pt x="0" y="0"/>
                </a:moveTo>
                <a:lnTo>
                  <a:pt x="4206240" y="0"/>
                </a:lnTo>
              </a:path>
            </a:pathLst>
          </a:custGeom>
          <a:noFill/>
          <a:ln w="13970">
            <a:solidFill>
              <a:srgbClr val="2C46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Freeform 5"/>
          <p:cNvSpPr/>
          <p:nvPr/>
        </p:nvSpPr>
        <p:spPr>
          <a:xfrm>
            <a:off x="9464040" y="1125582"/>
            <a:ext cx="0" cy="4606835"/>
          </a:xfrm>
          <a:custGeom>
            <a:avLst/>
            <a:gdLst/>
            <a:ahLst/>
            <a:cxnLst/>
            <a:rect l="l" t="t" r="r" b="b"/>
            <a:pathLst>
              <a:path w="0" h="4606835">
                <a:moveTo>
                  <a:pt x="0" y="4606835"/>
                </a:moveTo>
                <a:lnTo>
                  <a:pt x="0" y="0"/>
                </a:lnTo>
              </a:path>
            </a:pathLst>
          </a:custGeom>
          <a:noFill/>
          <a:ln w="13970">
            <a:solidFill>
              <a:srgbClr val="2C46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Freeform 6"/>
          <p:cNvSpPr/>
          <p:nvPr/>
        </p:nvSpPr>
        <p:spPr>
          <a:xfrm>
            <a:off x="8047803" y="2427528"/>
            <a:ext cx="2832551" cy="2002943"/>
          </a:xfrm>
          <a:custGeom>
            <a:avLst/>
            <a:gdLst/>
            <a:ahLst/>
            <a:cxnLst/>
            <a:rect l="l" t="t" r="r" b="b"/>
            <a:pathLst>
              <a:path w="2832551" h="2002943">
                <a:moveTo>
                  <a:pt x="2832551" y="1001472"/>
                </a:moveTo>
                <a:lnTo>
                  <a:pt x="2832238" y="980428"/>
                </a:lnTo>
                <a:lnTo>
                  <a:pt x="2831301" y="959393"/>
                </a:lnTo>
                <a:lnTo>
                  <a:pt x="2829738" y="938378"/>
                </a:lnTo>
                <a:lnTo>
                  <a:pt x="2827551" y="917390"/>
                </a:lnTo>
                <a:lnTo>
                  <a:pt x="2824741" y="896439"/>
                </a:lnTo>
                <a:lnTo>
                  <a:pt x="2821308" y="875534"/>
                </a:lnTo>
                <a:lnTo>
                  <a:pt x="2817256" y="854686"/>
                </a:lnTo>
                <a:lnTo>
                  <a:pt x="2812585" y="833902"/>
                </a:lnTo>
                <a:lnTo>
                  <a:pt x="2807297" y="813192"/>
                </a:lnTo>
                <a:lnTo>
                  <a:pt x="2801395" y="792565"/>
                </a:lnTo>
                <a:lnTo>
                  <a:pt x="2794881" y="772030"/>
                </a:lnTo>
                <a:lnTo>
                  <a:pt x="2787759" y="751597"/>
                </a:lnTo>
                <a:lnTo>
                  <a:pt x="2780030" y="731274"/>
                </a:lnTo>
                <a:lnTo>
                  <a:pt x="2771700" y="711070"/>
                </a:lnTo>
                <a:lnTo>
                  <a:pt x="2762771" y="690995"/>
                </a:lnTo>
                <a:lnTo>
                  <a:pt x="2753248" y="671056"/>
                </a:lnTo>
                <a:lnTo>
                  <a:pt x="2743134" y="651264"/>
                </a:lnTo>
                <a:lnTo>
                  <a:pt x="2732434" y="631626"/>
                </a:lnTo>
                <a:lnTo>
                  <a:pt x="2721153" y="612152"/>
                </a:lnTo>
                <a:lnTo>
                  <a:pt x="2709296" y="592849"/>
                </a:lnTo>
                <a:lnTo>
                  <a:pt x="2696868" y="573727"/>
                </a:lnTo>
                <a:lnTo>
                  <a:pt x="2683874" y="554794"/>
                </a:lnTo>
                <a:lnTo>
                  <a:pt x="2670321" y="536058"/>
                </a:lnTo>
                <a:lnTo>
                  <a:pt x="2656214" y="517527"/>
                </a:lnTo>
                <a:lnTo>
                  <a:pt x="2641559" y="499211"/>
                </a:lnTo>
                <a:lnTo>
                  <a:pt x="2626363" y="481116"/>
                </a:lnTo>
                <a:lnTo>
                  <a:pt x="2610633" y="463250"/>
                </a:lnTo>
                <a:lnTo>
                  <a:pt x="2594376" y="445623"/>
                </a:lnTo>
                <a:lnTo>
                  <a:pt x="2577598" y="428241"/>
                </a:lnTo>
                <a:lnTo>
                  <a:pt x="2560307" y="411112"/>
                </a:lnTo>
                <a:lnTo>
                  <a:pt x="2542511" y="394243"/>
                </a:lnTo>
                <a:lnTo>
                  <a:pt x="2524218" y="377643"/>
                </a:lnTo>
                <a:lnTo>
                  <a:pt x="2505436" y="361318"/>
                </a:lnTo>
                <a:lnTo>
                  <a:pt x="2486173" y="345276"/>
                </a:lnTo>
                <a:lnTo>
                  <a:pt x="2466437" y="329524"/>
                </a:lnTo>
                <a:lnTo>
                  <a:pt x="2446237" y="314069"/>
                </a:lnTo>
                <a:lnTo>
                  <a:pt x="2425583" y="298917"/>
                </a:lnTo>
                <a:lnTo>
                  <a:pt x="2404483" y="284075"/>
                </a:lnTo>
                <a:lnTo>
                  <a:pt x="2382947" y="269550"/>
                </a:lnTo>
                <a:lnTo>
                  <a:pt x="2360983" y="255348"/>
                </a:lnTo>
                <a:lnTo>
                  <a:pt x="2338603" y="241476"/>
                </a:lnTo>
                <a:lnTo>
                  <a:pt x="2315815" y="227939"/>
                </a:lnTo>
                <a:lnTo>
                  <a:pt x="2292630" y="214744"/>
                </a:lnTo>
                <a:lnTo>
                  <a:pt x="2269058" y="201896"/>
                </a:lnTo>
                <a:lnTo>
                  <a:pt x="2245110" y="189401"/>
                </a:lnTo>
                <a:lnTo>
                  <a:pt x="2220795" y="177265"/>
                </a:lnTo>
                <a:lnTo>
                  <a:pt x="2196125" y="165493"/>
                </a:lnTo>
                <a:lnTo>
                  <a:pt x="2171111" y="154090"/>
                </a:lnTo>
                <a:lnTo>
                  <a:pt x="2145763" y="143061"/>
                </a:lnTo>
                <a:lnTo>
                  <a:pt x="2120094" y="132411"/>
                </a:lnTo>
                <a:lnTo>
                  <a:pt x="2094113" y="122145"/>
                </a:lnTo>
                <a:lnTo>
                  <a:pt x="2067833" y="112267"/>
                </a:lnTo>
                <a:lnTo>
                  <a:pt x="2041266" y="102782"/>
                </a:lnTo>
                <a:lnTo>
                  <a:pt x="2014422" y="93694"/>
                </a:lnTo>
                <a:lnTo>
                  <a:pt x="1987315" y="85006"/>
                </a:lnTo>
                <a:lnTo>
                  <a:pt x="1959955" y="76723"/>
                </a:lnTo>
                <a:lnTo>
                  <a:pt x="1932355" y="68849"/>
                </a:lnTo>
                <a:lnTo>
                  <a:pt x="1904527" y="61386"/>
                </a:lnTo>
                <a:lnTo>
                  <a:pt x="1876483" y="54339"/>
                </a:lnTo>
                <a:lnTo>
                  <a:pt x="1848237" y="47710"/>
                </a:lnTo>
                <a:lnTo>
                  <a:pt x="1819799" y="41502"/>
                </a:lnTo>
                <a:lnTo>
                  <a:pt x="1791184" y="35717"/>
                </a:lnTo>
                <a:lnTo>
                  <a:pt x="1762402" y="30360"/>
                </a:lnTo>
                <a:lnTo>
                  <a:pt x="1733468" y="25431"/>
                </a:lnTo>
                <a:lnTo>
                  <a:pt x="1704394" y="20933"/>
                </a:lnTo>
                <a:lnTo>
                  <a:pt x="1675193" y="16868"/>
                </a:lnTo>
                <a:lnTo>
                  <a:pt x="1645877" y="13238"/>
                </a:lnTo>
                <a:lnTo>
                  <a:pt x="1616460" y="10044"/>
                </a:lnTo>
                <a:lnTo>
                  <a:pt x="1586954" y="7288"/>
                </a:lnTo>
                <a:lnTo>
                  <a:pt x="1557373" y="4971"/>
                </a:lnTo>
                <a:lnTo>
                  <a:pt x="1527730" y="3094"/>
                </a:lnTo>
                <a:lnTo>
                  <a:pt x="1498038" y="1658"/>
                </a:lnTo>
                <a:lnTo>
                  <a:pt x="1468309" y="663"/>
                </a:lnTo>
                <a:lnTo>
                  <a:pt x="1438557" y="110"/>
                </a:lnTo>
                <a:lnTo>
                  <a:pt x="1408796" y="0"/>
                </a:lnTo>
                <a:lnTo>
                  <a:pt x="1379038" y="331"/>
                </a:lnTo>
                <a:lnTo>
                  <a:pt x="1349296" y="1105"/>
                </a:lnTo>
                <a:lnTo>
                  <a:pt x="1319584" y="2320"/>
                </a:lnTo>
                <a:lnTo>
                  <a:pt x="1289914" y="3977"/>
                </a:lnTo>
                <a:lnTo>
                  <a:pt x="1260300" y="6074"/>
                </a:lnTo>
                <a:lnTo>
                  <a:pt x="1230756" y="8611"/>
                </a:lnTo>
                <a:lnTo>
                  <a:pt x="1201293" y="11586"/>
                </a:lnTo>
                <a:lnTo>
                  <a:pt x="1171925" y="14998"/>
                </a:lnTo>
                <a:lnTo>
                  <a:pt x="1142664" y="18846"/>
                </a:lnTo>
                <a:lnTo>
                  <a:pt x="1113525" y="23128"/>
                </a:lnTo>
                <a:lnTo>
                  <a:pt x="1084519" y="27841"/>
                </a:lnTo>
                <a:lnTo>
                  <a:pt x="1055660" y="32985"/>
                </a:lnTo>
                <a:lnTo>
                  <a:pt x="1026960" y="38556"/>
                </a:lnTo>
                <a:lnTo>
                  <a:pt x="998432" y="44553"/>
                </a:lnTo>
                <a:lnTo>
                  <a:pt x="970088" y="50972"/>
                </a:lnTo>
                <a:lnTo>
                  <a:pt x="941942" y="57811"/>
                </a:lnTo>
                <a:lnTo>
                  <a:pt x="914004" y="65066"/>
                </a:lnTo>
                <a:lnTo>
                  <a:pt x="886289" y="72735"/>
                </a:lnTo>
                <a:lnTo>
                  <a:pt x="858808" y="80814"/>
                </a:lnTo>
                <a:lnTo>
                  <a:pt x="831572" y="89300"/>
                </a:lnTo>
                <a:lnTo>
                  <a:pt x="804595" y="98188"/>
                </a:lnTo>
                <a:lnTo>
                  <a:pt x="777888" y="107475"/>
                </a:lnTo>
                <a:lnTo>
                  <a:pt x="751463" y="117157"/>
                </a:lnTo>
                <a:lnTo>
                  <a:pt x="725331" y="127230"/>
                </a:lnTo>
                <a:lnTo>
                  <a:pt x="699505" y="137688"/>
                </a:lnTo>
                <a:lnTo>
                  <a:pt x="673995" y="148528"/>
                </a:lnTo>
                <a:lnTo>
                  <a:pt x="648813" y="159745"/>
                </a:lnTo>
                <a:lnTo>
                  <a:pt x="623969" y="171333"/>
                </a:lnTo>
                <a:lnTo>
                  <a:pt x="599476" y="183288"/>
                </a:lnTo>
                <a:lnTo>
                  <a:pt x="575343" y="195604"/>
                </a:lnTo>
                <a:lnTo>
                  <a:pt x="551581" y="208276"/>
                </a:lnTo>
                <a:lnTo>
                  <a:pt x="528201" y="221298"/>
                </a:lnTo>
                <a:lnTo>
                  <a:pt x="505214" y="234665"/>
                </a:lnTo>
                <a:lnTo>
                  <a:pt x="482628" y="248370"/>
                </a:lnTo>
                <a:lnTo>
                  <a:pt x="460455" y="262408"/>
                </a:lnTo>
                <a:lnTo>
                  <a:pt x="438704" y="276772"/>
                </a:lnTo>
                <a:lnTo>
                  <a:pt x="417385" y="291456"/>
                </a:lnTo>
                <a:lnTo>
                  <a:pt x="396507" y="306454"/>
                </a:lnTo>
                <a:lnTo>
                  <a:pt x="376078" y="321759"/>
                </a:lnTo>
                <a:lnTo>
                  <a:pt x="356110" y="337364"/>
                </a:lnTo>
                <a:lnTo>
                  <a:pt x="336609" y="353262"/>
                </a:lnTo>
                <a:lnTo>
                  <a:pt x="317585" y="369446"/>
                </a:lnTo>
                <a:lnTo>
                  <a:pt x="299046" y="385909"/>
                </a:lnTo>
                <a:lnTo>
                  <a:pt x="281001" y="402644"/>
                </a:lnTo>
                <a:lnTo>
                  <a:pt x="263457" y="419644"/>
                </a:lnTo>
                <a:lnTo>
                  <a:pt x="246422" y="436901"/>
                </a:lnTo>
                <a:lnTo>
                  <a:pt x="229903" y="454406"/>
                </a:lnTo>
                <a:lnTo>
                  <a:pt x="213908" y="472154"/>
                </a:lnTo>
                <a:lnTo>
                  <a:pt x="198445" y="490135"/>
                </a:lnTo>
                <a:lnTo>
                  <a:pt x="183519" y="508342"/>
                </a:lnTo>
                <a:lnTo>
                  <a:pt x="169137" y="526766"/>
                </a:lnTo>
                <a:lnTo>
                  <a:pt x="155306" y="545401"/>
                </a:lnTo>
                <a:lnTo>
                  <a:pt x="142032" y="564236"/>
                </a:lnTo>
                <a:lnTo>
                  <a:pt x="129320" y="583265"/>
                </a:lnTo>
                <a:lnTo>
                  <a:pt x="117177" y="602478"/>
                </a:lnTo>
                <a:lnTo>
                  <a:pt x="105607" y="621868"/>
                </a:lnTo>
                <a:lnTo>
                  <a:pt x="94616" y="641425"/>
                </a:lnTo>
                <a:lnTo>
                  <a:pt x="84209" y="661141"/>
                </a:lnTo>
                <a:lnTo>
                  <a:pt x="74389" y="681008"/>
                </a:lnTo>
                <a:lnTo>
                  <a:pt x="65163" y="701016"/>
                </a:lnTo>
                <a:lnTo>
                  <a:pt x="56533" y="721157"/>
                </a:lnTo>
                <a:lnTo>
                  <a:pt x="48503" y="741421"/>
                </a:lnTo>
                <a:lnTo>
                  <a:pt x="41077" y="761800"/>
                </a:lnTo>
                <a:lnTo>
                  <a:pt x="34259" y="782285"/>
                </a:lnTo>
                <a:lnTo>
                  <a:pt x="28051" y="802867"/>
                </a:lnTo>
                <a:lnTo>
                  <a:pt x="22455" y="823537"/>
                </a:lnTo>
                <a:lnTo>
                  <a:pt x="17476" y="844285"/>
                </a:lnTo>
                <a:lnTo>
                  <a:pt x="13113" y="865103"/>
                </a:lnTo>
                <a:lnTo>
                  <a:pt x="9371" y="885980"/>
                </a:lnTo>
                <a:lnTo>
                  <a:pt x="6250" y="906909"/>
                </a:lnTo>
                <a:lnTo>
                  <a:pt x="3751" y="927880"/>
                </a:lnTo>
                <a:lnTo>
                  <a:pt x="1876" y="948883"/>
                </a:lnTo>
                <a:lnTo>
                  <a:pt x="625" y="969909"/>
                </a:lnTo>
                <a:lnTo>
                  <a:pt x="0" y="990949"/>
                </a:lnTo>
                <a:lnTo>
                  <a:pt x="0" y="1011994"/>
                </a:lnTo>
                <a:lnTo>
                  <a:pt x="625" y="1033034"/>
                </a:lnTo>
                <a:lnTo>
                  <a:pt x="1876" y="1054060"/>
                </a:lnTo>
                <a:lnTo>
                  <a:pt x="3751" y="1075063"/>
                </a:lnTo>
                <a:lnTo>
                  <a:pt x="6250" y="1096034"/>
                </a:lnTo>
                <a:lnTo>
                  <a:pt x="9371" y="1116963"/>
                </a:lnTo>
                <a:lnTo>
                  <a:pt x="13113" y="1137840"/>
                </a:lnTo>
                <a:lnTo>
                  <a:pt x="17476" y="1158658"/>
                </a:lnTo>
                <a:lnTo>
                  <a:pt x="22455" y="1179406"/>
                </a:lnTo>
                <a:lnTo>
                  <a:pt x="28051" y="1200076"/>
                </a:lnTo>
                <a:lnTo>
                  <a:pt x="34259" y="1220658"/>
                </a:lnTo>
                <a:lnTo>
                  <a:pt x="41077" y="1241143"/>
                </a:lnTo>
                <a:lnTo>
                  <a:pt x="48503" y="1261522"/>
                </a:lnTo>
                <a:lnTo>
                  <a:pt x="56533" y="1281786"/>
                </a:lnTo>
                <a:lnTo>
                  <a:pt x="65163" y="1301927"/>
                </a:lnTo>
                <a:lnTo>
                  <a:pt x="74389" y="1321935"/>
                </a:lnTo>
                <a:lnTo>
                  <a:pt x="84209" y="1341802"/>
                </a:lnTo>
                <a:lnTo>
                  <a:pt x="94616" y="1361518"/>
                </a:lnTo>
                <a:lnTo>
                  <a:pt x="105607" y="1381075"/>
                </a:lnTo>
                <a:lnTo>
                  <a:pt x="117177" y="1400465"/>
                </a:lnTo>
                <a:lnTo>
                  <a:pt x="129320" y="1419678"/>
                </a:lnTo>
                <a:lnTo>
                  <a:pt x="142032" y="1438707"/>
                </a:lnTo>
                <a:lnTo>
                  <a:pt x="155306" y="1457542"/>
                </a:lnTo>
                <a:lnTo>
                  <a:pt x="169137" y="1476177"/>
                </a:lnTo>
                <a:lnTo>
                  <a:pt x="183519" y="1494601"/>
                </a:lnTo>
                <a:lnTo>
                  <a:pt x="198445" y="1512808"/>
                </a:lnTo>
                <a:lnTo>
                  <a:pt x="213908" y="1530789"/>
                </a:lnTo>
                <a:lnTo>
                  <a:pt x="229903" y="1548537"/>
                </a:lnTo>
                <a:lnTo>
                  <a:pt x="246422" y="1566042"/>
                </a:lnTo>
                <a:lnTo>
                  <a:pt x="263457" y="1583299"/>
                </a:lnTo>
                <a:lnTo>
                  <a:pt x="281001" y="1600299"/>
                </a:lnTo>
                <a:lnTo>
                  <a:pt x="299046" y="1617034"/>
                </a:lnTo>
                <a:lnTo>
                  <a:pt x="317585" y="1633497"/>
                </a:lnTo>
                <a:lnTo>
                  <a:pt x="336609" y="1649681"/>
                </a:lnTo>
                <a:lnTo>
                  <a:pt x="356110" y="1665579"/>
                </a:lnTo>
                <a:lnTo>
                  <a:pt x="376078" y="1681184"/>
                </a:lnTo>
                <a:lnTo>
                  <a:pt x="396507" y="1696489"/>
                </a:lnTo>
                <a:lnTo>
                  <a:pt x="417385" y="1711487"/>
                </a:lnTo>
                <a:lnTo>
                  <a:pt x="438704" y="1726171"/>
                </a:lnTo>
                <a:lnTo>
                  <a:pt x="460455" y="1740535"/>
                </a:lnTo>
                <a:lnTo>
                  <a:pt x="482628" y="1754573"/>
                </a:lnTo>
                <a:lnTo>
                  <a:pt x="505214" y="1768278"/>
                </a:lnTo>
                <a:lnTo>
                  <a:pt x="528201" y="1781645"/>
                </a:lnTo>
                <a:lnTo>
                  <a:pt x="551581" y="1794667"/>
                </a:lnTo>
                <a:lnTo>
                  <a:pt x="575343" y="1807339"/>
                </a:lnTo>
                <a:lnTo>
                  <a:pt x="599476" y="1819655"/>
                </a:lnTo>
                <a:lnTo>
                  <a:pt x="623969" y="1831610"/>
                </a:lnTo>
                <a:lnTo>
                  <a:pt x="648813" y="1843198"/>
                </a:lnTo>
                <a:lnTo>
                  <a:pt x="673995" y="1854415"/>
                </a:lnTo>
                <a:lnTo>
                  <a:pt x="699505" y="1865255"/>
                </a:lnTo>
                <a:lnTo>
                  <a:pt x="725331" y="1875713"/>
                </a:lnTo>
                <a:lnTo>
                  <a:pt x="751463" y="1885786"/>
                </a:lnTo>
                <a:lnTo>
                  <a:pt x="777888" y="1895468"/>
                </a:lnTo>
                <a:lnTo>
                  <a:pt x="804595" y="1904755"/>
                </a:lnTo>
                <a:lnTo>
                  <a:pt x="831572" y="1913643"/>
                </a:lnTo>
                <a:lnTo>
                  <a:pt x="858808" y="1922129"/>
                </a:lnTo>
                <a:lnTo>
                  <a:pt x="886289" y="1930208"/>
                </a:lnTo>
                <a:lnTo>
                  <a:pt x="914004" y="1937877"/>
                </a:lnTo>
                <a:lnTo>
                  <a:pt x="941942" y="1945132"/>
                </a:lnTo>
                <a:lnTo>
                  <a:pt x="970088" y="1951971"/>
                </a:lnTo>
                <a:lnTo>
                  <a:pt x="998432" y="1958390"/>
                </a:lnTo>
                <a:lnTo>
                  <a:pt x="1026960" y="1964387"/>
                </a:lnTo>
                <a:lnTo>
                  <a:pt x="1055660" y="1969958"/>
                </a:lnTo>
                <a:lnTo>
                  <a:pt x="1084519" y="1975102"/>
                </a:lnTo>
                <a:lnTo>
                  <a:pt x="1113525" y="1979815"/>
                </a:lnTo>
                <a:lnTo>
                  <a:pt x="1142664" y="1984097"/>
                </a:lnTo>
                <a:lnTo>
                  <a:pt x="1171925" y="1987945"/>
                </a:lnTo>
                <a:lnTo>
                  <a:pt x="1201293" y="1991357"/>
                </a:lnTo>
                <a:lnTo>
                  <a:pt x="1230756" y="1994332"/>
                </a:lnTo>
                <a:lnTo>
                  <a:pt x="1260300" y="1996869"/>
                </a:lnTo>
                <a:lnTo>
                  <a:pt x="1289914" y="1998966"/>
                </a:lnTo>
                <a:lnTo>
                  <a:pt x="1319584" y="2000623"/>
                </a:lnTo>
                <a:lnTo>
                  <a:pt x="1349296" y="2001838"/>
                </a:lnTo>
                <a:lnTo>
                  <a:pt x="1379038" y="2002612"/>
                </a:lnTo>
                <a:lnTo>
                  <a:pt x="1408796" y="2002943"/>
                </a:lnTo>
                <a:lnTo>
                  <a:pt x="1438557" y="2002833"/>
                </a:lnTo>
                <a:lnTo>
                  <a:pt x="1468309" y="2002280"/>
                </a:lnTo>
                <a:lnTo>
                  <a:pt x="1498038" y="2001285"/>
                </a:lnTo>
                <a:lnTo>
                  <a:pt x="1527730" y="1999849"/>
                </a:lnTo>
                <a:lnTo>
                  <a:pt x="1557373" y="1997972"/>
                </a:lnTo>
                <a:lnTo>
                  <a:pt x="1586954" y="1995655"/>
                </a:lnTo>
                <a:lnTo>
                  <a:pt x="1616460" y="1992899"/>
                </a:lnTo>
                <a:lnTo>
                  <a:pt x="1645877" y="1989705"/>
                </a:lnTo>
                <a:lnTo>
                  <a:pt x="1675193" y="1986075"/>
                </a:lnTo>
                <a:lnTo>
                  <a:pt x="1704394" y="1982010"/>
                </a:lnTo>
                <a:lnTo>
                  <a:pt x="1733468" y="1977512"/>
                </a:lnTo>
                <a:lnTo>
                  <a:pt x="1762402" y="1972583"/>
                </a:lnTo>
                <a:lnTo>
                  <a:pt x="1791184" y="1967226"/>
                </a:lnTo>
                <a:lnTo>
                  <a:pt x="1819799" y="1961441"/>
                </a:lnTo>
                <a:lnTo>
                  <a:pt x="1848237" y="1955233"/>
                </a:lnTo>
                <a:lnTo>
                  <a:pt x="1876483" y="1948604"/>
                </a:lnTo>
                <a:lnTo>
                  <a:pt x="1904527" y="1941557"/>
                </a:lnTo>
                <a:lnTo>
                  <a:pt x="1932355" y="1934094"/>
                </a:lnTo>
                <a:lnTo>
                  <a:pt x="1959955" y="1926220"/>
                </a:lnTo>
                <a:lnTo>
                  <a:pt x="1987315" y="1917937"/>
                </a:lnTo>
                <a:lnTo>
                  <a:pt x="2014422" y="1909249"/>
                </a:lnTo>
                <a:lnTo>
                  <a:pt x="2041266" y="1900161"/>
                </a:lnTo>
                <a:lnTo>
                  <a:pt x="2067833" y="1890676"/>
                </a:lnTo>
                <a:lnTo>
                  <a:pt x="2094113" y="1880798"/>
                </a:lnTo>
                <a:lnTo>
                  <a:pt x="2120094" y="1870532"/>
                </a:lnTo>
                <a:lnTo>
                  <a:pt x="2145763" y="1859882"/>
                </a:lnTo>
                <a:lnTo>
                  <a:pt x="2171111" y="1848853"/>
                </a:lnTo>
                <a:lnTo>
                  <a:pt x="2196125" y="1837450"/>
                </a:lnTo>
                <a:lnTo>
                  <a:pt x="2220795" y="1825678"/>
                </a:lnTo>
                <a:lnTo>
                  <a:pt x="2245110" y="1813542"/>
                </a:lnTo>
                <a:lnTo>
                  <a:pt x="2269058" y="1801047"/>
                </a:lnTo>
                <a:lnTo>
                  <a:pt x="2292630" y="1788199"/>
                </a:lnTo>
                <a:lnTo>
                  <a:pt x="2315815" y="1775004"/>
                </a:lnTo>
                <a:lnTo>
                  <a:pt x="2338603" y="1761467"/>
                </a:lnTo>
                <a:lnTo>
                  <a:pt x="2360983" y="1747595"/>
                </a:lnTo>
                <a:lnTo>
                  <a:pt x="2382947" y="1733393"/>
                </a:lnTo>
                <a:lnTo>
                  <a:pt x="2404483" y="1718868"/>
                </a:lnTo>
                <a:lnTo>
                  <a:pt x="2425583" y="1704026"/>
                </a:lnTo>
                <a:lnTo>
                  <a:pt x="2446237" y="1688874"/>
                </a:lnTo>
                <a:lnTo>
                  <a:pt x="2466437" y="1673419"/>
                </a:lnTo>
                <a:lnTo>
                  <a:pt x="2486173" y="1657667"/>
                </a:lnTo>
                <a:lnTo>
                  <a:pt x="2505436" y="1641625"/>
                </a:lnTo>
                <a:lnTo>
                  <a:pt x="2524218" y="1625300"/>
                </a:lnTo>
                <a:lnTo>
                  <a:pt x="2542511" y="1608700"/>
                </a:lnTo>
                <a:lnTo>
                  <a:pt x="2560307" y="1591831"/>
                </a:lnTo>
                <a:lnTo>
                  <a:pt x="2577598" y="1574702"/>
                </a:lnTo>
                <a:lnTo>
                  <a:pt x="2594376" y="1557320"/>
                </a:lnTo>
                <a:lnTo>
                  <a:pt x="2610633" y="1539693"/>
                </a:lnTo>
                <a:lnTo>
                  <a:pt x="2626363" y="1521827"/>
                </a:lnTo>
                <a:lnTo>
                  <a:pt x="2641559" y="1503732"/>
                </a:lnTo>
                <a:lnTo>
                  <a:pt x="2656214" y="1485416"/>
                </a:lnTo>
                <a:lnTo>
                  <a:pt x="2670321" y="1466885"/>
                </a:lnTo>
                <a:lnTo>
                  <a:pt x="2683874" y="1448149"/>
                </a:lnTo>
                <a:lnTo>
                  <a:pt x="2696868" y="1429216"/>
                </a:lnTo>
                <a:lnTo>
                  <a:pt x="2709296" y="1410094"/>
                </a:lnTo>
                <a:lnTo>
                  <a:pt x="2721153" y="1390791"/>
                </a:lnTo>
                <a:lnTo>
                  <a:pt x="2732434" y="1371317"/>
                </a:lnTo>
                <a:lnTo>
                  <a:pt x="2743134" y="1351679"/>
                </a:lnTo>
                <a:lnTo>
                  <a:pt x="2753248" y="1331887"/>
                </a:lnTo>
                <a:lnTo>
                  <a:pt x="2762771" y="1311948"/>
                </a:lnTo>
                <a:lnTo>
                  <a:pt x="2771700" y="1291873"/>
                </a:lnTo>
                <a:lnTo>
                  <a:pt x="2780030" y="1271669"/>
                </a:lnTo>
                <a:lnTo>
                  <a:pt x="2787759" y="1251346"/>
                </a:lnTo>
                <a:lnTo>
                  <a:pt x="2794881" y="1230913"/>
                </a:lnTo>
                <a:lnTo>
                  <a:pt x="2801395" y="1210378"/>
                </a:lnTo>
                <a:lnTo>
                  <a:pt x="2807297" y="1189751"/>
                </a:lnTo>
                <a:lnTo>
                  <a:pt x="2812585" y="1169041"/>
                </a:lnTo>
                <a:lnTo>
                  <a:pt x="2817256" y="1148257"/>
                </a:lnTo>
                <a:lnTo>
                  <a:pt x="2821308" y="1127409"/>
                </a:lnTo>
                <a:lnTo>
                  <a:pt x="2824741" y="1106504"/>
                </a:lnTo>
                <a:lnTo>
                  <a:pt x="2827551" y="1085553"/>
                </a:lnTo>
                <a:lnTo>
                  <a:pt x="2829738" y="1064565"/>
                </a:lnTo>
                <a:lnTo>
                  <a:pt x="2831301" y="1043550"/>
                </a:lnTo>
                <a:lnTo>
                  <a:pt x="2832238" y="1022515"/>
                </a:lnTo>
                <a:lnTo>
                  <a:pt x="2832551" y="1001472"/>
                </a:lnTo>
              </a:path>
            </a:pathLst>
          </a:custGeom>
          <a:noFill/>
          <a:ln w="27940">
            <a:solidFill>
              <a:srgbClr val="4E7A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Freeform 7"/>
          <p:cNvSpPr/>
          <p:nvPr/>
        </p:nvSpPr>
        <p:spPr>
          <a:xfrm>
            <a:off x="7386671" y="2012704"/>
            <a:ext cx="2907026" cy="1416296"/>
          </a:xfrm>
          <a:custGeom>
            <a:avLst/>
            <a:gdLst/>
            <a:ahLst/>
            <a:cxnLst/>
            <a:rect l="l" t="t" r="r" b="b"/>
            <a:pathLst>
              <a:path w="2907026" h="1416296">
                <a:moveTo>
                  <a:pt x="2907026" y="1416296"/>
                </a:moveTo>
                <a:lnTo>
                  <a:pt x="2906401" y="1386535"/>
                </a:lnTo>
                <a:lnTo>
                  <a:pt x="2904525" y="1356788"/>
                </a:lnTo>
                <a:lnTo>
                  <a:pt x="2901399" y="1327067"/>
                </a:lnTo>
                <a:lnTo>
                  <a:pt x="2897025" y="1297386"/>
                </a:lnTo>
                <a:lnTo>
                  <a:pt x="2891405" y="1267757"/>
                </a:lnTo>
                <a:lnTo>
                  <a:pt x="2884541" y="1238194"/>
                </a:lnTo>
                <a:lnTo>
                  <a:pt x="2876436" y="1208709"/>
                </a:lnTo>
                <a:lnTo>
                  <a:pt x="2867093" y="1179316"/>
                </a:lnTo>
                <a:lnTo>
                  <a:pt x="2856518" y="1150028"/>
                </a:lnTo>
                <a:lnTo>
                  <a:pt x="2844713" y="1120857"/>
                </a:lnTo>
                <a:lnTo>
                  <a:pt x="2831686" y="1091816"/>
                </a:lnTo>
                <a:lnTo>
                  <a:pt x="2817441" y="1062919"/>
                </a:lnTo>
                <a:lnTo>
                  <a:pt x="2801985" y="1034178"/>
                </a:lnTo>
                <a:lnTo>
                  <a:pt x="2785324" y="1005606"/>
                </a:lnTo>
                <a:lnTo>
                  <a:pt x="2767466" y="977215"/>
                </a:lnTo>
                <a:lnTo>
                  <a:pt x="2748420" y="949018"/>
                </a:lnTo>
                <a:lnTo>
                  <a:pt x="2728192" y="921027"/>
                </a:lnTo>
                <a:lnTo>
                  <a:pt x="2706792" y="893255"/>
                </a:lnTo>
                <a:lnTo>
                  <a:pt x="2684230" y="865714"/>
                </a:lnTo>
                <a:lnTo>
                  <a:pt x="2660516" y="838416"/>
                </a:lnTo>
                <a:lnTo>
                  <a:pt x="2635660" y="811374"/>
                </a:lnTo>
                <a:lnTo>
                  <a:pt x="2609673" y="784598"/>
                </a:lnTo>
                <a:lnTo>
                  <a:pt x="2582566" y="758101"/>
                </a:lnTo>
                <a:lnTo>
                  <a:pt x="2554351" y="731895"/>
                </a:lnTo>
                <a:lnTo>
                  <a:pt x="2525042" y="705991"/>
                </a:lnTo>
                <a:lnTo>
                  <a:pt x="2494651" y="680401"/>
                </a:lnTo>
                <a:lnTo>
                  <a:pt x="2463190" y="655136"/>
                </a:lnTo>
                <a:lnTo>
                  <a:pt x="2430675" y="630207"/>
                </a:lnTo>
                <a:lnTo>
                  <a:pt x="2397120" y="605625"/>
                </a:lnTo>
                <a:lnTo>
                  <a:pt x="2362539" y="581401"/>
                </a:lnTo>
                <a:lnTo>
                  <a:pt x="2326947" y="557545"/>
                </a:lnTo>
                <a:lnTo>
                  <a:pt x="2290361" y="534069"/>
                </a:lnTo>
                <a:lnTo>
                  <a:pt x="2252796" y="510982"/>
                </a:lnTo>
                <a:lnTo>
                  <a:pt x="2214269" y="488296"/>
                </a:lnTo>
                <a:lnTo>
                  <a:pt x="2174798" y="466018"/>
                </a:lnTo>
                <a:lnTo>
                  <a:pt x="2134399" y="444161"/>
                </a:lnTo>
                <a:lnTo>
                  <a:pt x="2093090" y="422733"/>
                </a:lnTo>
                <a:lnTo>
                  <a:pt x="2050890" y="401743"/>
                </a:lnTo>
                <a:lnTo>
                  <a:pt x="2007817" y="381202"/>
                </a:lnTo>
                <a:lnTo>
                  <a:pt x="1963891" y="361117"/>
                </a:lnTo>
                <a:lnTo>
                  <a:pt x="1919130" y="341499"/>
                </a:lnTo>
                <a:lnTo>
                  <a:pt x="1873554" y="322355"/>
                </a:lnTo>
                <a:lnTo>
                  <a:pt x="1827184" y="303694"/>
                </a:lnTo>
                <a:lnTo>
                  <a:pt x="1780040" y="285525"/>
                </a:lnTo>
                <a:lnTo>
                  <a:pt x="1732143" y="267854"/>
                </a:lnTo>
                <a:lnTo>
                  <a:pt x="1683514" y="250691"/>
                </a:lnTo>
                <a:lnTo>
                  <a:pt x="1634174" y="234043"/>
                </a:lnTo>
                <a:lnTo>
                  <a:pt x="1584146" y="217917"/>
                </a:lnTo>
                <a:lnTo>
                  <a:pt x="1533451" y="202319"/>
                </a:lnTo>
                <a:lnTo>
                  <a:pt x="1482111" y="187258"/>
                </a:lnTo>
                <a:lnTo>
                  <a:pt x="1430150" y="172740"/>
                </a:lnTo>
                <a:lnTo>
                  <a:pt x="1377591" y="158771"/>
                </a:lnTo>
                <a:lnTo>
                  <a:pt x="1324456" y="145357"/>
                </a:lnTo>
                <a:lnTo>
                  <a:pt x="1270769" y="132504"/>
                </a:lnTo>
                <a:lnTo>
                  <a:pt x="1216553" y="120218"/>
                </a:lnTo>
                <a:lnTo>
                  <a:pt x="1161834" y="108504"/>
                </a:lnTo>
                <a:lnTo>
                  <a:pt x="1106634" y="97368"/>
                </a:lnTo>
                <a:lnTo>
                  <a:pt x="1050978" y="86815"/>
                </a:lnTo>
                <a:lnTo>
                  <a:pt x="994891" y="76848"/>
                </a:lnTo>
                <a:lnTo>
                  <a:pt x="938398" y="67473"/>
                </a:lnTo>
                <a:lnTo>
                  <a:pt x="881523" y="58693"/>
                </a:lnTo>
                <a:lnTo>
                  <a:pt x="824291" y="50513"/>
                </a:lnTo>
                <a:lnTo>
                  <a:pt x="766729" y="42936"/>
                </a:lnTo>
                <a:lnTo>
                  <a:pt x="708861" y="35965"/>
                </a:lnTo>
                <a:lnTo>
                  <a:pt x="650713" y="29604"/>
                </a:lnTo>
                <a:lnTo>
                  <a:pt x="592310" y="23856"/>
                </a:lnTo>
                <a:lnTo>
                  <a:pt x="533678" y="18722"/>
                </a:lnTo>
                <a:lnTo>
                  <a:pt x="474844" y="14205"/>
                </a:lnTo>
                <a:lnTo>
                  <a:pt x="415833" y="10307"/>
                </a:lnTo>
                <a:lnTo>
                  <a:pt x="356671" y="7031"/>
                </a:lnTo>
                <a:lnTo>
                  <a:pt x="297384" y="4376"/>
                </a:lnTo>
                <a:lnTo>
                  <a:pt x="237999" y="2345"/>
                </a:lnTo>
                <a:lnTo>
                  <a:pt x="178542" y="938"/>
                </a:lnTo>
                <a:lnTo>
                  <a:pt x="119039" y="157"/>
                </a:lnTo>
                <a:lnTo>
                  <a:pt x="59516" y="0"/>
                </a:lnTo>
                <a:lnTo>
                  <a:pt x="0" y="469"/>
                </a:lnTo>
              </a:path>
            </a:pathLst>
          </a:custGeom>
          <a:noFill/>
          <a:ln w="20320">
            <a:solidFill>
              <a:srgbClr val="2E6BE6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Freeform 8"/>
          <p:cNvSpPr/>
          <p:nvPr/>
        </p:nvSpPr>
        <p:spPr>
          <a:xfrm>
            <a:off x="7386671" y="3429000"/>
            <a:ext cx="2907026" cy="1416295"/>
          </a:xfrm>
          <a:custGeom>
            <a:avLst/>
            <a:gdLst/>
            <a:ahLst/>
            <a:cxnLst/>
            <a:rect l="l" t="t" r="r" b="b"/>
            <a:pathLst>
              <a:path w="2907026" h="1416295">
                <a:moveTo>
                  <a:pt x="0" y="1415826"/>
                </a:moveTo>
                <a:lnTo>
                  <a:pt x="59516" y="1416295"/>
                </a:lnTo>
                <a:lnTo>
                  <a:pt x="119039" y="1416138"/>
                </a:lnTo>
                <a:lnTo>
                  <a:pt x="178542" y="1415357"/>
                </a:lnTo>
                <a:lnTo>
                  <a:pt x="237999" y="1413950"/>
                </a:lnTo>
                <a:lnTo>
                  <a:pt x="297384" y="1411919"/>
                </a:lnTo>
                <a:lnTo>
                  <a:pt x="356671" y="1409264"/>
                </a:lnTo>
                <a:lnTo>
                  <a:pt x="415833" y="1405988"/>
                </a:lnTo>
                <a:lnTo>
                  <a:pt x="474844" y="1402090"/>
                </a:lnTo>
                <a:lnTo>
                  <a:pt x="533678" y="1397573"/>
                </a:lnTo>
                <a:lnTo>
                  <a:pt x="592310" y="1392439"/>
                </a:lnTo>
                <a:lnTo>
                  <a:pt x="650713" y="1386691"/>
                </a:lnTo>
                <a:lnTo>
                  <a:pt x="708861" y="1380330"/>
                </a:lnTo>
                <a:lnTo>
                  <a:pt x="766729" y="1373359"/>
                </a:lnTo>
                <a:lnTo>
                  <a:pt x="824291" y="1365782"/>
                </a:lnTo>
                <a:lnTo>
                  <a:pt x="881523" y="1357602"/>
                </a:lnTo>
                <a:lnTo>
                  <a:pt x="938398" y="1348822"/>
                </a:lnTo>
                <a:lnTo>
                  <a:pt x="994891" y="1339447"/>
                </a:lnTo>
                <a:lnTo>
                  <a:pt x="1050978" y="1329480"/>
                </a:lnTo>
                <a:lnTo>
                  <a:pt x="1106634" y="1318927"/>
                </a:lnTo>
                <a:lnTo>
                  <a:pt x="1161834" y="1307791"/>
                </a:lnTo>
                <a:lnTo>
                  <a:pt x="1216553" y="1296077"/>
                </a:lnTo>
                <a:lnTo>
                  <a:pt x="1270769" y="1283791"/>
                </a:lnTo>
                <a:lnTo>
                  <a:pt x="1324456" y="1270938"/>
                </a:lnTo>
                <a:lnTo>
                  <a:pt x="1377591" y="1257524"/>
                </a:lnTo>
                <a:lnTo>
                  <a:pt x="1430150" y="1243555"/>
                </a:lnTo>
                <a:lnTo>
                  <a:pt x="1482111" y="1229037"/>
                </a:lnTo>
                <a:lnTo>
                  <a:pt x="1533451" y="1213976"/>
                </a:lnTo>
                <a:lnTo>
                  <a:pt x="1584146" y="1198378"/>
                </a:lnTo>
                <a:lnTo>
                  <a:pt x="1634174" y="1182252"/>
                </a:lnTo>
                <a:lnTo>
                  <a:pt x="1683514" y="1165604"/>
                </a:lnTo>
                <a:lnTo>
                  <a:pt x="1732143" y="1148441"/>
                </a:lnTo>
                <a:lnTo>
                  <a:pt x="1780040" y="1130770"/>
                </a:lnTo>
                <a:lnTo>
                  <a:pt x="1827184" y="1112601"/>
                </a:lnTo>
                <a:lnTo>
                  <a:pt x="1873554" y="1093940"/>
                </a:lnTo>
                <a:lnTo>
                  <a:pt x="1919130" y="1074796"/>
                </a:lnTo>
                <a:lnTo>
                  <a:pt x="1963891" y="1055178"/>
                </a:lnTo>
                <a:lnTo>
                  <a:pt x="2007817" y="1035093"/>
                </a:lnTo>
                <a:lnTo>
                  <a:pt x="2050890" y="1014552"/>
                </a:lnTo>
                <a:lnTo>
                  <a:pt x="2093090" y="993562"/>
                </a:lnTo>
                <a:lnTo>
                  <a:pt x="2134399" y="972134"/>
                </a:lnTo>
                <a:lnTo>
                  <a:pt x="2174798" y="950277"/>
                </a:lnTo>
                <a:lnTo>
                  <a:pt x="2214269" y="927999"/>
                </a:lnTo>
                <a:lnTo>
                  <a:pt x="2252796" y="905313"/>
                </a:lnTo>
                <a:lnTo>
                  <a:pt x="2290361" y="882226"/>
                </a:lnTo>
                <a:lnTo>
                  <a:pt x="2326947" y="858750"/>
                </a:lnTo>
                <a:lnTo>
                  <a:pt x="2362539" y="834894"/>
                </a:lnTo>
                <a:lnTo>
                  <a:pt x="2397120" y="810670"/>
                </a:lnTo>
                <a:lnTo>
                  <a:pt x="2430675" y="786088"/>
                </a:lnTo>
                <a:lnTo>
                  <a:pt x="2463190" y="761159"/>
                </a:lnTo>
                <a:lnTo>
                  <a:pt x="2494651" y="735894"/>
                </a:lnTo>
                <a:lnTo>
                  <a:pt x="2525042" y="710304"/>
                </a:lnTo>
                <a:lnTo>
                  <a:pt x="2554351" y="684400"/>
                </a:lnTo>
                <a:lnTo>
                  <a:pt x="2582566" y="658194"/>
                </a:lnTo>
                <a:lnTo>
                  <a:pt x="2609673" y="631697"/>
                </a:lnTo>
                <a:lnTo>
                  <a:pt x="2635660" y="604921"/>
                </a:lnTo>
                <a:lnTo>
                  <a:pt x="2660516" y="577879"/>
                </a:lnTo>
                <a:lnTo>
                  <a:pt x="2684230" y="550581"/>
                </a:lnTo>
                <a:lnTo>
                  <a:pt x="2706792" y="523040"/>
                </a:lnTo>
                <a:lnTo>
                  <a:pt x="2728192" y="495268"/>
                </a:lnTo>
                <a:lnTo>
                  <a:pt x="2748420" y="467277"/>
                </a:lnTo>
                <a:lnTo>
                  <a:pt x="2767466" y="439080"/>
                </a:lnTo>
                <a:lnTo>
                  <a:pt x="2785324" y="410689"/>
                </a:lnTo>
                <a:lnTo>
                  <a:pt x="2801985" y="382117"/>
                </a:lnTo>
                <a:lnTo>
                  <a:pt x="2817441" y="353376"/>
                </a:lnTo>
                <a:lnTo>
                  <a:pt x="2831686" y="324479"/>
                </a:lnTo>
                <a:lnTo>
                  <a:pt x="2844713" y="295438"/>
                </a:lnTo>
                <a:lnTo>
                  <a:pt x="2856518" y="266267"/>
                </a:lnTo>
                <a:lnTo>
                  <a:pt x="2867093" y="236979"/>
                </a:lnTo>
                <a:lnTo>
                  <a:pt x="2876436" y="207586"/>
                </a:lnTo>
                <a:lnTo>
                  <a:pt x="2884541" y="178101"/>
                </a:lnTo>
                <a:lnTo>
                  <a:pt x="2891405" y="148538"/>
                </a:lnTo>
                <a:lnTo>
                  <a:pt x="2897025" y="118909"/>
                </a:lnTo>
                <a:lnTo>
                  <a:pt x="2901399" y="89228"/>
                </a:lnTo>
                <a:lnTo>
                  <a:pt x="2904525" y="59507"/>
                </a:lnTo>
                <a:lnTo>
                  <a:pt x="2906401" y="29760"/>
                </a:lnTo>
                <a:lnTo>
                  <a:pt x="2907026" y="0"/>
                </a:lnTo>
              </a:path>
            </a:pathLst>
          </a:custGeom>
          <a:noFill/>
          <a:ln w="20320">
            <a:solidFill>
              <a:srgbClr val="2E6BE6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10424377" y="3387852"/>
            <a:ext cx="82296" cy="82296"/>
          </a:xfrm>
          <a:prstGeom prst="ellipse">
            <a:avLst/>
          </a:prstGeom>
          <a:solidFill>
            <a:srgbClr val="E8F0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7419920" y="3387852"/>
            <a:ext cx="82296" cy="82296"/>
          </a:xfrm>
          <a:prstGeom prst="ellipse">
            <a:avLst/>
          </a:prstGeom>
          <a:solidFill>
            <a:srgbClr val="E8F0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822960" y="1325880"/>
            <a:ext cx="822960" cy="82296"/>
          </a:xfrm>
          <a:prstGeom prst="rect">
            <a:avLst/>
          </a:prstGeom>
          <a:solidFill>
            <a:srgbClr val="2E6B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22960" y="1783080"/>
            <a:ext cx="6400800" cy="17373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1" i="0">
                <a:solidFill>
                  <a:srgbClr val="9DBCF2"/>
                </a:solidFill>
                <a:latin typeface="微软雅黑"/>
                <a:ea typeface="微软雅黑"/>
              </a:rPr>
              <a:t>2026 新高考Ⅱ卷</a:t>
            </a:r>
            <a:endParaRPr/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 i="0">
                <a:solidFill>
                  <a:srgbClr val="FFFFFF"/>
                </a:solidFill>
                <a:latin typeface="微软雅黑"/>
                <a:ea typeface="微软雅黑"/>
              </a:rPr>
              <a:t>第 18 题：椭圆轨迹题</a:t>
            </a:r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22960" y="3611880"/>
            <a:ext cx="6035040" cy="10972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800"/>
              </a:spcAft>
            </a:pPr>
            <a:r>
              <a:rPr sz="2000" b="0" i="0">
                <a:solidFill>
                  <a:srgbClr val="C9D8F0"/>
                </a:solidFill>
                <a:latin typeface="微软雅黑"/>
                <a:ea typeface="微软雅黑"/>
              </a:rPr>
              <a:t>解题思路 + 直观数学模型</a:t>
            </a:r>
            <a:endParaRPr/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8CA2C4"/>
                </a:solidFill>
                <a:latin typeface="微软雅黑"/>
                <a:ea typeface="微软雅黑"/>
              </a:rPr>
              <a:t>圆锥曲线的统一定义：一个离心率 e，三种形状</a:t>
            </a:r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2960" y="5577840"/>
            <a:ext cx="6400800" cy="8229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0" i="0">
                <a:solidFill>
                  <a:srgbClr val="8CA2C4"/>
                </a:solidFill>
                <a:latin typeface="微软雅黑"/>
                <a:ea typeface="微软雅黑"/>
              </a:rPr>
              <a:t>解析几何 · 17 分 · 12 页讲解</a:t>
            </a:r>
            <a:endParaRPr/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E84A8"/>
                </a:solidFill>
                <a:latin typeface="微软雅黑"/>
                <a:ea typeface="微软雅黑"/>
              </a:rPr>
              <a:t>配套文件：原题与来源说明、生成脚本 make_ppt.py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9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TextBox 1"/>
          <p:cNvSpPr txBox="1"/>
          <p:nvPr/>
        </p:nvSpPr>
        <p:spPr>
          <a:xfrm>
            <a:off x="822960" y="384048"/>
            <a:ext cx="10515600" cy="2926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2E6BE6"/>
                </a:solidFill>
                <a:latin typeface="微软雅黑"/>
                <a:ea typeface="微软雅黑"/>
              </a:rPr>
              <a:t>PART 00 · 题目</a:t>
            </a:r>
            <a:endParaRPr/>
          </a:p>
        </p:txBody>
      </p:sp>
      <p:sp>
        <p:nvSpPr>
          <p:cNvPr id="100" name="TextBox 2"/>
          <p:cNvSpPr txBox="1"/>
          <p:nvPr/>
        </p:nvSpPr>
        <p:spPr>
          <a:xfrm>
            <a:off x="822960" y="658368"/>
            <a:ext cx="10607040" cy="640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11223E"/>
                </a:solidFill>
                <a:latin typeface="微软雅黑"/>
                <a:ea typeface="微软雅黑"/>
              </a:rPr>
              <a:t>原题呈现</a:t>
            </a:r>
            <a:endParaRPr/>
          </a:p>
        </p:txBody>
      </p:sp>
      <p:sp>
        <p:nvSpPr>
          <p:cNvPr id="101" name="Rectangle 3"/>
          <p:cNvSpPr/>
          <p:nvPr/>
        </p:nvSpPr>
        <p:spPr>
          <a:xfrm>
            <a:off x="841248" y="1335024"/>
            <a:ext cx="658368" cy="68580"/>
          </a:xfrm>
          <a:prstGeom prst="rect">
            <a:avLst/>
          </a:prstGeom>
          <a:solidFill>
            <a:srgbClr val="2E6B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02" name="Rounded Rectangle 4"/>
          <p:cNvSpPr/>
          <p:nvPr/>
        </p:nvSpPr>
        <p:spPr>
          <a:xfrm>
            <a:off x="822960" y="1627632"/>
            <a:ext cx="10543032" cy="3401568"/>
          </a:xfrm>
          <a:prstGeom prst="roundRect">
            <a:avLst>
              <a:gd name="adj" fmla="val 5000"/>
            </a:avLst>
          </a:prstGeom>
          <a:solidFill>
            <a:srgbClr val="F2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03" name="Rectangle 5"/>
          <p:cNvSpPr/>
          <p:nvPr/>
        </p:nvSpPr>
        <p:spPr>
          <a:xfrm>
            <a:off x="822960" y="1627632"/>
            <a:ext cx="68580" cy="3401568"/>
          </a:xfrm>
          <a:prstGeom prst="rect">
            <a:avLst/>
          </a:prstGeom>
          <a:solidFill>
            <a:srgbClr val="2E6B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04" name="TextBox 6"/>
          <p:cNvSpPr txBox="1"/>
          <p:nvPr/>
        </p:nvSpPr>
        <p:spPr>
          <a:xfrm>
            <a:off x="1207008" y="1847088"/>
            <a:ext cx="9921240" cy="30175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900"/>
              </a:spcAft>
            </a:pPr>
            <a:r>
              <a:rPr sz="1550" b="1" i="0">
                <a:solidFill>
                  <a:srgbClr val="2E6BE6"/>
                </a:solidFill>
                <a:latin typeface="微软雅黑"/>
                <a:ea typeface="微软雅黑"/>
              </a:rPr>
              <a:t>18.（17 分）</a:t>
            </a:r>
            <a:r>
              <a:rPr sz="1550" b="0" i="0">
                <a:solidFill>
                  <a:srgbClr val="1B222E"/>
                </a:solidFill>
                <a:latin typeface="微软雅黑"/>
                <a:ea typeface="微软雅黑"/>
              </a:rPr>
              <a:t>已知椭圆 E：x²/a² + y² = 1（a &gt; 1），过 E 的右焦点且与 x 轴垂直的直线被 E 截得的线段长为 √2。</a:t>
            </a:r>
            <a:endParaRPr/>
          </a:p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900"/>
              </a:spcAft>
            </a:pPr>
            <a:r>
              <a:rPr sz="1550" b="1" i="0">
                <a:solidFill>
                  <a:srgbClr val="1B222E"/>
                </a:solidFill>
                <a:latin typeface="微软雅黑"/>
                <a:ea typeface="微软雅黑"/>
              </a:rPr>
              <a:t>（1）</a:t>
            </a:r>
            <a:r>
              <a:rPr sz="1550" b="0" i="0">
                <a:solidFill>
                  <a:srgbClr val="1B222E"/>
                </a:solidFill>
                <a:latin typeface="微软雅黑"/>
                <a:ea typeface="微软雅黑"/>
              </a:rPr>
              <a:t>求 E 的离心率；</a:t>
            </a:r>
            <a:endParaRPr/>
          </a:p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900"/>
              </a:spcAft>
            </a:pPr>
            <a:r>
              <a:rPr sz="1550" b="1" i="0">
                <a:solidFill>
                  <a:srgbClr val="1B222E"/>
                </a:solidFill>
                <a:latin typeface="微软雅黑"/>
                <a:ea typeface="微软雅黑"/>
              </a:rPr>
              <a:t>（2）</a:t>
            </a:r>
            <a:r>
              <a:rPr sz="1550" b="0" i="0">
                <a:solidFill>
                  <a:srgbClr val="1B222E"/>
                </a:solidFill>
                <a:latin typeface="微软雅黑"/>
                <a:ea typeface="微软雅黑"/>
              </a:rPr>
              <a:t>O 为坐标原点，给定点 G(t₀, 0)（t₀ ≠ 0），A(x₀, y₀)（y₀ ≠ 0）在 E 上，过点 A 作 y 轴的垂线，垂足为 B，AO 与 GB 交于点 P。当 A 在 E 上运动时，P 的轨迹为 M。</a:t>
            </a:r>
            <a:endParaRPr/>
          </a:p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900"/>
              </a:spcAft>
            </a:pPr>
            <a:r>
              <a:rPr sz="1550" b="1" i="0">
                <a:solidFill>
                  <a:srgbClr val="1B222E"/>
                </a:solidFill>
                <a:latin typeface="微软雅黑"/>
                <a:ea typeface="微软雅黑"/>
              </a:rPr>
              <a:t>　（i）</a:t>
            </a:r>
            <a:r>
              <a:rPr sz="1550" b="0" i="0">
                <a:solidFill>
                  <a:srgbClr val="1B222E"/>
                </a:solidFill>
                <a:latin typeface="微软雅黑"/>
                <a:ea typeface="微软雅黑"/>
              </a:rPr>
              <a:t>求 M 的方程，并说明 M 是什么曲线；</a:t>
            </a:r>
            <a:endParaRPr/>
          </a:p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1B222E"/>
                </a:solidFill>
                <a:latin typeface="微软雅黑"/>
                <a:ea typeface="微软雅黑"/>
              </a:rPr>
              <a:t>　（ii）</a:t>
            </a:r>
            <a:r>
              <a:rPr sz="1550" b="0" i="0">
                <a:solidFill>
                  <a:srgbClr val="1B222E"/>
                </a:solidFill>
                <a:latin typeface="微软雅黑"/>
                <a:ea typeface="微软雅黑"/>
              </a:rPr>
              <a:t>当 t₀ 为何值时，M 有中心点？当 M 有中心点时，平移 M 到 M′，使 O 为 M′ 的中心点，说明 M′ 为何形状？</a:t>
            </a:r>
            <a:endParaRPr/>
          </a:p>
        </p:txBody>
      </p:sp>
      <p:sp>
        <p:nvSpPr>
          <p:cNvPr id="105" name="Rounded Rectangle 7"/>
          <p:cNvSpPr/>
          <p:nvPr/>
        </p:nvSpPr>
        <p:spPr>
          <a:xfrm>
            <a:off x="822960" y="5230368"/>
            <a:ext cx="3355848" cy="96012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7780">
            <a:solidFill>
              <a:srgbClr val="2E6B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06" name="TextBox 8"/>
          <p:cNvSpPr txBox="1"/>
          <p:nvPr/>
        </p:nvSpPr>
        <p:spPr>
          <a:xfrm>
            <a:off x="1078992" y="5394960"/>
            <a:ext cx="2880360" cy="685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1" i="0">
                <a:solidFill>
                  <a:srgbClr val="2E6BE6"/>
                </a:solidFill>
                <a:latin typeface="微软雅黑"/>
                <a:ea typeface="微软雅黑"/>
              </a:rPr>
              <a:t>第（1）问</a:t>
            </a:r>
            <a:endParaRPr/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6B7484"/>
                </a:solidFill>
                <a:latin typeface="微软雅黑"/>
                <a:ea typeface="微软雅黑"/>
              </a:rPr>
              <a:t>通径 → 定 a、c → 离心率</a:t>
            </a:r>
            <a:endParaRPr/>
          </a:p>
        </p:txBody>
      </p:sp>
      <p:sp>
        <p:nvSpPr>
          <p:cNvPr id="107" name="Rounded Rectangle 9"/>
          <p:cNvSpPr/>
          <p:nvPr/>
        </p:nvSpPr>
        <p:spPr>
          <a:xfrm>
            <a:off x="4425696" y="5230368"/>
            <a:ext cx="3355848" cy="96012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7780">
            <a:solidFill>
              <a:srgbClr val="0EA5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08" name="TextBox 10"/>
          <p:cNvSpPr txBox="1"/>
          <p:nvPr/>
        </p:nvSpPr>
        <p:spPr>
          <a:xfrm>
            <a:off x="4681728" y="5394960"/>
            <a:ext cx="2880360" cy="685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1" i="0">
                <a:solidFill>
                  <a:srgbClr val="0EA57A"/>
                </a:solidFill>
                <a:latin typeface="微软雅黑"/>
                <a:ea typeface="微软雅黑"/>
              </a:rPr>
              <a:t>第（2）(i) 问</a:t>
            </a:r>
            <a:endParaRPr/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6B7484"/>
                </a:solidFill>
                <a:latin typeface="微软雅黑"/>
                <a:ea typeface="微软雅黑"/>
              </a:rPr>
              <a:t>几何定位 → 参数化 → 消参得轨迹</a:t>
            </a:r>
            <a:endParaRPr/>
          </a:p>
        </p:txBody>
      </p:sp>
      <p:sp>
        <p:nvSpPr>
          <p:cNvPr id="109" name="Rounded Rectangle 11"/>
          <p:cNvSpPr/>
          <p:nvPr/>
        </p:nvSpPr>
        <p:spPr>
          <a:xfrm>
            <a:off x="8028431" y="5230368"/>
            <a:ext cx="3355848" cy="96012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7780">
            <a:solidFill>
              <a:srgbClr val="E08A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10" name="TextBox 12"/>
          <p:cNvSpPr txBox="1"/>
          <p:nvPr/>
        </p:nvSpPr>
        <p:spPr>
          <a:xfrm>
            <a:off x="8284463" y="5394960"/>
            <a:ext cx="2880360" cy="685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1" i="0">
                <a:solidFill>
                  <a:srgbClr val="E08A1E"/>
                </a:solidFill>
                <a:latin typeface="微软雅黑"/>
                <a:ea typeface="微软雅黑"/>
              </a:rPr>
              <a:t>第（2）(ii) 问</a:t>
            </a:r>
            <a:endParaRPr/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6B7484"/>
                </a:solidFill>
                <a:latin typeface="微软雅黑"/>
                <a:ea typeface="微软雅黑"/>
              </a:rPr>
              <a:t>配平方找中心 → 平移 → 判形状</a:t>
            </a:r>
            <a:endParaRPr/>
          </a:p>
        </p:txBody>
      </p:sp>
      <p:sp>
        <p:nvSpPr>
          <p:cNvPr id="111" name="TextBox 13"/>
          <p:cNvSpPr txBox="1"/>
          <p:nvPr/>
        </p:nvSpPr>
        <p:spPr>
          <a:xfrm>
            <a:off x="822960" y="6428232"/>
            <a:ext cx="7315200" cy="2926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B7484"/>
                </a:solidFill>
                <a:latin typeface="微软雅黑"/>
                <a:ea typeface="微软雅黑"/>
              </a:rPr>
              <a:t>2026 · 新高考Ⅱ卷 · 第18题</a:t>
            </a:r>
            <a:endParaRPr/>
          </a:p>
        </p:txBody>
      </p:sp>
      <p:sp>
        <p:nvSpPr>
          <p:cNvPr id="112" name="TextBox 14"/>
          <p:cNvSpPr txBox="1"/>
          <p:nvPr/>
        </p:nvSpPr>
        <p:spPr>
          <a:xfrm>
            <a:off x="10607040" y="6428232"/>
            <a:ext cx="777240" cy="2926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E6BE6"/>
                </a:solidFill>
                <a:latin typeface="微软雅黑"/>
                <a:ea typeface="微软雅黑"/>
              </a:rPr>
              <a:t>02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spTree>
      <p:nvGrpSpPr>
        <p:cNvPr id="11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TextBox 1"/>
          <p:cNvSpPr txBox="1"/>
          <p:nvPr/>
        </p:nvSpPr>
        <p:spPr>
          <a:xfrm>
            <a:off x="822960" y="384048"/>
            <a:ext cx="10515600" cy="2926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2E6BE6"/>
                </a:solidFill>
                <a:latin typeface="微软雅黑"/>
                <a:ea typeface="微软雅黑"/>
              </a:rPr>
              <a:t>PART 01 · 送分的小题</a:t>
            </a:r>
            <a:endParaRPr/>
          </a:p>
        </p:txBody>
      </p:sp>
      <p:sp>
        <p:nvSpPr>
          <p:cNvPr id="115" name="TextBox 2"/>
          <p:cNvSpPr txBox="1"/>
          <p:nvPr/>
        </p:nvSpPr>
        <p:spPr>
          <a:xfrm>
            <a:off x="822960" y="658368"/>
            <a:ext cx="10607040" cy="640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11223E"/>
                </a:solidFill>
                <a:latin typeface="微软雅黑"/>
                <a:ea typeface="微软雅黑"/>
              </a:rPr>
              <a:t>第（1）问：通径定 a，离心率立得</a:t>
            </a:r>
            <a:endParaRPr/>
          </a:p>
        </p:txBody>
      </p:sp>
      <p:sp>
        <p:nvSpPr>
          <p:cNvPr id="116" name="Rectangle 3"/>
          <p:cNvSpPr/>
          <p:nvPr/>
        </p:nvSpPr>
        <p:spPr>
          <a:xfrm>
            <a:off x="841248" y="1335024"/>
            <a:ext cx="658368" cy="68580"/>
          </a:xfrm>
          <a:prstGeom prst="rect">
            <a:avLst/>
          </a:prstGeom>
          <a:solidFill>
            <a:srgbClr val="2E6B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17" name="TextBox 4"/>
          <p:cNvSpPr txBox="1"/>
          <p:nvPr/>
        </p:nvSpPr>
        <p:spPr>
          <a:xfrm>
            <a:off x="822960" y="1783080"/>
            <a:ext cx="5486400" cy="40233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1200"/>
              </a:spcAft>
            </a:pPr>
            <a:r>
              <a:rPr sz="1600" b="1" i="0">
                <a:solidFill>
                  <a:srgbClr val="2E6BE6"/>
                </a:solidFill>
                <a:latin typeface="微软雅黑"/>
                <a:ea typeface="微软雅黑"/>
              </a:rPr>
              <a:t xml:space="preserve">① </a:t>
            </a:r>
            <a:r>
              <a:rPr sz="1600" b="0" i="0">
                <a:solidFill>
                  <a:srgbClr val="1B222E"/>
                </a:solidFill>
                <a:latin typeface="微软雅黑"/>
                <a:ea typeface="微软雅黑"/>
              </a:rPr>
              <a:t>过焦点且垂直于长轴的弦叫</a:t>
            </a:r>
            <a:r>
              <a:rPr sz="1600" b="1" i="0">
                <a:solidFill>
                  <a:srgbClr val="2E6BE6"/>
                </a:solidFill>
                <a:latin typeface="微软雅黑"/>
                <a:ea typeface="微软雅黑"/>
              </a:rPr>
              <a:t>通径</a:t>
            </a:r>
            <a:r>
              <a:rPr sz="1600" b="0" i="0">
                <a:solidFill>
                  <a:srgbClr val="1B222E"/>
                </a:solidFill>
                <a:latin typeface="微软雅黑"/>
                <a:ea typeface="微软雅黑"/>
              </a:rPr>
              <a:t>，长为 2b²/a。</a:t>
            </a:r>
            <a:endParaRPr/>
          </a:p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1200"/>
              </a:spcAft>
            </a:pPr>
            <a:r>
              <a:rPr sz="1600" b="1" i="0">
                <a:solidFill>
                  <a:srgbClr val="2E6BE6"/>
                </a:solidFill>
                <a:latin typeface="微软雅黑"/>
                <a:ea typeface="微软雅黑"/>
              </a:rPr>
              <a:t xml:space="preserve">② </a:t>
            </a:r>
            <a:r>
              <a:rPr sz="1600" b="0" i="0">
                <a:solidFill>
                  <a:srgbClr val="1B222E"/>
                </a:solidFill>
                <a:latin typeface="微软雅黑"/>
                <a:ea typeface="微软雅黑"/>
              </a:rPr>
              <a:t>本题 b² = 1，故 √2 = 2/a，得 a = √2。</a:t>
            </a:r>
            <a:endParaRPr/>
          </a:p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1200"/>
              </a:spcAft>
            </a:pPr>
            <a:r>
              <a:rPr sz="1600" b="1" i="0">
                <a:solidFill>
                  <a:srgbClr val="2E6BE6"/>
                </a:solidFill>
                <a:latin typeface="微软雅黑"/>
                <a:ea typeface="微软雅黑"/>
              </a:rPr>
              <a:t xml:space="preserve">③ </a:t>
            </a:r>
            <a:r>
              <a:rPr sz="1600" b="0" i="0">
                <a:solidFill>
                  <a:srgbClr val="1B222E"/>
                </a:solidFill>
                <a:latin typeface="微软雅黑"/>
                <a:ea typeface="微软雅黑"/>
              </a:rPr>
              <a:t>c = √(a² − b²) = 1，所以 e = c/a = √2/2。</a:t>
            </a:r>
            <a:endParaRPr/>
          </a:p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1600"/>
              </a:spcAft>
            </a:pPr>
            <a:r>
              <a:rPr sz="1600" b="1" i="0">
                <a:solidFill>
                  <a:srgbClr val="2E6BE6"/>
                </a:solidFill>
                <a:latin typeface="微软雅黑"/>
                <a:ea typeface="微软雅黑"/>
              </a:rPr>
              <a:t xml:space="preserve">④ </a:t>
            </a:r>
            <a:r>
              <a:rPr sz="1600" b="0" i="0">
                <a:solidFill>
                  <a:srgbClr val="1B222E"/>
                </a:solidFill>
                <a:latin typeface="微软雅黑"/>
                <a:ea typeface="微软雅黑"/>
              </a:rPr>
              <a:t>于是椭圆确定为 E：x²/2 + y² = 1。</a:t>
            </a:r>
            <a:endParaRPr/>
          </a:p>
        </p:txBody>
      </p:sp>
      <p:sp>
        <p:nvSpPr>
          <p:cNvPr id="118" name="Rounded Rectangle 5"/>
          <p:cNvSpPr/>
          <p:nvPr/>
        </p:nvSpPr>
        <p:spPr>
          <a:xfrm>
            <a:off x="822960" y="4315968"/>
            <a:ext cx="5486400" cy="1325880"/>
          </a:xfrm>
          <a:prstGeom prst="roundRect">
            <a:avLst>
              <a:gd name="adj" fmla="val 10000"/>
            </a:avLst>
          </a:prstGeom>
          <a:solidFill>
            <a:srgbClr val="E8F0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19" name="Rectangle 6"/>
          <p:cNvSpPr/>
          <p:nvPr/>
        </p:nvSpPr>
        <p:spPr>
          <a:xfrm>
            <a:off x="822960" y="4315968"/>
            <a:ext cx="68580" cy="1325880"/>
          </a:xfrm>
          <a:prstGeom prst="rect">
            <a:avLst/>
          </a:prstGeom>
          <a:solidFill>
            <a:srgbClr val="2E6B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20" name="TextBox 7"/>
          <p:cNvSpPr txBox="1"/>
          <p:nvPr/>
        </p:nvSpPr>
        <p:spPr>
          <a:xfrm>
            <a:off x="1170432" y="4526280"/>
            <a:ext cx="4937760" cy="9601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1" i="0">
                <a:solidFill>
                  <a:srgbClr val="2E6BE6"/>
                </a:solidFill>
                <a:latin typeface="微软雅黑"/>
                <a:ea typeface="微软雅黑"/>
              </a:rPr>
              <a:t>答案：e = √2/2</a:t>
            </a:r>
            <a:endParaRPr/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6B7484"/>
                </a:solidFill>
                <a:latin typeface="微软雅黑"/>
                <a:ea typeface="微软雅黑"/>
              </a:rPr>
              <a:t>半焦距 c = 1，后续所有计算都建立在 E：x²/2 + y² = 1 上。</a:t>
            </a:r>
            <a:endParaRPr/>
          </a:p>
        </p:txBody>
      </p:sp>
      <p:sp>
        <p:nvSpPr>
          <p:cNvPr id="121" name="Rectangle 8"/>
          <p:cNvSpPr/>
          <p:nvPr/>
        </p:nvSpPr>
        <p:spPr>
          <a:xfrm>
            <a:off x="6720840" y="1600200"/>
            <a:ext cx="4663440" cy="4114800"/>
          </a:xfrm>
          <a:prstGeom prst="rect">
            <a:avLst/>
          </a:prstGeom>
          <a:noFill/>
          <a:ln w="12700">
            <a:solidFill>
              <a:srgbClr val="CFD7E3"/>
            </a:solidFill>
            <a:prstDash val="sysDot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22" name="Freeform 9"/>
          <p:cNvSpPr/>
          <p:nvPr/>
        </p:nvSpPr>
        <p:spPr>
          <a:xfrm>
            <a:off x="6720840" y="3657600"/>
            <a:ext cx="4663440" cy="0"/>
          </a:xfrm>
          <a:custGeom>
            <a:avLst/>
            <a:gdLst/>
            <a:ahLst/>
            <a:cxnLst/>
            <a:rect l="l" t="t" r="r" b="b"/>
            <a:pathLst>
              <a:path w="4663440" h="0">
                <a:moveTo>
                  <a:pt x="0" y="0"/>
                </a:moveTo>
                <a:lnTo>
                  <a:pt x="4663440" y="0"/>
                </a:lnTo>
              </a:path>
            </a:pathLst>
          </a:custGeom>
          <a:noFill/>
          <a:ln w="13970">
            <a:solidFill>
              <a:srgbClr val="CFD7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3" name="Freeform 10"/>
          <p:cNvSpPr/>
          <p:nvPr/>
        </p:nvSpPr>
        <p:spPr>
          <a:xfrm>
            <a:off x="9052559" y="1617345"/>
            <a:ext cx="0" cy="4080509"/>
          </a:xfrm>
          <a:custGeom>
            <a:avLst/>
            <a:gdLst/>
            <a:ahLst/>
            <a:cxnLst/>
            <a:rect l="l" t="t" r="r" b="b"/>
            <a:pathLst>
              <a:path w="0" h="4080509">
                <a:moveTo>
                  <a:pt x="0" y="4080509"/>
                </a:moveTo>
                <a:lnTo>
                  <a:pt x="0" y="0"/>
                </a:lnTo>
              </a:path>
            </a:pathLst>
          </a:custGeom>
          <a:noFill/>
          <a:ln w="13970">
            <a:solidFill>
              <a:srgbClr val="CFD7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4" name="Freeform 11"/>
          <p:cNvSpPr/>
          <p:nvPr/>
        </p:nvSpPr>
        <p:spPr>
          <a:xfrm>
            <a:off x="7886700" y="3587648"/>
            <a:ext cx="0" cy="139903"/>
          </a:xfrm>
          <a:custGeom>
            <a:avLst/>
            <a:gdLst/>
            <a:ahLst/>
            <a:cxnLst/>
            <a:rect l="l" t="t" r="r" b="b"/>
            <a:pathLst>
              <a:path w="0" h="139903">
                <a:moveTo>
                  <a:pt x="0" y="139903"/>
                </a:moveTo>
                <a:lnTo>
                  <a:pt x="0" y="0"/>
                </a:lnTo>
              </a:path>
            </a:pathLst>
          </a:custGeom>
          <a:noFill/>
          <a:ln w="12700">
            <a:solidFill>
              <a:srgbClr val="CFD7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5" name="TextBox 12"/>
          <p:cNvSpPr txBox="1"/>
          <p:nvPr/>
        </p:nvSpPr>
        <p:spPr>
          <a:xfrm>
            <a:off x="7612379" y="3703320"/>
            <a:ext cx="548640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B7484"/>
                </a:solidFill>
                <a:latin typeface="微软雅黑"/>
                <a:ea typeface="微软雅黑"/>
              </a:rPr>
              <a:t>-1</a:t>
            </a:r>
            <a:endParaRPr/>
          </a:p>
        </p:txBody>
      </p:sp>
      <p:sp>
        <p:nvSpPr>
          <p:cNvPr id="126" name="Freeform 13"/>
          <p:cNvSpPr/>
          <p:nvPr/>
        </p:nvSpPr>
        <p:spPr>
          <a:xfrm>
            <a:off x="10218419" y="3587648"/>
            <a:ext cx="0" cy="139903"/>
          </a:xfrm>
          <a:custGeom>
            <a:avLst/>
            <a:gdLst/>
            <a:ahLst/>
            <a:cxnLst/>
            <a:rect l="l" t="t" r="r" b="b"/>
            <a:pathLst>
              <a:path w="0" h="139903">
                <a:moveTo>
                  <a:pt x="0" y="139903"/>
                </a:moveTo>
                <a:lnTo>
                  <a:pt x="0" y="0"/>
                </a:lnTo>
              </a:path>
            </a:pathLst>
          </a:custGeom>
          <a:noFill/>
          <a:ln w="12700">
            <a:solidFill>
              <a:srgbClr val="CFD7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7" name="TextBox 14"/>
          <p:cNvSpPr txBox="1"/>
          <p:nvPr/>
        </p:nvSpPr>
        <p:spPr>
          <a:xfrm>
            <a:off x="9944099" y="3703320"/>
            <a:ext cx="548640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B7484"/>
                </a:solidFill>
                <a:latin typeface="微软雅黑"/>
                <a:ea typeface="微软雅黑"/>
              </a:rPr>
              <a:t>1</a:t>
            </a:r>
            <a:endParaRPr/>
          </a:p>
        </p:txBody>
      </p:sp>
      <p:sp>
        <p:nvSpPr>
          <p:cNvPr id="128" name="Freeform 15"/>
          <p:cNvSpPr/>
          <p:nvPr/>
        </p:nvSpPr>
        <p:spPr>
          <a:xfrm>
            <a:off x="8982608" y="4823460"/>
            <a:ext cx="139903" cy="0"/>
          </a:xfrm>
          <a:custGeom>
            <a:avLst/>
            <a:gdLst/>
            <a:ahLst/>
            <a:cxnLst/>
            <a:rect l="l" t="t" r="r" b="b"/>
            <a:pathLst>
              <a:path w="139903" h="0">
                <a:moveTo>
                  <a:pt x="0" y="0"/>
                </a:moveTo>
                <a:lnTo>
                  <a:pt x="139903" y="0"/>
                </a:lnTo>
              </a:path>
            </a:pathLst>
          </a:custGeom>
          <a:noFill/>
          <a:ln w="12700">
            <a:solidFill>
              <a:srgbClr val="CFD7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9" name="TextBox 16"/>
          <p:cNvSpPr txBox="1"/>
          <p:nvPr/>
        </p:nvSpPr>
        <p:spPr>
          <a:xfrm>
            <a:off x="9107424" y="4704588"/>
            <a:ext cx="548640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B7484"/>
                </a:solidFill>
                <a:latin typeface="微软雅黑"/>
                <a:ea typeface="微软雅黑"/>
              </a:rPr>
              <a:t>-1</a:t>
            </a:r>
            <a:endParaRPr/>
          </a:p>
        </p:txBody>
      </p:sp>
      <p:sp>
        <p:nvSpPr>
          <p:cNvPr id="130" name="Freeform 17"/>
          <p:cNvSpPr/>
          <p:nvPr/>
        </p:nvSpPr>
        <p:spPr>
          <a:xfrm>
            <a:off x="8982608" y="2491740"/>
            <a:ext cx="139903" cy="0"/>
          </a:xfrm>
          <a:custGeom>
            <a:avLst/>
            <a:gdLst/>
            <a:ahLst/>
            <a:cxnLst/>
            <a:rect l="l" t="t" r="r" b="b"/>
            <a:pathLst>
              <a:path w="139903" h="0">
                <a:moveTo>
                  <a:pt x="0" y="0"/>
                </a:moveTo>
                <a:lnTo>
                  <a:pt x="139903" y="0"/>
                </a:lnTo>
              </a:path>
            </a:pathLst>
          </a:custGeom>
          <a:noFill/>
          <a:ln w="12700">
            <a:solidFill>
              <a:srgbClr val="CFD7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1" name="TextBox 18"/>
          <p:cNvSpPr txBox="1"/>
          <p:nvPr/>
        </p:nvSpPr>
        <p:spPr>
          <a:xfrm>
            <a:off x="9107424" y="2372868"/>
            <a:ext cx="548640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B7484"/>
                </a:solidFill>
                <a:latin typeface="微软雅黑"/>
                <a:ea typeface="微软雅黑"/>
              </a:rPr>
              <a:t>1</a:t>
            </a:r>
            <a:endParaRPr/>
          </a:p>
        </p:txBody>
      </p:sp>
      <p:sp>
        <p:nvSpPr>
          <p:cNvPr id="132" name="TextBox 19"/>
          <p:cNvSpPr txBox="1"/>
          <p:nvPr/>
        </p:nvSpPr>
        <p:spPr>
          <a:xfrm>
            <a:off x="11402567" y="3419856"/>
            <a:ext cx="752551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B7484"/>
                </a:solidFill>
                <a:latin typeface="微软雅黑"/>
                <a:ea typeface="微软雅黑"/>
              </a:rPr>
              <a:t>x</a:t>
            </a:r>
            <a:endParaRPr/>
          </a:p>
        </p:txBody>
      </p:sp>
      <p:sp>
        <p:nvSpPr>
          <p:cNvPr id="133" name="TextBox 20"/>
          <p:cNvSpPr txBox="1"/>
          <p:nvPr/>
        </p:nvSpPr>
        <p:spPr>
          <a:xfrm>
            <a:off x="8814815" y="1599057"/>
            <a:ext cx="128016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B7484"/>
                </a:solidFill>
                <a:latin typeface="微软雅黑"/>
                <a:ea typeface="微软雅黑"/>
              </a:rPr>
              <a:t>y</a:t>
            </a:r>
            <a:endParaRPr/>
          </a:p>
        </p:txBody>
      </p:sp>
      <p:sp>
        <p:nvSpPr>
          <p:cNvPr id="134" name="Freeform 21"/>
          <p:cNvSpPr/>
          <p:nvPr/>
        </p:nvSpPr>
        <p:spPr>
          <a:xfrm>
            <a:off x="7403864" y="2491754"/>
            <a:ext cx="3297471" cy="2331691"/>
          </a:xfrm>
          <a:custGeom>
            <a:avLst/>
            <a:gdLst/>
            <a:ahLst/>
            <a:cxnLst/>
            <a:rect l="l" t="t" r="r" b="b"/>
            <a:pathLst>
              <a:path w="3297471" h="2331691">
                <a:moveTo>
                  <a:pt x="3297471" y="1165846"/>
                </a:moveTo>
                <a:lnTo>
                  <a:pt x="3297151" y="1142884"/>
                </a:lnTo>
                <a:lnTo>
                  <a:pt x="3296191" y="1119931"/>
                </a:lnTo>
                <a:lnTo>
                  <a:pt x="3294593" y="1096995"/>
                </a:lnTo>
                <a:lnTo>
                  <a:pt x="3292356" y="1074087"/>
                </a:lnTo>
                <a:lnTo>
                  <a:pt x="3289481" y="1051214"/>
                </a:lnTo>
                <a:lnTo>
                  <a:pt x="3285970" y="1028386"/>
                </a:lnTo>
                <a:lnTo>
                  <a:pt x="3281824" y="1005611"/>
                </a:lnTo>
                <a:lnTo>
                  <a:pt x="3277044" y="982898"/>
                </a:lnTo>
                <a:lnTo>
                  <a:pt x="3271633" y="960256"/>
                </a:lnTo>
                <a:lnTo>
                  <a:pt x="3265591" y="937694"/>
                </a:lnTo>
                <a:lnTo>
                  <a:pt x="3258923" y="915220"/>
                </a:lnTo>
                <a:lnTo>
                  <a:pt x="3251630" y="892844"/>
                </a:lnTo>
                <a:lnTo>
                  <a:pt x="3243715" y="870573"/>
                </a:lnTo>
                <a:lnTo>
                  <a:pt x="3235181" y="848417"/>
                </a:lnTo>
                <a:lnTo>
                  <a:pt x="3226032" y="826384"/>
                </a:lnTo>
                <a:lnTo>
                  <a:pt x="3216271" y="804483"/>
                </a:lnTo>
                <a:lnTo>
                  <a:pt x="3205902" y="782722"/>
                </a:lnTo>
                <a:lnTo>
                  <a:pt x="3194929" y="761110"/>
                </a:lnTo>
                <a:lnTo>
                  <a:pt x="3183356" y="739655"/>
                </a:lnTo>
                <a:lnTo>
                  <a:pt x="3171187" y="718365"/>
                </a:lnTo>
                <a:lnTo>
                  <a:pt x="3158428" y="697248"/>
                </a:lnTo>
                <a:lnTo>
                  <a:pt x="3145083" y="676314"/>
                </a:lnTo>
                <a:lnTo>
                  <a:pt x="3131158" y="655569"/>
                </a:lnTo>
                <a:lnTo>
                  <a:pt x="3116657" y="635022"/>
                </a:lnTo>
                <a:lnTo>
                  <a:pt x="3101588" y="614681"/>
                </a:lnTo>
                <a:lnTo>
                  <a:pt x="3085954" y="594554"/>
                </a:lnTo>
                <a:lnTo>
                  <a:pt x="3069763" y="574649"/>
                </a:lnTo>
                <a:lnTo>
                  <a:pt x="3053021" y="554973"/>
                </a:lnTo>
                <a:lnTo>
                  <a:pt x="3035733" y="535534"/>
                </a:lnTo>
                <a:lnTo>
                  <a:pt x="3017908" y="516339"/>
                </a:lnTo>
                <a:lnTo>
                  <a:pt x="2999552" y="497397"/>
                </a:lnTo>
                <a:lnTo>
                  <a:pt x="2980671" y="478714"/>
                </a:lnTo>
                <a:lnTo>
                  <a:pt x="2961274" y="460297"/>
                </a:lnTo>
                <a:lnTo>
                  <a:pt x="2941367" y="442154"/>
                </a:lnTo>
                <a:lnTo>
                  <a:pt x="2920960" y="424292"/>
                </a:lnTo>
                <a:lnTo>
                  <a:pt x="2900058" y="406717"/>
                </a:lnTo>
                <a:lnTo>
                  <a:pt x="2878671" y="389437"/>
                </a:lnTo>
                <a:lnTo>
                  <a:pt x="2856807" y="372459"/>
                </a:lnTo>
                <a:lnTo>
                  <a:pt x="2834474" y="355788"/>
                </a:lnTo>
                <a:lnTo>
                  <a:pt x="2811682" y="339431"/>
                </a:lnTo>
                <a:lnTo>
                  <a:pt x="2788438" y="323395"/>
                </a:lnTo>
                <a:lnTo>
                  <a:pt x="2764752" y="307685"/>
                </a:lnTo>
                <a:lnTo>
                  <a:pt x="2740632" y="292309"/>
                </a:lnTo>
                <a:lnTo>
                  <a:pt x="2716090" y="277271"/>
                </a:lnTo>
                <a:lnTo>
                  <a:pt x="2691133" y="262578"/>
                </a:lnTo>
                <a:lnTo>
                  <a:pt x="2665772" y="248236"/>
                </a:lnTo>
                <a:lnTo>
                  <a:pt x="2640016" y="234249"/>
                </a:lnTo>
                <a:lnTo>
                  <a:pt x="2613876" y="220624"/>
                </a:lnTo>
                <a:lnTo>
                  <a:pt x="2587361" y="207366"/>
                </a:lnTo>
                <a:lnTo>
                  <a:pt x="2560482" y="194480"/>
                </a:lnTo>
                <a:lnTo>
                  <a:pt x="2533250" y="181970"/>
                </a:lnTo>
                <a:lnTo>
                  <a:pt x="2505674" y="169842"/>
                </a:lnTo>
                <a:lnTo>
                  <a:pt x="2477766" y="158100"/>
                </a:lnTo>
                <a:lnTo>
                  <a:pt x="2449536" y="146749"/>
                </a:lnTo>
                <a:lnTo>
                  <a:pt x="2420996" y="135794"/>
                </a:lnTo>
                <a:lnTo>
                  <a:pt x="2392156" y="125238"/>
                </a:lnTo>
                <a:lnTo>
                  <a:pt x="2363027" y="115086"/>
                </a:lnTo>
                <a:lnTo>
                  <a:pt x="2333621" y="105342"/>
                </a:lnTo>
                <a:lnTo>
                  <a:pt x="2303950" y="96009"/>
                </a:lnTo>
                <a:lnTo>
                  <a:pt x="2274025" y="87091"/>
                </a:lnTo>
                <a:lnTo>
                  <a:pt x="2243856" y="78591"/>
                </a:lnTo>
                <a:lnTo>
                  <a:pt x="2213457" y="70514"/>
                </a:lnTo>
                <a:lnTo>
                  <a:pt x="2182839" y="62861"/>
                </a:lnTo>
                <a:lnTo>
                  <a:pt x="2152014" y="55636"/>
                </a:lnTo>
                <a:lnTo>
                  <a:pt x="2120993" y="48842"/>
                </a:lnTo>
                <a:lnTo>
                  <a:pt x="2089790" y="42481"/>
                </a:lnTo>
                <a:lnTo>
                  <a:pt x="2058415" y="36556"/>
                </a:lnTo>
                <a:lnTo>
                  <a:pt x="2026881" y="31069"/>
                </a:lnTo>
                <a:lnTo>
                  <a:pt x="1995200" y="26022"/>
                </a:lnTo>
                <a:lnTo>
                  <a:pt x="1963385" y="21418"/>
                </a:lnTo>
                <a:lnTo>
                  <a:pt x="1931448" y="17257"/>
                </a:lnTo>
                <a:lnTo>
                  <a:pt x="1899401" y="13542"/>
                </a:lnTo>
                <a:lnTo>
                  <a:pt x="1867257" y="10274"/>
                </a:lnTo>
                <a:lnTo>
                  <a:pt x="1835028" y="7455"/>
                </a:lnTo>
                <a:lnTo>
                  <a:pt x="1802727" y="5084"/>
                </a:lnTo>
                <a:lnTo>
                  <a:pt x="1770366" y="3164"/>
                </a:lnTo>
                <a:lnTo>
                  <a:pt x="1737958" y="1695"/>
                </a:lnTo>
                <a:lnTo>
                  <a:pt x="1705516" y="678"/>
                </a:lnTo>
                <a:lnTo>
                  <a:pt x="1673051" y="113"/>
                </a:lnTo>
                <a:lnTo>
                  <a:pt x="1640577" y="0"/>
                </a:lnTo>
                <a:lnTo>
                  <a:pt x="1608106" y="339"/>
                </a:lnTo>
                <a:lnTo>
                  <a:pt x="1575650" y="1130"/>
                </a:lnTo>
                <a:lnTo>
                  <a:pt x="1543223" y="2373"/>
                </a:lnTo>
                <a:lnTo>
                  <a:pt x="1510837" y="4068"/>
                </a:lnTo>
                <a:lnTo>
                  <a:pt x="1478505" y="6213"/>
                </a:lnTo>
                <a:lnTo>
                  <a:pt x="1446238" y="8808"/>
                </a:lnTo>
                <a:lnTo>
                  <a:pt x="1414050" y="11852"/>
                </a:lnTo>
                <a:lnTo>
                  <a:pt x="1381953" y="15344"/>
                </a:lnTo>
                <a:lnTo>
                  <a:pt x="1349960" y="19282"/>
                </a:lnTo>
                <a:lnTo>
                  <a:pt x="1318082" y="23665"/>
                </a:lnTo>
                <a:lnTo>
                  <a:pt x="1286333" y="28491"/>
                </a:lnTo>
                <a:lnTo>
                  <a:pt x="1254724" y="33758"/>
                </a:lnTo>
                <a:lnTo>
                  <a:pt x="1223268" y="39464"/>
                </a:lnTo>
                <a:lnTo>
                  <a:pt x="1191977" y="45607"/>
                </a:lnTo>
                <a:lnTo>
                  <a:pt x="1160864" y="52185"/>
                </a:lnTo>
                <a:lnTo>
                  <a:pt x="1129939" y="59195"/>
                </a:lnTo>
                <a:lnTo>
                  <a:pt x="1099216" y="66634"/>
                </a:lnTo>
                <a:lnTo>
                  <a:pt x="1068706" y="74500"/>
                </a:lnTo>
                <a:lnTo>
                  <a:pt x="1038421" y="82789"/>
                </a:lnTo>
                <a:lnTo>
                  <a:pt x="1008373" y="91498"/>
                </a:lnTo>
                <a:lnTo>
                  <a:pt x="978573" y="100624"/>
                </a:lnTo>
                <a:lnTo>
                  <a:pt x="949033" y="110163"/>
                </a:lnTo>
                <a:lnTo>
                  <a:pt x="919764" y="120112"/>
                </a:lnTo>
                <a:lnTo>
                  <a:pt x="890779" y="130466"/>
                </a:lnTo>
                <a:lnTo>
                  <a:pt x="862087" y="141222"/>
                </a:lnTo>
                <a:lnTo>
                  <a:pt x="833700" y="152376"/>
                </a:lnTo>
                <a:lnTo>
                  <a:pt x="805630" y="163922"/>
                </a:lnTo>
                <a:lnTo>
                  <a:pt x="777887" y="175858"/>
                </a:lnTo>
                <a:lnTo>
                  <a:pt x="750481" y="188177"/>
                </a:lnTo>
                <a:lnTo>
                  <a:pt x="723424" y="200876"/>
                </a:lnTo>
                <a:lnTo>
                  <a:pt x="696726" y="213949"/>
                </a:lnTo>
                <a:lnTo>
                  <a:pt x="670397" y="227391"/>
                </a:lnTo>
                <a:lnTo>
                  <a:pt x="644448" y="241198"/>
                </a:lnTo>
                <a:lnTo>
                  <a:pt x="618889" y="255363"/>
                </a:lnTo>
                <a:lnTo>
                  <a:pt x="593728" y="269881"/>
                </a:lnTo>
                <a:lnTo>
                  <a:pt x="568977" y="284747"/>
                </a:lnTo>
                <a:lnTo>
                  <a:pt x="544645" y="299955"/>
                </a:lnTo>
                <a:lnTo>
                  <a:pt x="520742" y="315499"/>
                </a:lnTo>
                <a:lnTo>
                  <a:pt x="497276" y="331372"/>
                </a:lnTo>
                <a:lnTo>
                  <a:pt x="474256" y="347570"/>
                </a:lnTo>
                <a:lnTo>
                  <a:pt x="451692" y="364084"/>
                </a:lnTo>
                <a:lnTo>
                  <a:pt x="429593" y="380910"/>
                </a:lnTo>
                <a:lnTo>
                  <a:pt x="407966" y="398040"/>
                </a:lnTo>
                <a:lnTo>
                  <a:pt x="386821" y="415468"/>
                </a:lnTo>
                <a:lnTo>
                  <a:pt x="366165" y="433188"/>
                </a:lnTo>
                <a:lnTo>
                  <a:pt x="346007" y="451191"/>
                </a:lnTo>
                <a:lnTo>
                  <a:pt x="326354" y="469472"/>
                </a:lnTo>
                <a:lnTo>
                  <a:pt x="307215" y="488022"/>
                </a:lnTo>
                <a:lnTo>
                  <a:pt x="288595" y="506836"/>
                </a:lnTo>
                <a:lnTo>
                  <a:pt x="270503" y="525906"/>
                </a:lnTo>
                <a:lnTo>
                  <a:pt x="252946" y="545223"/>
                </a:lnTo>
                <a:lnTo>
                  <a:pt x="235931" y="564782"/>
                </a:lnTo>
                <a:lnTo>
                  <a:pt x="219463" y="584574"/>
                </a:lnTo>
                <a:lnTo>
                  <a:pt x="203550" y="604591"/>
                </a:lnTo>
                <a:lnTo>
                  <a:pt x="188198" y="624826"/>
                </a:lnTo>
                <a:lnTo>
                  <a:pt x="173412" y="645270"/>
                </a:lnTo>
                <a:lnTo>
                  <a:pt x="159198" y="665917"/>
                </a:lnTo>
                <a:lnTo>
                  <a:pt x="145563" y="686758"/>
                </a:lnTo>
                <a:lnTo>
                  <a:pt x="132510" y="707784"/>
                </a:lnTo>
                <a:lnTo>
                  <a:pt x="120046" y="728988"/>
                </a:lnTo>
                <a:lnTo>
                  <a:pt x="108174" y="750362"/>
                </a:lnTo>
                <a:lnTo>
                  <a:pt x="96900" y="771897"/>
                </a:lnTo>
                <a:lnTo>
                  <a:pt x="86229" y="793585"/>
                </a:lnTo>
                <a:lnTo>
                  <a:pt x="76163" y="815417"/>
                </a:lnTo>
                <a:lnTo>
                  <a:pt x="66707" y="837385"/>
                </a:lnTo>
                <a:lnTo>
                  <a:pt x="57866" y="859480"/>
                </a:lnTo>
                <a:lnTo>
                  <a:pt x="49641" y="881695"/>
                </a:lnTo>
                <a:lnTo>
                  <a:pt x="42037" y="904019"/>
                </a:lnTo>
                <a:lnTo>
                  <a:pt x="35055" y="926445"/>
                </a:lnTo>
                <a:lnTo>
                  <a:pt x="28700" y="948964"/>
                </a:lnTo>
                <a:lnTo>
                  <a:pt x="22974" y="971567"/>
                </a:lnTo>
                <a:lnTo>
                  <a:pt x="17878" y="994246"/>
                </a:lnTo>
                <a:lnTo>
                  <a:pt x="13415" y="1016991"/>
                </a:lnTo>
                <a:lnTo>
                  <a:pt x="9586" y="1039794"/>
                </a:lnTo>
                <a:lnTo>
                  <a:pt x="6393" y="1062646"/>
                </a:lnTo>
                <a:lnTo>
                  <a:pt x="3837" y="1085537"/>
                </a:lnTo>
                <a:lnTo>
                  <a:pt x="1919" y="1108460"/>
                </a:lnTo>
                <a:lnTo>
                  <a:pt x="640" y="1131405"/>
                </a:lnTo>
                <a:lnTo>
                  <a:pt x="0" y="1154364"/>
                </a:lnTo>
                <a:lnTo>
                  <a:pt x="0" y="1177327"/>
                </a:lnTo>
                <a:lnTo>
                  <a:pt x="640" y="1200286"/>
                </a:lnTo>
                <a:lnTo>
                  <a:pt x="1919" y="1223231"/>
                </a:lnTo>
                <a:lnTo>
                  <a:pt x="3837" y="1246154"/>
                </a:lnTo>
                <a:lnTo>
                  <a:pt x="6393" y="1269045"/>
                </a:lnTo>
                <a:lnTo>
                  <a:pt x="9586" y="1291897"/>
                </a:lnTo>
                <a:lnTo>
                  <a:pt x="13415" y="1314700"/>
                </a:lnTo>
                <a:lnTo>
                  <a:pt x="17878" y="1337445"/>
                </a:lnTo>
                <a:lnTo>
                  <a:pt x="22974" y="1360124"/>
                </a:lnTo>
                <a:lnTo>
                  <a:pt x="28700" y="1382727"/>
                </a:lnTo>
                <a:lnTo>
                  <a:pt x="35055" y="1405246"/>
                </a:lnTo>
                <a:lnTo>
                  <a:pt x="42037" y="1427672"/>
                </a:lnTo>
                <a:lnTo>
                  <a:pt x="49641" y="1449996"/>
                </a:lnTo>
                <a:lnTo>
                  <a:pt x="57866" y="1472211"/>
                </a:lnTo>
                <a:lnTo>
                  <a:pt x="66707" y="1494306"/>
                </a:lnTo>
                <a:lnTo>
                  <a:pt x="76163" y="1516274"/>
                </a:lnTo>
                <a:lnTo>
                  <a:pt x="86229" y="1538106"/>
                </a:lnTo>
                <a:lnTo>
                  <a:pt x="96900" y="1559794"/>
                </a:lnTo>
                <a:lnTo>
                  <a:pt x="108174" y="1581329"/>
                </a:lnTo>
                <a:lnTo>
                  <a:pt x="120046" y="1602703"/>
                </a:lnTo>
                <a:lnTo>
                  <a:pt x="132510" y="1623907"/>
                </a:lnTo>
                <a:lnTo>
                  <a:pt x="145563" y="1644933"/>
                </a:lnTo>
                <a:lnTo>
                  <a:pt x="159198" y="1665774"/>
                </a:lnTo>
                <a:lnTo>
                  <a:pt x="173412" y="1686421"/>
                </a:lnTo>
                <a:lnTo>
                  <a:pt x="188198" y="1706865"/>
                </a:lnTo>
                <a:lnTo>
                  <a:pt x="203550" y="1727100"/>
                </a:lnTo>
                <a:lnTo>
                  <a:pt x="219463" y="1747117"/>
                </a:lnTo>
                <a:lnTo>
                  <a:pt x="235931" y="1766909"/>
                </a:lnTo>
                <a:lnTo>
                  <a:pt x="252946" y="1786468"/>
                </a:lnTo>
                <a:lnTo>
                  <a:pt x="270503" y="1805785"/>
                </a:lnTo>
                <a:lnTo>
                  <a:pt x="288595" y="1824855"/>
                </a:lnTo>
                <a:lnTo>
                  <a:pt x="307215" y="1843669"/>
                </a:lnTo>
                <a:lnTo>
                  <a:pt x="326354" y="1862219"/>
                </a:lnTo>
                <a:lnTo>
                  <a:pt x="346007" y="1880500"/>
                </a:lnTo>
                <a:lnTo>
                  <a:pt x="366165" y="1898503"/>
                </a:lnTo>
                <a:lnTo>
                  <a:pt x="386821" y="1916223"/>
                </a:lnTo>
                <a:lnTo>
                  <a:pt x="407966" y="1933651"/>
                </a:lnTo>
                <a:lnTo>
                  <a:pt x="429593" y="1950781"/>
                </a:lnTo>
                <a:lnTo>
                  <a:pt x="451692" y="1967607"/>
                </a:lnTo>
                <a:lnTo>
                  <a:pt x="474256" y="1984121"/>
                </a:lnTo>
                <a:lnTo>
                  <a:pt x="497276" y="2000319"/>
                </a:lnTo>
                <a:lnTo>
                  <a:pt x="520742" y="2016192"/>
                </a:lnTo>
                <a:lnTo>
                  <a:pt x="544645" y="2031736"/>
                </a:lnTo>
                <a:lnTo>
                  <a:pt x="568977" y="2046944"/>
                </a:lnTo>
                <a:lnTo>
                  <a:pt x="593728" y="2061810"/>
                </a:lnTo>
                <a:lnTo>
                  <a:pt x="618889" y="2076328"/>
                </a:lnTo>
                <a:lnTo>
                  <a:pt x="644448" y="2090493"/>
                </a:lnTo>
                <a:lnTo>
                  <a:pt x="670397" y="2104300"/>
                </a:lnTo>
                <a:lnTo>
                  <a:pt x="696726" y="2117742"/>
                </a:lnTo>
                <a:lnTo>
                  <a:pt x="723424" y="2130815"/>
                </a:lnTo>
                <a:lnTo>
                  <a:pt x="750481" y="2143514"/>
                </a:lnTo>
                <a:lnTo>
                  <a:pt x="777887" y="2155833"/>
                </a:lnTo>
                <a:lnTo>
                  <a:pt x="805630" y="2167769"/>
                </a:lnTo>
                <a:lnTo>
                  <a:pt x="833700" y="2179315"/>
                </a:lnTo>
                <a:lnTo>
                  <a:pt x="862087" y="2190469"/>
                </a:lnTo>
                <a:lnTo>
                  <a:pt x="890779" y="2201225"/>
                </a:lnTo>
                <a:lnTo>
                  <a:pt x="919764" y="2211579"/>
                </a:lnTo>
                <a:lnTo>
                  <a:pt x="949033" y="2221528"/>
                </a:lnTo>
                <a:lnTo>
                  <a:pt x="978573" y="2231067"/>
                </a:lnTo>
                <a:lnTo>
                  <a:pt x="1008373" y="2240193"/>
                </a:lnTo>
                <a:lnTo>
                  <a:pt x="1038421" y="2248902"/>
                </a:lnTo>
                <a:lnTo>
                  <a:pt x="1068706" y="2257191"/>
                </a:lnTo>
                <a:lnTo>
                  <a:pt x="1099216" y="2265057"/>
                </a:lnTo>
                <a:lnTo>
                  <a:pt x="1129939" y="2272496"/>
                </a:lnTo>
                <a:lnTo>
                  <a:pt x="1160864" y="2279506"/>
                </a:lnTo>
                <a:lnTo>
                  <a:pt x="1191977" y="2286084"/>
                </a:lnTo>
                <a:lnTo>
                  <a:pt x="1223268" y="2292227"/>
                </a:lnTo>
                <a:lnTo>
                  <a:pt x="1254724" y="2297933"/>
                </a:lnTo>
                <a:lnTo>
                  <a:pt x="1286333" y="2303200"/>
                </a:lnTo>
                <a:lnTo>
                  <a:pt x="1318082" y="2308026"/>
                </a:lnTo>
                <a:lnTo>
                  <a:pt x="1349960" y="2312409"/>
                </a:lnTo>
                <a:lnTo>
                  <a:pt x="1381953" y="2316347"/>
                </a:lnTo>
                <a:lnTo>
                  <a:pt x="1414050" y="2319839"/>
                </a:lnTo>
                <a:lnTo>
                  <a:pt x="1446238" y="2322883"/>
                </a:lnTo>
                <a:lnTo>
                  <a:pt x="1478505" y="2325478"/>
                </a:lnTo>
                <a:lnTo>
                  <a:pt x="1510837" y="2327623"/>
                </a:lnTo>
                <a:lnTo>
                  <a:pt x="1543223" y="2329318"/>
                </a:lnTo>
                <a:lnTo>
                  <a:pt x="1575650" y="2330561"/>
                </a:lnTo>
                <a:lnTo>
                  <a:pt x="1608106" y="2331352"/>
                </a:lnTo>
                <a:lnTo>
                  <a:pt x="1640577" y="2331691"/>
                </a:lnTo>
                <a:lnTo>
                  <a:pt x="1673051" y="2331578"/>
                </a:lnTo>
                <a:lnTo>
                  <a:pt x="1705516" y="2331013"/>
                </a:lnTo>
                <a:lnTo>
                  <a:pt x="1737958" y="2329996"/>
                </a:lnTo>
                <a:lnTo>
                  <a:pt x="1770366" y="2328527"/>
                </a:lnTo>
                <a:lnTo>
                  <a:pt x="1802727" y="2326607"/>
                </a:lnTo>
                <a:lnTo>
                  <a:pt x="1835028" y="2324236"/>
                </a:lnTo>
                <a:lnTo>
                  <a:pt x="1867257" y="2321417"/>
                </a:lnTo>
                <a:lnTo>
                  <a:pt x="1899401" y="2318149"/>
                </a:lnTo>
                <a:lnTo>
                  <a:pt x="1931448" y="2314434"/>
                </a:lnTo>
                <a:lnTo>
                  <a:pt x="1963385" y="2310273"/>
                </a:lnTo>
                <a:lnTo>
                  <a:pt x="1995200" y="2305669"/>
                </a:lnTo>
                <a:lnTo>
                  <a:pt x="2026881" y="2300622"/>
                </a:lnTo>
                <a:lnTo>
                  <a:pt x="2058415" y="2295135"/>
                </a:lnTo>
                <a:lnTo>
                  <a:pt x="2089790" y="2289210"/>
                </a:lnTo>
                <a:lnTo>
                  <a:pt x="2120993" y="2282849"/>
                </a:lnTo>
                <a:lnTo>
                  <a:pt x="2152014" y="2276055"/>
                </a:lnTo>
                <a:lnTo>
                  <a:pt x="2182839" y="2268830"/>
                </a:lnTo>
                <a:lnTo>
                  <a:pt x="2213457" y="2261177"/>
                </a:lnTo>
                <a:lnTo>
                  <a:pt x="2243856" y="2253100"/>
                </a:lnTo>
                <a:lnTo>
                  <a:pt x="2274025" y="2244600"/>
                </a:lnTo>
                <a:lnTo>
                  <a:pt x="2303950" y="2235682"/>
                </a:lnTo>
                <a:lnTo>
                  <a:pt x="2333621" y="2226349"/>
                </a:lnTo>
                <a:lnTo>
                  <a:pt x="2363027" y="2216605"/>
                </a:lnTo>
                <a:lnTo>
                  <a:pt x="2392156" y="2206453"/>
                </a:lnTo>
                <a:lnTo>
                  <a:pt x="2420996" y="2195897"/>
                </a:lnTo>
                <a:lnTo>
                  <a:pt x="2449536" y="2184942"/>
                </a:lnTo>
                <a:lnTo>
                  <a:pt x="2477766" y="2173591"/>
                </a:lnTo>
                <a:lnTo>
                  <a:pt x="2505674" y="2161849"/>
                </a:lnTo>
                <a:lnTo>
                  <a:pt x="2533250" y="2149721"/>
                </a:lnTo>
                <a:lnTo>
                  <a:pt x="2560482" y="2137211"/>
                </a:lnTo>
                <a:lnTo>
                  <a:pt x="2587361" y="2124325"/>
                </a:lnTo>
                <a:lnTo>
                  <a:pt x="2613876" y="2111067"/>
                </a:lnTo>
                <a:lnTo>
                  <a:pt x="2640016" y="2097442"/>
                </a:lnTo>
                <a:lnTo>
                  <a:pt x="2665772" y="2083455"/>
                </a:lnTo>
                <a:lnTo>
                  <a:pt x="2691133" y="2069113"/>
                </a:lnTo>
                <a:lnTo>
                  <a:pt x="2716090" y="2054420"/>
                </a:lnTo>
                <a:lnTo>
                  <a:pt x="2740632" y="2039382"/>
                </a:lnTo>
                <a:lnTo>
                  <a:pt x="2764752" y="2024006"/>
                </a:lnTo>
                <a:lnTo>
                  <a:pt x="2788438" y="2008296"/>
                </a:lnTo>
                <a:lnTo>
                  <a:pt x="2811682" y="1992260"/>
                </a:lnTo>
                <a:lnTo>
                  <a:pt x="2834474" y="1975903"/>
                </a:lnTo>
                <a:lnTo>
                  <a:pt x="2856807" y="1959232"/>
                </a:lnTo>
                <a:lnTo>
                  <a:pt x="2878671" y="1942254"/>
                </a:lnTo>
                <a:lnTo>
                  <a:pt x="2900058" y="1924974"/>
                </a:lnTo>
                <a:lnTo>
                  <a:pt x="2920960" y="1907399"/>
                </a:lnTo>
                <a:lnTo>
                  <a:pt x="2941367" y="1889537"/>
                </a:lnTo>
                <a:lnTo>
                  <a:pt x="2961274" y="1871394"/>
                </a:lnTo>
                <a:lnTo>
                  <a:pt x="2980671" y="1852977"/>
                </a:lnTo>
                <a:lnTo>
                  <a:pt x="2999552" y="1834294"/>
                </a:lnTo>
                <a:lnTo>
                  <a:pt x="3017908" y="1815352"/>
                </a:lnTo>
                <a:lnTo>
                  <a:pt x="3035733" y="1796157"/>
                </a:lnTo>
                <a:lnTo>
                  <a:pt x="3053021" y="1776718"/>
                </a:lnTo>
                <a:lnTo>
                  <a:pt x="3069763" y="1757042"/>
                </a:lnTo>
                <a:lnTo>
                  <a:pt x="3085954" y="1737137"/>
                </a:lnTo>
                <a:lnTo>
                  <a:pt x="3101588" y="1717010"/>
                </a:lnTo>
                <a:lnTo>
                  <a:pt x="3116657" y="1696669"/>
                </a:lnTo>
                <a:lnTo>
                  <a:pt x="3131158" y="1676122"/>
                </a:lnTo>
                <a:lnTo>
                  <a:pt x="3145083" y="1655377"/>
                </a:lnTo>
                <a:lnTo>
                  <a:pt x="3158428" y="1634443"/>
                </a:lnTo>
                <a:lnTo>
                  <a:pt x="3171187" y="1613326"/>
                </a:lnTo>
                <a:lnTo>
                  <a:pt x="3183356" y="1592036"/>
                </a:lnTo>
                <a:lnTo>
                  <a:pt x="3194929" y="1570581"/>
                </a:lnTo>
                <a:lnTo>
                  <a:pt x="3205902" y="1548969"/>
                </a:lnTo>
                <a:lnTo>
                  <a:pt x="3216271" y="1527208"/>
                </a:lnTo>
                <a:lnTo>
                  <a:pt x="3226032" y="1505307"/>
                </a:lnTo>
                <a:lnTo>
                  <a:pt x="3235181" y="1483274"/>
                </a:lnTo>
                <a:lnTo>
                  <a:pt x="3243715" y="1461118"/>
                </a:lnTo>
                <a:lnTo>
                  <a:pt x="3251630" y="1438847"/>
                </a:lnTo>
                <a:lnTo>
                  <a:pt x="3258923" y="1416471"/>
                </a:lnTo>
                <a:lnTo>
                  <a:pt x="3265591" y="1393997"/>
                </a:lnTo>
                <a:lnTo>
                  <a:pt x="3271633" y="1371435"/>
                </a:lnTo>
                <a:lnTo>
                  <a:pt x="3277044" y="1348793"/>
                </a:lnTo>
                <a:lnTo>
                  <a:pt x="3281824" y="1326080"/>
                </a:lnTo>
                <a:lnTo>
                  <a:pt x="3285970" y="1303305"/>
                </a:lnTo>
                <a:lnTo>
                  <a:pt x="3289481" y="1280477"/>
                </a:lnTo>
                <a:lnTo>
                  <a:pt x="3292356" y="1257604"/>
                </a:lnTo>
                <a:lnTo>
                  <a:pt x="3294593" y="1234696"/>
                </a:lnTo>
                <a:lnTo>
                  <a:pt x="3296191" y="1211760"/>
                </a:lnTo>
                <a:lnTo>
                  <a:pt x="3297151" y="1188807"/>
                </a:lnTo>
                <a:lnTo>
                  <a:pt x="3297471" y="1165846"/>
                </a:lnTo>
              </a:path>
            </a:pathLst>
          </a:custGeom>
          <a:noFill/>
          <a:ln w="26670">
            <a:solidFill>
              <a:srgbClr val="2E6B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5" name="Freeform 22"/>
          <p:cNvSpPr/>
          <p:nvPr/>
        </p:nvSpPr>
        <p:spPr>
          <a:xfrm>
            <a:off x="10218419" y="2083689"/>
            <a:ext cx="0" cy="3147822"/>
          </a:xfrm>
          <a:custGeom>
            <a:avLst/>
            <a:gdLst/>
            <a:ahLst/>
            <a:cxnLst/>
            <a:rect l="l" t="t" r="r" b="b"/>
            <a:pathLst>
              <a:path w="0" h="3147822">
                <a:moveTo>
                  <a:pt x="0" y="3147822"/>
                </a:moveTo>
                <a:lnTo>
                  <a:pt x="0" y="0"/>
                </a:lnTo>
              </a:path>
            </a:pathLst>
          </a:custGeom>
          <a:noFill/>
          <a:ln w="13970">
            <a:solidFill>
              <a:srgbClr val="CFD7E3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6" name="Freeform 23"/>
          <p:cNvSpPr/>
          <p:nvPr/>
        </p:nvSpPr>
        <p:spPr>
          <a:xfrm>
            <a:off x="10218419" y="2833212"/>
            <a:ext cx="0" cy="1648775"/>
          </a:xfrm>
          <a:custGeom>
            <a:avLst/>
            <a:gdLst/>
            <a:ahLst/>
            <a:cxnLst/>
            <a:rect l="l" t="t" r="r" b="b"/>
            <a:pathLst>
              <a:path w="0" h="1648775">
                <a:moveTo>
                  <a:pt x="0" y="1648775"/>
                </a:moveTo>
                <a:lnTo>
                  <a:pt x="0" y="0"/>
                </a:lnTo>
              </a:path>
            </a:pathLst>
          </a:custGeom>
          <a:noFill/>
          <a:ln w="38100">
            <a:solidFill>
              <a:srgbClr val="E08A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7" name="Oval 24"/>
          <p:cNvSpPr/>
          <p:nvPr/>
        </p:nvSpPr>
        <p:spPr>
          <a:xfrm>
            <a:off x="10177272" y="2792064"/>
            <a:ext cx="82296" cy="82296"/>
          </a:xfrm>
          <a:prstGeom prst="ellipse">
            <a:avLst/>
          </a:prstGeom>
          <a:solidFill>
            <a:srgbClr val="E08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38" name="Oval 25"/>
          <p:cNvSpPr/>
          <p:nvPr/>
        </p:nvSpPr>
        <p:spPr>
          <a:xfrm>
            <a:off x="10177272" y="4440839"/>
            <a:ext cx="82296" cy="82296"/>
          </a:xfrm>
          <a:prstGeom prst="ellipse">
            <a:avLst/>
          </a:prstGeom>
          <a:solidFill>
            <a:srgbClr val="E08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39" name="Oval 26"/>
          <p:cNvSpPr/>
          <p:nvPr/>
        </p:nvSpPr>
        <p:spPr>
          <a:xfrm>
            <a:off x="10168128" y="3607308"/>
            <a:ext cx="100584" cy="100584"/>
          </a:xfrm>
          <a:prstGeom prst="ellipse">
            <a:avLst/>
          </a:prstGeom>
          <a:solidFill>
            <a:srgbClr val="D93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40" name="Oval 27"/>
          <p:cNvSpPr/>
          <p:nvPr/>
        </p:nvSpPr>
        <p:spPr>
          <a:xfrm>
            <a:off x="7848295" y="3619195"/>
            <a:ext cx="76809" cy="76809"/>
          </a:xfrm>
          <a:prstGeom prst="ellipse">
            <a:avLst/>
          </a:prstGeom>
          <a:solidFill>
            <a:srgbClr val="6B74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41" name="TextBox 28"/>
          <p:cNvSpPr txBox="1"/>
          <p:nvPr/>
        </p:nvSpPr>
        <p:spPr>
          <a:xfrm>
            <a:off x="10264140" y="3730752"/>
            <a:ext cx="128016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D93B3B"/>
                </a:solidFill>
                <a:latin typeface="微软雅黑"/>
                <a:ea typeface="微软雅黑"/>
              </a:rPr>
              <a:t>F(1, 0)</a:t>
            </a:r>
            <a:endParaRPr/>
          </a:p>
        </p:txBody>
      </p:sp>
      <p:sp>
        <p:nvSpPr>
          <p:cNvPr id="142" name="TextBox 29"/>
          <p:cNvSpPr txBox="1"/>
          <p:nvPr/>
        </p:nvSpPr>
        <p:spPr>
          <a:xfrm>
            <a:off x="6743700" y="3730752"/>
            <a:ext cx="128016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B7484"/>
                </a:solidFill>
                <a:latin typeface="微软雅黑"/>
                <a:ea typeface="微软雅黑"/>
              </a:rPr>
              <a:t>F′(−1, 0)</a:t>
            </a:r>
            <a:endParaRPr/>
          </a:p>
        </p:txBody>
      </p:sp>
      <p:sp>
        <p:nvSpPr>
          <p:cNvPr id="143" name="TextBox 30"/>
          <p:cNvSpPr txBox="1"/>
          <p:nvPr/>
        </p:nvSpPr>
        <p:spPr>
          <a:xfrm>
            <a:off x="8334755" y="2119980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E08A1E"/>
                </a:solidFill>
                <a:latin typeface="微软雅黑"/>
                <a:ea typeface="微软雅黑"/>
              </a:rPr>
              <a:t>通径 2b²/a = √2</a:t>
            </a:r>
            <a:endParaRPr/>
          </a:p>
        </p:txBody>
      </p:sp>
      <p:sp>
        <p:nvSpPr>
          <p:cNvPr id="144" name="TextBox 31"/>
          <p:cNvSpPr txBox="1"/>
          <p:nvPr/>
        </p:nvSpPr>
        <p:spPr>
          <a:xfrm>
            <a:off x="6836856" y="3712463"/>
            <a:ext cx="128016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2E6BE6"/>
                </a:solidFill>
                <a:latin typeface="微软雅黑"/>
                <a:ea typeface="微软雅黑"/>
              </a:rPr>
              <a:t>a = √2</a:t>
            </a:r>
            <a:endParaRPr/>
          </a:p>
        </p:txBody>
      </p:sp>
      <p:sp>
        <p:nvSpPr>
          <p:cNvPr id="145" name="TextBox 32"/>
          <p:cNvSpPr txBox="1"/>
          <p:nvPr/>
        </p:nvSpPr>
        <p:spPr>
          <a:xfrm>
            <a:off x="9107424" y="2217420"/>
            <a:ext cx="128016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2E6BE6"/>
                </a:solidFill>
                <a:latin typeface="微软雅黑"/>
                <a:ea typeface="微软雅黑"/>
              </a:rPr>
              <a:t>b = 1</a:t>
            </a:r>
            <a:endParaRPr/>
          </a:p>
        </p:txBody>
      </p:sp>
      <p:sp>
        <p:nvSpPr>
          <p:cNvPr id="146" name="TextBox 33"/>
          <p:cNvSpPr txBox="1"/>
          <p:nvPr/>
        </p:nvSpPr>
        <p:spPr>
          <a:xfrm>
            <a:off x="822960" y="6428232"/>
            <a:ext cx="7315200" cy="2926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B7484"/>
                </a:solidFill>
                <a:latin typeface="微软雅黑"/>
                <a:ea typeface="微软雅黑"/>
              </a:rPr>
              <a:t>2026 · 新高考Ⅱ卷 · 第18题</a:t>
            </a:r>
            <a:endParaRPr/>
          </a:p>
        </p:txBody>
      </p:sp>
      <p:sp>
        <p:nvSpPr>
          <p:cNvPr id="147" name="TextBox 34"/>
          <p:cNvSpPr txBox="1"/>
          <p:nvPr/>
        </p:nvSpPr>
        <p:spPr>
          <a:xfrm>
            <a:off x="10607040" y="6428232"/>
            <a:ext cx="777240" cy="2926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E6BE6"/>
                </a:solidFill>
                <a:latin typeface="微软雅黑"/>
                <a:ea typeface="微软雅黑"/>
              </a:rPr>
              <a:t>03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spTree>
      <p:nvGrpSpPr>
        <p:cNvPr id="14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TextBox 1"/>
          <p:cNvSpPr txBox="1"/>
          <p:nvPr/>
        </p:nvSpPr>
        <p:spPr>
          <a:xfrm>
            <a:off x="822960" y="384048"/>
            <a:ext cx="10515600" cy="2926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2E6BE6"/>
                </a:solidFill>
                <a:latin typeface="微软雅黑"/>
                <a:ea typeface="微软雅黑"/>
              </a:rPr>
              <a:t>PART 02 · 建模第一步</a:t>
            </a:r>
            <a:endParaRPr/>
          </a:p>
        </p:txBody>
      </p:sp>
      <p:sp>
        <p:nvSpPr>
          <p:cNvPr id="150" name="TextBox 2"/>
          <p:cNvSpPr txBox="1"/>
          <p:nvPr/>
        </p:nvSpPr>
        <p:spPr>
          <a:xfrm>
            <a:off x="822960" y="658368"/>
            <a:ext cx="10607040" cy="640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11223E"/>
                </a:solidFill>
                <a:latin typeface="微软雅黑"/>
                <a:ea typeface="微软雅黑"/>
              </a:rPr>
              <a:t>第（2）(i) 问：先把几何关系“翻译”清楚</a:t>
            </a:r>
            <a:endParaRPr/>
          </a:p>
        </p:txBody>
      </p:sp>
      <p:sp>
        <p:nvSpPr>
          <p:cNvPr id="151" name="Rectangle 3"/>
          <p:cNvSpPr/>
          <p:nvPr/>
        </p:nvSpPr>
        <p:spPr>
          <a:xfrm>
            <a:off x="841248" y="1335024"/>
            <a:ext cx="658368" cy="68580"/>
          </a:xfrm>
          <a:prstGeom prst="rect">
            <a:avLst/>
          </a:prstGeom>
          <a:solidFill>
            <a:srgbClr val="2E6B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52" name="TextBox 4"/>
          <p:cNvSpPr txBox="1"/>
          <p:nvPr/>
        </p:nvSpPr>
        <p:spPr>
          <a:xfrm>
            <a:off x="822960" y="1737360"/>
            <a:ext cx="4617720" cy="4114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500" b="1" i="0">
                <a:solidFill>
                  <a:srgbClr val="2E6BE6"/>
                </a:solidFill>
                <a:latin typeface="微软雅黑"/>
                <a:ea typeface="微软雅黑"/>
              </a:rPr>
              <a:t>① 垂足 B：</a:t>
            </a:r>
            <a:r>
              <a:rPr sz="1500" b="0" i="0">
                <a:solidFill>
                  <a:srgbClr val="1B222E"/>
                </a:solidFill>
                <a:latin typeface="微软雅黑"/>
                <a:ea typeface="微软雅黑"/>
              </a:rPr>
              <a:t>过 A 作 y 轴的垂线，垂足为 B，所以 B(0, y₀)。B 在 y 轴上，</a:t>
            </a:r>
            <a:r>
              <a:rPr sz="1500" b="1" i="0">
                <a:solidFill>
                  <a:srgbClr val="D93B3B"/>
                </a:solidFill>
                <a:latin typeface="微软雅黑"/>
                <a:ea typeface="微软雅黑"/>
              </a:rPr>
              <a:t>不在椭圆上</a:t>
            </a:r>
            <a:r>
              <a:rPr sz="1500" b="0" i="0">
                <a:solidFill>
                  <a:srgbClr val="1B222E"/>
                </a:solidFill>
                <a:latin typeface="微软雅黑"/>
                <a:ea typeface="微软雅黑"/>
              </a:rPr>
              <a:t>。</a:t>
            </a:r>
            <a:endParaRPr/>
          </a:p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500" b="1" i="0">
                <a:solidFill>
                  <a:srgbClr val="2E6BE6"/>
                </a:solidFill>
                <a:latin typeface="微软雅黑"/>
                <a:ea typeface="微软雅黑"/>
              </a:rPr>
              <a:t>② 交点 P：</a:t>
            </a:r>
            <a:r>
              <a:rPr sz="1500" b="0" i="0">
                <a:solidFill>
                  <a:srgbClr val="1B222E"/>
                </a:solidFill>
                <a:latin typeface="微软雅黑"/>
                <a:ea typeface="微软雅黑"/>
              </a:rPr>
              <a:t>P = AO ∩ GB，是两条动直线的交点。</a:t>
            </a:r>
            <a:endParaRPr/>
          </a:p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500" b="1" i="0">
                <a:solidFill>
                  <a:srgbClr val="2E6BE6"/>
                </a:solidFill>
                <a:latin typeface="微软雅黑"/>
                <a:ea typeface="微软雅黑"/>
              </a:rPr>
              <a:t>③ 变量：</a:t>
            </a:r>
            <a:r>
              <a:rPr sz="1500" b="0" i="0">
                <a:solidFill>
                  <a:srgbClr val="1B222E"/>
                </a:solidFill>
                <a:latin typeface="微软雅黑"/>
                <a:ea typeface="微软雅黑"/>
              </a:rPr>
              <a:t>A(x₀, y₀) 在椭圆上跑，t₀ 是固定参数。目标是求 P 的轨迹 M。</a:t>
            </a:r>
            <a:endParaRPr/>
          </a:p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1600"/>
              </a:spcAft>
            </a:pPr>
            <a:r>
              <a:rPr sz="1500" b="1" i="0">
                <a:solidFill>
                  <a:srgbClr val="2E6BE6"/>
                </a:solidFill>
                <a:latin typeface="微软雅黑"/>
                <a:ea typeface="微软雅黑"/>
              </a:rPr>
              <a:t>④ 思路：</a:t>
            </a:r>
            <a:r>
              <a:rPr sz="1500" b="0" i="0">
                <a:solidFill>
                  <a:srgbClr val="1B222E"/>
                </a:solidFill>
                <a:latin typeface="微软雅黑"/>
                <a:ea typeface="微软雅黑"/>
              </a:rPr>
              <a:t>设点 → 找 P 与 A 的关系 → 消去 x₀、y₀ → 得到 x、y 的方程。</a:t>
            </a:r>
            <a:endParaRPr/>
          </a:p>
        </p:txBody>
      </p:sp>
      <p:sp>
        <p:nvSpPr>
          <p:cNvPr id="153" name="Rounded Rectangle 5"/>
          <p:cNvSpPr/>
          <p:nvPr/>
        </p:nvSpPr>
        <p:spPr>
          <a:xfrm>
            <a:off x="822960" y="4754880"/>
            <a:ext cx="4617720" cy="1024128"/>
          </a:xfrm>
          <a:prstGeom prst="roundRect">
            <a:avLst>
              <a:gd name="adj" fmla="val 12000"/>
            </a:avLst>
          </a:prstGeom>
          <a:solidFill>
            <a:srgbClr val="FDF3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54" name="Rectangle 6"/>
          <p:cNvSpPr/>
          <p:nvPr/>
        </p:nvSpPr>
        <p:spPr>
          <a:xfrm>
            <a:off x="822960" y="4754880"/>
            <a:ext cx="68580" cy="1024128"/>
          </a:xfrm>
          <a:prstGeom prst="rect">
            <a:avLst/>
          </a:prstGeom>
          <a:solidFill>
            <a:srgbClr val="E08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55" name="TextBox 7"/>
          <p:cNvSpPr txBox="1"/>
          <p:nvPr/>
        </p:nvSpPr>
        <p:spPr>
          <a:xfrm>
            <a:off x="1152144" y="4937760"/>
            <a:ext cx="4114800" cy="7315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0" i="0">
                <a:solidFill>
                  <a:srgbClr val="6B7484"/>
                </a:solidFill>
                <a:latin typeface="微软雅黑"/>
                <a:ea typeface="微软雅黑"/>
              </a:rPr>
              <a:t>“动点 A → 动点 P”是这类题的核心结构：</a:t>
            </a:r>
            <a:endParaRPr/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B222E"/>
                </a:solidFill>
                <a:latin typeface="微软雅黑"/>
                <a:ea typeface="微软雅黑"/>
              </a:rPr>
              <a:t>只要写出 (x, y) 与 (x₀, y₀) 的同一个参数表达式，轨迹方程就是代入消参。</a:t>
            </a:r>
            <a:endParaRPr/>
          </a:p>
        </p:txBody>
      </p:sp>
      <p:sp>
        <p:nvSpPr>
          <p:cNvPr id="156" name="Rectangle 8"/>
          <p:cNvSpPr/>
          <p:nvPr/>
        </p:nvSpPr>
        <p:spPr>
          <a:xfrm>
            <a:off x="5806440" y="1572768"/>
            <a:ext cx="5532120" cy="4297680"/>
          </a:xfrm>
          <a:prstGeom prst="rect">
            <a:avLst/>
          </a:prstGeom>
          <a:noFill/>
          <a:ln w="12700">
            <a:solidFill>
              <a:srgbClr val="CFD7E3"/>
            </a:solidFill>
            <a:prstDash val="sysDot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57" name="Freeform 9"/>
          <p:cNvSpPr/>
          <p:nvPr/>
        </p:nvSpPr>
        <p:spPr>
          <a:xfrm>
            <a:off x="5806440" y="3721608"/>
            <a:ext cx="5532119" cy="0"/>
          </a:xfrm>
          <a:custGeom>
            <a:avLst/>
            <a:gdLst/>
            <a:ahLst/>
            <a:cxnLst/>
            <a:rect l="l" t="t" r="r" b="b"/>
            <a:pathLst>
              <a:path w="5532119" h="0">
                <a:moveTo>
                  <a:pt x="0" y="0"/>
                </a:moveTo>
                <a:lnTo>
                  <a:pt x="5532119" y="0"/>
                </a:lnTo>
              </a:path>
            </a:pathLst>
          </a:custGeom>
          <a:noFill/>
          <a:ln w="13970">
            <a:solidFill>
              <a:srgbClr val="CFD7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8" name="Freeform 10"/>
          <p:cNvSpPr/>
          <p:nvPr/>
        </p:nvSpPr>
        <p:spPr>
          <a:xfrm>
            <a:off x="8421624" y="1810512"/>
            <a:ext cx="0" cy="3822192"/>
          </a:xfrm>
          <a:custGeom>
            <a:avLst/>
            <a:gdLst/>
            <a:ahLst/>
            <a:cxnLst/>
            <a:rect l="l" t="t" r="r" b="b"/>
            <a:pathLst>
              <a:path w="0" h="3822192">
                <a:moveTo>
                  <a:pt x="0" y="3822192"/>
                </a:moveTo>
                <a:lnTo>
                  <a:pt x="0" y="0"/>
                </a:lnTo>
              </a:path>
            </a:pathLst>
          </a:custGeom>
          <a:noFill/>
          <a:ln w="13970">
            <a:solidFill>
              <a:srgbClr val="CFD7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9" name="Freeform 11"/>
          <p:cNvSpPr/>
          <p:nvPr/>
        </p:nvSpPr>
        <p:spPr>
          <a:xfrm>
            <a:off x="6409944" y="3661257"/>
            <a:ext cx="0" cy="120701"/>
          </a:xfrm>
          <a:custGeom>
            <a:avLst/>
            <a:gdLst/>
            <a:ahLst/>
            <a:cxnLst/>
            <a:rect l="l" t="t" r="r" b="b"/>
            <a:pathLst>
              <a:path w="0" h="120701">
                <a:moveTo>
                  <a:pt x="0" y="120701"/>
                </a:moveTo>
                <a:lnTo>
                  <a:pt x="0" y="0"/>
                </a:lnTo>
              </a:path>
            </a:pathLst>
          </a:custGeom>
          <a:noFill/>
          <a:ln w="12700">
            <a:solidFill>
              <a:srgbClr val="CFD7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0" name="TextBox 12"/>
          <p:cNvSpPr txBox="1"/>
          <p:nvPr/>
        </p:nvSpPr>
        <p:spPr>
          <a:xfrm>
            <a:off x="6135624" y="3767328"/>
            <a:ext cx="548640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B7484"/>
                </a:solidFill>
                <a:latin typeface="微软雅黑"/>
                <a:ea typeface="微软雅黑"/>
              </a:rPr>
              <a:t>-2</a:t>
            </a:r>
            <a:endParaRPr/>
          </a:p>
        </p:txBody>
      </p:sp>
      <p:sp>
        <p:nvSpPr>
          <p:cNvPr id="161" name="Freeform 13"/>
          <p:cNvSpPr/>
          <p:nvPr/>
        </p:nvSpPr>
        <p:spPr>
          <a:xfrm>
            <a:off x="10433303" y="3661257"/>
            <a:ext cx="0" cy="120701"/>
          </a:xfrm>
          <a:custGeom>
            <a:avLst/>
            <a:gdLst/>
            <a:ahLst/>
            <a:cxnLst/>
            <a:rect l="l" t="t" r="r" b="b"/>
            <a:pathLst>
              <a:path w="0" h="120701">
                <a:moveTo>
                  <a:pt x="0" y="120701"/>
                </a:moveTo>
                <a:lnTo>
                  <a:pt x="0" y="0"/>
                </a:lnTo>
              </a:path>
            </a:pathLst>
          </a:custGeom>
          <a:noFill/>
          <a:ln w="12700">
            <a:solidFill>
              <a:srgbClr val="CFD7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2" name="TextBox 14"/>
          <p:cNvSpPr txBox="1"/>
          <p:nvPr/>
        </p:nvSpPr>
        <p:spPr>
          <a:xfrm>
            <a:off x="10158983" y="3767328"/>
            <a:ext cx="548640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B7484"/>
                </a:solidFill>
                <a:latin typeface="微软雅黑"/>
                <a:ea typeface="微软雅黑"/>
              </a:rPr>
              <a:t>2</a:t>
            </a:r>
            <a:endParaRPr/>
          </a:p>
        </p:txBody>
      </p:sp>
      <p:sp>
        <p:nvSpPr>
          <p:cNvPr id="163" name="Freeform 15"/>
          <p:cNvSpPr/>
          <p:nvPr/>
        </p:nvSpPr>
        <p:spPr>
          <a:xfrm>
            <a:off x="8361273" y="4727448"/>
            <a:ext cx="120701" cy="0"/>
          </a:xfrm>
          <a:custGeom>
            <a:avLst/>
            <a:gdLst/>
            <a:ahLst/>
            <a:cxnLst/>
            <a:rect l="l" t="t" r="r" b="b"/>
            <a:pathLst>
              <a:path w="120701" h="0">
                <a:moveTo>
                  <a:pt x="0" y="0"/>
                </a:moveTo>
                <a:lnTo>
                  <a:pt x="120701" y="0"/>
                </a:lnTo>
              </a:path>
            </a:pathLst>
          </a:custGeom>
          <a:noFill/>
          <a:ln w="12700">
            <a:solidFill>
              <a:srgbClr val="CFD7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4" name="TextBox 16"/>
          <p:cNvSpPr txBox="1"/>
          <p:nvPr/>
        </p:nvSpPr>
        <p:spPr>
          <a:xfrm>
            <a:off x="8476488" y="4608576"/>
            <a:ext cx="548640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B7484"/>
                </a:solidFill>
                <a:latin typeface="微软雅黑"/>
                <a:ea typeface="微软雅黑"/>
              </a:rPr>
              <a:t>-1</a:t>
            </a:r>
            <a:endParaRPr/>
          </a:p>
        </p:txBody>
      </p:sp>
      <p:sp>
        <p:nvSpPr>
          <p:cNvPr id="165" name="Freeform 17"/>
          <p:cNvSpPr/>
          <p:nvPr/>
        </p:nvSpPr>
        <p:spPr>
          <a:xfrm>
            <a:off x="8361273" y="2715768"/>
            <a:ext cx="120701" cy="0"/>
          </a:xfrm>
          <a:custGeom>
            <a:avLst/>
            <a:gdLst/>
            <a:ahLst/>
            <a:cxnLst/>
            <a:rect l="l" t="t" r="r" b="b"/>
            <a:pathLst>
              <a:path w="120701" h="0">
                <a:moveTo>
                  <a:pt x="0" y="0"/>
                </a:moveTo>
                <a:lnTo>
                  <a:pt x="120701" y="0"/>
                </a:lnTo>
              </a:path>
            </a:pathLst>
          </a:custGeom>
          <a:noFill/>
          <a:ln w="12700">
            <a:solidFill>
              <a:srgbClr val="CFD7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6" name="TextBox 18"/>
          <p:cNvSpPr txBox="1"/>
          <p:nvPr/>
        </p:nvSpPr>
        <p:spPr>
          <a:xfrm>
            <a:off x="8476488" y="2596896"/>
            <a:ext cx="548640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B7484"/>
                </a:solidFill>
                <a:latin typeface="微软雅黑"/>
                <a:ea typeface="微软雅黑"/>
              </a:rPr>
              <a:t>1</a:t>
            </a:r>
            <a:endParaRPr/>
          </a:p>
        </p:txBody>
      </p:sp>
      <p:sp>
        <p:nvSpPr>
          <p:cNvPr id="167" name="TextBox 19"/>
          <p:cNvSpPr txBox="1"/>
          <p:nvPr/>
        </p:nvSpPr>
        <p:spPr>
          <a:xfrm>
            <a:off x="11356847" y="3483864"/>
            <a:ext cx="798271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B7484"/>
                </a:solidFill>
                <a:latin typeface="微软雅黑"/>
                <a:ea typeface="微软雅黑"/>
              </a:rPr>
              <a:t>x</a:t>
            </a:r>
            <a:endParaRPr/>
          </a:p>
        </p:txBody>
      </p:sp>
      <p:sp>
        <p:nvSpPr>
          <p:cNvPr id="168" name="TextBox 20"/>
          <p:cNvSpPr txBox="1"/>
          <p:nvPr/>
        </p:nvSpPr>
        <p:spPr>
          <a:xfrm>
            <a:off x="8183879" y="1792224"/>
            <a:ext cx="128016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B7484"/>
                </a:solidFill>
                <a:latin typeface="微软雅黑"/>
                <a:ea typeface="微软雅黑"/>
              </a:rPr>
              <a:t>y</a:t>
            </a:r>
            <a:endParaRPr/>
          </a:p>
        </p:txBody>
      </p:sp>
      <p:sp>
        <p:nvSpPr>
          <p:cNvPr id="169" name="Freeform 21"/>
          <p:cNvSpPr/>
          <p:nvPr/>
        </p:nvSpPr>
        <p:spPr>
          <a:xfrm>
            <a:off x="6999220" y="2715780"/>
            <a:ext cx="2844876" cy="2011655"/>
          </a:xfrm>
          <a:custGeom>
            <a:avLst/>
            <a:gdLst/>
            <a:ahLst/>
            <a:cxnLst/>
            <a:rect l="l" t="t" r="r" b="b"/>
            <a:pathLst>
              <a:path w="2844876" h="2011655">
                <a:moveTo>
                  <a:pt x="2844876" y="1005828"/>
                </a:moveTo>
                <a:lnTo>
                  <a:pt x="2844600" y="986017"/>
                </a:lnTo>
                <a:lnTo>
                  <a:pt x="2843773" y="966215"/>
                </a:lnTo>
                <a:lnTo>
                  <a:pt x="2842393" y="946427"/>
                </a:lnTo>
                <a:lnTo>
                  <a:pt x="2840464" y="926663"/>
                </a:lnTo>
                <a:lnTo>
                  <a:pt x="2837983" y="906930"/>
                </a:lnTo>
                <a:lnTo>
                  <a:pt x="2834954" y="887235"/>
                </a:lnTo>
                <a:lnTo>
                  <a:pt x="2831377" y="867586"/>
                </a:lnTo>
                <a:lnTo>
                  <a:pt x="2827253" y="847990"/>
                </a:lnTo>
                <a:lnTo>
                  <a:pt x="2822585" y="828456"/>
                </a:lnTo>
                <a:lnTo>
                  <a:pt x="2817373" y="808991"/>
                </a:lnTo>
                <a:lnTo>
                  <a:pt x="2811619" y="789602"/>
                </a:lnTo>
                <a:lnTo>
                  <a:pt x="2805327" y="770296"/>
                </a:lnTo>
                <a:lnTo>
                  <a:pt x="2798499" y="751083"/>
                </a:lnTo>
                <a:lnTo>
                  <a:pt x="2791136" y="731968"/>
                </a:lnTo>
                <a:lnTo>
                  <a:pt x="2783243" y="712959"/>
                </a:lnTo>
                <a:lnTo>
                  <a:pt x="2774822" y="694064"/>
                </a:lnTo>
                <a:lnTo>
                  <a:pt x="2765876" y="675290"/>
                </a:lnTo>
                <a:lnTo>
                  <a:pt x="2756409" y="656644"/>
                </a:lnTo>
                <a:lnTo>
                  <a:pt x="2746424" y="638133"/>
                </a:lnTo>
                <a:lnTo>
                  <a:pt x="2735926" y="619766"/>
                </a:lnTo>
                <a:lnTo>
                  <a:pt x="2724918" y="601547"/>
                </a:lnTo>
                <a:lnTo>
                  <a:pt x="2713405" y="583486"/>
                </a:lnTo>
                <a:lnTo>
                  <a:pt x="2701391" y="565589"/>
                </a:lnTo>
                <a:lnTo>
                  <a:pt x="2688880" y="547862"/>
                </a:lnTo>
                <a:lnTo>
                  <a:pt x="2675879" y="530313"/>
                </a:lnTo>
                <a:lnTo>
                  <a:pt x="2662391" y="512949"/>
                </a:lnTo>
                <a:lnTo>
                  <a:pt x="2648422" y="495776"/>
                </a:lnTo>
                <a:lnTo>
                  <a:pt x="2633978" y="478800"/>
                </a:lnTo>
                <a:lnTo>
                  <a:pt x="2619064" y="462029"/>
                </a:lnTo>
                <a:lnTo>
                  <a:pt x="2603685" y="445469"/>
                </a:lnTo>
                <a:lnTo>
                  <a:pt x="2587848" y="429127"/>
                </a:lnTo>
                <a:lnTo>
                  <a:pt x="2571559" y="413008"/>
                </a:lnTo>
                <a:lnTo>
                  <a:pt x="2554824" y="397119"/>
                </a:lnTo>
                <a:lnTo>
                  <a:pt x="2537650" y="381466"/>
                </a:lnTo>
                <a:lnTo>
                  <a:pt x="2520043" y="366056"/>
                </a:lnTo>
                <a:lnTo>
                  <a:pt x="2502010" y="350893"/>
                </a:lnTo>
                <a:lnTo>
                  <a:pt x="2483559" y="335985"/>
                </a:lnTo>
                <a:lnTo>
                  <a:pt x="2464696" y="321337"/>
                </a:lnTo>
                <a:lnTo>
                  <a:pt x="2445428" y="306954"/>
                </a:lnTo>
                <a:lnTo>
                  <a:pt x="2425764" y="292842"/>
                </a:lnTo>
                <a:lnTo>
                  <a:pt x="2405710" y="279007"/>
                </a:lnTo>
                <a:lnTo>
                  <a:pt x="2385275" y="265454"/>
                </a:lnTo>
                <a:lnTo>
                  <a:pt x="2364467" y="252188"/>
                </a:lnTo>
                <a:lnTo>
                  <a:pt x="2343293" y="239214"/>
                </a:lnTo>
                <a:lnTo>
                  <a:pt x="2321761" y="226538"/>
                </a:lnTo>
                <a:lnTo>
                  <a:pt x="2299881" y="214164"/>
                </a:lnTo>
                <a:lnTo>
                  <a:pt x="2277661" y="202098"/>
                </a:lnTo>
                <a:lnTo>
                  <a:pt x="2255108" y="190343"/>
                </a:lnTo>
                <a:lnTo>
                  <a:pt x="2232233" y="178904"/>
                </a:lnTo>
                <a:lnTo>
                  <a:pt x="2209043" y="167786"/>
                </a:lnTo>
                <a:lnTo>
                  <a:pt x="2185548" y="156994"/>
                </a:lnTo>
                <a:lnTo>
                  <a:pt x="2161758" y="146530"/>
                </a:lnTo>
                <a:lnTo>
                  <a:pt x="2137680" y="136400"/>
                </a:lnTo>
                <a:lnTo>
                  <a:pt x="2113325" y="126607"/>
                </a:lnTo>
                <a:lnTo>
                  <a:pt x="2088702" y="117156"/>
                </a:lnTo>
                <a:lnTo>
                  <a:pt x="2063820" y="108049"/>
                </a:lnTo>
                <a:lnTo>
                  <a:pt x="2038690" y="99290"/>
                </a:lnTo>
                <a:lnTo>
                  <a:pt x="2013320" y="90883"/>
                </a:lnTo>
                <a:lnTo>
                  <a:pt x="1987721" y="82831"/>
                </a:lnTo>
                <a:lnTo>
                  <a:pt x="1961903" y="75137"/>
                </a:lnTo>
                <a:lnTo>
                  <a:pt x="1935876" y="67804"/>
                </a:lnTo>
                <a:lnTo>
                  <a:pt x="1909649" y="60835"/>
                </a:lnTo>
                <a:lnTo>
                  <a:pt x="1883233" y="54233"/>
                </a:lnTo>
                <a:lnTo>
                  <a:pt x="1856639" y="48000"/>
                </a:lnTo>
                <a:lnTo>
                  <a:pt x="1829876" y="42138"/>
                </a:lnTo>
                <a:lnTo>
                  <a:pt x="1802955" y="36650"/>
                </a:lnTo>
                <a:lnTo>
                  <a:pt x="1775887" y="31539"/>
                </a:lnTo>
                <a:lnTo>
                  <a:pt x="1748681" y="26805"/>
                </a:lnTo>
                <a:lnTo>
                  <a:pt x="1721349" y="22451"/>
                </a:lnTo>
                <a:lnTo>
                  <a:pt x="1693900" y="18478"/>
                </a:lnTo>
                <a:lnTo>
                  <a:pt x="1666347" y="14889"/>
                </a:lnTo>
                <a:lnTo>
                  <a:pt x="1638699" y="11683"/>
                </a:lnTo>
                <a:lnTo>
                  <a:pt x="1610967" y="8864"/>
                </a:lnTo>
                <a:lnTo>
                  <a:pt x="1583161" y="6431"/>
                </a:lnTo>
                <a:lnTo>
                  <a:pt x="1555294" y="4386"/>
                </a:lnTo>
                <a:lnTo>
                  <a:pt x="1527375" y="2730"/>
                </a:lnTo>
                <a:lnTo>
                  <a:pt x="1499415" y="1463"/>
                </a:lnTo>
                <a:lnTo>
                  <a:pt x="1471425" y="585"/>
                </a:lnTo>
                <a:lnTo>
                  <a:pt x="1443416" y="97"/>
                </a:lnTo>
                <a:lnTo>
                  <a:pt x="1415399" y="0"/>
                </a:lnTo>
                <a:lnTo>
                  <a:pt x="1387385" y="292"/>
                </a:lnTo>
                <a:lnTo>
                  <a:pt x="1359384" y="975"/>
                </a:lnTo>
                <a:lnTo>
                  <a:pt x="1331408" y="2048"/>
                </a:lnTo>
                <a:lnTo>
                  <a:pt x="1303467" y="3510"/>
                </a:lnTo>
                <a:lnTo>
                  <a:pt x="1275572" y="5360"/>
                </a:lnTo>
                <a:lnTo>
                  <a:pt x="1247735" y="7599"/>
                </a:lnTo>
                <a:lnTo>
                  <a:pt x="1219965" y="10226"/>
                </a:lnTo>
                <a:lnTo>
                  <a:pt x="1192273" y="13238"/>
                </a:lnTo>
                <a:lnTo>
                  <a:pt x="1164671" y="16635"/>
                </a:lnTo>
                <a:lnTo>
                  <a:pt x="1137169" y="20417"/>
                </a:lnTo>
                <a:lnTo>
                  <a:pt x="1109777" y="24580"/>
                </a:lnTo>
                <a:lnTo>
                  <a:pt x="1082507" y="29124"/>
                </a:lnTo>
                <a:lnTo>
                  <a:pt x="1055368" y="34047"/>
                </a:lnTo>
                <a:lnTo>
                  <a:pt x="1028372" y="39347"/>
                </a:lnTo>
                <a:lnTo>
                  <a:pt x="1001529" y="45022"/>
                </a:lnTo>
                <a:lnTo>
                  <a:pt x="974849" y="51070"/>
                </a:lnTo>
                <a:lnTo>
                  <a:pt x="948343" y="57488"/>
                </a:lnTo>
                <a:lnTo>
                  <a:pt x="922020" y="64274"/>
                </a:lnTo>
                <a:lnTo>
                  <a:pt x="895892" y="71426"/>
                </a:lnTo>
                <a:lnTo>
                  <a:pt x="869968" y="78939"/>
                </a:lnTo>
                <a:lnTo>
                  <a:pt x="844258" y="86813"/>
                </a:lnTo>
                <a:lnTo>
                  <a:pt x="818773" y="95043"/>
                </a:lnTo>
                <a:lnTo>
                  <a:pt x="793522" y="103626"/>
                </a:lnTo>
                <a:lnTo>
                  <a:pt x="768514" y="112559"/>
                </a:lnTo>
                <a:lnTo>
                  <a:pt x="743761" y="121839"/>
                </a:lnTo>
                <a:lnTo>
                  <a:pt x="719271" y="131461"/>
                </a:lnTo>
                <a:lnTo>
                  <a:pt x="695053" y="141423"/>
                </a:lnTo>
                <a:lnTo>
                  <a:pt x="671118" y="151720"/>
                </a:lnTo>
                <a:lnTo>
                  <a:pt x="647474" y="162349"/>
                </a:lnTo>
                <a:lnTo>
                  <a:pt x="624130" y="173305"/>
                </a:lnTo>
                <a:lnTo>
                  <a:pt x="601097" y="184584"/>
                </a:lnTo>
                <a:lnTo>
                  <a:pt x="578382" y="196181"/>
                </a:lnTo>
                <a:lnTo>
                  <a:pt x="555994" y="208092"/>
                </a:lnTo>
                <a:lnTo>
                  <a:pt x="533943" y="220313"/>
                </a:lnTo>
                <a:lnTo>
                  <a:pt x="512236" y="232839"/>
                </a:lnTo>
                <a:lnTo>
                  <a:pt x="490882" y="245664"/>
                </a:lnTo>
                <a:lnTo>
                  <a:pt x="469890" y="258785"/>
                </a:lnTo>
                <a:lnTo>
                  <a:pt x="449267" y="272195"/>
                </a:lnTo>
                <a:lnTo>
                  <a:pt x="429022" y="285890"/>
                </a:lnTo>
                <a:lnTo>
                  <a:pt x="409162" y="299864"/>
                </a:lnTo>
                <a:lnTo>
                  <a:pt x="389695" y="314112"/>
                </a:lnTo>
                <a:lnTo>
                  <a:pt x="370629" y="328628"/>
                </a:lnTo>
                <a:lnTo>
                  <a:pt x="351970" y="343407"/>
                </a:lnTo>
                <a:lnTo>
                  <a:pt x="333727" y="358443"/>
                </a:lnTo>
                <a:lnTo>
                  <a:pt x="315907" y="373730"/>
                </a:lnTo>
                <a:lnTo>
                  <a:pt x="298516" y="389263"/>
                </a:lnTo>
                <a:lnTo>
                  <a:pt x="281560" y="405034"/>
                </a:lnTo>
                <a:lnTo>
                  <a:pt x="265047" y="421039"/>
                </a:lnTo>
                <a:lnTo>
                  <a:pt x="248984" y="437271"/>
                </a:lnTo>
                <a:lnTo>
                  <a:pt x="233375" y="453723"/>
                </a:lnTo>
                <a:lnTo>
                  <a:pt x="218228" y="470389"/>
                </a:lnTo>
                <a:lnTo>
                  <a:pt x="203548" y="487263"/>
                </a:lnTo>
                <a:lnTo>
                  <a:pt x="189340" y="504338"/>
                </a:lnTo>
                <a:lnTo>
                  <a:pt x="175611" y="521608"/>
                </a:lnTo>
                <a:lnTo>
                  <a:pt x="162366" y="539065"/>
                </a:lnTo>
                <a:lnTo>
                  <a:pt x="149610" y="556704"/>
                </a:lnTo>
                <a:lnTo>
                  <a:pt x="137347" y="574517"/>
                </a:lnTo>
                <a:lnTo>
                  <a:pt x="125583" y="592497"/>
                </a:lnTo>
                <a:lnTo>
                  <a:pt x="114322" y="610637"/>
                </a:lnTo>
                <a:lnTo>
                  <a:pt x="103568" y="628931"/>
                </a:lnTo>
                <a:lnTo>
                  <a:pt x="93326" y="647371"/>
                </a:lnTo>
                <a:lnTo>
                  <a:pt x="83600" y="665950"/>
                </a:lnTo>
                <a:lnTo>
                  <a:pt x="74393" y="684661"/>
                </a:lnTo>
                <a:lnTo>
                  <a:pt x="65709" y="703497"/>
                </a:lnTo>
                <a:lnTo>
                  <a:pt x="57551" y="722450"/>
                </a:lnTo>
                <a:lnTo>
                  <a:pt x="49923" y="741512"/>
                </a:lnTo>
                <a:lnTo>
                  <a:pt x="42827" y="760678"/>
                </a:lnTo>
                <a:lnTo>
                  <a:pt x="36266" y="779938"/>
                </a:lnTo>
                <a:lnTo>
                  <a:pt x="30243" y="799286"/>
                </a:lnTo>
                <a:lnTo>
                  <a:pt x="24761" y="818714"/>
                </a:lnTo>
                <a:lnTo>
                  <a:pt x="19820" y="838215"/>
                </a:lnTo>
                <a:lnTo>
                  <a:pt x="15424" y="857781"/>
                </a:lnTo>
                <a:lnTo>
                  <a:pt x="11573" y="877404"/>
                </a:lnTo>
                <a:lnTo>
                  <a:pt x="8270" y="897077"/>
                </a:lnTo>
                <a:lnTo>
                  <a:pt x="5515" y="916792"/>
                </a:lnTo>
                <a:lnTo>
                  <a:pt x="3310" y="936542"/>
                </a:lnTo>
                <a:lnTo>
                  <a:pt x="1655" y="956319"/>
                </a:lnTo>
                <a:lnTo>
                  <a:pt x="552" y="976115"/>
                </a:lnTo>
                <a:lnTo>
                  <a:pt x="0" y="995922"/>
                </a:lnTo>
                <a:lnTo>
                  <a:pt x="0" y="1015733"/>
                </a:lnTo>
                <a:lnTo>
                  <a:pt x="552" y="1035540"/>
                </a:lnTo>
                <a:lnTo>
                  <a:pt x="1655" y="1055336"/>
                </a:lnTo>
                <a:lnTo>
                  <a:pt x="3310" y="1075113"/>
                </a:lnTo>
                <a:lnTo>
                  <a:pt x="5515" y="1094863"/>
                </a:lnTo>
                <a:lnTo>
                  <a:pt x="8270" y="1114578"/>
                </a:lnTo>
                <a:lnTo>
                  <a:pt x="11573" y="1134251"/>
                </a:lnTo>
                <a:lnTo>
                  <a:pt x="15424" y="1153874"/>
                </a:lnTo>
                <a:lnTo>
                  <a:pt x="19820" y="1173440"/>
                </a:lnTo>
                <a:lnTo>
                  <a:pt x="24761" y="1192941"/>
                </a:lnTo>
                <a:lnTo>
                  <a:pt x="30243" y="1212369"/>
                </a:lnTo>
                <a:lnTo>
                  <a:pt x="36266" y="1231717"/>
                </a:lnTo>
                <a:lnTo>
                  <a:pt x="42827" y="1250977"/>
                </a:lnTo>
                <a:lnTo>
                  <a:pt x="49923" y="1270143"/>
                </a:lnTo>
                <a:lnTo>
                  <a:pt x="57551" y="1289205"/>
                </a:lnTo>
                <a:lnTo>
                  <a:pt x="65709" y="1308158"/>
                </a:lnTo>
                <a:lnTo>
                  <a:pt x="74393" y="1326994"/>
                </a:lnTo>
                <a:lnTo>
                  <a:pt x="83600" y="1345705"/>
                </a:lnTo>
                <a:lnTo>
                  <a:pt x="93326" y="1364284"/>
                </a:lnTo>
                <a:lnTo>
                  <a:pt x="103568" y="1382724"/>
                </a:lnTo>
                <a:lnTo>
                  <a:pt x="114322" y="1401018"/>
                </a:lnTo>
                <a:lnTo>
                  <a:pt x="125583" y="1419158"/>
                </a:lnTo>
                <a:lnTo>
                  <a:pt x="137347" y="1437138"/>
                </a:lnTo>
                <a:lnTo>
                  <a:pt x="149610" y="1454951"/>
                </a:lnTo>
                <a:lnTo>
                  <a:pt x="162366" y="1472590"/>
                </a:lnTo>
                <a:lnTo>
                  <a:pt x="175611" y="1490047"/>
                </a:lnTo>
                <a:lnTo>
                  <a:pt x="189340" y="1507317"/>
                </a:lnTo>
                <a:lnTo>
                  <a:pt x="203548" y="1524392"/>
                </a:lnTo>
                <a:lnTo>
                  <a:pt x="218228" y="1541266"/>
                </a:lnTo>
                <a:lnTo>
                  <a:pt x="233375" y="1557932"/>
                </a:lnTo>
                <a:lnTo>
                  <a:pt x="248984" y="1574384"/>
                </a:lnTo>
                <a:lnTo>
                  <a:pt x="265047" y="1590616"/>
                </a:lnTo>
                <a:lnTo>
                  <a:pt x="281560" y="1606621"/>
                </a:lnTo>
                <a:lnTo>
                  <a:pt x="298516" y="1622392"/>
                </a:lnTo>
                <a:lnTo>
                  <a:pt x="315907" y="1637925"/>
                </a:lnTo>
                <a:lnTo>
                  <a:pt x="333727" y="1653212"/>
                </a:lnTo>
                <a:lnTo>
                  <a:pt x="351970" y="1668248"/>
                </a:lnTo>
                <a:lnTo>
                  <a:pt x="370629" y="1683027"/>
                </a:lnTo>
                <a:lnTo>
                  <a:pt x="389695" y="1697543"/>
                </a:lnTo>
                <a:lnTo>
                  <a:pt x="409162" y="1711791"/>
                </a:lnTo>
                <a:lnTo>
                  <a:pt x="429022" y="1725765"/>
                </a:lnTo>
                <a:lnTo>
                  <a:pt x="449267" y="1739460"/>
                </a:lnTo>
                <a:lnTo>
                  <a:pt x="469890" y="1752870"/>
                </a:lnTo>
                <a:lnTo>
                  <a:pt x="490882" y="1765991"/>
                </a:lnTo>
                <a:lnTo>
                  <a:pt x="512236" y="1778816"/>
                </a:lnTo>
                <a:lnTo>
                  <a:pt x="533943" y="1791342"/>
                </a:lnTo>
                <a:lnTo>
                  <a:pt x="555994" y="1803563"/>
                </a:lnTo>
                <a:lnTo>
                  <a:pt x="578382" y="1815474"/>
                </a:lnTo>
                <a:lnTo>
                  <a:pt x="601097" y="1827071"/>
                </a:lnTo>
                <a:lnTo>
                  <a:pt x="624130" y="1838350"/>
                </a:lnTo>
                <a:lnTo>
                  <a:pt x="647474" y="1849306"/>
                </a:lnTo>
                <a:lnTo>
                  <a:pt x="671118" y="1859935"/>
                </a:lnTo>
                <a:lnTo>
                  <a:pt x="695053" y="1870232"/>
                </a:lnTo>
                <a:lnTo>
                  <a:pt x="719271" y="1880194"/>
                </a:lnTo>
                <a:lnTo>
                  <a:pt x="743761" y="1889816"/>
                </a:lnTo>
                <a:lnTo>
                  <a:pt x="768514" y="1899096"/>
                </a:lnTo>
                <a:lnTo>
                  <a:pt x="793522" y="1908029"/>
                </a:lnTo>
                <a:lnTo>
                  <a:pt x="818773" y="1916612"/>
                </a:lnTo>
                <a:lnTo>
                  <a:pt x="844258" y="1924842"/>
                </a:lnTo>
                <a:lnTo>
                  <a:pt x="869968" y="1932716"/>
                </a:lnTo>
                <a:lnTo>
                  <a:pt x="895892" y="1940229"/>
                </a:lnTo>
                <a:lnTo>
                  <a:pt x="922020" y="1947381"/>
                </a:lnTo>
                <a:lnTo>
                  <a:pt x="948343" y="1954167"/>
                </a:lnTo>
                <a:lnTo>
                  <a:pt x="974849" y="1960585"/>
                </a:lnTo>
                <a:lnTo>
                  <a:pt x="1001529" y="1966633"/>
                </a:lnTo>
                <a:lnTo>
                  <a:pt x="1028372" y="1972308"/>
                </a:lnTo>
                <a:lnTo>
                  <a:pt x="1055368" y="1977608"/>
                </a:lnTo>
                <a:lnTo>
                  <a:pt x="1082507" y="1982531"/>
                </a:lnTo>
                <a:lnTo>
                  <a:pt x="1109777" y="1987075"/>
                </a:lnTo>
                <a:lnTo>
                  <a:pt x="1137169" y="1991238"/>
                </a:lnTo>
                <a:lnTo>
                  <a:pt x="1164671" y="1995020"/>
                </a:lnTo>
                <a:lnTo>
                  <a:pt x="1192273" y="1998417"/>
                </a:lnTo>
                <a:lnTo>
                  <a:pt x="1219965" y="2001429"/>
                </a:lnTo>
                <a:lnTo>
                  <a:pt x="1247735" y="2004056"/>
                </a:lnTo>
                <a:lnTo>
                  <a:pt x="1275572" y="2006295"/>
                </a:lnTo>
                <a:lnTo>
                  <a:pt x="1303467" y="2008145"/>
                </a:lnTo>
                <a:lnTo>
                  <a:pt x="1331408" y="2009607"/>
                </a:lnTo>
                <a:lnTo>
                  <a:pt x="1359384" y="2010680"/>
                </a:lnTo>
                <a:lnTo>
                  <a:pt x="1387385" y="2011363"/>
                </a:lnTo>
                <a:lnTo>
                  <a:pt x="1415399" y="2011655"/>
                </a:lnTo>
                <a:lnTo>
                  <a:pt x="1443416" y="2011558"/>
                </a:lnTo>
                <a:lnTo>
                  <a:pt x="1471425" y="2011070"/>
                </a:lnTo>
                <a:lnTo>
                  <a:pt x="1499415" y="2010192"/>
                </a:lnTo>
                <a:lnTo>
                  <a:pt x="1527375" y="2008925"/>
                </a:lnTo>
                <a:lnTo>
                  <a:pt x="1555294" y="2007269"/>
                </a:lnTo>
                <a:lnTo>
                  <a:pt x="1583161" y="2005224"/>
                </a:lnTo>
                <a:lnTo>
                  <a:pt x="1610967" y="2002791"/>
                </a:lnTo>
                <a:lnTo>
                  <a:pt x="1638699" y="1999972"/>
                </a:lnTo>
                <a:lnTo>
                  <a:pt x="1666347" y="1996766"/>
                </a:lnTo>
                <a:lnTo>
                  <a:pt x="1693900" y="1993177"/>
                </a:lnTo>
                <a:lnTo>
                  <a:pt x="1721349" y="1989204"/>
                </a:lnTo>
                <a:lnTo>
                  <a:pt x="1748681" y="1984850"/>
                </a:lnTo>
                <a:lnTo>
                  <a:pt x="1775887" y="1980116"/>
                </a:lnTo>
                <a:lnTo>
                  <a:pt x="1802955" y="1975005"/>
                </a:lnTo>
                <a:lnTo>
                  <a:pt x="1829876" y="1969517"/>
                </a:lnTo>
                <a:lnTo>
                  <a:pt x="1856639" y="1963655"/>
                </a:lnTo>
                <a:lnTo>
                  <a:pt x="1883233" y="1957422"/>
                </a:lnTo>
                <a:lnTo>
                  <a:pt x="1909649" y="1950820"/>
                </a:lnTo>
                <a:lnTo>
                  <a:pt x="1935876" y="1943851"/>
                </a:lnTo>
                <a:lnTo>
                  <a:pt x="1961903" y="1936518"/>
                </a:lnTo>
                <a:lnTo>
                  <a:pt x="1987721" y="1928824"/>
                </a:lnTo>
                <a:lnTo>
                  <a:pt x="2013320" y="1920772"/>
                </a:lnTo>
                <a:lnTo>
                  <a:pt x="2038690" y="1912365"/>
                </a:lnTo>
                <a:lnTo>
                  <a:pt x="2063820" y="1903606"/>
                </a:lnTo>
                <a:lnTo>
                  <a:pt x="2088702" y="1894499"/>
                </a:lnTo>
                <a:lnTo>
                  <a:pt x="2113325" y="1885048"/>
                </a:lnTo>
                <a:lnTo>
                  <a:pt x="2137680" y="1875255"/>
                </a:lnTo>
                <a:lnTo>
                  <a:pt x="2161758" y="1865125"/>
                </a:lnTo>
                <a:lnTo>
                  <a:pt x="2185548" y="1854661"/>
                </a:lnTo>
                <a:lnTo>
                  <a:pt x="2209043" y="1843869"/>
                </a:lnTo>
                <a:lnTo>
                  <a:pt x="2232233" y="1832751"/>
                </a:lnTo>
                <a:lnTo>
                  <a:pt x="2255108" y="1821312"/>
                </a:lnTo>
                <a:lnTo>
                  <a:pt x="2277661" y="1809557"/>
                </a:lnTo>
                <a:lnTo>
                  <a:pt x="2299881" y="1797491"/>
                </a:lnTo>
                <a:lnTo>
                  <a:pt x="2321761" y="1785117"/>
                </a:lnTo>
                <a:lnTo>
                  <a:pt x="2343293" y="1772441"/>
                </a:lnTo>
                <a:lnTo>
                  <a:pt x="2364467" y="1759467"/>
                </a:lnTo>
                <a:lnTo>
                  <a:pt x="2385275" y="1746201"/>
                </a:lnTo>
                <a:lnTo>
                  <a:pt x="2405710" y="1732648"/>
                </a:lnTo>
                <a:lnTo>
                  <a:pt x="2425764" y="1718813"/>
                </a:lnTo>
                <a:lnTo>
                  <a:pt x="2445428" y="1704701"/>
                </a:lnTo>
                <a:lnTo>
                  <a:pt x="2464696" y="1690318"/>
                </a:lnTo>
                <a:lnTo>
                  <a:pt x="2483559" y="1675670"/>
                </a:lnTo>
                <a:lnTo>
                  <a:pt x="2502010" y="1660762"/>
                </a:lnTo>
                <a:lnTo>
                  <a:pt x="2520043" y="1645599"/>
                </a:lnTo>
                <a:lnTo>
                  <a:pt x="2537650" y="1630189"/>
                </a:lnTo>
                <a:lnTo>
                  <a:pt x="2554824" y="1614536"/>
                </a:lnTo>
                <a:lnTo>
                  <a:pt x="2571559" y="1598647"/>
                </a:lnTo>
                <a:lnTo>
                  <a:pt x="2587848" y="1582528"/>
                </a:lnTo>
                <a:lnTo>
                  <a:pt x="2603685" y="1566186"/>
                </a:lnTo>
                <a:lnTo>
                  <a:pt x="2619064" y="1549626"/>
                </a:lnTo>
                <a:lnTo>
                  <a:pt x="2633978" y="1532855"/>
                </a:lnTo>
                <a:lnTo>
                  <a:pt x="2648422" y="1515879"/>
                </a:lnTo>
                <a:lnTo>
                  <a:pt x="2662391" y="1498706"/>
                </a:lnTo>
                <a:lnTo>
                  <a:pt x="2675879" y="1481342"/>
                </a:lnTo>
                <a:lnTo>
                  <a:pt x="2688880" y="1463793"/>
                </a:lnTo>
                <a:lnTo>
                  <a:pt x="2701391" y="1446066"/>
                </a:lnTo>
                <a:lnTo>
                  <a:pt x="2713405" y="1428169"/>
                </a:lnTo>
                <a:lnTo>
                  <a:pt x="2724918" y="1410108"/>
                </a:lnTo>
                <a:lnTo>
                  <a:pt x="2735926" y="1391889"/>
                </a:lnTo>
                <a:lnTo>
                  <a:pt x="2746424" y="1373522"/>
                </a:lnTo>
                <a:lnTo>
                  <a:pt x="2756409" y="1355011"/>
                </a:lnTo>
                <a:lnTo>
                  <a:pt x="2765876" y="1336365"/>
                </a:lnTo>
                <a:lnTo>
                  <a:pt x="2774822" y="1317591"/>
                </a:lnTo>
                <a:lnTo>
                  <a:pt x="2783243" y="1298696"/>
                </a:lnTo>
                <a:lnTo>
                  <a:pt x="2791136" y="1279687"/>
                </a:lnTo>
                <a:lnTo>
                  <a:pt x="2798499" y="1260572"/>
                </a:lnTo>
                <a:lnTo>
                  <a:pt x="2805327" y="1241359"/>
                </a:lnTo>
                <a:lnTo>
                  <a:pt x="2811619" y="1222053"/>
                </a:lnTo>
                <a:lnTo>
                  <a:pt x="2817373" y="1202664"/>
                </a:lnTo>
                <a:lnTo>
                  <a:pt x="2822585" y="1183199"/>
                </a:lnTo>
                <a:lnTo>
                  <a:pt x="2827253" y="1163665"/>
                </a:lnTo>
                <a:lnTo>
                  <a:pt x="2831377" y="1144069"/>
                </a:lnTo>
                <a:lnTo>
                  <a:pt x="2834954" y="1124420"/>
                </a:lnTo>
                <a:lnTo>
                  <a:pt x="2837983" y="1104725"/>
                </a:lnTo>
                <a:lnTo>
                  <a:pt x="2840464" y="1084992"/>
                </a:lnTo>
                <a:lnTo>
                  <a:pt x="2842393" y="1065228"/>
                </a:lnTo>
                <a:lnTo>
                  <a:pt x="2843773" y="1045440"/>
                </a:lnTo>
                <a:lnTo>
                  <a:pt x="2844600" y="1025638"/>
                </a:lnTo>
                <a:lnTo>
                  <a:pt x="2844876" y="1005828"/>
                </a:lnTo>
              </a:path>
            </a:pathLst>
          </a:custGeom>
          <a:noFill/>
          <a:ln w="25400">
            <a:solidFill>
              <a:srgbClr val="2E6B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0" name="Freeform 22"/>
          <p:cNvSpPr/>
          <p:nvPr/>
        </p:nvSpPr>
        <p:spPr>
          <a:xfrm>
            <a:off x="5807491" y="2501857"/>
            <a:ext cx="3522238" cy="1219751"/>
          </a:xfrm>
          <a:custGeom>
            <a:avLst/>
            <a:gdLst/>
            <a:ahLst/>
            <a:cxnLst/>
            <a:rect l="l" t="t" r="r" b="b"/>
            <a:pathLst>
              <a:path w="3522238" h="1219751">
                <a:moveTo>
                  <a:pt x="3522238" y="1219751"/>
                </a:moveTo>
                <a:lnTo>
                  <a:pt x="3521832" y="1195727"/>
                </a:lnTo>
                <a:lnTo>
                  <a:pt x="3520615" y="1171713"/>
                </a:lnTo>
                <a:lnTo>
                  <a:pt x="3518588" y="1147717"/>
                </a:lnTo>
                <a:lnTo>
                  <a:pt x="3515750" y="1123749"/>
                </a:lnTo>
                <a:lnTo>
                  <a:pt x="3512104" y="1099819"/>
                </a:lnTo>
                <a:lnTo>
                  <a:pt x="3507650" y="1075935"/>
                </a:lnTo>
                <a:lnTo>
                  <a:pt x="3502390" y="1052107"/>
                </a:lnTo>
                <a:lnTo>
                  <a:pt x="3496327" y="1028344"/>
                </a:lnTo>
                <a:lnTo>
                  <a:pt x="3489463" y="1004655"/>
                </a:lnTo>
                <a:lnTo>
                  <a:pt x="3481800" y="981050"/>
                </a:lnTo>
                <a:lnTo>
                  <a:pt x="3473341" y="957537"/>
                </a:lnTo>
                <a:lnTo>
                  <a:pt x="3464090" y="934126"/>
                </a:lnTo>
                <a:lnTo>
                  <a:pt x="3454050" y="910826"/>
                </a:lnTo>
                <a:lnTo>
                  <a:pt x="3443225" y="887645"/>
                </a:lnTo>
                <a:lnTo>
                  <a:pt x="3431619" y="864594"/>
                </a:lnTo>
                <a:lnTo>
                  <a:pt x="3419238" y="841680"/>
                </a:lnTo>
                <a:lnTo>
                  <a:pt x="3406085" y="818913"/>
                </a:lnTo>
                <a:lnTo>
                  <a:pt x="3392165" y="796301"/>
                </a:lnTo>
                <a:lnTo>
                  <a:pt x="3377485" y="773854"/>
                </a:lnTo>
                <a:lnTo>
                  <a:pt x="3362049" y="751580"/>
                </a:lnTo>
                <a:lnTo>
                  <a:pt x="3345864" y="729487"/>
                </a:lnTo>
                <a:lnTo>
                  <a:pt x="3328937" y="707584"/>
                </a:lnTo>
                <a:lnTo>
                  <a:pt x="3311273" y="685881"/>
                </a:lnTo>
                <a:lnTo>
                  <a:pt x="3292879" y="664384"/>
                </a:lnTo>
                <a:lnTo>
                  <a:pt x="3273763" y="643103"/>
                </a:lnTo>
                <a:lnTo>
                  <a:pt x="3253932" y="622045"/>
                </a:lnTo>
                <a:lnTo>
                  <a:pt x="3233394" y="601219"/>
                </a:lnTo>
                <a:lnTo>
                  <a:pt x="3212157" y="580634"/>
                </a:lnTo>
                <a:lnTo>
                  <a:pt x="3190228" y="560296"/>
                </a:lnTo>
                <a:lnTo>
                  <a:pt x="3167617" y="540214"/>
                </a:lnTo>
                <a:lnTo>
                  <a:pt x="3144332" y="520395"/>
                </a:lnTo>
                <a:lnTo>
                  <a:pt x="3120383" y="500848"/>
                </a:lnTo>
                <a:lnTo>
                  <a:pt x="3095777" y="481580"/>
                </a:lnTo>
                <a:lnTo>
                  <a:pt x="3070526" y="462598"/>
                </a:lnTo>
                <a:lnTo>
                  <a:pt x="3044639" y="443910"/>
                </a:lnTo>
                <a:lnTo>
                  <a:pt x="3018126" y="425523"/>
                </a:lnTo>
                <a:lnTo>
                  <a:pt x="2990997" y="407444"/>
                </a:lnTo>
                <a:lnTo>
                  <a:pt x="2963263" y="389680"/>
                </a:lnTo>
                <a:lnTo>
                  <a:pt x="2934934" y="372238"/>
                </a:lnTo>
                <a:lnTo>
                  <a:pt x="2906022" y="355125"/>
                </a:lnTo>
                <a:lnTo>
                  <a:pt x="2876537" y="338348"/>
                </a:lnTo>
                <a:lnTo>
                  <a:pt x="2846492" y="321912"/>
                </a:lnTo>
                <a:lnTo>
                  <a:pt x="2815897" y="305825"/>
                </a:lnTo>
                <a:lnTo>
                  <a:pt x="2784765" y="290092"/>
                </a:lnTo>
                <a:lnTo>
                  <a:pt x="2753108" y="274720"/>
                </a:lnTo>
                <a:lnTo>
                  <a:pt x="2720938" y="259714"/>
                </a:lnTo>
                <a:lnTo>
                  <a:pt x="2688267" y="245081"/>
                </a:lnTo>
                <a:lnTo>
                  <a:pt x="2655109" y="230826"/>
                </a:lnTo>
                <a:lnTo>
                  <a:pt x="2621475" y="216955"/>
                </a:lnTo>
                <a:lnTo>
                  <a:pt x="2587380" y="203472"/>
                </a:lnTo>
                <a:lnTo>
                  <a:pt x="2552836" y="190384"/>
                </a:lnTo>
                <a:lnTo>
                  <a:pt x="2517856" y="177695"/>
                </a:lnTo>
                <a:lnTo>
                  <a:pt x="2482455" y="165411"/>
                </a:lnTo>
                <a:lnTo>
                  <a:pt x="2446646" y="153535"/>
                </a:lnTo>
                <a:lnTo>
                  <a:pt x="2410443" y="142073"/>
                </a:lnTo>
                <a:lnTo>
                  <a:pt x="2373860" y="131030"/>
                </a:lnTo>
                <a:lnTo>
                  <a:pt x="2336911" y="120408"/>
                </a:lnTo>
                <a:lnTo>
                  <a:pt x="2299610" y="110213"/>
                </a:lnTo>
                <a:lnTo>
                  <a:pt x="2261972" y="100449"/>
                </a:lnTo>
                <a:lnTo>
                  <a:pt x="2224012" y="91118"/>
                </a:lnTo>
                <a:lnTo>
                  <a:pt x="2185744" y="82226"/>
                </a:lnTo>
                <a:lnTo>
                  <a:pt x="2147184" y="73775"/>
                </a:lnTo>
                <a:lnTo>
                  <a:pt x="2108345" y="65768"/>
                </a:lnTo>
                <a:lnTo>
                  <a:pt x="2069244" y="58209"/>
                </a:lnTo>
                <a:lnTo>
                  <a:pt x="2029895" y="51101"/>
                </a:lnTo>
                <a:lnTo>
                  <a:pt x="1990313" y="44446"/>
                </a:lnTo>
                <a:lnTo>
                  <a:pt x="1950514" y="38247"/>
                </a:lnTo>
                <a:lnTo>
                  <a:pt x="1910514" y="32506"/>
                </a:lnTo>
                <a:lnTo>
                  <a:pt x="1870328" y="27226"/>
                </a:lnTo>
                <a:lnTo>
                  <a:pt x="1829971" y="22409"/>
                </a:lnTo>
                <a:lnTo>
                  <a:pt x="1789459" y="18056"/>
                </a:lnTo>
                <a:lnTo>
                  <a:pt x="1748808" y="14169"/>
                </a:lnTo>
                <a:lnTo>
                  <a:pt x="1708034" y="10750"/>
                </a:lnTo>
                <a:lnTo>
                  <a:pt x="1667152" y="7800"/>
                </a:lnTo>
                <a:lnTo>
                  <a:pt x="1626179" y="5320"/>
                </a:lnTo>
                <a:lnTo>
                  <a:pt x="1585130" y="3311"/>
                </a:lnTo>
                <a:lnTo>
                  <a:pt x="1544021" y="1774"/>
                </a:lnTo>
                <a:lnTo>
                  <a:pt x="1502867" y="710"/>
                </a:lnTo>
                <a:lnTo>
                  <a:pt x="1461686" y="119"/>
                </a:lnTo>
                <a:lnTo>
                  <a:pt x="1420493" y="0"/>
                </a:lnTo>
                <a:lnTo>
                  <a:pt x="1379304" y="355"/>
                </a:lnTo>
                <a:lnTo>
                  <a:pt x="1338135" y="1183"/>
                </a:lnTo>
                <a:lnTo>
                  <a:pt x="1297002" y="2484"/>
                </a:lnTo>
                <a:lnTo>
                  <a:pt x="1255921" y="4257"/>
                </a:lnTo>
                <a:lnTo>
                  <a:pt x="1214908" y="6501"/>
                </a:lnTo>
                <a:lnTo>
                  <a:pt x="1173978" y="9216"/>
                </a:lnTo>
                <a:lnTo>
                  <a:pt x="1133148" y="12401"/>
                </a:lnTo>
                <a:lnTo>
                  <a:pt x="1092434" y="16054"/>
                </a:lnTo>
                <a:lnTo>
                  <a:pt x="1051850" y="20174"/>
                </a:lnTo>
                <a:lnTo>
                  <a:pt x="1011414" y="24759"/>
                </a:lnTo>
                <a:lnTo>
                  <a:pt x="971141" y="29808"/>
                </a:lnTo>
                <a:lnTo>
                  <a:pt x="931045" y="35319"/>
                </a:lnTo>
                <a:lnTo>
                  <a:pt x="891144" y="41289"/>
                </a:lnTo>
                <a:lnTo>
                  <a:pt x="851452" y="47717"/>
                </a:lnTo>
                <a:lnTo>
                  <a:pt x="811985" y="54599"/>
                </a:lnTo>
                <a:lnTo>
                  <a:pt x="772758" y="61932"/>
                </a:lnTo>
                <a:lnTo>
                  <a:pt x="733786" y="69716"/>
                </a:lnTo>
                <a:lnTo>
                  <a:pt x="695084" y="77945"/>
                </a:lnTo>
                <a:lnTo>
                  <a:pt x="656668" y="86617"/>
                </a:lnTo>
                <a:lnTo>
                  <a:pt x="618552" y="95729"/>
                </a:lnTo>
                <a:lnTo>
                  <a:pt x="580751" y="105277"/>
                </a:lnTo>
                <a:lnTo>
                  <a:pt x="543281" y="115257"/>
                </a:lnTo>
                <a:lnTo>
                  <a:pt x="506154" y="125666"/>
                </a:lnTo>
                <a:lnTo>
                  <a:pt x="469386" y="136499"/>
                </a:lnTo>
                <a:lnTo>
                  <a:pt x="432991" y="147752"/>
                </a:lnTo>
                <a:lnTo>
                  <a:pt x="396983" y="159422"/>
                </a:lnTo>
                <a:lnTo>
                  <a:pt x="361376" y="171502"/>
                </a:lnTo>
                <a:lnTo>
                  <a:pt x="326184" y="183989"/>
                </a:lnTo>
                <a:lnTo>
                  <a:pt x="291421" y="196879"/>
                </a:lnTo>
                <a:lnTo>
                  <a:pt x="257100" y="210164"/>
                </a:lnTo>
                <a:lnTo>
                  <a:pt x="223233" y="223842"/>
                </a:lnTo>
                <a:lnTo>
                  <a:pt x="189836" y="237906"/>
                </a:lnTo>
                <a:lnTo>
                  <a:pt x="156920" y="252351"/>
                </a:lnTo>
                <a:lnTo>
                  <a:pt x="124498" y="267171"/>
                </a:lnTo>
                <a:lnTo>
                  <a:pt x="92582" y="282360"/>
                </a:lnTo>
                <a:lnTo>
                  <a:pt x="61186" y="297914"/>
                </a:lnTo>
                <a:lnTo>
                  <a:pt x="30321" y="313824"/>
                </a:lnTo>
                <a:lnTo>
                  <a:pt x="0" y="330087"/>
                </a:lnTo>
              </a:path>
            </a:pathLst>
          </a:custGeom>
          <a:noFill/>
          <a:ln w="25400">
            <a:solidFill>
              <a:srgbClr val="E08A1E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1" name="Freeform 23"/>
          <p:cNvSpPr/>
          <p:nvPr/>
        </p:nvSpPr>
        <p:spPr>
          <a:xfrm>
            <a:off x="5807491" y="3721608"/>
            <a:ext cx="3522238" cy="1219750"/>
          </a:xfrm>
          <a:custGeom>
            <a:avLst/>
            <a:gdLst/>
            <a:ahLst/>
            <a:cxnLst/>
            <a:rect l="l" t="t" r="r" b="b"/>
            <a:pathLst>
              <a:path w="3522238" h="1219750">
                <a:moveTo>
                  <a:pt x="0" y="889663"/>
                </a:moveTo>
                <a:lnTo>
                  <a:pt x="30321" y="905926"/>
                </a:lnTo>
                <a:lnTo>
                  <a:pt x="61186" y="921836"/>
                </a:lnTo>
                <a:lnTo>
                  <a:pt x="92582" y="937390"/>
                </a:lnTo>
                <a:lnTo>
                  <a:pt x="124498" y="952579"/>
                </a:lnTo>
                <a:lnTo>
                  <a:pt x="156920" y="967399"/>
                </a:lnTo>
                <a:lnTo>
                  <a:pt x="189836" y="981844"/>
                </a:lnTo>
                <a:lnTo>
                  <a:pt x="223233" y="995908"/>
                </a:lnTo>
                <a:lnTo>
                  <a:pt x="257100" y="1009586"/>
                </a:lnTo>
                <a:lnTo>
                  <a:pt x="291421" y="1022871"/>
                </a:lnTo>
                <a:lnTo>
                  <a:pt x="326184" y="1035761"/>
                </a:lnTo>
                <a:lnTo>
                  <a:pt x="361376" y="1048248"/>
                </a:lnTo>
                <a:lnTo>
                  <a:pt x="396983" y="1060328"/>
                </a:lnTo>
                <a:lnTo>
                  <a:pt x="432991" y="1071998"/>
                </a:lnTo>
                <a:lnTo>
                  <a:pt x="469386" y="1083251"/>
                </a:lnTo>
                <a:lnTo>
                  <a:pt x="506154" y="1094084"/>
                </a:lnTo>
                <a:lnTo>
                  <a:pt x="543281" y="1104493"/>
                </a:lnTo>
                <a:lnTo>
                  <a:pt x="580751" y="1114473"/>
                </a:lnTo>
                <a:lnTo>
                  <a:pt x="618552" y="1124021"/>
                </a:lnTo>
                <a:lnTo>
                  <a:pt x="656668" y="1133133"/>
                </a:lnTo>
                <a:lnTo>
                  <a:pt x="695084" y="1141805"/>
                </a:lnTo>
                <a:lnTo>
                  <a:pt x="733786" y="1150034"/>
                </a:lnTo>
                <a:lnTo>
                  <a:pt x="772758" y="1157818"/>
                </a:lnTo>
                <a:lnTo>
                  <a:pt x="811985" y="1165151"/>
                </a:lnTo>
                <a:lnTo>
                  <a:pt x="851452" y="1172033"/>
                </a:lnTo>
                <a:lnTo>
                  <a:pt x="891144" y="1178461"/>
                </a:lnTo>
                <a:lnTo>
                  <a:pt x="931045" y="1184431"/>
                </a:lnTo>
                <a:lnTo>
                  <a:pt x="971141" y="1189942"/>
                </a:lnTo>
                <a:lnTo>
                  <a:pt x="1011414" y="1194991"/>
                </a:lnTo>
                <a:lnTo>
                  <a:pt x="1051850" y="1199576"/>
                </a:lnTo>
                <a:lnTo>
                  <a:pt x="1092434" y="1203696"/>
                </a:lnTo>
                <a:lnTo>
                  <a:pt x="1133148" y="1207349"/>
                </a:lnTo>
                <a:lnTo>
                  <a:pt x="1173978" y="1210534"/>
                </a:lnTo>
                <a:lnTo>
                  <a:pt x="1214908" y="1213249"/>
                </a:lnTo>
                <a:lnTo>
                  <a:pt x="1255921" y="1215493"/>
                </a:lnTo>
                <a:lnTo>
                  <a:pt x="1297002" y="1217266"/>
                </a:lnTo>
                <a:lnTo>
                  <a:pt x="1338135" y="1218567"/>
                </a:lnTo>
                <a:lnTo>
                  <a:pt x="1379304" y="1219395"/>
                </a:lnTo>
                <a:lnTo>
                  <a:pt x="1420493" y="1219750"/>
                </a:lnTo>
                <a:lnTo>
                  <a:pt x="1461686" y="1219631"/>
                </a:lnTo>
                <a:lnTo>
                  <a:pt x="1502867" y="1219040"/>
                </a:lnTo>
                <a:lnTo>
                  <a:pt x="1544021" y="1217976"/>
                </a:lnTo>
                <a:lnTo>
                  <a:pt x="1585130" y="1216439"/>
                </a:lnTo>
                <a:lnTo>
                  <a:pt x="1626179" y="1214430"/>
                </a:lnTo>
                <a:lnTo>
                  <a:pt x="1667152" y="1211950"/>
                </a:lnTo>
                <a:lnTo>
                  <a:pt x="1708034" y="1209000"/>
                </a:lnTo>
                <a:lnTo>
                  <a:pt x="1748808" y="1205581"/>
                </a:lnTo>
                <a:lnTo>
                  <a:pt x="1789459" y="1201694"/>
                </a:lnTo>
                <a:lnTo>
                  <a:pt x="1829971" y="1197341"/>
                </a:lnTo>
                <a:lnTo>
                  <a:pt x="1870328" y="1192524"/>
                </a:lnTo>
                <a:lnTo>
                  <a:pt x="1910514" y="1187244"/>
                </a:lnTo>
                <a:lnTo>
                  <a:pt x="1950514" y="1181503"/>
                </a:lnTo>
                <a:lnTo>
                  <a:pt x="1990313" y="1175304"/>
                </a:lnTo>
                <a:lnTo>
                  <a:pt x="2029895" y="1168649"/>
                </a:lnTo>
                <a:lnTo>
                  <a:pt x="2069244" y="1161541"/>
                </a:lnTo>
                <a:lnTo>
                  <a:pt x="2108345" y="1153982"/>
                </a:lnTo>
                <a:lnTo>
                  <a:pt x="2147184" y="1145975"/>
                </a:lnTo>
                <a:lnTo>
                  <a:pt x="2185744" y="1137524"/>
                </a:lnTo>
                <a:lnTo>
                  <a:pt x="2224012" y="1128632"/>
                </a:lnTo>
                <a:lnTo>
                  <a:pt x="2261972" y="1119301"/>
                </a:lnTo>
                <a:lnTo>
                  <a:pt x="2299610" y="1109537"/>
                </a:lnTo>
                <a:lnTo>
                  <a:pt x="2336911" y="1099342"/>
                </a:lnTo>
                <a:lnTo>
                  <a:pt x="2373860" y="1088720"/>
                </a:lnTo>
                <a:lnTo>
                  <a:pt x="2410443" y="1077677"/>
                </a:lnTo>
                <a:lnTo>
                  <a:pt x="2446646" y="1066215"/>
                </a:lnTo>
                <a:lnTo>
                  <a:pt x="2482455" y="1054339"/>
                </a:lnTo>
                <a:lnTo>
                  <a:pt x="2517856" y="1042055"/>
                </a:lnTo>
                <a:lnTo>
                  <a:pt x="2552836" y="1029366"/>
                </a:lnTo>
                <a:lnTo>
                  <a:pt x="2587380" y="1016278"/>
                </a:lnTo>
                <a:lnTo>
                  <a:pt x="2621475" y="1002795"/>
                </a:lnTo>
                <a:lnTo>
                  <a:pt x="2655109" y="988924"/>
                </a:lnTo>
                <a:lnTo>
                  <a:pt x="2688267" y="974669"/>
                </a:lnTo>
                <a:lnTo>
                  <a:pt x="2720938" y="960036"/>
                </a:lnTo>
                <a:lnTo>
                  <a:pt x="2753108" y="945030"/>
                </a:lnTo>
                <a:lnTo>
                  <a:pt x="2784765" y="929658"/>
                </a:lnTo>
                <a:lnTo>
                  <a:pt x="2815897" y="913925"/>
                </a:lnTo>
                <a:lnTo>
                  <a:pt x="2846492" y="897838"/>
                </a:lnTo>
                <a:lnTo>
                  <a:pt x="2876537" y="881402"/>
                </a:lnTo>
                <a:lnTo>
                  <a:pt x="2906022" y="864625"/>
                </a:lnTo>
                <a:lnTo>
                  <a:pt x="2934934" y="847512"/>
                </a:lnTo>
                <a:lnTo>
                  <a:pt x="2963263" y="830070"/>
                </a:lnTo>
                <a:lnTo>
                  <a:pt x="2990997" y="812306"/>
                </a:lnTo>
                <a:lnTo>
                  <a:pt x="3018126" y="794227"/>
                </a:lnTo>
                <a:lnTo>
                  <a:pt x="3044639" y="775840"/>
                </a:lnTo>
                <a:lnTo>
                  <a:pt x="3070526" y="757152"/>
                </a:lnTo>
                <a:lnTo>
                  <a:pt x="3095777" y="738170"/>
                </a:lnTo>
                <a:lnTo>
                  <a:pt x="3120383" y="718902"/>
                </a:lnTo>
                <a:lnTo>
                  <a:pt x="3144332" y="699355"/>
                </a:lnTo>
                <a:lnTo>
                  <a:pt x="3167617" y="679536"/>
                </a:lnTo>
                <a:lnTo>
                  <a:pt x="3190228" y="659454"/>
                </a:lnTo>
                <a:lnTo>
                  <a:pt x="3212157" y="639116"/>
                </a:lnTo>
                <a:lnTo>
                  <a:pt x="3233394" y="618531"/>
                </a:lnTo>
                <a:lnTo>
                  <a:pt x="3253932" y="597705"/>
                </a:lnTo>
                <a:lnTo>
                  <a:pt x="3273763" y="576647"/>
                </a:lnTo>
                <a:lnTo>
                  <a:pt x="3292879" y="555366"/>
                </a:lnTo>
                <a:lnTo>
                  <a:pt x="3311273" y="533869"/>
                </a:lnTo>
                <a:lnTo>
                  <a:pt x="3328937" y="512166"/>
                </a:lnTo>
                <a:lnTo>
                  <a:pt x="3345864" y="490263"/>
                </a:lnTo>
                <a:lnTo>
                  <a:pt x="3362049" y="468170"/>
                </a:lnTo>
                <a:lnTo>
                  <a:pt x="3377485" y="445896"/>
                </a:lnTo>
                <a:lnTo>
                  <a:pt x="3392165" y="423449"/>
                </a:lnTo>
                <a:lnTo>
                  <a:pt x="3406085" y="400837"/>
                </a:lnTo>
                <a:lnTo>
                  <a:pt x="3419238" y="378070"/>
                </a:lnTo>
                <a:lnTo>
                  <a:pt x="3431619" y="355156"/>
                </a:lnTo>
                <a:lnTo>
                  <a:pt x="3443225" y="332105"/>
                </a:lnTo>
                <a:lnTo>
                  <a:pt x="3454050" y="308924"/>
                </a:lnTo>
                <a:lnTo>
                  <a:pt x="3464090" y="285624"/>
                </a:lnTo>
                <a:lnTo>
                  <a:pt x="3473341" y="262213"/>
                </a:lnTo>
                <a:lnTo>
                  <a:pt x="3481800" y="238700"/>
                </a:lnTo>
                <a:lnTo>
                  <a:pt x="3489463" y="215095"/>
                </a:lnTo>
                <a:lnTo>
                  <a:pt x="3496327" y="191406"/>
                </a:lnTo>
                <a:lnTo>
                  <a:pt x="3502390" y="167643"/>
                </a:lnTo>
                <a:lnTo>
                  <a:pt x="3507650" y="143815"/>
                </a:lnTo>
                <a:lnTo>
                  <a:pt x="3512104" y="119931"/>
                </a:lnTo>
                <a:lnTo>
                  <a:pt x="3515750" y="96001"/>
                </a:lnTo>
                <a:lnTo>
                  <a:pt x="3518588" y="72033"/>
                </a:lnTo>
                <a:lnTo>
                  <a:pt x="3520615" y="48037"/>
                </a:lnTo>
                <a:lnTo>
                  <a:pt x="3521832" y="24023"/>
                </a:lnTo>
                <a:lnTo>
                  <a:pt x="3522238" y="0"/>
                </a:lnTo>
              </a:path>
            </a:pathLst>
          </a:custGeom>
          <a:noFill/>
          <a:ln w="25400">
            <a:solidFill>
              <a:srgbClr val="E08A1E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2" name="Freeform 24"/>
          <p:cNvSpPr/>
          <p:nvPr/>
        </p:nvSpPr>
        <p:spPr>
          <a:xfrm>
            <a:off x="5806440" y="2227410"/>
            <a:ext cx="5532119" cy="3160803"/>
          </a:xfrm>
          <a:custGeom>
            <a:avLst/>
            <a:gdLst/>
            <a:ahLst/>
            <a:cxnLst/>
            <a:rect l="l" t="t" r="r" b="b"/>
            <a:pathLst>
              <a:path w="5532119" h="3160803">
                <a:moveTo>
                  <a:pt x="5532119" y="3160803"/>
                </a:moveTo>
                <a:lnTo>
                  <a:pt x="0" y="0"/>
                </a:lnTo>
              </a:path>
            </a:pathLst>
          </a:custGeom>
          <a:noFill/>
          <a:ln w="20320">
            <a:solidFill>
              <a:srgbClr val="0EA5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3" name="Freeform 25"/>
          <p:cNvSpPr/>
          <p:nvPr/>
        </p:nvSpPr>
        <p:spPr>
          <a:xfrm>
            <a:off x="5806440" y="2432000"/>
            <a:ext cx="5532119" cy="1390753"/>
          </a:xfrm>
          <a:custGeom>
            <a:avLst/>
            <a:gdLst/>
            <a:ahLst/>
            <a:cxnLst/>
            <a:rect l="l" t="t" r="r" b="b"/>
            <a:pathLst>
              <a:path w="5532119" h="1390753">
                <a:moveTo>
                  <a:pt x="5532119" y="1390753"/>
                </a:moveTo>
                <a:lnTo>
                  <a:pt x="0" y="0"/>
                </a:lnTo>
              </a:path>
            </a:pathLst>
          </a:custGeom>
          <a:noFill/>
          <a:ln w="20320">
            <a:solidFill>
              <a:srgbClr val="7A4E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" name="Freeform 26"/>
          <p:cNvSpPr/>
          <p:nvPr/>
        </p:nvSpPr>
        <p:spPr>
          <a:xfrm>
            <a:off x="7315200" y="3089447"/>
            <a:ext cx="1106424" cy="0"/>
          </a:xfrm>
          <a:custGeom>
            <a:avLst/>
            <a:gdLst/>
            <a:ahLst/>
            <a:cxnLst/>
            <a:rect l="l" t="t" r="r" b="b"/>
            <a:pathLst>
              <a:path w="1106424" h="0">
                <a:moveTo>
                  <a:pt x="0" y="0"/>
                </a:moveTo>
                <a:lnTo>
                  <a:pt x="1106424" y="0"/>
                </a:lnTo>
              </a:path>
            </a:pathLst>
          </a:custGeom>
          <a:noFill/>
          <a:ln w="15240">
            <a:solidFill>
              <a:srgbClr val="6B7484"/>
            </a:solidFill>
            <a:prstDash val="sysDot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5" name="Oval 27"/>
          <p:cNvSpPr/>
          <p:nvPr/>
        </p:nvSpPr>
        <p:spPr>
          <a:xfrm>
            <a:off x="8383219" y="3683203"/>
            <a:ext cx="76809" cy="76809"/>
          </a:xfrm>
          <a:prstGeom prst="ellipse">
            <a:avLst/>
          </a:prstGeom>
          <a:solidFill>
            <a:srgbClr val="6B74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76" name="Oval 28"/>
          <p:cNvSpPr/>
          <p:nvPr/>
        </p:nvSpPr>
        <p:spPr>
          <a:xfrm>
            <a:off x="7264908" y="3039155"/>
            <a:ext cx="100584" cy="100584"/>
          </a:xfrm>
          <a:prstGeom prst="ellipse">
            <a:avLst/>
          </a:prstGeom>
          <a:solidFill>
            <a:srgbClr val="D93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77" name="Oval 29"/>
          <p:cNvSpPr/>
          <p:nvPr/>
        </p:nvSpPr>
        <p:spPr>
          <a:xfrm>
            <a:off x="8375903" y="3043727"/>
            <a:ext cx="91440" cy="91440"/>
          </a:xfrm>
          <a:prstGeom prst="ellipse">
            <a:avLst/>
          </a:prstGeom>
          <a:solidFill>
            <a:srgbClr val="7A4E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78" name="Oval 30"/>
          <p:cNvSpPr/>
          <p:nvPr/>
        </p:nvSpPr>
        <p:spPr>
          <a:xfrm>
            <a:off x="10890503" y="3675888"/>
            <a:ext cx="91440" cy="91440"/>
          </a:xfrm>
          <a:prstGeom prst="ellipse">
            <a:avLst/>
          </a:prstGeom>
          <a:solidFill>
            <a:srgbClr val="0EA5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79" name="Oval 31"/>
          <p:cNvSpPr/>
          <p:nvPr/>
        </p:nvSpPr>
        <p:spPr>
          <a:xfrm>
            <a:off x="6395574" y="2542457"/>
            <a:ext cx="100584" cy="100584"/>
          </a:xfrm>
          <a:prstGeom prst="ellipse">
            <a:avLst/>
          </a:prstGeom>
          <a:solidFill>
            <a:srgbClr val="E08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80" name="TextBox 32"/>
          <p:cNvSpPr txBox="1"/>
          <p:nvPr/>
        </p:nvSpPr>
        <p:spPr>
          <a:xfrm>
            <a:off x="6080760" y="2815127"/>
            <a:ext cx="128016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D93B3B"/>
                </a:solidFill>
                <a:latin typeface="微软雅黑"/>
                <a:ea typeface="微软雅黑"/>
              </a:rPr>
              <a:t>A(x₀, y₀)</a:t>
            </a:r>
            <a:endParaRPr/>
          </a:p>
        </p:txBody>
      </p:sp>
      <p:sp>
        <p:nvSpPr>
          <p:cNvPr id="181" name="TextBox 33"/>
          <p:cNvSpPr txBox="1"/>
          <p:nvPr/>
        </p:nvSpPr>
        <p:spPr>
          <a:xfrm>
            <a:off x="8494776" y="2815127"/>
            <a:ext cx="128016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7A4EE2"/>
                </a:solidFill>
                <a:latin typeface="微软雅黑"/>
                <a:ea typeface="微软雅黑"/>
              </a:rPr>
              <a:t>B(0, y₀)</a:t>
            </a:r>
            <a:endParaRPr/>
          </a:p>
        </p:txBody>
      </p:sp>
      <p:sp>
        <p:nvSpPr>
          <p:cNvPr id="182" name="TextBox 34"/>
          <p:cNvSpPr txBox="1"/>
          <p:nvPr/>
        </p:nvSpPr>
        <p:spPr>
          <a:xfrm>
            <a:off x="10369295" y="3813048"/>
            <a:ext cx="128016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EA57A"/>
                </a:solidFill>
                <a:latin typeface="微软雅黑"/>
                <a:ea typeface="微软雅黑"/>
              </a:rPr>
              <a:t>G(t₀, 0)</a:t>
            </a:r>
            <a:endParaRPr/>
          </a:p>
        </p:txBody>
      </p:sp>
      <p:sp>
        <p:nvSpPr>
          <p:cNvPr id="183" name="TextBox 35"/>
          <p:cNvSpPr txBox="1"/>
          <p:nvPr/>
        </p:nvSpPr>
        <p:spPr>
          <a:xfrm>
            <a:off x="8147303" y="3776472"/>
            <a:ext cx="128016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B7484"/>
                </a:solidFill>
                <a:latin typeface="微软雅黑"/>
                <a:ea typeface="微软雅黑"/>
              </a:rPr>
              <a:t>O</a:t>
            </a:r>
            <a:endParaRPr/>
          </a:p>
        </p:txBody>
      </p:sp>
      <p:sp>
        <p:nvSpPr>
          <p:cNvPr id="184" name="TextBox 36"/>
          <p:cNvSpPr txBox="1"/>
          <p:nvPr/>
        </p:nvSpPr>
        <p:spPr>
          <a:xfrm>
            <a:off x="6537306" y="2300141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E08A1E"/>
                </a:solidFill>
                <a:latin typeface="微软雅黑"/>
                <a:ea typeface="微软雅黑"/>
              </a:rPr>
              <a:t>P 轨迹上的点</a:t>
            </a:r>
            <a:endParaRPr/>
          </a:p>
        </p:txBody>
      </p:sp>
      <p:sp>
        <p:nvSpPr>
          <p:cNvPr id="185" name="TextBox 37"/>
          <p:cNvSpPr txBox="1"/>
          <p:nvPr/>
        </p:nvSpPr>
        <p:spPr>
          <a:xfrm>
            <a:off x="6927387" y="3776472"/>
            <a:ext cx="128016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E08A1E"/>
                </a:solidFill>
                <a:latin typeface="微软雅黑"/>
                <a:ea typeface="微软雅黑"/>
              </a:rPr>
              <a:t>M</a:t>
            </a:r>
            <a:endParaRPr/>
          </a:p>
        </p:txBody>
      </p:sp>
      <p:sp>
        <p:nvSpPr>
          <p:cNvPr id="186" name="TextBox 38"/>
          <p:cNvSpPr txBox="1"/>
          <p:nvPr/>
        </p:nvSpPr>
        <p:spPr>
          <a:xfrm>
            <a:off x="7571231" y="3418631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0EA57A"/>
                </a:solidFill>
                <a:latin typeface="微软雅黑"/>
                <a:ea typeface="微软雅黑"/>
              </a:rPr>
              <a:t>AO</a:t>
            </a:r>
            <a:endParaRPr/>
          </a:p>
        </p:txBody>
      </p:sp>
      <p:sp>
        <p:nvSpPr>
          <p:cNvPr id="187" name="TextBox 39"/>
          <p:cNvSpPr txBox="1"/>
          <p:nvPr/>
        </p:nvSpPr>
        <p:spPr>
          <a:xfrm>
            <a:off x="8567928" y="3363767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7A4EE2"/>
                </a:solidFill>
                <a:latin typeface="微软雅黑"/>
                <a:ea typeface="微软雅黑"/>
              </a:rPr>
              <a:t>GB</a:t>
            </a:r>
            <a:endParaRPr/>
          </a:p>
        </p:txBody>
      </p:sp>
      <p:sp>
        <p:nvSpPr>
          <p:cNvPr id="188" name="TextBox 40"/>
          <p:cNvSpPr txBox="1"/>
          <p:nvPr/>
        </p:nvSpPr>
        <p:spPr>
          <a:xfrm>
            <a:off x="822960" y="6428232"/>
            <a:ext cx="7315200" cy="2926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B7484"/>
                </a:solidFill>
                <a:latin typeface="微软雅黑"/>
                <a:ea typeface="微软雅黑"/>
              </a:rPr>
              <a:t>2026 · 新高考Ⅱ卷 · 第18题</a:t>
            </a:r>
            <a:endParaRPr/>
          </a:p>
        </p:txBody>
      </p:sp>
      <p:sp>
        <p:nvSpPr>
          <p:cNvPr id="189" name="TextBox 41"/>
          <p:cNvSpPr txBox="1"/>
          <p:nvPr/>
        </p:nvSpPr>
        <p:spPr>
          <a:xfrm>
            <a:off x="10607040" y="6428232"/>
            <a:ext cx="777240" cy="2926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E6BE6"/>
                </a:solidFill>
                <a:latin typeface="微软雅黑"/>
                <a:ea typeface="微软雅黑"/>
              </a:rPr>
              <a:t>04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spTree>
      <p:nvGrpSpPr>
        <p:cNvPr id="19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TextBox 1"/>
          <p:cNvSpPr txBox="1"/>
          <p:nvPr/>
        </p:nvSpPr>
        <p:spPr>
          <a:xfrm>
            <a:off x="822960" y="384048"/>
            <a:ext cx="10515600" cy="2926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2E6BE6"/>
                </a:solidFill>
                <a:latin typeface="微软雅黑"/>
                <a:ea typeface="微软雅黑"/>
              </a:rPr>
              <a:t>PART 02 · 参数化</a:t>
            </a:r>
            <a:endParaRPr/>
          </a:p>
        </p:txBody>
      </p:sp>
      <p:sp>
        <p:nvSpPr>
          <p:cNvPr id="192" name="TextBox 2"/>
          <p:cNvSpPr txBox="1"/>
          <p:nvPr/>
        </p:nvSpPr>
        <p:spPr>
          <a:xfrm>
            <a:off x="822960" y="658368"/>
            <a:ext cx="10607040" cy="640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11223E"/>
                </a:solidFill>
                <a:latin typeface="微软雅黑"/>
                <a:ea typeface="微软雅黑"/>
              </a:rPr>
              <a:t>直观模型 ①：同一个比例 λ 的两个视角</a:t>
            </a:r>
            <a:endParaRPr/>
          </a:p>
        </p:txBody>
      </p:sp>
      <p:sp>
        <p:nvSpPr>
          <p:cNvPr id="193" name="Rectangle 3"/>
          <p:cNvSpPr/>
          <p:nvPr/>
        </p:nvSpPr>
        <p:spPr>
          <a:xfrm>
            <a:off x="841248" y="1335024"/>
            <a:ext cx="658368" cy="68580"/>
          </a:xfrm>
          <a:prstGeom prst="rect">
            <a:avLst/>
          </a:prstGeom>
          <a:solidFill>
            <a:srgbClr val="2E6B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94" name="TextBox 4"/>
          <p:cNvSpPr txBox="1"/>
          <p:nvPr/>
        </p:nvSpPr>
        <p:spPr>
          <a:xfrm>
            <a:off x="822960" y="1664208"/>
            <a:ext cx="10543032" cy="1371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1000"/>
              </a:spcAft>
            </a:pPr>
            <a:r>
              <a:rPr sz="1650" b="1" i="0">
                <a:solidFill>
                  <a:srgbClr val="0EA57A"/>
                </a:solidFill>
                <a:latin typeface="微软雅黑"/>
                <a:ea typeface="微软雅黑"/>
              </a:rPr>
              <a:t>P 在 AO 上：</a:t>
            </a:r>
            <a:r>
              <a:rPr sz="1650" b="0" i="0">
                <a:solidFill>
                  <a:srgbClr val="1B222E"/>
                </a:solidFill>
                <a:latin typeface="微软雅黑"/>
                <a:ea typeface="微软雅黑"/>
              </a:rPr>
              <a:t>P = λA = (λx₀, λy₀)</a:t>
            </a:r>
            <a:r>
              <a:rPr sz="1650" b="0" i="0">
                <a:solidFill>
                  <a:srgbClr val="1B222E"/>
                </a:solidFill>
                <a:latin typeface="微软雅黑"/>
                <a:ea typeface="微软雅黑"/>
              </a:rPr>
              <a:t>　　</a:t>
            </a:r>
            <a:r>
              <a:rPr sz="1650" b="1" i="0">
                <a:solidFill>
                  <a:srgbClr val="7A4EE2"/>
                </a:solidFill>
                <a:latin typeface="微软雅黑"/>
                <a:ea typeface="微软雅黑"/>
              </a:rPr>
              <a:t>P 在 GB 上：</a:t>
            </a:r>
            <a:r>
              <a:rPr sz="1650" b="0" i="0">
                <a:solidFill>
                  <a:srgbClr val="1B222E"/>
                </a:solidFill>
                <a:latin typeface="微软雅黑"/>
                <a:ea typeface="微软雅黑"/>
              </a:rPr>
              <a:t>P = (1−λ)G + λB = ((1−λ)t₀, λy₀)</a:t>
            </a:r>
            <a:endParaRPr/>
          </a:p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6B7484"/>
                </a:solidFill>
                <a:latin typeface="微软雅黑"/>
                <a:ea typeface="微软雅黑"/>
              </a:rPr>
              <a:t>两个式子的 y 坐标自动相同——只要对齐 x 坐标：</a:t>
            </a:r>
            <a:r>
              <a:rPr sz="1500" b="1" i="0">
                <a:solidFill>
                  <a:srgbClr val="2E6BE6"/>
                </a:solidFill>
                <a:latin typeface="微软雅黑"/>
                <a:ea typeface="微软雅黑"/>
              </a:rPr>
              <a:t>λx₀ = (1−λ)t₀</a:t>
            </a:r>
            <a:r>
              <a:rPr sz="1500" b="0" i="0">
                <a:solidFill>
                  <a:srgbClr val="6B7484"/>
                </a:solidFill>
                <a:latin typeface="微软雅黑"/>
                <a:ea typeface="微软雅黑"/>
              </a:rPr>
              <a:t xml:space="preserve">，解得 </a:t>
            </a:r>
            <a:r>
              <a:rPr sz="1750" b="1" i="0">
                <a:solidFill>
                  <a:srgbClr val="2E6BE6"/>
                </a:solidFill>
                <a:latin typeface="微软雅黑"/>
                <a:ea typeface="微软雅黑"/>
              </a:rPr>
              <a:t>λ = t₀/(x₀ + t₀)</a:t>
            </a:r>
            <a:endParaRPr/>
          </a:p>
        </p:txBody>
      </p:sp>
      <p:sp>
        <p:nvSpPr>
          <p:cNvPr id="195" name="Freeform 5"/>
          <p:cNvSpPr/>
          <p:nvPr/>
        </p:nvSpPr>
        <p:spPr>
          <a:xfrm>
            <a:off x="3337560" y="2910840"/>
            <a:ext cx="5486400" cy="2286000"/>
          </a:xfrm>
          <a:custGeom>
            <a:avLst/>
            <a:gdLst/>
            <a:ahLst/>
            <a:cxnLst/>
            <a:rect l="l" t="t" r="r" b="b"/>
            <a:pathLst>
              <a:path w="5486400" h="2286000">
                <a:moveTo>
                  <a:pt x="0" y="2286000"/>
                </a:moveTo>
                <a:lnTo>
                  <a:pt x="5486400" y="0"/>
                </a:lnTo>
              </a:path>
            </a:pathLst>
          </a:custGeom>
          <a:noFill/>
          <a:ln w="22860">
            <a:solidFill>
              <a:srgbClr val="0EA5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6" name="Freeform 6"/>
          <p:cNvSpPr/>
          <p:nvPr/>
        </p:nvSpPr>
        <p:spPr>
          <a:xfrm>
            <a:off x="3413234" y="2851099"/>
            <a:ext cx="5410726" cy="3138221"/>
          </a:xfrm>
          <a:custGeom>
            <a:avLst/>
            <a:gdLst/>
            <a:ahLst/>
            <a:cxnLst/>
            <a:rect l="l" t="t" r="r" b="b"/>
            <a:pathLst>
              <a:path w="5410726" h="3138221">
                <a:moveTo>
                  <a:pt x="0" y="3138221"/>
                </a:moveTo>
                <a:lnTo>
                  <a:pt x="5410726" y="0"/>
                </a:lnTo>
              </a:path>
            </a:pathLst>
          </a:custGeom>
          <a:noFill/>
          <a:ln w="22860">
            <a:solidFill>
              <a:srgbClr val="7A4E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7" name="Oval 7"/>
          <p:cNvSpPr/>
          <p:nvPr/>
        </p:nvSpPr>
        <p:spPr>
          <a:xfrm>
            <a:off x="5120640" y="4389120"/>
            <a:ext cx="91440" cy="91440"/>
          </a:xfrm>
          <a:prstGeom prst="ellipse">
            <a:avLst/>
          </a:prstGeom>
          <a:solidFill>
            <a:srgbClr val="6B74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98" name="Oval 8"/>
          <p:cNvSpPr/>
          <p:nvPr/>
        </p:nvSpPr>
        <p:spPr>
          <a:xfrm>
            <a:off x="6944868" y="3622852"/>
            <a:ext cx="100584" cy="100584"/>
          </a:xfrm>
          <a:prstGeom prst="ellipse">
            <a:avLst/>
          </a:prstGeom>
          <a:solidFill>
            <a:srgbClr val="D93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99" name="Oval 9"/>
          <p:cNvSpPr/>
          <p:nvPr/>
        </p:nvSpPr>
        <p:spPr>
          <a:xfrm>
            <a:off x="6376111" y="4191609"/>
            <a:ext cx="100584" cy="100584"/>
          </a:xfrm>
          <a:prstGeom prst="ellipse">
            <a:avLst/>
          </a:prstGeom>
          <a:solidFill>
            <a:srgbClr val="7A4E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00" name="Oval 10"/>
          <p:cNvSpPr/>
          <p:nvPr/>
        </p:nvSpPr>
        <p:spPr>
          <a:xfrm>
            <a:off x="3835908" y="5664708"/>
            <a:ext cx="100584" cy="100584"/>
          </a:xfrm>
          <a:prstGeom prst="ellipse">
            <a:avLst/>
          </a:prstGeom>
          <a:solidFill>
            <a:srgbClr val="0EA5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01" name="Oval 11"/>
          <p:cNvSpPr/>
          <p:nvPr/>
        </p:nvSpPr>
        <p:spPr>
          <a:xfrm>
            <a:off x="8401507" y="3006547"/>
            <a:ext cx="113385" cy="113385"/>
          </a:xfrm>
          <a:prstGeom prst="ellipse">
            <a:avLst/>
          </a:prstGeom>
          <a:solidFill>
            <a:srgbClr val="E08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02" name="TextBox 12"/>
          <p:cNvSpPr txBox="1"/>
          <p:nvPr/>
        </p:nvSpPr>
        <p:spPr>
          <a:xfrm>
            <a:off x="4892040" y="4489703"/>
            <a:ext cx="128016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6B7484"/>
                </a:solidFill>
                <a:latin typeface="微软雅黑"/>
                <a:ea typeface="微软雅黑"/>
              </a:rPr>
              <a:t>O</a:t>
            </a:r>
            <a:endParaRPr/>
          </a:p>
        </p:txBody>
      </p:sp>
      <p:sp>
        <p:nvSpPr>
          <p:cNvPr id="203" name="TextBox 13"/>
          <p:cNvSpPr txBox="1"/>
          <p:nvPr/>
        </p:nvSpPr>
        <p:spPr>
          <a:xfrm>
            <a:off x="6903720" y="3380536"/>
            <a:ext cx="36576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D93B3B"/>
                </a:solidFill>
                <a:latin typeface="微软雅黑"/>
                <a:ea typeface="微软雅黑"/>
              </a:rPr>
              <a:t>A</a:t>
            </a:r>
            <a:endParaRPr/>
          </a:p>
        </p:txBody>
      </p:sp>
      <p:sp>
        <p:nvSpPr>
          <p:cNvPr id="204" name="TextBox 14"/>
          <p:cNvSpPr txBox="1"/>
          <p:nvPr/>
        </p:nvSpPr>
        <p:spPr>
          <a:xfrm>
            <a:off x="6517843" y="3967581"/>
            <a:ext cx="36576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7A4EE2"/>
                </a:solidFill>
                <a:latin typeface="微软雅黑"/>
                <a:ea typeface="微软雅黑"/>
              </a:rPr>
              <a:t>B</a:t>
            </a:r>
            <a:endParaRPr/>
          </a:p>
        </p:txBody>
      </p:sp>
      <p:sp>
        <p:nvSpPr>
          <p:cNvPr id="205" name="TextBox 15"/>
          <p:cNvSpPr txBox="1"/>
          <p:nvPr/>
        </p:nvSpPr>
        <p:spPr>
          <a:xfrm>
            <a:off x="3831336" y="5422392"/>
            <a:ext cx="36576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EA57A"/>
                </a:solidFill>
                <a:latin typeface="微软雅黑"/>
                <a:ea typeface="微软雅黑"/>
              </a:rPr>
              <a:t>G</a:t>
            </a:r>
            <a:endParaRPr/>
          </a:p>
        </p:txBody>
      </p:sp>
      <p:sp>
        <p:nvSpPr>
          <p:cNvPr id="206" name="TextBox 16"/>
          <p:cNvSpPr txBox="1"/>
          <p:nvPr/>
        </p:nvSpPr>
        <p:spPr>
          <a:xfrm>
            <a:off x="8567928" y="3008375"/>
            <a:ext cx="201168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E08A1E"/>
                </a:solidFill>
                <a:latin typeface="微软雅黑"/>
                <a:ea typeface="微软雅黑"/>
              </a:rPr>
              <a:t>P（同一个点）</a:t>
            </a:r>
            <a:endParaRPr/>
          </a:p>
        </p:txBody>
      </p:sp>
      <p:sp>
        <p:nvSpPr>
          <p:cNvPr id="207" name="TextBox 17"/>
          <p:cNvSpPr txBox="1"/>
          <p:nvPr/>
        </p:nvSpPr>
        <p:spPr>
          <a:xfrm>
            <a:off x="6190488" y="4069079"/>
            <a:ext cx="164592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EA57A"/>
                </a:solidFill>
                <a:latin typeface="微软雅黑"/>
                <a:ea typeface="微软雅黑"/>
              </a:rPr>
              <a:t>OP = λ·OA</a:t>
            </a:r>
            <a:endParaRPr/>
          </a:p>
        </p:txBody>
      </p:sp>
      <p:sp>
        <p:nvSpPr>
          <p:cNvPr id="208" name="TextBox 18"/>
          <p:cNvSpPr txBox="1"/>
          <p:nvPr/>
        </p:nvSpPr>
        <p:spPr>
          <a:xfrm>
            <a:off x="5312664" y="5001767"/>
            <a:ext cx="164592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7A4EE2"/>
                </a:solidFill>
                <a:latin typeface="微软雅黑"/>
                <a:ea typeface="微软雅黑"/>
              </a:rPr>
              <a:t>GP = λ·GB</a:t>
            </a:r>
            <a:endParaRPr/>
          </a:p>
        </p:txBody>
      </p:sp>
      <p:sp>
        <p:nvSpPr>
          <p:cNvPr id="209" name="Rounded Rectangle 19"/>
          <p:cNvSpPr/>
          <p:nvPr/>
        </p:nvSpPr>
        <p:spPr>
          <a:xfrm>
            <a:off x="822960" y="5870448"/>
            <a:ext cx="10543032" cy="502920"/>
          </a:xfrm>
          <a:prstGeom prst="roundRect">
            <a:avLst>
              <a:gd name="adj" fmla="val 30000"/>
            </a:avLst>
          </a:prstGeom>
          <a:solidFill>
            <a:srgbClr val="E8F0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10" name="TextBox 20"/>
          <p:cNvSpPr txBox="1"/>
          <p:nvPr/>
        </p:nvSpPr>
        <p:spPr>
          <a:xfrm>
            <a:off x="1097280" y="5971032"/>
            <a:ext cx="10058400" cy="3291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2E6BE6"/>
                </a:solidFill>
                <a:latin typeface="微软雅黑"/>
                <a:ea typeface="微软雅黑"/>
              </a:rPr>
              <a:t>一句话模型：</a:t>
            </a:r>
            <a:r>
              <a:rPr sz="1300" b="0" i="0">
                <a:solidFill>
                  <a:srgbClr val="1B222E"/>
                </a:solidFill>
                <a:latin typeface="微软雅黑"/>
                <a:ea typeface="微软雅黑"/>
              </a:rPr>
              <a:t>P 是 A 沿射线 OA“拉长 λ 倍”，也是 B 沿直线 GB“拉长 λ 倍”——同一个 λ，把两个动点绑在一起。</a:t>
            </a:r>
            <a:endParaRPr/>
          </a:p>
        </p:txBody>
      </p:sp>
      <p:sp>
        <p:nvSpPr>
          <p:cNvPr id="211" name="TextBox 21"/>
          <p:cNvSpPr txBox="1"/>
          <p:nvPr/>
        </p:nvSpPr>
        <p:spPr>
          <a:xfrm>
            <a:off x="822960" y="6428232"/>
            <a:ext cx="7315200" cy="2926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B7484"/>
                </a:solidFill>
                <a:latin typeface="微软雅黑"/>
                <a:ea typeface="微软雅黑"/>
              </a:rPr>
              <a:t>2026 · 新高考Ⅱ卷 · 第18题</a:t>
            </a:r>
            <a:endParaRPr/>
          </a:p>
        </p:txBody>
      </p:sp>
      <p:sp>
        <p:nvSpPr>
          <p:cNvPr id="212" name="TextBox 22"/>
          <p:cNvSpPr txBox="1"/>
          <p:nvPr/>
        </p:nvSpPr>
        <p:spPr>
          <a:xfrm>
            <a:off x="10607040" y="6428232"/>
            <a:ext cx="777240" cy="2926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E6BE6"/>
                </a:solidFill>
                <a:latin typeface="微软雅黑"/>
                <a:ea typeface="微软雅黑"/>
              </a:rPr>
              <a:t>05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spTree>
      <p:nvGrpSpPr>
        <p:cNvPr id="21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TextBox 1"/>
          <p:cNvSpPr txBox="1"/>
          <p:nvPr/>
        </p:nvSpPr>
        <p:spPr>
          <a:xfrm>
            <a:off x="822960" y="384048"/>
            <a:ext cx="10515600" cy="2926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2E6BE6"/>
                </a:solidFill>
                <a:latin typeface="微软雅黑"/>
                <a:ea typeface="微软雅黑"/>
              </a:rPr>
              <a:t>PART 02 · 代数收口</a:t>
            </a:r>
            <a:endParaRPr/>
          </a:p>
        </p:txBody>
      </p:sp>
      <p:sp>
        <p:nvSpPr>
          <p:cNvPr id="215" name="TextBox 2"/>
          <p:cNvSpPr txBox="1"/>
          <p:nvPr/>
        </p:nvSpPr>
        <p:spPr>
          <a:xfrm>
            <a:off x="822960" y="658368"/>
            <a:ext cx="10607040" cy="640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11223E"/>
                </a:solidFill>
                <a:latin typeface="微软雅黑"/>
                <a:ea typeface="微软雅黑"/>
              </a:rPr>
              <a:t>消参：从 (x₀, y₀) 到轨迹方程</a:t>
            </a:r>
            <a:endParaRPr/>
          </a:p>
        </p:txBody>
      </p:sp>
      <p:sp>
        <p:nvSpPr>
          <p:cNvPr id="216" name="Rectangle 3"/>
          <p:cNvSpPr/>
          <p:nvPr/>
        </p:nvSpPr>
        <p:spPr>
          <a:xfrm>
            <a:off x="841248" y="1335024"/>
            <a:ext cx="658368" cy="68580"/>
          </a:xfrm>
          <a:prstGeom prst="rect">
            <a:avLst/>
          </a:prstGeom>
          <a:solidFill>
            <a:srgbClr val="2E6B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17" name="Rounded Rectangle 4"/>
          <p:cNvSpPr/>
          <p:nvPr/>
        </p:nvSpPr>
        <p:spPr>
          <a:xfrm>
            <a:off x="822960" y="1645920"/>
            <a:ext cx="6720840" cy="4160520"/>
          </a:xfrm>
          <a:prstGeom prst="roundRect">
            <a:avLst>
              <a:gd name="adj" fmla="val 5000"/>
            </a:avLst>
          </a:prstGeom>
          <a:solidFill>
            <a:srgbClr val="F2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18" name="Rectangle 5"/>
          <p:cNvSpPr/>
          <p:nvPr/>
        </p:nvSpPr>
        <p:spPr>
          <a:xfrm>
            <a:off x="822960" y="1645920"/>
            <a:ext cx="68580" cy="4160520"/>
          </a:xfrm>
          <a:prstGeom prst="rect">
            <a:avLst/>
          </a:prstGeom>
          <a:solidFill>
            <a:srgbClr val="2E6B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19" name="TextBox 6"/>
          <p:cNvSpPr txBox="1"/>
          <p:nvPr/>
        </p:nvSpPr>
        <p:spPr>
          <a:xfrm>
            <a:off x="1188720" y="1865376"/>
            <a:ext cx="6080760" cy="3749039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</a:pPr>
            <a:r>
              <a:rPr sz="1550" b="1" i="0">
                <a:solidFill>
                  <a:srgbClr val="2E6BE6"/>
                </a:solidFill>
                <a:latin typeface="微软雅黑"/>
                <a:ea typeface="微软雅黑"/>
              </a:rPr>
              <a:t>① 写出 P 的坐标</a:t>
            </a:r>
            <a:endParaRPr/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1200"/>
              </a:spcAft>
            </a:pPr>
            <a:r>
              <a:rPr sz="1600" b="0" i="0">
                <a:solidFill>
                  <a:srgbClr val="1B222E"/>
                </a:solidFill>
                <a:latin typeface="微软雅黑"/>
                <a:ea typeface="微软雅黑"/>
              </a:rPr>
              <a:t>x = t₀x₀/(x₀ + t₀)，　y = t₀y₀/(x₀ + t₀)</a:t>
            </a:r>
            <a:endParaRPr/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</a:pPr>
            <a:r>
              <a:rPr sz="1550" b="1" i="0">
                <a:solidFill>
                  <a:srgbClr val="2E6BE6"/>
                </a:solidFill>
                <a:latin typeface="微软雅黑"/>
                <a:ea typeface="微软雅黑"/>
              </a:rPr>
              <a:t>② 反解出 x₀、y₀（分式线性变换）</a:t>
            </a:r>
            <a:endParaRPr/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1200"/>
              </a:spcAft>
            </a:pPr>
            <a:r>
              <a:rPr sz="1600" b="0" i="0">
                <a:solidFill>
                  <a:srgbClr val="1B222E"/>
                </a:solidFill>
                <a:latin typeface="微软雅黑"/>
                <a:ea typeface="微软雅黑"/>
              </a:rPr>
              <a:t>x₀ = t₀x/(t₀ − x)，　y₀ = t₀y/(t₀ − x)</a:t>
            </a:r>
            <a:endParaRPr/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</a:pPr>
            <a:r>
              <a:rPr sz="1550" b="1" i="0">
                <a:solidFill>
                  <a:srgbClr val="2E6BE6"/>
                </a:solidFill>
                <a:latin typeface="微软雅黑"/>
                <a:ea typeface="微软雅黑"/>
              </a:rPr>
              <a:t>③ 代入 E：x₀²/2 + y₀² = 1</a:t>
            </a:r>
            <a:endParaRPr/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1200"/>
              </a:spcAft>
            </a:pPr>
            <a:r>
              <a:rPr sz="1600" b="1" i="0">
                <a:solidFill>
                  <a:srgbClr val="E08A1E"/>
                </a:solidFill>
                <a:latin typeface="微软雅黑"/>
                <a:ea typeface="微软雅黑"/>
              </a:rPr>
              <a:t>t₀²(x²/2 + y²) = (t₀ − x)²</a:t>
            </a:r>
            <a:endParaRPr/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</a:pPr>
            <a:r>
              <a:rPr sz="1550" b="1" i="0">
                <a:solidFill>
                  <a:srgbClr val="2E6BE6"/>
                </a:solidFill>
                <a:latin typeface="微软雅黑"/>
                <a:ea typeface="微软雅黑"/>
              </a:rPr>
              <a:t>④ 整理成一般式（答案形式）</a:t>
            </a:r>
            <a:endParaRPr/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11223E"/>
                </a:solidFill>
                <a:latin typeface="微软雅黑"/>
                <a:ea typeface="微软雅黑"/>
              </a:rPr>
              <a:t>(t₀² − 2)x² + 2t₀²y² + 4t₀x − 2t₀² = 0　(t₀ ≠ 0, y ≠ 0)</a:t>
            </a:r>
            <a:endParaRPr/>
          </a:p>
        </p:txBody>
      </p:sp>
      <p:sp>
        <p:nvSpPr>
          <p:cNvPr id="220" name="Rounded Rectangle 7"/>
          <p:cNvSpPr/>
          <p:nvPr/>
        </p:nvSpPr>
        <p:spPr>
          <a:xfrm>
            <a:off x="7772400" y="1645920"/>
            <a:ext cx="3593592" cy="4160520"/>
          </a:xfrm>
          <a:prstGeom prst="roundRect">
            <a:avLst>
              <a:gd name="adj" fmla="val 9000"/>
            </a:avLst>
          </a:prstGeom>
          <a:solidFill>
            <a:srgbClr val="FDF3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21" name="Rectangle 8"/>
          <p:cNvSpPr/>
          <p:nvPr/>
        </p:nvSpPr>
        <p:spPr>
          <a:xfrm>
            <a:off x="7772400" y="1645920"/>
            <a:ext cx="68580" cy="4160520"/>
          </a:xfrm>
          <a:prstGeom prst="rect">
            <a:avLst/>
          </a:prstGeom>
          <a:solidFill>
            <a:srgbClr val="E08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22" name="TextBox 9"/>
          <p:cNvSpPr txBox="1"/>
          <p:nvPr/>
        </p:nvSpPr>
        <p:spPr>
          <a:xfrm>
            <a:off x="8101583" y="1865376"/>
            <a:ext cx="3017520" cy="3749039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</a:pPr>
            <a:r>
              <a:rPr sz="1600" b="1" i="0">
                <a:solidFill>
                  <a:srgbClr val="E08A1E"/>
                </a:solidFill>
                <a:latin typeface="微软雅黑"/>
                <a:ea typeface="微软雅黑"/>
              </a:rPr>
              <a:t>别忘了“挖点”</a:t>
            </a:r>
            <a:endParaRPr/>
          </a:p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900"/>
              </a:spcAft>
            </a:pPr>
            <a:r>
              <a:rPr sz="1350" b="1" i="0">
                <a:solidFill>
                  <a:srgbClr val="E08A1E"/>
                </a:solidFill>
                <a:latin typeface="微软雅黑"/>
                <a:ea typeface="微软雅黑"/>
              </a:rPr>
              <a:t xml:space="preserve">· </a:t>
            </a:r>
            <a:r>
              <a:rPr sz="1350" b="0" i="0">
                <a:solidFill>
                  <a:srgbClr val="1B222E"/>
                </a:solidFill>
                <a:latin typeface="微软雅黑"/>
                <a:ea typeface="微软雅黑"/>
              </a:rPr>
              <a:t>y₀ ≠ 0 ⟹ y ≠ 0：轨迹要去掉 x 轴上的点；</a:t>
            </a:r>
            <a:endParaRPr/>
          </a:p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900"/>
              </a:spcAft>
            </a:pPr>
            <a:r>
              <a:rPr sz="1350" b="1" i="0">
                <a:solidFill>
                  <a:srgbClr val="E08A1E"/>
                </a:solidFill>
                <a:latin typeface="微软雅黑"/>
                <a:ea typeface="微软雅黑"/>
              </a:rPr>
              <a:t xml:space="preserve">· </a:t>
            </a:r>
            <a:r>
              <a:rPr sz="1350" b="0" i="0">
                <a:solidFill>
                  <a:srgbClr val="1B222E"/>
                </a:solidFill>
                <a:latin typeface="微软雅黑"/>
                <a:ea typeface="微软雅黑"/>
              </a:rPr>
              <a:t>x₀ = −t₀ 时 AO ∥ GB，交点 P 不存在，要单独剔除；</a:t>
            </a:r>
            <a:endParaRPr/>
          </a:p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900"/>
              </a:spcAft>
            </a:pPr>
            <a:r>
              <a:rPr sz="1350" b="1" i="0">
                <a:solidFill>
                  <a:srgbClr val="E08A1E"/>
                </a:solidFill>
                <a:latin typeface="微软雅黑"/>
                <a:ea typeface="微软雅黑"/>
              </a:rPr>
              <a:t xml:space="preserve">· </a:t>
            </a:r>
            <a:r>
              <a:rPr sz="1350" b="0" i="0">
                <a:solidFill>
                  <a:srgbClr val="1B222E"/>
                </a:solidFill>
                <a:latin typeface="微软雅黑"/>
                <a:ea typeface="微软雅黑"/>
              </a:rPr>
              <a:t>x = t₀ 对应 x₀ 无穷远，是变换的“极点”，不在轨迹上；</a:t>
            </a:r>
            <a:endParaRPr/>
          </a:p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E08A1E"/>
                </a:solidFill>
                <a:latin typeface="微软雅黑"/>
                <a:ea typeface="微软雅黑"/>
              </a:rPr>
              <a:t xml:space="preserve">· </a:t>
            </a:r>
            <a:r>
              <a:rPr sz="1350" b="0" i="0">
                <a:solidFill>
                  <a:srgbClr val="1B222E"/>
                </a:solidFill>
                <a:latin typeface="微软雅黑"/>
                <a:ea typeface="微软雅黑"/>
              </a:rPr>
              <a:t>t₀ 是参数不是变量：不同 t₀ 给出同一族曲线。</a:t>
            </a:r>
            <a:endParaRPr/>
          </a:p>
        </p:txBody>
      </p:sp>
      <p:sp>
        <p:nvSpPr>
          <p:cNvPr id="223" name="TextBox 10"/>
          <p:cNvSpPr txBox="1"/>
          <p:nvPr/>
        </p:nvSpPr>
        <p:spPr>
          <a:xfrm>
            <a:off x="822960" y="6428232"/>
            <a:ext cx="7315200" cy="2926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B7484"/>
                </a:solidFill>
                <a:latin typeface="微软雅黑"/>
                <a:ea typeface="微软雅黑"/>
              </a:rPr>
              <a:t>2026 · 新高考Ⅱ卷 · 第18题</a:t>
            </a:r>
            <a:endParaRPr/>
          </a:p>
        </p:txBody>
      </p:sp>
      <p:sp>
        <p:nvSpPr>
          <p:cNvPr id="224" name="TextBox 11"/>
          <p:cNvSpPr txBox="1"/>
          <p:nvPr/>
        </p:nvSpPr>
        <p:spPr>
          <a:xfrm>
            <a:off x="10607040" y="6428232"/>
            <a:ext cx="777240" cy="2926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E6BE6"/>
                </a:solidFill>
                <a:latin typeface="微软雅黑"/>
                <a:ea typeface="微软雅黑"/>
              </a:rPr>
              <a:t>06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spTree>
      <p:nvGrpSpPr>
        <p:cNvPr id="22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TextBox 1"/>
          <p:cNvSpPr txBox="1"/>
          <p:nvPr/>
        </p:nvSpPr>
        <p:spPr>
          <a:xfrm>
            <a:off x="822960" y="384048"/>
            <a:ext cx="10515600" cy="2926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2E6BE6"/>
                </a:solidFill>
                <a:latin typeface="微软雅黑"/>
                <a:ea typeface="微软雅黑"/>
              </a:rPr>
              <a:t>PART 02 · 看清本质</a:t>
            </a:r>
            <a:endParaRPr/>
          </a:p>
        </p:txBody>
      </p:sp>
      <p:sp>
        <p:nvSpPr>
          <p:cNvPr id="227" name="TextBox 2"/>
          <p:cNvSpPr txBox="1"/>
          <p:nvPr/>
        </p:nvSpPr>
        <p:spPr>
          <a:xfrm>
            <a:off x="822960" y="658368"/>
            <a:ext cx="10607040" cy="640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11223E"/>
                </a:solidFill>
                <a:latin typeface="微软雅黑"/>
                <a:ea typeface="微软雅黑"/>
              </a:rPr>
              <a:t>直观模型 ②：焦点—准线，一个 e 定形状</a:t>
            </a:r>
            <a:endParaRPr/>
          </a:p>
        </p:txBody>
      </p:sp>
      <p:sp>
        <p:nvSpPr>
          <p:cNvPr id="228" name="Rectangle 3"/>
          <p:cNvSpPr/>
          <p:nvPr/>
        </p:nvSpPr>
        <p:spPr>
          <a:xfrm>
            <a:off x="841248" y="1335024"/>
            <a:ext cx="658368" cy="68580"/>
          </a:xfrm>
          <a:prstGeom prst="rect">
            <a:avLst/>
          </a:prstGeom>
          <a:solidFill>
            <a:srgbClr val="2E6B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29" name="TextBox 4"/>
          <p:cNvSpPr txBox="1"/>
          <p:nvPr/>
        </p:nvSpPr>
        <p:spPr>
          <a:xfrm>
            <a:off x="822960" y="1645920"/>
            <a:ext cx="5120640" cy="42062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800"/>
              </a:spcAft>
            </a:pPr>
            <a:r>
              <a:rPr sz="1500" b="1" i="0">
                <a:solidFill>
                  <a:srgbClr val="2E6BE6"/>
                </a:solidFill>
                <a:latin typeface="微软雅黑"/>
                <a:ea typeface="微软雅黑"/>
              </a:rPr>
              <a:t>把轨迹方程改写成“距离等式”：</a:t>
            </a:r>
            <a:endParaRPr/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800"/>
              </a:spcAft>
            </a:pPr>
            <a:r>
              <a:rPr sz="1550" b="0" i="0">
                <a:solidFill>
                  <a:srgbClr val="1B222E"/>
                </a:solidFill>
                <a:latin typeface="微软雅黑"/>
                <a:ea typeface="微软雅黑"/>
              </a:rPr>
              <a:t>x²/2 + y² = (1 − x/t₀)²</a:t>
            </a:r>
            <a:endParaRPr/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 i="0">
                <a:solidFill>
                  <a:srgbClr val="6B7484"/>
                </a:solidFill>
                <a:latin typeface="微软雅黑"/>
                <a:ea typeface="微软雅黑"/>
              </a:rPr>
              <a:t>令 X = x/√2，Y = y，则</a:t>
            </a:r>
            <a:endParaRPr/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800"/>
              </a:spcAft>
            </a:pPr>
            <a:r>
              <a:rPr sz="1550" b="1" i="0">
                <a:solidFill>
                  <a:srgbClr val="11223E"/>
                </a:solidFill>
                <a:latin typeface="微软雅黑"/>
                <a:ea typeface="微软雅黑"/>
              </a:rPr>
              <a:t>X² + Y² = (1 − (√2/t₀)X)²</a:t>
            </a:r>
            <a:endParaRPr/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</a:pPr>
            <a:r>
              <a:rPr sz="1550" b="1" i="0">
                <a:solidFill>
                  <a:srgbClr val="E08A1E"/>
                </a:solidFill>
                <a:latin typeface="微软雅黑"/>
                <a:ea typeface="微软雅黑"/>
              </a:rPr>
              <a:t>即　√(X² + Y²) = e · |X − t₀/√2|，　e = √2/|t₀|</a:t>
            </a:r>
            <a:endParaRPr/>
          </a:p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800"/>
              </a:spcAft>
            </a:pPr>
            <a:r>
              <a:rPr sz="1350" b="1" i="0">
                <a:solidFill>
                  <a:srgbClr val="2E6BE6"/>
                </a:solidFill>
                <a:latin typeface="微软雅黑"/>
                <a:ea typeface="微软雅黑"/>
              </a:rPr>
              <a:t>几何意义：</a:t>
            </a:r>
            <a:r>
              <a:rPr sz="1350" b="0" i="0">
                <a:solidFill>
                  <a:srgbClr val="1B222E"/>
                </a:solidFill>
                <a:latin typeface="微软雅黑"/>
                <a:ea typeface="微软雅黑"/>
              </a:rPr>
              <a:t>动点到定点 O 的距离，等于 e 倍到定直线 X = t₀/√2 的距离。这正是圆锥曲线的统一定义。</a:t>
            </a:r>
            <a:endParaRPr/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EA57A"/>
                </a:solidFill>
                <a:latin typeface="微软雅黑"/>
                <a:ea typeface="微软雅黑"/>
              </a:rPr>
              <a:t>e &lt; 1 → 椭圆　|　e = 1 → 抛物线　|　e &gt; 1 → 双曲线</a:t>
            </a:r>
            <a:endParaRPr/>
          </a:p>
        </p:txBody>
      </p:sp>
      <p:sp>
        <p:nvSpPr>
          <p:cNvPr id="230" name="Rectangle 5"/>
          <p:cNvSpPr/>
          <p:nvPr/>
        </p:nvSpPr>
        <p:spPr>
          <a:xfrm>
            <a:off x="6144768" y="1664208"/>
            <a:ext cx="5532120" cy="4114800"/>
          </a:xfrm>
          <a:prstGeom prst="rect">
            <a:avLst/>
          </a:prstGeom>
          <a:noFill/>
          <a:ln w="12700">
            <a:solidFill>
              <a:srgbClr val="CFD7E3"/>
            </a:solidFill>
            <a:prstDash val="sysDot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31" name="Freeform 6"/>
          <p:cNvSpPr/>
          <p:nvPr/>
        </p:nvSpPr>
        <p:spPr>
          <a:xfrm>
            <a:off x="6144768" y="3721608"/>
            <a:ext cx="5532120" cy="0"/>
          </a:xfrm>
          <a:custGeom>
            <a:avLst/>
            <a:gdLst/>
            <a:ahLst/>
            <a:cxnLst/>
            <a:rect l="l" t="t" r="r" b="b"/>
            <a:pathLst>
              <a:path w="5532120" h="0">
                <a:moveTo>
                  <a:pt x="0" y="0"/>
                </a:moveTo>
                <a:lnTo>
                  <a:pt x="5532120" y="0"/>
                </a:lnTo>
              </a:path>
            </a:pathLst>
          </a:custGeom>
          <a:noFill/>
          <a:ln w="13970">
            <a:solidFill>
              <a:srgbClr val="CFD7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2" name="Freeform 7"/>
          <p:cNvSpPr/>
          <p:nvPr/>
        </p:nvSpPr>
        <p:spPr>
          <a:xfrm>
            <a:off x="8307324" y="1760220"/>
            <a:ext cx="0" cy="3922776"/>
          </a:xfrm>
          <a:custGeom>
            <a:avLst/>
            <a:gdLst/>
            <a:ahLst/>
            <a:cxnLst/>
            <a:rect l="l" t="t" r="r" b="b"/>
            <a:pathLst>
              <a:path w="0" h="3922776">
                <a:moveTo>
                  <a:pt x="0" y="3922776"/>
                </a:moveTo>
                <a:lnTo>
                  <a:pt x="0" y="0"/>
                </a:lnTo>
              </a:path>
            </a:pathLst>
          </a:custGeom>
          <a:noFill/>
          <a:ln w="13970">
            <a:solidFill>
              <a:srgbClr val="CFD7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3" name="Freeform 8"/>
          <p:cNvSpPr/>
          <p:nvPr/>
        </p:nvSpPr>
        <p:spPr>
          <a:xfrm>
            <a:off x="6295644" y="3661257"/>
            <a:ext cx="0" cy="120701"/>
          </a:xfrm>
          <a:custGeom>
            <a:avLst/>
            <a:gdLst/>
            <a:ahLst/>
            <a:cxnLst/>
            <a:rect l="l" t="t" r="r" b="b"/>
            <a:pathLst>
              <a:path w="0" h="120701">
                <a:moveTo>
                  <a:pt x="0" y="120701"/>
                </a:moveTo>
                <a:lnTo>
                  <a:pt x="0" y="0"/>
                </a:lnTo>
              </a:path>
            </a:pathLst>
          </a:custGeom>
          <a:noFill/>
          <a:ln w="12700">
            <a:solidFill>
              <a:srgbClr val="CFD7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4" name="TextBox 9"/>
          <p:cNvSpPr txBox="1"/>
          <p:nvPr/>
        </p:nvSpPr>
        <p:spPr>
          <a:xfrm>
            <a:off x="6021324" y="3767328"/>
            <a:ext cx="548640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B7484"/>
                </a:solidFill>
                <a:latin typeface="微软雅黑"/>
                <a:ea typeface="微软雅黑"/>
              </a:rPr>
              <a:t>-2</a:t>
            </a:r>
            <a:endParaRPr/>
          </a:p>
        </p:txBody>
      </p:sp>
      <p:sp>
        <p:nvSpPr>
          <p:cNvPr id="235" name="Freeform 10"/>
          <p:cNvSpPr/>
          <p:nvPr/>
        </p:nvSpPr>
        <p:spPr>
          <a:xfrm>
            <a:off x="9313164" y="3661257"/>
            <a:ext cx="0" cy="120701"/>
          </a:xfrm>
          <a:custGeom>
            <a:avLst/>
            <a:gdLst/>
            <a:ahLst/>
            <a:cxnLst/>
            <a:rect l="l" t="t" r="r" b="b"/>
            <a:pathLst>
              <a:path w="0" h="120701">
                <a:moveTo>
                  <a:pt x="0" y="120701"/>
                </a:moveTo>
                <a:lnTo>
                  <a:pt x="0" y="0"/>
                </a:lnTo>
              </a:path>
            </a:pathLst>
          </a:custGeom>
          <a:noFill/>
          <a:ln w="12700">
            <a:solidFill>
              <a:srgbClr val="CFD7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6" name="TextBox 11"/>
          <p:cNvSpPr txBox="1"/>
          <p:nvPr/>
        </p:nvSpPr>
        <p:spPr>
          <a:xfrm>
            <a:off x="9038844" y="3767328"/>
            <a:ext cx="548640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B7484"/>
                </a:solidFill>
                <a:latin typeface="微软雅黑"/>
                <a:ea typeface="微软雅黑"/>
              </a:rPr>
              <a:t>1</a:t>
            </a:r>
            <a:endParaRPr/>
          </a:p>
        </p:txBody>
      </p:sp>
      <p:sp>
        <p:nvSpPr>
          <p:cNvPr id="237" name="Freeform 12"/>
          <p:cNvSpPr/>
          <p:nvPr/>
        </p:nvSpPr>
        <p:spPr>
          <a:xfrm>
            <a:off x="10319004" y="3661257"/>
            <a:ext cx="0" cy="120701"/>
          </a:xfrm>
          <a:custGeom>
            <a:avLst/>
            <a:gdLst/>
            <a:ahLst/>
            <a:cxnLst/>
            <a:rect l="l" t="t" r="r" b="b"/>
            <a:pathLst>
              <a:path w="0" h="120701">
                <a:moveTo>
                  <a:pt x="0" y="120701"/>
                </a:moveTo>
                <a:lnTo>
                  <a:pt x="0" y="0"/>
                </a:lnTo>
              </a:path>
            </a:pathLst>
          </a:custGeom>
          <a:noFill/>
          <a:ln w="12700">
            <a:solidFill>
              <a:srgbClr val="CFD7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8" name="TextBox 13"/>
          <p:cNvSpPr txBox="1"/>
          <p:nvPr/>
        </p:nvSpPr>
        <p:spPr>
          <a:xfrm>
            <a:off x="10044684" y="3767328"/>
            <a:ext cx="548640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B7484"/>
                </a:solidFill>
                <a:latin typeface="微软雅黑"/>
                <a:ea typeface="微软雅黑"/>
              </a:rPr>
              <a:t>2</a:t>
            </a:r>
            <a:endParaRPr/>
          </a:p>
        </p:txBody>
      </p:sp>
      <p:sp>
        <p:nvSpPr>
          <p:cNvPr id="239" name="Freeform 14"/>
          <p:cNvSpPr/>
          <p:nvPr/>
        </p:nvSpPr>
        <p:spPr>
          <a:xfrm>
            <a:off x="11324844" y="3661257"/>
            <a:ext cx="0" cy="120701"/>
          </a:xfrm>
          <a:custGeom>
            <a:avLst/>
            <a:gdLst/>
            <a:ahLst/>
            <a:cxnLst/>
            <a:rect l="l" t="t" r="r" b="b"/>
            <a:pathLst>
              <a:path w="0" h="120701">
                <a:moveTo>
                  <a:pt x="0" y="120701"/>
                </a:moveTo>
                <a:lnTo>
                  <a:pt x="0" y="0"/>
                </a:lnTo>
              </a:path>
            </a:pathLst>
          </a:custGeom>
          <a:noFill/>
          <a:ln w="12700">
            <a:solidFill>
              <a:srgbClr val="CFD7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0" name="TextBox 15"/>
          <p:cNvSpPr txBox="1"/>
          <p:nvPr/>
        </p:nvSpPr>
        <p:spPr>
          <a:xfrm>
            <a:off x="11050524" y="3767328"/>
            <a:ext cx="548640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B7484"/>
                </a:solidFill>
                <a:latin typeface="微软雅黑"/>
                <a:ea typeface="微软雅黑"/>
              </a:rPr>
              <a:t>3</a:t>
            </a:r>
            <a:endParaRPr/>
          </a:p>
        </p:txBody>
      </p:sp>
      <p:sp>
        <p:nvSpPr>
          <p:cNvPr id="241" name="Freeform 16"/>
          <p:cNvSpPr/>
          <p:nvPr/>
        </p:nvSpPr>
        <p:spPr>
          <a:xfrm>
            <a:off x="8246973" y="4727448"/>
            <a:ext cx="120701" cy="0"/>
          </a:xfrm>
          <a:custGeom>
            <a:avLst/>
            <a:gdLst/>
            <a:ahLst/>
            <a:cxnLst/>
            <a:rect l="l" t="t" r="r" b="b"/>
            <a:pathLst>
              <a:path w="120701" h="0">
                <a:moveTo>
                  <a:pt x="0" y="0"/>
                </a:moveTo>
                <a:lnTo>
                  <a:pt x="120701" y="0"/>
                </a:lnTo>
              </a:path>
            </a:pathLst>
          </a:custGeom>
          <a:noFill/>
          <a:ln w="12700">
            <a:solidFill>
              <a:srgbClr val="CFD7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2" name="TextBox 17"/>
          <p:cNvSpPr txBox="1"/>
          <p:nvPr/>
        </p:nvSpPr>
        <p:spPr>
          <a:xfrm>
            <a:off x="8362188" y="4608576"/>
            <a:ext cx="548640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B7484"/>
                </a:solidFill>
                <a:latin typeface="微软雅黑"/>
                <a:ea typeface="微软雅黑"/>
              </a:rPr>
              <a:t>-1</a:t>
            </a:r>
            <a:endParaRPr/>
          </a:p>
        </p:txBody>
      </p:sp>
      <p:sp>
        <p:nvSpPr>
          <p:cNvPr id="243" name="Freeform 18"/>
          <p:cNvSpPr/>
          <p:nvPr/>
        </p:nvSpPr>
        <p:spPr>
          <a:xfrm>
            <a:off x="8246973" y="2715768"/>
            <a:ext cx="120701" cy="0"/>
          </a:xfrm>
          <a:custGeom>
            <a:avLst/>
            <a:gdLst/>
            <a:ahLst/>
            <a:cxnLst/>
            <a:rect l="l" t="t" r="r" b="b"/>
            <a:pathLst>
              <a:path w="120701" h="0">
                <a:moveTo>
                  <a:pt x="0" y="0"/>
                </a:moveTo>
                <a:lnTo>
                  <a:pt x="120701" y="0"/>
                </a:lnTo>
              </a:path>
            </a:pathLst>
          </a:custGeom>
          <a:noFill/>
          <a:ln w="12700">
            <a:solidFill>
              <a:srgbClr val="CFD7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4" name="TextBox 19"/>
          <p:cNvSpPr txBox="1"/>
          <p:nvPr/>
        </p:nvSpPr>
        <p:spPr>
          <a:xfrm>
            <a:off x="8362188" y="2596896"/>
            <a:ext cx="548640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B7484"/>
                </a:solidFill>
                <a:latin typeface="微软雅黑"/>
                <a:ea typeface="微软雅黑"/>
              </a:rPr>
              <a:t>1</a:t>
            </a:r>
            <a:endParaRPr/>
          </a:p>
        </p:txBody>
      </p:sp>
      <p:sp>
        <p:nvSpPr>
          <p:cNvPr id="245" name="TextBox 20"/>
          <p:cNvSpPr txBox="1"/>
          <p:nvPr/>
        </p:nvSpPr>
        <p:spPr>
          <a:xfrm>
            <a:off x="11695176" y="3483864"/>
            <a:ext cx="459943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B7484"/>
                </a:solidFill>
                <a:latin typeface="微软雅黑"/>
                <a:ea typeface="微软雅黑"/>
              </a:rPr>
              <a:t>x</a:t>
            </a:r>
            <a:endParaRPr/>
          </a:p>
        </p:txBody>
      </p:sp>
      <p:sp>
        <p:nvSpPr>
          <p:cNvPr id="246" name="TextBox 21"/>
          <p:cNvSpPr txBox="1"/>
          <p:nvPr/>
        </p:nvSpPr>
        <p:spPr>
          <a:xfrm>
            <a:off x="8069580" y="1741932"/>
            <a:ext cx="128016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B7484"/>
                </a:solidFill>
                <a:latin typeface="微软雅黑"/>
                <a:ea typeface="微软雅黑"/>
              </a:rPr>
              <a:t>y</a:t>
            </a:r>
            <a:endParaRPr/>
          </a:p>
        </p:txBody>
      </p:sp>
      <p:sp>
        <p:nvSpPr>
          <p:cNvPr id="247" name="Freeform 22"/>
          <p:cNvSpPr/>
          <p:nvPr/>
        </p:nvSpPr>
        <p:spPr>
          <a:xfrm>
            <a:off x="9313164" y="1760220"/>
            <a:ext cx="0" cy="3922776"/>
          </a:xfrm>
          <a:custGeom>
            <a:avLst/>
            <a:gdLst/>
            <a:ahLst/>
            <a:cxnLst/>
            <a:rect l="l" t="t" r="r" b="b"/>
            <a:pathLst>
              <a:path w="0" h="3922776">
                <a:moveTo>
                  <a:pt x="0" y="3922776"/>
                </a:moveTo>
                <a:lnTo>
                  <a:pt x="0" y="0"/>
                </a:lnTo>
              </a:path>
            </a:pathLst>
          </a:custGeom>
          <a:noFill/>
          <a:ln w="20320">
            <a:solidFill>
              <a:srgbClr val="7A4E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8" name="TextBox 23"/>
          <p:cNvSpPr txBox="1"/>
          <p:nvPr/>
        </p:nvSpPr>
        <p:spPr>
          <a:xfrm>
            <a:off x="9368028" y="2055571"/>
            <a:ext cx="192024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7A4EE2"/>
                </a:solidFill>
                <a:latin typeface="微软雅黑"/>
                <a:ea typeface="微软雅黑"/>
              </a:rPr>
              <a:t>准线 X = t₀/√2</a:t>
            </a:r>
            <a:endParaRPr/>
          </a:p>
        </p:txBody>
      </p:sp>
      <p:sp>
        <p:nvSpPr>
          <p:cNvPr id="249" name="Freeform 24"/>
          <p:cNvSpPr/>
          <p:nvPr/>
        </p:nvSpPr>
        <p:spPr>
          <a:xfrm>
            <a:off x="6798609" y="2967237"/>
            <a:ext cx="1885905" cy="1508741"/>
          </a:xfrm>
          <a:custGeom>
            <a:avLst/>
            <a:gdLst/>
            <a:ahLst/>
            <a:cxnLst/>
            <a:rect l="l" t="t" r="r" b="b"/>
            <a:pathLst>
              <a:path w="1885905" h="1508741">
                <a:moveTo>
                  <a:pt x="1885905" y="754371"/>
                </a:moveTo>
                <a:lnTo>
                  <a:pt x="1885722" y="739513"/>
                </a:lnTo>
                <a:lnTo>
                  <a:pt x="1885173" y="724661"/>
                </a:lnTo>
                <a:lnTo>
                  <a:pt x="1884259" y="709820"/>
                </a:lnTo>
                <a:lnTo>
                  <a:pt x="1882979" y="694997"/>
                </a:lnTo>
                <a:lnTo>
                  <a:pt x="1881335" y="680197"/>
                </a:lnTo>
                <a:lnTo>
                  <a:pt x="1879327" y="665426"/>
                </a:lnTo>
                <a:lnTo>
                  <a:pt x="1876956" y="650689"/>
                </a:lnTo>
                <a:lnTo>
                  <a:pt x="1874222" y="635993"/>
                </a:lnTo>
                <a:lnTo>
                  <a:pt x="1871127" y="621342"/>
                </a:lnTo>
                <a:lnTo>
                  <a:pt x="1867672" y="606743"/>
                </a:lnTo>
                <a:lnTo>
                  <a:pt x="1863858" y="592201"/>
                </a:lnTo>
                <a:lnTo>
                  <a:pt x="1859687" y="577722"/>
                </a:lnTo>
                <a:lnTo>
                  <a:pt x="1855160" y="563312"/>
                </a:lnTo>
                <a:lnTo>
                  <a:pt x="1850280" y="548976"/>
                </a:lnTo>
                <a:lnTo>
                  <a:pt x="1845047" y="534719"/>
                </a:lnTo>
                <a:lnTo>
                  <a:pt x="1839465" y="520548"/>
                </a:lnTo>
                <a:lnTo>
                  <a:pt x="1833534" y="506467"/>
                </a:lnTo>
                <a:lnTo>
                  <a:pt x="1827258" y="492483"/>
                </a:lnTo>
                <a:lnTo>
                  <a:pt x="1820639" y="478600"/>
                </a:lnTo>
                <a:lnTo>
                  <a:pt x="1813680" y="464824"/>
                </a:lnTo>
                <a:lnTo>
                  <a:pt x="1806383" y="451160"/>
                </a:lnTo>
                <a:lnTo>
                  <a:pt x="1798750" y="437615"/>
                </a:lnTo>
                <a:lnTo>
                  <a:pt x="1790786" y="424192"/>
                </a:lnTo>
                <a:lnTo>
                  <a:pt x="1782493" y="410897"/>
                </a:lnTo>
                <a:lnTo>
                  <a:pt x="1773874" y="397735"/>
                </a:lnTo>
                <a:lnTo>
                  <a:pt x="1764933" y="384712"/>
                </a:lnTo>
                <a:lnTo>
                  <a:pt x="1755673" y="371832"/>
                </a:lnTo>
                <a:lnTo>
                  <a:pt x="1746098" y="359100"/>
                </a:lnTo>
                <a:lnTo>
                  <a:pt x="1736211" y="346522"/>
                </a:lnTo>
                <a:lnTo>
                  <a:pt x="1726016" y="334102"/>
                </a:lnTo>
                <a:lnTo>
                  <a:pt x="1715517" y="321845"/>
                </a:lnTo>
                <a:lnTo>
                  <a:pt x="1704719" y="309756"/>
                </a:lnTo>
                <a:lnTo>
                  <a:pt x="1693625" y="297839"/>
                </a:lnTo>
                <a:lnTo>
                  <a:pt x="1682240" y="286100"/>
                </a:lnTo>
                <a:lnTo>
                  <a:pt x="1670569" y="274542"/>
                </a:lnTo>
                <a:lnTo>
                  <a:pt x="1658615" y="263170"/>
                </a:lnTo>
                <a:lnTo>
                  <a:pt x="1646383" y="251989"/>
                </a:lnTo>
                <a:lnTo>
                  <a:pt x="1633878" y="241003"/>
                </a:lnTo>
                <a:lnTo>
                  <a:pt x="1621106" y="230215"/>
                </a:lnTo>
                <a:lnTo>
                  <a:pt x="1608070" y="219632"/>
                </a:lnTo>
                <a:lnTo>
                  <a:pt x="1594776" y="209255"/>
                </a:lnTo>
                <a:lnTo>
                  <a:pt x="1581229" y="199090"/>
                </a:lnTo>
                <a:lnTo>
                  <a:pt x="1567435" y="189141"/>
                </a:lnTo>
                <a:lnTo>
                  <a:pt x="1553399" y="179411"/>
                </a:lnTo>
                <a:lnTo>
                  <a:pt x="1539125" y="169904"/>
                </a:lnTo>
                <a:lnTo>
                  <a:pt x="1524621" y="160623"/>
                </a:lnTo>
                <a:lnTo>
                  <a:pt x="1509890" y="151573"/>
                </a:lnTo>
                <a:lnTo>
                  <a:pt x="1494940" y="142757"/>
                </a:lnTo>
                <a:lnTo>
                  <a:pt x="1479776" y="134178"/>
                </a:lnTo>
                <a:lnTo>
                  <a:pt x="1464403" y="125840"/>
                </a:lnTo>
                <a:lnTo>
                  <a:pt x="1448828" y="117745"/>
                </a:lnTo>
                <a:lnTo>
                  <a:pt x="1433057" y="109898"/>
                </a:lnTo>
                <a:lnTo>
                  <a:pt x="1417095" y="102300"/>
                </a:lnTo>
                <a:lnTo>
                  <a:pt x="1400950" y="94955"/>
                </a:lnTo>
                <a:lnTo>
                  <a:pt x="1384627" y="87867"/>
                </a:lnTo>
                <a:lnTo>
                  <a:pt x="1368133" y="81036"/>
                </a:lnTo>
                <a:lnTo>
                  <a:pt x="1351473" y="74468"/>
                </a:lnTo>
                <a:lnTo>
                  <a:pt x="1334655" y="68162"/>
                </a:lnTo>
                <a:lnTo>
                  <a:pt x="1317686" y="62123"/>
                </a:lnTo>
                <a:lnTo>
                  <a:pt x="1300571" y="56353"/>
                </a:lnTo>
                <a:lnTo>
                  <a:pt x="1283317" y="50853"/>
                </a:lnTo>
                <a:lnTo>
                  <a:pt x="1265931" y="45626"/>
                </a:lnTo>
                <a:lnTo>
                  <a:pt x="1248419" y="40675"/>
                </a:lnTo>
                <a:lnTo>
                  <a:pt x="1230790" y="36000"/>
                </a:lnTo>
                <a:lnTo>
                  <a:pt x="1213048" y="31604"/>
                </a:lnTo>
                <a:lnTo>
                  <a:pt x="1195202" y="27488"/>
                </a:lnTo>
                <a:lnTo>
                  <a:pt x="1177258" y="23654"/>
                </a:lnTo>
                <a:lnTo>
                  <a:pt x="1159223" y="20103"/>
                </a:lnTo>
                <a:lnTo>
                  <a:pt x="1141104" y="16838"/>
                </a:lnTo>
                <a:lnTo>
                  <a:pt x="1122908" y="13858"/>
                </a:lnTo>
                <a:lnTo>
                  <a:pt x="1104643" y="11166"/>
                </a:lnTo>
                <a:lnTo>
                  <a:pt x="1086314" y="8762"/>
                </a:lnTo>
                <a:lnTo>
                  <a:pt x="1067930" y="6648"/>
                </a:lnTo>
                <a:lnTo>
                  <a:pt x="1049498" y="4823"/>
                </a:lnTo>
                <a:lnTo>
                  <a:pt x="1031024" y="3290"/>
                </a:lnTo>
                <a:lnTo>
                  <a:pt x="1012516" y="2047"/>
                </a:lnTo>
                <a:lnTo>
                  <a:pt x="993981" y="1097"/>
                </a:lnTo>
                <a:lnTo>
                  <a:pt x="975426" y="439"/>
                </a:lnTo>
                <a:lnTo>
                  <a:pt x="956859" y="73"/>
                </a:lnTo>
                <a:lnTo>
                  <a:pt x="938286" y="0"/>
                </a:lnTo>
                <a:lnTo>
                  <a:pt x="919715" y="219"/>
                </a:lnTo>
                <a:lnTo>
                  <a:pt x="901153" y="731"/>
                </a:lnTo>
                <a:lnTo>
                  <a:pt x="882607" y="1536"/>
                </a:lnTo>
                <a:lnTo>
                  <a:pt x="864085" y="2632"/>
                </a:lnTo>
                <a:lnTo>
                  <a:pt x="845593" y="4020"/>
                </a:lnTo>
                <a:lnTo>
                  <a:pt x="827139" y="5699"/>
                </a:lnTo>
                <a:lnTo>
                  <a:pt x="808730" y="7669"/>
                </a:lnTo>
                <a:lnTo>
                  <a:pt x="790373" y="9928"/>
                </a:lnTo>
                <a:lnTo>
                  <a:pt x="772075" y="12476"/>
                </a:lnTo>
                <a:lnTo>
                  <a:pt x="753844" y="15312"/>
                </a:lnTo>
                <a:lnTo>
                  <a:pt x="735685" y="18435"/>
                </a:lnTo>
                <a:lnTo>
                  <a:pt x="717608" y="21843"/>
                </a:lnTo>
                <a:lnTo>
                  <a:pt x="699617" y="25535"/>
                </a:lnTo>
                <a:lnTo>
                  <a:pt x="681721" y="29510"/>
                </a:lnTo>
                <a:lnTo>
                  <a:pt x="663926" y="33767"/>
                </a:lnTo>
                <a:lnTo>
                  <a:pt x="646240" y="38302"/>
                </a:lnTo>
                <a:lnTo>
                  <a:pt x="628669" y="43116"/>
                </a:lnTo>
                <a:lnTo>
                  <a:pt x="611219" y="48206"/>
                </a:lnTo>
                <a:lnTo>
                  <a:pt x="593898" y="53569"/>
                </a:lnTo>
                <a:lnTo>
                  <a:pt x="576713" y="59204"/>
                </a:lnTo>
                <a:lnTo>
                  <a:pt x="559670" y="65109"/>
                </a:lnTo>
                <a:lnTo>
                  <a:pt x="542775" y="71282"/>
                </a:lnTo>
                <a:lnTo>
                  <a:pt x="526036" y="77719"/>
                </a:lnTo>
                <a:lnTo>
                  <a:pt x="509458" y="84419"/>
                </a:lnTo>
                <a:lnTo>
                  <a:pt x="493049" y="91379"/>
                </a:lnTo>
                <a:lnTo>
                  <a:pt x="476814" y="98596"/>
                </a:lnTo>
                <a:lnTo>
                  <a:pt x="460760" y="106067"/>
                </a:lnTo>
                <a:lnTo>
                  <a:pt x="444893" y="113790"/>
                </a:lnTo>
                <a:lnTo>
                  <a:pt x="429219" y="121762"/>
                </a:lnTo>
                <a:lnTo>
                  <a:pt x="413744" y="129978"/>
                </a:lnTo>
                <a:lnTo>
                  <a:pt x="398475" y="138438"/>
                </a:lnTo>
                <a:lnTo>
                  <a:pt x="383417" y="147136"/>
                </a:lnTo>
                <a:lnTo>
                  <a:pt x="368576" y="156069"/>
                </a:lnTo>
                <a:lnTo>
                  <a:pt x="353958" y="165235"/>
                </a:lnTo>
                <a:lnTo>
                  <a:pt x="339568" y="174629"/>
                </a:lnTo>
                <a:lnTo>
                  <a:pt x="325412" y="184248"/>
                </a:lnTo>
                <a:lnTo>
                  <a:pt x="311496" y="194088"/>
                </a:lnTo>
                <a:lnTo>
                  <a:pt x="297825" y="204146"/>
                </a:lnTo>
                <a:lnTo>
                  <a:pt x="284404" y="214417"/>
                </a:lnTo>
                <a:lnTo>
                  <a:pt x="271239" y="224898"/>
                </a:lnTo>
                <a:lnTo>
                  <a:pt x="258334" y="235584"/>
                </a:lnTo>
                <a:lnTo>
                  <a:pt x="245695" y="246471"/>
                </a:lnTo>
                <a:lnTo>
                  <a:pt x="233326" y="257555"/>
                </a:lnTo>
                <a:lnTo>
                  <a:pt x="221232" y="268832"/>
                </a:lnTo>
                <a:lnTo>
                  <a:pt x="209419" y="280298"/>
                </a:lnTo>
                <a:lnTo>
                  <a:pt x="197890" y="291947"/>
                </a:lnTo>
                <a:lnTo>
                  <a:pt x="186650" y="303776"/>
                </a:lnTo>
                <a:lnTo>
                  <a:pt x="175704" y="315779"/>
                </a:lnTo>
                <a:lnTo>
                  <a:pt x="165055" y="327953"/>
                </a:lnTo>
                <a:lnTo>
                  <a:pt x="154708" y="340292"/>
                </a:lnTo>
                <a:lnTo>
                  <a:pt x="144666" y="352792"/>
                </a:lnTo>
                <a:lnTo>
                  <a:pt x="134935" y="365447"/>
                </a:lnTo>
                <a:lnTo>
                  <a:pt x="125516" y="378253"/>
                </a:lnTo>
                <a:lnTo>
                  <a:pt x="116415" y="391206"/>
                </a:lnTo>
                <a:lnTo>
                  <a:pt x="107635" y="404299"/>
                </a:lnTo>
                <a:lnTo>
                  <a:pt x="99178" y="417528"/>
                </a:lnTo>
                <a:lnTo>
                  <a:pt x="91049" y="430887"/>
                </a:lnTo>
                <a:lnTo>
                  <a:pt x="83251" y="444372"/>
                </a:lnTo>
                <a:lnTo>
                  <a:pt x="75786" y="457978"/>
                </a:lnTo>
                <a:lnTo>
                  <a:pt x="68657" y="471698"/>
                </a:lnTo>
                <a:lnTo>
                  <a:pt x="61867" y="485528"/>
                </a:lnTo>
                <a:lnTo>
                  <a:pt x="55420" y="499463"/>
                </a:lnTo>
                <a:lnTo>
                  <a:pt x="49316" y="513496"/>
                </a:lnTo>
                <a:lnTo>
                  <a:pt x="43559" y="527622"/>
                </a:lnTo>
                <a:lnTo>
                  <a:pt x="38152" y="541837"/>
                </a:lnTo>
                <a:lnTo>
                  <a:pt x="33095" y="556134"/>
                </a:lnTo>
                <a:lnTo>
                  <a:pt x="28391" y="570508"/>
                </a:lnTo>
                <a:lnTo>
                  <a:pt x="24042" y="584953"/>
                </a:lnTo>
                <a:lnTo>
                  <a:pt x="20049" y="599464"/>
                </a:lnTo>
                <a:lnTo>
                  <a:pt x="16414" y="614036"/>
                </a:lnTo>
                <a:lnTo>
                  <a:pt x="13139" y="628661"/>
                </a:lnTo>
                <a:lnTo>
                  <a:pt x="10225" y="643335"/>
                </a:lnTo>
                <a:lnTo>
                  <a:pt x="7672" y="658053"/>
                </a:lnTo>
                <a:lnTo>
                  <a:pt x="5482" y="672808"/>
                </a:lnTo>
                <a:lnTo>
                  <a:pt x="3656" y="687594"/>
                </a:lnTo>
                <a:lnTo>
                  <a:pt x="2194" y="702406"/>
                </a:lnTo>
                <a:lnTo>
                  <a:pt x="1097" y="717239"/>
                </a:lnTo>
                <a:lnTo>
                  <a:pt x="366" y="732086"/>
                </a:lnTo>
                <a:lnTo>
                  <a:pt x="0" y="746941"/>
                </a:lnTo>
                <a:lnTo>
                  <a:pt x="0" y="761800"/>
                </a:lnTo>
                <a:lnTo>
                  <a:pt x="366" y="776655"/>
                </a:lnTo>
                <a:lnTo>
                  <a:pt x="1097" y="791502"/>
                </a:lnTo>
                <a:lnTo>
                  <a:pt x="2194" y="806335"/>
                </a:lnTo>
                <a:lnTo>
                  <a:pt x="3656" y="821147"/>
                </a:lnTo>
                <a:lnTo>
                  <a:pt x="5482" y="835933"/>
                </a:lnTo>
                <a:lnTo>
                  <a:pt x="7672" y="850688"/>
                </a:lnTo>
                <a:lnTo>
                  <a:pt x="10225" y="865406"/>
                </a:lnTo>
                <a:lnTo>
                  <a:pt x="13139" y="880080"/>
                </a:lnTo>
                <a:lnTo>
                  <a:pt x="16414" y="894705"/>
                </a:lnTo>
                <a:lnTo>
                  <a:pt x="20049" y="909277"/>
                </a:lnTo>
                <a:lnTo>
                  <a:pt x="24042" y="923788"/>
                </a:lnTo>
                <a:lnTo>
                  <a:pt x="28391" y="938233"/>
                </a:lnTo>
                <a:lnTo>
                  <a:pt x="33095" y="952607"/>
                </a:lnTo>
                <a:lnTo>
                  <a:pt x="38152" y="966904"/>
                </a:lnTo>
                <a:lnTo>
                  <a:pt x="43559" y="981119"/>
                </a:lnTo>
                <a:lnTo>
                  <a:pt x="49316" y="995245"/>
                </a:lnTo>
                <a:lnTo>
                  <a:pt x="55420" y="1009278"/>
                </a:lnTo>
                <a:lnTo>
                  <a:pt x="61867" y="1023213"/>
                </a:lnTo>
                <a:lnTo>
                  <a:pt x="68657" y="1037043"/>
                </a:lnTo>
                <a:lnTo>
                  <a:pt x="75786" y="1050763"/>
                </a:lnTo>
                <a:lnTo>
                  <a:pt x="83251" y="1064369"/>
                </a:lnTo>
                <a:lnTo>
                  <a:pt x="91049" y="1077854"/>
                </a:lnTo>
                <a:lnTo>
                  <a:pt x="99178" y="1091213"/>
                </a:lnTo>
                <a:lnTo>
                  <a:pt x="107635" y="1104442"/>
                </a:lnTo>
                <a:lnTo>
                  <a:pt x="116415" y="1117535"/>
                </a:lnTo>
                <a:lnTo>
                  <a:pt x="125516" y="1130488"/>
                </a:lnTo>
                <a:lnTo>
                  <a:pt x="134935" y="1143294"/>
                </a:lnTo>
                <a:lnTo>
                  <a:pt x="144666" y="1155949"/>
                </a:lnTo>
                <a:lnTo>
                  <a:pt x="154708" y="1168449"/>
                </a:lnTo>
                <a:lnTo>
                  <a:pt x="165055" y="1180788"/>
                </a:lnTo>
                <a:lnTo>
                  <a:pt x="175704" y="1192962"/>
                </a:lnTo>
                <a:lnTo>
                  <a:pt x="186650" y="1204965"/>
                </a:lnTo>
                <a:lnTo>
                  <a:pt x="197890" y="1216794"/>
                </a:lnTo>
                <a:lnTo>
                  <a:pt x="209419" y="1228443"/>
                </a:lnTo>
                <a:lnTo>
                  <a:pt x="221232" y="1239909"/>
                </a:lnTo>
                <a:lnTo>
                  <a:pt x="233326" y="1251186"/>
                </a:lnTo>
                <a:lnTo>
                  <a:pt x="245695" y="1262270"/>
                </a:lnTo>
                <a:lnTo>
                  <a:pt x="258334" y="1273157"/>
                </a:lnTo>
                <a:lnTo>
                  <a:pt x="271239" y="1283843"/>
                </a:lnTo>
                <a:lnTo>
                  <a:pt x="284404" y="1294324"/>
                </a:lnTo>
                <a:lnTo>
                  <a:pt x="297825" y="1304595"/>
                </a:lnTo>
                <a:lnTo>
                  <a:pt x="311496" y="1314653"/>
                </a:lnTo>
                <a:lnTo>
                  <a:pt x="325412" y="1324493"/>
                </a:lnTo>
                <a:lnTo>
                  <a:pt x="339568" y="1334112"/>
                </a:lnTo>
                <a:lnTo>
                  <a:pt x="353958" y="1343506"/>
                </a:lnTo>
                <a:lnTo>
                  <a:pt x="368576" y="1352672"/>
                </a:lnTo>
                <a:lnTo>
                  <a:pt x="383417" y="1361605"/>
                </a:lnTo>
                <a:lnTo>
                  <a:pt x="398475" y="1370303"/>
                </a:lnTo>
                <a:lnTo>
                  <a:pt x="413744" y="1378763"/>
                </a:lnTo>
                <a:lnTo>
                  <a:pt x="429219" y="1386979"/>
                </a:lnTo>
                <a:lnTo>
                  <a:pt x="444893" y="1394951"/>
                </a:lnTo>
                <a:lnTo>
                  <a:pt x="460760" y="1402674"/>
                </a:lnTo>
                <a:lnTo>
                  <a:pt x="476814" y="1410145"/>
                </a:lnTo>
                <a:lnTo>
                  <a:pt x="493049" y="1417362"/>
                </a:lnTo>
                <a:lnTo>
                  <a:pt x="509458" y="1424322"/>
                </a:lnTo>
                <a:lnTo>
                  <a:pt x="526036" y="1431022"/>
                </a:lnTo>
                <a:lnTo>
                  <a:pt x="542775" y="1437459"/>
                </a:lnTo>
                <a:lnTo>
                  <a:pt x="559670" y="1443632"/>
                </a:lnTo>
                <a:lnTo>
                  <a:pt x="576713" y="1449537"/>
                </a:lnTo>
                <a:lnTo>
                  <a:pt x="593898" y="1455172"/>
                </a:lnTo>
                <a:lnTo>
                  <a:pt x="611219" y="1460535"/>
                </a:lnTo>
                <a:lnTo>
                  <a:pt x="628669" y="1465625"/>
                </a:lnTo>
                <a:lnTo>
                  <a:pt x="646240" y="1470439"/>
                </a:lnTo>
                <a:lnTo>
                  <a:pt x="663926" y="1474974"/>
                </a:lnTo>
                <a:lnTo>
                  <a:pt x="681721" y="1479231"/>
                </a:lnTo>
                <a:lnTo>
                  <a:pt x="699617" y="1483206"/>
                </a:lnTo>
                <a:lnTo>
                  <a:pt x="717608" y="1486898"/>
                </a:lnTo>
                <a:lnTo>
                  <a:pt x="735685" y="1490306"/>
                </a:lnTo>
                <a:lnTo>
                  <a:pt x="753844" y="1493429"/>
                </a:lnTo>
                <a:lnTo>
                  <a:pt x="772075" y="1496265"/>
                </a:lnTo>
                <a:lnTo>
                  <a:pt x="790373" y="1498813"/>
                </a:lnTo>
                <a:lnTo>
                  <a:pt x="808730" y="1501072"/>
                </a:lnTo>
                <a:lnTo>
                  <a:pt x="827139" y="1503042"/>
                </a:lnTo>
                <a:lnTo>
                  <a:pt x="845593" y="1504721"/>
                </a:lnTo>
                <a:lnTo>
                  <a:pt x="864085" y="1506109"/>
                </a:lnTo>
                <a:lnTo>
                  <a:pt x="882607" y="1507205"/>
                </a:lnTo>
                <a:lnTo>
                  <a:pt x="901153" y="1508010"/>
                </a:lnTo>
                <a:lnTo>
                  <a:pt x="919715" y="1508522"/>
                </a:lnTo>
                <a:lnTo>
                  <a:pt x="938286" y="1508741"/>
                </a:lnTo>
                <a:lnTo>
                  <a:pt x="956859" y="1508668"/>
                </a:lnTo>
                <a:lnTo>
                  <a:pt x="975426" y="1508302"/>
                </a:lnTo>
                <a:lnTo>
                  <a:pt x="993981" y="1507644"/>
                </a:lnTo>
                <a:lnTo>
                  <a:pt x="1012516" y="1506694"/>
                </a:lnTo>
                <a:lnTo>
                  <a:pt x="1031024" y="1505451"/>
                </a:lnTo>
                <a:lnTo>
                  <a:pt x="1049498" y="1503918"/>
                </a:lnTo>
                <a:lnTo>
                  <a:pt x="1067930" y="1502093"/>
                </a:lnTo>
                <a:lnTo>
                  <a:pt x="1086314" y="1499979"/>
                </a:lnTo>
                <a:lnTo>
                  <a:pt x="1104643" y="1497575"/>
                </a:lnTo>
                <a:lnTo>
                  <a:pt x="1122908" y="1494883"/>
                </a:lnTo>
                <a:lnTo>
                  <a:pt x="1141104" y="1491903"/>
                </a:lnTo>
                <a:lnTo>
                  <a:pt x="1159223" y="1488638"/>
                </a:lnTo>
                <a:lnTo>
                  <a:pt x="1177258" y="1485087"/>
                </a:lnTo>
                <a:lnTo>
                  <a:pt x="1195202" y="1481253"/>
                </a:lnTo>
                <a:lnTo>
                  <a:pt x="1213048" y="1477137"/>
                </a:lnTo>
                <a:lnTo>
                  <a:pt x="1230790" y="1472741"/>
                </a:lnTo>
                <a:lnTo>
                  <a:pt x="1248419" y="1468066"/>
                </a:lnTo>
                <a:lnTo>
                  <a:pt x="1265931" y="1463115"/>
                </a:lnTo>
                <a:lnTo>
                  <a:pt x="1283317" y="1457888"/>
                </a:lnTo>
                <a:lnTo>
                  <a:pt x="1300571" y="1452388"/>
                </a:lnTo>
                <a:lnTo>
                  <a:pt x="1317686" y="1446618"/>
                </a:lnTo>
                <a:lnTo>
                  <a:pt x="1334655" y="1440579"/>
                </a:lnTo>
                <a:lnTo>
                  <a:pt x="1351473" y="1434273"/>
                </a:lnTo>
                <a:lnTo>
                  <a:pt x="1368133" y="1427705"/>
                </a:lnTo>
                <a:lnTo>
                  <a:pt x="1384627" y="1420874"/>
                </a:lnTo>
                <a:lnTo>
                  <a:pt x="1400950" y="1413786"/>
                </a:lnTo>
                <a:lnTo>
                  <a:pt x="1417095" y="1406441"/>
                </a:lnTo>
                <a:lnTo>
                  <a:pt x="1433057" y="1398843"/>
                </a:lnTo>
                <a:lnTo>
                  <a:pt x="1448828" y="1390996"/>
                </a:lnTo>
                <a:lnTo>
                  <a:pt x="1464403" y="1382901"/>
                </a:lnTo>
                <a:lnTo>
                  <a:pt x="1479776" y="1374563"/>
                </a:lnTo>
                <a:lnTo>
                  <a:pt x="1494940" y="1365984"/>
                </a:lnTo>
                <a:lnTo>
                  <a:pt x="1509890" y="1357168"/>
                </a:lnTo>
                <a:lnTo>
                  <a:pt x="1524621" y="1348118"/>
                </a:lnTo>
                <a:lnTo>
                  <a:pt x="1539125" y="1338837"/>
                </a:lnTo>
                <a:lnTo>
                  <a:pt x="1553399" y="1329330"/>
                </a:lnTo>
                <a:lnTo>
                  <a:pt x="1567435" y="1319600"/>
                </a:lnTo>
                <a:lnTo>
                  <a:pt x="1581229" y="1309651"/>
                </a:lnTo>
                <a:lnTo>
                  <a:pt x="1594776" y="1299486"/>
                </a:lnTo>
                <a:lnTo>
                  <a:pt x="1608070" y="1289109"/>
                </a:lnTo>
                <a:lnTo>
                  <a:pt x="1621106" y="1278526"/>
                </a:lnTo>
                <a:lnTo>
                  <a:pt x="1633878" y="1267738"/>
                </a:lnTo>
                <a:lnTo>
                  <a:pt x="1646383" y="1256752"/>
                </a:lnTo>
                <a:lnTo>
                  <a:pt x="1658615" y="1245571"/>
                </a:lnTo>
                <a:lnTo>
                  <a:pt x="1670569" y="1234199"/>
                </a:lnTo>
                <a:lnTo>
                  <a:pt x="1682240" y="1222641"/>
                </a:lnTo>
                <a:lnTo>
                  <a:pt x="1693625" y="1210902"/>
                </a:lnTo>
                <a:lnTo>
                  <a:pt x="1704719" y="1198985"/>
                </a:lnTo>
                <a:lnTo>
                  <a:pt x="1715517" y="1186896"/>
                </a:lnTo>
                <a:lnTo>
                  <a:pt x="1726016" y="1174639"/>
                </a:lnTo>
                <a:lnTo>
                  <a:pt x="1736211" y="1162219"/>
                </a:lnTo>
                <a:lnTo>
                  <a:pt x="1746098" y="1149641"/>
                </a:lnTo>
                <a:lnTo>
                  <a:pt x="1755673" y="1136909"/>
                </a:lnTo>
                <a:lnTo>
                  <a:pt x="1764933" y="1124029"/>
                </a:lnTo>
                <a:lnTo>
                  <a:pt x="1773874" y="1111006"/>
                </a:lnTo>
                <a:lnTo>
                  <a:pt x="1782493" y="1097844"/>
                </a:lnTo>
                <a:lnTo>
                  <a:pt x="1790786" y="1084549"/>
                </a:lnTo>
                <a:lnTo>
                  <a:pt x="1798750" y="1071126"/>
                </a:lnTo>
                <a:lnTo>
                  <a:pt x="1806383" y="1057581"/>
                </a:lnTo>
                <a:lnTo>
                  <a:pt x="1813680" y="1043917"/>
                </a:lnTo>
                <a:lnTo>
                  <a:pt x="1820639" y="1030141"/>
                </a:lnTo>
                <a:lnTo>
                  <a:pt x="1827258" y="1016258"/>
                </a:lnTo>
                <a:lnTo>
                  <a:pt x="1833534" y="1002274"/>
                </a:lnTo>
                <a:lnTo>
                  <a:pt x="1839465" y="988193"/>
                </a:lnTo>
                <a:lnTo>
                  <a:pt x="1845047" y="974022"/>
                </a:lnTo>
                <a:lnTo>
                  <a:pt x="1850280" y="959765"/>
                </a:lnTo>
                <a:lnTo>
                  <a:pt x="1855160" y="945429"/>
                </a:lnTo>
                <a:lnTo>
                  <a:pt x="1859687" y="931019"/>
                </a:lnTo>
                <a:lnTo>
                  <a:pt x="1863858" y="916540"/>
                </a:lnTo>
                <a:lnTo>
                  <a:pt x="1867672" y="901998"/>
                </a:lnTo>
                <a:lnTo>
                  <a:pt x="1871127" y="887399"/>
                </a:lnTo>
                <a:lnTo>
                  <a:pt x="1874222" y="872748"/>
                </a:lnTo>
                <a:lnTo>
                  <a:pt x="1876956" y="858052"/>
                </a:lnTo>
                <a:lnTo>
                  <a:pt x="1879327" y="843315"/>
                </a:lnTo>
                <a:lnTo>
                  <a:pt x="1881335" y="828544"/>
                </a:lnTo>
                <a:lnTo>
                  <a:pt x="1882979" y="813744"/>
                </a:lnTo>
                <a:lnTo>
                  <a:pt x="1884259" y="798921"/>
                </a:lnTo>
                <a:lnTo>
                  <a:pt x="1885173" y="784080"/>
                </a:lnTo>
                <a:lnTo>
                  <a:pt x="1885722" y="769228"/>
                </a:lnTo>
                <a:lnTo>
                  <a:pt x="1885905" y="754371"/>
                </a:lnTo>
              </a:path>
            </a:pathLst>
          </a:custGeom>
          <a:noFill/>
          <a:ln w="27940">
            <a:solidFill>
              <a:srgbClr val="2E6B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0" name="Freeform 25"/>
          <p:cNvSpPr/>
          <p:nvPr/>
        </p:nvSpPr>
        <p:spPr>
          <a:xfrm>
            <a:off x="6897890" y="1760220"/>
            <a:ext cx="1912320" cy="3922776"/>
          </a:xfrm>
          <a:custGeom>
            <a:avLst/>
            <a:gdLst/>
            <a:ahLst/>
            <a:cxnLst/>
            <a:rect l="l" t="t" r="r" b="b"/>
            <a:pathLst>
              <a:path w="1912320" h="3922776">
                <a:moveTo>
                  <a:pt x="0" y="3922776"/>
                </a:moveTo>
                <a:lnTo>
                  <a:pt x="31872" y="3906362"/>
                </a:lnTo>
                <a:lnTo>
                  <a:pt x="63476" y="3889949"/>
                </a:lnTo>
                <a:lnTo>
                  <a:pt x="94813" y="3873536"/>
                </a:lnTo>
                <a:lnTo>
                  <a:pt x="125881" y="3857122"/>
                </a:lnTo>
                <a:lnTo>
                  <a:pt x="156682" y="3840709"/>
                </a:lnTo>
                <a:lnTo>
                  <a:pt x="187215" y="3824296"/>
                </a:lnTo>
                <a:lnTo>
                  <a:pt x="217480" y="3807882"/>
                </a:lnTo>
                <a:lnTo>
                  <a:pt x="247477" y="3791469"/>
                </a:lnTo>
                <a:lnTo>
                  <a:pt x="277206" y="3775056"/>
                </a:lnTo>
                <a:lnTo>
                  <a:pt x="306668" y="3758643"/>
                </a:lnTo>
                <a:lnTo>
                  <a:pt x="335861" y="3742229"/>
                </a:lnTo>
                <a:lnTo>
                  <a:pt x="364787" y="3725816"/>
                </a:lnTo>
                <a:lnTo>
                  <a:pt x="393445" y="3709403"/>
                </a:lnTo>
                <a:lnTo>
                  <a:pt x="421835" y="3692989"/>
                </a:lnTo>
                <a:lnTo>
                  <a:pt x="449958" y="3676576"/>
                </a:lnTo>
                <a:lnTo>
                  <a:pt x="477812" y="3660163"/>
                </a:lnTo>
                <a:lnTo>
                  <a:pt x="505399" y="3643750"/>
                </a:lnTo>
                <a:lnTo>
                  <a:pt x="532718" y="3627336"/>
                </a:lnTo>
                <a:lnTo>
                  <a:pt x="559769" y="3610923"/>
                </a:lnTo>
                <a:lnTo>
                  <a:pt x="586552" y="3594510"/>
                </a:lnTo>
                <a:lnTo>
                  <a:pt x="613067" y="3578096"/>
                </a:lnTo>
                <a:lnTo>
                  <a:pt x="639315" y="3561683"/>
                </a:lnTo>
                <a:lnTo>
                  <a:pt x="665295" y="3545270"/>
                </a:lnTo>
                <a:lnTo>
                  <a:pt x="691007" y="3528857"/>
                </a:lnTo>
                <a:lnTo>
                  <a:pt x="716451" y="3512443"/>
                </a:lnTo>
                <a:lnTo>
                  <a:pt x="741627" y="3496030"/>
                </a:lnTo>
                <a:lnTo>
                  <a:pt x="766535" y="3479617"/>
                </a:lnTo>
                <a:lnTo>
                  <a:pt x="791176" y="3463203"/>
                </a:lnTo>
                <a:lnTo>
                  <a:pt x="815548" y="3446790"/>
                </a:lnTo>
                <a:lnTo>
                  <a:pt x="839653" y="3430377"/>
                </a:lnTo>
                <a:lnTo>
                  <a:pt x="863490" y="3413964"/>
                </a:lnTo>
                <a:lnTo>
                  <a:pt x="887059" y="3397550"/>
                </a:lnTo>
                <a:lnTo>
                  <a:pt x="910361" y="3381137"/>
                </a:lnTo>
                <a:lnTo>
                  <a:pt x="933394" y="3364724"/>
                </a:lnTo>
                <a:lnTo>
                  <a:pt x="956160" y="3348310"/>
                </a:lnTo>
                <a:lnTo>
                  <a:pt x="978658" y="3331897"/>
                </a:lnTo>
                <a:lnTo>
                  <a:pt x="1000888" y="3315484"/>
                </a:lnTo>
                <a:lnTo>
                  <a:pt x="1022850" y="3299071"/>
                </a:lnTo>
                <a:lnTo>
                  <a:pt x="1044545" y="3282657"/>
                </a:lnTo>
                <a:lnTo>
                  <a:pt x="1065971" y="3266244"/>
                </a:lnTo>
                <a:lnTo>
                  <a:pt x="1087130" y="3249831"/>
                </a:lnTo>
                <a:lnTo>
                  <a:pt x="1108021" y="3233417"/>
                </a:lnTo>
                <a:lnTo>
                  <a:pt x="1128644" y="3217004"/>
                </a:lnTo>
                <a:lnTo>
                  <a:pt x="1148999" y="3200591"/>
                </a:lnTo>
                <a:lnTo>
                  <a:pt x="1169086" y="3184178"/>
                </a:lnTo>
                <a:lnTo>
                  <a:pt x="1188906" y="3167764"/>
                </a:lnTo>
                <a:lnTo>
                  <a:pt x="1208458" y="3151351"/>
                </a:lnTo>
                <a:lnTo>
                  <a:pt x="1227742" y="3134938"/>
                </a:lnTo>
                <a:lnTo>
                  <a:pt x="1246758" y="3118524"/>
                </a:lnTo>
                <a:lnTo>
                  <a:pt x="1265506" y="3102111"/>
                </a:lnTo>
                <a:lnTo>
                  <a:pt x="1283986" y="3085698"/>
                </a:lnTo>
                <a:lnTo>
                  <a:pt x="1302199" y="3069284"/>
                </a:lnTo>
                <a:lnTo>
                  <a:pt x="1320144" y="3052871"/>
                </a:lnTo>
                <a:lnTo>
                  <a:pt x="1337821" y="3036458"/>
                </a:lnTo>
                <a:lnTo>
                  <a:pt x="1355230" y="3020045"/>
                </a:lnTo>
                <a:lnTo>
                  <a:pt x="1372371" y="3003631"/>
                </a:lnTo>
                <a:lnTo>
                  <a:pt x="1389244" y="2987218"/>
                </a:lnTo>
                <a:lnTo>
                  <a:pt x="1405850" y="2970805"/>
                </a:lnTo>
                <a:lnTo>
                  <a:pt x="1422188" y="2954391"/>
                </a:lnTo>
                <a:lnTo>
                  <a:pt x="1438258" y="2937978"/>
                </a:lnTo>
                <a:lnTo>
                  <a:pt x="1454060" y="2921565"/>
                </a:lnTo>
                <a:lnTo>
                  <a:pt x="1469594" y="2905152"/>
                </a:lnTo>
                <a:lnTo>
                  <a:pt x="1484860" y="2888738"/>
                </a:lnTo>
                <a:lnTo>
                  <a:pt x="1499859" y="2872325"/>
                </a:lnTo>
                <a:lnTo>
                  <a:pt x="1514590" y="2855912"/>
                </a:lnTo>
                <a:lnTo>
                  <a:pt x="1529053" y="2839498"/>
                </a:lnTo>
                <a:lnTo>
                  <a:pt x="1543248" y="2823085"/>
                </a:lnTo>
                <a:lnTo>
                  <a:pt x="1557175" y="2806672"/>
                </a:lnTo>
                <a:lnTo>
                  <a:pt x="1570834" y="2790259"/>
                </a:lnTo>
                <a:lnTo>
                  <a:pt x="1584226" y="2773845"/>
                </a:lnTo>
                <a:lnTo>
                  <a:pt x="1597350" y="2757432"/>
                </a:lnTo>
                <a:lnTo>
                  <a:pt x="1610206" y="2741019"/>
                </a:lnTo>
                <a:lnTo>
                  <a:pt x="1622794" y="2724605"/>
                </a:lnTo>
                <a:lnTo>
                  <a:pt x="1635114" y="2708192"/>
                </a:lnTo>
                <a:lnTo>
                  <a:pt x="1647166" y="2691779"/>
                </a:lnTo>
                <a:lnTo>
                  <a:pt x="1658951" y="2675366"/>
                </a:lnTo>
                <a:lnTo>
                  <a:pt x="1670468" y="2658952"/>
                </a:lnTo>
                <a:lnTo>
                  <a:pt x="1681717" y="2642539"/>
                </a:lnTo>
                <a:lnTo>
                  <a:pt x="1692698" y="2626126"/>
                </a:lnTo>
                <a:lnTo>
                  <a:pt x="1703411" y="2609712"/>
                </a:lnTo>
                <a:lnTo>
                  <a:pt x="1713857" y="2593299"/>
                </a:lnTo>
                <a:lnTo>
                  <a:pt x="1724034" y="2576886"/>
                </a:lnTo>
                <a:lnTo>
                  <a:pt x="1733944" y="2560473"/>
                </a:lnTo>
                <a:lnTo>
                  <a:pt x="1743586" y="2544059"/>
                </a:lnTo>
                <a:lnTo>
                  <a:pt x="1752960" y="2527646"/>
                </a:lnTo>
                <a:lnTo>
                  <a:pt x="1762066" y="2511233"/>
                </a:lnTo>
                <a:lnTo>
                  <a:pt x="1770905" y="2494819"/>
                </a:lnTo>
                <a:lnTo>
                  <a:pt x="1779475" y="2478406"/>
                </a:lnTo>
                <a:lnTo>
                  <a:pt x="1787778" y="2461993"/>
                </a:lnTo>
                <a:lnTo>
                  <a:pt x="1795813" y="2445580"/>
                </a:lnTo>
                <a:lnTo>
                  <a:pt x="1803580" y="2429166"/>
                </a:lnTo>
                <a:lnTo>
                  <a:pt x="1811080" y="2412753"/>
                </a:lnTo>
                <a:lnTo>
                  <a:pt x="1818311" y="2396340"/>
                </a:lnTo>
                <a:lnTo>
                  <a:pt x="1825275" y="2379926"/>
                </a:lnTo>
                <a:lnTo>
                  <a:pt x="1831970" y="2363513"/>
                </a:lnTo>
                <a:lnTo>
                  <a:pt x="1838398" y="2347100"/>
                </a:lnTo>
                <a:lnTo>
                  <a:pt x="1844559" y="2330686"/>
                </a:lnTo>
                <a:lnTo>
                  <a:pt x="1850451" y="2314273"/>
                </a:lnTo>
                <a:lnTo>
                  <a:pt x="1856075" y="2297860"/>
                </a:lnTo>
                <a:lnTo>
                  <a:pt x="1861432" y="2281447"/>
                </a:lnTo>
                <a:lnTo>
                  <a:pt x="1866521" y="2265033"/>
                </a:lnTo>
                <a:lnTo>
                  <a:pt x="1871342" y="2248620"/>
                </a:lnTo>
                <a:lnTo>
                  <a:pt x="1875895" y="2232207"/>
                </a:lnTo>
                <a:lnTo>
                  <a:pt x="1880180" y="2215793"/>
                </a:lnTo>
                <a:lnTo>
                  <a:pt x="1884198" y="2199380"/>
                </a:lnTo>
                <a:lnTo>
                  <a:pt x="1887947" y="2182967"/>
                </a:lnTo>
                <a:lnTo>
                  <a:pt x="1891429" y="2166554"/>
                </a:lnTo>
                <a:lnTo>
                  <a:pt x="1894643" y="2150140"/>
                </a:lnTo>
                <a:lnTo>
                  <a:pt x="1897589" y="2133727"/>
                </a:lnTo>
                <a:lnTo>
                  <a:pt x="1900268" y="2117314"/>
                </a:lnTo>
                <a:lnTo>
                  <a:pt x="1902678" y="2100900"/>
                </a:lnTo>
                <a:lnTo>
                  <a:pt x="1904821" y="2084487"/>
                </a:lnTo>
                <a:lnTo>
                  <a:pt x="1906696" y="2068074"/>
                </a:lnTo>
                <a:lnTo>
                  <a:pt x="1908303" y="2051661"/>
                </a:lnTo>
                <a:lnTo>
                  <a:pt x="1909642" y="2035247"/>
                </a:lnTo>
                <a:lnTo>
                  <a:pt x="1910713" y="2018834"/>
                </a:lnTo>
                <a:lnTo>
                  <a:pt x="1911517" y="2002421"/>
                </a:lnTo>
                <a:lnTo>
                  <a:pt x="1912052" y="1986007"/>
                </a:lnTo>
                <a:lnTo>
                  <a:pt x="1912320" y="1969594"/>
                </a:lnTo>
                <a:lnTo>
                  <a:pt x="1912320" y="1953181"/>
                </a:lnTo>
                <a:lnTo>
                  <a:pt x="1912052" y="1936768"/>
                </a:lnTo>
                <a:lnTo>
                  <a:pt x="1911517" y="1920354"/>
                </a:lnTo>
                <a:lnTo>
                  <a:pt x="1910713" y="1903941"/>
                </a:lnTo>
                <a:lnTo>
                  <a:pt x="1909642" y="1887528"/>
                </a:lnTo>
                <a:lnTo>
                  <a:pt x="1908303" y="1871114"/>
                </a:lnTo>
                <a:lnTo>
                  <a:pt x="1906696" y="1854701"/>
                </a:lnTo>
                <a:lnTo>
                  <a:pt x="1904821" y="1838288"/>
                </a:lnTo>
                <a:lnTo>
                  <a:pt x="1902678" y="1821875"/>
                </a:lnTo>
                <a:lnTo>
                  <a:pt x="1900268" y="1805461"/>
                </a:lnTo>
                <a:lnTo>
                  <a:pt x="1897589" y="1789048"/>
                </a:lnTo>
                <a:lnTo>
                  <a:pt x="1894643" y="1772635"/>
                </a:lnTo>
                <a:lnTo>
                  <a:pt x="1891429" y="1756221"/>
                </a:lnTo>
                <a:lnTo>
                  <a:pt x="1887947" y="1739808"/>
                </a:lnTo>
                <a:lnTo>
                  <a:pt x="1884198" y="1723395"/>
                </a:lnTo>
                <a:lnTo>
                  <a:pt x="1880180" y="1706982"/>
                </a:lnTo>
                <a:lnTo>
                  <a:pt x="1875895" y="1690568"/>
                </a:lnTo>
                <a:lnTo>
                  <a:pt x="1871342" y="1674155"/>
                </a:lnTo>
                <a:lnTo>
                  <a:pt x="1866521" y="1657742"/>
                </a:lnTo>
                <a:lnTo>
                  <a:pt x="1861432" y="1641328"/>
                </a:lnTo>
                <a:lnTo>
                  <a:pt x="1856075" y="1624915"/>
                </a:lnTo>
                <a:lnTo>
                  <a:pt x="1850451" y="1608502"/>
                </a:lnTo>
                <a:lnTo>
                  <a:pt x="1844559" y="1592089"/>
                </a:lnTo>
                <a:lnTo>
                  <a:pt x="1838398" y="1575675"/>
                </a:lnTo>
                <a:lnTo>
                  <a:pt x="1831970" y="1559262"/>
                </a:lnTo>
                <a:lnTo>
                  <a:pt x="1825275" y="1542849"/>
                </a:lnTo>
                <a:lnTo>
                  <a:pt x="1818311" y="1526435"/>
                </a:lnTo>
                <a:lnTo>
                  <a:pt x="1811080" y="1510022"/>
                </a:lnTo>
                <a:lnTo>
                  <a:pt x="1803580" y="1493609"/>
                </a:lnTo>
                <a:lnTo>
                  <a:pt x="1795813" y="1477195"/>
                </a:lnTo>
                <a:lnTo>
                  <a:pt x="1787778" y="1460782"/>
                </a:lnTo>
                <a:lnTo>
                  <a:pt x="1779475" y="1444369"/>
                </a:lnTo>
                <a:lnTo>
                  <a:pt x="1770905" y="1427956"/>
                </a:lnTo>
                <a:lnTo>
                  <a:pt x="1762066" y="1411542"/>
                </a:lnTo>
                <a:lnTo>
                  <a:pt x="1752960" y="1395129"/>
                </a:lnTo>
                <a:lnTo>
                  <a:pt x="1743586" y="1378716"/>
                </a:lnTo>
                <a:lnTo>
                  <a:pt x="1733944" y="1362302"/>
                </a:lnTo>
                <a:lnTo>
                  <a:pt x="1724034" y="1345889"/>
                </a:lnTo>
                <a:lnTo>
                  <a:pt x="1713857" y="1329476"/>
                </a:lnTo>
                <a:lnTo>
                  <a:pt x="1703411" y="1313063"/>
                </a:lnTo>
                <a:lnTo>
                  <a:pt x="1692698" y="1296649"/>
                </a:lnTo>
                <a:lnTo>
                  <a:pt x="1681717" y="1280236"/>
                </a:lnTo>
                <a:lnTo>
                  <a:pt x="1670468" y="1263823"/>
                </a:lnTo>
                <a:lnTo>
                  <a:pt x="1658951" y="1247409"/>
                </a:lnTo>
                <a:lnTo>
                  <a:pt x="1647166" y="1230996"/>
                </a:lnTo>
                <a:lnTo>
                  <a:pt x="1635114" y="1214583"/>
                </a:lnTo>
                <a:lnTo>
                  <a:pt x="1622794" y="1198170"/>
                </a:lnTo>
                <a:lnTo>
                  <a:pt x="1610206" y="1181756"/>
                </a:lnTo>
                <a:lnTo>
                  <a:pt x="1597350" y="1165343"/>
                </a:lnTo>
                <a:lnTo>
                  <a:pt x="1584226" y="1148930"/>
                </a:lnTo>
                <a:lnTo>
                  <a:pt x="1570834" y="1132516"/>
                </a:lnTo>
                <a:lnTo>
                  <a:pt x="1557175" y="1116103"/>
                </a:lnTo>
                <a:lnTo>
                  <a:pt x="1543248" y="1099690"/>
                </a:lnTo>
                <a:lnTo>
                  <a:pt x="1529053" y="1083277"/>
                </a:lnTo>
                <a:lnTo>
                  <a:pt x="1514590" y="1066863"/>
                </a:lnTo>
                <a:lnTo>
                  <a:pt x="1499859" y="1050450"/>
                </a:lnTo>
                <a:lnTo>
                  <a:pt x="1484860" y="1034037"/>
                </a:lnTo>
                <a:lnTo>
                  <a:pt x="1469594" y="1017623"/>
                </a:lnTo>
                <a:lnTo>
                  <a:pt x="1454060" y="1001210"/>
                </a:lnTo>
                <a:lnTo>
                  <a:pt x="1438258" y="984797"/>
                </a:lnTo>
                <a:lnTo>
                  <a:pt x="1422188" y="968384"/>
                </a:lnTo>
                <a:lnTo>
                  <a:pt x="1405850" y="951970"/>
                </a:lnTo>
                <a:lnTo>
                  <a:pt x="1389244" y="935557"/>
                </a:lnTo>
                <a:lnTo>
                  <a:pt x="1372371" y="919144"/>
                </a:lnTo>
                <a:lnTo>
                  <a:pt x="1355230" y="902730"/>
                </a:lnTo>
                <a:lnTo>
                  <a:pt x="1337821" y="886317"/>
                </a:lnTo>
                <a:lnTo>
                  <a:pt x="1320144" y="869904"/>
                </a:lnTo>
                <a:lnTo>
                  <a:pt x="1302199" y="853491"/>
                </a:lnTo>
                <a:lnTo>
                  <a:pt x="1283986" y="837077"/>
                </a:lnTo>
                <a:lnTo>
                  <a:pt x="1265506" y="820664"/>
                </a:lnTo>
                <a:lnTo>
                  <a:pt x="1246758" y="804251"/>
                </a:lnTo>
                <a:lnTo>
                  <a:pt x="1227742" y="787837"/>
                </a:lnTo>
                <a:lnTo>
                  <a:pt x="1208458" y="771424"/>
                </a:lnTo>
                <a:lnTo>
                  <a:pt x="1188906" y="755011"/>
                </a:lnTo>
                <a:lnTo>
                  <a:pt x="1169086" y="738597"/>
                </a:lnTo>
                <a:lnTo>
                  <a:pt x="1148999" y="722184"/>
                </a:lnTo>
                <a:lnTo>
                  <a:pt x="1128644" y="705771"/>
                </a:lnTo>
                <a:lnTo>
                  <a:pt x="1108021" y="689358"/>
                </a:lnTo>
                <a:lnTo>
                  <a:pt x="1087130" y="672944"/>
                </a:lnTo>
                <a:lnTo>
                  <a:pt x="1065971" y="656531"/>
                </a:lnTo>
                <a:lnTo>
                  <a:pt x="1044545" y="640118"/>
                </a:lnTo>
                <a:lnTo>
                  <a:pt x="1022850" y="623704"/>
                </a:lnTo>
                <a:lnTo>
                  <a:pt x="1000888" y="607291"/>
                </a:lnTo>
                <a:lnTo>
                  <a:pt x="978658" y="590878"/>
                </a:lnTo>
                <a:lnTo>
                  <a:pt x="956160" y="574465"/>
                </a:lnTo>
                <a:lnTo>
                  <a:pt x="933394" y="558051"/>
                </a:lnTo>
                <a:lnTo>
                  <a:pt x="910361" y="541638"/>
                </a:lnTo>
                <a:lnTo>
                  <a:pt x="887059" y="525225"/>
                </a:lnTo>
                <a:lnTo>
                  <a:pt x="863490" y="508811"/>
                </a:lnTo>
                <a:lnTo>
                  <a:pt x="839653" y="492398"/>
                </a:lnTo>
                <a:lnTo>
                  <a:pt x="815548" y="475985"/>
                </a:lnTo>
                <a:lnTo>
                  <a:pt x="791176" y="459572"/>
                </a:lnTo>
                <a:lnTo>
                  <a:pt x="766535" y="443158"/>
                </a:lnTo>
                <a:lnTo>
                  <a:pt x="741627" y="426745"/>
                </a:lnTo>
                <a:lnTo>
                  <a:pt x="716451" y="410332"/>
                </a:lnTo>
                <a:lnTo>
                  <a:pt x="691007" y="393918"/>
                </a:lnTo>
                <a:lnTo>
                  <a:pt x="665295" y="377505"/>
                </a:lnTo>
                <a:lnTo>
                  <a:pt x="639315" y="361092"/>
                </a:lnTo>
                <a:lnTo>
                  <a:pt x="613067" y="344679"/>
                </a:lnTo>
                <a:lnTo>
                  <a:pt x="586552" y="328265"/>
                </a:lnTo>
                <a:lnTo>
                  <a:pt x="559769" y="311852"/>
                </a:lnTo>
                <a:lnTo>
                  <a:pt x="532718" y="295439"/>
                </a:lnTo>
                <a:lnTo>
                  <a:pt x="505399" y="279025"/>
                </a:lnTo>
                <a:lnTo>
                  <a:pt x="477812" y="262612"/>
                </a:lnTo>
                <a:lnTo>
                  <a:pt x="449958" y="246199"/>
                </a:lnTo>
                <a:lnTo>
                  <a:pt x="421835" y="229786"/>
                </a:lnTo>
                <a:lnTo>
                  <a:pt x="393445" y="213372"/>
                </a:lnTo>
                <a:lnTo>
                  <a:pt x="364787" y="196959"/>
                </a:lnTo>
                <a:lnTo>
                  <a:pt x="335861" y="180546"/>
                </a:lnTo>
                <a:lnTo>
                  <a:pt x="306668" y="164132"/>
                </a:lnTo>
                <a:lnTo>
                  <a:pt x="277206" y="147719"/>
                </a:lnTo>
                <a:lnTo>
                  <a:pt x="247477" y="131306"/>
                </a:lnTo>
                <a:lnTo>
                  <a:pt x="217480" y="114893"/>
                </a:lnTo>
                <a:lnTo>
                  <a:pt x="187215" y="98479"/>
                </a:lnTo>
                <a:lnTo>
                  <a:pt x="156682" y="82066"/>
                </a:lnTo>
                <a:lnTo>
                  <a:pt x="125881" y="65653"/>
                </a:lnTo>
                <a:lnTo>
                  <a:pt x="94813" y="49239"/>
                </a:lnTo>
                <a:lnTo>
                  <a:pt x="63476" y="32826"/>
                </a:lnTo>
                <a:lnTo>
                  <a:pt x="31872" y="16413"/>
                </a:lnTo>
                <a:lnTo>
                  <a:pt x="0" y="0"/>
                </a:lnTo>
              </a:path>
            </a:pathLst>
          </a:custGeom>
          <a:noFill/>
          <a:ln w="27940">
            <a:solidFill>
              <a:srgbClr val="0EA5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1" name="Freeform 26"/>
          <p:cNvSpPr/>
          <p:nvPr/>
        </p:nvSpPr>
        <p:spPr>
          <a:xfrm>
            <a:off x="10989591" y="2025048"/>
            <a:ext cx="674019" cy="3393119"/>
          </a:xfrm>
          <a:custGeom>
            <a:avLst/>
            <a:gdLst/>
            <a:ahLst/>
            <a:cxnLst/>
            <a:rect l="l" t="t" r="r" b="b"/>
            <a:pathLst>
              <a:path w="674019" h="3393119">
                <a:moveTo>
                  <a:pt x="674019" y="3393119"/>
                </a:moveTo>
                <a:lnTo>
                  <a:pt x="654353" y="3362170"/>
                </a:lnTo>
                <a:lnTo>
                  <a:pt x="635046" y="3331577"/>
                </a:lnTo>
                <a:lnTo>
                  <a:pt x="616096" y="3301333"/>
                </a:lnTo>
                <a:lnTo>
                  <a:pt x="597497" y="3271431"/>
                </a:lnTo>
                <a:lnTo>
                  <a:pt x="579246" y="3241866"/>
                </a:lnTo>
                <a:lnTo>
                  <a:pt x="561339" y="3212630"/>
                </a:lnTo>
                <a:lnTo>
                  <a:pt x="543772" y="3183718"/>
                </a:lnTo>
                <a:lnTo>
                  <a:pt x="526542" y="3155124"/>
                </a:lnTo>
                <a:lnTo>
                  <a:pt x="509644" y="3126841"/>
                </a:lnTo>
                <a:lnTo>
                  <a:pt x="493075" y="3098864"/>
                </a:lnTo>
                <a:lnTo>
                  <a:pt x="476832" y="3071186"/>
                </a:lnTo>
                <a:lnTo>
                  <a:pt x="460911" y="3043801"/>
                </a:lnTo>
                <a:lnTo>
                  <a:pt x="445308" y="3016705"/>
                </a:lnTo>
                <a:lnTo>
                  <a:pt x="430021" y="2989890"/>
                </a:lnTo>
                <a:lnTo>
                  <a:pt x="415046" y="2963351"/>
                </a:lnTo>
                <a:lnTo>
                  <a:pt x="400380" y="2937082"/>
                </a:lnTo>
                <a:lnTo>
                  <a:pt x="386020" y="2911079"/>
                </a:lnTo>
                <a:lnTo>
                  <a:pt x="371962" y="2885335"/>
                </a:lnTo>
                <a:lnTo>
                  <a:pt x="358204" y="2859844"/>
                </a:lnTo>
                <a:lnTo>
                  <a:pt x="344743" y="2834602"/>
                </a:lnTo>
                <a:lnTo>
                  <a:pt x="331576" y="2809603"/>
                </a:lnTo>
                <a:lnTo>
                  <a:pt x="318700" y="2784842"/>
                </a:lnTo>
                <a:lnTo>
                  <a:pt x="306112" y="2760313"/>
                </a:lnTo>
                <a:lnTo>
                  <a:pt x="293809" y="2736011"/>
                </a:lnTo>
                <a:lnTo>
                  <a:pt x="281790" y="2711931"/>
                </a:lnTo>
                <a:lnTo>
                  <a:pt x="270051" y="2688068"/>
                </a:lnTo>
                <a:lnTo>
                  <a:pt x="258590" y="2664416"/>
                </a:lnTo>
                <a:lnTo>
                  <a:pt x="247405" y="2640971"/>
                </a:lnTo>
                <a:lnTo>
                  <a:pt x="236492" y="2617728"/>
                </a:lnTo>
                <a:lnTo>
                  <a:pt x="225851" y="2594682"/>
                </a:lnTo>
                <a:lnTo>
                  <a:pt x="215477" y="2571827"/>
                </a:lnTo>
                <a:lnTo>
                  <a:pt x="205371" y="2549159"/>
                </a:lnTo>
                <a:lnTo>
                  <a:pt x="195528" y="2526673"/>
                </a:lnTo>
                <a:lnTo>
                  <a:pt x="185947" y="2504365"/>
                </a:lnTo>
                <a:lnTo>
                  <a:pt x="176626" y="2482229"/>
                </a:lnTo>
                <a:lnTo>
                  <a:pt x="167564" y="2460260"/>
                </a:lnTo>
                <a:lnTo>
                  <a:pt x="158757" y="2438455"/>
                </a:lnTo>
                <a:lnTo>
                  <a:pt x="150204" y="2416808"/>
                </a:lnTo>
                <a:lnTo>
                  <a:pt x="141904" y="2395315"/>
                </a:lnTo>
                <a:lnTo>
                  <a:pt x="133854" y="2373971"/>
                </a:lnTo>
                <a:lnTo>
                  <a:pt x="126054" y="2352772"/>
                </a:lnTo>
                <a:lnTo>
                  <a:pt x="118500" y="2331712"/>
                </a:lnTo>
                <a:lnTo>
                  <a:pt x="111192" y="2310789"/>
                </a:lnTo>
                <a:lnTo>
                  <a:pt x="104128" y="2289996"/>
                </a:lnTo>
                <a:lnTo>
                  <a:pt x="97306" y="2269331"/>
                </a:lnTo>
                <a:lnTo>
                  <a:pt x="90726" y="2248787"/>
                </a:lnTo>
                <a:lnTo>
                  <a:pt x="84385" y="2228362"/>
                </a:lnTo>
                <a:lnTo>
                  <a:pt x="78283" y="2208050"/>
                </a:lnTo>
                <a:lnTo>
                  <a:pt x="72417" y="2187847"/>
                </a:lnTo>
                <a:lnTo>
                  <a:pt x="66787" y="2167749"/>
                </a:lnTo>
                <a:lnTo>
                  <a:pt x="61392" y="2147752"/>
                </a:lnTo>
                <a:lnTo>
                  <a:pt x="56230" y="2127851"/>
                </a:lnTo>
                <a:lnTo>
                  <a:pt x="51300" y="2108042"/>
                </a:lnTo>
                <a:lnTo>
                  <a:pt x="46602" y="2088321"/>
                </a:lnTo>
                <a:lnTo>
                  <a:pt x="42134" y="2068683"/>
                </a:lnTo>
                <a:lnTo>
                  <a:pt x="37895" y="2049126"/>
                </a:lnTo>
                <a:lnTo>
                  <a:pt x="33884" y="2029643"/>
                </a:lnTo>
                <a:lnTo>
                  <a:pt x="30101" y="2010231"/>
                </a:lnTo>
                <a:lnTo>
                  <a:pt x="26545" y="1990887"/>
                </a:lnTo>
                <a:lnTo>
                  <a:pt x="23214" y="1971605"/>
                </a:lnTo>
                <a:lnTo>
                  <a:pt x="20109" y="1952382"/>
                </a:lnTo>
                <a:lnTo>
                  <a:pt x="17228" y="1933214"/>
                </a:lnTo>
                <a:lnTo>
                  <a:pt x="14572" y="1914096"/>
                </a:lnTo>
                <a:lnTo>
                  <a:pt x="12138" y="1895025"/>
                </a:lnTo>
                <a:lnTo>
                  <a:pt x="9928" y="1875996"/>
                </a:lnTo>
                <a:lnTo>
                  <a:pt x="7940" y="1857005"/>
                </a:lnTo>
                <a:lnTo>
                  <a:pt x="6174" y="1838048"/>
                </a:lnTo>
                <a:lnTo>
                  <a:pt x="4629" y="1819122"/>
                </a:lnTo>
                <a:lnTo>
                  <a:pt x="3306" y="1800222"/>
                </a:lnTo>
                <a:lnTo>
                  <a:pt x="2203" y="1781344"/>
                </a:lnTo>
                <a:lnTo>
                  <a:pt x="1322" y="1762484"/>
                </a:lnTo>
                <a:lnTo>
                  <a:pt x="661" y="1743639"/>
                </a:lnTo>
                <a:lnTo>
                  <a:pt x="220" y="1724803"/>
                </a:lnTo>
                <a:lnTo>
                  <a:pt x="0" y="1705973"/>
                </a:lnTo>
                <a:lnTo>
                  <a:pt x="0" y="1687146"/>
                </a:lnTo>
                <a:lnTo>
                  <a:pt x="220" y="1668316"/>
                </a:lnTo>
                <a:lnTo>
                  <a:pt x="661" y="1649480"/>
                </a:lnTo>
                <a:lnTo>
                  <a:pt x="1322" y="1630635"/>
                </a:lnTo>
                <a:lnTo>
                  <a:pt x="2203" y="1611775"/>
                </a:lnTo>
                <a:lnTo>
                  <a:pt x="3306" y="1592897"/>
                </a:lnTo>
                <a:lnTo>
                  <a:pt x="4629" y="1573997"/>
                </a:lnTo>
                <a:lnTo>
                  <a:pt x="6174" y="1555071"/>
                </a:lnTo>
                <a:lnTo>
                  <a:pt x="7940" y="1536114"/>
                </a:lnTo>
                <a:lnTo>
                  <a:pt x="9928" y="1517123"/>
                </a:lnTo>
                <a:lnTo>
                  <a:pt x="12138" y="1498094"/>
                </a:lnTo>
                <a:lnTo>
                  <a:pt x="14572" y="1479023"/>
                </a:lnTo>
                <a:lnTo>
                  <a:pt x="17228" y="1459905"/>
                </a:lnTo>
                <a:lnTo>
                  <a:pt x="20109" y="1440737"/>
                </a:lnTo>
                <a:lnTo>
                  <a:pt x="23214" y="1421514"/>
                </a:lnTo>
                <a:lnTo>
                  <a:pt x="26545" y="1402232"/>
                </a:lnTo>
                <a:lnTo>
                  <a:pt x="30101" y="1382888"/>
                </a:lnTo>
                <a:lnTo>
                  <a:pt x="33884" y="1363476"/>
                </a:lnTo>
                <a:lnTo>
                  <a:pt x="37895" y="1343993"/>
                </a:lnTo>
                <a:lnTo>
                  <a:pt x="42134" y="1324436"/>
                </a:lnTo>
                <a:lnTo>
                  <a:pt x="46602" y="1304798"/>
                </a:lnTo>
                <a:lnTo>
                  <a:pt x="51300" y="1285077"/>
                </a:lnTo>
                <a:lnTo>
                  <a:pt x="56230" y="1265268"/>
                </a:lnTo>
                <a:lnTo>
                  <a:pt x="61392" y="1245367"/>
                </a:lnTo>
                <a:lnTo>
                  <a:pt x="66787" y="1225370"/>
                </a:lnTo>
                <a:lnTo>
                  <a:pt x="72417" y="1205272"/>
                </a:lnTo>
                <a:lnTo>
                  <a:pt x="78283" y="1185069"/>
                </a:lnTo>
                <a:lnTo>
                  <a:pt x="84385" y="1164757"/>
                </a:lnTo>
                <a:lnTo>
                  <a:pt x="90726" y="1144332"/>
                </a:lnTo>
                <a:lnTo>
                  <a:pt x="97306" y="1123788"/>
                </a:lnTo>
                <a:lnTo>
                  <a:pt x="104128" y="1103123"/>
                </a:lnTo>
                <a:lnTo>
                  <a:pt x="111192" y="1082330"/>
                </a:lnTo>
                <a:lnTo>
                  <a:pt x="118500" y="1061407"/>
                </a:lnTo>
                <a:lnTo>
                  <a:pt x="126054" y="1040347"/>
                </a:lnTo>
                <a:lnTo>
                  <a:pt x="133854" y="1019148"/>
                </a:lnTo>
                <a:lnTo>
                  <a:pt x="141904" y="997804"/>
                </a:lnTo>
                <a:lnTo>
                  <a:pt x="150204" y="976311"/>
                </a:lnTo>
                <a:lnTo>
                  <a:pt x="158757" y="954664"/>
                </a:lnTo>
                <a:lnTo>
                  <a:pt x="167564" y="932859"/>
                </a:lnTo>
                <a:lnTo>
                  <a:pt x="176626" y="910890"/>
                </a:lnTo>
                <a:lnTo>
                  <a:pt x="185947" y="888754"/>
                </a:lnTo>
                <a:lnTo>
                  <a:pt x="195528" y="866446"/>
                </a:lnTo>
                <a:lnTo>
                  <a:pt x="205371" y="843960"/>
                </a:lnTo>
                <a:lnTo>
                  <a:pt x="215477" y="821292"/>
                </a:lnTo>
                <a:lnTo>
                  <a:pt x="225851" y="798437"/>
                </a:lnTo>
                <a:lnTo>
                  <a:pt x="236492" y="775391"/>
                </a:lnTo>
                <a:lnTo>
                  <a:pt x="247405" y="752148"/>
                </a:lnTo>
                <a:lnTo>
                  <a:pt x="258590" y="728703"/>
                </a:lnTo>
                <a:lnTo>
                  <a:pt x="270051" y="705051"/>
                </a:lnTo>
                <a:lnTo>
                  <a:pt x="281790" y="681188"/>
                </a:lnTo>
                <a:lnTo>
                  <a:pt x="293809" y="657108"/>
                </a:lnTo>
                <a:lnTo>
                  <a:pt x="306112" y="632806"/>
                </a:lnTo>
                <a:lnTo>
                  <a:pt x="318700" y="608277"/>
                </a:lnTo>
                <a:lnTo>
                  <a:pt x="331576" y="583516"/>
                </a:lnTo>
                <a:lnTo>
                  <a:pt x="344743" y="558517"/>
                </a:lnTo>
                <a:lnTo>
                  <a:pt x="358204" y="533275"/>
                </a:lnTo>
                <a:lnTo>
                  <a:pt x="371962" y="507784"/>
                </a:lnTo>
                <a:lnTo>
                  <a:pt x="386020" y="482040"/>
                </a:lnTo>
                <a:lnTo>
                  <a:pt x="400380" y="456037"/>
                </a:lnTo>
                <a:lnTo>
                  <a:pt x="415046" y="429768"/>
                </a:lnTo>
                <a:lnTo>
                  <a:pt x="430021" y="403229"/>
                </a:lnTo>
                <a:lnTo>
                  <a:pt x="445308" y="376414"/>
                </a:lnTo>
                <a:lnTo>
                  <a:pt x="460911" y="349318"/>
                </a:lnTo>
                <a:lnTo>
                  <a:pt x="476832" y="321933"/>
                </a:lnTo>
                <a:lnTo>
                  <a:pt x="493075" y="294255"/>
                </a:lnTo>
                <a:lnTo>
                  <a:pt x="509644" y="266278"/>
                </a:lnTo>
                <a:lnTo>
                  <a:pt x="526542" y="237995"/>
                </a:lnTo>
                <a:lnTo>
                  <a:pt x="543772" y="209401"/>
                </a:lnTo>
                <a:lnTo>
                  <a:pt x="561339" y="180489"/>
                </a:lnTo>
                <a:lnTo>
                  <a:pt x="579246" y="151253"/>
                </a:lnTo>
                <a:lnTo>
                  <a:pt x="597497" y="121688"/>
                </a:lnTo>
                <a:lnTo>
                  <a:pt x="616096" y="91786"/>
                </a:lnTo>
                <a:lnTo>
                  <a:pt x="635046" y="61542"/>
                </a:lnTo>
                <a:lnTo>
                  <a:pt x="654353" y="30949"/>
                </a:lnTo>
                <a:lnTo>
                  <a:pt x="674019" y="0"/>
                </a:lnTo>
              </a:path>
            </a:pathLst>
          </a:custGeom>
          <a:noFill/>
          <a:ln w="27940">
            <a:solidFill>
              <a:srgbClr val="E08A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2" name="Freeform 27"/>
          <p:cNvSpPr/>
          <p:nvPr/>
        </p:nvSpPr>
        <p:spPr>
          <a:xfrm>
            <a:off x="8081444" y="1763844"/>
            <a:ext cx="844830" cy="3915527"/>
          </a:xfrm>
          <a:custGeom>
            <a:avLst/>
            <a:gdLst/>
            <a:ahLst/>
            <a:cxnLst/>
            <a:rect l="l" t="t" r="r" b="b"/>
            <a:pathLst>
              <a:path w="844830" h="3915527">
                <a:moveTo>
                  <a:pt x="0" y="3915527"/>
                </a:moveTo>
                <a:lnTo>
                  <a:pt x="22704" y="3881489"/>
                </a:lnTo>
                <a:lnTo>
                  <a:pt x="45012" y="3847861"/>
                </a:lnTo>
                <a:lnTo>
                  <a:pt x="66930" y="3814637"/>
                </a:lnTo>
                <a:lnTo>
                  <a:pt x="88461" y="3781809"/>
                </a:lnTo>
                <a:lnTo>
                  <a:pt x="109610" y="3749370"/>
                </a:lnTo>
                <a:lnTo>
                  <a:pt x="130382" y="3717315"/>
                </a:lnTo>
                <a:lnTo>
                  <a:pt x="150781" y="3685634"/>
                </a:lnTo>
                <a:lnTo>
                  <a:pt x="170811" y="3654323"/>
                </a:lnTo>
                <a:lnTo>
                  <a:pt x="190478" y="3623374"/>
                </a:lnTo>
                <a:lnTo>
                  <a:pt x="209784" y="3592781"/>
                </a:lnTo>
                <a:lnTo>
                  <a:pt x="228735" y="3562537"/>
                </a:lnTo>
                <a:lnTo>
                  <a:pt x="247333" y="3532635"/>
                </a:lnTo>
                <a:lnTo>
                  <a:pt x="265584" y="3503070"/>
                </a:lnTo>
                <a:lnTo>
                  <a:pt x="283491" y="3473834"/>
                </a:lnTo>
                <a:lnTo>
                  <a:pt x="301058" y="3444922"/>
                </a:lnTo>
                <a:lnTo>
                  <a:pt x="318289" y="3416328"/>
                </a:lnTo>
                <a:lnTo>
                  <a:pt x="335187" y="3388045"/>
                </a:lnTo>
                <a:lnTo>
                  <a:pt x="351755" y="3360068"/>
                </a:lnTo>
                <a:lnTo>
                  <a:pt x="367998" y="3332390"/>
                </a:lnTo>
                <a:lnTo>
                  <a:pt x="383920" y="3305005"/>
                </a:lnTo>
                <a:lnTo>
                  <a:pt x="399522" y="3277909"/>
                </a:lnTo>
                <a:lnTo>
                  <a:pt x="414809" y="3251094"/>
                </a:lnTo>
                <a:lnTo>
                  <a:pt x="429784" y="3224555"/>
                </a:lnTo>
                <a:lnTo>
                  <a:pt x="444450" y="3198286"/>
                </a:lnTo>
                <a:lnTo>
                  <a:pt x="458810" y="3172283"/>
                </a:lnTo>
                <a:lnTo>
                  <a:pt x="472868" y="3146539"/>
                </a:lnTo>
                <a:lnTo>
                  <a:pt x="486626" y="3121048"/>
                </a:lnTo>
                <a:lnTo>
                  <a:pt x="500087" y="3095806"/>
                </a:lnTo>
                <a:lnTo>
                  <a:pt x="513255" y="3070807"/>
                </a:lnTo>
                <a:lnTo>
                  <a:pt x="526131" y="3046046"/>
                </a:lnTo>
                <a:lnTo>
                  <a:pt x="538719" y="3021517"/>
                </a:lnTo>
                <a:lnTo>
                  <a:pt x="551021" y="2997215"/>
                </a:lnTo>
                <a:lnTo>
                  <a:pt x="563041" y="2973135"/>
                </a:lnTo>
                <a:lnTo>
                  <a:pt x="574779" y="2949272"/>
                </a:lnTo>
                <a:lnTo>
                  <a:pt x="586240" y="2925620"/>
                </a:lnTo>
                <a:lnTo>
                  <a:pt x="597426" y="2902175"/>
                </a:lnTo>
                <a:lnTo>
                  <a:pt x="608338" y="2878932"/>
                </a:lnTo>
                <a:lnTo>
                  <a:pt x="618980" y="2855886"/>
                </a:lnTo>
                <a:lnTo>
                  <a:pt x="629353" y="2833031"/>
                </a:lnTo>
                <a:lnTo>
                  <a:pt x="639460" y="2810363"/>
                </a:lnTo>
                <a:lnTo>
                  <a:pt x="649303" y="2787877"/>
                </a:lnTo>
                <a:lnTo>
                  <a:pt x="658883" y="2765569"/>
                </a:lnTo>
                <a:lnTo>
                  <a:pt x="668204" y="2743433"/>
                </a:lnTo>
                <a:lnTo>
                  <a:pt x="677267" y="2721464"/>
                </a:lnTo>
                <a:lnTo>
                  <a:pt x="686074" y="2699659"/>
                </a:lnTo>
                <a:lnTo>
                  <a:pt x="694626" y="2678012"/>
                </a:lnTo>
                <a:lnTo>
                  <a:pt x="702926" y="2656519"/>
                </a:lnTo>
                <a:lnTo>
                  <a:pt x="710976" y="2635175"/>
                </a:lnTo>
                <a:lnTo>
                  <a:pt x="718777" y="2613976"/>
                </a:lnTo>
                <a:lnTo>
                  <a:pt x="726330" y="2592916"/>
                </a:lnTo>
                <a:lnTo>
                  <a:pt x="733638" y="2571993"/>
                </a:lnTo>
                <a:lnTo>
                  <a:pt x="740703" y="2551200"/>
                </a:lnTo>
                <a:lnTo>
                  <a:pt x="747524" y="2530535"/>
                </a:lnTo>
                <a:lnTo>
                  <a:pt x="754105" y="2509991"/>
                </a:lnTo>
                <a:lnTo>
                  <a:pt x="760445" y="2489566"/>
                </a:lnTo>
                <a:lnTo>
                  <a:pt x="766548" y="2469254"/>
                </a:lnTo>
                <a:lnTo>
                  <a:pt x="772414" y="2449051"/>
                </a:lnTo>
                <a:lnTo>
                  <a:pt x="778043" y="2428953"/>
                </a:lnTo>
                <a:lnTo>
                  <a:pt x="783439" y="2408956"/>
                </a:lnTo>
                <a:lnTo>
                  <a:pt x="788601" y="2389055"/>
                </a:lnTo>
                <a:lnTo>
                  <a:pt x="793530" y="2369246"/>
                </a:lnTo>
                <a:lnTo>
                  <a:pt x="798229" y="2349525"/>
                </a:lnTo>
                <a:lnTo>
                  <a:pt x="802697" y="2329887"/>
                </a:lnTo>
                <a:lnTo>
                  <a:pt x="806936" y="2310330"/>
                </a:lnTo>
                <a:lnTo>
                  <a:pt x="810946" y="2290847"/>
                </a:lnTo>
                <a:lnTo>
                  <a:pt x="814730" y="2271435"/>
                </a:lnTo>
                <a:lnTo>
                  <a:pt x="818286" y="2252091"/>
                </a:lnTo>
                <a:lnTo>
                  <a:pt x="821616" y="2232809"/>
                </a:lnTo>
                <a:lnTo>
                  <a:pt x="824722" y="2213586"/>
                </a:lnTo>
                <a:lnTo>
                  <a:pt x="827602" y="2194418"/>
                </a:lnTo>
                <a:lnTo>
                  <a:pt x="830259" y="2175300"/>
                </a:lnTo>
                <a:lnTo>
                  <a:pt x="832692" y="2156229"/>
                </a:lnTo>
                <a:lnTo>
                  <a:pt x="834903" y="2137200"/>
                </a:lnTo>
                <a:lnTo>
                  <a:pt x="836891" y="2118209"/>
                </a:lnTo>
                <a:lnTo>
                  <a:pt x="838657" y="2099252"/>
                </a:lnTo>
                <a:lnTo>
                  <a:pt x="840201" y="2080326"/>
                </a:lnTo>
                <a:lnTo>
                  <a:pt x="841525" y="2061426"/>
                </a:lnTo>
                <a:lnTo>
                  <a:pt x="842627" y="2042548"/>
                </a:lnTo>
                <a:lnTo>
                  <a:pt x="843509" y="2023688"/>
                </a:lnTo>
                <a:lnTo>
                  <a:pt x="844170" y="2004843"/>
                </a:lnTo>
                <a:lnTo>
                  <a:pt x="844610" y="1986007"/>
                </a:lnTo>
                <a:lnTo>
                  <a:pt x="844830" y="1967177"/>
                </a:lnTo>
                <a:lnTo>
                  <a:pt x="844830" y="1948350"/>
                </a:lnTo>
                <a:lnTo>
                  <a:pt x="844610" y="1929520"/>
                </a:lnTo>
                <a:lnTo>
                  <a:pt x="844170" y="1910684"/>
                </a:lnTo>
                <a:lnTo>
                  <a:pt x="843509" y="1891839"/>
                </a:lnTo>
                <a:lnTo>
                  <a:pt x="842627" y="1872979"/>
                </a:lnTo>
                <a:lnTo>
                  <a:pt x="841525" y="1854101"/>
                </a:lnTo>
                <a:lnTo>
                  <a:pt x="840201" y="1835201"/>
                </a:lnTo>
                <a:lnTo>
                  <a:pt x="838657" y="1816275"/>
                </a:lnTo>
                <a:lnTo>
                  <a:pt x="836891" y="1797318"/>
                </a:lnTo>
                <a:lnTo>
                  <a:pt x="834903" y="1778327"/>
                </a:lnTo>
                <a:lnTo>
                  <a:pt x="832692" y="1759298"/>
                </a:lnTo>
                <a:lnTo>
                  <a:pt x="830259" y="1740227"/>
                </a:lnTo>
                <a:lnTo>
                  <a:pt x="827602" y="1721109"/>
                </a:lnTo>
                <a:lnTo>
                  <a:pt x="824722" y="1701941"/>
                </a:lnTo>
                <a:lnTo>
                  <a:pt x="821616" y="1682718"/>
                </a:lnTo>
                <a:lnTo>
                  <a:pt x="818286" y="1663436"/>
                </a:lnTo>
                <a:lnTo>
                  <a:pt x="814730" y="1644092"/>
                </a:lnTo>
                <a:lnTo>
                  <a:pt x="810946" y="1624680"/>
                </a:lnTo>
                <a:lnTo>
                  <a:pt x="806936" y="1605197"/>
                </a:lnTo>
                <a:lnTo>
                  <a:pt x="802697" y="1585640"/>
                </a:lnTo>
                <a:lnTo>
                  <a:pt x="798229" y="1566002"/>
                </a:lnTo>
                <a:lnTo>
                  <a:pt x="793530" y="1546281"/>
                </a:lnTo>
                <a:lnTo>
                  <a:pt x="788601" y="1526472"/>
                </a:lnTo>
                <a:lnTo>
                  <a:pt x="783439" y="1506571"/>
                </a:lnTo>
                <a:lnTo>
                  <a:pt x="778043" y="1486574"/>
                </a:lnTo>
                <a:lnTo>
                  <a:pt x="772414" y="1466476"/>
                </a:lnTo>
                <a:lnTo>
                  <a:pt x="766548" y="1446273"/>
                </a:lnTo>
                <a:lnTo>
                  <a:pt x="760445" y="1425961"/>
                </a:lnTo>
                <a:lnTo>
                  <a:pt x="754105" y="1405536"/>
                </a:lnTo>
                <a:lnTo>
                  <a:pt x="747524" y="1384992"/>
                </a:lnTo>
                <a:lnTo>
                  <a:pt x="740703" y="1364327"/>
                </a:lnTo>
                <a:lnTo>
                  <a:pt x="733638" y="1343534"/>
                </a:lnTo>
                <a:lnTo>
                  <a:pt x="726330" y="1322611"/>
                </a:lnTo>
                <a:lnTo>
                  <a:pt x="718777" y="1301551"/>
                </a:lnTo>
                <a:lnTo>
                  <a:pt x="710976" y="1280352"/>
                </a:lnTo>
                <a:lnTo>
                  <a:pt x="702926" y="1259008"/>
                </a:lnTo>
                <a:lnTo>
                  <a:pt x="694626" y="1237515"/>
                </a:lnTo>
                <a:lnTo>
                  <a:pt x="686074" y="1215868"/>
                </a:lnTo>
                <a:lnTo>
                  <a:pt x="677267" y="1194063"/>
                </a:lnTo>
                <a:lnTo>
                  <a:pt x="668204" y="1172094"/>
                </a:lnTo>
                <a:lnTo>
                  <a:pt x="658883" y="1149958"/>
                </a:lnTo>
                <a:lnTo>
                  <a:pt x="649303" y="1127650"/>
                </a:lnTo>
                <a:lnTo>
                  <a:pt x="639460" y="1105164"/>
                </a:lnTo>
                <a:lnTo>
                  <a:pt x="629353" y="1082496"/>
                </a:lnTo>
                <a:lnTo>
                  <a:pt x="618980" y="1059641"/>
                </a:lnTo>
                <a:lnTo>
                  <a:pt x="608338" y="1036595"/>
                </a:lnTo>
                <a:lnTo>
                  <a:pt x="597426" y="1013352"/>
                </a:lnTo>
                <a:lnTo>
                  <a:pt x="586240" y="989907"/>
                </a:lnTo>
                <a:lnTo>
                  <a:pt x="574779" y="966255"/>
                </a:lnTo>
                <a:lnTo>
                  <a:pt x="563041" y="942392"/>
                </a:lnTo>
                <a:lnTo>
                  <a:pt x="551021" y="918312"/>
                </a:lnTo>
                <a:lnTo>
                  <a:pt x="538719" y="894010"/>
                </a:lnTo>
                <a:lnTo>
                  <a:pt x="526131" y="869481"/>
                </a:lnTo>
                <a:lnTo>
                  <a:pt x="513255" y="844720"/>
                </a:lnTo>
                <a:lnTo>
                  <a:pt x="500087" y="819721"/>
                </a:lnTo>
                <a:lnTo>
                  <a:pt x="486626" y="794479"/>
                </a:lnTo>
                <a:lnTo>
                  <a:pt x="472868" y="768988"/>
                </a:lnTo>
                <a:lnTo>
                  <a:pt x="458810" y="743244"/>
                </a:lnTo>
                <a:lnTo>
                  <a:pt x="444450" y="717241"/>
                </a:lnTo>
                <a:lnTo>
                  <a:pt x="429784" y="690972"/>
                </a:lnTo>
                <a:lnTo>
                  <a:pt x="414809" y="664433"/>
                </a:lnTo>
                <a:lnTo>
                  <a:pt x="399522" y="637618"/>
                </a:lnTo>
                <a:lnTo>
                  <a:pt x="383920" y="610522"/>
                </a:lnTo>
                <a:lnTo>
                  <a:pt x="367998" y="583137"/>
                </a:lnTo>
                <a:lnTo>
                  <a:pt x="351755" y="555459"/>
                </a:lnTo>
                <a:lnTo>
                  <a:pt x="335187" y="527482"/>
                </a:lnTo>
                <a:lnTo>
                  <a:pt x="318289" y="499199"/>
                </a:lnTo>
                <a:lnTo>
                  <a:pt x="301058" y="470605"/>
                </a:lnTo>
                <a:lnTo>
                  <a:pt x="283491" y="441693"/>
                </a:lnTo>
                <a:lnTo>
                  <a:pt x="265584" y="412457"/>
                </a:lnTo>
                <a:lnTo>
                  <a:pt x="247333" y="382892"/>
                </a:lnTo>
                <a:lnTo>
                  <a:pt x="228735" y="352990"/>
                </a:lnTo>
                <a:lnTo>
                  <a:pt x="209784" y="322746"/>
                </a:lnTo>
                <a:lnTo>
                  <a:pt x="190478" y="292153"/>
                </a:lnTo>
                <a:lnTo>
                  <a:pt x="170811" y="261204"/>
                </a:lnTo>
                <a:lnTo>
                  <a:pt x="150781" y="229893"/>
                </a:lnTo>
                <a:lnTo>
                  <a:pt x="130382" y="198212"/>
                </a:lnTo>
                <a:lnTo>
                  <a:pt x="109610" y="166157"/>
                </a:lnTo>
                <a:lnTo>
                  <a:pt x="88461" y="133718"/>
                </a:lnTo>
                <a:lnTo>
                  <a:pt x="66930" y="100890"/>
                </a:lnTo>
                <a:lnTo>
                  <a:pt x="45012" y="67666"/>
                </a:lnTo>
                <a:lnTo>
                  <a:pt x="22704" y="34038"/>
                </a:lnTo>
                <a:lnTo>
                  <a:pt x="0" y="0"/>
                </a:lnTo>
              </a:path>
            </a:pathLst>
          </a:custGeom>
          <a:noFill/>
          <a:ln w="27940">
            <a:solidFill>
              <a:srgbClr val="E08A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3" name="Oval 28"/>
          <p:cNvSpPr/>
          <p:nvPr/>
        </p:nvSpPr>
        <p:spPr>
          <a:xfrm>
            <a:off x="8257032" y="3671316"/>
            <a:ext cx="100584" cy="100584"/>
          </a:xfrm>
          <a:prstGeom prst="ellipse">
            <a:avLst/>
          </a:prstGeom>
          <a:solidFill>
            <a:srgbClr val="D93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54" name="TextBox 29"/>
          <p:cNvSpPr txBox="1"/>
          <p:nvPr/>
        </p:nvSpPr>
        <p:spPr>
          <a:xfrm>
            <a:off x="7438644" y="3410712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D93B3B"/>
                </a:solidFill>
                <a:latin typeface="微软雅黑"/>
                <a:ea typeface="微软雅黑"/>
              </a:rPr>
              <a:t>焦点 O</a:t>
            </a:r>
            <a:endParaRPr/>
          </a:p>
        </p:txBody>
      </p:sp>
      <p:sp>
        <p:nvSpPr>
          <p:cNvPr id="255" name="TextBox 30"/>
          <p:cNvSpPr txBox="1"/>
          <p:nvPr/>
        </p:nvSpPr>
        <p:spPr>
          <a:xfrm>
            <a:off x="6507099" y="2619756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2E6BE6"/>
                </a:solidFill>
                <a:latin typeface="微软雅黑"/>
                <a:ea typeface="微软雅黑"/>
              </a:rPr>
              <a:t>e = 0.6 椭圆</a:t>
            </a:r>
            <a:endParaRPr/>
          </a:p>
        </p:txBody>
      </p:sp>
      <p:sp>
        <p:nvSpPr>
          <p:cNvPr id="256" name="TextBox 31"/>
          <p:cNvSpPr txBox="1"/>
          <p:nvPr/>
        </p:nvSpPr>
        <p:spPr>
          <a:xfrm>
            <a:off x="9509760" y="2560320"/>
            <a:ext cx="164592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EA57A"/>
                </a:solidFill>
                <a:latin typeface="微软雅黑"/>
                <a:ea typeface="微软雅黑"/>
              </a:rPr>
              <a:t>e = 1 抛物线</a:t>
            </a:r>
            <a:endParaRPr/>
          </a:p>
        </p:txBody>
      </p:sp>
      <p:sp>
        <p:nvSpPr>
          <p:cNvPr id="257" name="TextBox 32"/>
          <p:cNvSpPr txBox="1"/>
          <p:nvPr/>
        </p:nvSpPr>
        <p:spPr>
          <a:xfrm>
            <a:off x="8750808" y="4896612"/>
            <a:ext cx="201168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E08A1E"/>
                </a:solidFill>
                <a:latin typeface="微软雅黑"/>
                <a:ea typeface="微软雅黑"/>
              </a:rPr>
              <a:t>e = 1.6 双曲线</a:t>
            </a:r>
            <a:endParaRPr/>
          </a:p>
        </p:txBody>
      </p:sp>
      <p:sp>
        <p:nvSpPr>
          <p:cNvPr id="258" name="Rounded Rectangle 33"/>
          <p:cNvSpPr/>
          <p:nvPr/>
        </p:nvSpPr>
        <p:spPr>
          <a:xfrm>
            <a:off x="6144768" y="5870448"/>
            <a:ext cx="5394960" cy="502920"/>
          </a:xfrm>
          <a:prstGeom prst="roundRect">
            <a:avLst>
              <a:gd name="adj" fmla="val 30000"/>
            </a:avLst>
          </a:prstGeom>
          <a:solidFill>
            <a:srgbClr val="F2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59" name="TextBox 34"/>
          <p:cNvSpPr txBox="1"/>
          <p:nvPr/>
        </p:nvSpPr>
        <p:spPr>
          <a:xfrm>
            <a:off x="6400800" y="5971032"/>
            <a:ext cx="4937760" cy="3291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B222E"/>
                </a:solidFill>
                <a:latin typeface="微软雅黑"/>
                <a:ea typeface="微软雅黑"/>
              </a:rPr>
              <a:t>同一焦点、同一条准线：e 一变，形状就换。</a:t>
            </a:r>
            <a:endParaRPr/>
          </a:p>
        </p:txBody>
      </p:sp>
      <p:sp>
        <p:nvSpPr>
          <p:cNvPr id="260" name="TextBox 35"/>
          <p:cNvSpPr txBox="1"/>
          <p:nvPr/>
        </p:nvSpPr>
        <p:spPr>
          <a:xfrm>
            <a:off x="822960" y="6428232"/>
            <a:ext cx="7315200" cy="2926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B7484"/>
                </a:solidFill>
                <a:latin typeface="微软雅黑"/>
                <a:ea typeface="微软雅黑"/>
              </a:rPr>
              <a:t>2026 · 新高考Ⅱ卷 · 第18题</a:t>
            </a:r>
            <a:endParaRPr/>
          </a:p>
        </p:txBody>
      </p:sp>
      <p:sp>
        <p:nvSpPr>
          <p:cNvPr id="261" name="TextBox 36"/>
          <p:cNvSpPr txBox="1"/>
          <p:nvPr/>
        </p:nvSpPr>
        <p:spPr>
          <a:xfrm>
            <a:off x="10607040" y="6428232"/>
            <a:ext cx="777240" cy="2926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E6BE6"/>
                </a:solidFill>
                <a:latin typeface="微软雅黑"/>
                <a:ea typeface="微软雅黑"/>
              </a:rPr>
              <a:t>07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spTree>
      <p:nvGrpSpPr>
        <p:cNvPr id="26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TextBox 1"/>
          <p:cNvSpPr txBox="1"/>
          <p:nvPr/>
        </p:nvSpPr>
        <p:spPr>
          <a:xfrm>
            <a:off x="822960" y="384048"/>
            <a:ext cx="10515600" cy="2926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2E6BE6"/>
                </a:solidFill>
                <a:latin typeface="微软雅黑"/>
                <a:ea typeface="微软雅黑"/>
              </a:rPr>
              <a:t>PART 03 · 平移模型</a:t>
            </a:r>
            <a:endParaRPr/>
          </a:p>
        </p:txBody>
      </p:sp>
      <p:sp>
        <p:nvSpPr>
          <p:cNvPr id="264" name="TextBox 2"/>
          <p:cNvSpPr txBox="1"/>
          <p:nvPr/>
        </p:nvSpPr>
        <p:spPr>
          <a:xfrm>
            <a:off x="822960" y="658368"/>
            <a:ext cx="10607040" cy="640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11223E"/>
                </a:solidFill>
                <a:latin typeface="微软雅黑"/>
                <a:ea typeface="微软雅黑"/>
              </a:rPr>
              <a:t>第（2）(ii) 问：中心点就是“配方”</a:t>
            </a:r>
            <a:endParaRPr/>
          </a:p>
        </p:txBody>
      </p:sp>
      <p:sp>
        <p:nvSpPr>
          <p:cNvPr id="265" name="Rectangle 3"/>
          <p:cNvSpPr/>
          <p:nvPr/>
        </p:nvSpPr>
        <p:spPr>
          <a:xfrm>
            <a:off x="841248" y="1335024"/>
            <a:ext cx="658368" cy="68580"/>
          </a:xfrm>
          <a:prstGeom prst="rect">
            <a:avLst/>
          </a:prstGeom>
          <a:solidFill>
            <a:srgbClr val="2E6B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66" name="TextBox 4"/>
          <p:cNvSpPr txBox="1"/>
          <p:nvPr/>
        </p:nvSpPr>
        <p:spPr>
          <a:xfrm>
            <a:off x="822960" y="1737360"/>
            <a:ext cx="5257800" cy="4114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2E6BE6"/>
                </a:solidFill>
                <a:latin typeface="微软雅黑"/>
                <a:ea typeface="微软雅黑"/>
              </a:rPr>
              <a:t>① 二次曲线的中心</a:t>
            </a:r>
            <a:endParaRPr/>
          </a:p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1100"/>
              </a:spcAft>
            </a:pPr>
            <a:r>
              <a:rPr sz="1350" b="0" i="0">
                <a:solidFill>
                  <a:srgbClr val="1B222E"/>
                </a:solidFill>
                <a:latin typeface="微软雅黑"/>
                <a:ea typeface="微软雅黑"/>
              </a:rPr>
              <a:t>Ax² + Cy² + Dx + F = 0 的中心满足一次项“消失”：x = −D/(2A)。</a:t>
            </a:r>
            <a:endParaRPr/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2E6BE6"/>
                </a:solidFill>
                <a:latin typeface="微软雅黑"/>
                <a:ea typeface="微软雅黑"/>
              </a:rPr>
              <a:t>② 代入本题</a:t>
            </a:r>
            <a:endParaRPr/>
          </a:p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1100"/>
              </a:spcAft>
            </a:pPr>
            <a:r>
              <a:rPr sz="1400" b="1" i="0">
                <a:solidFill>
                  <a:srgbClr val="11223E"/>
                </a:solidFill>
                <a:latin typeface="微软雅黑"/>
                <a:ea typeface="微软雅黑"/>
              </a:rPr>
              <a:t>A = t₀²/2 − 1，D = 2t₀　⟹　中心 C(2t₀/(2 − t₀²), 0)</a:t>
            </a:r>
            <a:endParaRPr/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E08A1E"/>
                </a:solidFill>
                <a:latin typeface="微软雅黑"/>
                <a:ea typeface="微软雅黑"/>
              </a:rPr>
              <a:t>③ 唯一的例外</a:t>
            </a:r>
            <a:endParaRPr/>
          </a:p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1100"/>
              </a:spcAft>
            </a:pPr>
            <a:r>
              <a:rPr sz="1350" b="0" i="0">
                <a:solidFill>
                  <a:srgbClr val="1B222E"/>
                </a:solidFill>
                <a:latin typeface="微软雅黑"/>
                <a:ea typeface="微软雅黑"/>
              </a:rPr>
              <a:t>A = 0 ⟺ t₀² = 2：x² 项消失，方程退化为 y² + t₀x − 1 = 0，是抛物线，没有中心点。</a:t>
            </a:r>
            <a:endParaRPr/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2E6BE6"/>
                </a:solidFill>
                <a:latin typeface="微软雅黑"/>
                <a:ea typeface="微软雅黑"/>
              </a:rPr>
              <a:t>④ 为什么可以平移</a:t>
            </a:r>
            <a:endParaRPr/>
          </a:p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1B222E"/>
                </a:solidFill>
                <a:latin typeface="微软雅黑"/>
                <a:ea typeface="微软雅黑"/>
              </a:rPr>
              <a:t>令 X = x − x_C，Y = y，新方程只含 X²、Y² 和常数 ⟹ 关于 O 中心对称；平移不改变形状和类型。</a:t>
            </a:r>
            <a:endParaRPr/>
          </a:p>
        </p:txBody>
      </p:sp>
      <p:sp>
        <p:nvSpPr>
          <p:cNvPr id="267" name="Rectangle 5"/>
          <p:cNvSpPr/>
          <p:nvPr/>
        </p:nvSpPr>
        <p:spPr>
          <a:xfrm>
            <a:off x="6263640" y="1783080"/>
            <a:ext cx="2697480" cy="2286000"/>
          </a:xfrm>
          <a:prstGeom prst="rect">
            <a:avLst/>
          </a:prstGeom>
          <a:noFill/>
          <a:ln w="12700">
            <a:solidFill>
              <a:srgbClr val="CFD7E3"/>
            </a:solidFill>
            <a:prstDash val="sysDot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68" name="Freeform 6"/>
          <p:cNvSpPr/>
          <p:nvPr/>
        </p:nvSpPr>
        <p:spPr>
          <a:xfrm>
            <a:off x="6263640" y="2926080"/>
            <a:ext cx="2697480" cy="0"/>
          </a:xfrm>
          <a:custGeom>
            <a:avLst/>
            <a:gdLst/>
            <a:ahLst/>
            <a:cxnLst/>
            <a:rect l="l" t="t" r="r" b="b"/>
            <a:pathLst>
              <a:path w="2697480" h="0">
                <a:moveTo>
                  <a:pt x="0" y="0"/>
                </a:moveTo>
                <a:lnTo>
                  <a:pt x="2697480" y="0"/>
                </a:lnTo>
              </a:path>
            </a:pathLst>
          </a:custGeom>
          <a:noFill/>
          <a:ln w="13970">
            <a:solidFill>
              <a:srgbClr val="CFD7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9" name="Freeform 7"/>
          <p:cNvSpPr/>
          <p:nvPr/>
        </p:nvSpPr>
        <p:spPr>
          <a:xfrm>
            <a:off x="8371046" y="2293858"/>
            <a:ext cx="0" cy="1264443"/>
          </a:xfrm>
          <a:custGeom>
            <a:avLst/>
            <a:gdLst/>
            <a:ahLst/>
            <a:cxnLst/>
            <a:rect l="l" t="t" r="r" b="b"/>
            <a:pathLst>
              <a:path w="0" h="1264443">
                <a:moveTo>
                  <a:pt x="0" y="1264443"/>
                </a:moveTo>
                <a:lnTo>
                  <a:pt x="0" y="0"/>
                </a:lnTo>
              </a:path>
            </a:pathLst>
          </a:custGeom>
          <a:noFill/>
          <a:ln w="13970">
            <a:solidFill>
              <a:srgbClr val="CFD7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0" name="Freeform 8"/>
          <p:cNvSpPr/>
          <p:nvPr/>
        </p:nvSpPr>
        <p:spPr>
          <a:xfrm>
            <a:off x="7528083" y="2900791"/>
            <a:ext cx="0" cy="50577"/>
          </a:xfrm>
          <a:custGeom>
            <a:avLst/>
            <a:gdLst/>
            <a:ahLst/>
            <a:cxnLst/>
            <a:rect l="l" t="t" r="r" b="b"/>
            <a:pathLst>
              <a:path w="0" h="50577">
                <a:moveTo>
                  <a:pt x="0" y="50577"/>
                </a:moveTo>
                <a:lnTo>
                  <a:pt x="0" y="0"/>
                </a:lnTo>
              </a:path>
            </a:pathLst>
          </a:custGeom>
          <a:noFill/>
          <a:ln w="12700">
            <a:solidFill>
              <a:srgbClr val="CFD7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1" name="TextBox 9"/>
          <p:cNvSpPr txBox="1"/>
          <p:nvPr/>
        </p:nvSpPr>
        <p:spPr>
          <a:xfrm>
            <a:off x="7253763" y="2971800"/>
            <a:ext cx="548640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B7484"/>
                </a:solidFill>
                <a:latin typeface="微软雅黑"/>
                <a:ea typeface="微软雅黑"/>
              </a:rPr>
              <a:t>-2</a:t>
            </a:r>
            <a:endParaRPr/>
          </a:p>
        </p:txBody>
      </p:sp>
      <p:sp>
        <p:nvSpPr>
          <p:cNvPr id="272" name="TextBox 10"/>
          <p:cNvSpPr txBox="1"/>
          <p:nvPr/>
        </p:nvSpPr>
        <p:spPr>
          <a:xfrm>
            <a:off x="8979408" y="2688336"/>
            <a:ext cx="128016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B7484"/>
                </a:solidFill>
                <a:latin typeface="微软雅黑"/>
                <a:ea typeface="微软雅黑"/>
              </a:rPr>
              <a:t>x</a:t>
            </a:r>
            <a:endParaRPr/>
          </a:p>
        </p:txBody>
      </p:sp>
      <p:sp>
        <p:nvSpPr>
          <p:cNvPr id="273" name="TextBox 11"/>
          <p:cNvSpPr txBox="1"/>
          <p:nvPr/>
        </p:nvSpPr>
        <p:spPr>
          <a:xfrm>
            <a:off x="8133302" y="2275570"/>
            <a:ext cx="128016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B7484"/>
                </a:solidFill>
                <a:latin typeface="微软雅黑"/>
                <a:ea typeface="微软雅黑"/>
              </a:rPr>
              <a:t>y</a:t>
            </a:r>
            <a:endParaRPr/>
          </a:p>
        </p:txBody>
      </p:sp>
      <p:sp>
        <p:nvSpPr>
          <p:cNvPr id="274" name="Freeform 12"/>
          <p:cNvSpPr/>
          <p:nvPr/>
        </p:nvSpPr>
        <p:spPr>
          <a:xfrm>
            <a:off x="6336020" y="2330023"/>
            <a:ext cx="2384192" cy="1192113"/>
          </a:xfrm>
          <a:custGeom>
            <a:avLst/>
            <a:gdLst/>
            <a:ahLst/>
            <a:cxnLst/>
            <a:rect l="l" t="t" r="r" b="b"/>
            <a:pathLst>
              <a:path w="2384192" h="1192113">
                <a:moveTo>
                  <a:pt x="2384192" y="596057"/>
                </a:moveTo>
                <a:lnTo>
                  <a:pt x="2383929" y="583532"/>
                </a:lnTo>
                <a:lnTo>
                  <a:pt x="2383140" y="571012"/>
                </a:lnTo>
                <a:lnTo>
                  <a:pt x="2381824" y="558504"/>
                </a:lnTo>
                <a:lnTo>
                  <a:pt x="2379983" y="546013"/>
                </a:lnTo>
                <a:lnTo>
                  <a:pt x="2377618" y="533543"/>
                </a:lnTo>
                <a:lnTo>
                  <a:pt x="2374729" y="521101"/>
                </a:lnTo>
                <a:lnTo>
                  <a:pt x="2371318" y="508692"/>
                </a:lnTo>
                <a:lnTo>
                  <a:pt x="2367386" y="496322"/>
                </a:lnTo>
                <a:lnTo>
                  <a:pt x="2362935" y="483996"/>
                </a:lnTo>
                <a:lnTo>
                  <a:pt x="2357967" y="471719"/>
                </a:lnTo>
                <a:lnTo>
                  <a:pt x="2352485" y="459498"/>
                </a:lnTo>
                <a:lnTo>
                  <a:pt x="2346490" y="447336"/>
                </a:lnTo>
                <a:lnTo>
                  <a:pt x="2339985" y="435240"/>
                </a:lnTo>
                <a:lnTo>
                  <a:pt x="2332973" y="423215"/>
                </a:lnTo>
                <a:lnTo>
                  <a:pt x="2325458" y="411267"/>
                </a:lnTo>
                <a:lnTo>
                  <a:pt x="2317442" y="399400"/>
                </a:lnTo>
                <a:lnTo>
                  <a:pt x="2308929" y="387620"/>
                </a:lnTo>
                <a:lnTo>
                  <a:pt x="2299923" y="375932"/>
                </a:lnTo>
                <a:lnTo>
                  <a:pt x="2290427" y="364341"/>
                </a:lnTo>
                <a:lnTo>
                  <a:pt x="2280447" y="352853"/>
                </a:lnTo>
                <a:lnTo>
                  <a:pt x="2269986" y="341472"/>
                </a:lnTo>
                <a:lnTo>
                  <a:pt x="2259049" y="330203"/>
                </a:lnTo>
                <a:lnTo>
                  <a:pt x="2247641" y="319052"/>
                </a:lnTo>
                <a:lnTo>
                  <a:pt x="2235767" y="308023"/>
                </a:lnTo>
                <a:lnTo>
                  <a:pt x="2223432" y="297121"/>
                </a:lnTo>
                <a:lnTo>
                  <a:pt x="2210641" y="286351"/>
                </a:lnTo>
                <a:lnTo>
                  <a:pt x="2197401" y="275718"/>
                </a:lnTo>
                <a:lnTo>
                  <a:pt x="2183717" y="265226"/>
                </a:lnTo>
                <a:lnTo>
                  <a:pt x="2169595" y="254881"/>
                </a:lnTo>
                <a:lnTo>
                  <a:pt x="2155041" y="244686"/>
                </a:lnTo>
                <a:lnTo>
                  <a:pt x="2140062" y="234646"/>
                </a:lnTo>
                <a:lnTo>
                  <a:pt x="2124665" y="224766"/>
                </a:lnTo>
                <a:lnTo>
                  <a:pt x="2108855" y="215050"/>
                </a:lnTo>
                <a:lnTo>
                  <a:pt x="2092641" y="205502"/>
                </a:lnTo>
                <a:lnTo>
                  <a:pt x="2076029" y="196127"/>
                </a:lnTo>
                <a:lnTo>
                  <a:pt x="2059027" y="186928"/>
                </a:lnTo>
                <a:lnTo>
                  <a:pt x="2041642" y="177910"/>
                </a:lnTo>
                <a:lnTo>
                  <a:pt x="2023882" y="169076"/>
                </a:lnTo>
                <a:lnTo>
                  <a:pt x="2005755" y="160431"/>
                </a:lnTo>
                <a:lnTo>
                  <a:pt x="1987268" y="151978"/>
                </a:lnTo>
                <a:lnTo>
                  <a:pt x="1968430" y="143722"/>
                </a:lnTo>
                <a:lnTo>
                  <a:pt x="1949249" y="135665"/>
                </a:lnTo>
                <a:lnTo>
                  <a:pt x="1929734" y="127812"/>
                </a:lnTo>
                <a:lnTo>
                  <a:pt x="1909893" y="120165"/>
                </a:lnTo>
                <a:lnTo>
                  <a:pt x="1889736" y="112728"/>
                </a:lnTo>
                <a:lnTo>
                  <a:pt x="1869270" y="105505"/>
                </a:lnTo>
                <a:lnTo>
                  <a:pt x="1848505" y="98498"/>
                </a:lnTo>
                <a:lnTo>
                  <a:pt x="1827450" y="91712"/>
                </a:lnTo>
                <a:lnTo>
                  <a:pt x="1806115" y="85147"/>
                </a:lnTo>
                <a:lnTo>
                  <a:pt x="1784508" y="78809"/>
                </a:lnTo>
                <a:lnTo>
                  <a:pt x="1762640" y="72699"/>
                </a:lnTo>
                <a:lnTo>
                  <a:pt x="1740520" y="66820"/>
                </a:lnTo>
                <a:lnTo>
                  <a:pt x="1718158" y="61174"/>
                </a:lnTo>
                <a:lnTo>
                  <a:pt x="1695563" y="55765"/>
                </a:lnTo>
                <a:lnTo>
                  <a:pt x="1672747" y="50595"/>
                </a:lnTo>
                <a:lnTo>
                  <a:pt x="1649717" y="45665"/>
                </a:lnTo>
                <a:lnTo>
                  <a:pt x="1626486" y="40978"/>
                </a:lnTo>
                <a:lnTo>
                  <a:pt x="1603063" y="36536"/>
                </a:lnTo>
                <a:lnTo>
                  <a:pt x="1579459" y="32342"/>
                </a:lnTo>
                <a:lnTo>
                  <a:pt x="1555683" y="28396"/>
                </a:lnTo>
                <a:lnTo>
                  <a:pt x="1531747" y="24701"/>
                </a:lnTo>
                <a:lnTo>
                  <a:pt x="1507661" y="21259"/>
                </a:lnTo>
                <a:lnTo>
                  <a:pt x="1483435" y="18070"/>
                </a:lnTo>
                <a:lnTo>
                  <a:pt x="1459081" y="15136"/>
                </a:lnTo>
                <a:lnTo>
                  <a:pt x="1434609" y="12459"/>
                </a:lnTo>
                <a:lnTo>
                  <a:pt x="1410030" y="10040"/>
                </a:lnTo>
                <a:lnTo>
                  <a:pt x="1385354" y="7879"/>
                </a:lnTo>
                <a:lnTo>
                  <a:pt x="1360594" y="5978"/>
                </a:lnTo>
                <a:lnTo>
                  <a:pt x="1335759" y="4338"/>
                </a:lnTo>
                <a:lnTo>
                  <a:pt x="1310860" y="2959"/>
                </a:lnTo>
                <a:lnTo>
                  <a:pt x="1285909" y="1842"/>
                </a:lnTo>
                <a:lnTo>
                  <a:pt x="1260916" y="987"/>
                </a:lnTo>
                <a:lnTo>
                  <a:pt x="1235893" y="395"/>
                </a:lnTo>
                <a:lnTo>
                  <a:pt x="1210851" y="66"/>
                </a:lnTo>
                <a:lnTo>
                  <a:pt x="1185800" y="0"/>
                </a:lnTo>
                <a:lnTo>
                  <a:pt x="1160753" y="198"/>
                </a:lnTo>
                <a:lnTo>
                  <a:pt x="1135719" y="658"/>
                </a:lnTo>
                <a:lnTo>
                  <a:pt x="1110709" y="1382"/>
                </a:lnTo>
                <a:lnTo>
                  <a:pt x="1085736" y="2368"/>
                </a:lnTo>
                <a:lnTo>
                  <a:pt x="1060810" y="3616"/>
                </a:lnTo>
                <a:lnTo>
                  <a:pt x="1035942" y="5126"/>
                </a:lnTo>
                <a:lnTo>
                  <a:pt x="1011142" y="6896"/>
                </a:lnTo>
                <a:lnTo>
                  <a:pt x="986423" y="8927"/>
                </a:lnTo>
                <a:lnTo>
                  <a:pt x="961794" y="11217"/>
                </a:lnTo>
                <a:lnTo>
                  <a:pt x="937267" y="13766"/>
                </a:lnTo>
                <a:lnTo>
                  <a:pt x="912853" y="16571"/>
                </a:lnTo>
                <a:lnTo>
                  <a:pt x="888562" y="19633"/>
                </a:lnTo>
                <a:lnTo>
                  <a:pt x="864405" y="22948"/>
                </a:lnTo>
                <a:lnTo>
                  <a:pt x="840392" y="26517"/>
                </a:lnTo>
                <a:lnTo>
                  <a:pt x="816535" y="30338"/>
                </a:lnTo>
                <a:lnTo>
                  <a:pt x="792844" y="34408"/>
                </a:lnTo>
                <a:lnTo>
                  <a:pt x="769328" y="38727"/>
                </a:lnTo>
                <a:lnTo>
                  <a:pt x="746000" y="43291"/>
                </a:lnTo>
                <a:lnTo>
                  <a:pt x="722869" y="48099"/>
                </a:lnTo>
                <a:lnTo>
                  <a:pt x="699944" y="53150"/>
                </a:lnTo>
                <a:lnTo>
                  <a:pt x="677237" y="58440"/>
                </a:lnTo>
                <a:lnTo>
                  <a:pt x="654758" y="63968"/>
                </a:lnTo>
                <a:lnTo>
                  <a:pt x="632515" y="69730"/>
                </a:lnTo>
                <a:lnTo>
                  <a:pt x="610520" y="75725"/>
                </a:lnTo>
                <a:lnTo>
                  <a:pt x="588782" y="81950"/>
                </a:lnTo>
                <a:lnTo>
                  <a:pt x="567310" y="88401"/>
                </a:lnTo>
                <a:lnTo>
                  <a:pt x="546113" y="95077"/>
                </a:lnTo>
                <a:lnTo>
                  <a:pt x="525202" y="101974"/>
                </a:lnTo>
                <a:lnTo>
                  <a:pt x="504586" y="109090"/>
                </a:lnTo>
                <a:lnTo>
                  <a:pt x="484273" y="116420"/>
                </a:lnTo>
                <a:lnTo>
                  <a:pt x="464273" y="123962"/>
                </a:lnTo>
                <a:lnTo>
                  <a:pt x="444594" y="131713"/>
                </a:lnTo>
                <a:lnTo>
                  <a:pt x="425245" y="139668"/>
                </a:lnTo>
                <a:lnTo>
                  <a:pt x="406234" y="147825"/>
                </a:lnTo>
                <a:lnTo>
                  <a:pt x="387571" y="156181"/>
                </a:lnTo>
                <a:lnTo>
                  <a:pt x="369263" y="164730"/>
                </a:lnTo>
                <a:lnTo>
                  <a:pt x="351318" y="173470"/>
                </a:lnTo>
                <a:lnTo>
                  <a:pt x="333744" y="182396"/>
                </a:lnTo>
                <a:lnTo>
                  <a:pt x="316550" y="191505"/>
                </a:lnTo>
                <a:lnTo>
                  <a:pt x="299742" y="200793"/>
                </a:lnTo>
                <a:lnTo>
                  <a:pt x="283328" y="210255"/>
                </a:lnTo>
                <a:lnTo>
                  <a:pt x="267315" y="219887"/>
                </a:lnTo>
                <a:lnTo>
                  <a:pt x="251711" y="229686"/>
                </a:lnTo>
                <a:lnTo>
                  <a:pt x="236522" y="239646"/>
                </a:lnTo>
                <a:lnTo>
                  <a:pt x="221755" y="249764"/>
                </a:lnTo>
                <a:lnTo>
                  <a:pt x="207416" y="260035"/>
                </a:lnTo>
                <a:lnTo>
                  <a:pt x="193512" y="270454"/>
                </a:lnTo>
                <a:lnTo>
                  <a:pt x="180049" y="281017"/>
                </a:lnTo>
                <a:lnTo>
                  <a:pt x="167033" y="291719"/>
                </a:lnTo>
                <a:lnTo>
                  <a:pt x="154470" y="302555"/>
                </a:lnTo>
                <a:lnTo>
                  <a:pt x="142365" y="313521"/>
                </a:lnTo>
                <a:lnTo>
                  <a:pt x="130723" y="324612"/>
                </a:lnTo>
                <a:lnTo>
                  <a:pt x="119550" y="335823"/>
                </a:lnTo>
                <a:lnTo>
                  <a:pt x="108850" y="347148"/>
                </a:lnTo>
                <a:lnTo>
                  <a:pt x="98629" y="358584"/>
                </a:lnTo>
                <a:lnTo>
                  <a:pt x="88891" y="370124"/>
                </a:lnTo>
                <a:lnTo>
                  <a:pt x="79639" y="381764"/>
                </a:lnTo>
                <a:lnTo>
                  <a:pt x="70879" y="393499"/>
                </a:lnTo>
                <a:lnTo>
                  <a:pt x="62615" y="405323"/>
                </a:lnTo>
                <a:lnTo>
                  <a:pt x="54848" y="417231"/>
                </a:lnTo>
                <a:lnTo>
                  <a:pt x="47584" y="429219"/>
                </a:lnTo>
                <a:lnTo>
                  <a:pt x="40826" y="441280"/>
                </a:lnTo>
                <a:lnTo>
                  <a:pt x="34575" y="453409"/>
                </a:lnTo>
                <a:lnTo>
                  <a:pt x="28836" y="465601"/>
                </a:lnTo>
                <a:lnTo>
                  <a:pt x="23611" y="477851"/>
                </a:lnTo>
                <a:lnTo>
                  <a:pt x="18901" y="490153"/>
                </a:lnTo>
                <a:lnTo>
                  <a:pt x="14709" y="502502"/>
                </a:lnTo>
                <a:lnTo>
                  <a:pt x="11038" y="514892"/>
                </a:lnTo>
                <a:lnTo>
                  <a:pt x="7888" y="527318"/>
                </a:lnTo>
                <a:lnTo>
                  <a:pt x="5260" y="539775"/>
                </a:lnTo>
                <a:lnTo>
                  <a:pt x="3157" y="552256"/>
                </a:lnTo>
                <a:lnTo>
                  <a:pt x="1579" y="564757"/>
                </a:lnTo>
                <a:lnTo>
                  <a:pt x="526" y="577271"/>
                </a:lnTo>
                <a:lnTo>
                  <a:pt x="0" y="589794"/>
                </a:lnTo>
                <a:lnTo>
                  <a:pt x="0" y="602319"/>
                </a:lnTo>
                <a:lnTo>
                  <a:pt x="526" y="614842"/>
                </a:lnTo>
                <a:lnTo>
                  <a:pt x="1579" y="627356"/>
                </a:lnTo>
                <a:lnTo>
                  <a:pt x="3157" y="639857"/>
                </a:lnTo>
                <a:lnTo>
                  <a:pt x="5260" y="652338"/>
                </a:lnTo>
                <a:lnTo>
                  <a:pt x="7888" y="664795"/>
                </a:lnTo>
                <a:lnTo>
                  <a:pt x="11038" y="677221"/>
                </a:lnTo>
                <a:lnTo>
                  <a:pt x="14709" y="689611"/>
                </a:lnTo>
                <a:lnTo>
                  <a:pt x="18901" y="701960"/>
                </a:lnTo>
                <a:lnTo>
                  <a:pt x="23611" y="714262"/>
                </a:lnTo>
                <a:lnTo>
                  <a:pt x="28836" y="726512"/>
                </a:lnTo>
                <a:lnTo>
                  <a:pt x="34575" y="738704"/>
                </a:lnTo>
                <a:lnTo>
                  <a:pt x="40826" y="750833"/>
                </a:lnTo>
                <a:lnTo>
                  <a:pt x="47584" y="762894"/>
                </a:lnTo>
                <a:lnTo>
                  <a:pt x="54848" y="774882"/>
                </a:lnTo>
                <a:lnTo>
                  <a:pt x="62615" y="786790"/>
                </a:lnTo>
                <a:lnTo>
                  <a:pt x="70879" y="798614"/>
                </a:lnTo>
                <a:lnTo>
                  <a:pt x="79639" y="810349"/>
                </a:lnTo>
                <a:lnTo>
                  <a:pt x="88891" y="821989"/>
                </a:lnTo>
                <a:lnTo>
                  <a:pt x="98629" y="833529"/>
                </a:lnTo>
                <a:lnTo>
                  <a:pt x="108850" y="844965"/>
                </a:lnTo>
                <a:lnTo>
                  <a:pt x="119550" y="856290"/>
                </a:lnTo>
                <a:lnTo>
                  <a:pt x="130723" y="867501"/>
                </a:lnTo>
                <a:lnTo>
                  <a:pt x="142365" y="878592"/>
                </a:lnTo>
                <a:lnTo>
                  <a:pt x="154470" y="889558"/>
                </a:lnTo>
                <a:lnTo>
                  <a:pt x="167033" y="900394"/>
                </a:lnTo>
                <a:lnTo>
                  <a:pt x="180049" y="911096"/>
                </a:lnTo>
                <a:lnTo>
                  <a:pt x="193512" y="921659"/>
                </a:lnTo>
                <a:lnTo>
                  <a:pt x="207416" y="932078"/>
                </a:lnTo>
                <a:lnTo>
                  <a:pt x="221755" y="942349"/>
                </a:lnTo>
                <a:lnTo>
                  <a:pt x="236522" y="952467"/>
                </a:lnTo>
                <a:lnTo>
                  <a:pt x="251711" y="962427"/>
                </a:lnTo>
                <a:lnTo>
                  <a:pt x="267315" y="972226"/>
                </a:lnTo>
                <a:lnTo>
                  <a:pt x="283328" y="981858"/>
                </a:lnTo>
                <a:lnTo>
                  <a:pt x="299742" y="991320"/>
                </a:lnTo>
                <a:lnTo>
                  <a:pt x="316550" y="1000608"/>
                </a:lnTo>
                <a:lnTo>
                  <a:pt x="333744" y="1009717"/>
                </a:lnTo>
                <a:lnTo>
                  <a:pt x="351318" y="1018643"/>
                </a:lnTo>
                <a:lnTo>
                  <a:pt x="369263" y="1027383"/>
                </a:lnTo>
                <a:lnTo>
                  <a:pt x="387571" y="1035932"/>
                </a:lnTo>
                <a:lnTo>
                  <a:pt x="406234" y="1044288"/>
                </a:lnTo>
                <a:lnTo>
                  <a:pt x="425245" y="1052445"/>
                </a:lnTo>
                <a:lnTo>
                  <a:pt x="444594" y="1060400"/>
                </a:lnTo>
                <a:lnTo>
                  <a:pt x="464273" y="1068151"/>
                </a:lnTo>
                <a:lnTo>
                  <a:pt x="484273" y="1075693"/>
                </a:lnTo>
                <a:lnTo>
                  <a:pt x="504586" y="1083023"/>
                </a:lnTo>
                <a:lnTo>
                  <a:pt x="525202" y="1090139"/>
                </a:lnTo>
                <a:lnTo>
                  <a:pt x="546113" y="1097036"/>
                </a:lnTo>
                <a:lnTo>
                  <a:pt x="567310" y="1103712"/>
                </a:lnTo>
                <a:lnTo>
                  <a:pt x="588782" y="1110163"/>
                </a:lnTo>
                <a:lnTo>
                  <a:pt x="610520" y="1116388"/>
                </a:lnTo>
                <a:lnTo>
                  <a:pt x="632515" y="1122383"/>
                </a:lnTo>
                <a:lnTo>
                  <a:pt x="654758" y="1128145"/>
                </a:lnTo>
                <a:lnTo>
                  <a:pt x="677237" y="1133673"/>
                </a:lnTo>
                <a:lnTo>
                  <a:pt x="699944" y="1138963"/>
                </a:lnTo>
                <a:lnTo>
                  <a:pt x="722869" y="1144014"/>
                </a:lnTo>
                <a:lnTo>
                  <a:pt x="746000" y="1148822"/>
                </a:lnTo>
                <a:lnTo>
                  <a:pt x="769328" y="1153386"/>
                </a:lnTo>
                <a:lnTo>
                  <a:pt x="792844" y="1157705"/>
                </a:lnTo>
                <a:lnTo>
                  <a:pt x="816535" y="1161775"/>
                </a:lnTo>
                <a:lnTo>
                  <a:pt x="840392" y="1165596"/>
                </a:lnTo>
                <a:lnTo>
                  <a:pt x="864405" y="1169165"/>
                </a:lnTo>
                <a:lnTo>
                  <a:pt x="888562" y="1172480"/>
                </a:lnTo>
                <a:lnTo>
                  <a:pt x="912853" y="1175542"/>
                </a:lnTo>
                <a:lnTo>
                  <a:pt x="937267" y="1178347"/>
                </a:lnTo>
                <a:lnTo>
                  <a:pt x="961794" y="1180896"/>
                </a:lnTo>
                <a:lnTo>
                  <a:pt x="986423" y="1183186"/>
                </a:lnTo>
                <a:lnTo>
                  <a:pt x="1011142" y="1185217"/>
                </a:lnTo>
                <a:lnTo>
                  <a:pt x="1035942" y="1186987"/>
                </a:lnTo>
                <a:lnTo>
                  <a:pt x="1060810" y="1188497"/>
                </a:lnTo>
                <a:lnTo>
                  <a:pt x="1085736" y="1189745"/>
                </a:lnTo>
                <a:lnTo>
                  <a:pt x="1110709" y="1190731"/>
                </a:lnTo>
                <a:lnTo>
                  <a:pt x="1135719" y="1191455"/>
                </a:lnTo>
                <a:lnTo>
                  <a:pt x="1160753" y="1191915"/>
                </a:lnTo>
                <a:lnTo>
                  <a:pt x="1185800" y="1192113"/>
                </a:lnTo>
                <a:lnTo>
                  <a:pt x="1210851" y="1192047"/>
                </a:lnTo>
                <a:lnTo>
                  <a:pt x="1235893" y="1191718"/>
                </a:lnTo>
                <a:lnTo>
                  <a:pt x="1260916" y="1191126"/>
                </a:lnTo>
                <a:lnTo>
                  <a:pt x="1285909" y="1190271"/>
                </a:lnTo>
                <a:lnTo>
                  <a:pt x="1310860" y="1189154"/>
                </a:lnTo>
                <a:lnTo>
                  <a:pt x="1335759" y="1187775"/>
                </a:lnTo>
                <a:lnTo>
                  <a:pt x="1360594" y="1186135"/>
                </a:lnTo>
                <a:lnTo>
                  <a:pt x="1385354" y="1184234"/>
                </a:lnTo>
                <a:lnTo>
                  <a:pt x="1410030" y="1182073"/>
                </a:lnTo>
                <a:lnTo>
                  <a:pt x="1434609" y="1179654"/>
                </a:lnTo>
                <a:lnTo>
                  <a:pt x="1459081" y="1176977"/>
                </a:lnTo>
                <a:lnTo>
                  <a:pt x="1483435" y="1174043"/>
                </a:lnTo>
                <a:lnTo>
                  <a:pt x="1507661" y="1170854"/>
                </a:lnTo>
                <a:lnTo>
                  <a:pt x="1531747" y="1167412"/>
                </a:lnTo>
                <a:lnTo>
                  <a:pt x="1555683" y="1163717"/>
                </a:lnTo>
                <a:lnTo>
                  <a:pt x="1579459" y="1159771"/>
                </a:lnTo>
                <a:lnTo>
                  <a:pt x="1603063" y="1155577"/>
                </a:lnTo>
                <a:lnTo>
                  <a:pt x="1626486" y="1151135"/>
                </a:lnTo>
                <a:lnTo>
                  <a:pt x="1649717" y="1146448"/>
                </a:lnTo>
                <a:lnTo>
                  <a:pt x="1672747" y="1141518"/>
                </a:lnTo>
                <a:lnTo>
                  <a:pt x="1695563" y="1136348"/>
                </a:lnTo>
                <a:lnTo>
                  <a:pt x="1718158" y="1130939"/>
                </a:lnTo>
                <a:lnTo>
                  <a:pt x="1740520" y="1125293"/>
                </a:lnTo>
                <a:lnTo>
                  <a:pt x="1762640" y="1119414"/>
                </a:lnTo>
                <a:lnTo>
                  <a:pt x="1784508" y="1113304"/>
                </a:lnTo>
                <a:lnTo>
                  <a:pt x="1806115" y="1106966"/>
                </a:lnTo>
                <a:lnTo>
                  <a:pt x="1827450" y="1100401"/>
                </a:lnTo>
                <a:lnTo>
                  <a:pt x="1848505" y="1093615"/>
                </a:lnTo>
                <a:lnTo>
                  <a:pt x="1869270" y="1086608"/>
                </a:lnTo>
                <a:lnTo>
                  <a:pt x="1889736" y="1079385"/>
                </a:lnTo>
                <a:lnTo>
                  <a:pt x="1909893" y="1071948"/>
                </a:lnTo>
                <a:lnTo>
                  <a:pt x="1929734" y="1064301"/>
                </a:lnTo>
                <a:lnTo>
                  <a:pt x="1949249" y="1056448"/>
                </a:lnTo>
                <a:lnTo>
                  <a:pt x="1968430" y="1048391"/>
                </a:lnTo>
                <a:lnTo>
                  <a:pt x="1987268" y="1040135"/>
                </a:lnTo>
                <a:lnTo>
                  <a:pt x="2005755" y="1031682"/>
                </a:lnTo>
                <a:lnTo>
                  <a:pt x="2023882" y="1023037"/>
                </a:lnTo>
                <a:lnTo>
                  <a:pt x="2041642" y="1014203"/>
                </a:lnTo>
                <a:lnTo>
                  <a:pt x="2059027" y="1005185"/>
                </a:lnTo>
                <a:lnTo>
                  <a:pt x="2076029" y="995986"/>
                </a:lnTo>
                <a:lnTo>
                  <a:pt x="2092641" y="986611"/>
                </a:lnTo>
                <a:lnTo>
                  <a:pt x="2108855" y="977063"/>
                </a:lnTo>
                <a:lnTo>
                  <a:pt x="2124665" y="967347"/>
                </a:lnTo>
                <a:lnTo>
                  <a:pt x="2140062" y="957467"/>
                </a:lnTo>
                <a:lnTo>
                  <a:pt x="2155041" y="947427"/>
                </a:lnTo>
                <a:lnTo>
                  <a:pt x="2169595" y="937232"/>
                </a:lnTo>
                <a:lnTo>
                  <a:pt x="2183717" y="926887"/>
                </a:lnTo>
                <a:lnTo>
                  <a:pt x="2197401" y="916395"/>
                </a:lnTo>
                <a:lnTo>
                  <a:pt x="2210641" y="905762"/>
                </a:lnTo>
                <a:lnTo>
                  <a:pt x="2223432" y="894992"/>
                </a:lnTo>
                <a:lnTo>
                  <a:pt x="2235767" y="884090"/>
                </a:lnTo>
                <a:lnTo>
                  <a:pt x="2247641" y="873061"/>
                </a:lnTo>
                <a:lnTo>
                  <a:pt x="2259049" y="861910"/>
                </a:lnTo>
                <a:lnTo>
                  <a:pt x="2269986" y="850641"/>
                </a:lnTo>
                <a:lnTo>
                  <a:pt x="2280447" y="839260"/>
                </a:lnTo>
                <a:lnTo>
                  <a:pt x="2290427" y="827772"/>
                </a:lnTo>
                <a:lnTo>
                  <a:pt x="2299923" y="816181"/>
                </a:lnTo>
                <a:lnTo>
                  <a:pt x="2308929" y="804493"/>
                </a:lnTo>
                <a:lnTo>
                  <a:pt x="2317442" y="792713"/>
                </a:lnTo>
                <a:lnTo>
                  <a:pt x="2325458" y="780846"/>
                </a:lnTo>
                <a:lnTo>
                  <a:pt x="2332973" y="768898"/>
                </a:lnTo>
                <a:lnTo>
                  <a:pt x="2339985" y="756873"/>
                </a:lnTo>
                <a:lnTo>
                  <a:pt x="2346490" y="744777"/>
                </a:lnTo>
                <a:lnTo>
                  <a:pt x="2352485" y="732615"/>
                </a:lnTo>
                <a:lnTo>
                  <a:pt x="2357967" y="720394"/>
                </a:lnTo>
                <a:lnTo>
                  <a:pt x="2362935" y="708117"/>
                </a:lnTo>
                <a:lnTo>
                  <a:pt x="2367386" y="695791"/>
                </a:lnTo>
                <a:lnTo>
                  <a:pt x="2371318" y="683421"/>
                </a:lnTo>
                <a:lnTo>
                  <a:pt x="2374729" y="671012"/>
                </a:lnTo>
                <a:lnTo>
                  <a:pt x="2377618" y="658570"/>
                </a:lnTo>
                <a:lnTo>
                  <a:pt x="2379983" y="646100"/>
                </a:lnTo>
                <a:lnTo>
                  <a:pt x="2381824" y="633609"/>
                </a:lnTo>
                <a:lnTo>
                  <a:pt x="2383140" y="621101"/>
                </a:lnTo>
                <a:lnTo>
                  <a:pt x="2383929" y="608581"/>
                </a:lnTo>
                <a:lnTo>
                  <a:pt x="2384192" y="596057"/>
                </a:lnTo>
              </a:path>
            </a:pathLst>
          </a:custGeom>
          <a:noFill/>
          <a:ln w="25400">
            <a:solidFill>
              <a:srgbClr val="2E6B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5" name="Oval 13"/>
          <p:cNvSpPr/>
          <p:nvPr/>
        </p:nvSpPr>
        <p:spPr>
          <a:xfrm>
            <a:off x="7482363" y="2880360"/>
            <a:ext cx="91440" cy="91440"/>
          </a:xfrm>
          <a:prstGeom prst="ellipse">
            <a:avLst/>
          </a:prstGeom>
          <a:solidFill>
            <a:srgbClr val="D93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76" name="TextBox 14"/>
          <p:cNvSpPr txBox="1"/>
          <p:nvPr/>
        </p:nvSpPr>
        <p:spPr>
          <a:xfrm>
            <a:off x="6842283" y="2999232"/>
            <a:ext cx="128016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D93B3B"/>
                </a:solidFill>
                <a:latin typeface="微软雅黑"/>
                <a:ea typeface="微软雅黑"/>
              </a:rPr>
              <a:t>C(−2, 0)</a:t>
            </a:r>
            <a:endParaRPr/>
          </a:p>
        </p:txBody>
      </p:sp>
      <p:sp>
        <p:nvSpPr>
          <p:cNvPr id="277" name="TextBox 15"/>
          <p:cNvSpPr txBox="1"/>
          <p:nvPr/>
        </p:nvSpPr>
        <p:spPr>
          <a:xfrm>
            <a:off x="7345203" y="3310128"/>
            <a:ext cx="36576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2E6BE6"/>
                </a:solidFill>
                <a:latin typeface="微软雅黑"/>
                <a:ea typeface="微软雅黑"/>
              </a:rPr>
              <a:t>M</a:t>
            </a:r>
            <a:endParaRPr/>
          </a:p>
        </p:txBody>
      </p:sp>
      <p:sp>
        <p:nvSpPr>
          <p:cNvPr id="278" name="TextBox 16"/>
          <p:cNvSpPr txBox="1"/>
          <p:nvPr/>
        </p:nvSpPr>
        <p:spPr>
          <a:xfrm>
            <a:off x="6263640" y="4114800"/>
            <a:ext cx="2697480" cy="3108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2E6BE6"/>
                </a:solidFill>
                <a:latin typeface="微软雅黑"/>
                <a:ea typeface="微软雅黑"/>
              </a:rPr>
              <a:t>M：中心在 C</a:t>
            </a:r>
            <a:endParaRPr/>
          </a:p>
        </p:txBody>
      </p:sp>
      <p:sp>
        <p:nvSpPr>
          <p:cNvPr id="279" name="Rectangle 17"/>
          <p:cNvSpPr/>
          <p:nvPr/>
        </p:nvSpPr>
        <p:spPr>
          <a:xfrm>
            <a:off x="9098280" y="1783080"/>
            <a:ext cx="2697480" cy="2286000"/>
          </a:xfrm>
          <a:prstGeom prst="rect">
            <a:avLst/>
          </a:prstGeom>
          <a:noFill/>
          <a:ln w="12700">
            <a:solidFill>
              <a:srgbClr val="CFD7E3"/>
            </a:solidFill>
            <a:prstDash val="sysDot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80" name="Freeform 18"/>
          <p:cNvSpPr/>
          <p:nvPr/>
        </p:nvSpPr>
        <p:spPr>
          <a:xfrm>
            <a:off x="9098280" y="2926080"/>
            <a:ext cx="2697479" cy="0"/>
          </a:xfrm>
          <a:custGeom>
            <a:avLst/>
            <a:gdLst/>
            <a:ahLst/>
            <a:cxnLst/>
            <a:rect l="l" t="t" r="r" b="b"/>
            <a:pathLst>
              <a:path w="2697479" h="0">
                <a:moveTo>
                  <a:pt x="0" y="0"/>
                </a:moveTo>
                <a:lnTo>
                  <a:pt x="2697479" y="0"/>
                </a:lnTo>
              </a:path>
            </a:pathLst>
          </a:custGeom>
          <a:noFill/>
          <a:ln w="13970">
            <a:solidFill>
              <a:srgbClr val="CFD7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1" name="Freeform 19"/>
          <p:cNvSpPr/>
          <p:nvPr/>
        </p:nvSpPr>
        <p:spPr>
          <a:xfrm>
            <a:off x="11205686" y="2293858"/>
            <a:ext cx="0" cy="1264443"/>
          </a:xfrm>
          <a:custGeom>
            <a:avLst/>
            <a:gdLst/>
            <a:ahLst/>
            <a:cxnLst/>
            <a:rect l="l" t="t" r="r" b="b"/>
            <a:pathLst>
              <a:path w="0" h="1264443">
                <a:moveTo>
                  <a:pt x="0" y="1264443"/>
                </a:moveTo>
                <a:lnTo>
                  <a:pt x="0" y="0"/>
                </a:lnTo>
              </a:path>
            </a:pathLst>
          </a:custGeom>
          <a:noFill/>
          <a:ln w="13970">
            <a:solidFill>
              <a:srgbClr val="CFD7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2" name="Freeform 20"/>
          <p:cNvSpPr/>
          <p:nvPr/>
        </p:nvSpPr>
        <p:spPr>
          <a:xfrm>
            <a:off x="10362723" y="2900791"/>
            <a:ext cx="0" cy="50577"/>
          </a:xfrm>
          <a:custGeom>
            <a:avLst/>
            <a:gdLst/>
            <a:ahLst/>
            <a:cxnLst/>
            <a:rect l="l" t="t" r="r" b="b"/>
            <a:pathLst>
              <a:path w="0" h="50577">
                <a:moveTo>
                  <a:pt x="0" y="50577"/>
                </a:moveTo>
                <a:lnTo>
                  <a:pt x="0" y="0"/>
                </a:lnTo>
              </a:path>
            </a:pathLst>
          </a:custGeom>
          <a:noFill/>
          <a:ln w="12700">
            <a:solidFill>
              <a:srgbClr val="CFD7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3" name="TextBox 21"/>
          <p:cNvSpPr txBox="1"/>
          <p:nvPr/>
        </p:nvSpPr>
        <p:spPr>
          <a:xfrm>
            <a:off x="10088403" y="2971800"/>
            <a:ext cx="548640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B7484"/>
                </a:solidFill>
                <a:latin typeface="微软雅黑"/>
                <a:ea typeface="微软雅黑"/>
              </a:rPr>
              <a:t>-2</a:t>
            </a:r>
            <a:endParaRPr/>
          </a:p>
        </p:txBody>
      </p:sp>
      <p:sp>
        <p:nvSpPr>
          <p:cNvPr id="284" name="TextBox 22"/>
          <p:cNvSpPr txBox="1"/>
          <p:nvPr/>
        </p:nvSpPr>
        <p:spPr>
          <a:xfrm>
            <a:off x="11814047" y="2688336"/>
            <a:ext cx="341071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B7484"/>
                </a:solidFill>
                <a:latin typeface="微软雅黑"/>
                <a:ea typeface="微软雅黑"/>
              </a:rPr>
              <a:t>X</a:t>
            </a:r>
            <a:endParaRPr/>
          </a:p>
        </p:txBody>
      </p:sp>
      <p:sp>
        <p:nvSpPr>
          <p:cNvPr id="285" name="TextBox 23"/>
          <p:cNvSpPr txBox="1"/>
          <p:nvPr/>
        </p:nvSpPr>
        <p:spPr>
          <a:xfrm>
            <a:off x="10967942" y="2275570"/>
            <a:ext cx="1187176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B7484"/>
                </a:solidFill>
                <a:latin typeface="微软雅黑"/>
                <a:ea typeface="微软雅黑"/>
              </a:rPr>
              <a:t>Y</a:t>
            </a:r>
            <a:endParaRPr/>
          </a:p>
        </p:txBody>
      </p:sp>
      <p:sp>
        <p:nvSpPr>
          <p:cNvPr id="286" name="Freeform 24"/>
          <p:cNvSpPr/>
          <p:nvPr/>
        </p:nvSpPr>
        <p:spPr>
          <a:xfrm>
            <a:off x="10013623" y="2330023"/>
            <a:ext cx="1762640" cy="1192113"/>
          </a:xfrm>
          <a:custGeom>
            <a:avLst/>
            <a:gdLst/>
            <a:ahLst/>
            <a:cxnLst/>
            <a:rect l="l" t="t" r="r" b="b"/>
            <a:pathLst>
              <a:path w="1762640" h="1192113">
                <a:moveTo>
                  <a:pt x="1762640" y="72699"/>
                </a:moveTo>
                <a:lnTo>
                  <a:pt x="1740520" y="66820"/>
                </a:lnTo>
                <a:lnTo>
                  <a:pt x="1718157" y="61174"/>
                </a:lnTo>
                <a:lnTo>
                  <a:pt x="1695563" y="55765"/>
                </a:lnTo>
                <a:lnTo>
                  <a:pt x="1672746" y="50595"/>
                </a:lnTo>
                <a:lnTo>
                  <a:pt x="1649717" y="45665"/>
                </a:lnTo>
                <a:lnTo>
                  <a:pt x="1626486" y="40978"/>
                </a:lnTo>
                <a:lnTo>
                  <a:pt x="1603063" y="36536"/>
                </a:lnTo>
                <a:lnTo>
                  <a:pt x="1579458" y="32342"/>
                </a:lnTo>
                <a:lnTo>
                  <a:pt x="1555683" y="28396"/>
                </a:lnTo>
                <a:lnTo>
                  <a:pt x="1531746" y="24701"/>
                </a:lnTo>
                <a:lnTo>
                  <a:pt x="1507660" y="21259"/>
                </a:lnTo>
                <a:lnTo>
                  <a:pt x="1483435" y="18070"/>
                </a:lnTo>
                <a:lnTo>
                  <a:pt x="1459081" y="15136"/>
                </a:lnTo>
                <a:lnTo>
                  <a:pt x="1434609" y="12459"/>
                </a:lnTo>
                <a:lnTo>
                  <a:pt x="1410029" y="10040"/>
                </a:lnTo>
                <a:lnTo>
                  <a:pt x="1385354" y="7879"/>
                </a:lnTo>
                <a:lnTo>
                  <a:pt x="1360593" y="5978"/>
                </a:lnTo>
                <a:lnTo>
                  <a:pt x="1335758" y="4338"/>
                </a:lnTo>
                <a:lnTo>
                  <a:pt x="1310859" y="2959"/>
                </a:lnTo>
                <a:lnTo>
                  <a:pt x="1285908" y="1842"/>
                </a:lnTo>
                <a:lnTo>
                  <a:pt x="1260916" y="987"/>
                </a:lnTo>
                <a:lnTo>
                  <a:pt x="1235893" y="395"/>
                </a:lnTo>
                <a:lnTo>
                  <a:pt x="1210851" y="66"/>
                </a:lnTo>
                <a:lnTo>
                  <a:pt x="1185800" y="0"/>
                </a:lnTo>
                <a:lnTo>
                  <a:pt x="1160752" y="198"/>
                </a:lnTo>
                <a:lnTo>
                  <a:pt x="1135718" y="658"/>
                </a:lnTo>
                <a:lnTo>
                  <a:pt x="1110709" y="1382"/>
                </a:lnTo>
                <a:lnTo>
                  <a:pt x="1085736" y="2368"/>
                </a:lnTo>
                <a:lnTo>
                  <a:pt x="1060810" y="3616"/>
                </a:lnTo>
                <a:lnTo>
                  <a:pt x="1035941" y="5126"/>
                </a:lnTo>
                <a:lnTo>
                  <a:pt x="1011142" y="6896"/>
                </a:lnTo>
                <a:lnTo>
                  <a:pt x="986422" y="8927"/>
                </a:lnTo>
                <a:lnTo>
                  <a:pt x="961794" y="11217"/>
                </a:lnTo>
                <a:lnTo>
                  <a:pt x="937267" y="13766"/>
                </a:lnTo>
                <a:lnTo>
                  <a:pt x="912852" y="16571"/>
                </a:lnTo>
                <a:lnTo>
                  <a:pt x="888561" y="19633"/>
                </a:lnTo>
                <a:lnTo>
                  <a:pt x="864404" y="22948"/>
                </a:lnTo>
                <a:lnTo>
                  <a:pt x="840392" y="26517"/>
                </a:lnTo>
                <a:lnTo>
                  <a:pt x="816534" y="30338"/>
                </a:lnTo>
                <a:lnTo>
                  <a:pt x="792843" y="34408"/>
                </a:lnTo>
                <a:lnTo>
                  <a:pt x="769328" y="38727"/>
                </a:lnTo>
                <a:lnTo>
                  <a:pt x="746000" y="43291"/>
                </a:lnTo>
                <a:lnTo>
                  <a:pt x="722868" y="48099"/>
                </a:lnTo>
                <a:lnTo>
                  <a:pt x="699944" y="53150"/>
                </a:lnTo>
                <a:lnTo>
                  <a:pt x="677237" y="58440"/>
                </a:lnTo>
                <a:lnTo>
                  <a:pt x="654757" y="63968"/>
                </a:lnTo>
                <a:lnTo>
                  <a:pt x="632515" y="69730"/>
                </a:lnTo>
                <a:lnTo>
                  <a:pt x="610520" y="75725"/>
                </a:lnTo>
                <a:lnTo>
                  <a:pt x="588781" y="81950"/>
                </a:lnTo>
                <a:lnTo>
                  <a:pt x="567309" y="88401"/>
                </a:lnTo>
                <a:lnTo>
                  <a:pt x="546113" y="95077"/>
                </a:lnTo>
                <a:lnTo>
                  <a:pt x="525202" y="101974"/>
                </a:lnTo>
                <a:lnTo>
                  <a:pt x="504585" y="109090"/>
                </a:lnTo>
                <a:lnTo>
                  <a:pt x="484272" y="116420"/>
                </a:lnTo>
                <a:lnTo>
                  <a:pt x="464272" y="123962"/>
                </a:lnTo>
                <a:lnTo>
                  <a:pt x="444593" y="131713"/>
                </a:lnTo>
                <a:lnTo>
                  <a:pt x="425244" y="139668"/>
                </a:lnTo>
                <a:lnTo>
                  <a:pt x="406234" y="147825"/>
                </a:lnTo>
                <a:lnTo>
                  <a:pt x="387570" y="156181"/>
                </a:lnTo>
                <a:lnTo>
                  <a:pt x="369262" y="164730"/>
                </a:lnTo>
                <a:lnTo>
                  <a:pt x="351317" y="173470"/>
                </a:lnTo>
                <a:lnTo>
                  <a:pt x="333744" y="182396"/>
                </a:lnTo>
                <a:lnTo>
                  <a:pt x="316549" y="191505"/>
                </a:lnTo>
                <a:lnTo>
                  <a:pt x="299741" y="200793"/>
                </a:lnTo>
                <a:lnTo>
                  <a:pt x="283327" y="210255"/>
                </a:lnTo>
                <a:lnTo>
                  <a:pt x="267315" y="219887"/>
                </a:lnTo>
                <a:lnTo>
                  <a:pt x="251711" y="229686"/>
                </a:lnTo>
                <a:lnTo>
                  <a:pt x="236521" y="239646"/>
                </a:lnTo>
                <a:lnTo>
                  <a:pt x="221754" y="249764"/>
                </a:lnTo>
                <a:lnTo>
                  <a:pt x="207416" y="260035"/>
                </a:lnTo>
                <a:lnTo>
                  <a:pt x="193512" y="270454"/>
                </a:lnTo>
                <a:lnTo>
                  <a:pt x="180049" y="281017"/>
                </a:lnTo>
                <a:lnTo>
                  <a:pt x="167033" y="291719"/>
                </a:lnTo>
                <a:lnTo>
                  <a:pt x="154469" y="302555"/>
                </a:lnTo>
                <a:lnTo>
                  <a:pt x="142364" y="313521"/>
                </a:lnTo>
                <a:lnTo>
                  <a:pt x="130722" y="324612"/>
                </a:lnTo>
                <a:lnTo>
                  <a:pt x="119549" y="335823"/>
                </a:lnTo>
                <a:lnTo>
                  <a:pt x="108850" y="347148"/>
                </a:lnTo>
                <a:lnTo>
                  <a:pt x="98629" y="358584"/>
                </a:lnTo>
                <a:lnTo>
                  <a:pt x="88890" y="370124"/>
                </a:lnTo>
                <a:lnTo>
                  <a:pt x="79639" y="381764"/>
                </a:lnTo>
                <a:lnTo>
                  <a:pt x="70879" y="393499"/>
                </a:lnTo>
                <a:lnTo>
                  <a:pt x="62614" y="405323"/>
                </a:lnTo>
                <a:lnTo>
                  <a:pt x="54848" y="417231"/>
                </a:lnTo>
                <a:lnTo>
                  <a:pt x="47584" y="429219"/>
                </a:lnTo>
                <a:lnTo>
                  <a:pt x="40825" y="441280"/>
                </a:lnTo>
                <a:lnTo>
                  <a:pt x="34575" y="453409"/>
                </a:lnTo>
                <a:lnTo>
                  <a:pt x="28836" y="465601"/>
                </a:lnTo>
                <a:lnTo>
                  <a:pt x="23610" y="477851"/>
                </a:lnTo>
                <a:lnTo>
                  <a:pt x="18901" y="490153"/>
                </a:lnTo>
                <a:lnTo>
                  <a:pt x="14709" y="502502"/>
                </a:lnTo>
                <a:lnTo>
                  <a:pt x="11037" y="514892"/>
                </a:lnTo>
                <a:lnTo>
                  <a:pt x="7887" y="527318"/>
                </a:lnTo>
                <a:lnTo>
                  <a:pt x="5260" y="539775"/>
                </a:lnTo>
                <a:lnTo>
                  <a:pt x="3157" y="552256"/>
                </a:lnTo>
                <a:lnTo>
                  <a:pt x="1578" y="564757"/>
                </a:lnTo>
                <a:lnTo>
                  <a:pt x="526" y="577271"/>
                </a:lnTo>
                <a:lnTo>
                  <a:pt x="0" y="589794"/>
                </a:lnTo>
                <a:lnTo>
                  <a:pt x="0" y="602319"/>
                </a:lnTo>
                <a:lnTo>
                  <a:pt x="526" y="614842"/>
                </a:lnTo>
                <a:lnTo>
                  <a:pt x="1578" y="627356"/>
                </a:lnTo>
                <a:lnTo>
                  <a:pt x="3157" y="639857"/>
                </a:lnTo>
                <a:lnTo>
                  <a:pt x="5260" y="652338"/>
                </a:lnTo>
                <a:lnTo>
                  <a:pt x="7887" y="664795"/>
                </a:lnTo>
                <a:lnTo>
                  <a:pt x="11037" y="677221"/>
                </a:lnTo>
                <a:lnTo>
                  <a:pt x="14709" y="689611"/>
                </a:lnTo>
                <a:lnTo>
                  <a:pt x="18901" y="701960"/>
                </a:lnTo>
                <a:lnTo>
                  <a:pt x="23610" y="714262"/>
                </a:lnTo>
                <a:lnTo>
                  <a:pt x="28836" y="726512"/>
                </a:lnTo>
                <a:lnTo>
                  <a:pt x="34575" y="738704"/>
                </a:lnTo>
                <a:lnTo>
                  <a:pt x="40825" y="750833"/>
                </a:lnTo>
                <a:lnTo>
                  <a:pt x="47584" y="762894"/>
                </a:lnTo>
                <a:lnTo>
                  <a:pt x="54848" y="774882"/>
                </a:lnTo>
                <a:lnTo>
                  <a:pt x="62614" y="786790"/>
                </a:lnTo>
                <a:lnTo>
                  <a:pt x="70879" y="798614"/>
                </a:lnTo>
                <a:lnTo>
                  <a:pt x="79639" y="810349"/>
                </a:lnTo>
                <a:lnTo>
                  <a:pt x="88890" y="821989"/>
                </a:lnTo>
                <a:lnTo>
                  <a:pt x="98629" y="833529"/>
                </a:lnTo>
                <a:lnTo>
                  <a:pt x="108850" y="844965"/>
                </a:lnTo>
                <a:lnTo>
                  <a:pt x="119549" y="856290"/>
                </a:lnTo>
                <a:lnTo>
                  <a:pt x="130722" y="867501"/>
                </a:lnTo>
                <a:lnTo>
                  <a:pt x="142364" y="878592"/>
                </a:lnTo>
                <a:lnTo>
                  <a:pt x="154469" y="889558"/>
                </a:lnTo>
                <a:lnTo>
                  <a:pt x="167033" y="900394"/>
                </a:lnTo>
                <a:lnTo>
                  <a:pt x="180049" y="911096"/>
                </a:lnTo>
                <a:lnTo>
                  <a:pt x="193512" y="921659"/>
                </a:lnTo>
                <a:lnTo>
                  <a:pt x="207416" y="932078"/>
                </a:lnTo>
                <a:lnTo>
                  <a:pt x="221754" y="942349"/>
                </a:lnTo>
                <a:lnTo>
                  <a:pt x="236521" y="952467"/>
                </a:lnTo>
                <a:lnTo>
                  <a:pt x="251711" y="962427"/>
                </a:lnTo>
                <a:lnTo>
                  <a:pt x="267315" y="972226"/>
                </a:lnTo>
                <a:lnTo>
                  <a:pt x="283327" y="981858"/>
                </a:lnTo>
                <a:lnTo>
                  <a:pt x="299741" y="991320"/>
                </a:lnTo>
                <a:lnTo>
                  <a:pt x="316549" y="1000608"/>
                </a:lnTo>
                <a:lnTo>
                  <a:pt x="333744" y="1009717"/>
                </a:lnTo>
                <a:lnTo>
                  <a:pt x="351317" y="1018643"/>
                </a:lnTo>
                <a:lnTo>
                  <a:pt x="369262" y="1027383"/>
                </a:lnTo>
                <a:lnTo>
                  <a:pt x="387570" y="1035932"/>
                </a:lnTo>
                <a:lnTo>
                  <a:pt x="406234" y="1044288"/>
                </a:lnTo>
                <a:lnTo>
                  <a:pt x="425244" y="1052445"/>
                </a:lnTo>
                <a:lnTo>
                  <a:pt x="444593" y="1060400"/>
                </a:lnTo>
                <a:lnTo>
                  <a:pt x="464272" y="1068151"/>
                </a:lnTo>
                <a:lnTo>
                  <a:pt x="484272" y="1075693"/>
                </a:lnTo>
                <a:lnTo>
                  <a:pt x="504585" y="1083023"/>
                </a:lnTo>
                <a:lnTo>
                  <a:pt x="525202" y="1090139"/>
                </a:lnTo>
                <a:lnTo>
                  <a:pt x="546113" y="1097036"/>
                </a:lnTo>
                <a:lnTo>
                  <a:pt x="567309" y="1103712"/>
                </a:lnTo>
                <a:lnTo>
                  <a:pt x="588781" y="1110163"/>
                </a:lnTo>
                <a:lnTo>
                  <a:pt x="610520" y="1116388"/>
                </a:lnTo>
                <a:lnTo>
                  <a:pt x="632515" y="1122383"/>
                </a:lnTo>
                <a:lnTo>
                  <a:pt x="654757" y="1128145"/>
                </a:lnTo>
                <a:lnTo>
                  <a:pt x="677237" y="1133673"/>
                </a:lnTo>
                <a:lnTo>
                  <a:pt x="699944" y="1138963"/>
                </a:lnTo>
                <a:lnTo>
                  <a:pt x="722868" y="1144014"/>
                </a:lnTo>
                <a:lnTo>
                  <a:pt x="746000" y="1148822"/>
                </a:lnTo>
                <a:lnTo>
                  <a:pt x="769328" y="1153386"/>
                </a:lnTo>
                <a:lnTo>
                  <a:pt x="792843" y="1157705"/>
                </a:lnTo>
                <a:lnTo>
                  <a:pt x="816534" y="1161775"/>
                </a:lnTo>
                <a:lnTo>
                  <a:pt x="840392" y="1165596"/>
                </a:lnTo>
                <a:lnTo>
                  <a:pt x="864404" y="1169165"/>
                </a:lnTo>
                <a:lnTo>
                  <a:pt x="888561" y="1172480"/>
                </a:lnTo>
                <a:lnTo>
                  <a:pt x="912852" y="1175542"/>
                </a:lnTo>
                <a:lnTo>
                  <a:pt x="937267" y="1178347"/>
                </a:lnTo>
                <a:lnTo>
                  <a:pt x="961794" y="1180896"/>
                </a:lnTo>
                <a:lnTo>
                  <a:pt x="986422" y="1183186"/>
                </a:lnTo>
                <a:lnTo>
                  <a:pt x="1011142" y="1185217"/>
                </a:lnTo>
                <a:lnTo>
                  <a:pt x="1035941" y="1186987"/>
                </a:lnTo>
                <a:lnTo>
                  <a:pt x="1060810" y="1188497"/>
                </a:lnTo>
                <a:lnTo>
                  <a:pt x="1085736" y="1189745"/>
                </a:lnTo>
                <a:lnTo>
                  <a:pt x="1110709" y="1190731"/>
                </a:lnTo>
                <a:lnTo>
                  <a:pt x="1135718" y="1191455"/>
                </a:lnTo>
                <a:lnTo>
                  <a:pt x="1160752" y="1191915"/>
                </a:lnTo>
                <a:lnTo>
                  <a:pt x="1185800" y="1192113"/>
                </a:lnTo>
                <a:lnTo>
                  <a:pt x="1210851" y="1192047"/>
                </a:lnTo>
                <a:lnTo>
                  <a:pt x="1235893" y="1191718"/>
                </a:lnTo>
                <a:lnTo>
                  <a:pt x="1260916" y="1191126"/>
                </a:lnTo>
                <a:lnTo>
                  <a:pt x="1285908" y="1190271"/>
                </a:lnTo>
                <a:lnTo>
                  <a:pt x="1310859" y="1189154"/>
                </a:lnTo>
                <a:lnTo>
                  <a:pt x="1335758" y="1187775"/>
                </a:lnTo>
                <a:lnTo>
                  <a:pt x="1360593" y="1186135"/>
                </a:lnTo>
                <a:lnTo>
                  <a:pt x="1385354" y="1184234"/>
                </a:lnTo>
                <a:lnTo>
                  <a:pt x="1410029" y="1182073"/>
                </a:lnTo>
                <a:lnTo>
                  <a:pt x="1434609" y="1179654"/>
                </a:lnTo>
                <a:lnTo>
                  <a:pt x="1459081" y="1176977"/>
                </a:lnTo>
                <a:lnTo>
                  <a:pt x="1483435" y="1174043"/>
                </a:lnTo>
                <a:lnTo>
                  <a:pt x="1507660" y="1170854"/>
                </a:lnTo>
                <a:lnTo>
                  <a:pt x="1531746" y="1167412"/>
                </a:lnTo>
                <a:lnTo>
                  <a:pt x="1555683" y="1163717"/>
                </a:lnTo>
                <a:lnTo>
                  <a:pt x="1579458" y="1159771"/>
                </a:lnTo>
                <a:lnTo>
                  <a:pt x="1603063" y="1155577"/>
                </a:lnTo>
                <a:lnTo>
                  <a:pt x="1626486" y="1151135"/>
                </a:lnTo>
                <a:lnTo>
                  <a:pt x="1649717" y="1146448"/>
                </a:lnTo>
                <a:lnTo>
                  <a:pt x="1672746" y="1141518"/>
                </a:lnTo>
                <a:lnTo>
                  <a:pt x="1695563" y="1136348"/>
                </a:lnTo>
                <a:lnTo>
                  <a:pt x="1718157" y="1130939"/>
                </a:lnTo>
                <a:lnTo>
                  <a:pt x="1740520" y="1125293"/>
                </a:lnTo>
                <a:lnTo>
                  <a:pt x="1762640" y="1119414"/>
                </a:lnTo>
              </a:path>
            </a:pathLst>
          </a:custGeom>
          <a:noFill/>
          <a:ln w="25400">
            <a:solidFill>
              <a:srgbClr val="E08A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7" name="Oval 25"/>
          <p:cNvSpPr/>
          <p:nvPr/>
        </p:nvSpPr>
        <p:spPr>
          <a:xfrm>
            <a:off x="11159966" y="2880360"/>
            <a:ext cx="91440" cy="91440"/>
          </a:xfrm>
          <a:prstGeom prst="ellipse">
            <a:avLst/>
          </a:prstGeom>
          <a:solidFill>
            <a:srgbClr val="D93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88" name="TextBox 26"/>
          <p:cNvSpPr txBox="1"/>
          <p:nvPr/>
        </p:nvSpPr>
        <p:spPr>
          <a:xfrm>
            <a:off x="11004518" y="2999232"/>
            <a:ext cx="27432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D93B3B"/>
                </a:solidFill>
                <a:latin typeface="微软雅黑"/>
                <a:ea typeface="微软雅黑"/>
              </a:rPr>
              <a:t>O</a:t>
            </a:r>
            <a:endParaRPr/>
          </a:p>
        </p:txBody>
      </p:sp>
      <p:sp>
        <p:nvSpPr>
          <p:cNvPr id="289" name="TextBox 27"/>
          <p:cNvSpPr txBox="1"/>
          <p:nvPr/>
        </p:nvSpPr>
        <p:spPr>
          <a:xfrm>
            <a:off x="11461718" y="3255264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E08A1E"/>
                </a:solidFill>
                <a:latin typeface="微软雅黑"/>
                <a:ea typeface="微软雅黑"/>
              </a:rPr>
              <a:t>M′</a:t>
            </a:r>
            <a:endParaRPr/>
          </a:p>
        </p:txBody>
      </p:sp>
      <p:sp>
        <p:nvSpPr>
          <p:cNvPr id="290" name="TextBox 28"/>
          <p:cNvSpPr txBox="1"/>
          <p:nvPr/>
        </p:nvSpPr>
        <p:spPr>
          <a:xfrm>
            <a:off x="9098280" y="4114800"/>
            <a:ext cx="2697480" cy="3108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E08A1E"/>
                </a:solidFill>
                <a:latin typeface="微软雅黑"/>
                <a:ea typeface="微软雅黑"/>
              </a:rPr>
              <a:t>M′：中心平移到 O</a:t>
            </a:r>
            <a:endParaRPr/>
          </a:p>
        </p:txBody>
      </p:sp>
      <p:sp>
        <p:nvSpPr>
          <p:cNvPr id="291" name="Right Arrow 29"/>
          <p:cNvSpPr/>
          <p:nvPr/>
        </p:nvSpPr>
        <p:spPr>
          <a:xfrm>
            <a:off x="9015984" y="2788920"/>
            <a:ext cx="402336" cy="274320"/>
          </a:xfrm>
          <a:prstGeom prst="rightArrow">
            <a:avLst/>
          </a:prstGeom>
          <a:solidFill>
            <a:srgbClr val="8FB2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/>
            <a:endParaRPr/>
          </a:p>
        </p:txBody>
      </p:sp>
      <p:sp>
        <p:nvSpPr>
          <p:cNvPr id="292" name="TextBox 30"/>
          <p:cNvSpPr txBox="1"/>
          <p:nvPr/>
        </p:nvSpPr>
        <p:spPr>
          <a:xfrm>
            <a:off x="6263640" y="4443984"/>
            <a:ext cx="553212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B7484"/>
                </a:solidFill>
                <a:latin typeface="微软雅黑"/>
                <a:ea typeface="微软雅黑"/>
              </a:rPr>
              <a:t>沿 x 轴平移 2 个单位（t₀ = 2 时 C(−2, 0) → O）</a:t>
            </a:r>
            <a:endParaRPr/>
          </a:p>
        </p:txBody>
      </p:sp>
      <p:sp>
        <p:nvSpPr>
          <p:cNvPr id="293" name="TextBox 31"/>
          <p:cNvSpPr txBox="1"/>
          <p:nvPr/>
        </p:nvSpPr>
        <p:spPr>
          <a:xfrm>
            <a:off x="822960" y="6428232"/>
            <a:ext cx="7315200" cy="2926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B7484"/>
                </a:solidFill>
                <a:latin typeface="微软雅黑"/>
                <a:ea typeface="微软雅黑"/>
              </a:rPr>
              <a:t>2026 · 新高考Ⅱ卷 · 第18题</a:t>
            </a:r>
            <a:endParaRPr/>
          </a:p>
        </p:txBody>
      </p:sp>
      <p:sp>
        <p:nvSpPr>
          <p:cNvPr id="294" name="TextBox 32"/>
          <p:cNvSpPr txBox="1"/>
          <p:nvPr/>
        </p:nvSpPr>
        <p:spPr>
          <a:xfrm>
            <a:off x="10607040" y="6428232"/>
            <a:ext cx="777240" cy="2926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E6BE6"/>
                </a:solidFill>
                <a:latin typeface="微软雅黑"/>
                <a:ea typeface="微软雅黑"/>
              </a:rPr>
              <a:t>08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a16="http://schemas.microsoft.com/office/drawing/2014/main" xmlns:mc="http://schemas.openxmlformats.org/markup-compatibility/2006" mc:Ignorable="a16">
  <p:cSld>
    <p:spTree>
      <p:nvGrpSpPr>
        <p:cNvPr id="29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TextBox 1"/>
          <p:cNvSpPr txBox="1"/>
          <p:nvPr/>
        </p:nvSpPr>
        <p:spPr>
          <a:xfrm>
            <a:off x="822960" y="384048"/>
            <a:ext cx="10515600" cy="2926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2E6BE6"/>
                </a:solidFill>
                <a:latin typeface="微软雅黑"/>
                <a:ea typeface="微软雅黑"/>
              </a:rPr>
              <a:t>PART 03 · 结论</a:t>
            </a:r>
            <a:endParaRPr/>
          </a:p>
        </p:txBody>
      </p:sp>
      <p:sp>
        <p:nvSpPr>
          <p:cNvPr id="297" name="TextBox 2"/>
          <p:cNvSpPr txBox="1"/>
          <p:nvPr/>
        </p:nvSpPr>
        <p:spPr>
          <a:xfrm>
            <a:off x="822960" y="658368"/>
            <a:ext cx="10607040" cy="640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11223E"/>
                </a:solidFill>
                <a:latin typeface="微软雅黑"/>
                <a:ea typeface="微软雅黑"/>
              </a:rPr>
              <a:t>答案汇总：一张表看完全部结论</a:t>
            </a:r>
            <a:endParaRPr/>
          </a:p>
        </p:txBody>
      </p:sp>
      <p:sp>
        <p:nvSpPr>
          <p:cNvPr id="298" name="Rectangle 3"/>
          <p:cNvSpPr/>
          <p:nvPr/>
        </p:nvSpPr>
        <p:spPr>
          <a:xfrm>
            <a:off x="841248" y="1335024"/>
            <a:ext cx="658368" cy="68580"/>
          </a:xfrm>
          <a:prstGeom prst="rect">
            <a:avLst/>
          </a:prstGeom>
          <a:solidFill>
            <a:srgbClr val="2E6B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graphicFrame>
        <p:nvGraphicFramePr>
          <p:cNvPr id="299" name="Table 4"/>
          <p:cNvGraphicFramePr>
            <a:graphicFrameLocks noGrp="1"/>
          </p:cNvGraphicFramePr>
          <p:nvPr/>
        </p:nvGraphicFramePr>
        <p:xfrm>
          <a:off x="822960" y="1783080"/>
          <a:ext cx="10543032" cy="2267712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148840">
                  <a:extLst>
                    <a:ext uri="{9D8B030D-6E8A-4147-A177-3AD203B41FA5}">
                      <a16:colId val="1"/>
                    </a:ext>
                  </a:extLst>
                </a:gridCol>
                <a:gridCol w="2286000">
                  <a:extLst>
                    <a:ext uri="{9D8B030D-6E8A-4147-A177-3AD203B41FA5}">
                      <a16:colId val="2"/>
                    </a:ext>
                  </a:extLst>
                </a:gridCol>
                <a:gridCol w="1600200">
                  <a:extLst>
                    <a:ext uri="{9D8B030D-6E8A-4147-A177-3AD203B41FA5}">
                      <a16:colId val="3"/>
                    </a:ext>
                  </a:extLst>
                </a:gridCol>
                <a:gridCol w="2770632">
                  <a:extLst>
                    <a:ext uri="{9D8B030D-6E8A-4147-A177-3AD203B41FA5}">
                      <a16:colId val="4"/>
                    </a:ext>
                  </a:extLst>
                </a:gridCol>
                <a:gridCol w="1737360">
                  <a:extLst>
                    <a:ext uri="{9D8B030D-6E8A-4147-A177-3AD203B41FA5}">
                      <a16:colId val="5"/>
                    </a:ext>
                  </a:extLst>
                </a:gridCol>
              </a:tblGrid>
              <a:tr h="56692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25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t₀ 的范围</a:t>
                      </a:r>
                      <a:endParaRPr/>
                    </a:p>
                  </a:txBody>
                  <a:tcPr marL="82296" marR="82296" marT="27432" marB="27432" anchor="ctr">
                    <a:solidFill>
                      <a:srgbClr val="11223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25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离心率 e = √2/|t₀|</a:t>
                      </a:r>
                      <a:endParaRPr/>
                    </a:p>
                  </a:txBody>
                  <a:tcPr marL="82296" marR="82296" marT="27432" marB="27432" anchor="ctr">
                    <a:solidFill>
                      <a:srgbClr val="11223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25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M 的类型</a:t>
                      </a:r>
                      <a:endParaRPr/>
                    </a:p>
                  </a:txBody>
                  <a:tcPr marL="82296" marR="82296" marT="27432" marB="27432" anchor="ctr">
                    <a:solidFill>
                      <a:srgbClr val="11223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25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M 的中心</a:t>
                      </a:r>
                      <a:endParaRPr/>
                    </a:p>
                  </a:txBody>
                  <a:tcPr marL="82296" marR="82296" marT="27432" marB="27432" anchor="ctr">
                    <a:solidFill>
                      <a:srgbClr val="11223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25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M′ 的形状</a:t>
                      </a:r>
                      <a:endParaRPr/>
                    </a:p>
                  </a:txBody>
                  <a:tcPr marL="82296" marR="82296" marT="27432" marB="27432" anchor="ctr">
                    <a:solidFill>
                      <a:srgbClr val="11223E"/>
                    </a:solidFill>
                  </a:tcPr>
                </a:tc>
                <a:extLst>
                  <a:ext uri="{0D108BD9-81ED-4DB2-BD59-A6C34878D82A}">
                    <a16:rowId val="1"/>
                  </a:ext>
                </a:extLst>
              </a:tr>
              <a:tr h="56692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250" b="0" i="0">
                          <a:solidFill>
                            <a:srgbClr val="1B222E"/>
                          </a:solidFill>
                          <a:latin typeface="微软雅黑"/>
                          <a:ea typeface="微软雅黑"/>
                        </a:rPr>
                        <a:t>0 &lt; |t₀| &lt; √2</a:t>
                      </a:r>
                      <a:endParaRPr/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250" b="0" i="0">
                          <a:solidFill>
                            <a:srgbClr val="1B222E"/>
                          </a:solidFill>
                          <a:latin typeface="微软雅黑"/>
                          <a:ea typeface="微软雅黑"/>
                        </a:rPr>
                        <a:t>e &gt; 1</a:t>
                      </a:r>
                      <a:endParaRPr/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250" b="0" i="0">
                          <a:solidFill>
                            <a:srgbClr val="1B222E"/>
                          </a:solidFill>
                          <a:latin typeface="微软雅黑"/>
                          <a:ea typeface="微软雅黑"/>
                        </a:rPr>
                        <a:t>双曲线</a:t>
                      </a:r>
                      <a:endParaRPr/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250" b="0" i="0">
                          <a:solidFill>
                            <a:srgbClr val="1B222E"/>
                          </a:solidFill>
                          <a:latin typeface="微软雅黑"/>
                          <a:ea typeface="微软雅黑"/>
                        </a:rPr>
                        <a:t>(2t₀/(2 − t₀²), 0)</a:t>
                      </a:r>
                      <a:endParaRPr/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250" b="0" i="0">
                          <a:solidFill>
                            <a:srgbClr val="1B222E"/>
                          </a:solidFill>
                          <a:latin typeface="微软雅黑"/>
                          <a:ea typeface="微软雅黑"/>
                        </a:rPr>
                        <a:t>双曲线</a:t>
                      </a:r>
                      <a:endParaRPr/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val="2"/>
                  </a:ext>
                </a:extLst>
              </a:tr>
              <a:tr h="56692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250" b="0" i="0">
                          <a:solidFill>
                            <a:srgbClr val="1B222E"/>
                          </a:solidFill>
                          <a:latin typeface="微软雅黑"/>
                          <a:ea typeface="微软雅黑"/>
                        </a:rPr>
                        <a:t>|t₀| = √2</a:t>
                      </a:r>
                      <a:endParaRPr/>
                    </a:p>
                  </a:txBody>
                  <a:tcPr marL="82296" marR="82296" marT="27432" marB="27432" anchor="ctr">
                    <a:solidFill>
                      <a:srgbClr val="E6F6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250" b="0" i="0">
                          <a:solidFill>
                            <a:srgbClr val="1B222E"/>
                          </a:solidFill>
                          <a:latin typeface="微软雅黑"/>
                          <a:ea typeface="微软雅黑"/>
                        </a:rPr>
                        <a:t>e = 1</a:t>
                      </a:r>
                      <a:endParaRPr/>
                    </a:p>
                  </a:txBody>
                  <a:tcPr marL="82296" marR="82296" marT="27432" marB="27432" anchor="ctr">
                    <a:solidFill>
                      <a:srgbClr val="E6F6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250" b="0" i="0">
                          <a:solidFill>
                            <a:srgbClr val="1B222E"/>
                          </a:solidFill>
                          <a:latin typeface="微软雅黑"/>
                          <a:ea typeface="微软雅黑"/>
                        </a:rPr>
                        <a:t>抛物线</a:t>
                      </a:r>
                      <a:endParaRPr/>
                    </a:p>
                  </a:txBody>
                  <a:tcPr marL="82296" marR="82296" marT="27432" marB="27432" anchor="ctr">
                    <a:solidFill>
                      <a:srgbClr val="E6F6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250" b="0" i="0">
                          <a:solidFill>
                            <a:srgbClr val="1B222E"/>
                          </a:solidFill>
                          <a:latin typeface="微软雅黑"/>
                          <a:ea typeface="微软雅黑"/>
                        </a:rPr>
                        <a:t>不存在中心点</a:t>
                      </a:r>
                      <a:endParaRPr/>
                    </a:p>
                  </a:txBody>
                  <a:tcPr marL="82296" marR="82296" marT="27432" marB="27432" anchor="ctr">
                    <a:solidFill>
                      <a:srgbClr val="E6F6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250" b="0" i="0">
                          <a:solidFill>
                            <a:srgbClr val="1B222E"/>
                          </a:solidFill>
                          <a:latin typeface="微软雅黑"/>
                          <a:ea typeface="微软雅黑"/>
                        </a:rPr>
                        <a:t>抛物线</a:t>
                      </a:r>
                      <a:endParaRPr/>
                    </a:p>
                  </a:txBody>
                  <a:tcPr marL="82296" marR="82296" marT="27432" marB="27432" anchor="ctr">
                    <a:solidFill>
                      <a:srgbClr val="E6F6F1"/>
                    </a:solidFill>
                  </a:tcPr>
                </a:tc>
                <a:extLst>
                  <a:ext uri="{0D108BD9-81ED-4DB2-BD59-A6C34878D82A}">
                    <a16:rowId val="3"/>
                  </a:ext>
                </a:extLst>
              </a:tr>
              <a:tr h="56692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250" b="0" i="0">
                          <a:solidFill>
                            <a:srgbClr val="1B222E"/>
                          </a:solidFill>
                          <a:latin typeface="微软雅黑"/>
                          <a:ea typeface="微软雅黑"/>
                        </a:rPr>
                        <a:t>|t₀| &gt; √2</a:t>
                      </a:r>
                      <a:endParaRPr/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250" b="0" i="0">
                          <a:solidFill>
                            <a:srgbClr val="1B222E"/>
                          </a:solidFill>
                          <a:latin typeface="微软雅黑"/>
                          <a:ea typeface="微软雅黑"/>
                        </a:rPr>
                        <a:t>e &lt; 1</a:t>
                      </a:r>
                      <a:endParaRPr/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250" b="0" i="0">
                          <a:solidFill>
                            <a:srgbClr val="1B222E"/>
                          </a:solidFill>
                          <a:latin typeface="微软雅黑"/>
                          <a:ea typeface="微软雅黑"/>
                        </a:rPr>
                        <a:t>椭圆</a:t>
                      </a:r>
                      <a:endParaRPr/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250" b="0" i="0">
                          <a:solidFill>
                            <a:srgbClr val="1B222E"/>
                          </a:solidFill>
                          <a:latin typeface="微软雅黑"/>
                          <a:ea typeface="微软雅黑"/>
                        </a:rPr>
                        <a:t>(2t₀/(2 − t₀²), 0)</a:t>
                      </a:r>
                      <a:endParaRPr/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250" b="0" i="0">
                          <a:solidFill>
                            <a:srgbClr val="1B222E"/>
                          </a:solidFill>
                          <a:latin typeface="微软雅黑"/>
                          <a:ea typeface="微软雅黑"/>
                        </a:rPr>
                        <a:t>椭圆</a:t>
                      </a:r>
                      <a:endParaRPr/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val="4"/>
                  </a:ext>
                </a:extLst>
              </a:tr>
            </a:tbl>
          </a:graphicData>
        </a:graphic>
      </p:graphicFrame>
      <p:sp>
        <p:nvSpPr>
          <p:cNvPr id="300" name="Rounded Rectangle 5"/>
          <p:cNvSpPr/>
          <p:nvPr/>
        </p:nvSpPr>
        <p:spPr>
          <a:xfrm>
            <a:off x="822960" y="4434840"/>
            <a:ext cx="10543032" cy="1572768"/>
          </a:xfrm>
          <a:prstGeom prst="roundRect">
            <a:avLst>
              <a:gd name="adj" fmla="val 10000"/>
            </a:avLst>
          </a:prstGeom>
          <a:solidFill>
            <a:srgbClr val="E8F0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01" name="Rectangle 6"/>
          <p:cNvSpPr/>
          <p:nvPr/>
        </p:nvSpPr>
        <p:spPr>
          <a:xfrm>
            <a:off x="822960" y="4434840"/>
            <a:ext cx="68580" cy="1572768"/>
          </a:xfrm>
          <a:prstGeom prst="rect">
            <a:avLst/>
          </a:prstGeom>
          <a:solidFill>
            <a:srgbClr val="2E6B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02" name="TextBox 7"/>
          <p:cNvSpPr txBox="1"/>
          <p:nvPr/>
        </p:nvSpPr>
        <p:spPr>
          <a:xfrm>
            <a:off x="1188720" y="4626864"/>
            <a:ext cx="9875520" cy="12344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800"/>
              </a:spcAft>
            </a:pPr>
            <a:r>
              <a:rPr sz="1400" b="1" i="0">
                <a:solidFill>
                  <a:srgbClr val="2E6BE6"/>
                </a:solidFill>
                <a:latin typeface="微软雅黑"/>
                <a:ea typeface="微软雅黑"/>
              </a:rPr>
              <a:t>两个标准方程（M′ 关于 O 中心对称）</a:t>
            </a:r>
            <a:endParaRPr/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 i="0">
                <a:solidFill>
                  <a:srgbClr val="0EA57A"/>
                </a:solidFill>
                <a:latin typeface="微软雅黑"/>
                <a:ea typeface="微软雅黑"/>
              </a:rPr>
              <a:t>0 &lt; |t₀| &lt; √2（双曲线）：</a:t>
            </a:r>
            <a:r>
              <a:rPr sz="1350" b="0" i="0">
                <a:solidFill>
                  <a:srgbClr val="1B222E"/>
                </a:solidFill>
                <a:latin typeface="微软雅黑"/>
                <a:ea typeface="微软雅黑"/>
              </a:rPr>
              <a:t>(2 − t₀²)²X² / (2t₀⁴) − (2 − t₀²)Y² / t₀² = 1</a:t>
            </a:r>
            <a:endParaRPr/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E08A1E"/>
                </a:solidFill>
                <a:latin typeface="微软雅黑"/>
                <a:ea typeface="微软雅黑"/>
              </a:rPr>
              <a:t>|t₀| &gt; √2（椭圆）：</a:t>
            </a:r>
            <a:r>
              <a:rPr sz="1350" b="0" i="0">
                <a:solidFill>
                  <a:srgbClr val="1B222E"/>
                </a:solidFill>
                <a:latin typeface="微软雅黑"/>
                <a:ea typeface="微软雅黑"/>
              </a:rPr>
              <a:t>(t₀² − 2)²X² / (2t₀⁴) + (t₀² − 2)Y² / t₀² = 1</a:t>
            </a:r>
            <a:endParaRPr/>
          </a:p>
        </p:txBody>
      </p:sp>
      <p:sp>
        <p:nvSpPr>
          <p:cNvPr id="303" name="TextBox 8"/>
          <p:cNvSpPr txBox="1"/>
          <p:nvPr/>
        </p:nvSpPr>
        <p:spPr>
          <a:xfrm>
            <a:off x="822960" y="6428232"/>
            <a:ext cx="7315200" cy="2926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B7484"/>
                </a:solidFill>
                <a:latin typeface="微软雅黑"/>
                <a:ea typeface="微软雅黑"/>
              </a:rPr>
              <a:t>2026 · 新高考Ⅱ卷 · 第18题</a:t>
            </a:r>
            <a:endParaRPr/>
          </a:p>
        </p:txBody>
      </p:sp>
      <p:sp>
        <p:nvSpPr>
          <p:cNvPr id="304" name="TextBox 9"/>
          <p:cNvSpPr txBox="1"/>
          <p:nvPr/>
        </p:nvSpPr>
        <p:spPr>
          <a:xfrm>
            <a:off x="10607040" y="6428232"/>
            <a:ext cx="777240" cy="2926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E6BE6"/>
                </a:solidFill>
                <a:latin typeface="微软雅黑"/>
                <a:ea typeface="微软雅黑"/>
              </a:rPr>
              <a:t>09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>
  <p:cSld>
    <p:spTree>
      <p:nvGrpSpPr>
        <p:cNvPr id="1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Box 1"/>
          <p:cNvSpPr txBox="1"/>
          <p:nvPr/>
        </p:nvSpPr>
        <p:spPr>
          <a:xfrm>
            <a:off x="822960" y="384048"/>
            <a:ext cx="10515600" cy="2926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2E6BE6"/>
                </a:solidFill>
                <a:latin typeface="微软雅黑"/>
                <a:ea typeface="微软雅黑"/>
              </a:rPr>
              <a:t>PART 03 · 图像验证</a:t>
            </a:r>
            <a:endParaRPr/>
          </a:p>
        </p:txBody>
      </p:sp>
      <p:sp>
        <p:nvSpPr>
          <p:cNvPr id="18" name="TextBox 2"/>
          <p:cNvSpPr txBox="1"/>
          <p:nvPr/>
        </p:nvSpPr>
        <p:spPr>
          <a:xfrm>
            <a:off x="822960" y="658368"/>
            <a:ext cx="10607040" cy="640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11223E"/>
                </a:solidFill>
                <a:latin typeface="微软雅黑"/>
                <a:ea typeface="微软雅黑"/>
              </a:rPr>
              <a:t>三个典型 t₀：把答案画出来</a:t>
            </a:r>
            <a:endParaRPr/>
          </a:p>
        </p:txBody>
      </p:sp>
      <p:sp>
        <p:nvSpPr>
          <p:cNvPr id="19" name="Rectangle 3"/>
          <p:cNvSpPr/>
          <p:nvPr/>
        </p:nvSpPr>
        <p:spPr>
          <a:xfrm>
            <a:off x="841248" y="1335024"/>
            <a:ext cx="658368" cy="68580"/>
          </a:xfrm>
          <a:prstGeom prst="rect">
            <a:avLst/>
          </a:prstGeom>
          <a:solidFill>
            <a:srgbClr val="2E6B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0" name="Rectangle 4"/>
          <p:cNvSpPr/>
          <p:nvPr/>
        </p:nvSpPr>
        <p:spPr>
          <a:xfrm>
            <a:off x="658368" y="1700784"/>
            <a:ext cx="3383280" cy="3200400"/>
          </a:xfrm>
          <a:prstGeom prst="rect">
            <a:avLst/>
          </a:prstGeom>
          <a:noFill/>
          <a:ln w="12700">
            <a:solidFill>
              <a:srgbClr val="CFD7E3"/>
            </a:solidFill>
            <a:prstDash val="sysDot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1" name="Freeform 5"/>
          <p:cNvSpPr/>
          <p:nvPr/>
        </p:nvSpPr>
        <p:spPr>
          <a:xfrm>
            <a:off x="658368" y="3300984"/>
            <a:ext cx="3383280" cy="0"/>
          </a:xfrm>
          <a:custGeom>
            <a:avLst/>
            <a:gdLst/>
            <a:ahLst/>
            <a:cxnLst/>
            <a:rect l="l" t="t" r="r" b="b"/>
            <a:pathLst>
              <a:path w="3383280" h="0">
                <a:moveTo>
                  <a:pt x="0" y="0"/>
                </a:moveTo>
                <a:lnTo>
                  <a:pt x="3383280" y="0"/>
                </a:lnTo>
              </a:path>
            </a:pathLst>
          </a:custGeom>
          <a:noFill/>
          <a:ln w="13970">
            <a:solidFill>
              <a:srgbClr val="CFD7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Freeform 6"/>
          <p:cNvSpPr/>
          <p:nvPr/>
        </p:nvSpPr>
        <p:spPr>
          <a:xfrm>
            <a:off x="1491175" y="2259974"/>
            <a:ext cx="0" cy="2082019"/>
          </a:xfrm>
          <a:custGeom>
            <a:avLst/>
            <a:gdLst/>
            <a:ahLst/>
            <a:cxnLst/>
            <a:rect l="l" t="t" r="r" b="b"/>
            <a:pathLst>
              <a:path w="0" h="2082019">
                <a:moveTo>
                  <a:pt x="0" y="2082019"/>
                </a:moveTo>
                <a:lnTo>
                  <a:pt x="0" y="0"/>
                </a:lnTo>
              </a:path>
            </a:pathLst>
          </a:custGeom>
          <a:noFill/>
          <a:ln w="13970">
            <a:solidFill>
              <a:srgbClr val="CFD7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Freeform 7"/>
          <p:cNvSpPr/>
          <p:nvPr/>
        </p:nvSpPr>
        <p:spPr>
          <a:xfrm>
            <a:off x="2532184" y="3269753"/>
            <a:ext cx="0" cy="62461"/>
          </a:xfrm>
          <a:custGeom>
            <a:avLst/>
            <a:gdLst/>
            <a:ahLst/>
            <a:cxnLst/>
            <a:rect l="l" t="t" r="r" b="b"/>
            <a:pathLst>
              <a:path w="0" h="62461">
                <a:moveTo>
                  <a:pt x="0" y="62461"/>
                </a:moveTo>
                <a:lnTo>
                  <a:pt x="0" y="0"/>
                </a:lnTo>
              </a:path>
            </a:pathLst>
          </a:custGeom>
          <a:noFill/>
          <a:ln w="12700">
            <a:solidFill>
              <a:srgbClr val="CFD7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8"/>
          <p:cNvSpPr txBox="1"/>
          <p:nvPr/>
        </p:nvSpPr>
        <p:spPr>
          <a:xfrm>
            <a:off x="2257864" y="3346703"/>
            <a:ext cx="548640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B7484"/>
                </a:solidFill>
                <a:latin typeface="微软雅黑"/>
                <a:ea typeface="微软雅黑"/>
              </a:rPr>
              <a:t>2</a:t>
            </a:r>
            <a:endParaRPr/>
          </a:p>
        </p:txBody>
      </p:sp>
      <p:sp>
        <p:nvSpPr>
          <p:cNvPr id="25" name="Freeform 9"/>
          <p:cNvSpPr/>
          <p:nvPr/>
        </p:nvSpPr>
        <p:spPr>
          <a:xfrm>
            <a:off x="1459945" y="3821488"/>
            <a:ext cx="62460" cy="0"/>
          </a:xfrm>
          <a:custGeom>
            <a:avLst/>
            <a:gdLst/>
            <a:ahLst/>
            <a:cxnLst/>
            <a:rect l="l" t="t" r="r" b="b"/>
            <a:pathLst>
              <a:path w="62460" h="0">
                <a:moveTo>
                  <a:pt x="0" y="0"/>
                </a:moveTo>
                <a:lnTo>
                  <a:pt x="62460" y="0"/>
                </a:lnTo>
              </a:path>
            </a:pathLst>
          </a:custGeom>
          <a:noFill/>
          <a:ln w="12700">
            <a:solidFill>
              <a:srgbClr val="CFD7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10"/>
          <p:cNvSpPr txBox="1"/>
          <p:nvPr/>
        </p:nvSpPr>
        <p:spPr>
          <a:xfrm>
            <a:off x="1546039" y="3702616"/>
            <a:ext cx="548640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B7484"/>
                </a:solidFill>
                <a:latin typeface="微软雅黑"/>
                <a:ea typeface="微软雅黑"/>
              </a:rPr>
              <a:t>-1</a:t>
            </a:r>
            <a:endParaRPr/>
          </a:p>
        </p:txBody>
      </p:sp>
      <p:sp>
        <p:nvSpPr>
          <p:cNvPr id="27" name="Freeform 11"/>
          <p:cNvSpPr/>
          <p:nvPr/>
        </p:nvSpPr>
        <p:spPr>
          <a:xfrm>
            <a:off x="1459945" y="2780479"/>
            <a:ext cx="62460" cy="0"/>
          </a:xfrm>
          <a:custGeom>
            <a:avLst/>
            <a:gdLst/>
            <a:ahLst/>
            <a:cxnLst/>
            <a:rect l="l" t="t" r="r" b="b"/>
            <a:pathLst>
              <a:path w="62460" h="0">
                <a:moveTo>
                  <a:pt x="0" y="0"/>
                </a:moveTo>
                <a:lnTo>
                  <a:pt x="62460" y="0"/>
                </a:lnTo>
              </a:path>
            </a:pathLst>
          </a:custGeom>
          <a:noFill/>
          <a:ln w="12700">
            <a:solidFill>
              <a:srgbClr val="CFD7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12"/>
          <p:cNvSpPr txBox="1"/>
          <p:nvPr/>
        </p:nvSpPr>
        <p:spPr>
          <a:xfrm>
            <a:off x="1546039" y="2661607"/>
            <a:ext cx="548640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B7484"/>
                </a:solidFill>
                <a:latin typeface="微软雅黑"/>
                <a:ea typeface="微软雅黑"/>
              </a:rPr>
              <a:t>1</a:t>
            </a:r>
            <a:endParaRPr/>
          </a:p>
        </p:txBody>
      </p:sp>
      <p:sp>
        <p:nvSpPr>
          <p:cNvPr id="29" name="TextBox 13"/>
          <p:cNvSpPr txBox="1"/>
          <p:nvPr/>
        </p:nvSpPr>
        <p:spPr>
          <a:xfrm>
            <a:off x="4059935" y="3063239"/>
            <a:ext cx="128016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B7484"/>
                </a:solidFill>
                <a:latin typeface="微软雅黑"/>
                <a:ea typeface="微软雅黑"/>
              </a:rPr>
              <a:t>x</a:t>
            </a:r>
            <a:endParaRPr/>
          </a:p>
        </p:txBody>
      </p:sp>
      <p:sp>
        <p:nvSpPr>
          <p:cNvPr id="30" name="TextBox 14"/>
          <p:cNvSpPr txBox="1"/>
          <p:nvPr/>
        </p:nvSpPr>
        <p:spPr>
          <a:xfrm>
            <a:off x="1253431" y="2241686"/>
            <a:ext cx="128016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B7484"/>
                </a:solidFill>
                <a:latin typeface="微软雅黑"/>
                <a:ea typeface="微软雅黑"/>
              </a:rPr>
              <a:t>y</a:t>
            </a:r>
            <a:endParaRPr/>
          </a:p>
        </p:txBody>
      </p:sp>
      <p:sp>
        <p:nvSpPr>
          <p:cNvPr id="31" name="Freeform 15"/>
          <p:cNvSpPr/>
          <p:nvPr/>
        </p:nvSpPr>
        <p:spPr>
          <a:xfrm>
            <a:off x="755111" y="2780486"/>
            <a:ext cx="1472169" cy="1040995"/>
          </a:xfrm>
          <a:custGeom>
            <a:avLst/>
            <a:gdLst/>
            <a:ahLst/>
            <a:cxnLst/>
            <a:rect l="l" t="t" r="r" b="b"/>
            <a:pathLst>
              <a:path w="1472169" h="1040995">
                <a:moveTo>
                  <a:pt x="1472169" y="520498"/>
                </a:moveTo>
                <a:lnTo>
                  <a:pt x="1472006" y="509560"/>
                </a:lnTo>
                <a:lnTo>
                  <a:pt x="1471519" y="498628"/>
                </a:lnTo>
                <a:lnTo>
                  <a:pt x="1470706" y="487706"/>
                </a:lnTo>
                <a:lnTo>
                  <a:pt x="1469570" y="476797"/>
                </a:lnTo>
                <a:lnTo>
                  <a:pt x="1468109" y="465909"/>
                </a:lnTo>
                <a:lnTo>
                  <a:pt x="1466325" y="455044"/>
                </a:lnTo>
                <a:lnTo>
                  <a:pt x="1464219" y="444208"/>
                </a:lnTo>
                <a:lnTo>
                  <a:pt x="1461791" y="433406"/>
                </a:lnTo>
                <a:lnTo>
                  <a:pt x="1459043" y="422642"/>
                </a:lnTo>
                <a:lnTo>
                  <a:pt x="1455976" y="411922"/>
                </a:lnTo>
                <a:lnTo>
                  <a:pt x="1452590" y="401249"/>
                </a:lnTo>
                <a:lnTo>
                  <a:pt x="1448888" y="390630"/>
                </a:lnTo>
                <a:lnTo>
                  <a:pt x="1444872" y="380067"/>
                </a:lnTo>
                <a:lnTo>
                  <a:pt x="1440542" y="369567"/>
                </a:lnTo>
                <a:lnTo>
                  <a:pt x="1435902" y="359133"/>
                </a:lnTo>
                <a:lnTo>
                  <a:pt x="1430952" y="348770"/>
                </a:lnTo>
                <a:lnTo>
                  <a:pt x="1425696" y="338483"/>
                </a:lnTo>
                <a:lnTo>
                  <a:pt x="1420135" y="328277"/>
                </a:lnTo>
                <a:lnTo>
                  <a:pt x="1414271" y="318155"/>
                </a:lnTo>
                <a:lnTo>
                  <a:pt x="1408109" y="308123"/>
                </a:lnTo>
                <a:lnTo>
                  <a:pt x="1401650" y="298185"/>
                </a:lnTo>
                <a:lnTo>
                  <a:pt x="1394896" y="288345"/>
                </a:lnTo>
                <a:lnTo>
                  <a:pt x="1387852" y="278607"/>
                </a:lnTo>
                <a:lnTo>
                  <a:pt x="1380520" y="268976"/>
                </a:lnTo>
                <a:lnTo>
                  <a:pt x="1372904" y="259456"/>
                </a:lnTo>
                <a:lnTo>
                  <a:pt x="1365006" y="250052"/>
                </a:lnTo>
                <a:lnTo>
                  <a:pt x="1356831" y="240767"/>
                </a:lnTo>
                <a:lnTo>
                  <a:pt x="1348381" y="231605"/>
                </a:lnTo>
                <a:lnTo>
                  <a:pt x="1339661" y="222571"/>
                </a:lnTo>
                <a:lnTo>
                  <a:pt x="1330675" y="213668"/>
                </a:lnTo>
                <a:lnTo>
                  <a:pt x="1321426" y="204901"/>
                </a:lnTo>
                <a:lnTo>
                  <a:pt x="1311918" y="196274"/>
                </a:lnTo>
                <a:lnTo>
                  <a:pt x="1302156" y="187789"/>
                </a:lnTo>
                <a:lnTo>
                  <a:pt x="1292144" y="179452"/>
                </a:lnTo>
                <a:lnTo>
                  <a:pt x="1281887" y="171265"/>
                </a:lnTo>
                <a:lnTo>
                  <a:pt x="1271389" y="163232"/>
                </a:lnTo>
                <a:lnTo>
                  <a:pt x="1260654" y="155357"/>
                </a:lnTo>
                <a:lnTo>
                  <a:pt x="1249688" y="147643"/>
                </a:lnTo>
                <a:lnTo>
                  <a:pt x="1238494" y="140094"/>
                </a:lnTo>
                <a:lnTo>
                  <a:pt x="1227079" y="132713"/>
                </a:lnTo>
                <a:lnTo>
                  <a:pt x="1215448" y="125503"/>
                </a:lnTo>
                <a:lnTo>
                  <a:pt x="1203604" y="118467"/>
                </a:lnTo>
                <a:lnTo>
                  <a:pt x="1191554" y="111609"/>
                </a:lnTo>
                <a:lnTo>
                  <a:pt x="1179303" y="104932"/>
                </a:lnTo>
                <a:lnTo>
                  <a:pt x="1166856" y="98438"/>
                </a:lnTo>
                <a:lnTo>
                  <a:pt x="1154219" y="92131"/>
                </a:lnTo>
                <a:lnTo>
                  <a:pt x="1141397" y="86012"/>
                </a:lnTo>
                <a:lnTo>
                  <a:pt x="1128397" y="80086"/>
                </a:lnTo>
                <a:lnTo>
                  <a:pt x="1115223" y="74354"/>
                </a:lnTo>
                <a:lnTo>
                  <a:pt x="1101881" y="68819"/>
                </a:lnTo>
                <a:lnTo>
                  <a:pt x="1088378" y="63483"/>
                </a:lnTo>
                <a:lnTo>
                  <a:pt x="1074720" y="58349"/>
                </a:lnTo>
                <a:lnTo>
                  <a:pt x="1060912" y="53419"/>
                </a:lnTo>
                <a:lnTo>
                  <a:pt x="1046960" y="48696"/>
                </a:lnTo>
                <a:lnTo>
                  <a:pt x="1032872" y="44181"/>
                </a:lnTo>
                <a:lnTo>
                  <a:pt x="1018652" y="39876"/>
                </a:lnTo>
                <a:lnTo>
                  <a:pt x="1004307" y="35783"/>
                </a:lnTo>
                <a:lnTo>
                  <a:pt x="989844" y="31905"/>
                </a:lnTo>
                <a:lnTo>
                  <a:pt x="975269" y="28242"/>
                </a:lnTo>
                <a:lnTo>
                  <a:pt x="960588" y="24797"/>
                </a:lnTo>
                <a:lnTo>
                  <a:pt x="945809" y="21570"/>
                </a:lnTo>
                <a:lnTo>
                  <a:pt x="930936" y="18564"/>
                </a:lnTo>
                <a:lnTo>
                  <a:pt x="915978" y="15779"/>
                </a:lnTo>
                <a:lnTo>
                  <a:pt x="900940" y="13217"/>
                </a:lnTo>
                <a:lnTo>
                  <a:pt x="885829" y="10880"/>
                </a:lnTo>
                <a:lnTo>
                  <a:pt x="870652" y="8767"/>
                </a:lnTo>
                <a:lnTo>
                  <a:pt x="855416" y="6880"/>
                </a:lnTo>
                <a:lnTo>
                  <a:pt x="840126" y="5220"/>
                </a:lnTo>
                <a:lnTo>
                  <a:pt x="824791" y="3788"/>
                </a:lnTo>
                <a:lnTo>
                  <a:pt x="809417" y="2584"/>
                </a:lnTo>
                <a:lnTo>
                  <a:pt x="794011" y="1608"/>
                </a:lnTo>
                <a:lnTo>
                  <a:pt x="778579" y="862"/>
                </a:lnTo>
                <a:lnTo>
                  <a:pt x="763128" y="345"/>
                </a:lnTo>
                <a:lnTo>
                  <a:pt x="747665" y="58"/>
                </a:lnTo>
                <a:lnTo>
                  <a:pt x="732197" y="0"/>
                </a:lnTo>
                <a:lnTo>
                  <a:pt x="716730" y="172"/>
                </a:lnTo>
                <a:lnTo>
                  <a:pt x="701273" y="575"/>
                </a:lnTo>
                <a:lnTo>
                  <a:pt x="685830" y="1206"/>
                </a:lnTo>
                <a:lnTo>
                  <a:pt x="670410" y="2067"/>
                </a:lnTo>
                <a:lnTo>
                  <a:pt x="655019" y="3157"/>
                </a:lnTo>
                <a:lnTo>
                  <a:pt x="639663" y="4476"/>
                </a:lnTo>
                <a:lnTo>
                  <a:pt x="624351" y="6022"/>
                </a:lnTo>
                <a:lnTo>
                  <a:pt x="609087" y="7795"/>
                </a:lnTo>
                <a:lnTo>
                  <a:pt x="593880" y="9795"/>
                </a:lnTo>
                <a:lnTo>
                  <a:pt x="578735" y="12021"/>
                </a:lnTo>
                <a:lnTo>
                  <a:pt x="563660" y="14470"/>
                </a:lnTo>
                <a:lnTo>
                  <a:pt x="548661" y="17144"/>
                </a:lnTo>
                <a:lnTo>
                  <a:pt x="533744" y="20039"/>
                </a:lnTo>
                <a:lnTo>
                  <a:pt x="518917" y="23156"/>
                </a:lnTo>
                <a:lnTo>
                  <a:pt x="504186" y="26492"/>
                </a:lnTo>
                <a:lnTo>
                  <a:pt x="489557" y="30046"/>
                </a:lnTo>
                <a:lnTo>
                  <a:pt x="475038" y="33817"/>
                </a:lnTo>
                <a:lnTo>
                  <a:pt x="460633" y="37803"/>
                </a:lnTo>
                <a:lnTo>
                  <a:pt x="446350" y="42002"/>
                </a:lnTo>
                <a:lnTo>
                  <a:pt x="432195" y="46412"/>
                </a:lnTo>
                <a:lnTo>
                  <a:pt x="418174" y="51032"/>
                </a:lnTo>
                <a:lnTo>
                  <a:pt x="404294" y="55859"/>
                </a:lnTo>
                <a:lnTo>
                  <a:pt x="390560" y="60891"/>
                </a:lnTo>
                <a:lnTo>
                  <a:pt x="376978" y="66126"/>
                </a:lnTo>
                <a:lnTo>
                  <a:pt x="363555" y="71561"/>
                </a:lnTo>
                <a:lnTo>
                  <a:pt x="350297" y="77195"/>
                </a:lnTo>
                <a:lnTo>
                  <a:pt x="337209" y="83025"/>
                </a:lnTo>
                <a:lnTo>
                  <a:pt x="324297" y="89048"/>
                </a:lnTo>
                <a:lnTo>
                  <a:pt x="311567" y="95261"/>
                </a:lnTo>
                <a:lnTo>
                  <a:pt x="299024" y="101662"/>
                </a:lnTo>
                <a:lnTo>
                  <a:pt x="286674" y="108248"/>
                </a:lnTo>
                <a:lnTo>
                  <a:pt x="274523" y="115016"/>
                </a:lnTo>
                <a:lnTo>
                  <a:pt x="262576" y="121963"/>
                </a:lnTo>
                <a:lnTo>
                  <a:pt x="250837" y="129086"/>
                </a:lnTo>
                <a:lnTo>
                  <a:pt x="239313" y="136382"/>
                </a:lnTo>
                <a:lnTo>
                  <a:pt x="228009" y="143848"/>
                </a:lnTo>
                <a:lnTo>
                  <a:pt x="216928" y="151480"/>
                </a:lnTo>
                <a:lnTo>
                  <a:pt x="206077" y="159274"/>
                </a:lnTo>
                <a:lnTo>
                  <a:pt x="195460" y="167229"/>
                </a:lnTo>
                <a:lnTo>
                  <a:pt x="185082" y="175339"/>
                </a:lnTo>
                <a:lnTo>
                  <a:pt x="174947" y="183602"/>
                </a:lnTo>
                <a:lnTo>
                  <a:pt x="165059" y="192013"/>
                </a:lnTo>
                <a:lnTo>
                  <a:pt x="155424" y="200570"/>
                </a:lnTo>
                <a:lnTo>
                  <a:pt x="146045" y="209268"/>
                </a:lnTo>
                <a:lnTo>
                  <a:pt x="136927" y="218103"/>
                </a:lnTo>
                <a:lnTo>
                  <a:pt x="128073" y="227072"/>
                </a:lnTo>
                <a:lnTo>
                  <a:pt x="119488" y="236170"/>
                </a:lnTo>
                <a:lnTo>
                  <a:pt x="111175" y="245394"/>
                </a:lnTo>
                <a:lnTo>
                  <a:pt x="103138" y="254739"/>
                </a:lnTo>
                <a:lnTo>
                  <a:pt x="95380" y="264202"/>
                </a:lnTo>
                <a:lnTo>
                  <a:pt x="87906" y="273778"/>
                </a:lnTo>
                <a:lnTo>
                  <a:pt x="80717" y="283463"/>
                </a:lnTo>
                <a:lnTo>
                  <a:pt x="73818" y="293252"/>
                </a:lnTo>
                <a:lnTo>
                  <a:pt x="67212" y="303142"/>
                </a:lnTo>
                <a:lnTo>
                  <a:pt x="60900" y="313128"/>
                </a:lnTo>
                <a:lnTo>
                  <a:pt x="54887" y="323205"/>
                </a:lnTo>
                <a:lnTo>
                  <a:pt x="49175" y="333370"/>
                </a:lnTo>
                <a:lnTo>
                  <a:pt x="43766" y="343617"/>
                </a:lnTo>
                <a:lnTo>
                  <a:pt x="38662" y="353942"/>
                </a:lnTo>
                <a:lnTo>
                  <a:pt x="33867" y="364341"/>
                </a:lnTo>
                <a:lnTo>
                  <a:pt x="29382" y="374809"/>
                </a:lnTo>
                <a:lnTo>
                  <a:pt x="25208" y="385341"/>
                </a:lnTo>
                <a:lnTo>
                  <a:pt x="21349" y="395933"/>
                </a:lnTo>
                <a:lnTo>
                  <a:pt x="17805" y="406579"/>
                </a:lnTo>
                <a:lnTo>
                  <a:pt x="14579" y="417276"/>
                </a:lnTo>
                <a:lnTo>
                  <a:pt x="11671" y="428019"/>
                </a:lnTo>
                <a:lnTo>
                  <a:pt x="9082" y="438803"/>
                </a:lnTo>
                <a:lnTo>
                  <a:pt x="6815" y="449622"/>
                </a:lnTo>
                <a:lnTo>
                  <a:pt x="4870" y="460473"/>
                </a:lnTo>
                <a:lnTo>
                  <a:pt x="3248" y="471350"/>
                </a:lnTo>
                <a:lnTo>
                  <a:pt x="1949" y="482249"/>
                </a:lnTo>
                <a:lnTo>
                  <a:pt x="975" y="493165"/>
                </a:lnTo>
                <a:lnTo>
                  <a:pt x="325" y="504093"/>
                </a:lnTo>
                <a:lnTo>
                  <a:pt x="0" y="515029"/>
                </a:lnTo>
                <a:lnTo>
                  <a:pt x="0" y="525966"/>
                </a:lnTo>
                <a:lnTo>
                  <a:pt x="325" y="536902"/>
                </a:lnTo>
                <a:lnTo>
                  <a:pt x="975" y="547830"/>
                </a:lnTo>
                <a:lnTo>
                  <a:pt x="1949" y="558746"/>
                </a:lnTo>
                <a:lnTo>
                  <a:pt x="3248" y="569645"/>
                </a:lnTo>
                <a:lnTo>
                  <a:pt x="4870" y="580522"/>
                </a:lnTo>
                <a:lnTo>
                  <a:pt x="6815" y="591373"/>
                </a:lnTo>
                <a:lnTo>
                  <a:pt x="9082" y="602192"/>
                </a:lnTo>
                <a:lnTo>
                  <a:pt x="11671" y="612976"/>
                </a:lnTo>
                <a:lnTo>
                  <a:pt x="14579" y="623719"/>
                </a:lnTo>
                <a:lnTo>
                  <a:pt x="17805" y="634416"/>
                </a:lnTo>
                <a:lnTo>
                  <a:pt x="21349" y="645062"/>
                </a:lnTo>
                <a:lnTo>
                  <a:pt x="25208" y="655654"/>
                </a:lnTo>
                <a:lnTo>
                  <a:pt x="29382" y="666186"/>
                </a:lnTo>
                <a:lnTo>
                  <a:pt x="33867" y="676654"/>
                </a:lnTo>
                <a:lnTo>
                  <a:pt x="38662" y="687053"/>
                </a:lnTo>
                <a:lnTo>
                  <a:pt x="43766" y="697378"/>
                </a:lnTo>
                <a:lnTo>
                  <a:pt x="49175" y="707625"/>
                </a:lnTo>
                <a:lnTo>
                  <a:pt x="54887" y="717790"/>
                </a:lnTo>
                <a:lnTo>
                  <a:pt x="60900" y="727867"/>
                </a:lnTo>
                <a:lnTo>
                  <a:pt x="67212" y="737853"/>
                </a:lnTo>
                <a:lnTo>
                  <a:pt x="73818" y="747743"/>
                </a:lnTo>
                <a:lnTo>
                  <a:pt x="80717" y="757532"/>
                </a:lnTo>
                <a:lnTo>
                  <a:pt x="87906" y="767217"/>
                </a:lnTo>
                <a:lnTo>
                  <a:pt x="95380" y="776793"/>
                </a:lnTo>
                <a:lnTo>
                  <a:pt x="103138" y="786256"/>
                </a:lnTo>
                <a:lnTo>
                  <a:pt x="111175" y="795601"/>
                </a:lnTo>
                <a:lnTo>
                  <a:pt x="119488" y="804825"/>
                </a:lnTo>
                <a:lnTo>
                  <a:pt x="128073" y="813923"/>
                </a:lnTo>
                <a:lnTo>
                  <a:pt x="136927" y="822892"/>
                </a:lnTo>
                <a:lnTo>
                  <a:pt x="146045" y="831727"/>
                </a:lnTo>
                <a:lnTo>
                  <a:pt x="155424" y="840425"/>
                </a:lnTo>
                <a:lnTo>
                  <a:pt x="165059" y="848982"/>
                </a:lnTo>
                <a:lnTo>
                  <a:pt x="174947" y="857393"/>
                </a:lnTo>
                <a:lnTo>
                  <a:pt x="185082" y="865656"/>
                </a:lnTo>
                <a:lnTo>
                  <a:pt x="195460" y="873766"/>
                </a:lnTo>
                <a:lnTo>
                  <a:pt x="206077" y="881721"/>
                </a:lnTo>
                <a:lnTo>
                  <a:pt x="216928" y="889515"/>
                </a:lnTo>
                <a:lnTo>
                  <a:pt x="228009" y="897147"/>
                </a:lnTo>
                <a:lnTo>
                  <a:pt x="239313" y="904613"/>
                </a:lnTo>
                <a:lnTo>
                  <a:pt x="250837" y="911909"/>
                </a:lnTo>
                <a:lnTo>
                  <a:pt x="262576" y="919032"/>
                </a:lnTo>
                <a:lnTo>
                  <a:pt x="274523" y="925979"/>
                </a:lnTo>
                <a:lnTo>
                  <a:pt x="286674" y="932747"/>
                </a:lnTo>
                <a:lnTo>
                  <a:pt x="299024" y="939333"/>
                </a:lnTo>
                <a:lnTo>
                  <a:pt x="311567" y="945734"/>
                </a:lnTo>
                <a:lnTo>
                  <a:pt x="324297" y="951947"/>
                </a:lnTo>
                <a:lnTo>
                  <a:pt x="337209" y="957970"/>
                </a:lnTo>
                <a:lnTo>
                  <a:pt x="350297" y="963800"/>
                </a:lnTo>
                <a:lnTo>
                  <a:pt x="363555" y="969434"/>
                </a:lnTo>
                <a:lnTo>
                  <a:pt x="376978" y="974869"/>
                </a:lnTo>
                <a:lnTo>
                  <a:pt x="390560" y="980104"/>
                </a:lnTo>
                <a:lnTo>
                  <a:pt x="404294" y="985136"/>
                </a:lnTo>
                <a:lnTo>
                  <a:pt x="418174" y="989963"/>
                </a:lnTo>
                <a:lnTo>
                  <a:pt x="432195" y="994583"/>
                </a:lnTo>
                <a:lnTo>
                  <a:pt x="446350" y="998993"/>
                </a:lnTo>
                <a:lnTo>
                  <a:pt x="460633" y="1003192"/>
                </a:lnTo>
                <a:lnTo>
                  <a:pt x="475038" y="1007178"/>
                </a:lnTo>
                <a:lnTo>
                  <a:pt x="489557" y="1010949"/>
                </a:lnTo>
                <a:lnTo>
                  <a:pt x="504186" y="1014503"/>
                </a:lnTo>
                <a:lnTo>
                  <a:pt x="518917" y="1017839"/>
                </a:lnTo>
                <a:lnTo>
                  <a:pt x="533744" y="1020956"/>
                </a:lnTo>
                <a:lnTo>
                  <a:pt x="548661" y="1023851"/>
                </a:lnTo>
                <a:lnTo>
                  <a:pt x="563660" y="1026525"/>
                </a:lnTo>
                <a:lnTo>
                  <a:pt x="578735" y="1028974"/>
                </a:lnTo>
                <a:lnTo>
                  <a:pt x="593880" y="1031200"/>
                </a:lnTo>
                <a:lnTo>
                  <a:pt x="609087" y="1033200"/>
                </a:lnTo>
                <a:lnTo>
                  <a:pt x="624351" y="1034973"/>
                </a:lnTo>
                <a:lnTo>
                  <a:pt x="639663" y="1036519"/>
                </a:lnTo>
                <a:lnTo>
                  <a:pt x="655019" y="1037838"/>
                </a:lnTo>
                <a:lnTo>
                  <a:pt x="670410" y="1038928"/>
                </a:lnTo>
                <a:lnTo>
                  <a:pt x="685830" y="1039789"/>
                </a:lnTo>
                <a:lnTo>
                  <a:pt x="701273" y="1040420"/>
                </a:lnTo>
                <a:lnTo>
                  <a:pt x="716730" y="1040823"/>
                </a:lnTo>
                <a:lnTo>
                  <a:pt x="732197" y="1040995"/>
                </a:lnTo>
                <a:lnTo>
                  <a:pt x="747665" y="1040937"/>
                </a:lnTo>
                <a:lnTo>
                  <a:pt x="763128" y="1040650"/>
                </a:lnTo>
                <a:lnTo>
                  <a:pt x="778579" y="1040133"/>
                </a:lnTo>
                <a:lnTo>
                  <a:pt x="794011" y="1039387"/>
                </a:lnTo>
                <a:lnTo>
                  <a:pt x="809417" y="1038411"/>
                </a:lnTo>
                <a:lnTo>
                  <a:pt x="824791" y="1037207"/>
                </a:lnTo>
                <a:lnTo>
                  <a:pt x="840126" y="1035775"/>
                </a:lnTo>
                <a:lnTo>
                  <a:pt x="855416" y="1034115"/>
                </a:lnTo>
                <a:lnTo>
                  <a:pt x="870652" y="1032228"/>
                </a:lnTo>
                <a:lnTo>
                  <a:pt x="885829" y="1030115"/>
                </a:lnTo>
                <a:lnTo>
                  <a:pt x="900940" y="1027778"/>
                </a:lnTo>
                <a:lnTo>
                  <a:pt x="915978" y="1025216"/>
                </a:lnTo>
                <a:lnTo>
                  <a:pt x="930936" y="1022431"/>
                </a:lnTo>
                <a:lnTo>
                  <a:pt x="945809" y="1019425"/>
                </a:lnTo>
                <a:lnTo>
                  <a:pt x="960588" y="1016198"/>
                </a:lnTo>
                <a:lnTo>
                  <a:pt x="975269" y="1012753"/>
                </a:lnTo>
                <a:lnTo>
                  <a:pt x="989844" y="1009090"/>
                </a:lnTo>
                <a:lnTo>
                  <a:pt x="1004307" y="1005212"/>
                </a:lnTo>
                <a:lnTo>
                  <a:pt x="1018652" y="1001119"/>
                </a:lnTo>
                <a:lnTo>
                  <a:pt x="1032872" y="996814"/>
                </a:lnTo>
                <a:lnTo>
                  <a:pt x="1046960" y="992299"/>
                </a:lnTo>
                <a:lnTo>
                  <a:pt x="1060912" y="987576"/>
                </a:lnTo>
                <a:lnTo>
                  <a:pt x="1074720" y="982646"/>
                </a:lnTo>
                <a:lnTo>
                  <a:pt x="1088378" y="977512"/>
                </a:lnTo>
                <a:lnTo>
                  <a:pt x="1101881" y="972176"/>
                </a:lnTo>
                <a:lnTo>
                  <a:pt x="1115223" y="966641"/>
                </a:lnTo>
                <a:lnTo>
                  <a:pt x="1128397" y="960909"/>
                </a:lnTo>
                <a:lnTo>
                  <a:pt x="1141397" y="954983"/>
                </a:lnTo>
                <a:lnTo>
                  <a:pt x="1154219" y="948864"/>
                </a:lnTo>
                <a:lnTo>
                  <a:pt x="1166856" y="942557"/>
                </a:lnTo>
                <a:lnTo>
                  <a:pt x="1179303" y="936063"/>
                </a:lnTo>
                <a:lnTo>
                  <a:pt x="1191554" y="929386"/>
                </a:lnTo>
                <a:lnTo>
                  <a:pt x="1203604" y="922528"/>
                </a:lnTo>
                <a:lnTo>
                  <a:pt x="1215448" y="915492"/>
                </a:lnTo>
                <a:lnTo>
                  <a:pt x="1227079" y="908282"/>
                </a:lnTo>
                <a:lnTo>
                  <a:pt x="1238494" y="900901"/>
                </a:lnTo>
                <a:lnTo>
                  <a:pt x="1249688" y="893352"/>
                </a:lnTo>
                <a:lnTo>
                  <a:pt x="1260654" y="885638"/>
                </a:lnTo>
                <a:lnTo>
                  <a:pt x="1271389" y="877763"/>
                </a:lnTo>
                <a:lnTo>
                  <a:pt x="1281887" y="869730"/>
                </a:lnTo>
                <a:lnTo>
                  <a:pt x="1292144" y="861543"/>
                </a:lnTo>
                <a:lnTo>
                  <a:pt x="1302156" y="853206"/>
                </a:lnTo>
                <a:lnTo>
                  <a:pt x="1311918" y="844721"/>
                </a:lnTo>
                <a:lnTo>
                  <a:pt x="1321426" y="836094"/>
                </a:lnTo>
                <a:lnTo>
                  <a:pt x="1330675" y="827327"/>
                </a:lnTo>
                <a:lnTo>
                  <a:pt x="1339661" y="818424"/>
                </a:lnTo>
                <a:lnTo>
                  <a:pt x="1348381" y="809390"/>
                </a:lnTo>
                <a:lnTo>
                  <a:pt x="1356831" y="800228"/>
                </a:lnTo>
                <a:lnTo>
                  <a:pt x="1365006" y="790943"/>
                </a:lnTo>
                <a:lnTo>
                  <a:pt x="1372904" y="781539"/>
                </a:lnTo>
                <a:lnTo>
                  <a:pt x="1380520" y="772019"/>
                </a:lnTo>
                <a:lnTo>
                  <a:pt x="1387852" y="762388"/>
                </a:lnTo>
                <a:lnTo>
                  <a:pt x="1394896" y="752650"/>
                </a:lnTo>
                <a:lnTo>
                  <a:pt x="1401650" y="742810"/>
                </a:lnTo>
                <a:lnTo>
                  <a:pt x="1408109" y="732872"/>
                </a:lnTo>
                <a:lnTo>
                  <a:pt x="1414271" y="722840"/>
                </a:lnTo>
                <a:lnTo>
                  <a:pt x="1420135" y="712718"/>
                </a:lnTo>
                <a:lnTo>
                  <a:pt x="1425696" y="702512"/>
                </a:lnTo>
                <a:lnTo>
                  <a:pt x="1430952" y="692225"/>
                </a:lnTo>
                <a:lnTo>
                  <a:pt x="1435902" y="681862"/>
                </a:lnTo>
                <a:lnTo>
                  <a:pt x="1440542" y="671428"/>
                </a:lnTo>
                <a:lnTo>
                  <a:pt x="1444872" y="660928"/>
                </a:lnTo>
                <a:lnTo>
                  <a:pt x="1448888" y="650365"/>
                </a:lnTo>
                <a:lnTo>
                  <a:pt x="1452590" y="639746"/>
                </a:lnTo>
                <a:lnTo>
                  <a:pt x="1455976" y="629073"/>
                </a:lnTo>
                <a:lnTo>
                  <a:pt x="1459043" y="618353"/>
                </a:lnTo>
                <a:lnTo>
                  <a:pt x="1461791" y="607589"/>
                </a:lnTo>
                <a:lnTo>
                  <a:pt x="1464219" y="596787"/>
                </a:lnTo>
                <a:lnTo>
                  <a:pt x="1466325" y="585951"/>
                </a:lnTo>
                <a:lnTo>
                  <a:pt x="1468109" y="575086"/>
                </a:lnTo>
                <a:lnTo>
                  <a:pt x="1469570" y="564198"/>
                </a:lnTo>
                <a:lnTo>
                  <a:pt x="1470706" y="553289"/>
                </a:lnTo>
                <a:lnTo>
                  <a:pt x="1471519" y="542367"/>
                </a:lnTo>
                <a:lnTo>
                  <a:pt x="1472006" y="531435"/>
                </a:lnTo>
                <a:lnTo>
                  <a:pt x="1472169" y="520498"/>
                </a:lnTo>
              </a:path>
            </a:pathLst>
          </a:custGeom>
          <a:noFill/>
          <a:ln w="16510">
            <a:solidFill>
              <a:srgbClr val="6B7484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Freeform 16"/>
          <p:cNvSpPr/>
          <p:nvPr/>
        </p:nvSpPr>
        <p:spPr>
          <a:xfrm>
            <a:off x="3268326" y="2379378"/>
            <a:ext cx="760709" cy="1843211"/>
          </a:xfrm>
          <a:custGeom>
            <a:avLst/>
            <a:gdLst/>
            <a:ahLst/>
            <a:cxnLst/>
            <a:rect l="l" t="t" r="r" b="b"/>
            <a:pathLst>
              <a:path w="760709" h="1843211">
                <a:moveTo>
                  <a:pt x="760709" y="1843211"/>
                </a:moveTo>
                <a:lnTo>
                  <a:pt x="734824" y="1822130"/>
                </a:lnTo>
                <a:lnTo>
                  <a:pt x="709532" y="1801413"/>
                </a:lnTo>
                <a:lnTo>
                  <a:pt x="684824" y="1781051"/>
                </a:lnTo>
                <a:lnTo>
                  <a:pt x="660689" y="1761036"/>
                </a:lnTo>
                <a:lnTo>
                  <a:pt x="637118" y="1741359"/>
                </a:lnTo>
                <a:lnTo>
                  <a:pt x="614102" y="1722014"/>
                </a:lnTo>
                <a:lnTo>
                  <a:pt x="591630" y="1702992"/>
                </a:lnTo>
                <a:lnTo>
                  <a:pt x="569695" y="1684285"/>
                </a:lnTo>
                <a:lnTo>
                  <a:pt x="548287" y="1665886"/>
                </a:lnTo>
                <a:lnTo>
                  <a:pt x="527397" y="1647788"/>
                </a:lnTo>
                <a:lnTo>
                  <a:pt x="507017" y="1629982"/>
                </a:lnTo>
                <a:lnTo>
                  <a:pt x="487140" y="1612463"/>
                </a:lnTo>
                <a:lnTo>
                  <a:pt x="467756" y="1595222"/>
                </a:lnTo>
                <a:lnTo>
                  <a:pt x="448857" y="1578254"/>
                </a:lnTo>
                <a:lnTo>
                  <a:pt x="430438" y="1561550"/>
                </a:lnTo>
                <a:lnTo>
                  <a:pt x="412489" y="1545105"/>
                </a:lnTo>
                <a:lnTo>
                  <a:pt x="395004" y="1528911"/>
                </a:lnTo>
                <a:lnTo>
                  <a:pt x="377975" y="1512963"/>
                </a:lnTo>
                <a:lnTo>
                  <a:pt x="361397" y="1497253"/>
                </a:lnTo>
                <a:lnTo>
                  <a:pt x="345261" y="1481776"/>
                </a:lnTo>
                <a:lnTo>
                  <a:pt x="329562" y="1466525"/>
                </a:lnTo>
                <a:lnTo>
                  <a:pt x="314293" y="1451494"/>
                </a:lnTo>
                <a:lnTo>
                  <a:pt x="299448" y="1436676"/>
                </a:lnTo>
                <a:lnTo>
                  <a:pt x="285021" y="1422067"/>
                </a:lnTo>
                <a:lnTo>
                  <a:pt x="271006" y="1407660"/>
                </a:lnTo>
                <a:lnTo>
                  <a:pt x="257398" y="1393449"/>
                </a:lnTo>
                <a:lnTo>
                  <a:pt x="244191" y="1379428"/>
                </a:lnTo>
                <a:lnTo>
                  <a:pt x="231380" y="1365592"/>
                </a:lnTo>
                <a:lnTo>
                  <a:pt x="218959" y="1351936"/>
                </a:lnTo>
                <a:lnTo>
                  <a:pt x="206924" y="1338453"/>
                </a:lnTo>
                <a:lnTo>
                  <a:pt x="195269" y="1325138"/>
                </a:lnTo>
                <a:lnTo>
                  <a:pt x="183991" y="1311986"/>
                </a:lnTo>
                <a:lnTo>
                  <a:pt x="173084" y="1298992"/>
                </a:lnTo>
                <a:lnTo>
                  <a:pt x="162544" y="1286150"/>
                </a:lnTo>
                <a:lnTo>
                  <a:pt x="152367" y="1273456"/>
                </a:lnTo>
                <a:lnTo>
                  <a:pt x="142548" y="1260903"/>
                </a:lnTo>
                <a:lnTo>
                  <a:pt x="133084" y="1248487"/>
                </a:lnTo>
                <a:lnTo>
                  <a:pt x="123971" y="1236204"/>
                </a:lnTo>
                <a:lnTo>
                  <a:pt x="115205" y="1224047"/>
                </a:lnTo>
                <a:lnTo>
                  <a:pt x="106783" y="1212012"/>
                </a:lnTo>
                <a:lnTo>
                  <a:pt x="98701" y="1200095"/>
                </a:lnTo>
                <a:lnTo>
                  <a:pt x="90956" y="1188290"/>
                </a:lnTo>
                <a:lnTo>
                  <a:pt x="83545" y="1176593"/>
                </a:lnTo>
                <a:lnTo>
                  <a:pt x="76465" y="1164998"/>
                </a:lnTo>
                <a:lnTo>
                  <a:pt x="69713" y="1153502"/>
                </a:lnTo>
                <a:lnTo>
                  <a:pt x="63286" y="1142100"/>
                </a:lnTo>
                <a:lnTo>
                  <a:pt x="57182" y="1130786"/>
                </a:lnTo>
                <a:lnTo>
                  <a:pt x="51398" y="1119557"/>
                </a:lnTo>
                <a:lnTo>
                  <a:pt x="45933" y="1108408"/>
                </a:lnTo>
                <a:lnTo>
                  <a:pt x="40782" y="1097334"/>
                </a:lnTo>
                <a:lnTo>
                  <a:pt x="35946" y="1086331"/>
                </a:lnTo>
                <a:lnTo>
                  <a:pt x="31421" y="1075395"/>
                </a:lnTo>
                <a:lnTo>
                  <a:pt x="27206" y="1064521"/>
                </a:lnTo>
                <a:lnTo>
                  <a:pt x="23299" y="1053704"/>
                </a:lnTo>
                <a:lnTo>
                  <a:pt x="19699" y="1042941"/>
                </a:lnTo>
                <a:lnTo>
                  <a:pt x="16403" y="1032227"/>
                </a:lnTo>
                <a:lnTo>
                  <a:pt x="13412" y="1021557"/>
                </a:lnTo>
                <a:lnTo>
                  <a:pt x="10723" y="1010928"/>
                </a:lnTo>
                <a:lnTo>
                  <a:pt x="8336" y="1000335"/>
                </a:lnTo>
                <a:lnTo>
                  <a:pt x="6249" y="989773"/>
                </a:lnTo>
                <a:lnTo>
                  <a:pt x="4462" y="979240"/>
                </a:lnTo>
                <a:lnTo>
                  <a:pt x="2973" y="968729"/>
                </a:lnTo>
                <a:lnTo>
                  <a:pt x="1784" y="958237"/>
                </a:lnTo>
                <a:lnTo>
                  <a:pt x="892" y="947761"/>
                </a:lnTo>
                <a:lnTo>
                  <a:pt x="297" y="937294"/>
                </a:lnTo>
                <a:lnTo>
                  <a:pt x="0" y="926834"/>
                </a:lnTo>
                <a:lnTo>
                  <a:pt x="0" y="916377"/>
                </a:lnTo>
                <a:lnTo>
                  <a:pt x="297" y="905917"/>
                </a:lnTo>
                <a:lnTo>
                  <a:pt x="892" y="895450"/>
                </a:lnTo>
                <a:lnTo>
                  <a:pt x="1784" y="884974"/>
                </a:lnTo>
                <a:lnTo>
                  <a:pt x="2973" y="874482"/>
                </a:lnTo>
                <a:lnTo>
                  <a:pt x="4462" y="863971"/>
                </a:lnTo>
                <a:lnTo>
                  <a:pt x="6249" y="853438"/>
                </a:lnTo>
                <a:lnTo>
                  <a:pt x="8336" y="842876"/>
                </a:lnTo>
                <a:lnTo>
                  <a:pt x="10723" y="832283"/>
                </a:lnTo>
                <a:lnTo>
                  <a:pt x="13412" y="821654"/>
                </a:lnTo>
                <a:lnTo>
                  <a:pt x="16403" y="810984"/>
                </a:lnTo>
                <a:lnTo>
                  <a:pt x="19699" y="800270"/>
                </a:lnTo>
                <a:lnTo>
                  <a:pt x="23299" y="789507"/>
                </a:lnTo>
                <a:lnTo>
                  <a:pt x="27206" y="778690"/>
                </a:lnTo>
                <a:lnTo>
                  <a:pt x="31421" y="767816"/>
                </a:lnTo>
                <a:lnTo>
                  <a:pt x="35946" y="756880"/>
                </a:lnTo>
                <a:lnTo>
                  <a:pt x="40782" y="745877"/>
                </a:lnTo>
                <a:lnTo>
                  <a:pt x="45933" y="734803"/>
                </a:lnTo>
                <a:lnTo>
                  <a:pt x="51398" y="723654"/>
                </a:lnTo>
                <a:lnTo>
                  <a:pt x="57182" y="712425"/>
                </a:lnTo>
                <a:lnTo>
                  <a:pt x="63286" y="701111"/>
                </a:lnTo>
                <a:lnTo>
                  <a:pt x="69713" y="689709"/>
                </a:lnTo>
                <a:lnTo>
                  <a:pt x="76465" y="678213"/>
                </a:lnTo>
                <a:lnTo>
                  <a:pt x="83545" y="666618"/>
                </a:lnTo>
                <a:lnTo>
                  <a:pt x="90956" y="654921"/>
                </a:lnTo>
                <a:lnTo>
                  <a:pt x="98701" y="643116"/>
                </a:lnTo>
                <a:lnTo>
                  <a:pt x="106783" y="631199"/>
                </a:lnTo>
                <a:lnTo>
                  <a:pt x="115205" y="619164"/>
                </a:lnTo>
                <a:lnTo>
                  <a:pt x="123971" y="607007"/>
                </a:lnTo>
                <a:lnTo>
                  <a:pt x="133084" y="594724"/>
                </a:lnTo>
                <a:lnTo>
                  <a:pt x="142548" y="582308"/>
                </a:lnTo>
                <a:lnTo>
                  <a:pt x="152367" y="569755"/>
                </a:lnTo>
                <a:lnTo>
                  <a:pt x="162544" y="557061"/>
                </a:lnTo>
                <a:lnTo>
                  <a:pt x="173084" y="544219"/>
                </a:lnTo>
                <a:lnTo>
                  <a:pt x="183991" y="531225"/>
                </a:lnTo>
                <a:lnTo>
                  <a:pt x="195269" y="518073"/>
                </a:lnTo>
                <a:lnTo>
                  <a:pt x="206924" y="504758"/>
                </a:lnTo>
                <a:lnTo>
                  <a:pt x="218959" y="491275"/>
                </a:lnTo>
                <a:lnTo>
                  <a:pt x="231380" y="477619"/>
                </a:lnTo>
                <a:lnTo>
                  <a:pt x="244191" y="463783"/>
                </a:lnTo>
                <a:lnTo>
                  <a:pt x="257398" y="449762"/>
                </a:lnTo>
                <a:lnTo>
                  <a:pt x="271006" y="435551"/>
                </a:lnTo>
                <a:lnTo>
                  <a:pt x="285021" y="421144"/>
                </a:lnTo>
                <a:lnTo>
                  <a:pt x="299448" y="406535"/>
                </a:lnTo>
                <a:lnTo>
                  <a:pt x="314293" y="391717"/>
                </a:lnTo>
                <a:lnTo>
                  <a:pt x="329562" y="376686"/>
                </a:lnTo>
                <a:lnTo>
                  <a:pt x="345261" y="361435"/>
                </a:lnTo>
                <a:lnTo>
                  <a:pt x="361397" y="345958"/>
                </a:lnTo>
                <a:lnTo>
                  <a:pt x="377975" y="330248"/>
                </a:lnTo>
                <a:lnTo>
                  <a:pt x="395004" y="314300"/>
                </a:lnTo>
                <a:lnTo>
                  <a:pt x="412489" y="298106"/>
                </a:lnTo>
                <a:lnTo>
                  <a:pt x="430438" y="281661"/>
                </a:lnTo>
                <a:lnTo>
                  <a:pt x="448857" y="264957"/>
                </a:lnTo>
                <a:lnTo>
                  <a:pt x="467756" y="247989"/>
                </a:lnTo>
                <a:lnTo>
                  <a:pt x="487140" y="230748"/>
                </a:lnTo>
                <a:lnTo>
                  <a:pt x="507017" y="213229"/>
                </a:lnTo>
                <a:lnTo>
                  <a:pt x="527397" y="195423"/>
                </a:lnTo>
                <a:lnTo>
                  <a:pt x="548287" y="177325"/>
                </a:lnTo>
                <a:lnTo>
                  <a:pt x="569695" y="158926"/>
                </a:lnTo>
                <a:lnTo>
                  <a:pt x="591630" y="140219"/>
                </a:lnTo>
                <a:lnTo>
                  <a:pt x="614102" y="121197"/>
                </a:lnTo>
                <a:lnTo>
                  <a:pt x="637118" y="101852"/>
                </a:lnTo>
                <a:lnTo>
                  <a:pt x="660689" y="82175"/>
                </a:lnTo>
                <a:lnTo>
                  <a:pt x="684824" y="62160"/>
                </a:lnTo>
                <a:lnTo>
                  <a:pt x="709532" y="41798"/>
                </a:lnTo>
                <a:lnTo>
                  <a:pt x="734824" y="21081"/>
                </a:lnTo>
                <a:lnTo>
                  <a:pt x="760709" y="0"/>
                </a:lnTo>
              </a:path>
            </a:pathLst>
          </a:custGeom>
          <a:noFill/>
          <a:ln w="27940">
            <a:solidFill>
              <a:srgbClr val="2E6B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Freeform 17"/>
          <p:cNvSpPr/>
          <p:nvPr/>
        </p:nvSpPr>
        <p:spPr>
          <a:xfrm>
            <a:off x="896624" y="2268218"/>
            <a:ext cx="899418" cy="2065531"/>
          </a:xfrm>
          <a:custGeom>
            <a:avLst/>
            <a:gdLst/>
            <a:ahLst/>
            <a:cxnLst/>
            <a:rect l="l" t="t" r="r" b="b"/>
            <a:pathLst>
              <a:path w="899418" h="2065531">
                <a:moveTo>
                  <a:pt x="0" y="2065531"/>
                </a:moveTo>
                <a:lnTo>
                  <a:pt x="29016" y="2042502"/>
                </a:lnTo>
                <a:lnTo>
                  <a:pt x="57384" y="2019880"/>
                </a:lnTo>
                <a:lnTo>
                  <a:pt x="85114" y="1997657"/>
                </a:lnTo>
                <a:lnTo>
                  <a:pt x="112219" y="1975824"/>
                </a:lnTo>
                <a:lnTo>
                  <a:pt x="138709" y="1954371"/>
                </a:lnTo>
                <a:lnTo>
                  <a:pt x="164595" y="1933290"/>
                </a:lnTo>
                <a:lnTo>
                  <a:pt x="189886" y="1912573"/>
                </a:lnTo>
                <a:lnTo>
                  <a:pt x="214595" y="1892211"/>
                </a:lnTo>
                <a:lnTo>
                  <a:pt x="238729" y="1872196"/>
                </a:lnTo>
                <a:lnTo>
                  <a:pt x="262300" y="1852519"/>
                </a:lnTo>
                <a:lnTo>
                  <a:pt x="285316" y="1833174"/>
                </a:lnTo>
                <a:lnTo>
                  <a:pt x="307788" y="1814152"/>
                </a:lnTo>
                <a:lnTo>
                  <a:pt x="329723" y="1795445"/>
                </a:lnTo>
                <a:lnTo>
                  <a:pt x="351131" y="1777046"/>
                </a:lnTo>
                <a:lnTo>
                  <a:pt x="372021" y="1758948"/>
                </a:lnTo>
                <a:lnTo>
                  <a:pt x="392401" y="1741142"/>
                </a:lnTo>
                <a:lnTo>
                  <a:pt x="412279" y="1723623"/>
                </a:lnTo>
                <a:lnTo>
                  <a:pt x="431663" y="1706382"/>
                </a:lnTo>
                <a:lnTo>
                  <a:pt x="450561" y="1689414"/>
                </a:lnTo>
                <a:lnTo>
                  <a:pt x="468980" y="1672710"/>
                </a:lnTo>
                <a:lnTo>
                  <a:pt x="486929" y="1656265"/>
                </a:lnTo>
                <a:lnTo>
                  <a:pt x="504414" y="1640071"/>
                </a:lnTo>
                <a:lnTo>
                  <a:pt x="521443" y="1624123"/>
                </a:lnTo>
                <a:lnTo>
                  <a:pt x="538022" y="1608413"/>
                </a:lnTo>
                <a:lnTo>
                  <a:pt x="554157" y="1592936"/>
                </a:lnTo>
                <a:lnTo>
                  <a:pt x="569856" y="1577685"/>
                </a:lnTo>
                <a:lnTo>
                  <a:pt x="585125" y="1562654"/>
                </a:lnTo>
                <a:lnTo>
                  <a:pt x="599970" y="1547836"/>
                </a:lnTo>
                <a:lnTo>
                  <a:pt x="614397" y="1533227"/>
                </a:lnTo>
                <a:lnTo>
                  <a:pt x="628412" y="1518820"/>
                </a:lnTo>
                <a:lnTo>
                  <a:pt x="642020" y="1504609"/>
                </a:lnTo>
                <a:lnTo>
                  <a:pt x="655227" y="1490588"/>
                </a:lnTo>
                <a:lnTo>
                  <a:pt x="668038" y="1476752"/>
                </a:lnTo>
                <a:lnTo>
                  <a:pt x="680459" y="1463096"/>
                </a:lnTo>
                <a:lnTo>
                  <a:pt x="692494" y="1449613"/>
                </a:lnTo>
                <a:lnTo>
                  <a:pt x="704149" y="1436298"/>
                </a:lnTo>
                <a:lnTo>
                  <a:pt x="715427" y="1423146"/>
                </a:lnTo>
                <a:lnTo>
                  <a:pt x="726334" y="1410152"/>
                </a:lnTo>
                <a:lnTo>
                  <a:pt x="736874" y="1397310"/>
                </a:lnTo>
                <a:lnTo>
                  <a:pt x="747052" y="1384616"/>
                </a:lnTo>
                <a:lnTo>
                  <a:pt x="756870" y="1372063"/>
                </a:lnTo>
                <a:lnTo>
                  <a:pt x="766334" y="1359647"/>
                </a:lnTo>
                <a:lnTo>
                  <a:pt x="775447" y="1347364"/>
                </a:lnTo>
                <a:lnTo>
                  <a:pt x="784213" y="1335207"/>
                </a:lnTo>
                <a:lnTo>
                  <a:pt x="792635" y="1323172"/>
                </a:lnTo>
                <a:lnTo>
                  <a:pt x="800717" y="1311255"/>
                </a:lnTo>
                <a:lnTo>
                  <a:pt x="808462" y="1299450"/>
                </a:lnTo>
                <a:lnTo>
                  <a:pt x="815873" y="1287753"/>
                </a:lnTo>
                <a:lnTo>
                  <a:pt x="822953" y="1276158"/>
                </a:lnTo>
                <a:lnTo>
                  <a:pt x="829705" y="1264662"/>
                </a:lnTo>
                <a:lnTo>
                  <a:pt x="836132" y="1253260"/>
                </a:lnTo>
                <a:lnTo>
                  <a:pt x="842236" y="1241946"/>
                </a:lnTo>
                <a:lnTo>
                  <a:pt x="848020" y="1230717"/>
                </a:lnTo>
                <a:lnTo>
                  <a:pt x="853486" y="1219568"/>
                </a:lnTo>
                <a:lnTo>
                  <a:pt x="858636" y="1208494"/>
                </a:lnTo>
                <a:lnTo>
                  <a:pt x="863472" y="1197491"/>
                </a:lnTo>
                <a:lnTo>
                  <a:pt x="867997" y="1186555"/>
                </a:lnTo>
                <a:lnTo>
                  <a:pt x="872212" y="1175681"/>
                </a:lnTo>
                <a:lnTo>
                  <a:pt x="876119" y="1164864"/>
                </a:lnTo>
                <a:lnTo>
                  <a:pt x="879720" y="1154101"/>
                </a:lnTo>
                <a:lnTo>
                  <a:pt x="883015" y="1143387"/>
                </a:lnTo>
                <a:lnTo>
                  <a:pt x="886006" y="1132717"/>
                </a:lnTo>
                <a:lnTo>
                  <a:pt x="888695" y="1122088"/>
                </a:lnTo>
                <a:lnTo>
                  <a:pt x="891083" y="1111495"/>
                </a:lnTo>
                <a:lnTo>
                  <a:pt x="893169" y="1100933"/>
                </a:lnTo>
                <a:lnTo>
                  <a:pt x="894957" y="1090400"/>
                </a:lnTo>
                <a:lnTo>
                  <a:pt x="896445" y="1079889"/>
                </a:lnTo>
                <a:lnTo>
                  <a:pt x="897635" y="1069397"/>
                </a:lnTo>
                <a:lnTo>
                  <a:pt x="898527" y="1058921"/>
                </a:lnTo>
                <a:lnTo>
                  <a:pt x="899121" y="1048454"/>
                </a:lnTo>
                <a:lnTo>
                  <a:pt x="899418" y="1037994"/>
                </a:lnTo>
                <a:lnTo>
                  <a:pt x="899418" y="1027537"/>
                </a:lnTo>
                <a:lnTo>
                  <a:pt x="899121" y="1017077"/>
                </a:lnTo>
                <a:lnTo>
                  <a:pt x="898527" y="1006610"/>
                </a:lnTo>
                <a:lnTo>
                  <a:pt x="897635" y="996134"/>
                </a:lnTo>
                <a:lnTo>
                  <a:pt x="896445" y="985642"/>
                </a:lnTo>
                <a:lnTo>
                  <a:pt x="894957" y="975131"/>
                </a:lnTo>
                <a:lnTo>
                  <a:pt x="893169" y="964598"/>
                </a:lnTo>
                <a:lnTo>
                  <a:pt x="891083" y="954036"/>
                </a:lnTo>
                <a:lnTo>
                  <a:pt x="888695" y="943443"/>
                </a:lnTo>
                <a:lnTo>
                  <a:pt x="886006" y="932814"/>
                </a:lnTo>
                <a:lnTo>
                  <a:pt x="883015" y="922144"/>
                </a:lnTo>
                <a:lnTo>
                  <a:pt x="879720" y="911430"/>
                </a:lnTo>
                <a:lnTo>
                  <a:pt x="876119" y="900667"/>
                </a:lnTo>
                <a:lnTo>
                  <a:pt x="872212" y="889850"/>
                </a:lnTo>
                <a:lnTo>
                  <a:pt x="867997" y="878976"/>
                </a:lnTo>
                <a:lnTo>
                  <a:pt x="863472" y="868040"/>
                </a:lnTo>
                <a:lnTo>
                  <a:pt x="858636" y="857037"/>
                </a:lnTo>
                <a:lnTo>
                  <a:pt x="853486" y="845963"/>
                </a:lnTo>
                <a:lnTo>
                  <a:pt x="848020" y="834814"/>
                </a:lnTo>
                <a:lnTo>
                  <a:pt x="842236" y="823585"/>
                </a:lnTo>
                <a:lnTo>
                  <a:pt x="836132" y="812271"/>
                </a:lnTo>
                <a:lnTo>
                  <a:pt x="829705" y="800869"/>
                </a:lnTo>
                <a:lnTo>
                  <a:pt x="822953" y="789373"/>
                </a:lnTo>
                <a:lnTo>
                  <a:pt x="815873" y="777778"/>
                </a:lnTo>
                <a:lnTo>
                  <a:pt x="808462" y="766081"/>
                </a:lnTo>
                <a:lnTo>
                  <a:pt x="800717" y="754276"/>
                </a:lnTo>
                <a:lnTo>
                  <a:pt x="792635" y="742359"/>
                </a:lnTo>
                <a:lnTo>
                  <a:pt x="784213" y="730324"/>
                </a:lnTo>
                <a:lnTo>
                  <a:pt x="775447" y="718167"/>
                </a:lnTo>
                <a:lnTo>
                  <a:pt x="766334" y="705884"/>
                </a:lnTo>
                <a:lnTo>
                  <a:pt x="756870" y="693468"/>
                </a:lnTo>
                <a:lnTo>
                  <a:pt x="747052" y="680915"/>
                </a:lnTo>
                <a:lnTo>
                  <a:pt x="736874" y="668221"/>
                </a:lnTo>
                <a:lnTo>
                  <a:pt x="726334" y="655379"/>
                </a:lnTo>
                <a:lnTo>
                  <a:pt x="715427" y="642385"/>
                </a:lnTo>
                <a:lnTo>
                  <a:pt x="704149" y="629233"/>
                </a:lnTo>
                <a:lnTo>
                  <a:pt x="692494" y="615918"/>
                </a:lnTo>
                <a:lnTo>
                  <a:pt x="680459" y="602435"/>
                </a:lnTo>
                <a:lnTo>
                  <a:pt x="668038" y="588779"/>
                </a:lnTo>
                <a:lnTo>
                  <a:pt x="655227" y="574943"/>
                </a:lnTo>
                <a:lnTo>
                  <a:pt x="642020" y="560922"/>
                </a:lnTo>
                <a:lnTo>
                  <a:pt x="628412" y="546711"/>
                </a:lnTo>
                <a:lnTo>
                  <a:pt x="614397" y="532304"/>
                </a:lnTo>
                <a:lnTo>
                  <a:pt x="599970" y="517695"/>
                </a:lnTo>
                <a:lnTo>
                  <a:pt x="585125" y="502877"/>
                </a:lnTo>
                <a:lnTo>
                  <a:pt x="569856" y="487846"/>
                </a:lnTo>
                <a:lnTo>
                  <a:pt x="554157" y="472595"/>
                </a:lnTo>
                <a:lnTo>
                  <a:pt x="538022" y="457118"/>
                </a:lnTo>
                <a:lnTo>
                  <a:pt x="521443" y="441408"/>
                </a:lnTo>
                <a:lnTo>
                  <a:pt x="504414" y="425460"/>
                </a:lnTo>
                <a:lnTo>
                  <a:pt x="486929" y="409266"/>
                </a:lnTo>
                <a:lnTo>
                  <a:pt x="468980" y="392821"/>
                </a:lnTo>
                <a:lnTo>
                  <a:pt x="450561" y="376117"/>
                </a:lnTo>
                <a:lnTo>
                  <a:pt x="431663" y="359149"/>
                </a:lnTo>
                <a:lnTo>
                  <a:pt x="412279" y="341908"/>
                </a:lnTo>
                <a:lnTo>
                  <a:pt x="392401" y="324389"/>
                </a:lnTo>
                <a:lnTo>
                  <a:pt x="372021" y="306583"/>
                </a:lnTo>
                <a:lnTo>
                  <a:pt x="351131" y="288485"/>
                </a:lnTo>
                <a:lnTo>
                  <a:pt x="329723" y="270086"/>
                </a:lnTo>
                <a:lnTo>
                  <a:pt x="307788" y="251379"/>
                </a:lnTo>
                <a:lnTo>
                  <a:pt x="285316" y="232357"/>
                </a:lnTo>
                <a:lnTo>
                  <a:pt x="262300" y="213012"/>
                </a:lnTo>
                <a:lnTo>
                  <a:pt x="238729" y="193335"/>
                </a:lnTo>
                <a:lnTo>
                  <a:pt x="214595" y="173320"/>
                </a:lnTo>
                <a:lnTo>
                  <a:pt x="189886" y="152958"/>
                </a:lnTo>
                <a:lnTo>
                  <a:pt x="164595" y="132241"/>
                </a:lnTo>
                <a:lnTo>
                  <a:pt x="138709" y="111160"/>
                </a:lnTo>
                <a:lnTo>
                  <a:pt x="112219" y="89707"/>
                </a:lnTo>
                <a:lnTo>
                  <a:pt x="85114" y="67874"/>
                </a:lnTo>
                <a:lnTo>
                  <a:pt x="57384" y="45651"/>
                </a:lnTo>
                <a:lnTo>
                  <a:pt x="29016" y="23029"/>
                </a:lnTo>
                <a:lnTo>
                  <a:pt x="0" y="0"/>
                </a:lnTo>
              </a:path>
            </a:pathLst>
          </a:custGeom>
          <a:noFill/>
          <a:ln w="27940">
            <a:solidFill>
              <a:srgbClr val="2E6B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Oval 18"/>
          <p:cNvSpPr/>
          <p:nvPr/>
        </p:nvSpPr>
        <p:spPr>
          <a:xfrm>
            <a:off x="2486464" y="3255264"/>
            <a:ext cx="91440" cy="91440"/>
          </a:xfrm>
          <a:prstGeom prst="ellipse">
            <a:avLst/>
          </a:prstGeom>
          <a:solidFill>
            <a:srgbClr val="D93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5" name="TextBox 19"/>
          <p:cNvSpPr txBox="1"/>
          <p:nvPr/>
        </p:nvSpPr>
        <p:spPr>
          <a:xfrm>
            <a:off x="2577904" y="3392424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D93B3B"/>
                </a:solidFill>
                <a:latin typeface="微软雅黑"/>
                <a:ea typeface="微软雅黑"/>
              </a:rPr>
              <a:t>中心</a:t>
            </a:r>
            <a:endParaRPr/>
          </a:p>
        </p:txBody>
      </p:sp>
      <p:sp>
        <p:nvSpPr>
          <p:cNvPr id="36" name="TextBox 20"/>
          <p:cNvSpPr txBox="1"/>
          <p:nvPr/>
        </p:nvSpPr>
        <p:spPr>
          <a:xfrm>
            <a:off x="1253431" y="3026664"/>
            <a:ext cx="27432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B7484"/>
                </a:solidFill>
                <a:latin typeface="微软雅黑"/>
                <a:ea typeface="微软雅黑"/>
              </a:rPr>
              <a:t>O</a:t>
            </a:r>
            <a:endParaRPr/>
          </a:p>
        </p:txBody>
      </p:sp>
      <p:sp>
        <p:nvSpPr>
          <p:cNvPr id="37" name="TextBox 21"/>
          <p:cNvSpPr txBox="1"/>
          <p:nvPr/>
        </p:nvSpPr>
        <p:spPr>
          <a:xfrm>
            <a:off x="658368" y="4956048"/>
            <a:ext cx="3383280" cy="8686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2E6BE6"/>
                </a:solidFill>
                <a:latin typeface="微软雅黑"/>
                <a:ea typeface="微软雅黑"/>
              </a:rPr>
              <a:t>t₀ = 1：双曲线</a:t>
            </a:r>
            <a:endParaRPr/>
          </a:p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1B222E"/>
                </a:solidFill>
                <a:latin typeface="微软雅黑"/>
                <a:ea typeface="微软雅黑"/>
              </a:rPr>
              <a:t>M：(x − 2)²/2 − y² = 1</a:t>
            </a:r>
            <a:endParaRPr/>
          </a:p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6B7484"/>
                </a:solidFill>
                <a:latin typeface="微软雅黑"/>
                <a:ea typeface="微软雅黑"/>
              </a:rPr>
              <a:t>中心 (2, 0)</a:t>
            </a:r>
            <a:endParaRPr/>
          </a:p>
        </p:txBody>
      </p:sp>
      <p:sp>
        <p:nvSpPr>
          <p:cNvPr id="38" name="Rectangle 22"/>
          <p:cNvSpPr/>
          <p:nvPr/>
        </p:nvSpPr>
        <p:spPr>
          <a:xfrm>
            <a:off x="4343400" y="1700784"/>
            <a:ext cx="3383280" cy="3200400"/>
          </a:xfrm>
          <a:prstGeom prst="rect">
            <a:avLst/>
          </a:prstGeom>
          <a:noFill/>
          <a:ln w="12700">
            <a:solidFill>
              <a:srgbClr val="CFD7E3"/>
            </a:solidFill>
            <a:prstDash val="sysDot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9" name="Freeform 23"/>
          <p:cNvSpPr/>
          <p:nvPr/>
        </p:nvSpPr>
        <p:spPr>
          <a:xfrm>
            <a:off x="4343400" y="3300984"/>
            <a:ext cx="3383279" cy="0"/>
          </a:xfrm>
          <a:custGeom>
            <a:avLst/>
            <a:gdLst/>
            <a:ahLst/>
            <a:cxnLst/>
            <a:rect l="l" t="t" r="r" b="b"/>
            <a:pathLst>
              <a:path w="3383279" h="0">
                <a:moveTo>
                  <a:pt x="0" y="0"/>
                </a:moveTo>
                <a:lnTo>
                  <a:pt x="3383279" y="0"/>
                </a:lnTo>
              </a:path>
            </a:pathLst>
          </a:custGeom>
          <a:noFill/>
          <a:ln w="13970">
            <a:solidFill>
              <a:srgbClr val="CFD7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Freeform 24"/>
          <p:cNvSpPr/>
          <p:nvPr/>
        </p:nvSpPr>
        <p:spPr>
          <a:xfrm>
            <a:off x="6342610" y="1763129"/>
            <a:ext cx="0" cy="3075709"/>
          </a:xfrm>
          <a:custGeom>
            <a:avLst/>
            <a:gdLst/>
            <a:ahLst/>
            <a:cxnLst/>
            <a:rect l="l" t="t" r="r" b="b"/>
            <a:pathLst>
              <a:path w="0" h="3075709">
                <a:moveTo>
                  <a:pt x="0" y="3075709"/>
                </a:moveTo>
                <a:lnTo>
                  <a:pt x="0" y="0"/>
                </a:lnTo>
              </a:path>
            </a:pathLst>
          </a:custGeom>
          <a:noFill/>
          <a:ln w="13970">
            <a:solidFill>
              <a:srgbClr val="CFD7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Freeform 25"/>
          <p:cNvSpPr/>
          <p:nvPr/>
        </p:nvSpPr>
        <p:spPr>
          <a:xfrm>
            <a:off x="7111538" y="3254848"/>
            <a:ext cx="0" cy="92271"/>
          </a:xfrm>
          <a:custGeom>
            <a:avLst/>
            <a:gdLst/>
            <a:ahLst/>
            <a:cxnLst/>
            <a:rect l="l" t="t" r="r" b="b"/>
            <a:pathLst>
              <a:path w="0" h="92271">
                <a:moveTo>
                  <a:pt x="0" y="92271"/>
                </a:moveTo>
                <a:lnTo>
                  <a:pt x="0" y="0"/>
                </a:lnTo>
              </a:path>
            </a:pathLst>
          </a:custGeom>
          <a:noFill/>
          <a:ln w="12700">
            <a:solidFill>
              <a:srgbClr val="CFD7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26"/>
          <p:cNvSpPr txBox="1"/>
          <p:nvPr/>
        </p:nvSpPr>
        <p:spPr>
          <a:xfrm>
            <a:off x="6837218" y="3346704"/>
            <a:ext cx="548640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B7484"/>
                </a:solidFill>
                <a:latin typeface="微软雅黑"/>
                <a:ea typeface="微软雅黑"/>
              </a:rPr>
              <a:t>1</a:t>
            </a:r>
            <a:endParaRPr/>
          </a:p>
        </p:txBody>
      </p:sp>
      <p:sp>
        <p:nvSpPr>
          <p:cNvPr id="43" name="Freeform 27"/>
          <p:cNvSpPr/>
          <p:nvPr/>
        </p:nvSpPr>
        <p:spPr>
          <a:xfrm>
            <a:off x="6296475" y="4069911"/>
            <a:ext cx="92271" cy="0"/>
          </a:xfrm>
          <a:custGeom>
            <a:avLst/>
            <a:gdLst/>
            <a:ahLst/>
            <a:cxnLst/>
            <a:rect l="l" t="t" r="r" b="b"/>
            <a:pathLst>
              <a:path w="92271" h="0">
                <a:moveTo>
                  <a:pt x="0" y="0"/>
                </a:moveTo>
                <a:lnTo>
                  <a:pt x="92271" y="0"/>
                </a:lnTo>
              </a:path>
            </a:pathLst>
          </a:custGeom>
          <a:noFill/>
          <a:ln w="12700">
            <a:solidFill>
              <a:srgbClr val="CFD7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28"/>
          <p:cNvSpPr txBox="1"/>
          <p:nvPr/>
        </p:nvSpPr>
        <p:spPr>
          <a:xfrm>
            <a:off x="6397474" y="3951039"/>
            <a:ext cx="548640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B7484"/>
                </a:solidFill>
                <a:latin typeface="微软雅黑"/>
                <a:ea typeface="微软雅黑"/>
              </a:rPr>
              <a:t>-1</a:t>
            </a:r>
            <a:endParaRPr/>
          </a:p>
        </p:txBody>
      </p:sp>
      <p:sp>
        <p:nvSpPr>
          <p:cNvPr id="45" name="Freeform 29"/>
          <p:cNvSpPr/>
          <p:nvPr/>
        </p:nvSpPr>
        <p:spPr>
          <a:xfrm>
            <a:off x="6296475" y="2532056"/>
            <a:ext cx="92271" cy="0"/>
          </a:xfrm>
          <a:custGeom>
            <a:avLst/>
            <a:gdLst/>
            <a:ahLst/>
            <a:cxnLst/>
            <a:rect l="l" t="t" r="r" b="b"/>
            <a:pathLst>
              <a:path w="92271" h="0">
                <a:moveTo>
                  <a:pt x="0" y="0"/>
                </a:moveTo>
                <a:lnTo>
                  <a:pt x="92271" y="0"/>
                </a:lnTo>
              </a:path>
            </a:pathLst>
          </a:custGeom>
          <a:noFill/>
          <a:ln w="12700">
            <a:solidFill>
              <a:srgbClr val="CFD7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30"/>
          <p:cNvSpPr txBox="1"/>
          <p:nvPr/>
        </p:nvSpPr>
        <p:spPr>
          <a:xfrm>
            <a:off x="6397474" y="2413184"/>
            <a:ext cx="548640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B7484"/>
                </a:solidFill>
                <a:latin typeface="微软雅黑"/>
                <a:ea typeface="微软雅黑"/>
              </a:rPr>
              <a:t>1</a:t>
            </a:r>
            <a:endParaRPr/>
          </a:p>
        </p:txBody>
      </p:sp>
      <p:sp>
        <p:nvSpPr>
          <p:cNvPr id="47" name="TextBox 31"/>
          <p:cNvSpPr txBox="1"/>
          <p:nvPr/>
        </p:nvSpPr>
        <p:spPr>
          <a:xfrm>
            <a:off x="7744967" y="3063240"/>
            <a:ext cx="128016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B7484"/>
                </a:solidFill>
                <a:latin typeface="微软雅黑"/>
                <a:ea typeface="微软雅黑"/>
              </a:rPr>
              <a:t>x</a:t>
            </a:r>
            <a:endParaRPr/>
          </a:p>
        </p:txBody>
      </p:sp>
      <p:sp>
        <p:nvSpPr>
          <p:cNvPr id="48" name="TextBox 32"/>
          <p:cNvSpPr txBox="1"/>
          <p:nvPr/>
        </p:nvSpPr>
        <p:spPr>
          <a:xfrm>
            <a:off x="6104866" y="1744841"/>
            <a:ext cx="128016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B7484"/>
                </a:solidFill>
                <a:latin typeface="微软雅黑"/>
                <a:ea typeface="微软雅黑"/>
              </a:rPr>
              <a:t>y</a:t>
            </a:r>
            <a:endParaRPr/>
          </a:p>
        </p:txBody>
      </p:sp>
      <p:sp>
        <p:nvSpPr>
          <p:cNvPr id="49" name="Freeform 33"/>
          <p:cNvSpPr/>
          <p:nvPr/>
        </p:nvSpPr>
        <p:spPr>
          <a:xfrm>
            <a:off x="5255243" y="2532067"/>
            <a:ext cx="2174795" cy="1537833"/>
          </a:xfrm>
          <a:custGeom>
            <a:avLst/>
            <a:gdLst/>
            <a:ahLst/>
            <a:cxnLst/>
            <a:rect l="l" t="t" r="r" b="b"/>
            <a:pathLst>
              <a:path w="2174795" h="1537833">
                <a:moveTo>
                  <a:pt x="2174795" y="768917"/>
                </a:moveTo>
                <a:lnTo>
                  <a:pt x="2174555" y="752759"/>
                </a:lnTo>
                <a:lnTo>
                  <a:pt x="2173835" y="736610"/>
                </a:lnTo>
                <a:lnTo>
                  <a:pt x="2172635" y="720474"/>
                </a:lnTo>
                <a:lnTo>
                  <a:pt x="2170955" y="704360"/>
                </a:lnTo>
                <a:lnTo>
                  <a:pt x="2168798" y="688274"/>
                </a:lnTo>
                <a:lnTo>
                  <a:pt x="2166163" y="672224"/>
                </a:lnTo>
                <a:lnTo>
                  <a:pt x="2163051" y="656216"/>
                </a:lnTo>
                <a:lnTo>
                  <a:pt x="2159465" y="640259"/>
                </a:lnTo>
                <a:lnTo>
                  <a:pt x="2155405" y="624358"/>
                </a:lnTo>
                <a:lnTo>
                  <a:pt x="2150873" y="608521"/>
                </a:lnTo>
                <a:lnTo>
                  <a:pt x="2145872" y="592755"/>
                </a:lnTo>
                <a:lnTo>
                  <a:pt x="2140404" y="577066"/>
                </a:lnTo>
                <a:lnTo>
                  <a:pt x="2134470" y="561462"/>
                </a:lnTo>
                <a:lnTo>
                  <a:pt x="2128074" y="545950"/>
                </a:lnTo>
                <a:lnTo>
                  <a:pt x="2121219" y="530537"/>
                </a:lnTo>
                <a:lnTo>
                  <a:pt x="2113907" y="515228"/>
                </a:lnTo>
                <a:lnTo>
                  <a:pt x="2106141" y="500032"/>
                </a:lnTo>
                <a:lnTo>
                  <a:pt x="2097926" y="484954"/>
                </a:lnTo>
                <a:lnTo>
                  <a:pt x="2089265" y="470002"/>
                </a:lnTo>
                <a:lnTo>
                  <a:pt x="2080161" y="455182"/>
                </a:lnTo>
                <a:lnTo>
                  <a:pt x="2070619" y="440500"/>
                </a:lnTo>
                <a:lnTo>
                  <a:pt x="2060643" y="425963"/>
                </a:lnTo>
                <a:lnTo>
                  <a:pt x="2050237" y="411578"/>
                </a:lnTo>
                <a:lnTo>
                  <a:pt x="2039405" y="397351"/>
                </a:lnTo>
                <a:lnTo>
                  <a:pt x="2028154" y="383287"/>
                </a:lnTo>
                <a:lnTo>
                  <a:pt x="2016486" y="369394"/>
                </a:lnTo>
                <a:lnTo>
                  <a:pt x="2004409" y="355678"/>
                </a:lnTo>
                <a:lnTo>
                  <a:pt x="1991927" y="342143"/>
                </a:lnTo>
                <a:lnTo>
                  <a:pt x="1979045" y="328798"/>
                </a:lnTo>
                <a:lnTo>
                  <a:pt x="1965770" y="315646"/>
                </a:lnTo>
                <a:lnTo>
                  <a:pt x="1952106" y="302695"/>
                </a:lnTo>
                <a:lnTo>
                  <a:pt x="1938061" y="289950"/>
                </a:lnTo>
                <a:lnTo>
                  <a:pt x="1923640" y="277416"/>
                </a:lnTo>
                <a:lnTo>
                  <a:pt x="1908850" y="265099"/>
                </a:lnTo>
                <a:lnTo>
                  <a:pt x="1893697" y="253004"/>
                </a:lnTo>
                <a:lnTo>
                  <a:pt x="1878188" y="241138"/>
                </a:lnTo>
                <a:lnTo>
                  <a:pt x="1862330" y="229504"/>
                </a:lnTo>
                <a:lnTo>
                  <a:pt x="1846130" y="218109"/>
                </a:lnTo>
                <a:lnTo>
                  <a:pt x="1829594" y="206957"/>
                </a:lnTo>
                <a:lnTo>
                  <a:pt x="1812731" y="196053"/>
                </a:lnTo>
                <a:lnTo>
                  <a:pt x="1795548" y="185402"/>
                </a:lnTo>
                <a:lnTo>
                  <a:pt x="1778052" y="175008"/>
                </a:lnTo>
                <a:lnTo>
                  <a:pt x="1760251" y="164877"/>
                </a:lnTo>
                <a:lnTo>
                  <a:pt x="1742152" y="155013"/>
                </a:lnTo>
                <a:lnTo>
                  <a:pt x="1723765" y="145420"/>
                </a:lnTo>
                <a:lnTo>
                  <a:pt x="1705097" y="136102"/>
                </a:lnTo>
                <a:lnTo>
                  <a:pt x="1686155" y="127063"/>
                </a:lnTo>
                <a:lnTo>
                  <a:pt x="1666950" y="118308"/>
                </a:lnTo>
                <a:lnTo>
                  <a:pt x="1647488" y="109840"/>
                </a:lnTo>
                <a:lnTo>
                  <a:pt x="1627779" y="101664"/>
                </a:lnTo>
                <a:lnTo>
                  <a:pt x="1607832" y="93781"/>
                </a:lnTo>
                <a:lnTo>
                  <a:pt x="1587655" y="86197"/>
                </a:lnTo>
                <a:lnTo>
                  <a:pt x="1567257" y="78915"/>
                </a:lnTo>
                <a:lnTo>
                  <a:pt x="1546646" y="71937"/>
                </a:lnTo>
                <a:lnTo>
                  <a:pt x="1525834" y="65267"/>
                </a:lnTo>
                <a:lnTo>
                  <a:pt x="1504827" y="58907"/>
                </a:lnTo>
                <a:lnTo>
                  <a:pt x="1483636" y="52862"/>
                </a:lnTo>
                <a:lnTo>
                  <a:pt x="1462270" y="47132"/>
                </a:lnTo>
                <a:lnTo>
                  <a:pt x="1440739" y="41721"/>
                </a:lnTo>
                <a:lnTo>
                  <a:pt x="1419051" y="36631"/>
                </a:lnTo>
                <a:lnTo>
                  <a:pt x="1397218" y="31865"/>
                </a:lnTo>
                <a:lnTo>
                  <a:pt x="1375247" y="27423"/>
                </a:lnTo>
                <a:lnTo>
                  <a:pt x="1353149" y="23310"/>
                </a:lnTo>
                <a:lnTo>
                  <a:pt x="1330934" y="19526"/>
                </a:lnTo>
                <a:lnTo>
                  <a:pt x="1308611" y="16072"/>
                </a:lnTo>
                <a:lnTo>
                  <a:pt x="1286191" y="12951"/>
                </a:lnTo>
                <a:lnTo>
                  <a:pt x="1263682" y="10164"/>
                </a:lnTo>
                <a:lnTo>
                  <a:pt x="1241096" y="7712"/>
                </a:lnTo>
                <a:lnTo>
                  <a:pt x="1218442" y="5596"/>
                </a:lnTo>
                <a:lnTo>
                  <a:pt x="1195730" y="3817"/>
                </a:lnTo>
                <a:lnTo>
                  <a:pt x="1172971" y="2375"/>
                </a:lnTo>
                <a:lnTo>
                  <a:pt x="1150173" y="1273"/>
                </a:lnTo>
                <a:lnTo>
                  <a:pt x="1127348" y="509"/>
                </a:lnTo>
                <a:lnTo>
                  <a:pt x="1104505" y="85"/>
                </a:lnTo>
                <a:lnTo>
                  <a:pt x="1081655" y="0"/>
                </a:lnTo>
                <a:lnTo>
                  <a:pt x="1058807" y="254"/>
                </a:lnTo>
                <a:lnTo>
                  <a:pt x="1035971" y="849"/>
                </a:lnTo>
                <a:lnTo>
                  <a:pt x="1013159" y="1782"/>
                </a:lnTo>
                <a:lnTo>
                  <a:pt x="990379" y="3054"/>
                </a:lnTo>
                <a:lnTo>
                  <a:pt x="967642" y="4664"/>
                </a:lnTo>
                <a:lnTo>
                  <a:pt x="944958" y="6612"/>
                </a:lnTo>
                <a:lnTo>
                  <a:pt x="922336" y="8896"/>
                </a:lnTo>
                <a:lnTo>
                  <a:pt x="899788" y="11516"/>
                </a:lnTo>
                <a:lnTo>
                  <a:pt x="877322" y="14470"/>
                </a:lnTo>
                <a:lnTo>
                  <a:pt x="854950" y="17757"/>
                </a:lnTo>
                <a:lnTo>
                  <a:pt x="832679" y="21376"/>
                </a:lnTo>
                <a:lnTo>
                  <a:pt x="810522" y="25326"/>
                </a:lnTo>
                <a:lnTo>
                  <a:pt x="788486" y="29603"/>
                </a:lnTo>
                <a:lnTo>
                  <a:pt x="766583" y="34207"/>
                </a:lnTo>
                <a:lnTo>
                  <a:pt x="744821" y="39136"/>
                </a:lnTo>
                <a:lnTo>
                  <a:pt x="723210" y="44386"/>
                </a:lnTo>
                <a:lnTo>
                  <a:pt x="701760" y="49957"/>
                </a:lnTo>
                <a:lnTo>
                  <a:pt x="680481" y="55845"/>
                </a:lnTo>
                <a:lnTo>
                  <a:pt x="659381" y="62048"/>
                </a:lnTo>
                <a:lnTo>
                  <a:pt x="638470" y="68563"/>
                </a:lnTo>
                <a:lnTo>
                  <a:pt x="617757" y="75388"/>
                </a:lnTo>
                <a:lnTo>
                  <a:pt x="597252" y="82518"/>
                </a:lnTo>
                <a:lnTo>
                  <a:pt x="576963" y="89952"/>
                </a:lnTo>
                <a:lnTo>
                  <a:pt x="556900" y="97685"/>
                </a:lnTo>
                <a:lnTo>
                  <a:pt x="537071" y="105715"/>
                </a:lnTo>
                <a:lnTo>
                  <a:pt x="517484" y="114038"/>
                </a:lnTo>
                <a:lnTo>
                  <a:pt x="498150" y="122650"/>
                </a:lnTo>
                <a:lnTo>
                  <a:pt x="479075" y="131547"/>
                </a:lnTo>
                <a:lnTo>
                  <a:pt x="460269" y="140726"/>
                </a:lnTo>
                <a:lnTo>
                  <a:pt x="441741" y="150182"/>
                </a:lnTo>
                <a:lnTo>
                  <a:pt x="423497" y="159912"/>
                </a:lnTo>
                <a:lnTo>
                  <a:pt x="405546" y="169910"/>
                </a:lnTo>
                <a:lnTo>
                  <a:pt x="387896" y="180173"/>
                </a:lnTo>
                <a:lnTo>
                  <a:pt x="370556" y="190695"/>
                </a:lnTo>
                <a:lnTo>
                  <a:pt x="353531" y="201473"/>
                </a:lnTo>
                <a:lnTo>
                  <a:pt x="336831" y="212502"/>
                </a:lnTo>
                <a:lnTo>
                  <a:pt x="320463" y="223776"/>
                </a:lnTo>
                <a:lnTo>
                  <a:pt x="304432" y="235292"/>
                </a:lnTo>
                <a:lnTo>
                  <a:pt x="288748" y="247042"/>
                </a:lnTo>
                <a:lnTo>
                  <a:pt x="273416" y="259023"/>
                </a:lnTo>
                <a:lnTo>
                  <a:pt x="258444" y="271230"/>
                </a:lnTo>
                <a:lnTo>
                  <a:pt x="243838" y="283656"/>
                </a:lnTo>
                <a:lnTo>
                  <a:pt x="229604" y="296296"/>
                </a:lnTo>
                <a:lnTo>
                  <a:pt x="215749" y="309145"/>
                </a:lnTo>
                <a:lnTo>
                  <a:pt x="202279" y="322197"/>
                </a:lnTo>
                <a:lnTo>
                  <a:pt x="189199" y="335447"/>
                </a:lnTo>
                <a:lnTo>
                  <a:pt x="176517" y="348887"/>
                </a:lnTo>
                <a:lnTo>
                  <a:pt x="164236" y="362513"/>
                </a:lnTo>
                <a:lnTo>
                  <a:pt x="152363" y="376319"/>
                </a:lnTo>
                <a:lnTo>
                  <a:pt x="140903" y="390298"/>
                </a:lnTo>
                <a:lnTo>
                  <a:pt x="129861" y="404444"/>
                </a:lnTo>
                <a:lnTo>
                  <a:pt x="119242" y="418751"/>
                </a:lnTo>
                <a:lnTo>
                  <a:pt x="109050" y="433213"/>
                </a:lnTo>
                <a:lnTo>
                  <a:pt x="99290" y="447823"/>
                </a:lnTo>
                <a:lnTo>
                  <a:pt x="89967" y="462575"/>
                </a:lnTo>
                <a:lnTo>
                  <a:pt x="81084" y="477462"/>
                </a:lnTo>
                <a:lnTo>
                  <a:pt x="72645" y="492478"/>
                </a:lnTo>
                <a:lnTo>
                  <a:pt x="64654" y="507616"/>
                </a:lnTo>
                <a:lnTo>
                  <a:pt x="57115" y="522869"/>
                </a:lnTo>
                <a:lnTo>
                  <a:pt x="50031" y="538231"/>
                </a:lnTo>
                <a:lnTo>
                  <a:pt x="43405" y="553694"/>
                </a:lnTo>
                <a:lnTo>
                  <a:pt x="37240" y="569253"/>
                </a:lnTo>
                <a:lnTo>
                  <a:pt x="31539" y="584900"/>
                </a:lnTo>
                <a:lnTo>
                  <a:pt x="26304" y="600628"/>
                </a:lnTo>
                <a:lnTo>
                  <a:pt x="21537" y="616431"/>
                </a:lnTo>
                <a:lnTo>
                  <a:pt x="17241" y="632301"/>
                </a:lnTo>
                <a:lnTo>
                  <a:pt x="13418" y="648231"/>
                </a:lnTo>
                <a:lnTo>
                  <a:pt x="10068" y="664214"/>
                </a:lnTo>
                <a:lnTo>
                  <a:pt x="7195" y="680244"/>
                </a:lnTo>
                <a:lnTo>
                  <a:pt x="4798" y="696313"/>
                </a:lnTo>
                <a:lnTo>
                  <a:pt x="2880" y="712414"/>
                </a:lnTo>
                <a:lnTo>
                  <a:pt x="1440" y="728539"/>
                </a:lnTo>
                <a:lnTo>
                  <a:pt x="480" y="744683"/>
                </a:lnTo>
                <a:lnTo>
                  <a:pt x="0" y="760838"/>
                </a:lnTo>
                <a:lnTo>
                  <a:pt x="0" y="776995"/>
                </a:lnTo>
                <a:lnTo>
                  <a:pt x="480" y="793150"/>
                </a:lnTo>
                <a:lnTo>
                  <a:pt x="1440" y="809294"/>
                </a:lnTo>
                <a:lnTo>
                  <a:pt x="2880" y="825419"/>
                </a:lnTo>
                <a:lnTo>
                  <a:pt x="4798" y="841520"/>
                </a:lnTo>
                <a:lnTo>
                  <a:pt x="7195" y="857589"/>
                </a:lnTo>
                <a:lnTo>
                  <a:pt x="10068" y="873619"/>
                </a:lnTo>
                <a:lnTo>
                  <a:pt x="13418" y="889602"/>
                </a:lnTo>
                <a:lnTo>
                  <a:pt x="17241" y="905532"/>
                </a:lnTo>
                <a:lnTo>
                  <a:pt x="21537" y="921402"/>
                </a:lnTo>
                <a:lnTo>
                  <a:pt x="26304" y="937205"/>
                </a:lnTo>
                <a:lnTo>
                  <a:pt x="31539" y="952933"/>
                </a:lnTo>
                <a:lnTo>
                  <a:pt x="37240" y="968580"/>
                </a:lnTo>
                <a:lnTo>
                  <a:pt x="43405" y="984139"/>
                </a:lnTo>
                <a:lnTo>
                  <a:pt x="50031" y="999602"/>
                </a:lnTo>
                <a:lnTo>
                  <a:pt x="57115" y="1014964"/>
                </a:lnTo>
                <a:lnTo>
                  <a:pt x="64654" y="1030217"/>
                </a:lnTo>
                <a:lnTo>
                  <a:pt x="72645" y="1045355"/>
                </a:lnTo>
                <a:lnTo>
                  <a:pt x="81084" y="1060371"/>
                </a:lnTo>
                <a:lnTo>
                  <a:pt x="89967" y="1075258"/>
                </a:lnTo>
                <a:lnTo>
                  <a:pt x="99290" y="1090010"/>
                </a:lnTo>
                <a:lnTo>
                  <a:pt x="109050" y="1104620"/>
                </a:lnTo>
                <a:lnTo>
                  <a:pt x="119242" y="1119082"/>
                </a:lnTo>
                <a:lnTo>
                  <a:pt x="129861" y="1133389"/>
                </a:lnTo>
                <a:lnTo>
                  <a:pt x="140903" y="1147535"/>
                </a:lnTo>
                <a:lnTo>
                  <a:pt x="152363" y="1161514"/>
                </a:lnTo>
                <a:lnTo>
                  <a:pt x="164236" y="1175320"/>
                </a:lnTo>
                <a:lnTo>
                  <a:pt x="176517" y="1188946"/>
                </a:lnTo>
                <a:lnTo>
                  <a:pt x="189199" y="1202386"/>
                </a:lnTo>
                <a:lnTo>
                  <a:pt x="202279" y="1215636"/>
                </a:lnTo>
                <a:lnTo>
                  <a:pt x="215749" y="1228688"/>
                </a:lnTo>
                <a:lnTo>
                  <a:pt x="229604" y="1241537"/>
                </a:lnTo>
                <a:lnTo>
                  <a:pt x="243838" y="1254177"/>
                </a:lnTo>
                <a:lnTo>
                  <a:pt x="258444" y="1266603"/>
                </a:lnTo>
                <a:lnTo>
                  <a:pt x="273416" y="1278810"/>
                </a:lnTo>
                <a:lnTo>
                  <a:pt x="288748" y="1290791"/>
                </a:lnTo>
                <a:lnTo>
                  <a:pt x="304432" y="1302541"/>
                </a:lnTo>
                <a:lnTo>
                  <a:pt x="320463" y="1314057"/>
                </a:lnTo>
                <a:lnTo>
                  <a:pt x="336831" y="1325331"/>
                </a:lnTo>
                <a:lnTo>
                  <a:pt x="353531" y="1336360"/>
                </a:lnTo>
                <a:lnTo>
                  <a:pt x="370556" y="1347138"/>
                </a:lnTo>
                <a:lnTo>
                  <a:pt x="387896" y="1357660"/>
                </a:lnTo>
                <a:lnTo>
                  <a:pt x="405546" y="1367923"/>
                </a:lnTo>
                <a:lnTo>
                  <a:pt x="423497" y="1377921"/>
                </a:lnTo>
                <a:lnTo>
                  <a:pt x="441741" y="1387651"/>
                </a:lnTo>
                <a:lnTo>
                  <a:pt x="460269" y="1397107"/>
                </a:lnTo>
                <a:lnTo>
                  <a:pt x="479075" y="1406286"/>
                </a:lnTo>
                <a:lnTo>
                  <a:pt x="498150" y="1415183"/>
                </a:lnTo>
                <a:lnTo>
                  <a:pt x="517484" y="1423795"/>
                </a:lnTo>
                <a:lnTo>
                  <a:pt x="537071" y="1432118"/>
                </a:lnTo>
                <a:lnTo>
                  <a:pt x="556900" y="1440148"/>
                </a:lnTo>
                <a:lnTo>
                  <a:pt x="576963" y="1447881"/>
                </a:lnTo>
                <a:lnTo>
                  <a:pt x="597252" y="1455315"/>
                </a:lnTo>
                <a:lnTo>
                  <a:pt x="617757" y="1462445"/>
                </a:lnTo>
                <a:lnTo>
                  <a:pt x="638470" y="1469270"/>
                </a:lnTo>
                <a:lnTo>
                  <a:pt x="659381" y="1475785"/>
                </a:lnTo>
                <a:lnTo>
                  <a:pt x="680481" y="1481988"/>
                </a:lnTo>
                <a:lnTo>
                  <a:pt x="701760" y="1487876"/>
                </a:lnTo>
                <a:lnTo>
                  <a:pt x="723210" y="1493447"/>
                </a:lnTo>
                <a:lnTo>
                  <a:pt x="744821" y="1498697"/>
                </a:lnTo>
                <a:lnTo>
                  <a:pt x="766583" y="1503626"/>
                </a:lnTo>
                <a:lnTo>
                  <a:pt x="788486" y="1508230"/>
                </a:lnTo>
                <a:lnTo>
                  <a:pt x="810522" y="1512507"/>
                </a:lnTo>
                <a:lnTo>
                  <a:pt x="832679" y="1516457"/>
                </a:lnTo>
                <a:lnTo>
                  <a:pt x="854950" y="1520076"/>
                </a:lnTo>
                <a:lnTo>
                  <a:pt x="877322" y="1523363"/>
                </a:lnTo>
                <a:lnTo>
                  <a:pt x="899788" y="1526317"/>
                </a:lnTo>
                <a:lnTo>
                  <a:pt x="922336" y="1528937"/>
                </a:lnTo>
                <a:lnTo>
                  <a:pt x="944958" y="1531221"/>
                </a:lnTo>
                <a:lnTo>
                  <a:pt x="967642" y="1533169"/>
                </a:lnTo>
                <a:lnTo>
                  <a:pt x="990379" y="1534779"/>
                </a:lnTo>
                <a:lnTo>
                  <a:pt x="1013159" y="1536051"/>
                </a:lnTo>
                <a:lnTo>
                  <a:pt x="1035971" y="1536984"/>
                </a:lnTo>
                <a:lnTo>
                  <a:pt x="1058807" y="1537579"/>
                </a:lnTo>
                <a:lnTo>
                  <a:pt x="1081655" y="1537833"/>
                </a:lnTo>
                <a:lnTo>
                  <a:pt x="1104505" y="1537748"/>
                </a:lnTo>
                <a:lnTo>
                  <a:pt x="1127348" y="1537324"/>
                </a:lnTo>
                <a:lnTo>
                  <a:pt x="1150173" y="1536560"/>
                </a:lnTo>
                <a:lnTo>
                  <a:pt x="1172971" y="1535458"/>
                </a:lnTo>
                <a:lnTo>
                  <a:pt x="1195730" y="1534016"/>
                </a:lnTo>
                <a:lnTo>
                  <a:pt x="1218442" y="1532237"/>
                </a:lnTo>
                <a:lnTo>
                  <a:pt x="1241096" y="1530121"/>
                </a:lnTo>
                <a:lnTo>
                  <a:pt x="1263682" y="1527669"/>
                </a:lnTo>
                <a:lnTo>
                  <a:pt x="1286191" y="1524882"/>
                </a:lnTo>
                <a:lnTo>
                  <a:pt x="1308611" y="1521761"/>
                </a:lnTo>
                <a:lnTo>
                  <a:pt x="1330934" y="1518307"/>
                </a:lnTo>
                <a:lnTo>
                  <a:pt x="1353149" y="1514523"/>
                </a:lnTo>
                <a:lnTo>
                  <a:pt x="1375247" y="1510410"/>
                </a:lnTo>
                <a:lnTo>
                  <a:pt x="1397218" y="1505968"/>
                </a:lnTo>
                <a:lnTo>
                  <a:pt x="1419051" y="1501202"/>
                </a:lnTo>
                <a:lnTo>
                  <a:pt x="1440739" y="1496112"/>
                </a:lnTo>
                <a:lnTo>
                  <a:pt x="1462270" y="1490701"/>
                </a:lnTo>
                <a:lnTo>
                  <a:pt x="1483636" y="1484971"/>
                </a:lnTo>
                <a:lnTo>
                  <a:pt x="1504827" y="1478926"/>
                </a:lnTo>
                <a:lnTo>
                  <a:pt x="1525834" y="1472566"/>
                </a:lnTo>
                <a:lnTo>
                  <a:pt x="1546646" y="1465896"/>
                </a:lnTo>
                <a:lnTo>
                  <a:pt x="1567257" y="1458918"/>
                </a:lnTo>
                <a:lnTo>
                  <a:pt x="1587655" y="1451636"/>
                </a:lnTo>
                <a:lnTo>
                  <a:pt x="1607832" y="1444052"/>
                </a:lnTo>
                <a:lnTo>
                  <a:pt x="1627779" y="1436169"/>
                </a:lnTo>
                <a:lnTo>
                  <a:pt x="1647488" y="1427993"/>
                </a:lnTo>
                <a:lnTo>
                  <a:pt x="1666950" y="1419525"/>
                </a:lnTo>
                <a:lnTo>
                  <a:pt x="1686155" y="1410770"/>
                </a:lnTo>
                <a:lnTo>
                  <a:pt x="1705097" y="1401731"/>
                </a:lnTo>
                <a:lnTo>
                  <a:pt x="1723765" y="1392413"/>
                </a:lnTo>
                <a:lnTo>
                  <a:pt x="1742152" y="1382820"/>
                </a:lnTo>
                <a:lnTo>
                  <a:pt x="1760251" y="1372956"/>
                </a:lnTo>
                <a:lnTo>
                  <a:pt x="1778052" y="1362825"/>
                </a:lnTo>
                <a:lnTo>
                  <a:pt x="1795548" y="1352431"/>
                </a:lnTo>
                <a:lnTo>
                  <a:pt x="1812731" y="1341780"/>
                </a:lnTo>
                <a:lnTo>
                  <a:pt x="1829594" y="1330876"/>
                </a:lnTo>
                <a:lnTo>
                  <a:pt x="1846130" y="1319724"/>
                </a:lnTo>
                <a:lnTo>
                  <a:pt x="1862330" y="1308329"/>
                </a:lnTo>
                <a:lnTo>
                  <a:pt x="1878188" y="1296695"/>
                </a:lnTo>
                <a:lnTo>
                  <a:pt x="1893697" y="1284829"/>
                </a:lnTo>
                <a:lnTo>
                  <a:pt x="1908850" y="1272734"/>
                </a:lnTo>
                <a:lnTo>
                  <a:pt x="1923640" y="1260417"/>
                </a:lnTo>
                <a:lnTo>
                  <a:pt x="1938061" y="1247883"/>
                </a:lnTo>
                <a:lnTo>
                  <a:pt x="1952106" y="1235138"/>
                </a:lnTo>
                <a:lnTo>
                  <a:pt x="1965770" y="1222187"/>
                </a:lnTo>
                <a:lnTo>
                  <a:pt x="1979045" y="1209035"/>
                </a:lnTo>
                <a:lnTo>
                  <a:pt x="1991927" y="1195690"/>
                </a:lnTo>
                <a:lnTo>
                  <a:pt x="2004409" y="1182155"/>
                </a:lnTo>
                <a:lnTo>
                  <a:pt x="2016486" y="1168439"/>
                </a:lnTo>
                <a:lnTo>
                  <a:pt x="2028154" y="1154546"/>
                </a:lnTo>
                <a:lnTo>
                  <a:pt x="2039405" y="1140482"/>
                </a:lnTo>
                <a:lnTo>
                  <a:pt x="2050237" y="1126255"/>
                </a:lnTo>
                <a:lnTo>
                  <a:pt x="2060643" y="1111870"/>
                </a:lnTo>
                <a:lnTo>
                  <a:pt x="2070619" y="1097333"/>
                </a:lnTo>
                <a:lnTo>
                  <a:pt x="2080161" y="1082651"/>
                </a:lnTo>
                <a:lnTo>
                  <a:pt x="2089265" y="1067831"/>
                </a:lnTo>
                <a:lnTo>
                  <a:pt x="2097926" y="1052879"/>
                </a:lnTo>
                <a:lnTo>
                  <a:pt x="2106141" y="1037801"/>
                </a:lnTo>
                <a:lnTo>
                  <a:pt x="2113907" y="1022605"/>
                </a:lnTo>
                <a:lnTo>
                  <a:pt x="2121219" y="1007296"/>
                </a:lnTo>
                <a:lnTo>
                  <a:pt x="2128074" y="991883"/>
                </a:lnTo>
                <a:lnTo>
                  <a:pt x="2134470" y="976371"/>
                </a:lnTo>
                <a:lnTo>
                  <a:pt x="2140404" y="960767"/>
                </a:lnTo>
                <a:lnTo>
                  <a:pt x="2145872" y="945078"/>
                </a:lnTo>
                <a:lnTo>
                  <a:pt x="2150873" y="929312"/>
                </a:lnTo>
                <a:lnTo>
                  <a:pt x="2155405" y="913475"/>
                </a:lnTo>
                <a:lnTo>
                  <a:pt x="2159465" y="897574"/>
                </a:lnTo>
                <a:lnTo>
                  <a:pt x="2163051" y="881617"/>
                </a:lnTo>
                <a:lnTo>
                  <a:pt x="2166163" y="865609"/>
                </a:lnTo>
                <a:lnTo>
                  <a:pt x="2168798" y="849559"/>
                </a:lnTo>
                <a:lnTo>
                  <a:pt x="2170955" y="833473"/>
                </a:lnTo>
                <a:lnTo>
                  <a:pt x="2172635" y="817359"/>
                </a:lnTo>
                <a:lnTo>
                  <a:pt x="2173835" y="801223"/>
                </a:lnTo>
                <a:lnTo>
                  <a:pt x="2174555" y="785074"/>
                </a:lnTo>
                <a:lnTo>
                  <a:pt x="2174795" y="768917"/>
                </a:lnTo>
              </a:path>
            </a:pathLst>
          </a:custGeom>
          <a:noFill/>
          <a:ln w="16510">
            <a:solidFill>
              <a:srgbClr val="6B7484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Freeform 34"/>
          <p:cNvSpPr/>
          <p:nvPr/>
        </p:nvSpPr>
        <p:spPr>
          <a:xfrm>
            <a:off x="4731443" y="1770207"/>
            <a:ext cx="2154817" cy="3061553"/>
          </a:xfrm>
          <a:custGeom>
            <a:avLst/>
            <a:gdLst/>
            <a:ahLst/>
            <a:cxnLst/>
            <a:rect l="l" t="t" r="r" b="b"/>
            <a:pathLst>
              <a:path w="2154817" h="3061553">
                <a:moveTo>
                  <a:pt x="0" y="3061553"/>
                </a:moveTo>
                <a:lnTo>
                  <a:pt x="46844" y="3044823"/>
                </a:lnTo>
                <a:lnTo>
                  <a:pt x="93173" y="3028093"/>
                </a:lnTo>
                <a:lnTo>
                  <a:pt x="138987" y="3011364"/>
                </a:lnTo>
                <a:lnTo>
                  <a:pt x="184287" y="2994634"/>
                </a:lnTo>
                <a:lnTo>
                  <a:pt x="229071" y="2977904"/>
                </a:lnTo>
                <a:lnTo>
                  <a:pt x="273341" y="2961174"/>
                </a:lnTo>
                <a:lnTo>
                  <a:pt x="317097" y="2944444"/>
                </a:lnTo>
                <a:lnTo>
                  <a:pt x="360337" y="2927715"/>
                </a:lnTo>
                <a:lnTo>
                  <a:pt x="403063" y="2910985"/>
                </a:lnTo>
                <a:lnTo>
                  <a:pt x="445274" y="2894255"/>
                </a:lnTo>
                <a:lnTo>
                  <a:pt x="486970" y="2877525"/>
                </a:lnTo>
                <a:lnTo>
                  <a:pt x="528151" y="2860795"/>
                </a:lnTo>
                <a:lnTo>
                  <a:pt x="568818" y="2844066"/>
                </a:lnTo>
                <a:lnTo>
                  <a:pt x="608970" y="2827336"/>
                </a:lnTo>
                <a:lnTo>
                  <a:pt x="648607" y="2810606"/>
                </a:lnTo>
                <a:lnTo>
                  <a:pt x="687729" y="2793876"/>
                </a:lnTo>
                <a:lnTo>
                  <a:pt x="726337" y="2777146"/>
                </a:lnTo>
                <a:lnTo>
                  <a:pt x="764430" y="2760417"/>
                </a:lnTo>
                <a:lnTo>
                  <a:pt x="802008" y="2743687"/>
                </a:lnTo>
                <a:lnTo>
                  <a:pt x="839071" y="2726957"/>
                </a:lnTo>
                <a:lnTo>
                  <a:pt x="875619" y="2710227"/>
                </a:lnTo>
                <a:lnTo>
                  <a:pt x="911653" y="2693497"/>
                </a:lnTo>
                <a:lnTo>
                  <a:pt x="947172" y="2676768"/>
                </a:lnTo>
                <a:lnTo>
                  <a:pt x="982176" y="2660038"/>
                </a:lnTo>
                <a:lnTo>
                  <a:pt x="1016666" y="2643308"/>
                </a:lnTo>
                <a:lnTo>
                  <a:pt x="1050640" y="2626578"/>
                </a:lnTo>
                <a:lnTo>
                  <a:pt x="1084100" y="2609848"/>
                </a:lnTo>
                <a:lnTo>
                  <a:pt x="1117045" y="2593119"/>
                </a:lnTo>
                <a:lnTo>
                  <a:pt x="1149476" y="2576389"/>
                </a:lnTo>
                <a:lnTo>
                  <a:pt x="1181391" y="2559659"/>
                </a:lnTo>
                <a:lnTo>
                  <a:pt x="1212792" y="2542929"/>
                </a:lnTo>
                <a:lnTo>
                  <a:pt x="1243678" y="2526200"/>
                </a:lnTo>
                <a:lnTo>
                  <a:pt x="1274050" y="2509470"/>
                </a:lnTo>
                <a:lnTo>
                  <a:pt x="1303906" y="2492740"/>
                </a:lnTo>
                <a:lnTo>
                  <a:pt x="1333248" y="2476010"/>
                </a:lnTo>
                <a:lnTo>
                  <a:pt x="1362075" y="2459280"/>
                </a:lnTo>
                <a:lnTo>
                  <a:pt x="1390387" y="2442551"/>
                </a:lnTo>
                <a:lnTo>
                  <a:pt x="1418184" y="2425821"/>
                </a:lnTo>
                <a:lnTo>
                  <a:pt x="1445467" y="2409091"/>
                </a:lnTo>
                <a:lnTo>
                  <a:pt x="1472235" y="2392361"/>
                </a:lnTo>
                <a:lnTo>
                  <a:pt x="1498488" y="2375631"/>
                </a:lnTo>
                <a:lnTo>
                  <a:pt x="1524227" y="2358902"/>
                </a:lnTo>
                <a:lnTo>
                  <a:pt x="1549450" y="2342172"/>
                </a:lnTo>
                <a:lnTo>
                  <a:pt x="1574159" y="2325442"/>
                </a:lnTo>
                <a:lnTo>
                  <a:pt x="1598353" y="2308712"/>
                </a:lnTo>
                <a:lnTo>
                  <a:pt x="1622032" y="2291982"/>
                </a:lnTo>
                <a:lnTo>
                  <a:pt x="1645197" y="2275253"/>
                </a:lnTo>
                <a:lnTo>
                  <a:pt x="1667847" y="2258523"/>
                </a:lnTo>
                <a:lnTo>
                  <a:pt x="1689982" y="2241793"/>
                </a:lnTo>
                <a:lnTo>
                  <a:pt x="1711602" y="2225063"/>
                </a:lnTo>
                <a:lnTo>
                  <a:pt x="1732707" y="2208333"/>
                </a:lnTo>
                <a:lnTo>
                  <a:pt x="1753298" y="2191604"/>
                </a:lnTo>
                <a:lnTo>
                  <a:pt x="1773374" y="2174874"/>
                </a:lnTo>
                <a:lnTo>
                  <a:pt x="1792935" y="2158144"/>
                </a:lnTo>
                <a:lnTo>
                  <a:pt x="1811982" y="2141414"/>
                </a:lnTo>
                <a:lnTo>
                  <a:pt x="1830513" y="2124684"/>
                </a:lnTo>
                <a:lnTo>
                  <a:pt x="1848530" y="2107955"/>
                </a:lnTo>
                <a:lnTo>
                  <a:pt x="1866032" y="2091225"/>
                </a:lnTo>
                <a:lnTo>
                  <a:pt x="1883019" y="2074495"/>
                </a:lnTo>
                <a:lnTo>
                  <a:pt x="1899492" y="2057765"/>
                </a:lnTo>
                <a:lnTo>
                  <a:pt x="1915450" y="2041035"/>
                </a:lnTo>
                <a:lnTo>
                  <a:pt x="1930893" y="2024306"/>
                </a:lnTo>
                <a:lnTo>
                  <a:pt x="1945821" y="2007576"/>
                </a:lnTo>
                <a:lnTo>
                  <a:pt x="1960235" y="1990846"/>
                </a:lnTo>
                <a:lnTo>
                  <a:pt x="1974133" y="1974116"/>
                </a:lnTo>
                <a:lnTo>
                  <a:pt x="1987517" y="1957386"/>
                </a:lnTo>
                <a:lnTo>
                  <a:pt x="2000386" y="1940657"/>
                </a:lnTo>
                <a:lnTo>
                  <a:pt x="2012741" y="1923927"/>
                </a:lnTo>
                <a:lnTo>
                  <a:pt x="2024581" y="1907197"/>
                </a:lnTo>
                <a:lnTo>
                  <a:pt x="2035905" y="1890467"/>
                </a:lnTo>
                <a:lnTo>
                  <a:pt x="2046716" y="1873737"/>
                </a:lnTo>
                <a:lnTo>
                  <a:pt x="2057011" y="1857008"/>
                </a:lnTo>
                <a:lnTo>
                  <a:pt x="2066792" y="1840278"/>
                </a:lnTo>
                <a:lnTo>
                  <a:pt x="2076057" y="1823548"/>
                </a:lnTo>
                <a:lnTo>
                  <a:pt x="2084808" y="1806818"/>
                </a:lnTo>
                <a:lnTo>
                  <a:pt x="2093045" y="1790088"/>
                </a:lnTo>
                <a:lnTo>
                  <a:pt x="2100766" y="1773359"/>
                </a:lnTo>
                <a:lnTo>
                  <a:pt x="2107973" y="1756629"/>
                </a:lnTo>
                <a:lnTo>
                  <a:pt x="2114665" y="1739899"/>
                </a:lnTo>
                <a:lnTo>
                  <a:pt x="2120842" y="1723169"/>
                </a:lnTo>
                <a:lnTo>
                  <a:pt x="2126505" y="1706439"/>
                </a:lnTo>
                <a:lnTo>
                  <a:pt x="2131652" y="1689710"/>
                </a:lnTo>
                <a:lnTo>
                  <a:pt x="2136285" y="1672980"/>
                </a:lnTo>
                <a:lnTo>
                  <a:pt x="2140403" y="1656250"/>
                </a:lnTo>
                <a:lnTo>
                  <a:pt x="2144007" y="1639520"/>
                </a:lnTo>
                <a:lnTo>
                  <a:pt x="2147095" y="1622790"/>
                </a:lnTo>
                <a:lnTo>
                  <a:pt x="2149669" y="1606061"/>
                </a:lnTo>
                <a:lnTo>
                  <a:pt x="2151728" y="1589331"/>
                </a:lnTo>
                <a:lnTo>
                  <a:pt x="2153272" y="1572601"/>
                </a:lnTo>
                <a:lnTo>
                  <a:pt x="2154302" y="1555871"/>
                </a:lnTo>
                <a:lnTo>
                  <a:pt x="2154817" y="1539141"/>
                </a:lnTo>
                <a:lnTo>
                  <a:pt x="2154817" y="1522412"/>
                </a:lnTo>
                <a:lnTo>
                  <a:pt x="2154302" y="1505682"/>
                </a:lnTo>
                <a:lnTo>
                  <a:pt x="2153272" y="1488952"/>
                </a:lnTo>
                <a:lnTo>
                  <a:pt x="2151728" y="1472222"/>
                </a:lnTo>
                <a:lnTo>
                  <a:pt x="2149669" y="1455492"/>
                </a:lnTo>
                <a:lnTo>
                  <a:pt x="2147095" y="1438763"/>
                </a:lnTo>
                <a:lnTo>
                  <a:pt x="2144007" y="1422033"/>
                </a:lnTo>
                <a:lnTo>
                  <a:pt x="2140403" y="1405303"/>
                </a:lnTo>
                <a:lnTo>
                  <a:pt x="2136285" y="1388573"/>
                </a:lnTo>
                <a:lnTo>
                  <a:pt x="2131652" y="1371843"/>
                </a:lnTo>
                <a:lnTo>
                  <a:pt x="2126505" y="1355114"/>
                </a:lnTo>
                <a:lnTo>
                  <a:pt x="2120842" y="1338384"/>
                </a:lnTo>
                <a:lnTo>
                  <a:pt x="2114665" y="1321654"/>
                </a:lnTo>
                <a:lnTo>
                  <a:pt x="2107973" y="1304924"/>
                </a:lnTo>
                <a:lnTo>
                  <a:pt x="2100766" y="1288194"/>
                </a:lnTo>
                <a:lnTo>
                  <a:pt x="2093045" y="1271465"/>
                </a:lnTo>
                <a:lnTo>
                  <a:pt x="2084808" y="1254735"/>
                </a:lnTo>
                <a:lnTo>
                  <a:pt x="2076057" y="1238005"/>
                </a:lnTo>
                <a:lnTo>
                  <a:pt x="2066792" y="1221275"/>
                </a:lnTo>
                <a:lnTo>
                  <a:pt x="2057011" y="1204545"/>
                </a:lnTo>
                <a:lnTo>
                  <a:pt x="2046716" y="1187816"/>
                </a:lnTo>
                <a:lnTo>
                  <a:pt x="2035905" y="1171086"/>
                </a:lnTo>
                <a:lnTo>
                  <a:pt x="2024581" y="1154356"/>
                </a:lnTo>
                <a:lnTo>
                  <a:pt x="2012741" y="1137626"/>
                </a:lnTo>
                <a:lnTo>
                  <a:pt x="2000386" y="1120896"/>
                </a:lnTo>
                <a:lnTo>
                  <a:pt x="1987517" y="1104167"/>
                </a:lnTo>
                <a:lnTo>
                  <a:pt x="1974133" y="1087437"/>
                </a:lnTo>
                <a:lnTo>
                  <a:pt x="1960235" y="1070707"/>
                </a:lnTo>
                <a:lnTo>
                  <a:pt x="1945821" y="1053977"/>
                </a:lnTo>
                <a:lnTo>
                  <a:pt x="1930893" y="1037247"/>
                </a:lnTo>
                <a:lnTo>
                  <a:pt x="1915450" y="1020518"/>
                </a:lnTo>
                <a:lnTo>
                  <a:pt x="1899492" y="1003788"/>
                </a:lnTo>
                <a:lnTo>
                  <a:pt x="1883019" y="987058"/>
                </a:lnTo>
                <a:lnTo>
                  <a:pt x="1866032" y="970328"/>
                </a:lnTo>
                <a:lnTo>
                  <a:pt x="1848530" y="953598"/>
                </a:lnTo>
                <a:lnTo>
                  <a:pt x="1830513" y="936869"/>
                </a:lnTo>
                <a:lnTo>
                  <a:pt x="1811982" y="920139"/>
                </a:lnTo>
                <a:lnTo>
                  <a:pt x="1792935" y="903409"/>
                </a:lnTo>
                <a:lnTo>
                  <a:pt x="1773374" y="886679"/>
                </a:lnTo>
                <a:lnTo>
                  <a:pt x="1753298" y="869949"/>
                </a:lnTo>
                <a:lnTo>
                  <a:pt x="1732707" y="853220"/>
                </a:lnTo>
                <a:lnTo>
                  <a:pt x="1711602" y="836490"/>
                </a:lnTo>
                <a:lnTo>
                  <a:pt x="1689982" y="819760"/>
                </a:lnTo>
                <a:lnTo>
                  <a:pt x="1667847" y="803030"/>
                </a:lnTo>
                <a:lnTo>
                  <a:pt x="1645197" y="786300"/>
                </a:lnTo>
                <a:lnTo>
                  <a:pt x="1622032" y="769571"/>
                </a:lnTo>
                <a:lnTo>
                  <a:pt x="1598353" y="752841"/>
                </a:lnTo>
                <a:lnTo>
                  <a:pt x="1574159" y="736111"/>
                </a:lnTo>
                <a:lnTo>
                  <a:pt x="1549450" y="719381"/>
                </a:lnTo>
                <a:lnTo>
                  <a:pt x="1524227" y="702651"/>
                </a:lnTo>
                <a:lnTo>
                  <a:pt x="1498488" y="685922"/>
                </a:lnTo>
                <a:lnTo>
                  <a:pt x="1472235" y="669192"/>
                </a:lnTo>
                <a:lnTo>
                  <a:pt x="1445467" y="652462"/>
                </a:lnTo>
                <a:lnTo>
                  <a:pt x="1418184" y="635732"/>
                </a:lnTo>
                <a:lnTo>
                  <a:pt x="1390387" y="619002"/>
                </a:lnTo>
                <a:lnTo>
                  <a:pt x="1362075" y="602273"/>
                </a:lnTo>
                <a:lnTo>
                  <a:pt x="1333248" y="585543"/>
                </a:lnTo>
                <a:lnTo>
                  <a:pt x="1303906" y="568813"/>
                </a:lnTo>
                <a:lnTo>
                  <a:pt x="1274050" y="552083"/>
                </a:lnTo>
                <a:lnTo>
                  <a:pt x="1243678" y="535353"/>
                </a:lnTo>
                <a:lnTo>
                  <a:pt x="1212792" y="518624"/>
                </a:lnTo>
                <a:lnTo>
                  <a:pt x="1181391" y="501894"/>
                </a:lnTo>
                <a:lnTo>
                  <a:pt x="1149476" y="485164"/>
                </a:lnTo>
                <a:lnTo>
                  <a:pt x="1117045" y="468434"/>
                </a:lnTo>
                <a:lnTo>
                  <a:pt x="1084100" y="451705"/>
                </a:lnTo>
                <a:lnTo>
                  <a:pt x="1050640" y="434975"/>
                </a:lnTo>
                <a:lnTo>
                  <a:pt x="1016666" y="418245"/>
                </a:lnTo>
                <a:lnTo>
                  <a:pt x="982176" y="401515"/>
                </a:lnTo>
                <a:lnTo>
                  <a:pt x="947172" y="384785"/>
                </a:lnTo>
                <a:lnTo>
                  <a:pt x="911653" y="368056"/>
                </a:lnTo>
                <a:lnTo>
                  <a:pt x="875619" y="351326"/>
                </a:lnTo>
                <a:lnTo>
                  <a:pt x="839071" y="334596"/>
                </a:lnTo>
                <a:lnTo>
                  <a:pt x="802008" y="317866"/>
                </a:lnTo>
                <a:lnTo>
                  <a:pt x="764430" y="301136"/>
                </a:lnTo>
                <a:lnTo>
                  <a:pt x="726337" y="284407"/>
                </a:lnTo>
                <a:lnTo>
                  <a:pt x="687729" y="267677"/>
                </a:lnTo>
                <a:lnTo>
                  <a:pt x="648607" y="250947"/>
                </a:lnTo>
                <a:lnTo>
                  <a:pt x="608970" y="234217"/>
                </a:lnTo>
                <a:lnTo>
                  <a:pt x="568818" y="217487"/>
                </a:lnTo>
                <a:lnTo>
                  <a:pt x="528151" y="200758"/>
                </a:lnTo>
                <a:lnTo>
                  <a:pt x="486970" y="184028"/>
                </a:lnTo>
                <a:lnTo>
                  <a:pt x="445274" y="167298"/>
                </a:lnTo>
                <a:lnTo>
                  <a:pt x="403063" y="150568"/>
                </a:lnTo>
                <a:lnTo>
                  <a:pt x="360337" y="133838"/>
                </a:lnTo>
                <a:lnTo>
                  <a:pt x="317097" y="117109"/>
                </a:lnTo>
                <a:lnTo>
                  <a:pt x="273341" y="100379"/>
                </a:lnTo>
                <a:lnTo>
                  <a:pt x="229071" y="83649"/>
                </a:lnTo>
                <a:lnTo>
                  <a:pt x="184287" y="66919"/>
                </a:lnTo>
                <a:lnTo>
                  <a:pt x="138987" y="50189"/>
                </a:lnTo>
                <a:lnTo>
                  <a:pt x="93173" y="33460"/>
                </a:lnTo>
                <a:lnTo>
                  <a:pt x="46844" y="16730"/>
                </a:lnTo>
                <a:lnTo>
                  <a:pt x="0" y="0"/>
                </a:lnTo>
              </a:path>
            </a:pathLst>
          </a:custGeom>
          <a:noFill/>
          <a:ln w="27940">
            <a:solidFill>
              <a:srgbClr val="0EA5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Oval 35"/>
          <p:cNvSpPr/>
          <p:nvPr/>
        </p:nvSpPr>
        <p:spPr>
          <a:xfrm>
            <a:off x="6840604" y="3255264"/>
            <a:ext cx="91440" cy="91440"/>
          </a:xfrm>
          <a:prstGeom prst="ellipse">
            <a:avLst/>
          </a:prstGeom>
          <a:solidFill>
            <a:srgbClr val="D93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2" name="TextBox 36"/>
          <p:cNvSpPr txBox="1"/>
          <p:nvPr/>
        </p:nvSpPr>
        <p:spPr>
          <a:xfrm>
            <a:off x="6932044" y="3392424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D93B3B"/>
                </a:solidFill>
                <a:latin typeface="微软雅黑"/>
                <a:ea typeface="微软雅黑"/>
              </a:rPr>
              <a:t>顶点</a:t>
            </a:r>
            <a:endParaRPr/>
          </a:p>
        </p:txBody>
      </p:sp>
      <p:sp>
        <p:nvSpPr>
          <p:cNvPr id="53" name="TextBox 37"/>
          <p:cNvSpPr txBox="1"/>
          <p:nvPr/>
        </p:nvSpPr>
        <p:spPr>
          <a:xfrm>
            <a:off x="6104866" y="3026664"/>
            <a:ext cx="27432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B7484"/>
                </a:solidFill>
                <a:latin typeface="微软雅黑"/>
                <a:ea typeface="微软雅黑"/>
              </a:rPr>
              <a:t>O</a:t>
            </a:r>
            <a:endParaRPr/>
          </a:p>
        </p:txBody>
      </p:sp>
      <p:sp>
        <p:nvSpPr>
          <p:cNvPr id="54" name="TextBox 38"/>
          <p:cNvSpPr txBox="1"/>
          <p:nvPr/>
        </p:nvSpPr>
        <p:spPr>
          <a:xfrm>
            <a:off x="4343400" y="4956048"/>
            <a:ext cx="3383280" cy="8686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0EA57A"/>
                </a:solidFill>
                <a:latin typeface="微软雅黑"/>
                <a:ea typeface="微软雅黑"/>
              </a:rPr>
              <a:t>t₀ = √2：抛物线</a:t>
            </a:r>
            <a:endParaRPr/>
          </a:p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1B222E"/>
                </a:solidFill>
                <a:latin typeface="微软雅黑"/>
                <a:ea typeface="微软雅黑"/>
              </a:rPr>
              <a:t>M：y² + √2·x − 1 = 0</a:t>
            </a:r>
            <a:endParaRPr/>
          </a:p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6B7484"/>
                </a:solidFill>
                <a:latin typeface="微软雅黑"/>
                <a:ea typeface="微软雅黑"/>
              </a:rPr>
              <a:t>顶点 (√2/2, 0)</a:t>
            </a:r>
            <a:endParaRPr/>
          </a:p>
        </p:txBody>
      </p:sp>
      <p:sp>
        <p:nvSpPr>
          <p:cNvPr id="55" name="Rectangle 39"/>
          <p:cNvSpPr/>
          <p:nvPr/>
        </p:nvSpPr>
        <p:spPr>
          <a:xfrm>
            <a:off x="8028432" y="1700784"/>
            <a:ext cx="3383280" cy="3200400"/>
          </a:xfrm>
          <a:prstGeom prst="rect">
            <a:avLst/>
          </a:prstGeom>
          <a:noFill/>
          <a:ln w="12700">
            <a:solidFill>
              <a:srgbClr val="CFD7E3"/>
            </a:solidFill>
            <a:prstDash val="sysDot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6" name="Freeform 40"/>
          <p:cNvSpPr/>
          <p:nvPr/>
        </p:nvSpPr>
        <p:spPr>
          <a:xfrm>
            <a:off x="8028432" y="3300984"/>
            <a:ext cx="3383280" cy="0"/>
          </a:xfrm>
          <a:custGeom>
            <a:avLst/>
            <a:gdLst/>
            <a:ahLst/>
            <a:cxnLst/>
            <a:rect l="l" t="t" r="r" b="b"/>
            <a:pathLst>
              <a:path w="3383280" h="0">
                <a:moveTo>
                  <a:pt x="0" y="0"/>
                </a:moveTo>
                <a:lnTo>
                  <a:pt x="3383280" y="0"/>
                </a:lnTo>
              </a:path>
            </a:pathLst>
          </a:custGeom>
          <a:noFill/>
          <a:ln w="13970">
            <a:solidFill>
              <a:srgbClr val="CFD7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Freeform 41"/>
          <p:cNvSpPr/>
          <p:nvPr/>
        </p:nvSpPr>
        <p:spPr>
          <a:xfrm>
            <a:off x="10578150" y="2320323"/>
            <a:ext cx="0" cy="1961321"/>
          </a:xfrm>
          <a:custGeom>
            <a:avLst/>
            <a:gdLst/>
            <a:ahLst/>
            <a:cxnLst/>
            <a:rect l="l" t="t" r="r" b="b"/>
            <a:pathLst>
              <a:path w="0" h="1961321">
                <a:moveTo>
                  <a:pt x="0" y="1961321"/>
                </a:moveTo>
                <a:lnTo>
                  <a:pt x="0" y="0"/>
                </a:lnTo>
              </a:path>
            </a:pathLst>
          </a:custGeom>
          <a:noFill/>
          <a:ln w="13970">
            <a:solidFill>
              <a:srgbClr val="CFD7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Freeform 42"/>
          <p:cNvSpPr/>
          <p:nvPr/>
        </p:nvSpPr>
        <p:spPr>
          <a:xfrm>
            <a:off x="9597489" y="3271564"/>
            <a:ext cx="0" cy="58839"/>
          </a:xfrm>
          <a:custGeom>
            <a:avLst/>
            <a:gdLst/>
            <a:ahLst/>
            <a:cxnLst/>
            <a:rect l="l" t="t" r="r" b="b"/>
            <a:pathLst>
              <a:path w="0" h="58839">
                <a:moveTo>
                  <a:pt x="0" y="58839"/>
                </a:moveTo>
                <a:lnTo>
                  <a:pt x="0" y="0"/>
                </a:lnTo>
              </a:path>
            </a:pathLst>
          </a:custGeom>
          <a:noFill/>
          <a:ln w="12700">
            <a:solidFill>
              <a:srgbClr val="CFD7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43"/>
          <p:cNvSpPr txBox="1"/>
          <p:nvPr/>
        </p:nvSpPr>
        <p:spPr>
          <a:xfrm>
            <a:off x="9323169" y="3346704"/>
            <a:ext cx="548640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B7484"/>
                </a:solidFill>
                <a:latin typeface="微软雅黑"/>
                <a:ea typeface="微软雅黑"/>
              </a:rPr>
              <a:t>-2</a:t>
            </a:r>
            <a:endParaRPr/>
          </a:p>
        </p:txBody>
      </p:sp>
      <p:sp>
        <p:nvSpPr>
          <p:cNvPr id="60" name="Freeform 44"/>
          <p:cNvSpPr/>
          <p:nvPr/>
        </p:nvSpPr>
        <p:spPr>
          <a:xfrm>
            <a:off x="10548730" y="3791314"/>
            <a:ext cx="58840" cy="0"/>
          </a:xfrm>
          <a:custGeom>
            <a:avLst/>
            <a:gdLst/>
            <a:ahLst/>
            <a:cxnLst/>
            <a:rect l="l" t="t" r="r" b="b"/>
            <a:pathLst>
              <a:path w="58840" h="0">
                <a:moveTo>
                  <a:pt x="0" y="0"/>
                </a:moveTo>
                <a:lnTo>
                  <a:pt x="58840" y="0"/>
                </a:lnTo>
              </a:path>
            </a:pathLst>
          </a:custGeom>
          <a:noFill/>
          <a:ln w="12700">
            <a:solidFill>
              <a:srgbClr val="CFD7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45"/>
          <p:cNvSpPr txBox="1"/>
          <p:nvPr/>
        </p:nvSpPr>
        <p:spPr>
          <a:xfrm>
            <a:off x="10633014" y="3672442"/>
            <a:ext cx="548640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B7484"/>
                </a:solidFill>
                <a:latin typeface="微软雅黑"/>
                <a:ea typeface="微软雅黑"/>
              </a:rPr>
              <a:t>-1</a:t>
            </a:r>
            <a:endParaRPr/>
          </a:p>
        </p:txBody>
      </p:sp>
      <p:sp>
        <p:nvSpPr>
          <p:cNvPr id="62" name="Freeform 46"/>
          <p:cNvSpPr/>
          <p:nvPr/>
        </p:nvSpPr>
        <p:spPr>
          <a:xfrm>
            <a:off x="10548730" y="2810653"/>
            <a:ext cx="58840" cy="0"/>
          </a:xfrm>
          <a:custGeom>
            <a:avLst/>
            <a:gdLst/>
            <a:ahLst/>
            <a:cxnLst/>
            <a:rect l="l" t="t" r="r" b="b"/>
            <a:pathLst>
              <a:path w="58840" h="0">
                <a:moveTo>
                  <a:pt x="0" y="0"/>
                </a:moveTo>
                <a:lnTo>
                  <a:pt x="58840" y="0"/>
                </a:lnTo>
              </a:path>
            </a:pathLst>
          </a:custGeom>
          <a:noFill/>
          <a:ln w="12700">
            <a:solidFill>
              <a:srgbClr val="CFD7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47"/>
          <p:cNvSpPr txBox="1"/>
          <p:nvPr/>
        </p:nvSpPr>
        <p:spPr>
          <a:xfrm>
            <a:off x="10633014" y="2691781"/>
            <a:ext cx="548640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B7484"/>
                </a:solidFill>
                <a:latin typeface="微软雅黑"/>
                <a:ea typeface="微软雅黑"/>
              </a:rPr>
              <a:t>1</a:t>
            </a:r>
            <a:endParaRPr/>
          </a:p>
        </p:txBody>
      </p:sp>
      <p:sp>
        <p:nvSpPr>
          <p:cNvPr id="64" name="TextBox 48"/>
          <p:cNvSpPr txBox="1"/>
          <p:nvPr/>
        </p:nvSpPr>
        <p:spPr>
          <a:xfrm>
            <a:off x="11430000" y="3063240"/>
            <a:ext cx="725119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B7484"/>
                </a:solidFill>
                <a:latin typeface="微软雅黑"/>
                <a:ea typeface="微软雅黑"/>
              </a:rPr>
              <a:t>x</a:t>
            </a:r>
            <a:endParaRPr/>
          </a:p>
        </p:txBody>
      </p:sp>
      <p:sp>
        <p:nvSpPr>
          <p:cNvPr id="65" name="TextBox 49"/>
          <p:cNvSpPr txBox="1"/>
          <p:nvPr/>
        </p:nvSpPr>
        <p:spPr>
          <a:xfrm>
            <a:off x="10340406" y="2302035"/>
            <a:ext cx="128016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B7484"/>
                </a:solidFill>
                <a:latin typeface="微软雅黑"/>
                <a:ea typeface="微软雅黑"/>
              </a:rPr>
              <a:t>y</a:t>
            </a:r>
            <a:endParaRPr/>
          </a:p>
        </p:txBody>
      </p:sp>
      <p:sp>
        <p:nvSpPr>
          <p:cNvPr id="66" name="Freeform 50"/>
          <p:cNvSpPr/>
          <p:nvPr/>
        </p:nvSpPr>
        <p:spPr>
          <a:xfrm>
            <a:off x="9884756" y="2810660"/>
            <a:ext cx="1386826" cy="980647"/>
          </a:xfrm>
          <a:custGeom>
            <a:avLst/>
            <a:gdLst/>
            <a:ahLst/>
            <a:cxnLst/>
            <a:rect l="l" t="t" r="r" b="b"/>
            <a:pathLst>
              <a:path w="1386826" h="980647">
                <a:moveTo>
                  <a:pt x="1386826" y="490324"/>
                </a:moveTo>
                <a:lnTo>
                  <a:pt x="1386673" y="480020"/>
                </a:lnTo>
                <a:lnTo>
                  <a:pt x="1386213" y="469722"/>
                </a:lnTo>
                <a:lnTo>
                  <a:pt x="1385448" y="459433"/>
                </a:lnTo>
                <a:lnTo>
                  <a:pt x="1384377" y="449157"/>
                </a:lnTo>
                <a:lnTo>
                  <a:pt x="1383002" y="438899"/>
                </a:lnTo>
                <a:lnTo>
                  <a:pt x="1381321" y="428664"/>
                </a:lnTo>
                <a:lnTo>
                  <a:pt x="1379337" y="418457"/>
                </a:lnTo>
                <a:lnTo>
                  <a:pt x="1377050" y="408281"/>
                </a:lnTo>
                <a:lnTo>
                  <a:pt x="1374461" y="398141"/>
                </a:lnTo>
                <a:lnTo>
                  <a:pt x="1371571" y="388042"/>
                </a:lnTo>
                <a:lnTo>
                  <a:pt x="1368382" y="377988"/>
                </a:lnTo>
                <a:lnTo>
                  <a:pt x="1364895" y="367984"/>
                </a:lnTo>
                <a:lnTo>
                  <a:pt x="1361111" y="358034"/>
                </a:lnTo>
                <a:lnTo>
                  <a:pt x="1357033" y="348142"/>
                </a:lnTo>
                <a:lnTo>
                  <a:pt x="1352661" y="338313"/>
                </a:lnTo>
                <a:lnTo>
                  <a:pt x="1347999" y="328551"/>
                </a:lnTo>
                <a:lnTo>
                  <a:pt x="1343047" y="318861"/>
                </a:lnTo>
                <a:lnTo>
                  <a:pt x="1337808" y="309246"/>
                </a:lnTo>
                <a:lnTo>
                  <a:pt x="1332285" y="299711"/>
                </a:lnTo>
                <a:lnTo>
                  <a:pt x="1326480" y="290261"/>
                </a:lnTo>
                <a:lnTo>
                  <a:pt x="1320395" y="280899"/>
                </a:lnTo>
                <a:lnTo>
                  <a:pt x="1314033" y="271629"/>
                </a:lnTo>
                <a:lnTo>
                  <a:pt x="1307397" y="262456"/>
                </a:lnTo>
                <a:lnTo>
                  <a:pt x="1300490" y="253383"/>
                </a:lnTo>
                <a:lnTo>
                  <a:pt x="1293315" y="244415"/>
                </a:lnTo>
                <a:lnTo>
                  <a:pt x="1285875" y="235556"/>
                </a:lnTo>
                <a:lnTo>
                  <a:pt x="1278174" y="226809"/>
                </a:lnTo>
                <a:lnTo>
                  <a:pt x="1270214" y="218178"/>
                </a:lnTo>
                <a:lnTo>
                  <a:pt x="1262000" y="209668"/>
                </a:lnTo>
                <a:lnTo>
                  <a:pt x="1253534" y="201282"/>
                </a:lnTo>
                <a:lnTo>
                  <a:pt x="1244821" y="193023"/>
                </a:lnTo>
                <a:lnTo>
                  <a:pt x="1235865" y="184895"/>
                </a:lnTo>
                <a:lnTo>
                  <a:pt x="1226669" y="176903"/>
                </a:lnTo>
                <a:lnTo>
                  <a:pt x="1217238" y="169048"/>
                </a:lnTo>
                <a:lnTo>
                  <a:pt x="1207575" y="161336"/>
                </a:lnTo>
                <a:lnTo>
                  <a:pt x="1197685" y="153769"/>
                </a:lnTo>
                <a:lnTo>
                  <a:pt x="1187573" y="146350"/>
                </a:lnTo>
                <a:lnTo>
                  <a:pt x="1177242" y="139084"/>
                </a:lnTo>
                <a:lnTo>
                  <a:pt x="1166698" y="131972"/>
                </a:lnTo>
                <a:lnTo>
                  <a:pt x="1155945" y="125019"/>
                </a:lnTo>
                <a:lnTo>
                  <a:pt x="1144987" y="118227"/>
                </a:lnTo>
                <a:lnTo>
                  <a:pt x="1133830" y="111600"/>
                </a:lnTo>
                <a:lnTo>
                  <a:pt x="1122479" y="105139"/>
                </a:lnTo>
                <a:lnTo>
                  <a:pt x="1110938" y="98849"/>
                </a:lnTo>
                <a:lnTo>
                  <a:pt x="1099212" y="92731"/>
                </a:lnTo>
                <a:lnTo>
                  <a:pt x="1087308" y="86789"/>
                </a:lnTo>
                <a:lnTo>
                  <a:pt x="1075230" y="81026"/>
                </a:lnTo>
                <a:lnTo>
                  <a:pt x="1062983" y="75443"/>
                </a:lnTo>
                <a:lnTo>
                  <a:pt x="1050572" y="70043"/>
                </a:lnTo>
                <a:lnTo>
                  <a:pt x="1038004" y="64829"/>
                </a:lnTo>
                <a:lnTo>
                  <a:pt x="1025284" y="59803"/>
                </a:lnTo>
                <a:lnTo>
                  <a:pt x="1012418" y="54966"/>
                </a:lnTo>
                <a:lnTo>
                  <a:pt x="999410" y="50322"/>
                </a:lnTo>
                <a:lnTo>
                  <a:pt x="986267" y="45873"/>
                </a:lnTo>
                <a:lnTo>
                  <a:pt x="972995" y="41619"/>
                </a:lnTo>
                <a:lnTo>
                  <a:pt x="959600" y="37564"/>
                </a:lnTo>
                <a:lnTo>
                  <a:pt x="946087" y="33709"/>
                </a:lnTo>
                <a:lnTo>
                  <a:pt x="932462" y="30055"/>
                </a:lnTo>
                <a:lnTo>
                  <a:pt x="918732" y="26605"/>
                </a:lnTo>
                <a:lnTo>
                  <a:pt x="904902" y="23359"/>
                </a:lnTo>
                <a:lnTo>
                  <a:pt x="890979" y="20319"/>
                </a:lnTo>
                <a:lnTo>
                  <a:pt x="876969" y="17487"/>
                </a:lnTo>
                <a:lnTo>
                  <a:pt x="862878" y="14864"/>
                </a:lnTo>
                <a:lnTo>
                  <a:pt x="848711" y="12451"/>
                </a:lnTo>
                <a:lnTo>
                  <a:pt x="834477" y="10249"/>
                </a:lnTo>
                <a:lnTo>
                  <a:pt x="820180" y="8259"/>
                </a:lnTo>
                <a:lnTo>
                  <a:pt x="805826" y="6481"/>
                </a:lnTo>
                <a:lnTo>
                  <a:pt x="791424" y="4917"/>
                </a:lnTo>
                <a:lnTo>
                  <a:pt x="776978" y="3568"/>
                </a:lnTo>
                <a:lnTo>
                  <a:pt x="762495" y="2434"/>
                </a:lnTo>
                <a:lnTo>
                  <a:pt x="747981" y="1515"/>
                </a:lnTo>
                <a:lnTo>
                  <a:pt x="733444" y="812"/>
                </a:lnTo>
                <a:lnTo>
                  <a:pt x="718889" y="325"/>
                </a:lnTo>
                <a:lnTo>
                  <a:pt x="704322" y="54"/>
                </a:lnTo>
                <a:lnTo>
                  <a:pt x="689751" y="0"/>
                </a:lnTo>
                <a:lnTo>
                  <a:pt x="675181" y="162"/>
                </a:lnTo>
                <a:lnTo>
                  <a:pt x="660619" y="541"/>
                </a:lnTo>
                <a:lnTo>
                  <a:pt x="646072" y="1136"/>
                </a:lnTo>
                <a:lnTo>
                  <a:pt x="631546" y="1947"/>
                </a:lnTo>
                <a:lnTo>
                  <a:pt x="617047" y="2974"/>
                </a:lnTo>
                <a:lnTo>
                  <a:pt x="602582" y="4216"/>
                </a:lnTo>
                <a:lnTo>
                  <a:pt x="588157" y="5673"/>
                </a:lnTo>
                <a:lnTo>
                  <a:pt x="573778" y="7343"/>
                </a:lnTo>
                <a:lnTo>
                  <a:pt x="559452" y="9227"/>
                </a:lnTo>
                <a:lnTo>
                  <a:pt x="545185" y="11323"/>
                </a:lnTo>
                <a:lnTo>
                  <a:pt x="530984" y="13631"/>
                </a:lnTo>
                <a:lnTo>
                  <a:pt x="516854" y="16150"/>
                </a:lnTo>
                <a:lnTo>
                  <a:pt x="502803" y="18877"/>
                </a:lnTo>
                <a:lnTo>
                  <a:pt x="488835" y="21813"/>
                </a:lnTo>
                <a:lnTo>
                  <a:pt x="474958" y="24956"/>
                </a:lnTo>
                <a:lnTo>
                  <a:pt x="461178" y="28304"/>
                </a:lnTo>
                <a:lnTo>
                  <a:pt x="447499" y="31857"/>
                </a:lnTo>
                <a:lnTo>
                  <a:pt x="433930" y="35611"/>
                </a:lnTo>
                <a:lnTo>
                  <a:pt x="420475" y="39567"/>
                </a:lnTo>
                <a:lnTo>
                  <a:pt x="407140" y="43721"/>
                </a:lnTo>
                <a:lnTo>
                  <a:pt x="393932" y="48073"/>
                </a:lnTo>
                <a:lnTo>
                  <a:pt x="380856" y="52620"/>
                </a:lnTo>
                <a:lnTo>
                  <a:pt x="367919" y="57361"/>
                </a:lnTo>
                <a:lnTo>
                  <a:pt x="355125" y="62292"/>
                </a:lnTo>
                <a:lnTo>
                  <a:pt x="342480" y="67413"/>
                </a:lnTo>
                <a:lnTo>
                  <a:pt x="329990" y="72720"/>
                </a:lnTo>
                <a:lnTo>
                  <a:pt x="317661" y="78212"/>
                </a:lnTo>
                <a:lnTo>
                  <a:pt x="305497" y="83885"/>
                </a:lnTo>
                <a:lnTo>
                  <a:pt x="293505" y="89738"/>
                </a:lnTo>
                <a:lnTo>
                  <a:pt x="281690" y="95768"/>
                </a:lnTo>
                <a:lnTo>
                  <a:pt x="270056" y="101973"/>
                </a:lnTo>
                <a:lnTo>
                  <a:pt x="258609" y="108348"/>
                </a:lnTo>
                <a:lnTo>
                  <a:pt x="247354" y="114893"/>
                </a:lnTo>
                <a:lnTo>
                  <a:pt x="236296" y="121603"/>
                </a:lnTo>
                <a:lnTo>
                  <a:pt x="225440" y="128476"/>
                </a:lnTo>
                <a:lnTo>
                  <a:pt x="214791" y="135509"/>
                </a:lnTo>
                <a:lnTo>
                  <a:pt x="204353" y="142698"/>
                </a:lnTo>
                <a:lnTo>
                  <a:pt x="194131" y="150041"/>
                </a:lnTo>
                <a:lnTo>
                  <a:pt x="184129" y="157534"/>
                </a:lnTo>
                <a:lnTo>
                  <a:pt x="174352" y="165174"/>
                </a:lnTo>
                <a:lnTo>
                  <a:pt x="164805" y="172958"/>
                </a:lnTo>
                <a:lnTo>
                  <a:pt x="155491" y="180882"/>
                </a:lnTo>
                <a:lnTo>
                  <a:pt x="146414" y="188942"/>
                </a:lnTo>
                <a:lnTo>
                  <a:pt x="137579" y="197136"/>
                </a:lnTo>
                <a:lnTo>
                  <a:pt x="128989" y="205459"/>
                </a:lnTo>
                <a:lnTo>
                  <a:pt x="120649" y="213908"/>
                </a:lnTo>
                <a:lnTo>
                  <a:pt x="112561" y="222479"/>
                </a:lnTo>
                <a:lnTo>
                  <a:pt x="104730" y="231168"/>
                </a:lnTo>
                <a:lnTo>
                  <a:pt x="97159" y="239972"/>
                </a:lnTo>
                <a:lnTo>
                  <a:pt x="89851" y="248886"/>
                </a:lnTo>
                <a:lnTo>
                  <a:pt x="82810" y="257906"/>
                </a:lnTo>
                <a:lnTo>
                  <a:pt x="76038" y="267030"/>
                </a:lnTo>
                <a:lnTo>
                  <a:pt x="69539" y="276252"/>
                </a:lnTo>
                <a:lnTo>
                  <a:pt x="63316" y="285568"/>
                </a:lnTo>
                <a:lnTo>
                  <a:pt x="57370" y="294975"/>
                </a:lnTo>
                <a:lnTo>
                  <a:pt x="51706" y="304469"/>
                </a:lnTo>
                <a:lnTo>
                  <a:pt x="46324" y="314044"/>
                </a:lnTo>
                <a:lnTo>
                  <a:pt x="41229" y="323697"/>
                </a:lnTo>
                <a:lnTo>
                  <a:pt x="36421" y="333424"/>
                </a:lnTo>
                <a:lnTo>
                  <a:pt x="31904" y="343220"/>
                </a:lnTo>
                <a:lnTo>
                  <a:pt x="27679" y="353080"/>
                </a:lnTo>
                <a:lnTo>
                  <a:pt x="23747" y="363002"/>
                </a:lnTo>
                <a:lnTo>
                  <a:pt x="20112" y="372980"/>
                </a:lnTo>
                <a:lnTo>
                  <a:pt x="16773" y="383009"/>
                </a:lnTo>
                <a:lnTo>
                  <a:pt x="13734" y="393086"/>
                </a:lnTo>
                <a:lnTo>
                  <a:pt x="10994" y="403206"/>
                </a:lnTo>
                <a:lnTo>
                  <a:pt x="8556" y="413365"/>
                </a:lnTo>
                <a:lnTo>
                  <a:pt x="6420" y="423557"/>
                </a:lnTo>
                <a:lnTo>
                  <a:pt x="4588" y="433779"/>
                </a:lnTo>
                <a:lnTo>
                  <a:pt x="3060" y="444025"/>
                </a:lnTo>
                <a:lnTo>
                  <a:pt x="1837" y="454293"/>
                </a:lnTo>
                <a:lnTo>
                  <a:pt x="919" y="464576"/>
                </a:lnTo>
                <a:lnTo>
                  <a:pt x="306" y="474870"/>
                </a:lnTo>
                <a:lnTo>
                  <a:pt x="0" y="485172"/>
                </a:lnTo>
                <a:lnTo>
                  <a:pt x="0" y="495475"/>
                </a:lnTo>
                <a:lnTo>
                  <a:pt x="306" y="505777"/>
                </a:lnTo>
                <a:lnTo>
                  <a:pt x="919" y="516071"/>
                </a:lnTo>
                <a:lnTo>
                  <a:pt x="1837" y="526354"/>
                </a:lnTo>
                <a:lnTo>
                  <a:pt x="3060" y="536622"/>
                </a:lnTo>
                <a:lnTo>
                  <a:pt x="4588" y="546868"/>
                </a:lnTo>
                <a:lnTo>
                  <a:pt x="6420" y="557090"/>
                </a:lnTo>
                <a:lnTo>
                  <a:pt x="8556" y="567282"/>
                </a:lnTo>
                <a:lnTo>
                  <a:pt x="10994" y="577441"/>
                </a:lnTo>
                <a:lnTo>
                  <a:pt x="13734" y="587561"/>
                </a:lnTo>
                <a:lnTo>
                  <a:pt x="16773" y="597638"/>
                </a:lnTo>
                <a:lnTo>
                  <a:pt x="20112" y="607667"/>
                </a:lnTo>
                <a:lnTo>
                  <a:pt x="23747" y="617645"/>
                </a:lnTo>
                <a:lnTo>
                  <a:pt x="27679" y="627567"/>
                </a:lnTo>
                <a:lnTo>
                  <a:pt x="31904" y="637427"/>
                </a:lnTo>
                <a:lnTo>
                  <a:pt x="36421" y="647223"/>
                </a:lnTo>
                <a:lnTo>
                  <a:pt x="41229" y="656950"/>
                </a:lnTo>
                <a:lnTo>
                  <a:pt x="46324" y="666603"/>
                </a:lnTo>
                <a:lnTo>
                  <a:pt x="51706" y="676178"/>
                </a:lnTo>
                <a:lnTo>
                  <a:pt x="57370" y="685672"/>
                </a:lnTo>
                <a:lnTo>
                  <a:pt x="63316" y="695079"/>
                </a:lnTo>
                <a:lnTo>
                  <a:pt x="69539" y="704395"/>
                </a:lnTo>
                <a:lnTo>
                  <a:pt x="76038" y="713617"/>
                </a:lnTo>
                <a:lnTo>
                  <a:pt x="82810" y="722741"/>
                </a:lnTo>
                <a:lnTo>
                  <a:pt x="89851" y="731761"/>
                </a:lnTo>
                <a:lnTo>
                  <a:pt x="97159" y="740675"/>
                </a:lnTo>
                <a:lnTo>
                  <a:pt x="104730" y="749479"/>
                </a:lnTo>
                <a:lnTo>
                  <a:pt x="112561" y="758168"/>
                </a:lnTo>
                <a:lnTo>
                  <a:pt x="120649" y="766739"/>
                </a:lnTo>
                <a:lnTo>
                  <a:pt x="128989" y="775188"/>
                </a:lnTo>
                <a:lnTo>
                  <a:pt x="137579" y="783511"/>
                </a:lnTo>
                <a:lnTo>
                  <a:pt x="146414" y="791705"/>
                </a:lnTo>
                <a:lnTo>
                  <a:pt x="155491" y="799765"/>
                </a:lnTo>
                <a:lnTo>
                  <a:pt x="164805" y="807689"/>
                </a:lnTo>
                <a:lnTo>
                  <a:pt x="174352" y="815473"/>
                </a:lnTo>
                <a:lnTo>
                  <a:pt x="184129" y="823113"/>
                </a:lnTo>
                <a:lnTo>
                  <a:pt x="194131" y="830606"/>
                </a:lnTo>
                <a:lnTo>
                  <a:pt x="204353" y="837949"/>
                </a:lnTo>
                <a:lnTo>
                  <a:pt x="214791" y="845138"/>
                </a:lnTo>
                <a:lnTo>
                  <a:pt x="225440" y="852171"/>
                </a:lnTo>
                <a:lnTo>
                  <a:pt x="236296" y="859044"/>
                </a:lnTo>
                <a:lnTo>
                  <a:pt x="247354" y="865754"/>
                </a:lnTo>
                <a:lnTo>
                  <a:pt x="258609" y="872299"/>
                </a:lnTo>
                <a:lnTo>
                  <a:pt x="270056" y="878674"/>
                </a:lnTo>
                <a:lnTo>
                  <a:pt x="281690" y="884879"/>
                </a:lnTo>
                <a:lnTo>
                  <a:pt x="293505" y="890909"/>
                </a:lnTo>
                <a:lnTo>
                  <a:pt x="305497" y="896762"/>
                </a:lnTo>
                <a:lnTo>
                  <a:pt x="317661" y="902435"/>
                </a:lnTo>
                <a:lnTo>
                  <a:pt x="329990" y="907927"/>
                </a:lnTo>
                <a:lnTo>
                  <a:pt x="342480" y="913234"/>
                </a:lnTo>
                <a:lnTo>
                  <a:pt x="355125" y="918355"/>
                </a:lnTo>
                <a:lnTo>
                  <a:pt x="367919" y="923286"/>
                </a:lnTo>
                <a:lnTo>
                  <a:pt x="380856" y="928027"/>
                </a:lnTo>
                <a:lnTo>
                  <a:pt x="393932" y="932574"/>
                </a:lnTo>
                <a:lnTo>
                  <a:pt x="407140" y="936926"/>
                </a:lnTo>
                <a:lnTo>
                  <a:pt x="420475" y="941080"/>
                </a:lnTo>
                <a:lnTo>
                  <a:pt x="433930" y="945036"/>
                </a:lnTo>
                <a:lnTo>
                  <a:pt x="447499" y="948790"/>
                </a:lnTo>
                <a:lnTo>
                  <a:pt x="461178" y="952343"/>
                </a:lnTo>
                <a:lnTo>
                  <a:pt x="474958" y="955691"/>
                </a:lnTo>
                <a:lnTo>
                  <a:pt x="488835" y="958834"/>
                </a:lnTo>
                <a:lnTo>
                  <a:pt x="502803" y="961770"/>
                </a:lnTo>
                <a:lnTo>
                  <a:pt x="516854" y="964497"/>
                </a:lnTo>
                <a:lnTo>
                  <a:pt x="530984" y="967016"/>
                </a:lnTo>
                <a:lnTo>
                  <a:pt x="545185" y="969324"/>
                </a:lnTo>
                <a:lnTo>
                  <a:pt x="559452" y="971420"/>
                </a:lnTo>
                <a:lnTo>
                  <a:pt x="573778" y="973304"/>
                </a:lnTo>
                <a:lnTo>
                  <a:pt x="588157" y="974974"/>
                </a:lnTo>
                <a:lnTo>
                  <a:pt x="602582" y="976431"/>
                </a:lnTo>
                <a:lnTo>
                  <a:pt x="617047" y="977673"/>
                </a:lnTo>
                <a:lnTo>
                  <a:pt x="631546" y="978700"/>
                </a:lnTo>
                <a:lnTo>
                  <a:pt x="646072" y="979511"/>
                </a:lnTo>
                <a:lnTo>
                  <a:pt x="660619" y="980106"/>
                </a:lnTo>
                <a:lnTo>
                  <a:pt x="675181" y="980485"/>
                </a:lnTo>
                <a:lnTo>
                  <a:pt x="689751" y="980647"/>
                </a:lnTo>
                <a:lnTo>
                  <a:pt x="704322" y="980593"/>
                </a:lnTo>
                <a:lnTo>
                  <a:pt x="718889" y="980322"/>
                </a:lnTo>
                <a:lnTo>
                  <a:pt x="733444" y="979835"/>
                </a:lnTo>
                <a:lnTo>
                  <a:pt x="747981" y="979132"/>
                </a:lnTo>
                <a:lnTo>
                  <a:pt x="762495" y="978213"/>
                </a:lnTo>
                <a:lnTo>
                  <a:pt x="776978" y="977079"/>
                </a:lnTo>
                <a:lnTo>
                  <a:pt x="791424" y="975730"/>
                </a:lnTo>
                <a:lnTo>
                  <a:pt x="805826" y="974166"/>
                </a:lnTo>
                <a:lnTo>
                  <a:pt x="820180" y="972388"/>
                </a:lnTo>
                <a:lnTo>
                  <a:pt x="834477" y="970398"/>
                </a:lnTo>
                <a:lnTo>
                  <a:pt x="848711" y="968196"/>
                </a:lnTo>
                <a:lnTo>
                  <a:pt x="862878" y="965783"/>
                </a:lnTo>
                <a:lnTo>
                  <a:pt x="876969" y="963160"/>
                </a:lnTo>
                <a:lnTo>
                  <a:pt x="890979" y="960328"/>
                </a:lnTo>
                <a:lnTo>
                  <a:pt x="904902" y="957288"/>
                </a:lnTo>
                <a:lnTo>
                  <a:pt x="918732" y="954042"/>
                </a:lnTo>
                <a:lnTo>
                  <a:pt x="932462" y="950592"/>
                </a:lnTo>
                <a:lnTo>
                  <a:pt x="946087" y="946938"/>
                </a:lnTo>
                <a:lnTo>
                  <a:pt x="959600" y="943083"/>
                </a:lnTo>
                <a:lnTo>
                  <a:pt x="972995" y="939028"/>
                </a:lnTo>
                <a:lnTo>
                  <a:pt x="986267" y="934774"/>
                </a:lnTo>
                <a:lnTo>
                  <a:pt x="999410" y="930325"/>
                </a:lnTo>
                <a:lnTo>
                  <a:pt x="1012418" y="925681"/>
                </a:lnTo>
                <a:lnTo>
                  <a:pt x="1025284" y="920844"/>
                </a:lnTo>
                <a:lnTo>
                  <a:pt x="1038004" y="915818"/>
                </a:lnTo>
                <a:lnTo>
                  <a:pt x="1050572" y="910604"/>
                </a:lnTo>
                <a:lnTo>
                  <a:pt x="1062983" y="905204"/>
                </a:lnTo>
                <a:lnTo>
                  <a:pt x="1075230" y="899621"/>
                </a:lnTo>
                <a:lnTo>
                  <a:pt x="1087308" y="893858"/>
                </a:lnTo>
                <a:lnTo>
                  <a:pt x="1099212" y="887916"/>
                </a:lnTo>
                <a:lnTo>
                  <a:pt x="1110938" y="881798"/>
                </a:lnTo>
                <a:lnTo>
                  <a:pt x="1122479" y="875508"/>
                </a:lnTo>
                <a:lnTo>
                  <a:pt x="1133830" y="869047"/>
                </a:lnTo>
                <a:lnTo>
                  <a:pt x="1144987" y="862420"/>
                </a:lnTo>
                <a:lnTo>
                  <a:pt x="1155945" y="855628"/>
                </a:lnTo>
                <a:lnTo>
                  <a:pt x="1166698" y="848675"/>
                </a:lnTo>
                <a:lnTo>
                  <a:pt x="1177242" y="841563"/>
                </a:lnTo>
                <a:lnTo>
                  <a:pt x="1187573" y="834297"/>
                </a:lnTo>
                <a:lnTo>
                  <a:pt x="1197685" y="826878"/>
                </a:lnTo>
                <a:lnTo>
                  <a:pt x="1207575" y="819311"/>
                </a:lnTo>
                <a:lnTo>
                  <a:pt x="1217238" y="811599"/>
                </a:lnTo>
                <a:lnTo>
                  <a:pt x="1226669" y="803744"/>
                </a:lnTo>
                <a:lnTo>
                  <a:pt x="1235865" y="795752"/>
                </a:lnTo>
                <a:lnTo>
                  <a:pt x="1244821" y="787624"/>
                </a:lnTo>
                <a:lnTo>
                  <a:pt x="1253534" y="779365"/>
                </a:lnTo>
                <a:lnTo>
                  <a:pt x="1262000" y="770979"/>
                </a:lnTo>
                <a:lnTo>
                  <a:pt x="1270214" y="762469"/>
                </a:lnTo>
                <a:lnTo>
                  <a:pt x="1278174" y="753838"/>
                </a:lnTo>
                <a:lnTo>
                  <a:pt x="1285875" y="745091"/>
                </a:lnTo>
                <a:lnTo>
                  <a:pt x="1293315" y="736232"/>
                </a:lnTo>
                <a:lnTo>
                  <a:pt x="1300490" y="727264"/>
                </a:lnTo>
                <a:lnTo>
                  <a:pt x="1307397" y="718191"/>
                </a:lnTo>
                <a:lnTo>
                  <a:pt x="1314033" y="709018"/>
                </a:lnTo>
                <a:lnTo>
                  <a:pt x="1320395" y="699748"/>
                </a:lnTo>
                <a:lnTo>
                  <a:pt x="1326480" y="690386"/>
                </a:lnTo>
                <a:lnTo>
                  <a:pt x="1332285" y="680936"/>
                </a:lnTo>
                <a:lnTo>
                  <a:pt x="1337808" y="671401"/>
                </a:lnTo>
                <a:lnTo>
                  <a:pt x="1343047" y="661786"/>
                </a:lnTo>
                <a:lnTo>
                  <a:pt x="1347999" y="652096"/>
                </a:lnTo>
                <a:lnTo>
                  <a:pt x="1352661" y="642334"/>
                </a:lnTo>
                <a:lnTo>
                  <a:pt x="1357033" y="632505"/>
                </a:lnTo>
                <a:lnTo>
                  <a:pt x="1361111" y="622613"/>
                </a:lnTo>
                <a:lnTo>
                  <a:pt x="1364895" y="612663"/>
                </a:lnTo>
                <a:lnTo>
                  <a:pt x="1368382" y="602659"/>
                </a:lnTo>
                <a:lnTo>
                  <a:pt x="1371571" y="592605"/>
                </a:lnTo>
                <a:lnTo>
                  <a:pt x="1374461" y="582506"/>
                </a:lnTo>
                <a:lnTo>
                  <a:pt x="1377050" y="572366"/>
                </a:lnTo>
                <a:lnTo>
                  <a:pt x="1379337" y="562190"/>
                </a:lnTo>
                <a:lnTo>
                  <a:pt x="1381321" y="551983"/>
                </a:lnTo>
                <a:lnTo>
                  <a:pt x="1383002" y="541748"/>
                </a:lnTo>
                <a:lnTo>
                  <a:pt x="1384377" y="531490"/>
                </a:lnTo>
                <a:lnTo>
                  <a:pt x="1385448" y="521214"/>
                </a:lnTo>
                <a:lnTo>
                  <a:pt x="1386213" y="510925"/>
                </a:lnTo>
                <a:lnTo>
                  <a:pt x="1386673" y="500627"/>
                </a:lnTo>
                <a:lnTo>
                  <a:pt x="1386826" y="490324"/>
                </a:lnTo>
              </a:path>
            </a:pathLst>
          </a:custGeom>
          <a:noFill/>
          <a:ln w="16510">
            <a:solidFill>
              <a:srgbClr val="6B7484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Freeform 51"/>
          <p:cNvSpPr/>
          <p:nvPr/>
        </p:nvSpPr>
        <p:spPr>
          <a:xfrm>
            <a:off x="8210702" y="2607561"/>
            <a:ext cx="2773651" cy="1386845"/>
          </a:xfrm>
          <a:custGeom>
            <a:avLst/>
            <a:gdLst/>
            <a:ahLst/>
            <a:cxnLst/>
            <a:rect l="l" t="t" r="r" b="b"/>
            <a:pathLst>
              <a:path w="2773651" h="1386845">
                <a:moveTo>
                  <a:pt x="2773651" y="693423"/>
                </a:moveTo>
                <a:lnTo>
                  <a:pt x="2773345" y="678852"/>
                </a:lnTo>
                <a:lnTo>
                  <a:pt x="2772426" y="664288"/>
                </a:lnTo>
                <a:lnTo>
                  <a:pt x="2770896" y="649736"/>
                </a:lnTo>
                <a:lnTo>
                  <a:pt x="2768754" y="635204"/>
                </a:lnTo>
                <a:lnTo>
                  <a:pt x="2766003" y="620698"/>
                </a:lnTo>
                <a:lnTo>
                  <a:pt x="2762642" y="606223"/>
                </a:lnTo>
                <a:lnTo>
                  <a:pt x="2758673" y="591788"/>
                </a:lnTo>
                <a:lnTo>
                  <a:pt x="2754099" y="577397"/>
                </a:lnTo>
                <a:lnTo>
                  <a:pt x="2748922" y="563057"/>
                </a:lnTo>
                <a:lnTo>
                  <a:pt x="2743142" y="548775"/>
                </a:lnTo>
                <a:lnTo>
                  <a:pt x="2736764" y="534557"/>
                </a:lnTo>
                <a:lnTo>
                  <a:pt x="2729790" y="520408"/>
                </a:lnTo>
                <a:lnTo>
                  <a:pt x="2722222" y="506337"/>
                </a:lnTo>
                <a:lnTo>
                  <a:pt x="2714065" y="492348"/>
                </a:lnTo>
                <a:lnTo>
                  <a:pt x="2705322" y="478447"/>
                </a:lnTo>
                <a:lnTo>
                  <a:pt x="2695996" y="464642"/>
                </a:lnTo>
                <a:lnTo>
                  <a:pt x="2686093" y="450938"/>
                </a:lnTo>
                <a:lnTo>
                  <a:pt x="2675616" y="437340"/>
                </a:lnTo>
                <a:lnTo>
                  <a:pt x="2664569" y="423856"/>
                </a:lnTo>
                <a:lnTo>
                  <a:pt x="2652959" y="410491"/>
                </a:lnTo>
                <a:lnTo>
                  <a:pt x="2640789" y="397251"/>
                </a:lnTo>
                <a:lnTo>
                  <a:pt x="2628065" y="384141"/>
                </a:lnTo>
                <a:lnTo>
                  <a:pt x="2614794" y="371169"/>
                </a:lnTo>
                <a:lnTo>
                  <a:pt x="2600980" y="358338"/>
                </a:lnTo>
                <a:lnTo>
                  <a:pt x="2586630" y="345655"/>
                </a:lnTo>
                <a:lnTo>
                  <a:pt x="2571750" y="333126"/>
                </a:lnTo>
                <a:lnTo>
                  <a:pt x="2556347" y="320756"/>
                </a:lnTo>
                <a:lnTo>
                  <a:pt x="2540428" y="308551"/>
                </a:lnTo>
                <a:lnTo>
                  <a:pt x="2523999" y="296516"/>
                </a:lnTo>
                <a:lnTo>
                  <a:pt x="2507068" y="284655"/>
                </a:lnTo>
                <a:lnTo>
                  <a:pt x="2489642" y="272976"/>
                </a:lnTo>
                <a:lnTo>
                  <a:pt x="2471729" y="261482"/>
                </a:lnTo>
                <a:lnTo>
                  <a:pt x="2453338" y="250178"/>
                </a:lnTo>
                <a:lnTo>
                  <a:pt x="2434475" y="239071"/>
                </a:lnTo>
                <a:lnTo>
                  <a:pt x="2415149" y="228164"/>
                </a:lnTo>
                <a:lnTo>
                  <a:pt x="2395370" y="217462"/>
                </a:lnTo>
                <a:lnTo>
                  <a:pt x="2375145" y="206971"/>
                </a:lnTo>
                <a:lnTo>
                  <a:pt x="2354484" y="196695"/>
                </a:lnTo>
                <a:lnTo>
                  <a:pt x="2333395" y="186637"/>
                </a:lnTo>
                <a:lnTo>
                  <a:pt x="2311889" y="176804"/>
                </a:lnTo>
                <a:lnTo>
                  <a:pt x="2289974" y="167199"/>
                </a:lnTo>
                <a:lnTo>
                  <a:pt x="2267660" y="157826"/>
                </a:lnTo>
                <a:lnTo>
                  <a:pt x="2244957" y="148690"/>
                </a:lnTo>
                <a:lnTo>
                  <a:pt x="2221875" y="139794"/>
                </a:lnTo>
                <a:lnTo>
                  <a:pt x="2198424" y="131142"/>
                </a:lnTo>
                <a:lnTo>
                  <a:pt x="2174615" y="122739"/>
                </a:lnTo>
                <a:lnTo>
                  <a:pt x="2150459" y="114588"/>
                </a:lnTo>
                <a:lnTo>
                  <a:pt x="2125964" y="106693"/>
                </a:lnTo>
                <a:lnTo>
                  <a:pt x="2101144" y="99056"/>
                </a:lnTo>
                <a:lnTo>
                  <a:pt x="2076008" y="91682"/>
                </a:lnTo>
                <a:lnTo>
                  <a:pt x="2050568" y="84574"/>
                </a:lnTo>
                <a:lnTo>
                  <a:pt x="2024834" y="77735"/>
                </a:lnTo>
                <a:lnTo>
                  <a:pt x="1998819" y="71167"/>
                </a:lnTo>
                <a:lnTo>
                  <a:pt x="1972534" y="64874"/>
                </a:lnTo>
                <a:lnTo>
                  <a:pt x="1945990" y="58859"/>
                </a:lnTo>
                <a:lnTo>
                  <a:pt x="1919199" y="53124"/>
                </a:lnTo>
                <a:lnTo>
                  <a:pt x="1892173" y="47672"/>
                </a:lnTo>
                <a:lnTo>
                  <a:pt x="1864924" y="42505"/>
                </a:lnTo>
                <a:lnTo>
                  <a:pt x="1837464" y="37625"/>
                </a:lnTo>
                <a:lnTo>
                  <a:pt x="1809804" y="33035"/>
                </a:lnTo>
                <a:lnTo>
                  <a:pt x="1781958" y="28736"/>
                </a:lnTo>
                <a:lnTo>
                  <a:pt x="1753937" y="24731"/>
                </a:lnTo>
                <a:lnTo>
                  <a:pt x="1725755" y="21022"/>
                </a:lnTo>
                <a:lnTo>
                  <a:pt x="1697422" y="17609"/>
                </a:lnTo>
                <a:lnTo>
                  <a:pt x="1668953" y="14494"/>
                </a:lnTo>
                <a:lnTo>
                  <a:pt x="1640359" y="11680"/>
                </a:lnTo>
                <a:lnTo>
                  <a:pt x="1611652" y="9166"/>
                </a:lnTo>
                <a:lnTo>
                  <a:pt x="1582847" y="6955"/>
                </a:lnTo>
                <a:lnTo>
                  <a:pt x="1553955" y="5046"/>
                </a:lnTo>
                <a:lnTo>
                  <a:pt x="1524989" y="3442"/>
                </a:lnTo>
                <a:lnTo>
                  <a:pt x="1495962" y="2142"/>
                </a:lnTo>
                <a:lnTo>
                  <a:pt x="1466887" y="1148"/>
                </a:lnTo>
                <a:lnTo>
                  <a:pt x="1437777" y="459"/>
                </a:lnTo>
                <a:lnTo>
                  <a:pt x="1408644" y="77"/>
                </a:lnTo>
                <a:lnTo>
                  <a:pt x="1379501" y="0"/>
                </a:lnTo>
                <a:lnTo>
                  <a:pt x="1350362" y="230"/>
                </a:lnTo>
                <a:lnTo>
                  <a:pt x="1321238" y="766"/>
                </a:lnTo>
                <a:lnTo>
                  <a:pt x="1292144" y="1607"/>
                </a:lnTo>
                <a:lnTo>
                  <a:pt x="1263091" y="2754"/>
                </a:lnTo>
                <a:lnTo>
                  <a:pt x="1234093" y="4206"/>
                </a:lnTo>
                <a:lnTo>
                  <a:pt x="1205163" y="5963"/>
                </a:lnTo>
                <a:lnTo>
                  <a:pt x="1176313" y="8023"/>
                </a:lnTo>
                <a:lnTo>
                  <a:pt x="1147555" y="10385"/>
                </a:lnTo>
                <a:lnTo>
                  <a:pt x="1118903" y="13049"/>
                </a:lnTo>
                <a:lnTo>
                  <a:pt x="1090370" y="16014"/>
                </a:lnTo>
                <a:lnTo>
                  <a:pt x="1061967" y="19278"/>
                </a:lnTo>
                <a:lnTo>
                  <a:pt x="1033708" y="22839"/>
                </a:lnTo>
                <a:lnTo>
                  <a:pt x="1005605" y="26697"/>
                </a:lnTo>
                <a:lnTo>
                  <a:pt x="977670" y="30849"/>
                </a:lnTo>
                <a:lnTo>
                  <a:pt x="949916" y="35293"/>
                </a:lnTo>
                <a:lnTo>
                  <a:pt x="922354" y="40029"/>
                </a:lnTo>
                <a:lnTo>
                  <a:pt x="894998" y="45052"/>
                </a:lnTo>
                <a:lnTo>
                  <a:pt x="867859" y="50362"/>
                </a:lnTo>
                <a:lnTo>
                  <a:pt x="840949" y="55956"/>
                </a:lnTo>
                <a:lnTo>
                  <a:pt x="814280" y="61832"/>
                </a:lnTo>
                <a:lnTo>
                  <a:pt x="787864" y="67986"/>
                </a:lnTo>
                <a:lnTo>
                  <a:pt x="761712" y="74417"/>
                </a:lnTo>
                <a:lnTo>
                  <a:pt x="735837" y="81120"/>
                </a:lnTo>
                <a:lnTo>
                  <a:pt x="710248" y="88095"/>
                </a:lnTo>
                <a:lnTo>
                  <a:pt x="684959" y="95336"/>
                </a:lnTo>
                <a:lnTo>
                  <a:pt x="659979" y="102842"/>
                </a:lnTo>
                <a:lnTo>
                  <a:pt x="635321" y="110608"/>
                </a:lnTo>
                <a:lnTo>
                  <a:pt x="610994" y="118632"/>
                </a:lnTo>
                <a:lnTo>
                  <a:pt x="587010" y="126909"/>
                </a:lnTo>
                <a:lnTo>
                  <a:pt x="563379" y="135437"/>
                </a:lnTo>
                <a:lnTo>
                  <a:pt x="540111" y="144211"/>
                </a:lnTo>
                <a:lnTo>
                  <a:pt x="517218" y="153228"/>
                </a:lnTo>
                <a:lnTo>
                  <a:pt x="494708" y="162483"/>
                </a:lnTo>
                <a:lnTo>
                  <a:pt x="472592" y="171973"/>
                </a:lnTo>
                <a:lnTo>
                  <a:pt x="450880" y="181693"/>
                </a:lnTo>
                <a:lnTo>
                  <a:pt x="429581" y="191638"/>
                </a:lnTo>
                <a:lnTo>
                  <a:pt x="408705" y="201806"/>
                </a:lnTo>
                <a:lnTo>
                  <a:pt x="388261" y="212190"/>
                </a:lnTo>
                <a:lnTo>
                  <a:pt x="368258" y="222787"/>
                </a:lnTo>
                <a:lnTo>
                  <a:pt x="348704" y="233592"/>
                </a:lnTo>
                <a:lnTo>
                  <a:pt x="329609" y="244600"/>
                </a:lnTo>
                <a:lnTo>
                  <a:pt x="310981" y="255806"/>
                </a:lnTo>
                <a:lnTo>
                  <a:pt x="292828" y="267205"/>
                </a:lnTo>
                <a:lnTo>
                  <a:pt x="275157" y="278793"/>
                </a:lnTo>
                <a:lnTo>
                  <a:pt x="257978" y="290563"/>
                </a:lnTo>
                <a:lnTo>
                  <a:pt x="241297" y="302512"/>
                </a:lnTo>
                <a:lnTo>
                  <a:pt x="225122" y="314633"/>
                </a:lnTo>
                <a:lnTo>
                  <a:pt x="209460" y="326921"/>
                </a:lnTo>
                <a:lnTo>
                  <a:pt x="194318" y="339371"/>
                </a:lnTo>
                <a:lnTo>
                  <a:pt x="179702" y="351978"/>
                </a:lnTo>
                <a:lnTo>
                  <a:pt x="165619" y="364735"/>
                </a:lnTo>
                <a:lnTo>
                  <a:pt x="152076" y="377638"/>
                </a:lnTo>
                <a:lnTo>
                  <a:pt x="139078" y="390679"/>
                </a:lnTo>
                <a:lnTo>
                  <a:pt x="126630" y="403855"/>
                </a:lnTo>
                <a:lnTo>
                  <a:pt x="114740" y="417158"/>
                </a:lnTo>
                <a:lnTo>
                  <a:pt x="103411" y="430584"/>
                </a:lnTo>
                <a:lnTo>
                  <a:pt x="92648" y="444125"/>
                </a:lnTo>
                <a:lnTo>
                  <a:pt x="82457" y="457777"/>
                </a:lnTo>
                <a:lnTo>
                  <a:pt x="72842" y="471533"/>
                </a:lnTo>
                <a:lnTo>
                  <a:pt x="63807" y="485386"/>
                </a:lnTo>
                <a:lnTo>
                  <a:pt x="55357" y="499332"/>
                </a:lnTo>
                <a:lnTo>
                  <a:pt x="47494" y="513363"/>
                </a:lnTo>
                <a:lnTo>
                  <a:pt x="40223" y="527473"/>
                </a:lnTo>
                <a:lnTo>
                  <a:pt x="33546" y="541657"/>
                </a:lnTo>
                <a:lnTo>
                  <a:pt x="27467" y="555908"/>
                </a:lnTo>
                <a:lnTo>
                  <a:pt x="21988" y="570220"/>
                </a:lnTo>
                <a:lnTo>
                  <a:pt x="17112" y="584586"/>
                </a:lnTo>
                <a:lnTo>
                  <a:pt x="12840" y="599000"/>
                </a:lnTo>
                <a:lnTo>
                  <a:pt x="9176" y="613456"/>
                </a:lnTo>
                <a:lnTo>
                  <a:pt x="6119" y="627947"/>
                </a:lnTo>
                <a:lnTo>
                  <a:pt x="3672" y="642467"/>
                </a:lnTo>
                <a:lnTo>
                  <a:pt x="1836" y="657010"/>
                </a:lnTo>
                <a:lnTo>
                  <a:pt x="612" y="671568"/>
                </a:lnTo>
                <a:lnTo>
                  <a:pt x="0" y="686137"/>
                </a:lnTo>
                <a:lnTo>
                  <a:pt x="0" y="700708"/>
                </a:lnTo>
                <a:lnTo>
                  <a:pt x="612" y="715277"/>
                </a:lnTo>
                <a:lnTo>
                  <a:pt x="1836" y="729835"/>
                </a:lnTo>
                <a:lnTo>
                  <a:pt x="3672" y="744378"/>
                </a:lnTo>
                <a:lnTo>
                  <a:pt x="6119" y="758898"/>
                </a:lnTo>
                <a:lnTo>
                  <a:pt x="9176" y="773389"/>
                </a:lnTo>
                <a:lnTo>
                  <a:pt x="12840" y="787845"/>
                </a:lnTo>
                <a:lnTo>
                  <a:pt x="17112" y="802259"/>
                </a:lnTo>
                <a:lnTo>
                  <a:pt x="21988" y="816625"/>
                </a:lnTo>
                <a:lnTo>
                  <a:pt x="27467" y="830937"/>
                </a:lnTo>
                <a:lnTo>
                  <a:pt x="33546" y="845188"/>
                </a:lnTo>
                <a:lnTo>
                  <a:pt x="40223" y="859372"/>
                </a:lnTo>
                <a:lnTo>
                  <a:pt x="47494" y="873482"/>
                </a:lnTo>
                <a:lnTo>
                  <a:pt x="55357" y="887513"/>
                </a:lnTo>
                <a:lnTo>
                  <a:pt x="63807" y="901459"/>
                </a:lnTo>
                <a:lnTo>
                  <a:pt x="72842" y="915312"/>
                </a:lnTo>
                <a:lnTo>
                  <a:pt x="82457" y="929068"/>
                </a:lnTo>
                <a:lnTo>
                  <a:pt x="92648" y="942720"/>
                </a:lnTo>
                <a:lnTo>
                  <a:pt x="103411" y="956261"/>
                </a:lnTo>
                <a:lnTo>
                  <a:pt x="114740" y="969687"/>
                </a:lnTo>
                <a:lnTo>
                  <a:pt x="126630" y="982990"/>
                </a:lnTo>
                <a:lnTo>
                  <a:pt x="139078" y="996166"/>
                </a:lnTo>
                <a:lnTo>
                  <a:pt x="152076" y="1009207"/>
                </a:lnTo>
                <a:lnTo>
                  <a:pt x="165619" y="1022110"/>
                </a:lnTo>
                <a:lnTo>
                  <a:pt x="179702" y="1034867"/>
                </a:lnTo>
                <a:lnTo>
                  <a:pt x="194318" y="1047474"/>
                </a:lnTo>
                <a:lnTo>
                  <a:pt x="209460" y="1059924"/>
                </a:lnTo>
                <a:lnTo>
                  <a:pt x="225122" y="1072212"/>
                </a:lnTo>
                <a:lnTo>
                  <a:pt x="241297" y="1084333"/>
                </a:lnTo>
                <a:lnTo>
                  <a:pt x="257978" y="1096282"/>
                </a:lnTo>
                <a:lnTo>
                  <a:pt x="275157" y="1108052"/>
                </a:lnTo>
                <a:lnTo>
                  <a:pt x="292828" y="1119640"/>
                </a:lnTo>
                <a:lnTo>
                  <a:pt x="310981" y="1131039"/>
                </a:lnTo>
                <a:lnTo>
                  <a:pt x="329609" y="1142245"/>
                </a:lnTo>
                <a:lnTo>
                  <a:pt x="348704" y="1153253"/>
                </a:lnTo>
                <a:lnTo>
                  <a:pt x="368258" y="1164058"/>
                </a:lnTo>
                <a:lnTo>
                  <a:pt x="388261" y="1174655"/>
                </a:lnTo>
                <a:lnTo>
                  <a:pt x="408705" y="1185039"/>
                </a:lnTo>
                <a:lnTo>
                  <a:pt x="429581" y="1195207"/>
                </a:lnTo>
                <a:lnTo>
                  <a:pt x="450880" y="1205152"/>
                </a:lnTo>
                <a:lnTo>
                  <a:pt x="472592" y="1214872"/>
                </a:lnTo>
                <a:lnTo>
                  <a:pt x="494708" y="1224362"/>
                </a:lnTo>
                <a:lnTo>
                  <a:pt x="517218" y="1233617"/>
                </a:lnTo>
                <a:lnTo>
                  <a:pt x="540111" y="1242634"/>
                </a:lnTo>
                <a:lnTo>
                  <a:pt x="563379" y="1251408"/>
                </a:lnTo>
                <a:lnTo>
                  <a:pt x="587010" y="1259936"/>
                </a:lnTo>
                <a:lnTo>
                  <a:pt x="610994" y="1268213"/>
                </a:lnTo>
                <a:lnTo>
                  <a:pt x="635321" y="1276237"/>
                </a:lnTo>
                <a:lnTo>
                  <a:pt x="659979" y="1284003"/>
                </a:lnTo>
                <a:lnTo>
                  <a:pt x="684959" y="1291509"/>
                </a:lnTo>
                <a:lnTo>
                  <a:pt x="710248" y="1298750"/>
                </a:lnTo>
                <a:lnTo>
                  <a:pt x="735837" y="1305725"/>
                </a:lnTo>
                <a:lnTo>
                  <a:pt x="761712" y="1312428"/>
                </a:lnTo>
                <a:lnTo>
                  <a:pt x="787864" y="1318859"/>
                </a:lnTo>
                <a:lnTo>
                  <a:pt x="814280" y="1325013"/>
                </a:lnTo>
                <a:lnTo>
                  <a:pt x="840949" y="1330889"/>
                </a:lnTo>
                <a:lnTo>
                  <a:pt x="867859" y="1336483"/>
                </a:lnTo>
                <a:lnTo>
                  <a:pt x="894998" y="1341793"/>
                </a:lnTo>
                <a:lnTo>
                  <a:pt x="922354" y="1346816"/>
                </a:lnTo>
                <a:lnTo>
                  <a:pt x="949916" y="1351552"/>
                </a:lnTo>
                <a:lnTo>
                  <a:pt x="977670" y="1355996"/>
                </a:lnTo>
                <a:lnTo>
                  <a:pt x="1005605" y="1360148"/>
                </a:lnTo>
                <a:lnTo>
                  <a:pt x="1033708" y="1364006"/>
                </a:lnTo>
                <a:lnTo>
                  <a:pt x="1061967" y="1367567"/>
                </a:lnTo>
                <a:lnTo>
                  <a:pt x="1090370" y="1370831"/>
                </a:lnTo>
                <a:lnTo>
                  <a:pt x="1118903" y="1373796"/>
                </a:lnTo>
                <a:lnTo>
                  <a:pt x="1147555" y="1376460"/>
                </a:lnTo>
                <a:lnTo>
                  <a:pt x="1176313" y="1378822"/>
                </a:lnTo>
                <a:lnTo>
                  <a:pt x="1205163" y="1380882"/>
                </a:lnTo>
                <a:lnTo>
                  <a:pt x="1234093" y="1382639"/>
                </a:lnTo>
                <a:lnTo>
                  <a:pt x="1263091" y="1384091"/>
                </a:lnTo>
                <a:lnTo>
                  <a:pt x="1292144" y="1385238"/>
                </a:lnTo>
                <a:lnTo>
                  <a:pt x="1321238" y="1386079"/>
                </a:lnTo>
                <a:lnTo>
                  <a:pt x="1350362" y="1386615"/>
                </a:lnTo>
                <a:lnTo>
                  <a:pt x="1379501" y="1386845"/>
                </a:lnTo>
                <a:lnTo>
                  <a:pt x="1408644" y="1386768"/>
                </a:lnTo>
                <a:lnTo>
                  <a:pt x="1437777" y="1386386"/>
                </a:lnTo>
                <a:lnTo>
                  <a:pt x="1466887" y="1385697"/>
                </a:lnTo>
                <a:lnTo>
                  <a:pt x="1495962" y="1384703"/>
                </a:lnTo>
                <a:lnTo>
                  <a:pt x="1524989" y="1383403"/>
                </a:lnTo>
                <a:lnTo>
                  <a:pt x="1553955" y="1381799"/>
                </a:lnTo>
                <a:lnTo>
                  <a:pt x="1582847" y="1379890"/>
                </a:lnTo>
                <a:lnTo>
                  <a:pt x="1611652" y="1377679"/>
                </a:lnTo>
                <a:lnTo>
                  <a:pt x="1640359" y="1375165"/>
                </a:lnTo>
                <a:lnTo>
                  <a:pt x="1668953" y="1372351"/>
                </a:lnTo>
                <a:lnTo>
                  <a:pt x="1697422" y="1369236"/>
                </a:lnTo>
                <a:lnTo>
                  <a:pt x="1725755" y="1365823"/>
                </a:lnTo>
                <a:lnTo>
                  <a:pt x="1753937" y="1362114"/>
                </a:lnTo>
                <a:lnTo>
                  <a:pt x="1781958" y="1358109"/>
                </a:lnTo>
                <a:lnTo>
                  <a:pt x="1809804" y="1353810"/>
                </a:lnTo>
                <a:lnTo>
                  <a:pt x="1837464" y="1349220"/>
                </a:lnTo>
                <a:lnTo>
                  <a:pt x="1864924" y="1344340"/>
                </a:lnTo>
                <a:lnTo>
                  <a:pt x="1892173" y="1339173"/>
                </a:lnTo>
                <a:lnTo>
                  <a:pt x="1919199" y="1333721"/>
                </a:lnTo>
                <a:lnTo>
                  <a:pt x="1945990" y="1327986"/>
                </a:lnTo>
                <a:lnTo>
                  <a:pt x="1972534" y="1321971"/>
                </a:lnTo>
                <a:lnTo>
                  <a:pt x="1998819" y="1315678"/>
                </a:lnTo>
                <a:lnTo>
                  <a:pt x="2024834" y="1309110"/>
                </a:lnTo>
                <a:lnTo>
                  <a:pt x="2050568" y="1302271"/>
                </a:lnTo>
                <a:lnTo>
                  <a:pt x="2076008" y="1295163"/>
                </a:lnTo>
                <a:lnTo>
                  <a:pt x="2101144" y="1287789"/>
                </a:lnTo>
                <a:lnTo>
                  <a:pt x="2125964" y="1280152"/>
                </a:lnTo>
                <a:lnTo>
                  <a:pt x="2150459" y="1272257"/>
                </a:lnTo>
                <a:lnTo>
                  <a:pt x="2174615" y="1264106"/>
                </a:lnTo>
                <a:lnTo>
                  <a:pt x="2198424" y="1255703"/>
                </a:lnTo>
                <a:lnTo>
                  <a:pt x="2221875" y="1247051"/>
                </a:lnTo>
                <a:lnTo>
                  <a:pt x="2244957" y="1238155"/>
                </a:lnTo>
                <a:lnTo>
                  <a:pt x="2267660" y="1229019"/>
                </a:lnTo>
                <a:lnTo>
                  <a:pt x="2289974" y="1219646"/>
                </a:lnTo>
                <a:lnTo>
                  <a:pt x="2311889" y="1210041"/>
                </a:lnTo>
                <a:lnTo>
                  <a:pt x="2333395" y="1200208"/>
                </a:lnTo>
                <a:lnTo>
                  <a:pt x="2354484" y="1190150"/>
                </a:lnTo>
                <a:lnTo>
                  <a:pt x="2375145" y="1179874"/>
                </a:lnTo>
                <a:lnTo>
                  <a:pt x="2395370" y="1169383"/>
                </a:lnTo>
                <a:lnTo>
                  <a:pt x="2415149" y="1158681"/>
                </a:lnTo>
                <a:lnTo>
                  <a:pt x="2434475" y="1147774"/>
                </a:lnTo>
                <a:lnTo>
                  <a:pt x="2453338" y="1136667"/>
                </a:lnTo>
                <a:lnTo>
                  <a:pt x="2471729" y="1125363"/>
                </a:lnTo>
                <a:lnTo>
                  <a:pt x="2489642" y="1113869"/>
                </a:lnTo>
                <a:lnTo>
                  <a:pt x="2507068" y="1102190"/>
                </a:lnTo>
                <a:lnTo>
                  <a:pt x="2523999" y="1090329"/>
                </a:lnTo>
                <a:lnTo>
                  <a:pt x="2540428" y="1078294"/>
                </a:lnTo>
                <a:lnTo>
                  <a:pt x="2556347" y="1066089"/>
                </a:lnTo>
                <a:lnTo>
                  <a:pt x="2571750" y="1053719"/>
                </a:lnTo>
                <a:lnTo>
                  <a:pt x="2586630" y="1041190"/>
                </a:lnTo>
                <a:lnTo>
                  <a:pt x="2600980" y="1028507"/>
                </a:lnTo>
                <a:lnTo>
                  <a:pt x="2614794" y="1015676"/>
                </a:lnTo>
                <a:lnTo>
                  <a:pt x="2628065" y="1002704"/>
                </a:lnTo>
                <a:lnTo>
                  <a:pt x="2640789" y="989594"/>
                </a:lnTo>
                <a:lnTo>
                  <a:pt x="2652959" y="976354"/>
                </a:lnTo>
                <a:lnTo>
                  <a:pt x="2664569" y="962989"/>
                </a:lnTo>
                <a:lnTo>
                  <a:pt x="2675616" y="949505"/>
                </a:lnTo>
                <a:lnTo>
                  <a:pt x="2686093" y="935907"/>
                </a:lnTo>
                <a:lnTo>
                  <a:pt x="2695996" y="922203"/>
                </a:lnTo>
                <a:lnTo>
                  <a:pt x="2705322" y="908398"/>
                </a:lnTo>
                <a:lnTo>
                  <a:pt x="2714065" y="894497"/>
                </a:lnTo>
                <a:lnTo>
                  <a:pt x="2722222" y="880508"/>
                </a:lnTo>
                <a:lnTo>
                  <a:pt x="2729790" y="866437"/>
                </a:lnTo>
                <a:lnTo>
                  <a:pt x="2736764" y="852288"/>
                </a:lnTo>
                <a:lnTo>
                  <a:pt x="2743142" y="838070"/>
                </a:lnTo>
                <a:lnTo>
                  <a:pt x="2748922" y="823788"/>
                </a:lnTo>
                <a:lnTo>
                  <a:pt x="2754099" y="809448"/>
                </a:lnTo>
                <a:lnTo>
                  <a:pt x="2758673" y="795057"/>
                </a:lnTo>
                <a:lnTo>
                  <a:pt x="2762642" y="780622"/>
                </a:lnTo>
                <a:lnTo>
                  <a:pt x="2766003" y="766147"/>
                </a:lnTo>
                <a:lnTo>
                  <a:pt x="2768754" y="751641"/>
                </a:lnTo>
                <a:lnTo>
                  <a:pt x="2770896" y="737109"/>
                </a:lnTo>
                <a:lnTo>
                  <a:pt x="2772426" y="722557"/>
                </a:lnTo>
                <a:lnTo>
                  <a:pt x="2773345" y="707993"/>
                </a:lnTo>
                <a:lnTo>
                  <a:pt x="2773651" y="693423"/>
                </a:lnTo>
              </a:path>
            </a:pathLst>
          </a:custGeom>
          <a:noFill/>
          <a:ln w="27940">
            <a:solidFill>
              <a:srgbClr val="E08A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Oval 52"/>
          <p:cNvSpPr/>
          <p:nvPr/>
        </p:nvSpPr>
        <p:spPr>
          <a:xfrm>
            <a:off x="9551769" y="3255264"/>
            <a:ext cx="91440" cy="91440"/>
          </a:xfrm>
          <a:prstGeom prst="ellipse">
            <a:avLst/>
          </a:prstGeom>
          <a:solidFill>
            <a:srgbClr val="D93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9" name="TextBox 53"/>
          <p:cNvSpPr txBox="1"/>
          <p:nvPr/>
        </p:nvSpPr>
        <p:spPr>
          <a:xfrm>
            <a:off x="9643209" y="3392424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D93B3B"/>
                </a:solidFill>
                <a:latin typeface="微软雅黑"/>
                <a:ea typeface="微软雅黑"/>
              </a:rPr>
              <a:t>中心</a:t>
            </a:r>
            <a:endParaRPr/>
          </a:p>
        </p:txBody>
      </p:sp>
      <p:sp>
        <p:nvSpPr>
          <p:cNvPr id="70" name="TextBox 54"/>
          <p:cNvSpPr txBox="1"/>
          <p:nvPr/>
        </p:nvSpPr>
        <p:spPr>
          <a:xfrm>
            <a:off x="10340406" y="3026664"/>
            <a:ext cx="27432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B7484"/>
                </a:solidFill>
                <a:latin typeface="微软雅黑"/>
                <a:ea typeface="微软雅黑"/>
              </a:rPr>
              <a:t>O</a:t>
            </a:r>
            <a:endParaRPr/>
          </a:p>
        </p:txBody>
      </p:sp>
      <p:sp>
        <p:nvSpPr>
          <p:cNvPr id="71" name="TextBox 55"/>
          <p:cNvSpPr txBox="1"/>
          <p:nvPr/>
        </p:nvSpPr>
        <p:spPr>
          <a:xfrm>
            <a:off x="8028432" y="4956048"/>
            <a:ext cx="3383280" cy="8686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E08A1E"/>
                </a:solidFill>
                <a:latin typeface="微软雅黑"/>
                <a:ea typeface="微软雅黑"/>
              </a:rPr>
              <a:t>t₀ = 2：椭圆</a:t>
            </a:r>
            <a:endParaRPr/>
          </a:p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1B222E"/>
                </a:solidFill>
                <a:latin typeface="微软雅黑"/>
                <a:ea typeface="微软雅黑"/>
              </a:rPr>
              <a:t>M：(x + 2)²/8 + y²/2 = 1</a:t>
            </a:r>
            <a:endParaRPr/>
          </a:p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6B7484"/>
                </a:solidFill>
                <a:latin typeface="微软雅黑"/>
                <a:ea typeface="微软雅黑"/>
              </a:rPr>
              <a:t>中心 (−2, 0)</a:t>
            </a:r>
            <a:endParaRPr/>
          </a:p>
        </p:txBody>
      </p:sp>
      <p:sp>
        <p:nvSpPr>
          <p:cNvPr id="72" name="TextBox 56"/>
          <p:cNvSpPr txBox="1"/>
          <p:nvPr/>
        </p:nvSpPr>
        <p:spPr>
          <a:xfrm>
            <a:off x="658368" y="5943600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6B7484"/>
                </a:solidFill>
                <a:latin typeface="微软雅黑"/>
                <a:ea typeface="微软雅黑"/>
              </a:rPr>
              <a:t>灰色虚线是原椭圆 E：x²/2 + y² = 1；彩色实线是轨迹 M。同一个 t₀ 只对应一个形状，t₀ 越小越“张开”。</a:t>
            </a:r>
            <a:endParaRPr/>
          </a:p>
        </p:txBody>
      </p:sp>
      <p:sp>
        <p:nvSpPr>
          <p:cNvPr id="73" name="TextBox 57"/>
          <p:cNvSpPr txBox="1"/>
          <p:nvPr/>
        </p:nvSpPr>
        <p:spPr>
          <a:xfrm>
            <a:off x="822960" y="6428232"/>
            <a:ext cx="7315200" cy="2926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B7484"/>
                </a:solidFill>
                <a:latin typeface="微软雅黑"/>
                <a:ea typeface="微软雅黑"/>
              </a:rPr>
              <a:t>2026 · 新高考Ⅱ卷 · 第18题</a:t>
            </a:r>
            <a:endParaRPr/>
          </a:p>
        </p:txBody>
      </p:sp>
      <p:sp>
        <p:nvSpPr>
          <p:cNvPr id="74" name="TextBox 58"/>
          <p:cNvSpPr txBox="1"/>
          <p:nvPr/>
        </p:nvSpPr>
        <p:spPr>
          <a:xfrm>
            <a:off x="10607040" y="6428232"/>
            <a:ext cx="777240" cy="2926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E6BE6"/>
                </a:solidFill>
                <a:latin typeface="微软雅黑"/>
                <a:ea typeface="微软雅黑"/>
              </a:rPr>
              <a:t>10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>
  <p:cSld>
    <p:spTree>
      <p:nvGrpSpPr>
        <p:cNvPr id="7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TextBox 1"/>
          <p:cNvSpPr txBox="1"/>
          <p:nvPr/>
        </p:nvSpPr>
        <p:spPr>
          <a:xfrm>
            <a:off x="822960" y="384048"/>
            <a:ext cx="10515600" cy="2926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2E6BE6"/>
                </a:solidFill>
                <a:latin typeface="微软雅黑"/>
                <a:ea typeface="微软雅黑"/>
              </a:rPr>
              <a:t>PART 04 · 收尾</a:t>
            </a:r>
            <a:endParaRPr/>
          </a:p>
        </p:txBody>
      </p:sp>
      <p:sp>
        <p:nvSpPr>
          <p:cNvPr id="77" name="TextBox 2"/>
          <p:cNvSpPr txBox="1"/>
          <p:nvPr/>
        </p:nvSpPr>
        <p:spPr>
          <a:xfrm>
            <a:off x="822960" y="658368"/>
            <a:ext cx="10607040" cy="640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11223E"/>
                </a:solidFill>
                <a:latin typeface="微软雅黑"/>
                <a:ea typeface="微软雅黑"/>
              </a:rPr>
              <a:t>易错点 · 解题主线 · 变式思考</a:t>
            </a:r>
            <a:endParaRPr/>
          </a:p>
        </p:txBody>
      </p:sp>
      <p:sp>
        <p:nvSpPr>
          <p:cNvPr id="78" name="Rectangle 3"/>
          <p:cNvSpPr/>
          <p:nvPr/>
        </p:nvSpPr>
        <p:spPr>
          <a:xfrm>
            <a:off x="841248" y="1335024"/>
            <a:ext cx="658368" cy="68580"/>
          </a:xfrm>
          <a:prstGeom prst="rect">
            <a:avLst/>
          </a:prstGeom>
          <a:solidFill>
            <a:srgbClr val="2E6B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79" name="Rounded Rectangle 4"/>
          <p:cNvSpPr/>
          <p:nvPr/>
        </p:nvSpPr>
        <p:spPr>
          <a:xfrm>
            <a:off x="822960" y="1645920"/>
            <a:ext cx="5120640" cy="4315968"/>
          </a:xfrm>
          <a:prstGeom prst="roundRect">
            <a:avLst>
              <a:gd name="adj" fmla="val 5000"/>
            </a:avLst>
          </a:prstGeom>
          <a:solidFill>
            <a:srgbClr val="FD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80" name="Rectangle 5"/>
          <p:cNvSpPr/>
          <p:nvPr/>
        </p:nvSpPr>
        <p:spPr>
          <a:xfrm>
            <a:off x="822960" y="1645920"/>
            <a:ext cx="68580" cy="4315968"/>
          </a:xfrm>
          <a:prstGeom prst="rect">
            <a:avLst/>
          </a:prstGeom>
          <a:solidFill>
            <a:srgbClr val="D93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81" name="TextBox 6"/>
          <p:cNvSpPr txBox="1"/>
          <p:nvPr/>
        </p:nvSpPr>
        <p:spPr>
          <a:xfrm>
            <a:off x="1152144" y="1847088"/>
            <a:ext cx="4526280" cy="39319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1100"/>
              </a:spcAft>
            </a:pPr>
            <a:r>
              <a:rPr sz="1650" b="1" i="0">
                <a:solidFill>
                  <a:srgbClr val="D93B3B"/>
                </a:solidFill>
                <a:latin typeface="微软雅黑"/>
                <a:ea typeface="微软雅黑"/>
              </a:rPr>
              <a:t>四个易错点</a:t>
            </a:r>
            <a:endParaRPr/>
          </a:p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1000"/>
              </a:spcAft>
            </a:pPr>
            <a:r>
              <a:rPr sz="1300" b="1" i="0">
                <a:solidFill>
                  <a:srgbClr val="D93B3B"/>
                </a:solidFill>
                <a:latin typeface="微软雅黑"/>
                <a:ea typeface="微软雅黑"/>
              </a:rPr>
              <a:t xml:space="preserve">· </a:t>
            </a:r>
            <a:r>
              <a:rPr sz="1300" b="0" i="0">
                <a:solidFill>
                  <a:srgbClr val="1B222E"/>
                </a:solidFill>
                <a:latin typeface="微软雅黑"/>
                <a:ea typeface="微软雅黑"/>
              </a:rPr>
              <a:t>把 B 当成椭圆上的点。B 是 A 到 y 轴的垂足，B(0, y₀)。（网上有些转载写成“交 E 于点 B”，是错的）</a:t>
            </a:r>
            <a:endParaRPr/>
          </a:p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1000"/>
              </a:spcAft>
            </a:pPr>
            <a:r>
              <a:rPr sz="1300" b="1" i="0">
                <a:solidFill>
                  <a:srgbClr val="D93B3B"/>
                </a:solidFill>
                <a:latin typeface="微软雅黑"/>
                <a:ea typeface="微软雅黑"/>
              </a:rPr>
              <a:t xml:space="preserve">· </a:t>
            </a:r>
            <a:r>
              <a:rPr sz="1300" b="0" i="0">
                <a:solidFill>
                  <a:srgbClr val="1B222E"/>
                </a:solidFill>
                <a:latin typeface="微软雅黑"/>
                <a:ea typeface="微软雅黑"/>
              </a:rPr>
              <a:t>忘记挖点：y₀ ≠ 0 给出 y ≠ 0；x₀ = −t₀ 时两线平行，P 不存在。</a:t>
            </a:r>
            <a:endParaRPr/>
          </a:p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1000"/>
              </a:spcAft>
            </a:pPr>
            <a:r>
              <a:rPr sz="1300" b="1" i="0">
                <a:solidFill>
                  <a:srgbClr val="D93B3B"/>
                </a:solidFill>
                <a:latin typeface="微软雅黑"/>
                <a:ea typeface="微软雅黑"/>
              </a:rPr>
              <a:t xml:space="preserve">· </a:t>
            </a:r>
            <a:r>
              <a:rPr sz="1300" b="0" i="0">
                <a:solidFill>
                  <a:srgbClr val="1B222E"/>
                </a:solidFill>
                <a:latin typeface="微软雅黑"/>
                <a:ea typeface="微软雅黑"/>
              </a:rPr>
              <a:t>t₀² = 2 时仍套用中心公式 2t₀/(2 − t₀²)，分母为 0。</a:t>
            </a:r>
            <a:endParaRPr/>
          </a:p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1000"/>
              </a:spcAft>
            </a:pPr>
            <a:r>
              <a:rPr sz="1300" b="1" i="0">
                <a:solidFill>
                  <a:srgbClr val="D93B3B"/>
                </a:solidFill>
                <a:latin typeface="微软雅黑"/>
                <a:ea typeface="微软雅黑"/>
              </a:rPr>
              <a:t xml:space="preserve">· </a:t>
            </a:r>
            <a:r>
              <a:rPr sz="1300" b="0" i="0">
                <a:solidFill>
                  <a:srgbClr val="1B222E"/>
                </a:solidFill>
                <a:latin typeface="微软雅黑"/>
                <a:ea typeface="微软雅黑"/>
              </a:rPr>
              <a:t>以为平移会改变形状：平移只改变位置，形状与类型不变。</a:t>
            </a:r>
            <a:endParaRPr/>
          </a:p>
        </p:txBody>
      </p:sp>
      <p:sp>
        <p:nvSpPr>
          <p:cNvPr id="82" name="Rounded Rectangle 7"/>
          <p:cNvSpPr/>
          <p:nvPr/>
        </p:nvSpPr>
        <p:spPr>
          <a:xfrm>
            <a:off x="6245352" y="1645920"/>
            <a:ext cx="5120640" cy="2377440"/>
          </a:xfrm>
          <a:prstGeom prst="roundRect">
            <a:avLst>
              <a:gd name="adj" fmla="val 9000"/>
            </a:avLst>
          </a:prstGeom>
          <a:solidFill>
            <a:srgbClr val="E6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83" name="Rectangle 8"/>
          <p:cNvSpPr/>
          <p:nvPr/>
        </p:nvSpPr>
        <p:spPr>
          <a:xfrm>
            <a:off x="6245352" y="1645920"/>
            <a:ext cx="68580" cy="2377440"/>
          </a:xfrm>
          <a:prstGeom prst="rect">
            <a:avLst/>
          </a:prstGeom>
          <a:solidFill>
            <a:srgbClr val="0EA5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84" name="TextBox 9"/>
          <p:cNvSpPr txBox="1"/>
          <p:nvPr/>
        </p:nvSpPr>
        <p:spPr>
          <a:xfrm>
            <a:off x="6574536" y="1847088"/>
            <a:ext cx="4526280" cy="20116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</a:pPr>
            <a:r>
              <a:rPr sz="1650" b="1" i="0">
                <a:solidFill>
                  <a:srgbClr val="0EA57A"/>
                </a:solidFill>
                <a:latin typeface="微软雅黑"/>
                <a:ea typeface="微软雅黑"/>
              </a:rPr>
              <a:t>解题主线（四步）</a:t>
            </a:r>
            <a:endParaRPr/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 i="0">
                <a:solidFill>
                  <a:srgbClr val="0EA57A"/>
                </a:solidFill>
                <a:latin typeface="微软雅黑"/>
                <a:ea typeface="微软雅黑"/>
              </a:rPr>
              <a:t xml:space="preserve">· </a:t>
            </a:r>
            <a:r>
              <a:rPr sz="1250" b="0" i="0">
                <a:solidFill>
                  <a:srgbClr val="1B222E"/>
                </a:solidFill>
                <a:latin typeface="微软雅黑"/>
                <a:ea typeface="微软雅黑"/>
              </a:rPr>
              <a:t>读题定位：B(0, y₀)，P = AO ∩ GB</a:t>
            </a:r>
            <a:endParaRPr/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 i="0">
                <a:solidFill>
                  <a:srgbClr val="0EA57A"/>
                </a:solidFill>
                <a:latin typeface="微软雅黑"/>
                <a:ea typeface="微软雅黑"/>
              </a:rPr>
              <a:t xml:space="preserve">· </a:t>
            </a:r>
            <a:r>
              <a:rPr sz="1250" b="0" i="0">
                <a:solidFill>
                  <a:srgbClr val="1B222E"/>
                </a:solidFill>
                <a:latin typeface="微软雅黑"/>
                <a:ea typeface="微软雅黑"/>
              </a:rPr>
              <a:t>参数化：P = λA = (1−λ)G + λB，λ = t₀/(x₀ + t₀)</a:t>
            </a:r>
            <a:endParaRPr/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 i="0">
                <a:solidFill>
                  <a:srgbClr val="0EA57A"/>
                </a:solidFill>
                <a:latin typeface="微软雅黑"/>
                <a:ea typeface="微软雅黑"/>
              </a:rPr>
              <a:t xml:space="preserve">· </a:t>
            </a:r>
            <a:r>
              <a:rPr sz="1250" b="0" i="0">
                <a:solidFill>
                  <a:srgbClr val="1B222E"/>
                </a:solidFill>
                <a:latin typeface="微软雅黑"/>
                <a:ea typeface="微软雅黑"/>
              </a:rPr>
              <a:t>消参：反解 x₀、y₀ 代入 E，得轨迹方程</a:t>
            </a:r>
            <a:endParaRPr/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 i="0">
                <a:solidFill>
                  <a:srgbClr val="0EA57A"/>
                </a:solidFill>
                <a:latin typeface="微软雅黑"/>
                <a:ea typeface="微软雅黑"/>
              </a:rPr>
              <a:t xml:space="preserve">· </a:t>
            </a:r>
            <a:r>
              <a:rPr sz="1250" b="0" i="0">
                <a:solidFill>
                  <a:srgbClr val="1B222E"/>
                </a:solidFill>
                <a:latin typeface="微软雅黑"/>
                <a:ea typeface="微软雅黑"/>
              </a:rPr>
              <a:t>识别曲线：化离心率式或配平方，判类型与中心</a:t>
            </a:r>
            <a:endParaRPr/>
          </a:p>
        </p:txBody>
      </p:sp>
      <p:sp>
        <p:nvSpPr>
          <p:cNvPr id="85" name="Rounded Rectangle 10"/>
          <p:cNvSpPr/>
          <p:nvPr/>
        </p:nvSpPr>
        <p:spPr>
          <a:xfrm>
            <a:off x="6245352" y="4206240"/>
            <a:ext cx="5120640" cy="1755648"/>
          </a:xfrm>
          <a:prstGeom prst="roundRect">
            <a:avLst>
              <a:gd name="adj" fmla="val 12000"/>
            </a:avLst>
          </a:prstGeom>
          <a:solidFill>
            <a:srgbClr val="FDF3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86" name="Rectangle 11"/>
          <p:cNvSpPr/>
          <p:nvPr/>
        </p:nvSpPr>
        <p:spPr>
          <a:xfrm>
            <a:off x="6245352" y="4206240"/>
            <a:ext cx="68580" cy="1755648"/>
          </a:xfrm>
          <a:prstGeom prst="rect">
            <a:avLst/>
          </a:prstGeom>
          <a:solidFill>
            <a:srgbClr val="E08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87" name="TextBox 12"/>
          <p:cNvSpPr txBox="1"/>
          <p:nvPr/>
        </p:nvSpPr>
        <p:spPr>
          <a:xfrm>
            <a:off x="6574536" y="4389120"/>
            <a:ext cx="4526280" cy="1417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800"/>
              </a:spcAft>
            </a:pPr>
            <a:r>
              <a:rPr sz="1600" b="1" i="0">
                <a:solidFill>
                  <a:srgbClr val="E08A1E"/>
                </a:solidFill>
                <a:latin typeface="微软雅黑"/>
                <a:ea typeface="微软雅黑"/>
              </a:rPr>
              <a:t>变式思考</a:t>
            </a:r>
            <a:endParaRPr/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E08A1E"/>
                </a:solidFill>
                <a:latin typeface="微软雅黑"/>
                <a:ea typeface="微软雅黑"/>
              </a:rPr>
              <a:t xml:space="preserve">· </a:t>
            </a:r>
            <a:r>
              <a:rPr sz="1250" b="0" i="0">
                <a:solidFill>
                  <a:srgbClr val="1B222E"/>
                </a:solidFill>
                <a:latin typeface="微软雅黑"/>
                <a:ea typeface="微软雅黑"/>
              </a:rPr>
              <a:t>把 G 换成 y 轴上的点，轨迹会变成什么？</a:t>
            </a:r>
            <a:endParaRPr/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E08A1E"/>
                </a:solidFill>
                <a:latin typeface="微软雅黑"/>
                <a:ea typeface="微软雅黑"/>
              </a:rPr>
              <a:t xml:space="preserve">· </a:t>
            </a:r>
            <a:r>
              <a:rPr sz="1250" b="0" i="0">
                <a:solidFill>
                  <a:srgbClr val="1B222E"/>
                </a:solidFill>
                <a:latin typeface="微软雅黑"/>
                <a:ea typeface="微软雅黑"/>
              </a:rPr>
              <a:t>把“垂足 B”换成 A 到 x 轴的垂足，λ 与轨迹如何变化？</a:t>
            </a:r>
            <a:endParaRPr/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E08A1E"/>
                </a:solidFill>
                <a:latin typeface="微软雅黑"/>
                <a:ea typeface="微软雅黑"/>
              </a:rPr>
              <a:t xml:space="preserve">· </a:t>
            </a:r>
            <a:r>
              <a:rPr sz="1250" b="0" i="0">
                <a:solidFill>
                  <a:srgbClr val="1B222E"/>
                </a:solidFill>
                <a:latin typeface="微软雅黑"/>
                <a:ea typeface="微软雅黑"/>
              </a:rPr>
              <a:t>若要求 M 恒为椭圆，t₀ 的取值范围是什么？（|t₀| &gt; √2）</a:t>
            </a:r>
            <a:endParaRPr/>
          </a:p>
        </p:txBody>
      </p:sp>
      <p:sp>
        <p:nvSpPr>
          <p:cNvPr id="88" name="TextBox 13"/>
          <p:cNvSpPr txBox="1"/>
          <p:nvPr/>
        </p:nvSpPr>
        <p:spPr>
          <a:xfrm>
            <a:off x="822960" y="6428232"/>
            <a:ext cx="7315200" cy="2926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B7484"/>
                </a:solidFill>
                <a:latin typeface="微软雅黑"/>
                <a:ea typeface="微软雅黑"/>
              </a:rPr>
              <a:t>2026 · 新高考Ⅱ卷 · 第18题</a:t>
            </a:r>
            <a:endParaRPr/>
          </a:p>
        </p:txBody>
      </p:sp>
      <p:sp>
        <p:nvSpPr>
          <p:cNvPr id="89" name="TextBox 14"/>
          <p:cNvSpPr txBox="1"/>
          <p:nvPr/>
        </p:nvSpPr>
        <p:spPr>
          <a:xfrm>
            <a:off x="10607040" y="6428232"/>
            <a:ext cx="777240" cy="2926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E6BE6"/>
                </a:solidFill>
                <a:latin typeface="微软雅黑"/>
                <a:ea typeface="微软雅黑"/>
              </a:rPr>
              <a:t>11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>
  <p:cSld>
    <p:spTree>
      <p:nvGrpSpPr>
        <p:cNvPr id="9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22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2" name="装饰_Oval 2"/>
          <p:cNvSpPr/>
          <p:nvPr/>
        </p:nvSpPr>
        <p:spPr>
          <a:xfrm>
            <a:off x="9052560" y="3840480"/>
            <a:ext cx="5120640" cy="5120640"/>
          </a:xfrm>
          <a:prstGeom prst="ellipse">
            <a:avLst/>
          </a:prstGeom>
          <a:solidFill>
            <a:srgbClr val="1A30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3" name="装饰_Oval 3"/>
          <p:cNvSpPr/>
          <p:nvPr/>
        </p:nvSpPr>
        <p:spPr>
          <a:xfrm>
            <a:off x="-1097280" y="-1828800"/>
            <a:ext cx="4754880" cy="4754880"/>
          </a:xfrm>
          <a:prstGeom prst="ellipse">
            <a:avLst/>
          </a:prstGeom>
          <a:solidFill>
            <a:srgbClr val="16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4" name="Rectangle 4"/>
          <p:cNvSpPr/>
          <p:nvPr/>
        </p:nvSpPr>
        <p:spPr>
          <a:xfrm>
            <a:off x="822960" y="1874519"/>
            <a:ext cx="822960" cy="82296"/>
          </a:xfrm>
          <a:prstGeom prst="rect">
            <a:avLst/>
          </a:prstGeom>
          <a:solidFill>
            <a:srgbClr val="2E6B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5" name="TextBox 5"/>
          <p:cNvSpPr txBox="1"/>
          <p:nvPr/>
        </p:nvSpPr>
        <p:spPr>
          <a:xfrm>
            <a:off x="822960" y="2286000"/>
            <a:ext cx="10058400" cy="12801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3800" b="1" i="0">
                <a:solidFill>
                  <a:srgbClr val="FFFFFF"/>
                </a:solidFill>
                <a:latin typeface="微软雅黑"/>
                <a:ea typeface="微软雅黑"/>
              </a:rPr>
              <a:t>一题看穿圆锥曲线</a:t>
            </a:r>
            <a:endParaRPr/>
          </a:p>
        </p:txBody>
      </p:sp>
      <p:sp>
        <p:nvSpPr>
          <p:cNvPr id="96" name="TextBox 6"/>
          <p:cNvSpPr txBox="1"/>
          <p:nvPr/>
        </p:nvSpPr>
        <p:spPr>
          <a:xfrm>
            <a:off x="822960" y="3429000"/>
            <a:ext cx="9692640" cy="12801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0" i="0">
                <a:solidFill>
                  <a:srgbClr val="C9D8F0"/>
                </a:solidFill>
                <a:latin typeface="微软雅黑"/>
                <a:ea typeface="微软雅黑"/>
              </a:rPr>
              <a:t>解题靠消参，理解靠离心率：</a:t>
            </a:r>
            <a:endParaRPr/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C9D8F0"/>
                </a:solidFill>
                <a:latin typeface="微软雅黑"/>
                <a:ea typeface="微软雅黑"/>
              </a:rPr>
              <a:t>到定点的距离 = e × 到定直线的距离　⟹　e 定形状，平移定位置。</a:t>
            </a:r>
            <a:endParaRPr/>
          </a:p>
        </p:txBody>
      </p:sp>
      <p:sp>
        <p:nvSpPr>
          <p:cNvPr id="97" name="TextBox 7"/>
          <p:cNvSpPr txBox="1"/>
          <p:nvPr/>
        </p:nvSpPr>
        <p:spPr>
          <a:xfrm>
            <a:off x="822960" y="5257800"/>
            <a:ext cx="10058400" cy="914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8CA2C4"/>
                </a:solidFill>
                <a:latin typeface="微软雅黑"/>
                <a:ea typeface="微软雅黑"/>
              </a:rPr>
              <a:t>题目来源：2026 年普通高等学校招生全国统一考试（新高考Ⅱ卷）数学 第 18 题</a:t>
            </a:r>
            <a:endParaRPr/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6E84A8"/>
                </a:solidFill>
                <a:latin typeface="微软雅黑"/>
                <a:ea typeface="微软雅黑"/>
              </a:rPr>
              <a:t>配套文件：2026新高考Ⅱ卷18题_原题与来源.md · make_ppt.py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Tencent office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2026-10-15T23:49:32Z</dcterms:created>
  <dcterms:modified xsi:type="dcterms:W3CDTF">2026-10-15T23:49:32Z</dcterms:modified>
</cp:coreProperties>
</file>