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47088"/>
            <a:ext cx="100584" cy="14813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25296" y="1755648"/>
            <a:ext cx="63093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三质点弹簧环的振动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IPhO 1986 · 第 17 届国际中学生物理奥林匹克竞赛</a:t>
            </a:r>
          </a:p>
          <a:p>
            <a:pPr algn="l"/>
            <a:r>
              <a:rPr sz="1500" b="0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题 28（前三问）完整解答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3986784"/>
            <a:ext cx="6583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物理模型 · 运动方程 · 简谐解与频率分布</a:t>
            </a:r>
          </a:p>
          <a:p>
            <a:pPr algn="l"/>
            <a:r>
              <a:rPr sz="13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牛顿第二定律  →  线性耦合振动方程  →  行列式条件  →  色散关系</a:t>
            </a:r>
          </a:p>
        </p:txBody>
      </p:sp>
      <p:sp>
        <p:nvSpPr>
          <p:cNvPr id="8" name="Freeform 7"/>
          <p:cNvSpPr/>
          <p:nvPr/>
        </p:nvSpPr>
        <p:spPr>
          <a:xfrm>
            <a:off x="9" y="2"/>
            <a:ext cx="1" cy="2"/>
          </a:xfrm>
          <a:custGeom>
            <a:avLst/>
            <a:gdLst/>
            <a:ahLst/>
            <a:cxnLst/>
            <a:rect l="l" t="t" r="r" b="b"/>
            <a:pathLst>
              <a:path w="1" h="2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</a:path>
            </a:pathLst>
          </a:custGeom>
          <a:noFill/>
          <a:ln w="17780">
            <a:solidFill>
              <a:srgbClr val="9AA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45153" y="192022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17178" y="179905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11599" y="195836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71368" y="184069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82650" y="200997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30586" y="1897036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9661" y="207450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96311" y="196749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43924" y="215129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69953" y="205132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36655" y="223952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52840" y="214765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38980" y="233827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46202" y="225546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51926" y="244649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51159" y="237361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76407" y="256306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68709" y="250088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13216" y="268674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99719" y="263591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63017" y="281625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44914" y="277730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6338" y="295021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04869" y="292356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03563" y="308722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80004" y="307314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94933" y="322585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70582" y="322449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00537" y="336463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76701" y="337601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0317" y="350210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98296" y="352610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54066" y="363683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5141" y="367319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9" y="5"/>
            <a:ext cx="3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3" y="0"/>
                </a:lnTo>
                <a:lnTo>
                  <a:pt x="3" y="0"/>
                </a:lnTo>
              </a:path>
            </a:pathLst>
          </a:custGeom>
          <a:noFill/>
          <a:ln w="17780">
            <a:solidFill>
              <a:srgbClr val="9AA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58906" y="416483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67956" y="424964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658712" y="426142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576921" y="435510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67880" y="434729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696107" y="444885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85265" y="442154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824264" y="452991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09632" y="448337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60044" y="459742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39676" y="453216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02022" y="465068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74030" y="456737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48705" y="468913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11283" y="4588656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98554" y="471236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49993" y="459577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549993" y="472013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88703" y="4588656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701432" y="471236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825956" y="456737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851281" y="468913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960310" y="453216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997964" y="465068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90354" y="448337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139942" y="459742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214722" y="442154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275722" y="452991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332106" y="434729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403879" y="444885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441275" y="426142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523066" y="435510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541080" y="416483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632030" y="424964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1" y="2"/>
            <a:ext cx="1" cy="2"/>
          </a:xfrm>
          <a:custGeom>
            <a:avLst/>
            <a:gdLst/>
            <a:ahLst/>
            <a:cxnLst/>
            <a:rect l="l" t="t" r="r" b="b"/>
            <a:pathLst>
              <a:path w="1" h="2">
                <a:moveTo>
                  <a:pt x="1" y="2"/>
                </a:moveTo>
                <a:lnTo>
                  <a:pt x="1" y="2"/>
                </a:lnTo>
                <a:lnTo>
                  <a:pt x="1" y="2"/>
                </a:lnTo>
                <a:lnTo>
                  <a:pt x="1" y="2"/>
                </a:lnTo>
                <a:lnTo>
                  <a:pt x="1" y="2"/>
                </a:lnTo>
                <a:lnTo>
                  <a:pt x="1" y="2"/>
                </a:lnTo>
                <a:lnTo>
                  <a:pt x="1" y="2"/>
                </a:lnTo>
                <a:lnTo>
                  <a:pt x="1" y="2"/>
                </a:lnTo>
                <a:lnTo>
                  <a:pt x="1" y="2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0"/>
                </a:lnTo>
                <a:lnTo>
                  <a:pt x="1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17780">
            <a:solidFill>
              <a:srgbClr val="9AA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845921" y="363683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964845" y="367319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879669" y="350210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1001690" y="352610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899449" y="336463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1023286" y="337601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905053" y="322585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1029404" y="322449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896423" y="308722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019982" y="307314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873648" y="295021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995117" y="292356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836969" y="281625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955072" y="277730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786770" y="268674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900267" y="263591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723579" y="256306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831277" y="250088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648060" y="244649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748827" y="237361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561006" y="233827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653784" y="225546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463331" y="223952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547146" y="214765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356062" y="215129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430033" y="205132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240325" y="207450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303675" y="196749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117336" y="200997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169400" y="1897036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988387" y="195836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028618" y="184069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854833" y="192022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82808" y="179905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443465" y="1716785"/>
            <a:ext cx="224028" cy="224028"/>
          </a:xfrm>
          <a:prstGeom prst="ellipse">
            <a:avLst/>
          </a:prstGeom>
          <a:solidFill>
            <a:srgbClr val="1F3864"/>
          </a:solidFill>
          <a:ln w="20320">
            <a:solidFill>
              <a:srgbClr val="FFFFFF"/>
            </a:solidFill>
          </a:ln>
          <a:effectLst>
            <a:outerShdw blurRad="76200" dist="20320" dir="5400000" rotWithShape="0">
              <a:srgbClr val="8A94A6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m₁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9674352" y="1828799"/>
            <a:ext cx="393192" cy="0"/>
          </a:xfrm>
          <a:prstGeom prst="line">
            <a:avLst/>
          </a:prstGeom>
          <a:ln w="3048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10149839" y="170078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u₁</a:t>
            </a:r>
          </a:p>
        </p:txBody>
      </p:sp>
      <p:sp>
        <p:nvSpPr>
          <p:cNvPr id="116" name="Oval 115"/>
          <p:cNvSpPr/>
          <p:nvPr/>
        </p:nvSpPr>
        <p:spPr>
          <a:xfrm>
            <a:off x="8216030" y="3842766"/>
            <a:ext cx="224028" cy="224028"/>
          </a:xfrm>
          <a:prstGeom prst="ellipse">
            <a:avLst/>
          </a:prstGeom>
          <a:solidFill>
            <a:srgbClr val="0E7C7B"/>
          </a:solidFill>
          <a:ln w="20320">
            <a:solidFill>
              <a:srgbClr val="FFFFFF"/>
            </a:solidFill>
          </a:ln>
          <a:effectLst>
            <a:outerShdw blurRad="76200" dist="20320" dir="5400000" rotWithShape="0">
              <a:srgbClr val="8A94A6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m₂</a:t>
            </a:r>
          </a:p>
        </p:txBody>
      </p:sp>
      <p:cxnSp>
        <p:nvCxnSpPr>
          <p:cNvPr id="117" name="Connector 116"/>
          <p:cNvCxnSpPr/>
          <p:nvPr/>
        </p:nvCxnSpPr>
        <p:spPr>
          <a:xfrm flipH="1" flipV="1">
            <a:off x="8072012" y="3511319"/>
            <a:ext cx="196596" cy="340514"/>
          </a:xfrm>
          <a:prstGeom prst="line">
            <a:avLst/>
          </a:prstGeom>
          <a:ln w="30480">
            <a:solidFill>
              <a:srgbClr val="0E7C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 rot="3600000">
            <a:off x="7838840" y="320116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Cambria Math"/>
                <a:ea typeface="Cambria Math"/>
                <a:cs typeface="Cambria Math"/>
              </a:rPr>
              <a:t>u₂</a:t>
            </a:r>
          </a:p>
        </p:txBody>
      </p:sp>
      <p:sp>
        <p:nvSpPr>
          <p:cNvPr id="119" name="Oval 118"/>
          <p:cNvSpPr/>
          <p:nvPr/>
        </p:nvSpPr>
        <p:spPr>
          <a:xfrm>
            <a:off x="10670901" y="3842766"/>
            <a:ext cx="224028" cy="224028"/>
          </a:xfrm>
          <a:prstGeom prst="ellipse">
            <a:avLst/>
          </a:prstGeom>
          <a:solidFill>
            <a:srgbClr val="2E75B6"/>
          </a:solidFill>
          <a:ln w="20320">
            <a:solidFill>
              <a:srgbClr val="FFFFFF"/>
            </a:solidFill>
          </a:ln>
          <a:effectLst>
            <a:outerShdw blurRad="76200" dist="20320" dir="5400000" rotWithShape="0">
              <a:srgbClr val="8A94A6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m₃</a:t>
            </a:r>
          </a:p>
        </p:txBody>
      </p:sp>
      <p:cxnSp>
        <p:nvCxnSpPr>
          <p:cNvPr id="120" name="Connector 119"/>
          <p:cNvCxnSpPr/>
          <p:nvPr/>
        </p:nvCxnSpPr>
        <p:spPr>
          <a:xfrm flipH="1">
            <a:off x="10526883" y="4057726"/>
            <a:ext cx="196596" cy="340514"/>
          </a:xfrm>
          <a:prstGeom prst="line">
            <a:avLst/>
          </a:prstGeom>
          <a:ln w="30480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 rot="18000000">
            <a:off x="10293711" y="4452359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mbria Math"/>
                <a:ea typeface="Cambria Math"/>
                <a:cs typeface="Cambria Math"/>
              </a:rPr>
              <a:t>u₃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962460" y="227228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6B7688"/>
                </a:solidFill>
                <a:latin typeface="Cambria Math"/>
                <a:ea typeface="Cambria Math"/>
                <a:cs typeface="Cambria Math"/>
              </a:rPr>
              <a:t>k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427463" y="480974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6B7688"/>
                </a:solidFill>
                <a:latin typeface="Cambria Math"/>
                <a:ea typeface="Cambria Math"/>
                <a:cs typeface="Cambria Math"/>
              </a:rPr>
              <a:t>k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892467" y="227228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6B7688"/>
                </a:solidFill>
                <a:latin typeface="Cambria Math"/>
                <a:ea typeface="Cambria Math"/>
                <a:cs typeface="Cambria Math"/>
              </a:rPr>
              <a:t>k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225296" y="594360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本讲只处理第 1、2、3 问；第 4、5 问不在本讲范围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48640" y="6419088"/>
            <a:ext cx="11094415" cy="18288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第 17 届 IPhO（1986）题 28 · 前三问详解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424160" y="6492240"/>
            <a:ext cx="1218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685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题目：三个质点在圆周上的耦合振动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59536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《物理学难题集萃》（上册）第七章 振动与波动 · 题 28（力图 7.28.1）</a:t>
            </a:r>
          </a:p>
        </p:txBody>
      </p:sp>
      <p:sp>
        <p:nvSpPr>
          <p:cNvPr id="6" name="Oval 5"/>
          <p:cNvSpPr/>
          <p:nvPr/>
        </p:nvSpPr>
        <p:spPr>
          <a:xfrm>
            <a:off x="11356848" y="256032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68580" cy="4956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316736"/>
            <a:ext cx="6967728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三个质量各为 m 的质点由未伸长的无质量弹簧连接在一起达到平衡。每个弹簧的劲度系数为 k，它们被限制在圆周上运动，如力图 7.28.1 所示。</a:t>
            </a: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25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若每一质点 m 分别有偏离平衡位置的小位移 </a:t>
            </a:r>
            <a:r>
              <a:rPr sz="12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u₁</a:t>
            </a: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u₂</a:t>
            </a: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 和 </a:t>
            </a:r>
            <a:r>
              <a:rPr sz="12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u₃</a:t>
            </a: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，试写出每质点的运动方程。</a:t>
            </a:r>
          </a:p>
          <a:p>
            <a:pPr algn="l"/>
            <a:r>
              <a:rPr sz="125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试验证此系统有下列简谐式解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4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uₙ = aₙ cos ωt    (n = 1, 2, 3)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其加速度为 </a:t>
            </a:r>
            <a:r>
              <a:rPr sz="12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−ω²uₙ</a:t>
            </a: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，此处 </a:t>
            </a:r>
            <a:r>
              <a:rPr sz="12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aₙ</a:t>
            </a: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 是恒振幅，角频率 ω 有下列三个可能的取值：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4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√3·ω₀ ,    √3·ω₀ ,    0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其中 </a:t>
            </a:r>
            <a:r>
              <a:rPr sz="12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ω₀² = k/m</a:t>
            </a: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将这由弹簧与质点交替连接的系统扩充到 N 个质点：每一质点 m 由弹簧与相邻质点连接，起初弹簧均未伸长、处于平衡。试写出以第 n 个质点的位移及其相邻质点位移表示的第 n 个质点的运动方程，并验证</a:t>
            </a:r>
          </a:p>
          <a:p>
            <a:pPr algn="ctr">
              <a:spcAft>
                <a:spcPts val="400"/>
              </a:spcAft>
            </a:pPr>
            <a:r>
              <a:rPr sz="14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uₙ(t) = a_s sin( 2nsπ/N + φ ) cos ωₛ t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是振荡解（s = 1, 2, ⋯, N；φ 为任意相位），角频率 ωₛ 由下式给出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4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ωₛ = 2ω₀ sin( sπ/N )</a:t>
            </a:r>
          </a:p>
          <a:p>
            <a:pPr algn="l">
              <a:lnSpc>
                <a:spcPct val="124000"/>
              </a:lnSpc>
            </a:pP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而 </a:t>
            </a:r>
            <a:r>
              <a:rPr sz="12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a_s</a:t>
            </a: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（s = 1, 2, ⋯, N）是与 n 无关的恒振幅。试叙述无穷多质点链条的频率可能范围。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371600"/>
            <a:ext cx="3611880" cy="4480560"/>
          </a:xfrm>
          <a:prstGeom prst="roundRect">
            <a:avLst>
              <a:gd name="adj" fmla="val 4051"/>
            </a:avLst>
          </a:prstGeom>
          <a:solidFill>
            <a:srgbClr val="F7F9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4813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力图 7.28.1</a:t>
            </a:r>
          </a:p>
        </p:txBody>
      </p:sp>
      <p:sp>
        <p:nvSpPr>
          <p:cNvPr id="11" name="Freeform 10"/>
          <p:cNvSpPr/>
          <p:nvPr/>
        </p:nvSpPr>
        <p:spPr>
          <a:xfrm>
            <a:off x="9" y="3"/>
            <a:ext cx="1" cy="1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</a:path>
            </a:pathLst>
          </a:custGeom>
          <a:noFill/>
          <a:ln w="17780">
            <a:solidFill>
              <a:srgbClr val="9AA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39351" y="2490906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11376" y="236973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26524" y="2523126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86293" y="240545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17587" y="256672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65524" y="245378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13686" y="262124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50336" y="251423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15911" y="268611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41940" y="258614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5289" y="276065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1474" y="266878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42773" y="284407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49995" y="276126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9229" y="293550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68462" y="286262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05430" y="303397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97733" y="297180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52046" y="313846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38550" y="308764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09638" y="324787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91535" y="320893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78651" y="3361046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57182" y="333439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59411" y="347679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35852" y="346271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52120" y="359390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27769" y="359254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656855" y="371114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33018" y="3722526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73565" y="382728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51544" y="385128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02076" y="394110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583151" y="397746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0" y="5"/>
            <a:ext cx="2" cy="0"/>
          </a:xfrm>
          <a:custGeom>
            <a:avLst/>
            <a:gdLst/>
            <a:ahLst/>
            <a:cxnLst/>
            <a:rect l="l" t="t" r="r" b="b"/>
            <a:pathLst>
              <a:path w="2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</a:path>
            </a:pathLst>
          </a:custGeom>
          <a:noFill/>
          <a:ln w="17780">
            <a:solidFill>
              <a:srgbClr val="9AA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59606" y="438716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868656" y="447197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43923" y="4468766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62132" y="456244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36149" y="454130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64376" y="464286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35316" y="460402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74315" y="471239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340382" y="465627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90794" y="477031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50243" y="469748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12589" y="481600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63746" y="472723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38422" y="484898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79698" y="474520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66969" y="486891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796881" y="475122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796881" y="487558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914064" y="474520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926793" y="486891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030016" y="472723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55341" y="484898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143519" y="469748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181173" y="481600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253381" y="465627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302968" y="477031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358447" y="460402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419447" y="471239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457614" y="454130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529386" y="464286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549840" y="4468766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631631" y="456244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634156" y="438716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725106" y="447197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11" y="3"/>
            <a:ext cx="1" cy="1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17780">
            <a:solidFill>
              <a:srgbClr val="9AA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891686" y="394110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010611" y="397746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920197" y="382728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042218" y="385128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936907" y="371114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1060744" y="3722526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941642" y="359390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065993" y="359254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934351" y="347679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057910" y="346271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915111" y="3361046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036580" y="333439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884124" y="324787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002227" y="320893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841716" y="313846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955212" y="308764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788332" y="303397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896029" y="297180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24533" y="293550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825300" y="286262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650989" y="284407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743768" y="276126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568473" y="276065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652288" y="266878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477851" y="268611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551823" y="258614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380076" y="262124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443427" y="251423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276175" y="256672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328239" y="245378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167238" y="2523126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207469" y="240545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054412" y="2490906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082386" y="236973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9690354" y="2292858"/>
            <a:ext cx="224028" cy="224028"/>
          </a:xfrm>
          <a:prstGeom prst="ellipse">
            <a:avLst/>
          </a:prstGeom>
          <a:solidFill>
            <a:srgbClr val="1F3864"/>
          </a:solidFill>
          <a:ln w="20320">
            <a:solidFill>
              <a:srgbClr val="FFFFFF"/>
            </a:solidFill>
          </a:ln>
          <a:effectLst>
            <a:outerShdw blurRad="76200" dist="20320" dir="5400000" rotWithShape="0">
              <a:srgbClr val="8A94A6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m₁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9921240" y="2404872"/>
            <a:ext cx="393192" cy="0"/>
          </a:xfrm>
          <a:prstGeom prst="line">
            <a:avLst/>
          </a:prstGeom>
          <a:ln w="3048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10396728" y="227685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u₁</a:t>
            </a:r>
          </a:p>
        </p:txBody>
      </p:sp>
      <p:sp>
        <p:nvSpPr>
          <p:cNvPr id="119" name="Oval 118"/>
          <p:cNvSpPr/>
          <p:nvPr/>
        </p:nvSpPr>
        <p:spPr>
          <a:xfrm>
            <a:off x="8645054" y="4103370"/>
            <a:ext cx="224028" cy="224028"/>
          </a:xfrm>
          <a:prstGeom prst="ellipse">
            <a:avLst/>
          </a:prstGeom>
          <a:solidFill>
            <a:srgbClr val="0E7C7B"/>
          </a:solidFill>
          <a:ln w="20320">
            <a:solidFill>
              <a:srgbClr val="FFFFFF"/>
            </a:solidFill>
          </a:ln>
          <a:effectLst>
            <a:outerShdw blurRad="76200" dist="20320" dir="5400000" rotWithShape="0">
              <a:srgbClr val="8A94A6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m₂</a:t>
            </a:r>
          </a:p>
        </p:txBody>
      </p:sp>
      <p:cxnSp>
        <p:nvCxnSpPr>
          <p:cNvPr id="120" name="Connector 119"/>
          <p:cNvCxnSpPr/>
          <p:nvPr/>
        </p:nvCxnSpPr>
        <p:spPr>
          <a:xfrm flipH="1" flipV="1">
            <a:off x="8501036" y="3771923"/>
            <a:ext cx="196596" cy="340514"/>
          </a:xfrm>
          <a:prstGeom prst="line">
            <a:avLst/>
          </a:prstGeom>
          <a:ln w="30480">
            <a:solidFill>
              <a:srgbClr val="0E7C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 rot="3600000">
            <a:off x="8267864" y="346177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Cambria Math"/>
                <a:ea typeface="Cambria Math"/>
                <a:cs typeface="Cambria Math"/>
              </a:rPr>
              <a:t>u₂</a:t>
            </a:r>
          </a:p>
        </p:txBody>
      </p:sp>
      <p:sp>
        <p:nvSpPr>
          <p:cNvPr id="122" name="Oval 121"/>
          <p:cNvSpPr/>
          <p:nvPr/>
        </p:nvSpPr>
        <p:spPr>
          <a:xfrm>
            <a:off x="10735653" y="4103370"/>
            <a:ext cx="224028" cy="224028"/>
          </a:xfrm>
          <a:prstGeom prst="ellipse">
            <a:avLst/>
          </a:prstGeom>
          <a:solidFill>
            <a:srgbClr val="2E75B6"/>
          </a:solidFill>
          <a:ln w="20320">
            <a:solidFill>
              <a:srgbClr val="FFFFFF"/>
            </a:solidFill>
          </a:ln>
          <a:effectLst>
            <a:outerShdw blurRad="76200" dist="20320" dir="5400000" rotWithShape="0">
              <a:srgbClr val="8A94A6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m₃</a:t>
            </a:r>
          </a:p>
        </p:txBody>
      </p:sp>
      <p:cxnSp>
        <p:nvCxnSpPr>
          <p:cNvPr id="123" name="Connector 122"/>
          <p:cNvCxnSpPr/>
          <p:nvPr/>
        </p:nvCxnSpPr>
        <p:spPr>
          <a:xfrm flipH="1">
            <a:off x="10591635" y="4318330"/>
            <a:ext cx="196596" cy="340514"/>
          </a:xfrm>
          <a:prstGeom prst="line">
            <a:avLst/>
          </a:prstGeom>
          <a:ln w="30480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 rot="18000000">
            <a:off x="10358463" y="4712963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mbria Math"/>
                <a:ea typeface="Cambria Math"/>
                <a:cs typeface="Cambria Math"/>
              </a:rPr>
              <a:t>u₃</a:t>
            </a:r>
          </a:p>
        </p:txBody>
      </p:sp>
      <p:sp>
        <p:nvSpPr>
          <p:cNvPr id="125" name="Freeform 124"/>
          <p:cNvSpPr/>
          <p:nvPr/>
        </p:nvSpPr>
        <p:spPr>
          <a:xfrm>
            <a:off x="11" y="3"/>
            <a:ext cx="0" cy="1"/>
          </a:xfrm>
          <a:custGeom>
            <a:avLst/>
            <a:gdLst/>
            <a:ahLst/>
            <a:cxnLst/>
            <a:rect l="l" t="t" r="r" b="b"/>
            <a:pathLst>
              <a:path w="0" h="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</a:path>
            </a:pathLst>
          </a:custGeom>
          <a:noFill/>
          <a:ln w="15240">
            <a:solidFill>
              <a:srgbClr val="6B768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966960" y="2534351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顺时针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391484" y="274320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6B7688"/>
                </a:solidFill>
                <a:latin typeface="Cambria Math"/>
                <a:ea typeface="Cambria Math"/>
                <a:cs typeface="Cambria Math"/>
              </a:rPr>
              <a:t>k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674352" y="49651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6B7688"/>
                </a:solidFill>
                <a:latin typeface="Cambria Math"/>
                <a:ea typeface="Cambria Math"/>
                <a:cs typeface="Cambria Math"/>
              </a:rPr>
              <a:t>k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957219" y="274320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6B7688"/>
                </a:solidFill>
                <a:latin typeface="Cambria Math"/>
                <a:ea typeface="Cambria Math"/>
                <a:cs typeface="Cambria Math"/>
              </a:rPr>
              <a:t>k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48640" y="6419088"/>
            <a:ext cx="11094415" cy="18288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第 17 届 IPhO（1986）题 28 · 前三问详解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424160" y="6492240"/>
            <a:ext cx="1218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685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物理模型与受力分析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59536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第 1 问的出发点：牛顿第二定律 + 胡克定律</a:t>
            </a:r>
          </a:p>
        </p:txBody>
      </p:sp>
      <p:sp>
        <p:nvSpPr>
          <p:cNvPr id="6" name="Oval 5"/>
          <p:cNvSpPr/>
          <p:nvPr/>
        </p:nvSpPr>
        <p:spPr>
          <a:xfrm>
            <a:off x="11356848" y="256032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4617720" cy="4956048"/>
          </a:xfrm>
          <a:prstGeom prst="roundRect">
            <a:avLst>
              <a:gd name="adj" fmla="val 3168"/>
            </a:avLst>
          </a:prstGeom>
          <a:solidFill>
            <a:srgbClr val="F7F9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2" y="2"/>
            <a:ext cx="1" cy="2"/>
          </a:xfrm>
          <a:custGeom>
            <a:avLst/>
            <a:gdLst/>
            <a:ahLst/>
            <a:cxnLst/>
            <a:rect l="l" t="t" r="r" b="b"/>
            <a:pathLst>
              <a:path w="1" h="2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0"/>
                </a:lnTo>
                <a:lnTo>
                  <a:pt x="0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</a:path>
            </a:pathLst>
          </a:custGeom>
          <a:noFill/>
          <a:ln w="17780">
            <a:solidFill>
              <a:srgbClr val="9AA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42601" y="219454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14626" y="207337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9047" y="223268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68816" y="211501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0098" y="228429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28034" y="2171356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57109" y="234882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93759" y="224181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41372" y="242561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67401" y="232564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4103" y="251384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50288" y="242197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36428" y="261259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43650" y="252978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49374" y="272081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48607" y="264793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73855" y="283738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66157" y="277520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10664" y="296106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97167" y="291023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60465" y="309057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42362" y="305162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23786" y="322453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02317" y="319788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01011" y="336154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377452" y="334746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492381" y="350017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68030" y="349881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497985" y="363895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74149" y="365033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517765" y="377642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395744" y="380042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551514" y="391115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432589" y="394751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" y="5"/>
            <a:ext cx="2" cy="0"/>
          </a:xfrm>
          <a:custGeom>
            <a:avLst/>
            <a:gdLst/>
            <a:ahLst/>
            <a:cxnLst/>
            <a:rect l="l" t="t" r="r" b="b"/>
            <a:pathLst>
              <a:path w="2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</a:path>
            </a:pathLst>
          </a:custGeom>
          <a:noFill/>
          <a:ln w="17780">
            <a:solidFill>
              <a:srgbClr val="9AA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856354" y="443915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765404" y="452396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956160" y="453574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74369" y="462942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065328" y="462161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993555" y="472317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182713" y="469586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121712" y="480423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307080" y="475769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257492" y="487174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437124" y="480648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399470" y="492500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571478" y="484169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546153" y="496345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708731" y="4862976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96002" y="498668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847441" y="487009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847441" y="499445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986151" y="4862976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998880" y="498668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123404" y="484169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148729" y="496345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257758" y="480648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95412" y="492500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387802" y="475769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437390" y="487174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512170" y="469586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573170" y="480423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629554" y="462161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701327" y="472317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738723" y="453574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820514" y="462942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8528" y="443915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929478" y="452396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3" y="2"/>
            <a:ext cx="2" cy="2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2"/>
                </a:moveTo>
                <a:lnTo>
                  <a:pt x="2" y="2"/>
                </a:lnTo>
                <a:lnTo>
                  <a:pt x="2" y="2"/>
                </a:lnTo>
                <a:lnTo>
                  <a:pt x="2" y="2"/>
                </a:lnTo>
                <a:lnTo>
                  <a:pt x="2" y="2"/>
                </a:lnTo>
                <a:lnTo>
                  <a:pt x="2" y="2"/>
                </a:lnTo>
                <a:lnTo>
                  <a:pt x="2" y="2"/>
                </a:lnTo>
                <a:lnTo>
                  <a:pt x="2" y="2"/>
                </a:lnTo>
                <a:lnTo>
                  <a:pt x="2" y="2"/>
                </a:lnTo>
                <a:lnTo>
                  <a:pt x="2" y="2"/>
                </a:lnTo>
                <a:lnTo>
                  <a:pt x="2" y="2"/>
                </a:lnTo>
                <a:lnTo>
                  <a:pt x="2" y="2"/>
                </a:lnTo>
                <a:lnTo>
                  <a:pt x="2" y="2"/>
                </a:lnTo>
                <a:lnTo>
                  <a:pt x="2" y="1"/>
                </a:lnTo>
                <a:lnTo>
                  <a:pt x="2" y="1"/>
                </a:lnTo>
                <a:lnTo>
                  <a:pt x="2" y="1"/>
                </a:lnTo>
                <a:lnTo>
                  <a:pt x="2" y="1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noFill/>
          <a:ln w="17780">
            <a:solidFill>
              <a:srgbClr val="9AA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143369" y="391115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262293" y="394751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177117" y="377642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299138" y="380042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196897" y="363895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320734" y="365033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202501" y="350017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326852" y="349881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193871" y="336154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317430" y="334746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171096" y="322453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292565" y="319788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134417" y="309057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252520" y="3051627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084218" y="296106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197715" y="291023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021027" y="283738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128725" y="277520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945508" y="272081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046275" y="2647939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858454" y="2612590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951232" y="252978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760779" y="251384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844594" y="242197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653510" y="242561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727481" y="232564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537773" y="2348828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601123" y="2241815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414784" y="2284291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466848" y="2171356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285835" y="223268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326066" y="2115012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152281" y="2194544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3180256" y="2073373"/>
            <a:ext cx="10972" cy="10972"/>
          </a:xfrm>
          <a:prstGeom prst="rect">
            <a:avLst/>
          </a:prstGeom>
          <a:solidFill>
            <a:srgbClr val="9A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740914" y="1991105"/>
            <a:ext cx="224028" cy="224028"/>
          </a:xfrm>
          <a:prstGeom prst="ellipse">
            <a:avLst/>
          </a:prstGeom>
          <a:solidFill>
            <a:srgbClr val="1F3864"/>
          </a:solidFill>
          <a:ln w="20320">
            <a:solidFill>
              <a:srgbClr val="FFFFFF"/>
            </a:solidFill>
          </a:ln>
          <a:effectLst>
            <a:outerShdw blurRad="76200" dist="20320" dir="5400000" rotWithShape="0">
              <a:srgbClr val="8A94A6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m₁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2971800" y="2103120"/>
            <a:ext cx="393192" cy="0"/>
          </a:xfrm>
          <a:prstGeom prst="line">
            <a:avLst/>
          </a:prstGeom>
          <a:ln w="3048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3447288" y="1975103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u₁</a:t>
            </a:r>
          </a:p>
        </p:txBody>
      </p:sp>
      <p:sp>
        <p:nvSpPr>
          <p:cNvPr id="116" name="Oval 115"/>
          <p:cNvSpPr/>
          <p:nvPr/>
        </p:nvSpPr>
        <p:spPr>
          <a:xfrm>
            <a:off x="1513478" y="4117086"/>
            <a:ext cx="224028" cy="224028"/>
          </a:xfrm>
          <a:prstGeom prst="ellipse">
            <a:avLst/>
          </a:prstGeom>
          <a:solidFill>
            <a:srgbClr val="0E7C7B"/>
          </a:solidFill>
          <a:ln w="20320">
            <a:solidFill>
              <a:srgbClr val="FFFFFF"/>
            </a:solidFill>
          </a:ln>
          <a:effectLst>
            <a:outerShdw blurRad="76200" dist="20320" dir="5400000" rotWithShape="0">
              <a:srgbClr val="8A94A6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m₂</a:t>
            </a:r>
          </a:p>
        </p:txBody>
      </p:sp>
      <p:cxnSp>
        <p:nvCxnSpPr>
          <p:cNvPr id="117" name="Connector 116"/>
          <p:cNvCxnSpPr/>
          <p:nvPr/>
        </p:nvCxnSpPr>
        <p:spPr>
          <a:xfrm flipH="1" flipV="1">
            <a:off x="1369460" y="3785639"/>
            <a:ext cx="196596" cy="340514"/>
          </a:xfrm>
          <a:prstGeom prst="line">
            <a:avLst/>
          </a:prstGeom>
          <a:ln w="30480">
            <a:solidFill>
              <a:srgbClr val="0E7C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 rot="3600000">
            <a:off x="1136288" y="347548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Cambria Math"/>
                <a:ea typeface="Cambria Math"/>
                <a:cs typeface="Cambria Math"/>
              </a:rPr>
              <a:t>u₂</a:t>
            </a:r>
          </a:p>
        </p:txBody>
      </p:sp>
      <p:sp>
        <p:nvSpPr>
          <p:cNvPr id="119" name="Oval 118"/>
          <p:cNvSpPr/>
          <p:nvPr/>
        </p:nvSpPr>
        <p:spPr>
          <a:xfrm>
            <a:off x="3968349" y="4117086"/>
            <a:ext cx="224028" cy="224028"/>
          </a:xfrm>
          <a:prstGeom prst="ellipse">
            <a:avLst/>
          </a:prstGeom>
          <a:solidFill>
            <a:srgbClr val="2E75B6"/>
          </a:solidFill>
          <a:ln w="20320">
            <a:solidFill>
              <a:srgbClr val="FFFFFF"/>
            </a:solidFill>
          </a:ln>
          <a:effectLst>
            <a:outerShdw blurRad="76200" dist="20320" dir="5400000" rotWithShape="0">
              <a:srgbClr val="8A94A6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m₃</a:t>
            </a:r>
          </a:p>
        </p:txBody>
      </p:sp>
      <p:cxnSp>
        <p:nvCxnSpPr>
          <p:cNvPr id="120" name="Connector 119"/>
          <p:cNvCxnSpPr/>
          <p:nvPr/>
        </p:nvCxnSpPr>
        <p:spPr>
          <a:xfrm flipH="1">
            <a:off x="3824331" y="4332046"/>
            <a:ext cx="196596" cy="340514"/>
          </a:xfrm>
          <a:prstGeom prst="line">
            <a:avLst/>
          </a:prstGeom>
          <a:ln w="30480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 rot="18000000">
            <a:off x="3591159" y="4726679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mbria Math"/>
                <a:ea typeface="Cambria Math"/>
                <a:cs typeface="Cambria Math"/>
              </a:rPr>
              <a:t>u₃</a:t>
            </a:r>
          </a:p>
        </p:txBody>
      </p:sp>
      <p:sp>
        <p:nvSpPr>
          <p:cNvPr id="122" name="Freeform 121"/>
          <p:cNvSpPr/>
          <p:nvPr/>
        </p:nvSpPr>
        <p:spPr>
          <a:xfrm>
            <a:off x="4" y="3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6B768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017520" y="2312517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顺时针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259908" y="25466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6B7688"/>
                </a:solidFill>
                <a:latin typeface="Cambria Math"/>
                <a:ea typeface="Cambria Math"/>
                <a:cs typeface="Cambria Math"/>
              </a:rPr>
              <a:t>k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724911" y="508406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6B7688"/>
                </a:solidFill>
                <a:latin typeface="Cambria Math"/>
                <a:ea typeface="Cambria Math"/>
                <a:cs typeface="Cambria Math"/>
              </a:rPr>
              <a:t>k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189915" y="25466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6B7688"/>
                </a:solidFill>
                <a:latin typeface="Cambria Math"/>
                <a:ea typeface="Cambria Math"/>
                <a:cs typeface="Cambria Math"/>
              </a:rPr>
              <a:t>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77240" y="5742432"/>
            <a:ext cx="4206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规定顺时针方向为正；三质点互成 120°，三条弹簧完全相同，故系统具有 120° 旋转对称性。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440680" y="1298448"/>
            <a:ext cx="6199632" cy="1883664"/>
          </a:xfrm>
          <a:prstGeom prst="roundRect">
            <a:avLst>
              <a:gd name="adj" fmla="val 5825"/>
            </a:avLst>
          </a:prstGeom>
          <a:solidFill>
            <a:srgbClr val="EEF3FB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660136" y="1417319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① 三条弹簧的伸长量（相对原长，即相对平衡位置）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660136" y="1737360"/>
            <a:ext cx="384048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669280" y="1865376"/>
            <a:ext cx="5760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质点 1、2 之间的弹簧：</a:t>
            </a:r>
            <a:r>
              <a:rPr sz="14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Δl₁₂ = u₁ − u₂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质点 2、3 之间的弹簧：</a:t>
            </a:r>
            <a:r>
              <a:rPr sz="14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Δl₂₃ = u₂ − u₃</a:t>
            </a:r>
          </a:p>
          <a:p>
            <a:pPr algn="l"/>
            <a:r>
              <a:rPr sz="14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质点 3、1 之间的弹簧：</a:t>
            </a:r>
            <a:r>
              <a:rPr sz="14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Δl₃₁ = u₃ − u₁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440680" y="3346704"/>
            <a:ext cx="6199632" cy="1371600"/>
          </a:xfrm>
          <a:prstGeom prst="roundRect">
            <a:avLst>
              <a:gd name="adj" fmla="val 8000"/>
            </a:avLst>
          </a:prstGeom>
          <a:solidFill>
            <a:srgbClr val="E5F4F4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660136" y="3465576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② 作用在质点 1 上的两个力（均沿切线方向）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660136" y="3785616"/>
            <a:ext cx="384048" cy="320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669280" y="3895344"/>
            <a:ext cx="57607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来自右侧弹簧：</a:t>
            </a:r>
            <a:r>
              <a:rPr sz="1400" b="0" i="0">
                <a:solidFill>
                  <a:srgbClr val="0E7C7B"/>
                </a:solidFill>
                <a:latin typeface="Cambria Math"/>
                <a:ea typeface="Cambria Math"/>
                <a:cs typeface="Cambria Math"/>
              </a:rPr>
              <a:t>F₂₁ = k(u₂ − u₁)</a:t>
            </a:r>
          </a:p>
          <a:p>
            <a:pPr algn="l"/>
            <a:r>
              <a:rPr sz="14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来自左侧弹簧：</a:t>
            </a:r>
            <a:r>
              <a:rPr sz="1400" b="0" i="0">
                <a:solidFill>
                  <a:srgbClr val="0E7C7B"/>
                </a:solidFill>
                <a:latin typeface="Cambria Math"/>
                <a:ea typeface="Cambria Math"/>
                <a:cs typeface="Cambria Math"/>
              </a:rPr>
              <a:t>F₃₁ = k(u₃ − u₁)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440680" y="4882896"/>
            <a:ext cx="6199632" cy="1371600"/>
          </a:xfrm>
          <a:prstGeom prst="roundRect">
            <a:avLst>
              <a:gd name="adj" fmla="val 8000"/>
            </a:avLst>
          </a:prstGeom>
          <a:solidFill>
            <a:srgbClr val="FDF4E3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660136" y="500176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8010"/>
                </a:solidFill>
                <a:latin typeface="Microsoft YaHei"/>
                <a:ea typeface="Microsoft YaHei"/>
                <a:cs typeface="Microsoft YaHei"/>
              </a:rPr>
              <a:t>③ 三点说明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660136" y="5321808"/>
            <a:ext cx="384048" cy="32004"/>
          </a:xfrm>
          <a:prstGeom prst="rect">
            <a:avLst/>
          </a:prstGeom>
          <a:solidFill>
            <a:srgbClr val="C08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669280" y="5431536"/>
            <a:ext cx="57607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• 位移沿切向，与弧长同量纲，无需小角近似；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• 平衡时各弹簧处于原长，故回复力仅由位移差决定；</a:t>
            </a:r>
          </a:p>
          <a:p>
            <a:pPr algn="l"/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• 位移沿切向，沿法向的重力/弹力分量不产生额外回复项。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48640" y="6419088"/>
            <a:ext cx="11094415" cy="18288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第 17 届 IPhO（1986）题 28 · 前三问详解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424160" y="6492240"/>
            <a:ext cx="1218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685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运动方程（第 1 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59536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对每个质点写牛顿第二定律：m·üₙ = ΣFₙ</a:t>
            </a:r>
          </a:p>
        </p:txBody>
      </p:sp>
      <p:sp>
        <p:nvSpPr>
          <p:cNvPr id="6" name="Oval 5"/>
          <p:cNvSpPr/>
          <p:nvPr/>
        </p:nvSpPr>
        <p:spPr>
          <a:xfrm>
            <a:off x="11356848" y="256032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以第 1 个质点为例：</a:t>
            </a:r>
            <a:r>
              <a:rPr sz="15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m ü₁ = F₂₁ + F₃₁ = k(u₂ − u₁) + k(u₃ − u₁)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10512"/>
            <a:ext cx="11094415" cy="3621024"/>
          </a:xfrm>
          <a:prstGeom prst="roundRect">
            <a:avLst>
              <a:gd name="adj" fmla="val 3030"/>
            </a:avLst>
          </a:prstGeom>
          <a:solidFill>
            <a:srgbClr val="EEF3FB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29384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三个质点的运动方程（耦合线性微分方程组）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" y="2249424"/>
            <a:ext cx="384048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2450592"/>
            <a:ext cx="64008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450592"/>
            <a:ext cx="6035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m ü₁ = k(u₂ + u₃ − 2u₁)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2450592"/>
            <a:ext cx="35661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质点 1 两侧弹簧的合力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3273552"/>
            <a:ext cx="64008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273552"/>
            <a:ext cx="6035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m ü₂ = k(u₃ + u₁ − 2u₂)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3273552"/>
            <a:ext cx="35661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质点 2 两侧弹簧的合力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4096512"/>
            <a:ext cx="64008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2"/>
            <a:ext cx="6035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m ü₃ = k(u₁ + u₂ − 2u₃)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4096512"/>
            <a:ext cx="35661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质点 3 两侧弹簧的合力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96128"/>
            <a:ext cx="11094415" cy="676656"/>
          </a:xfrm>
          <a:prstGeom prst="roundRect">
            <a:avLst>
              <a:gd name="adj" fmla="val 14865"/>
            </a:avLst>
          </a:prstGeom>
          <a:solidFill>
            <a:srgbClr val="FDF4E3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596128"/>
            <a:ext cx="106070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08010"/>
                </a:solidFill>
                <a:latin typeface="Microsoft YaHei"/>
                <a:ea typeface="Microsoft YaHei"/>
                <a:cs typeface="Microsoft YaHei"/>
              </a:rPr>
              <a:t>统一形式：  </a:t>
            </a:r>
            <a:r>
              <a:rPr sz="1550" b="0" i="0">
                <a:solidFill>
                  <a:srgbClr val="243447"/>
                </a:solidFill>
                <a:latin typeface="Cambria Math"/>
                <a:ea typeface="Cambria Math"/>
                <a:cs typeface="Cambria Math"/>
              </a:rPr>
              <a:t>m üₙ = k( uₙ₊₁ + uₙ₋₁ − 2uₙ )</a:t>
            </a:r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      （n = 1, 2, 3；指标按模 3 循环：u₄ ≡ u₁，u₀ ≡ u₃）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19088"/>
            <a:ext cx="11094415" cy="18288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第 17 届 IPhO（1986）题 28 · 前三问详解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92240"/>
            <a:ext cx="1218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685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 2 问：设解与振幅方程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59536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把 uₙ = aₙ cos ωt 代入运动方程组</a:t>
            </a:r>
          </a:p>
        </p:txBody>
      </p:sp>
      <p:sp>
        <p:nvSpPr>
          <p:cNvPr id="6" name="Oval 5"/>
          <p:cNvSpPr/>
          <p:nvPr/>
        </p:nvSpPr>
        <p:spPr>
          <a:xfrm>
            <a:off x="11356848" y="256032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94960" cy="5047488"/>
          </a:xfrm>
          <a:prstGeom prst="roundRect">
            <a:avLst>
              <a:gd name="adj" fmla="val 2174"/>
            </a:avLst>
          </a:prstGeom>
          <a:solidFill>
            <a:srgbClr val="EEF3FB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399031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代入过程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1719072"/>
            <a:ext cx="384048" cy="320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1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设三质点以同一频率作简谐振动：</a:t>
            </a:r>
          </a:p>
          <a:p>
            <a:pPr algn="ctr">
              <a:spcAft>
                <a:spcPts val="1100"/>
              </a:spcAft>
            </a:pPr>
            <a:r>
              <a:rPr sz="14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uₙ = aₙ cos ωt   ⇒   üₙ = −ω²aₙ cos ωt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4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代入 </a:t>
            </a:r>
            <a:r>
              <a:rPr sz="1400" b="0" i="0">
                <a:solidFill>
                  <a:srgbClr val="243447"/>
                </a:solidFill>
                <a:latin typeface="Cambria Math"/>
                <a:ea typeface="Cambria Math"/>
                <a:cs typeface="Cambria Math"/>
              </a:rPr>
              <a:t>m üₙ = k(uₙ₊₁ + uₙ₋₁ − 2uₙ)</a:t>
            </a:r>
            <a:r>
              <a:rPr sz="14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，并消去公共因子 </a:t>
            </a:r>
            <a:r>
              <a:rPr sz="1400" b="0" i="0">
                <a:solidFill>
                  <a:srgbClr val="243447"/>
                </a:solidFill>
                <a:latin typeface="Cambria Math"/>
                <a:ea typeface="Cambria Math"/>
                <a:cs typeface="Cambria Math"/>
              </a:rPr>
              <a:t>cos ωt</a:t>
            </a:r>
            <a:r>
              <a:rPr sz="14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：</a:t>
            </a:r>
          </a:p>
          <a:p>
            <a:pPr algn="ctr">
              <a:spcAft>
                <a:spcPts val="700"/>
              </a:spcAft>
            </a:pPr>
            <a:r>
              <a:rPr sz="15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−mω²aₙ = k(aₙ₊₁ + aₙ₋₁ − 2aₙ)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整理（注意 </a:t>
            </a:r>
            <a:r>
              <a:rPr sz="14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ω₀² = k/m</a:t>
            </a:r>
            <a:r>
              <a:rPr sz="14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）：</a:t>
            </a:r>
          </a:p>
          <a:p>
            <a:pPr algn="ctr">
              <a:spcAft>
                <a:spcPts val="500"/>
              </a:spcAft>
            </a:pPr>
            <a:r>
              <a:rPr sz="14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(3ω₀² − ω²)a₁ = ω₀²(a₂ + a₃)</a:t>
            </a:r>
          </a:p>
          <a:p>
            <a:pPr algn="ctr">
              <a:spcAft>
                <a:spcPts val="500"/>
              </a:spcAft>
            </a:pPr>
            <a:r>
              <a:rPr sz="14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(3ω₀² − ω²)a₂ = ω₀²(a₃ + a₁)</a:t>
            </a:r>
          </a:p>
          <a:p>
            <a:pPr algn="ctr">
              <a:spcAft>
                <a:spcPts val="900"/>
              </a:spcAft>
            </a:pPr>
            <a:r>
              <a:rPr sz="14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(3ω₀² − ω²)a₃ = ω₀²(a₁ + a₂)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记 </a:t>
            </a:r>
            <a:r>
              <a:rPr sz="13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λ = 3ω₀² − ω²</a:t>
            </a:r>
            <a:r>
              <a:rPr sz="13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，即得三阶循环对称的振幅方程组 </a:t>
            </a:r>
            <a:r>
              <a:rPr sz="13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λ aₙ = ω₀²(aₙ₊₁ + aₙ₋₁)</a:t>
            </a:r>
            <a:r>
              <a:rPr sz="13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80160"/>
            <a:ext cx="5468112" cy="5047488"/>
          </a:xfrm>
          <a:prstGeom prst="roundRect">
            <a:avLst>
              <a:gd name="adj" fmla="val 2174"/>
            </a:avLst>
          </a:prstGeom>
          <a:solidFill>
            <a:srgbClr val="E5F4F4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6" y="1399031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有非零解的条件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91656" y="1719072"/>
            <a:ext cx="384048" cy="320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856231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4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要使三质点同时具有非零振幅，系数行列式必须为零：</a:t>
            </a:r>
          </a:p>
          <a:p>
            <a:pPr algn="ctr"/>
            <a:r>
              <a:rPr sz="1500" b="0" i="0">
                <a:solidFill>
                  <a:srgbClr val="0E7C7B"/>
                </a:solidFill>
                <a:latin typeface="Cambria Math"/>
                <a:ea typeface="Cambria Math"/>
                <a:cs typeface="Cambria Math"/>
              </a:rPr>
              <a:t>det ( λI − ω₀²C ) =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3200400"/>
            <a:ext cx="4114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5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λ³ − 3ω₀²λ² = λ²(λ − 3ω₀²) =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31920"/>
            <a:ext cx="4937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特征根：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0E7C7B"/>
                </a:solidFill>
                <a:latin typeface="Cambria Math"/>
                <a:ea typeface="Cambria Math"/>
                <a:cs typeface="Cambria Math"/>
              </a:rPr>
              <a:t>λ₁ = 0 ,    λ₂ = λ₃ = 3ω₀²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3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由 </a:t>
            </a:r>
            <a:r>
              <a:rPr sz="13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λ = 3ω₀² − ω²</a:t>
            </a:r>
            <a:r>
              <a:rPr sz="13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 得 ω 的三个可能取值：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0E7C7B"/>
                </a:solidFill>
                <a:latin typeface="Cambria Math"/>
                <a:ea typeface="Cambria Math"/>
                <a:cs typeface="Cambria Math"/>
              </a:rPr>
              <a:t>ω = 0  或  ω = √3·ω₀（二重根）</a:t>
            </a:r>
          </a:p>
          <a:p>
            <a:pPr algn="l">
              <a:lnSpc>
                <a:spcPct val="132000"/>
              </a:lnSpc>
            </a:pPr>
            <a:r>
              <a:rPr sz="1300" b="1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说明：</a:t>
            </a:r>
            <a:r>
              <a:rPr sz="13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 三个质点的系统只有 3 个自由度，故至多给出 3 个简正频率。ω = 0 对应整体旋转的刚体模式，两个 ω = √3ω₀ 对应内部相对振动。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19088"/>
            <a:ext cx="11094415" cy="18288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第 17 届 IPhO（1986）题 28 · 前三问详解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92240"/>
            <a:ext cx="1218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685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 2 问：三个频率与对应的简正模式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59536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ω₀² = k/m；振幅为相对值，可整体乘任意常数</a:t>
            </a:r>
          </a:p>
        </p:txBody>
      </p:sp>
      <p:sp>
        <p:nvSpPr>
          <p:cNvPr id="6" name="Oval 5"/>
          <p:cNvSpPr/>
          <p:nvPr/>
        </p:nvSpPr>
        <p:spPr>
          <a:xfrm>
            <a:off x="11356848" y="256032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35024"/>
            <a:ext cx="3575304" cy="4443984"/>
          </a:xfrm>
          <a:prstGeom prst="roundRect">
            <a:avLst>
              <a:gd name="adj" fmla="val 3581"/>
            </a:avLst>
          </a:prstGeom>
          <a:solidFill>
            <a:srgbClr val="EEF3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35024"/>
            <a:ext cx="3575304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91056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ω₁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39696"/>
            <a:ext cx="32095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6B7688"/>
                </a:solidFill>
                <a:latin typeface="Cambria Math"/>
                <a:ea typeface="Cambria Math"/>
                <a:cs typeface="Cambria Math"/>
              </a:rPr>
              <a:t>λ₁ =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542032"/>
            <a:ext cx="2660904" cy="18288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688336"/>
            <a:ext cx="317296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振幅关系</a:t>
            </a:r>
          </a:p>
          <a:p>
            <a:pPr algn="ctr"/>
            <a:r>
              <a:rPr sz="1550" b="0" i="0">
                <a:solidFill>
                  <a:srgbClr val="243447"/>
                </a:solidFill>
                <a:latin typeface="Cambria Math"/>
                <a:ea typeface="Cambria Math"/>
                <a:cs typeface="Cambria Math"/>
              </a:rPr>
              <a:t>a₁ = a₂ = a₃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419856"/>
            <a:ext cx="309981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三质点等振幅同相地“整体绕行”。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弹簧长度始终不变：无弹性势能，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无回复力，周期无限长。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物理名称：刚体（整体）旋转模式。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4" y="1335024"/>
            <a:ext cx="3575304" cy="4443984"/>
          </a:xfrm>
          <a:prstGeom prst="roundRect">
            <a:avLst>
              <a:gd name="adj" fmla="val 3581"/>
            </a:avLst>
          </a:prstGeom>
          <a:solidFill>
            <a:srgbClr val="E5F4F4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6824" y="1335024"/>
            <a:ext cx="3575304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1591056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 i="0">
                <a:solidFill>
                  <a:srgbClr val="0E7C7B"/>
                </a:solidFill>
                <a:latin typeface="Cambria Math"/>
                <a:ea typeface="Cambria Math"/>
                <a:cs typeface="Cambria Math"/>
              </a:rPr>
              <a:t>ω₂ = √3·ω₀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139696"/>
            <a:ext cx="32095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6B7688"/>
                </a:solidFill>
                <a:latin typeface="Cambria Math"/>
                <a:ea typeface="Cambria Math"/>
                <a:cs typeface="Cambria Math"/>
              </a:rPr>
              <a:t>λ₂ = 3ω₀²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64024" y="2542032"/>
            <a:ext cx="2660904" cy="18288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2688336"/>
            <a:ext cx="317296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振幅关系</a:t>
            </a:r>
          </a:p>
          <a:p>
            <a:pPr algn="ctr"/>
            <a:r>
              <a:rPr sz="1550" b="0" i="0">
                <a:solidFill>
                  <a:srgbClr val="243447"/>
                </a:solidFill>
                <a:latin typeface="Cambria Math"/>
                <a:ea typeface="Cambria Math"/>
                <a:cs typeface="Cambria Math"/>
              </a:rPr>
              <a:t>a₁ + a₂ + a₃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419856"/>
            <a:ext cx="309981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可取 (a₁, a₂, a₃) = (2, −1, −1)：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质点 1 与质点 2、3 反相振动，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三质点质心位置始终不变。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物理名称：两两反相的相对振动。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5008" y="1335024"/>
            <a:ext cx="3575304" cy="4443984"/>
          </a:xfrm>
          <a:prstGeom prst="roundRect">
            <a:avLst>
              <a:gd name="adj" fmla="val 3581"/>
            </a:avLst>
          </a:prstGeom>
          <a:solidFill>
            <a:srgbClr val="E8F0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5008" y="1335024"/>
            <a:ext cx="3575304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1591056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 i="0">
                <a:solidFill>
                  <a:srgbClr val="2E75B6"/>
                </a:solidFill>
                <a:latin typeface="Cambria Math"/>
                <a:ea typeface="Cambria Math"/>
                <a:cs typeface="Cambria Math"/>
              </a:rPr>
              <a:t>ω₃ = √3·ω₀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139696"/>
            <a:ext cx="32095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6B7688"/>
                </a:solidFill>
                <a:latin typeface="Cambria Math"/>
                <a:ea typeface="Cambria Math"/>
                <a:cs typeface="Cambria Math"/>
              </a:rPr>
              <a:t>λ₃ = 3ω₀²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22208" y="2542032"/>
            <a:ext cx="2660904" cy="18288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6" y="2688336"/>
            <a:ext cx="317296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振幅关系</a:t>
            </a:r>
          </a:p>
          <a:p>
            <a:pPr algn="ctr"/>
            <a:r>
              <a:rPr sz="1550" b="0" i="0">
                <a:solidFill>
                  <a:srgbClr val="243447"/>
                </a:solidFill>
                <a:latin typeface="Cambria Math"/>
                <a:ea typeface="Cambria Math"/>
                <a:cs typeface="Cambria Math"/>
              </a:rPr>
              <a:t>a₁ + a₂ + a₃ =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3419856"/>
            <a:ext cx="309981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与上一模式同频且线性无关：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可取 (a₁, a₂, a₃) = (0, 1, −1)：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质点 1 静止，质点 2、3 反相振动。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两者叠加给出 ω = √3ω₀ 的一般解。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19088"/>
            <a:ext cx="11094415" cy="18288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第 17 届 IPhO（1986）题 28 · 前三问详解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92240"/>
            <a:ext cx="1218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685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 2 问：三种简谐解的验证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59536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逐一代入 m üₙ = k(uₙ₊₁ + uₙ₋₁ − 2uₙ)</a:t>
            </a:r>
          </a:p>
        </p:txBody>
      </p:sp>
      <p:sp>
        <p:nvSpPr>
          <p:cNvPr id="6" name="Oval 5"/>
          <p:cNvSpPr/>
          <p:nvPr/>
        </p:nvSpPr>
        <p:spPr>
          <a:xfrm>
            <a:off x="11356848" y="256032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94415" cy="1481328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82296" cy="14813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411480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(A)  </a:t>
            </a:r>
            <a:r>
              <a:rPr sz="1500" b="1" i="0">
                <a:solidFill>
                  <a:srgbClr val="2E7D32"/>
                </a:solidFill>
                <a:latin typeface="Cambria Math"/>
                <a:ea typeface="Cambria Math"/>
                <a:cs typeface="Cambria Math"/>
              </a:rPr>
              <a:t>a(1, 1, 1),   ω = 0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取解：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3447"/>
                </a:solidFill>
                <a:latin typeface="Cambria Math"/>
                <a:ea typeface="Cambria Math"/>
                <a:cs typeface="Cambria Math"/>
              </a:rPr>
              <a:t>u₁ = u₂ = u₃ = a（常量）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517904"/>
            <a:ext cx="644652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代入运动方程右侧（左边为 m üₙ，注意 ω² = 3ω₀²）：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3447"/>
                </a:solidFill>
                <a:latin typeface="Cambria Math"/>
                <a:ea typeface="Cambria Math"/>
                <a:cs typeface="Cambria Math"/>
              </a:rPr>
              <a:t>k(u₂ + u₃ − 2u₁) = k(a + a − 2a) = 0（三式两边均恒等）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07791"/>
            <a:ext cx="11094415" cy="1481328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07791"/>
            <a:ext cx="82296" cy="14813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054096"/>
            <a:ext cx="411480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(B)  </a:t>
            </a:r>
            <a:r>
              <a:rPr sz="1500" b="1" i="0">
                <a:solidFill>
                  <a:srgbClr val="2E7D32"/>
                </a:solidFill>
                <a:latin typeface="Cambria Math"/>
                <a:ea typeface="Cambria Math"/>
                <a:cs typeface="Cambria Math"/>
              </a:rPr>
              <a:t>a(2, −1, −1),   ω = √3·ω₀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取解：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3447"/>
                </a:solidFill>
                <a:latin typeface="Cambria Math"/>
                <a:ea typeface="Cambria Math"/>
                <a:cs typeface="Cambria Math"/>
              </a:rPr>
              <a:t>ü₁ = −3ω₀²u₁ ；  ü₂ = −3ω₀²u₂ ；  ü₃ = −3ω₀²u₃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054096"/>
            <a:ext cx="644652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代入运动方程右侧（左边为 m üₙ，注意 ω² = 3ω₀²）：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3447"/>
                </a:solidFill>
                <a:latin typeface="Cambria Math"/>
                <a:ea typeface="Cambria Math"/>
                <a:cs typeface="Cambria Math"/>
              </a:rPr>
              <a:t>k(u₂ + u₃ − 2u₁) = k(−a − a − 2a) = −3ω₀²u₁（其余两式同理）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43983"/>
            <a:ext cx="11094415" cy="1481328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443983"/>
            <a:ext cx="82296" cy="14813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590288"/>
            <a:ext cx="411480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(C)  </a:t>
            </a:r>
            <a:r>
              <a:rPr sz="1500" b="1" i="0">
                <a:solidFill>
                  <a:srgbClr val="2E7D32"/>
                </a:solidFill>
                <a:latin typeface="Cambria Math"/>
                <a:ea typeface="Cambria Math"/>
                <a:cs typeface="Cambria Math"/>
              </a:rPr>
              <a:t>a(0, 1, −1),   ω = √3·ω₀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取解：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3447"/>
                </a:solidFill>
                <a:latin typeface="Cambria Math"/>
                <a:ea typeface="Cambria Math"/>
                <a:cs typeface="Cambria Math"/>
              </a:rPr>
              <a:t>ü₁ = 0 ；  ü₂ = 3ω₀²a cos ωt ；  ü₃ = −3ω₀²a cos ωt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590288"/>
            <a:ext cx="644652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代入运动方程右侧（左边为 m üₙ，注意 ω² = 3ω₀²）：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43447"/>
                </a:solidFill>
                <a:latin typeface="Cambria Math"/>
                <a:ea typeface="Cambria Math"/>
                <a:cs typeface="Cambria Math"/>
              </a:rPr>
              <a:t>k(u₃ + u₁ − 2u₂) = −3ω₀²u₂ ；  k(u₁ + u₂ − 2u₃) = −3ω₀²u₃ ；  第一式两边均为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1675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三种解的方程两边恒等成立，故 </a:t>
            </a:r>
            <a:r>
              <a:rPr sz="12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uₙ = aₙ cos ωt</a:t>
            </a:r>
            <a:r>
              <a:rPr sz="12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 在 ω = 0、√3ω₀、√3ω₀ 三个取值下确为系统的简谐式解，第 2 问得证。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19088"/>
            <a:ext cx="11094415" cy="18288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第 17 届 IPhO（1986）题 28 · 前三问详解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92240"/>
            <a:ext cx="1218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685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 3 问：推广到 N 个质点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59536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位移表示的运动方程与待验证的振荡解</a:t>
            </a:r>
          </a:p>
        </p:txBody>
      </p:sp>
      <p:sp>
        <p:nvSpPr>
          <p:cNvPr id="6" name="Oval 5"/>
          <p:cNvSpPr/>
          <p:nvPr/>
        </p:nvSpPr>
        <p:spPr>
          <a:xfrm>
            <a:off x="11356848" y="256032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11094415" cy="2212848"/>
          </a:xfrm>
          <a:prstGeom prst="roundRect">
            <a:avLst>
              <a:gd name="adj" fmla="val 4959"/>
            </a:avLst>
          </a:prstGeom>
          <a:solidFill>
            <a:srgbClr val="EEF3FB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417319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题设：用第 n 个质点的位移与相邻质点位移写出运动方程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1737360"/>
            <a:ext cx="384048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847088"/>
            <a:ext cx="10607040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推广：</a:t>
            </a:r>
            <a:r>
              <a:rPr sz="13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N 个质量 m 与 N 条相同弹簧交替连接成闭合环链，平衡时弹簧均为原长。设第 n 个质点的切向位移为 </a:t>
            </a:r>
            <a:r>
              <a:rPr sz="13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uₙ</a:t>
            </a:r>
            <a:r>
              <a:rPr sz="13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，它只与相邻的 </a:t>
            </a:r>
            <a:r>
              <a:rPr sz="13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uₙ₋₁</a:t>
            </a:r>
            <a:r>
              <a:rPr sz="13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3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uₙ₊₁</a:t>
            </a:r>
            <a:r>
              <a:rPr sz="13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 耦合，于是</a:t>
            </a:r>
          </a:p>
          <a:p>
            <a:pPr algn="ctr">
              <a:spcAft>
                <a:spcPts val="900"/>
              </a:spcAft>
            </a:pPr>
            <a:r>
              <a:rPr sz="16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m üₙ = k( uₙ₊₁ + uₙ₋₁ − 2uₙ )        (n = 1, 2, ⋯, N)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待验证的振荡解（</a:t>
            </a:r>
            <a:r>
              <a:rPr sz="13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a_s</a:t>
            </a:r>
            <a:r>
              <a:rPr sz="14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 与 n 无关，φ 为任意相位）：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uₙ(t) = a_s sin( 2nsπ/N + φ ) cos ωₛ t ,      ωₛ = 2ω₀ sin( sπ/N 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75887"/>
            <a:ext cx="11094415" cy="2578608"/>
          </a:xfrm>
          <a:prstGeom prst="roundRect">
            <a:avLst>
              <a:gd name="adj" fmla="val 4255"/>
            </a:avLst>
          </a:prstGeom>
          <a:solidFill>
            <a:srgbClr val="E5F4F4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3794759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两个关键要点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4114800"/>
            <a:ext cx="384048" cy="320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4983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① 方程中出现的是离散二阶差分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第 n 个质点的合力只依赖 </a:t>
            </a:r>
            <a:r>
              <a:rPr sz="13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uₙ₊₁ + uₙ₋₁ − 2uₙ</a:t>
            </a: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，这正是弦/链上波动的标准形式：位移的二阶空间差分。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279392"/>
            <a:ext cx="5074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② 环状闭合 ⇒ 周期边界条件</a:t>
            </a: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第 N 个质点与第 1 个质点相邻，指标按模 N 循环：</a:t>
            </a:r>
          </a:p>
          <a:p>
            <a:pPr algn="ctr">
              <a:spcAft>
                <a:spcPts val="500"/>
              </a:spcAft>
            </a:pPr>
            <a:r>
              <a:rPr sz="13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u_{n+N} = uₙ  ⇒  u₀ ≡ u_N ,  u_{N+1} ≡ u₁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它使正弦解自动满足边界，并把模式序号限制为 </a:t>
            </a:r>
            <a:r>
              <a:rPr sz="13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s = 1, 2, ⋯, N</a:t>
            </a: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 共 N 个。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19088"/>
            <a:ext cx="11094415" cy="18288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第 17 届 IPhO（1986）题 28 · 前三问详解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92240"/>
            <a:ext cx="1218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685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 3 问：振荡解的验证与色散关系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59536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核心是一个三角恒等式</a:t>
            </a:r>
          </a:p>
        </p:txBody>
      </p:sp>
      <p:sp>
        <p:nvSpPr>
          <p:cNvPr id="6" name="Oval 5"/>
          <p:cNvSpPr/>
          <p:nvPr/>
        </p:nvSpPr>
        <p:spPr>
          <a:xfrm>
            <a:off x="11356848" y="256032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806440" cy="5047488"/>
          </a:xfrm>
          <a:prstGeom prst="roundRect">
            <a:avLst>
              <a:gd name="adj" fmla="val 2174"/>
            </a:avLst>
          </a:prstGeom>
          <a:solidFill>
            <a:srgbClr val="EEF3FB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399031"/>
            <a:ext cx="53675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① 计算离散二阶差分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1719072"/>
            <a:ext cx="384048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1"/>
            <a:ext cx="52578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3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令 </a:t>
            </a:r>
            <a:r>
              <a:rPr sz="13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θ = 2sπ/N</a:t>
            </a:r>
            <a:r>
              <a:rPr sz="13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，则 </a:t>
            </a:r>
            <a:r>
              <a:rPr sz="13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uₙ ∝ sin(nθ + φ)</a:t>
            </a:r>
            <a:r>
              <a:rPr sz="13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。由正弦的和差化积：</a:t>
            </a:r>
          </a:p>
          <a:p>
            <a:pPr algn="ctr">
              <a:lnSpc>
                <a:spcPct val="128000"/>
              </a:lnSpc>
              <a:spcAft>
                <a:spcPts val="1000"/>
              </a:spcAft>
            </a:pPr>
            <a:r>
              <a:rPr sz="1300" b="0" i="0">
                <a:solidFill>
                  <a:srgbClr val="243447"/>
                </a:solidFill>
                <a:latin typeface="Cambria Math"/>
                <a:ea typeface="Cambria Math"/>
                <a:cs typeface="Cambria Math"/>
              </a:rPr>
              <a:t>sin[(n+1)θ + φ] + sin[(n−1)θ + φ] = 2 sin(nθ + φ) cos θ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于是</a:t>
            </a:r>
          </a:p>
          <a:p>
            <a:pPr algn="ctr">
              <a:spcAft>
                <a:spcPts val="500"/>
              </a:spcAft>
            </a:pPr>
            <a:r>
              <a:rPr sz="14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uₙ₊₁ + uₙ₋₁ − 2uₙ = (2cos θ − 2) uₙ</a:t>
            </a:r>
          </a:p>
          <a:p>
            <a:pPr algn="ctr">
              <a:spcAft>
                <a:spcPts val="1000"/>
              </a:spcAft>
            </a:pPr>
            <a:r>
              <a:rPr sz="14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= −4 sin²(θ/2) · uₙ = −4 sin²(sπ/N) · uₙ</a:t>
            </a:r>
          </a:p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② 代入运动方程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243447"/>
                </a:solidFill>
                <a:latin typeface="Cambria Math"/>
                <a:ea typeface="Cambria Math"/>
                <a:cs typeface="Cambria Math"/>
              </a:rPr>
              <a:t>m üₙ = k( uₙ₊₁ + uₙ₋₁ − 2uₙ )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− m ωₛ² uₙ = − 4k sin²(sπ/N) uₙ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280160"/>
            <a:ext cx="5102352" cy="5047488"/>
          </a:xfrm>
          <a:prstGeom prst="roundRect">
            <a:avLst>
              <a:gd name="adj" fmla="val 2174"/>
            </a:avLst>
          </a:prstGeom>
          <a:solidFill>
            <a:srgbClr val="E5F4F4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57416" y="1399031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③ 得到色散关系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57416" y="1719072"/>
            <a:ext cx="384048" cy="320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856231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对任意 n 恒成立（</a:t>
            </a:r>
            <a:r>
              <a:rPr sz="135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uₙ ≠ 0</a:t>
            </a:r>
            <a:r>
              <a:rPr sz="13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）要求：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468880"/>
            <a:ext cx="4480560" cy="585216"/>
          </a:xfrm>
          <a:prstGeom prst="roundRect">
            <a:avLst>
              <a:gd name="adj" fmla="val 14062"/>
            </a:avLst>
          </a:prstGeom>
          <a:solidFill>
            <a:srgbClr val="FFFFFF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650">
                <a:solidFill>
                  <a:srgbClr val="0E7C7B"/>
                </a:solidFill>
                <a:latin typeface="Cambria Math"/>
                <a:ea typeface="Cambria Math"/>
                <a:cs typeface="Cambria Math"/>
              </a:rPr>
              <a:t>ωₛ² = 4ω₀² sin²( sπ/N 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236976"/>
            <a:ext cx="4480560" cy="585216"/>
          </a:xfrm>
          <a:prstGeom prst="roundRect">
            <a:avLst>
              <a:gd name="adj" fmla="val 14062"/>
            </a:avLst>
          </a:prstGeom>
          <a:solidFill>
            <a:srgbClr val="FFFFFF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650">
                <a:solidFill>
                  <a:srgbClr val="0E7C7B"/>
                </a:solidFill>
                <a:latin typeface="Cambria Math"/>
                <a:ea typeface="Cambria Math"/>
                <a:cs typeface="Cambria Math"/>
              </a:rPr>
              <a:t>ωₛ = 2ω₀ sin( sπ/N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02336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结论：</a:t>
            </a: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所给正弦行波解确为运动方程的振荡解，其频率由上式确定。</a:t>
            </a: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3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s</a:t>
            </a: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 为模式序号（波数指标），</a:t>
            </a:r>
            <a:r>
              <a:rPr sz="13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a_s</a:t>
            </a: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 由初始条件决定；</a:t>
            </a: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3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sin(sπ/N)</a:t>
            </a: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 对 </a:t>
            </a:r>
            <a:r>
              <a:rPr sz="13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s</a:t>
            </a: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 与 </a:t>
            </a:r>
            <a:r>
              <a:rPr sz="13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N − s</a:t>
            </a: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 相同 ⇒ 模式成对简并；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3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s = N</a:t>
            </a: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 时 </a:t>
            </a:r>
            <a:r>
              <a:rPr sz="13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ω_N = 2ω₀ sin π = 0</a:t>
            </a: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，即整体旋转的刚体模式。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19088"/>
            <a:ext cx="11094415" cy="18288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第 17 届 IPhO（1986）题 28 · 前三问详解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92240"/>
            <a:ext cx="1218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685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第 3 问：无穷多质点链条的频率范围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59536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两种极限与连续谱</a:t>
            </a:r>
          </a:p>
        </p:txBody>
      </p:sp>
      <p:sp>
        <p:nvSpPr>
          <p:cNvPr id="6" name="Oval 5"/>
          <p:cNvSpPr/>
          <p:nvPr/>
        </p:nvSpPr>
        <p:spPr>
          <a:xfrm>
            <a:off x="11356848" y="256032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EEF3FB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399031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低频极限：长波（声学支）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1719072"/>
            <a:ext cx="384048" cy="320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56231"/>
            <a:ext cx="4892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sπ/N ≪ 1   ⇒   ωₛ ≈ 2ω₀ · sπ/N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频率近似与波数成正比，色散曲线近似为直线，正是连续弦上声波的线性色散：波长远大于弹簧间距时，链可视为连续弦。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28016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DF4E3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399031"/>
            <a:ext cx="5047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8010"/>
                </a:solidFill>
                <a:latin typeface="Microsoft YaHei"/>
                <a:ea typeface="Microsoft YaHei"/>
                <a:cs typeface="Microsoft YaHei"/>
              </a:rPr>
              <a:t>高频极限：最短波长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3368" y="1719072"/>
            <a:ext cx="384048" cy="32004"/>
          </a:xfrm>
          <a:prstGeom prst="rect">
            <a:avLst/>
          </a:prstGeom>
          <a:solidFill>
            <a:srgbClr val="C08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856231"/>
            <a:ext cx="4983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C08010"/>
                </a:solidFill>
                <a:latin typeface="Cambria Math"/>
                <a:ea typeface="Cambria Math"/>
                <a:cs typeface="Cambria Math"/>
              </a:rPr>
              <a:t>s = N/2（N 为偶数）  ⇒   ω = ω_max = 2ω₀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相邻质点反相振动，弹簧形变最剧烈，频率达到上限：在离散链条上不存在比“相邻质点反相”更短的波长。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39"/>
            <a:ext cx="11094415" cy="2505456"/>
          </a:xfrm>
          <a:prstGeom prst="roundRect">
            <a:avLst>
              <a:gd name="adj" fmla="val 4380"/>
            </a:avLst>
          </a:prstGeom>
          <a:solidFill>
            <a:srgbClr val="E5F4F4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867911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极限 N → ∞：频率连续填充整个区间，不存在频率禁带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187952"/>
            <a:ext cx="384048" cy="320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70832"/>
            <a:ext cx="5394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4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当 </a:t>
            </a:r>
            <a:r>
              <a:rPr sz="14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N → ∞</a:t>
            </a:r>
            <a:r>
              <a:rPr sz="14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 时，</a:t>
            </a:r>
            <a:r>
              <a:rPr sz="14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sπ/N</a:t>
            </a:r>
            <a:r>
              <a:rPr sz="14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 可在 </a:t>
            </a:r>
            <a:r>
              <a:rPr sz="14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(0, π]</a:t>
            </a:r>
            <a:r>
              <a:rPr sz="14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 内取任意值，故</a:t>
            </a:r>
          </a:p>
          <a:p>
            <a:pPr algn="ctr">
              <a:spcAft>
                <a:spcPts val="900"/>
              </a:spcAft>
            </a:pPr>
            <a:r>
              <a:rPr sz="1500" b="0" i="0">
                <a:solidFill>
                  <a:srgbClr val="0E7C7B"/>
                </a:solidFill>
                <a:latin typeface="Cambria Math"/>
                <a:ea typeface="Cambria Math"/>
                <a:cs typeface="Cambria Math"/>
              </a:rPr>
              <a:t>ω_min = 0 ,    ω_max = 2ω₀ = 2√(k/m)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370832"/>
            <a:ext cx="4983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有限 N 时频率是离散的，随 N 增大而不断加密；极限下间隔趋于 0，成为连续谱。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结论：含无穷多质点的链条，其频率可能范围为 </a:t>
            </a:r>
            <a:r>
              <a:rPr sz="1500" b="1" i="0">
                <a:solidFill>
                  <a:srgbClr val="0E7C7B"/>
                </a:solidFill>
                <a:latin typeface="Cambria Math"/>
                <a:ea typeface="Cambria Math"/>
                <a:cs typeface="Cambria Math"/>
              </a:rPr>
              <a:t>0 ⩽ ω ⩽ 2ω₀</a:t>
            </a: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 的连续谱；不存在高于 </a:t>
            </a:r>
            <a:r>
              <a:rPr sz="1300" b="0" i="0">
                <a:solidFill>
                  <a:srgbClr val="1F3864"/>
                </a:solidFill>
                <a:latin typeface="Cambria Math"/>
                <a:ea typeface="Cambria Math"/>
                <a:cs typeface="Cambria Math"/>
              </a:rPr>
              <a:t>2ω₀</a:t>
            </a: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 的振荡模式。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19088"/>
            <a:ext cx="11094415" cy="18288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第 17 届 IPhO（1986）题 28 · 前三问详解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92240"/>
            <a:ext cx="1218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685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前三问结果汇总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59536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一页读懂：从三个质点到无穷长链条</a:t>
            </a:r>
          </a:p>
        </p:txBody>
      </p:sp>
      <p:sp>
        <p:nvSpPr>
          <p:cNvPr id="6" name="Oval 5"/>
          <p:cNvSpPr/>
          <p:nvPr/>
        </p:nvSpPr>
        <p:spPr>
          <a:xfrm>
            <a:off x="11356848" y="256032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11094415" cy="1938528"/>
          </a:xfrm>
          <a:prstGeom prst="roundRect">
            <a:avLst>
              <a:gd name="adj" fmla="val 6604"/>
            </a:avLst>
          </a:prstGeom>
          <a:solidFill>
            <a:srgbClr val="EEF3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463040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463040"/>
            <a:ext cx="8046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1810512"/>
            <a:ext cx="10515600" cy="18288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95681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第 1 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56816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43447"/>
                </a:solidFill>
                <a:latin typeface="Cambria Math"/>
                <a:ea typeface="Cambria Math"/>
                <a:cs typeface="Cambria Math"/>
              </a:rPr>
              <a:t>m üₙ = k( uₙ₊₁ + uₙ₋₁ − 2uₙ )，n = 1, 2, 3（指标按模 3 循环）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36829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第 2 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368296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43447"/>
                </a:solidFill>
                <a:latin typeface="Cambria Math"/>
                <a:ea typeface="Cambria Math"/>
                <a:cs typeface="Cambria Math"/>
              </a:rPr>
              <a:t>ω = 0、√3ω₀、√3ω₀；振幅关系 a₁ = a₂ = a₃ 与 a₁ + a₂ + a₃ =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7977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第 3 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779776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43447"/>
                </a:solidFill>
                <a:latin typeface="Cambria Math"/>
                <a:ea typeface="Cambria Math"/>
                <a:cs typeface="Cambria Math"/>
              </a:rPr>
              <a:t>ωₛ = 2ω₀ sin( sπ/N )；N → ∞ 时频率范围为连续谱 0 ⩽ ω ⩽ 2ω₀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01568"/>
            <a:ext cx="5394960" cy="2852928"/>
          </a:xfrm>
          <a:prstGeom prst="roundRect">
            <a:avLst>
              <a:gd name="adj" fmla="val 3846"/>
            </a:avLst>
          </a:prstGeom>
          <a:solidFill>
            <a:srgbClr val="E5F4F4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520440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方法脉络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3840480"/>
            <a:ext cx="384048" cy="320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86784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1. 胡克定律：每个质点的合力只依赖相邻位移差；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2. 牛顿第二定律：得到耦合线性方程组（二阶差分形式）；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3. 设简谐解 uₙ = aₙ cos ωt：化为振幅齐次方程组；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4. 行列式为零：求特征根，得简正频率与模式；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5. 三角和差化积：得色散关系，进而得频率范围。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3912" y="3401568"/>
            <a:ext cx="5486400" cy="2852928"/>
          </a:xfrm>
          <a:prstGeom prst="roundRect">
            <a:avLst>
              <a:gd name="adj" fmla="val 3846"/>
            </a:avLst>
          </a:prstGeom>
          <a:solidFill>
            <a:srgbClr val="FDF4E3"/>
          </a:solidFill>
          <a:ln w="1143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520440"/>
            <a:ext cx="5047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8010"/>
                </a:solidFill>
                <a:latin typeface="Microsoft YaHei"/>
                <a:ea typeface="Microsoft YaHei"/>
                <a:cs typeface="Microsoft YaHei"/>
              </a:rPr>
              <a:t>两点物理理解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3368" y="3840480"/>
            <a:ext cx="384048" cy="32004"/>
          </a:xfrm>
          <a:prstGeom prst="rect">
            <a:avLst/>
          </a:prstGeom>
          <a:solidFill>
            <a:srgbClr val="C08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986784"/>
            <a:ext cx="4937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1000"/>
              </a:spcAft>
            </a:pPr>
            <a:r>
              <a:rPr sz="1300" b="1" i="0">
                <a:solidFill>
                  <a:srgbClr val="C08010"/>
                </a:solidFill>
                <a:latin typeface="Microsoft YaHei"/>
                <a:ea typeface="Microsoft YaHei"/>
                <a:cs typeface="Microsoft YaHei"/>
              </a:rPr>
              <a:t>• ω = 0 的“振动”：</a:t>
            </a: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三质点同步整体旋转，弹簧不形变，弹性能与动能均不变，故无回复力、不成振荡。</a:t>
            </a:r>
          </a:p>
          <a:p>
            <a:pPr algn="l">
              <a:lnSpc>
                <a:spcPct val="132000"/>
              </a:lnSpc>
            </a:pPr>
            <a:r>
              <a:rPr sz="1300" b="1" i="0">
                <a:solidFill>
                  <a:srgbClr val="C08010"/>
                </a:solidFill>
                <a:latin typeface="Microsoft YaHei"/>
                <a:ea typeface="Microsoft YaHei"/>
                <a:cs typeface="Microsoft YaHei"/>
              </a:rPr>
              <a:t>• 频率上限的物理原因：</a:t>
            </a:r>
            <a:r>
              <a:rPr sz="13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离散链条的最短波长为两个质点间距，更短的波长无法表示，因此 ω 不可能超过 2ω₀。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419088"/>
            <a:ext cx="11094415" cy="18288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第 17 届 IPhO（1986）题 28 · 前三问详解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92240"/>
            <a:ext cx="1218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9184"/>
            <a:ext cx="685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关键结论一览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59536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可直接引用的三组答案</a:t>
            </a:r>
          </a:p>
        </p:txBody>
      </p:sp>
      <p:sp>
        <p:nvSpPr>
          <p:cNvPr id="6" name="Oval 5"/>
          <p:cNvSpPr/>
          <p:nvPr/>
        </p:nvSpPr>
        <p:spPr>
          <a:xfrm>
            <a:off x="11356848" y="256032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75304" cy="32004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575304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55648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三个质点的简正频率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377440"/>
            <a:ext cx="2478024" cy="18288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800" b="1" i="0">
                <a:solidFill>
                  <a:srgbClr val="243447"/>
                </a:solidFill>
                <a:latin typeface="Cambria Math"/>
                <a:ea typeface="Cambria Math"/>
                <a:cs typeface="Cambria Math"/>
              </a:rPr>
              <a:t>ω = 0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800" b="1" i="0">
                <a:solidFill>
                  <a:srgbClr val="243447"/>
                </a:solidFill>
                <a:latin typeface="Cambria Math"/>
                <a:ea typeface="Cambria Math"/>
                <a:cs typeface="Cambria Math"/>
              </a:rPr>
              <a:t>ω = √3ω₀（二重）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3118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ω₀² = k/m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1463040"/>
            <a:ext cx="3575304" cy="3200400"/>
          </a:xfrm>
          <a:prstGeom prst="roundRect">
            <a:avLst>
              <a:gd name="adj" fmla="val 4000"/>
            </a:avLst>
          </a:prstGeom>
          <a:solidFill>
            <a:srgbClr val="E5F4F4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6824" y="1463040"/>
            <a:ext cx="3575304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755648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N 个质点的色散关系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55464" y="2377440"/>
            <a:ext cx="2478024" cy="18288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578608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800" b="1" i="0">
                <a:solidFill>
                  <a:srgbClr val="243447"/>
                </a:solidFill>
                <a:latin typeface="Cambria Math"/>
                <a:ea typeface="Cambria Math"/>
                <a:cs typeface="Cambria Math"/>
              </a:rPr>
              <a:t>ωₛ = 2ω₀ sin( sπ/N 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4114800"/>
            <a:ext cx="3118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s = 1, 2, ⋯, 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1463040"/>
            <a:ext cx="3575304" cy="32004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8" y="1463040"/>
            <a:ext cx="3575304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755648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无穷长链条的频率范围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13648" y="2377440"/>
            <a:ext cx="2478024" cy="18288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2578608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800" b="1" i="0">
                <a:solidFill>
                  <a:srgbClr val="243447"/>
                </a:solidFill>
                <a:latin typeface="Cambria Math"/>
                <a:ea typeface="Cambria Math"/>
                <a:cs typeface="Cambria Math"/>
              </a:rPr>
              <a:t>0 ⩽ ω ⩽ 2ω₀（连续谱）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4114800"/>
            <a:ext cx="3118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无频率禁带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82896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65776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1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资料来源：</a:t>
            </a:r>
            <a:r>
              <a:rPr sz="12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《物理学难题集萃》（上册）第七章 振动与波动，题 28（力图 7.28.1）；原题为 1986 年第 17 届国际中学生物理奥林匹克竞赛（IPhO）试题。本讲仅含第 1、2、3 问。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方法定位：</a:t>
            </a:r>
            <a:r>
              <a:rPr sz="1200" b="0" i="0">
                <a:solidFill>
                  <a:srgbClr val="243447"/>
                </a:solidFill>
                <a:latin typeface="Microsoft YaHei"/>
                <a:ea typeface="Microsoft YaHei"/>
                <a:cs typeface="Microsoft YaHei"/>
              </a:rPr>
              <a:t>一维离散晶格振动的标准模型——运动方程是离散二阶差分，简正模式为驻波，色散关系 ω(k) = 2ω₀|sin(ka/2)|（a 为质点间距）。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19088"/>
            <a:ext cx="11094415" cy="18288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第 17 届 IPhO（1986）题 28 · 前三问详解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92240"/>
            <a:ext cx="1218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68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