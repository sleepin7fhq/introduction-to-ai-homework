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1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0E3F8C', flexDirection: 'column', alignItems: 'center', justifyContent: 'center', position: 'relative', padding: 60 }}&gt;&#10;    &lt;Box style={{ position: 'absolute', top: 46, right: 56, width: 220, height: 220, borderRadius: 110, border: '2px solid rgba(232,239,248,0.18)' }} /&gt;&#10;    &lt;Box style={{ position: 'absolute', top: 96, right: 106, width: 120, height: 120, borderRadius: 60, border: '2px solid rgba(232,239,248,0.12)' }} /&gt;&#10;    &lt;Box style={{ position: 'absolute', bottom: 60, left: 60, width: 200, height: 200, borderRadius: 100, background: 'rgba(30,79,168,0.45)' }} /&gt;&#10;    &lt;Box style={{ position: 'absolute', top: 0, left: 0, width: '100%', height: 10, background: '#1E4FA8' }} /&gt;&#10;&#10;    &lt;Box style={{ background: 'rgba(232,239,248,0.14)', borderRadius: 20, padding: '8px 28px', marginBottom: 32 }}&gt;&#10;        &lt;Text style={{ fontSize: 20, color: '#E8EFF8', letterSpacing: 6 }}&gt;计算题 · 极限专题&lt;/Text&gt;&#10;    &lt;/Box&gt;&#10;&#10;    &lt;Text style={{ fontSize: 66, fontWeight: 'bold', color: '#FFFFFF', letterSpacing: 4, marginBottom: 16 }}&gt;利用夹逼定理求极限&lt;/Text&gt;&#10;    &lt;Text style={{ fontSize: 22, color: '#A9C3E8', fontStyle: 'italic', marginBottom: 40 }}&gt;Evaluation of a Limit by the Squeeze Theorem&lt;/Text&gt;&#10;&#10;    &lt;Box style={{ background: 'rgba(255,255,255,0.08)', border: '1px solid rgba(232,239,248,0.35)', borderRadius: 12, padding: '24px 56px', marginBottom: 46 }}&gt;&#10;        &lt;Math latex={'\\lim_{x \\to +\\infty} \\frac{x^{k}}{a^{x}} \\qquad (a &gt; 1,\\; k \\in \\mathbf{N}_{+})'} width={480} color='#FFFFFF' display={true} /&gt;&#10;    &lt;/Box&gt;&#10;&#10;    &lt;Box style={{ flexDirection: 'row', alignItems: 'center', gap: 18 }}&gt;&#10;        &lt;Box style={{ width: 46, height: 2, background: 'rgba(232,239,248,0.5)' }} /&gt;&#10;        &lt;Text style={{ fontSize: 20, color: '#D6E2F5', letterSpacing: 2 }}&gt;数学分析 · 解题讲解课件&lt;/Text&gt;&#10;        &lt;Box style={{ width: 46, height: 2, background: 'rgba(232,239,248,0.5)' }} /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矩形: 圆角 2"/>
          <p:cNvSpPr/>
          <p:nvPr/>
        </p:nvSpPr>
        <p:spPr>
          <a:xfrm>
            <a:off x="4800600" y="1352550"/>
            <a:ext cx="2600325" cy="381000"/>
          </a:xfrm>
          <a:prstGeom prst="roundRect">
            <a:avLst>
              <a:gd name="adj" fmla="val 50000"/>
            </a:avLst>
          </a:prstGeom>
          <a:solidFill>
            <a:srgbClr val="E8EFF8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5067300" y="1428750"/>
            <a:ext cx="2066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spc="450">
                <a:solidFill>
                  <a:srgbClr val="E8EFF8"/>
                </a:solidFill>
                <a:latin typeface="Microsoft YaHei"/>
                <a:ea typeface="Microsoft YaHei"/>
              </a:rPr>
              <a:t>计算题</a:t>
            </a:r>
            <a:r>
              <a:rPr lang="en-US" sz="1500" spc="450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1500" spc="450">
                <a:solidFill>
                  <a:srgbClr val="E8EFF8"/>
                </a:solidFill>
                <a:latin typeface="Microsoft YaHei"/>
                <a:ea typeface="Microsoft YaHei"/>
              </a:rPr>
              <a:t>极限专题</a:t>
            </a:r>
            <a:endParaRPr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3095625" y="2038350"/>
            <a:ext cx="6000750" cy="762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950" b="1" spc="300">
                <a:solidFill>
                  <a:srgbClr val="FFFFFF"/>
                </a:solidFill>
                <a:latin typeface="Microsoft YaHei"/>
                <a:ea typeface="Microsoft YaHei"/>
              </a:rPr>
              <a:t>利用夹逼定理求极限</a:t>
            </a:r>
            <a:endParaRPr/>
          </a:p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3800475" y="2952750"/>
            <a:ext cx="45910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i="1">
                <a:solidFill>
                  <a:srgbClr val="A9C3E8"/>
                </a:solidFill>
                <a:latin typeface="Microsoft YaHei"/>
                <a:ea typeface="Microsoft YaHei"/>
              </a:rPr>
              <a:t>Evaluation of a Limit by the Squeeze Theorem</a:t>
            </a:r>
            <a:endParaRPr/>
          </a:p>
        </p:txBody>
      </p:sp>
      <p:sp>
        <p:nvSpPr>
          <p:cNvPr id="7" name="矩形: 圆角 6"/>
          <p:cNvSpPr/>
          <p:nvPr/>
        </p:nvSpPr>
        <p:spPr>
          <a:xfrm>
            <a:off x="3276600" y="3590925"/>
            <a:ext cx="5638800" cy="1257300"/>
          </a:xfrm>
          <a:prstGeom prst="roundRect">
            <a:avLst>
              <a:gd name="adj" fmla="val 909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E8EFF8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8" name="图形 7" descr="\lim_{x \to +\infty} \frac{x^{k}}{a^{x}} \qquad (a &gt; 1,\; k \in \mathbf{N}_{+}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10000" y="3819525"/>
            <a:ext cx="4572000" cy="800100"/>
          </a:xfrm>
          <a:prstGeom prst="rect">
            <a:avLst/>
          </a:prstGeom>
          <a:ln/>
        </p:spPr>
      </p:pic>
      <p:sp>
        <p:nvSpPr>
          <p:cNvPr id="9" name="矩形 8"/>
          <p:cNvSpPr/>
          <p:nvPr/>
        </p:nvSpPr>
        <p:spPr>
          <a:xfrm>
            <a:off x="4333875" y="5391150"/>
            <a:ext cx="438150" cy="19050"/>
          </a:xfrm>
          <a:prstGeom prst="rect">
            <a:avLst/>
          </a:prstGeom>
          <a:solidFill>
            <a:srgbClr val="E8EFF8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文本框 9" descr="{&quot;isTemplate&quot;:true,&quot;type&quot;:&quot;text&quot;}"/>
          <p:cNvSpPr txBox="1"/>
          <p:nvPr/>
        </p:nvSpPr>
        <p:spPr>
          <a:xfrm>
            <a:off x="4943475" y="5286375"/>
            <a:ext cx="23145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spc="150">
                <a:solidFill>
                  <a:srgbClr val="D6E2F5"/>
                </a:solidFill>
                <a:latin typeface="Microsoft YaHei"/>
                <a:ea typeface="Microsoft YaHei"/>
              </a:rPr>
              <a:t>数学分析</a:t>
            </a:r>
            <a:r>
              <a:rPr lang="en-US" sz="1500" spc="150">
                <a:solidFill>
                  <a:srgbClr val="D6E2F5"/>
                </a:solidFill>
                <a:latin typeface="Microsoft YaHei"/>
                <a:ea typeface="Microsoft YaHei"/>
              </a:rPr>
              <a:t> · </a:t>
            </a:r>
            <a:r>
              <a:rPr lang="zh-CN" sz="1500" spc="150">
                <a:solidFill>
                  <a:srgbClr val="D6E2F5"/>
                </a:solidFill>
                <a:latin typeface="Microsoft YaHei"/>
                <a:ea typeface="Microsoft YaHei"/>
              </a:rPr>
              <a:t>解题讲解课件</a:t>
            </a:r>
            <a:endParaRPr/>
          </a:p>
        </p:txBody>
      </p:sp>
      <p:sp>
        <p:nvSpPr>
          <p:cNvPr id="11" name="矩形 10"/>
          <p:cNvSpPr/>
          <p:nvPr/>
        </p:nvSpPr>
        <p:spPr>
          <a:xfrm>
            <a:off x="7429500" y="5391150"/>
            <a:ext cx="438150" cy="19050"/>
          </a:xfrm>
          <a:prstGeom prst="rect">
            <a:avLst/>
          </a:prstGeom>
          <a:solidFill>
            <a:srgbClr val="E8EFF8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矩形: 圆角 11"/>
          <p:cNvSpPr/>
          <p:nvPr/>
        </p:nvSpPr>
        <p:spPr>
          <a:xfrm>
            <a:off x="9563100" y="438150"/>
            <a:ext cx="2095500" cy="2095500"/>
          </a:xfrm>
          <a:prstGeom prst="roundRect">
            <a:avLst>
              <a:gd name="adj" fmla="val 50000"/>
            </a:avLst>
          </a:prstGeom>
          <a:ln w="25400">
            <a:solidFill>
              <a:srgbClr val="E8EFF8">
                <a:alpha val="18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: 圆角 12"/>
          <p:cNvSpPr/>
          <p:nvPr/>
        </p:nvSpPr>
        <p:spPr>
          <a:xfrm>
            <a:off x="10039350" y="914400"/>
            <a:ext cx="1143000" cy="1143000"/>
          </a:xfrm>
          <a:prstGeom prst="roundRect">
            <a:avLst>
              <a:gd name="adj" fmla="val 50000"/>
            </a:avLst>
          </a:prstGeom>
          <a:ln w="25400">
            <a:solidFill>
              <a:srgbClr val="E8EFF8">
                <a:alpha val="12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矩形: 圆角 13"/>
          <p:cNvSpPr/>
          <p:nvPr/>
        </p:nvSpPr>
        <p:spPr>
          <a:xfrm>
            <a:off x="571500" y="438150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1E4FA8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矩形 1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row' }}&gt;&#10;    &lt;Box style={{ width: 320, height: '100%', background: '#0E3F8C', flexDirection: 'column', justifyContent: 'center', padding: 48, position: 'relative' }}&gt;&#10;        &lt;Box style={{ position: 'absolute', bottom: 46, right: 28, width: 170, height: 170, borderRadius: 85, border: '2px solid rgba(232,239,248,0.15)' }} /&gt;&#10;        &lt;Text style={{ fontSize: 56, fontWeight: 'bold', color: '#FFFFFF', marginBottom: 14 }}&gt;目录&lt;/Text&gt;&#10;        &lt;Text style={{ fontSize: 20, color: '#A9C3E8', letterSpacing: 4 }}&gt;CONTENTS&lt;/Text&gt;&#10;        &lt;Box style={{ width: 56, height: 4, background: '#E8EFF8', marginTop: 28 }} /&gt;&#10;    &lt;/Box&gt;&#10;&#10;    &lt;Box style={{ flex: 1, flexDirection: 'column', justifyContent: 'center', padding: '60px 56px', gap: 34 }}&gt;&#10;        &lt;Box style={{ flexDirection: 'row', alignItems: 'center', gap: 26 }}&gt;&#10;            &lt;Box style={{ width: 64, height: 64, background: '#1E4FA8', borderRadius: 10, alignItems: 'center', justifyContent: 'center' }}&gt;&#10;                &lt;Text style={{ fontSize: 28, fontWeight: 'bold', color: '#FFFFFF' }}&gt;01&lt;/Text&gt;&#10;            &lt;/Box&gt;&#10;            &lt;Box style={{ flex: 1, flexDirection: 'column', gap: 6 }}&gt;&#10;                &lt;Text style={{ fontSize: 28, fontWeight: 'bold', color: '#1A2230' }}&gt;审题与思路&lt;/Text&gt;&#10;                &lt;Text style={{ fontSize: 20, color: '#4A5568' }}&gt;拆解已知条件，判断极限类型，明确为什么选用夹逼定理&lt;/Text&gt;&#10;            &lt;/Box&gt;&#10;        &lt;/Box&gt;&#10;&#10;        &lt;Box style={{ flexDirection: 'row', alignItems: 'center', gap: 26 }}&gt;&#10;            &lt;Box style={{ width: 64, height: 64, background: '#1E4FA8', borderRadius: 10, alignItems: 'center', justifyContent: 'center' }}&gt;&#10;                &lt;Text style={{ fontSize: 28, fontWeight: 'bold', color: '#FFFFFF' }}&gt;02&lt;/Text&gt;&#10;            &lt;/Box&gt;&#10;            &lt;Box style={{ flex: 1, flexDirection: 'column', gap: 6 }}&gt;&#10;                &lt;Text style={{ fontSize: 28, fontWeight: 'bold', color: '#1A2230' }}&gt;详细证明&lt;/Text&gt;&#10;                &lt;Text style={{ fontSize: 20, color: '#4A5568' }}&gt;三步走：整数部分夹逼 → 二项式定理放缩 → 取极限得结论&lt;/Text&gt;&#10;            &lt;/Box&gt;&#10;        &lt;/Box&gt;&#10;&#10;        &lt;Box style={{ flexDirection: 'row', alignItems: 'center', gap: 26 }}&gt;&#10;            &lt;Box style={{ width: 64, height: 64, background: '#1E4FA8', borderRadius: 10, alignItems: 'center', justifyContent: 'center' }}&gt;&#10;                &lt;Text style={{ fontSize: 28, fontWeight: 'bold', color: '#FFFFFF' }}&gt;03&lt;/Text&gt;&#10;            &lt;/Box&gt;&#10;            &lt;Box style={{ flex: 1, flexDirection: 'column', gap: 6 }}&gt;&#10;                &lt;Text style={{ fontSize: 28, fontWeight: 'bold', color: '#1A2230' }}&gt;总结与拓展&lt;/Text&gt;&#10;                &lt;Text style={{ fontSize: 20, color: '#4A5568' }}&gt;方法要点回顾、易错警示，以及同类问题的迁移练习&lt;/Text&gt;&#10;            &lt;/Box&gt;&#10;        &lt;/Box&gt;&#10;&#10;        &lt;Box style={{ background: '#F7F9FC', border: '1px solid #D6DCE5', borderRadius: 10, padding: '16px 24px', marginTop: 10 }}&gt;&#10;            &lt;Text style={{ fontSize: 18, color: '#8B97A8' }}&gt;本课件对应教材计算题第 9 题：利用函数的夹逼定理求极限。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矩形 1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8" name="矩形: 圆角 117"/>
          <p:cNvSpPr/>
          <p:nvPr/>
        </p:nvSpPr>
        <p:spPr>
          <a:xfrm>
            <a:off x="3581400" y="1724025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3724275" y="1866900"/>
            <a:ext cx="3333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0" name="文本框 119" descr="{&quot;isTemplate&quot;:true,&quot;type&quot;:&quot;text&quot;}"/>
          <p:cNvSpPr txBox="1"/>
          <p:nvPr/>
        </p:nvSpPr>
        <p:spPr>
          <a:xfrm>
            <a:off x="4438650" y="1724025"/>
            <a:ext cx="72199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审题与思路</a:t>
            </a:r>
            <a:endParaRPr/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4438650" y="2105025"/>
            <a:ext cx="72199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拆解已知条件，判断极限类型，明确为什么选用夹逼定理</a:t>
            </a:r>
            <a:endParaRPr/>
          </a:p>
        </p:txBody>
      </p:sp>
      <p:sp>
        <p:nvSpPr>
          <p:cNvPr id="122" name="矩形: 圆角 121"/>
          <p:cNvSpPr/>
          <p:nvPr/>
        </p:nvSpPr>
        <p:spPr>
          <a:xfrm>
            <a:off x="3581400" y="2657475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3724275" y="2800350"/>
            <a:ext cx="3333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4438650" y="2657475"/>
            <a:ext cx="72199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详细证明</a:t>
            </a:r>
            <a:endParaRPr/>
          </a:p>
        </p:txBody>
      </p:sp>
      <p:sp>
        <p:nvSpPr>
          <p:cNvPr id="125" name="文本框 124" descr="{&quot;isTemplate&quot;:true,&quot;type&quot;:&quot;text&quot;}"/>
          <p:cNvSpPr txBox="1"/>
          <p:nvPr/>
        </p:nvSpPr>
        <p:spPr>
          <a:xfrm>
            <a:off x="4438650" y="3038475"/>
            <a:ext cx="72199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三步走：整数部分夹逼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二项式定理放缩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取极限得结论</a:t>
            </a:r>
            <a:endParaRPr/>
          </a:p>
        </p:txBody>
      </p:sp>
      <p:sp>
        <p:nvSpPr>
          <p:cNvPr id="126" name="矩形: 圆角 125"/>
          <p:cNvSpPr/>
          <p:nvPr/>
        </p:nvSpPr>
        <p:spPr>
          <a:xfrm>
            <a:off x="3581400" y="3590925"/>
            <a:ext cx="609600" cy="609600"/>
          </a:xfrm>
          <a:prstGeom prst="roundRect">
            <a:avLst>
              <a:gd name="adj" fmla="val 15625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3724275" y="3733800"/>
            <a:ext cx="333375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28" name="文本框 127" descr="{&quot;isTemplate&quot;:true,&quot;type&quot;:&quot;text&quot;}"/>
          <p:cNvSpPr txBox="1"/>
          <p:nvPr/>
        </p:nvSpPr>
        <p:spPr>
          <a:xfrm>
            <a:off x="4438650" y="3590925"/>
            <a:ext cx="72199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总结与拓展</a:t>
            </a:r>
            <a:endParaRPr/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4438650" y="3971925"/>
            <a:ext cx="72199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方法要点回顾、易错警示，以及同类问题的迁移练习</a:t>
            </a:r>
            <a:endParaRPr/>
          </a:p>
        </p:txBody>
      </p:sp>
      <p:sp>
        <p:nvSpPr>
          <p:cNvPr id="130" name="矩形: 圆角 129"/>
          <p:cNvSpPr/>
          <p:nvPr/>
        </p:nvSpPr>
        <p:spPr>
          <a:xfrm>
            <a:off x="3581400" y="4619625"/>
            <a:ext cx="8077200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文本框 130" descr="{&quot;isTemplate&quot;:true,&quot;type&quot;:&quot;text&quot;}"/>
          <p:cNvSpPr txBox="1"/>
          <p:nvPr/>
        </p:nvSpPr>
        <p:spPr>
          <a:xfrm>
            <a:off x="3810000" y="4772025"/>
            <a:ext cx="7620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本课件对应教材计算题第</a:t>
            </a:r>
            <a:r>
              <a:rPr lang="en-US" sz="1350">
                <a:solidFill>
                  <a:srgbClr val="8B97A8"/>
                </a:solidFill>
                <a:latin typeface="Microsoft YaHei"/>
                <a:ea typeface="Microsoft YaHei"/>
              </a:rPr>
              <a:t> 9 </a:t>
            </a:r>
            <a:r>
              <a:rPr lang="zh-CN" sz="1350">
                <a:solidFill>
                  <a:srgbClr val="8B97A8"/>
                </a:solidFill>
                <a:latin typeface="Microsoft YaHei"/>
                <a:ea typeface="Microsoft YaHei"/>
              </a:rPr>
              <a:t>题：利用函数的夹逼定理求极限。</a:t>
            </a:r>
            <a:endParaRPr/>
          </a:p>
        </p:txBody>
      </p:sp>
      <p:sp>
        <p:nvSpPr>
          <p:cNvPr id="132" name="矩形 131"/>
          <p:cNvSpPr/>
          <p:nvPr/>
        </p:nvSpPr>
        <p:spPr>
          <a:xfrm>
            <a:off x="0" y="0"/>
            <a:ext cx="3048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457200" y="2771775"/>
            <a:ext cx="2133600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457200" y="3552825"/>
            <a:ext cx="21336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A9C3E8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35" name="矩形 134"/>
          <p:cNvSpPr/>
          <p:nvPr/>
        </p:nvSpPr>
        <p:spPr>
          <a:xfrm>
            <a:off x="457200" y="4048125"/>
            <a:ext cx="533400" cy="381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6" name="矩形: 圆角 135"/>
          <p:cNvSpPr/>
          <p:nvPr/>
        </p:nvSpPr>
        <p:spPr>
          <a:xfrm>
            <a:off x="1162050" y="4800600"/>
            <a:ext cx="1619250" cy="1619250"/>
          </a:xfrm>
          <a:prstGeom prst="roundRect">
            <a:avLst>
              <a:gd name="adj" fmla="val 50000"/>
            </a:avLst>
          </a:prstGeom>
          <a:ln w="25400">
            <a:solidFill>
              <a:srgbClr val="E8EFF8">
                <a:alpha val="1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7F9FC', flexDirection: 'row', alignItems: 'center', padding: '0 90px', position: 'relative' }}&gt;&#10;    &lt;Box style={{ position: 'absolute', top: 0, left: 0, width: '100%', height: 10, background: '#1E4FA8' }} /&gt;&#10;    &lt;Box style={{ position: 'absolute', bottom: 40, right: 60, width: 300, height: 2, background: '#D6DCE5' }} /&gt;&#10;&#10;    &lt;Box style={{ flexDirection: 'column', justifyContent: 'center', width: 420 }}&gt;&#10;        &lt;Text style={{ fontSize: 240, fontWeight: 'bold', color: '#1E4FA8', lineHeight: 1 }}&gt;01&lt;/Text&gt;&#10;    &lt;/Box&gt;&#10;&#10;    &lt;Box style={{ flex: 1, flexDirection: 'column', justifyContent: 'center', paddingLeft: 70, gap: 24 }}&gt;&#10;        &lt;Box style={{ flexDirection: 'row', alignItems: 'center', gap: 16 }}&gt;&#10;            &lt;Box style={{ width: 8, height: 40, background: '#1E4FA8' }} /&gt;&#10;            &lt;Text style={{ fontSize: 52, fontWeight: 'bold', color: '#1A2230' }}&gt;审题与思路&lt;/Text&gt;&#10;        &lt;/Box&gt;&#10;        &lt;Text style={{ fontSize: 22, color: '#4A5568', lineHeight: 1.7 }}&gt;动笔之前先把题目读透：条件 &lt;span style={{ fontWeight: 'bold', color: '#1E4FA8' }}&gt;a &amp;gt; 1&lt;/span&gt; 与 &lt;span style={{ fontWeight: 'bold', color: '#1E4FA8' }}&gt;k ∈ N₊&lt;/span&gt; 各扮演什么角色？&lt;/Text&gt;&#10;        &lt;Box style={{ flexDirection: 'column', gap: 14, marginTop: 8 }}&gt;&#10;            &lt;Box style={{ flexDirection: 'row', alignItems: 'center', gap: 14 }}&gt;&#10;                &lt;Box style={{ width: 12, height: 12, borderRadius: 6, background: '#1E4FA8' }} /&gt;&#10;                &lt;Text style={{ fontSize: 22, color: '#1A2230' }}&gt;识别未定式类型，形成&quot;指数压倒幂&quot;的直觉判断&lt;/Text&gt;&#10;            &lt;/Box&gt;&#10;            &lt;Box style={{ flexDirection: 'row', alignItems: 'center', gap: 14 }}&gt;&#10;                &lt;Box style={{ width: 12, height: 12, borderRadius: 6, background: '#1E4FA8' }} /&gt;&#10;                &lt;Text style={{ fontSize: 22, color: '#1A2230' }}&gt;回顾夹逼定理的内容与使用前提&lt;/Text&gt;&#10;            &lt;/Box&gt;&#10;            &lt;Box style={{ flexDirection: 'row', alignItems: 'center', gap: 14 }}&gt;&#10;                &lt;Box style={{ width: 12, height: 12, borderRadius: 6, background: '#1E4FA8' }} /&gt;&#10;                &lt;Text style={{ fontSize: 22, color: '#1A2230' }}&gt;规划&quot;离散化 → 放缩 → 取极限&quot;的三步路线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矩形 1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857250" y="2057400"/>
            <a:ext cx="4000500" cy="2743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40" name="矩形 139"/>
          <p:cNvSpPr/>
          <p:nvPr/>
        </p:nvSpPr>
        <p:spPr>
          <a:xfrm>
            <a:off x="5524500" y="2028825"/>
            <a:ext cx="762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5753100" y="1914525"/>
            <a:ext cx="24765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A2230"/>
                </a:solidFill>
                <a:latin typeface="Microsoft YaHei"/>
                <a:ea typeface="Microsoft YaHei"/>
              </a:rPr>
              <a:t>审题与思路</a:t>
            </a:r>
            <a:endParaRPr/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5524500" y="2743200"/>
            <a:ext cx="5810250" cy="857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动笔之前先把题目读透：条件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a &gt; 1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k ∈ N₊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各扮演什么角色？</a:t>
            </a:r>
            <a:endParaRPr/>
          </a:p>
        </p:txBody>
      </p:sp>
      <p:sp>
        <p:nvSpPr>
          <p:cNvPr id="143" name="矩形: 圆角 142"/>
          <p:cNvSpPr/>
          <p:nvPr/>
        </p:nvSpPr>
        <p:spPr>
          <a:xfrm>
            <a:off x="5524500" y="3981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5772150" y="3905250"/>
            <a:ext cx="4381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识别未定式类型，形成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指数压倒幂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的直觉判断</a:t>
            </a:r>
            <a:endParaRPr/>
          </a:p>
        </p:txBody>
      </p:sp>
      <p:sp>
        <p:nvSpPr>
          <p:cNvPr id="145" name="矩形: 圆角 144"/>
          <p:cNvSpPr/>
          <p:nvPr/>
        </p:nvSpPr>
        <p:spPr>
          <a:xfrm>
            <a:off x="5524500" y="43719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5772150" y="4295775"/>
            <a:ext cx="2933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回顾夹逼定理的内容与使用前提</a:t>
            </a:r>
            <a:endParaRPr/>
          </a:p>
        </p:txBody>
      </p:sp>
      <p:sp>
        <p:nvSpPr>
          <p:cNvPr id="147" name="矩形: 圆角 146"/>
          <p:cNvSpPr/>
          <p:nvPr/>
        </p:nvSpPr>
        <p:spPr>
          <a:xfrm>
            <a:off x="5524500" y="4762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5772150" y="4686300"/>
            <a:ext cx="4000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规划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离散化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放缩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取极限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的三步路线</a:t>
            </a:r>
            <a:endParaRPr/>
          </a:p>
        </p:txBody>
      </p:sp>
      <p:sp>
        <p:nvSpPr>
          <p:cNvPr id="149" name="矩形 14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0" name="矩形 149"/>
          <p:cNvSpPr/>
          <p:nvPr/>
        </p:nvSpPr>
        <p:spPr>
          <a:xfrm>
            <a:off x="8763000" y="6457950"/>
            <a:ext cx="28575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height: 10, width: '100%', background: '#1E4FA8' }} /&gt;&#10;    &lt;Box style={{ height: 70, flexDirection: 'row', alignItems: 'center', justifyContent: 'space-between', padding: '0 40px', borderBottom: '1px solid #D6DCE5' }}&gt;&#10;        &lt;Text style={{ fontSize: 34, fontWeight: 'bold', color: '#0E3F8C' }}&gt;题目重现与审题&lt;/Text&gt;&#10;        &lt;Text style={{ fontSize: 18, color: '#8B97A8', letterSpacing: 2 }}&gt;01 审题与思路&lt;/Text&gt;&#10;    &lt;/Box&gt;&#10;&#10;    &lt;Box style={{ flex: 1, flexDirection: 'row', margin: '20px 40px', gap: 24 }}&gt;&#10;        &lt;Box style={{ width: 300, background: '#E8EFF8', borderRadius: 12, padding: 28, flexDirection: 'column', justifyContent: 'space-between' }}&gt;&#10;            &lt;Box style={{ flexDirection: 'column', gap: 16 }}&gt;&#10;                &lt;Box style={{ background: '#1E4FA8', borderRadius: 8, padding: '10px 18px', alignSelf: 'flex-start' }}&gt;&#10;                    &lt;Text style={{ fontSize: 20, fontWeight: 'bold', color: '#FFFFFF' }}&gt;审题三问&lt;/Text&gt;&#10;                &lt;/Box&gt;&#10;                &lt;Text style={{ fontSize: 21, color: '#1A2230', lineHeight: 1.7 }}&gt;条件给了什么？&lt;br /&gt;类型是什么？&lt;br /&gt;工具用什么？&lt;/Text&gt;&#10;            &lt;/Box&gt;&#10;            &lt;Box style={{ flexDirection: 'column', gap: 12 }}&gt;&#10;                &lt;Box style={{ background: '#FFFFFF', border: '1px solid #D6DCE5', borderRadius: 20, padding: '8px 18px', alignSelf: 'flex-start' }}&gt;&#10;                    &lt;Text style={{ fontSize: 18, color: '#1E4FA8', fontWeight: 'bold' }}&gt;a &amp;gt; 1：指数增长&lt;/Text&gt;&#10;                &lt;/Box&gt;&#10;                &lt;Box style={{ background: '#FFFFFF', border: '1px solid #D6DCE5', borderRadius: 20, padding: '8px 18px', alignSelf: 'flex-start' }}&gt;&#10;                    &lt;Text style={{ fontSize: 18, color: '#1E4FA8', fontWeight: 'bold' }}&gt;k ∈ N₊：幂次固定&lt;/Text&gt;&#10;                &lt;/Box&gt;&#10;                &lt;Box style={{ background: '#FFFFFF', border: '1px solid #D6DCE5', borderRadius: 20, padding: '8px 18px', alignSelf: 'flex-start' }}&gt;&#10;                    &lt;Text style={{ fontSize: 18, color: '#1E4FA8', fontWeight: 'bold' }}&gt;x → +∞：连续变量&lt;/Text&gt;&#10;                &lt;/Box&gt;&#10;            &lt;/Box&gt;&#10;        &lt;/Box&gt;&#10;&#10;        &lt;Box style={{ flex: 1, flexDirection: 'column', gap: 18 }}&gt;&#10;            &lt;Box style={{ background: '#F7F9FC', border: '2px solid #1E4FA8', borderRadius: 12, padding: '24px 32px', alignItems: 'center' }}&gt;&#10;                &lt;Text style={{ fontSize: 22, fontWeight: 'bold', color: '#0E3F8C', marginBottom: 10 }}&gt;题目（计算题 · 第 9 题）&lt;/Text&gt;&#10;                &lt;Math latex={'\\lim_{x \\to +\\infty} \\frac{x^{k}}{a^{x}} \\qquad (a &gt; 1,\\; k \\in \\mathbf{N}_{+})'} width={430} color='#1A2230' display={true} /&gt;&#10;            &lt;/Box&gt;&#10;&#10;            &lt;Box style={{ flexDirection: 'column', gap: 12, flex: 1 }}&gt;&#10;                &lt;Box style={{ flexDirection: 'row', alignItems: 'center', gap: 14, background: '#FFFFFF', border: '1px solid #D6DCE5', borderRadius: 10, padding: '12px 20px' }}&gt;&#10;                    &lt;Box style={{ width: 40, height: 40, background: '#1E4FA8', borderRadius: 8, alignItems: 'center', justifyContent: 'center' }}&gt;&#10;                        &lt;Text style={{ fontSize: 20, fontWeight: 'bold', color: '#FFFFFF' }}&gt;①&lt;/Text&gt;&#10;                    &lt;/Box&gt;&#10;                    &lt;Text style={{ fontSize: 21, color: '#1A2230', lineHeight: 1.5 }}&gt;&lt;span style={{ fontWeight: 'bold', color: '#1E4FA8' }}&gt;a &amp;gt; 1&lt;/span&gt;：a&lt;sup&gt;x&lt;/sup&gt; 是指数函数，严格递增，且增长速度远快于任何幂函数。&lt;/Text&gt;&#10;                &lt;/Box&gt;&#10;                &lt;Box style={{ flexDirection: 'row', alignItems: 'center', gap: 14, background: '#FFFFFF', border: '1px solid #D6DCE5', borderRadius: 10, padding: '12px 20px' }}&gt;&#10;                    &lt;Box style={{ width: 40, height: 40, background: '#1E4FA8', borderRadius: 8, alignItems: 'center', justifyContent: 'center' }}&gt;&#10;                        &lt;Text style={{ fontSize: 20, fontWeight: 'bold', color: '#FFFFFF' }}&gt;②&lt;/Text&gt;&#10;                    &lt;/Box&gt;&#10;                    &lt;Text style={{ fontSize: 21, color: '#1A2230', lineHeight: 1.5 }}&gt;&lt;span style={{ fontWeight: 'bold', color: '#1E4FA8' }}&gt;k ∈ N₊&lt;/span&gt;：幂指数 k 是固定的正整数，不随 x 变化——分子只是 k 次幂。&lt;/Text&gt;&#10;                &lt;/Box&gt;&#10;                &lt;Box style={{ flexDirection: 'row', alignItems: 'center', gap: 14, background: '#FFFFFF', border: '1px solid #D6DCE5', borderRadius: 10, padding: '12px 20px' }}&gt;&#10;                    &lt;Box style={{ width: 40, height: 40, background: '#1E4FA8', borderRadius: 8, alignItems: 'center', justifyContent: 'center' }}&gt;&#10;                        &lt;Text style={{ fontSize: 20, fontWeight: 'bold', color: '#FFFFFF' }}&gt;③&lt;/Text&gt;&#10;                    &lt;/Box&gt;&#10;                    &lt;Text style={{ fontSize: 21, color: '#1A2230', lineHeight: 1.5 }}&gt;这是 &lt;span style={{ fontWeight: 'bold' }}&gt;∞ / ∞ 型未定式&lt;/span&gt;，题目要求用&lt;span style={{ fontWeight: 'bold', color: '#1E4FA8' }}&gt;夹逼定理&lt;/span&gt;，而不是洛必达法则。&lt;/Text&gt;&#10;                &lt;/Box&gt;&#10;            &lt;/Box&gt;&#10;        &lt;/Box&gt;&#10;    &lt;/Box&gt;&#10;&#10;    &lt;Box style={{ margin: '0 40px 14px', background: '#0E3F8C', borderRadius: 10, padding: '14px 24px' }}&gt;&#10;        &lt;Text style={{ fontSize: 21, color: '#FFFFFF', lineHeight: 1.5 }}&gt;判断：这是&quot;幂函数与指数函数赛跑&quot;的极限——直觉上指数必胜，极限应为 0，下面给出严格证明。&lt;/Text&gt;&#10;    &lt;/Box&gt;&#10;&#10;    &lt;Box style={{ height: 40, flexDirection: 'row', alignItems: 'center', justifyContent: 'space-between', padding: '0 40px', borderTop: '1px solid #D6DCE5' }}&gt;&#10;        &lt;Text style={{ fontSize: 14, color: '#8B97A8' }}&gt;数学分析 · 解题课件&lt;/Text&gt;&#10;        &lt;Text style={{ fontSize: 14, color: '#0E3F8C' }}&gt;04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3" name="矩形 15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4" name="任意多边形: 形状 153"/>
          <p:cNvSpPr/>
          <p:nvPr/>
        </p:nvSpPr>
        <p:spPr>
          <a:xfrm>
            <a:off x="0" y="95250"/>
            <a:ext cx="12192000" cy="666750"/>
          </a:xfrm>
          <a:custGeom>
            <a:avLst/>
            <a:gdLst/>
            <a:ahLst/>
            <a:cxnLst/>
            <a:rect l="0" t="0" r="0" b="0"/>
            <a:pathLst>
              <a:path w="1280" h="70">
                <a:moveTo>
                  <a:pt x="0" y="69"/>
                </a:moveTo>
                <a:lnTo>
                  <a:pt x="1280" y="69"/>
                </a:lnTo>
                <a:lnTo>
                  <a:pt x="1280" y="70"/>
                </a:lnTo>
                <a:lnTo>
                  <a:pt x="0" y="70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381000" y="228600"/>
            <a:ext cx="22669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题目重现与审题</a:t>
            </a:r>
            <a:endParaRPr/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10544175" y="323850"/>
            <a:ext cx="12668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8B97A8"/>
                </a:solidFill>
                <a:latin typeface="Microsoft YaHei"/>
                <a:ea typeface="Microsoft YaHei"/>
              </a:rPr>
              <a:t>01 </a:t>
            </a:r>
            <a:r>
              <a:rPr lang="zh-CN" sz="1350" spc="150">
                <a:solidFill>
                  <a:srgbClr val="8B97A8"/>
                </a:solidFill>
                <a:latin typeface="Microsoft YaHei"/>
                <a:ea typeface="Microsoft YaHei"/>
              </a:rPr>
              <a:t>审题与思路</a:t>
            </a:r>
            <a:endParaRPr/>
          </a:p>
        </p:txBody>
      </p:sp>
      <p:sp>
        <p:nvSpPr>
          <p:cNvPr id="157" name="矩形: 圆角 156"/>
          <p:cNvSpPr/>
          <p:nvPr/>
        </p:nvSpPr>
        <p:spPr>
          <a:xfrm>
            <a:off x="381000" y="952500"/>
            <a:ext cx="2857500" cy="4572000"/>
          </a:xfrm>
          <a:prstGeom prst="roundRect">
            <a:avLst>
              <a:gd name="adj" fmla="val 4000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8" name="矩形: 圆角 157"/>
          <p:cNvSpPr/>
          <p:nvPr/>
        </p:nvSpPr>
        <p:spPr>
          <a:xfrm>
            <a:off x="647700" y="1219200"/>
            <a:ext cx="1104900" cy="419100"/>
          </a:xfrm>
          <a:prstGeom prst="roundRect">
            <a:avLst>
              <a:gd name="adj" fmla="val 18182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819150" y="1314450"/>
            <a:ext cx="762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审题三问</a:t>
            </a:r>
            <a:endParaRPr/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647700" y="1790700"/>
            <a:ext cx="2324100" cy="12287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条件给了什么？</a:t>
            </a:r>
            <a:endParaRPr/>
          </a:p>
          <a:p>
            <a:pPr>
              <a:lnSpc>
                <a:spcPct val="17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类型是什么？</a:t>
            </a:r>
            <a:endParaRPr/>
          </a:p>
          <a:p>
            <a:pPr>
              <a:lnSpc>
                <a:spcPct val="17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工具用什么？</a:t>
            </a:r>
            <a:endParaRPr/>
          </a:p>
        </p:txBody>
      </p:sp>
      <p:sp>
        <p:nvSpPr>
          <p:cNvPr id="161" name="矩形: 圆角 160"/>
          <p:cNvSpPr/>
          <p:nvPr/>
        </p:nvSpPr>
        <p:spPr>
          <a:xfrm>
            <a:off x="647700" y="3943350"/>
            <a:ext cx="1638300" cy="361950"/>
          </a:xfrm>
          <a:prstGeom prst="roundRect">
            <a:avLst>
              <a:gd name="adj" fmla="val 5263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819150" y="4019550"/>
            <a:ext cx="12954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a &gt; 1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：指数增长</a:t>
            </a:r>
            <a:endParaRPr/>
          </a:p>
        </p:txBody>
      </p:sp>
      <p:sp>
        <p:nvSpPr>
          <p:cNvPr id="163" name="矩形: 圆角 162"/>
          <p:cNvSpPr/>
          <p:nvPr/>
        </p:nvSpPr>
        <p:spPr>
          <a:xfrm>
            <a:off x="647700" y="4419600"/>
            <a:ext cx="1790700" cy="361950"/>
          </a:xfrm>
          <a:prstGeom prst="roundRect">
            <a:avLst>
              <a:gd name="adj" fmla="val 5263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819150" y="4495800"/>
            <a:ext cx="1447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k ∈ N₊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：幂次固定</a:t>
            </a:r>
            <a:endParaRPr/>
          </a:p>
        </p:txBody>
      </p:sp>
      <p:sp>
        <p:nvSpPr>
          <p:cNvPr id="165" name="矩形: 圆角 164"/>
          <p:cNvSpPr/>
          <p:nvPr/>
        </p:nvSpPr>
        <p:spPr>
          <a:xfrm>
            <a:off x="647700" y="4895850"/>
            <a:ext cx="1857375" cy="361950"/>
          </a:xfrm>
          <a:prstGeom prst="roundRect">
            <a:avLst>
              <a:gd name="adj" fmla="val 5263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819150" y="4972050"/>
            <a:ext cx="15144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1E4FA8"/>
                </a:solidFill>
                <a:latin typeface="Microsoft YaHei"/>
                <a:ea typeface="Microsoft YaHei"/>
              </a:rPr>
              <a:t>x → +∞</a:t>
            </a: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：连续变量</a:t>
            </a:r>
            <a:endParaRPr/>
          </a:p>
        </p:txBody>
      </p:sp>
      <p:sp>
        <p:nvSpPr>
          <p:cNvPr id="167" name="矩形: 圆角 166"/>
          <p:cNvSpPr/>
          <p:nvPr/>
        </p:nvSpPr>
        <p:spPr>
          <a:xfrm>
            <a:off x="3467100" y="952500"/>
            <a:ext cx="8343900" cy="1524000"/>
          </a:xfrm>
          <a:prstGeom prst="roundRect">
            <a:avLst>
              <a:gd name="adj" fmla="val 7500"/>
            </a:avLst>
          </a:prstGeom>
          <a:solidFill>
            <a:srgbClr val="F7F9FC"/>
          </a:solidFill>
          <a:ln w="254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6457950" y="1181100"/>
            <a:ext cx="2362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题目（计算题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 9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题）</a:t>
            </a:r>
            <a:endParaRPr/>
          </a:p>
        </p:txBody>
      </p:sp>
      <p:pic>
        <p:nvPicPr>
          <p:cNvPr id="169" name="图形 168" descr="\lim_{x \to +\infty} \frac{x^{k}}{a^{x}} \qquad (a &gt; 1,\; k \in \mathbf{N}_{+}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1175" y="1533525"/>
            <a:ext cx="4095750" cy="714375"/>
          </a:xfrm>
          <a:prstGeom prst="rect">
            <a:avLst/>
          </a:prstGeom>
          <a:ln/>
        </p:spPr>
      </p:pic>
      <p:sp>
        <p:nvSpPr>
          <p:cNvPr id="170" name="矩形: 圆角 169"/>
          <p:cNvSpPr/>
          <p:nvPr/>
        </p:nvSpPr>
        <p:spPr>
          <a:xfrm>
            <a:off x="3467100" y="2647950"/>
            <a:ext cx="83439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1" name="矩形: 圆角 170"/>
          <p:cNvSpPr/>
          <p:nvPr/>
        </p:nvSpPr>
        <p:spPr>
          <a:xfrm>
            <a:off x="3657600" y="27622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3752850" y="2838450"/>
            <a:ext cx="190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4171950" y="2771775"/>
            <a:ext cx="5991225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a &gt; 1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ax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是指数函数，严格递增，且增长速度远快于任何幂函数。</a:t>
            </a:r>
            <a:endParaRPr/>
          </a:p>
        </p:txBody>
      </p:sp>
      <p:sp>
        <p:nvSpPr>
          <p:cNvPr id="174" name="矩形: 圆角 173"/>
          <p:cNvSpPr/>
          <p:nvPr/>
        </p:nvSpPr>
        <p:spPr>
          <a:xfrm>
            <a:off x="3467100" y="3371850"/>
            <a:ext cx="83439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5" name="矩形: 圆角 174"/>
          <p:cNvSpPr/>
          <p:nvPr/>
        </p:nvSpPr>
        <p:spPr>
          <a:xfrm>
            <a:off x="3657600" y="34861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3752850" y="3562350"/>
            <a:ext cx="190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4171950" y="3495675"/>
            <a:ext cx="64008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k ∈ N₊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：幂指数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k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是固定的正整数，不随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x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变化——分子只是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k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次幂。</a:t>
            </a:r>
            <a:endParaRPr/>
          </a:p>
        </p:txBody>
      </p:sp>
      <p:sp>
        <p:nvSpPr>
          <p:cNvPr id="178" name="矩形: 圆角 177"/>
          <p:cNvSpPr/>
          <p:nvPr/>
        </p:nvSpPr>
        <p:spPr>
          <a:xfrm>
            <a:off x="3467100" y="4095750"/>
            <a:ext cx="8343900" cy="6096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9" name="矩形: 圆角 178"/>
          <p:cNvSpPr/>
          <p:nvPr/>
        </p:nvSpPr>
        <p:spPr>
          <a:xfrm>
            <a:off x="3657600" y="42100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0" name="文本框 179" descr="{&quot;isTemplate&quot;:true,&quot;type&quot;:&quot;text&quot;}"/>
          <p:cNvSpPr txBox="1"/>
          <p:nvPr/>
        </p:nvSpPr>
        <p:spPr>
          <a:xfrm>
            <a:off x="3752850" y="4286250"/>
            <a:ext cx="190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4171950" y="4219575"/>
            <a:ext cx="588645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这是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∞ / ∞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型未定式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，题目要求用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夹逼定理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，而不是洛必达法则。</a:t>
            </a:r>
            <a:endParaRPr/>
          </a:p>
        </p:txBody>
      </p:sp>
      <p:sp>
        <p:nvSpPr>
          <p:cNvPr id="182" name="矩形: 圆角 181"/>
          <p:cNvSpPr/>
          <p:nvPr/>
        </p:nvSpPr>
        <p:spPr>
          <a:xfrm>
            <a:off x="381000" y="5715000"/>
            <a:ext cx="11430000" cy="628650"/>
          </a:xfrm>
          <a:prstGeom prst="roundRect">
            <a:avLst>
              <a:gd name="adj" fmla="val 15152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609600" y="5848350"/>
            <a:ext cx="109728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判断：这是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幂函数与指数函数赛跑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的极限——直觉上指数必胜，极限应为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 0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，下面给出严格证明。</a:t>
            </a:r>
            <a:endParaRPr/>
          </a:p>
        </p:txBody>
      </p:sp>
      <p:sp>
        <p:nvSpPr>
          <p:cNvPr id="184" name="任意多边形: 形状 183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rect l="0" t="0" r="0" b="0"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381000" y="6591300"/>
            <a:ext cx="1181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数学分析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解题课件</a:t>
            </a:r>
            <a:endParaRPr/>
          </a:p>
        </p:txBody>
      </p:sp>
      <p:sp>
        <p:nvSpPr>
          <p:cNvPr id="186" name="文本框 185" descr="{&quot;isTemplate&quot;:true,&quot;type&quot;:&quot;text&quot;}"/>
          <p:cNvSpPr txBox="1"/>
          <p:nvPr/>
        </p:nvSpPr>
        <p:spPr>
          <a:xfrm>
            <a:off x="11353800" y="659130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04 / 13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height: 10, width: '100%', background: '#1E4FA8' }} /&gt;&#10;    &lt;Box style={{ height: 70, flexDirection: 'row', alignItems: 'center', justifyContent: 'space-between', padding: '0 40px', borderBottom: '1px solid #D6DCE5' }}&gt;&#10;        &lt;Text style={{ fontSize: 34, fontWeight: 'bold', color: '#0E3F8C' }}&gt;夹逼定理与解题思路&lt;/Text&gt;&#10;        &lt;Text style={{ fontSize: 18, color: '#8B97A8', letterSpacing: 2 }}&gt;01 审题与思路&lt;/Text&gt;&#10;    &lt;/Box&gt;&#10;&#10;    &lt;Box style={{ flex: 1, flexDirection: 'row', margin: '16px 40px', gap: 22 }}&gt;&#10;        &lt;Box style={{ flex: 1.85, background: '#F7F9FC', border: '1px solid #D6DCE5', borderRadius: 12, padding: '18px 26px', flexDirection: 'column', justifyContent: 'space-between' }}&gt;&#10;            &lt;Box style={{ flexDirection: 'row', alignItems: 'center', gap: 14 }}&gt;&#10;                &lt;Box style={{ width: 6, height: 28, background: '#1E4FA8' }} /&gt;&#10;                &lt;Text style={{ fontSize: 25, fontWeight: 'bold', color: '#0E3F8C' }}&gt;夹逼定理（Squeeze Theorem）&lt;/Text&gt;&#10;            &lt;/Box&gt;&#10;            &lt;Text style={{ fontSize: 20, color: '#4A5568', lineHeight: 1.55 }}&gt;若 x 充分大时 g(x)、f(x)、h(x) 满足夹逼关系，且两端极限存在并相等，则中间函数的极限被&quot;夹&quot;出来：&lt;/Text&gt;&#10;            &lt;Box style={{ background: '#E8EFF8', borderRadius: 10, padding: '14px 20px', alignItems: 'center' }}&gt;&#10;                &lt;Math latex={'g(x) \\leq f(x) \\leq h(x), \\quad \\lim_{x \\to +\\infty} g(x) = \\lim_{x \\to +\\infty} h(x) = A'} width={540} color='#0E3F8C' display={true} /&gt;&#10;                &lt;Math latex={'\\Longrightarrow \\quad \\lim_{x \\to +\\infty} f(x) = A'} width={280} color='#0E3F8C' display={true} /&gt;&#10;            &lt;/Box&gt;&#10;            &lt;Box style={{ flexDirection: 'row', gap: 14 }}&gt;&#10;                &lt;Box style={{ flex: 1, background: '#FFFFFF', border: '1px solid #D6DCE5', borderRadius: 8, padding: '10px 16px' }}&gt;&#10;                    &lt;Text style={{ fontSize: 18, color: '#1A2230', lineHeight: 1.5 }}&gt;&lt;span style={{ fontWeight: 'bold', color: '#1E4FA8' }}&gt;要点一：&lt;/span&gt;下界、上界必须同时夹住，缺一不可。&lt;/Text&gt;&#10;                &lt;/Box&gt;&#10;                &lt;Box style={{ flex: 1, background: '#FFFFFF', border: '1px solid #D6DCE5', borderRadius: 8, padding: '10px 16px' }}&gt;&#10;                    &lt;Text style={{ fontSize: 18, color: '#1A2230', lineHeight: 1.5 }}&gt;&lt;span style={{ fontWeight: 'bold', color: '#1E4FA8' }}&gt;要点二：&lt;/span&gt;定理本身不给界——&lt;span style={{ fontWeight: 'bold' }}&gt;界要自己构造&lt;/span&gt;，这正是本题的工作量所在。&lt;/Text&gt;&#10;                &lt;/Box&gt;&#10;            &lt;/Box&gt;&#10;        &lt;/Box&gt;&#10;&#10;        &lt;Box style={{ flex: 1, flexDirection: 'column', gap: 0 }}&gt;&#10;            &lt;Box style={{ background: '#1E4FA8', borderRadius: 10, padding: '10px 20px', marginBottom: 12, alignItems: 'center' }}&gt;&#10;                &lt;Text style={{ fontSize: 21, fontWeight: 'bold', color: '#FFFFFF' }}&gt;解题路线 · 三步走&lt;/Text&gt;&#10;            &lt;/Box&gt;&#10;            &lt;Box style={{ flex: 1, background: '#F7F9FC', border: '1px solid #D6DCE5', borderRadius: 10, padding: '12px 18px', flexDirection: 'row', alignItems: 'center', gap: 14 }}&gt;&#10;                &lt;Box style={{ width: 42, height: 42, borderRadius: 21, background: '#1E4FA8', alignItems: 'center', justifyContent: 'center' }}&gt;&#10;                    &lt;Text style={{ fontSize: 20, fontWeight: 'bold', color: '#FFFFFF' }}&gt;1&lt;/Text&gt;&#10;                &lt;/Box&gt;&#10;                &lt;Box style={{ flex: 1, flexDirection: 'column', gap: 3 }}&gt;&#10;                    &lt;Text style={{ fontSize: 21, fontWeight: 'bold', color: '#1A2230' }}&gt;离散化&lt;/Text&gt;&#10;                    &lt;Text style={{ fontSize: 17, color: '#4A5568', lineHeight: 1.45 }}&gt;取整 n = [x]，把连续的 x 夹进 [n, n+1)&lt;/Text&gt;&#10;                &lt;/Box&gt;&#10;            &lt;/Box&gt;&#10;            &lt;Box style={{ alignItems: 'center', padding: '2px 0' }}&gt;&lt;Text style={{ fontSize: 20, color: '#1E4FA8', fontWeight: 'bold' }}&gt;↓&lt;/Text&gt;&lt;/Box&gt;&#10;            &lt;Box style={{ flex: 1, background: '#F7F9FC', border: '1px solid #D6DCE5', borderRadius: 10, padding: '12px 18px', flexDirection: 'row', alignItems: 'center', gap: 14 }}&gt;&#10;                &lt;Box style={{ width: 42, height: 42, borderRadius: 21, background: '#1E4FA8', alignItems: 'center', justifyContent: 'center' }}&gt;&#10;                    &lt;Text style={{ fontSize: 20, fontWeight: 'bold', color: '#FFFFFF' }}&gt;2&lt;/Text&gt;&#10;                &lt;/Box&gt;&#10;                &lt;Box style={{ flex: 1, flexDirection: 'column', gap: 3 }}&gt;&#10;                    &lt;Text style={{ fontSize: 21, fontWeight: 'bold', color: '#1A2230' }}&gt;放缩&lt;/Text&gt;&#10;                    &lt;Text style={{ fontSize: 17, color: '#4A5568', lineHeight: 1.45 }}&gt;用二项式定理估计 a&lt;sup&gt;n&lt;/sup&gt;，得到可求极限的上界&lt;/Text&gt;&#10;                &lt;/Box&gt;&#10;            &lt;/Box&gt;&#10;            &lt;Box style={{ alignItems: 'center', padding: '2px 0' }}&gt;&lt;Text style={{ fontSize: 20, color: '#1E4FA8', fontWeight: 'bold' }}&gt;↓&lt;/Text&gt;&lt;/Box&gt;&#10;            &lt;Box style={{ flex: 1, background: '#F7F9FC', border: '1px solid #D6DCE5', borderRadius: 10, padding: '12px 18px', flexDirection: 'row', alignItems: 'center', gap: 14 }}&gt;&#10;                &lt;Box style={{ width: 42, height: 42, borderRadius: 21, background: '#1E4FA8', alignItems: 'center', justifyContent: 'center' }}&gt;&#10;                    &lt;Text style={{ fontSize: 20, fontWeight: 'bold', color: '#FFFFFF' }}&gt;3&lt;/Text&gt;&#10;                &lt;/Box&gt;&#10;                &lt;Box style={{ flex: 1, flexDirection: 'column', gap: 3 }}&gt;&#10;                    &lt;Text style={{ fontSize: 21, fontWeight: 'bold', color: '#1A2230' }}&gt;取极限&lt;/Text&gt;&#10;                    &lt;Text style={{ fontSize: 17, color: '#4A5568', lineHeight: 1.45 }}&gt;n → ∞ 时两端同趋于 0，由夹逼定理得结论&lt;/Text&gt;&#10;                &lt;/Box&gt;&#10;            &lt;/Box&gt;&#10;        &lt;/Box&gt;&#10;    &lt;/Box&gt;&#10;&#10;    &lt;Box style={{ margin: '0 40px 12px', background: '#0E3F8C', borderRadius: 10, padding: '12px 24px' }}&gt;&#10;        &lt;Text style={{ fontSize: 20, color: '#FFFFFF' }}&gt;核心策略：化&quot;连续&quot;为&quot;离散&quot;，再用代数不等式制服指数。&lt;/Text&gt;&#10;    &lt;/Box&gt;&#10;&#10;    &lt;Box style={{ height: 40, flexDirection: 'row', alignItems: 'center', justifyContent: 'space-between', padding: '0 40px', borderTop: '1px solid #D6DCE5' }}&gt;&#10;        &lt;Text style={{ fontSize: 14, color: '#8B97A8' }}&gt;数学分析 · 解题课件&lt;/Text&gt;&#10;        &lt;Text style={{ fontSize: 14, color: '#0E3F8C' }}&gt;05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矩形 18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9" name="矩形 18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0" name="任意多边形: 形状 189"/>
          <p:cNvSpPr/>
          <p:nvPr/>
        </p:nvSpPr>
        <p:spPr>
          <a:xfrm>
            <a:off x="0" y="95250"/>
            <a:ext cx="12192000" cy="666750"/>
          </a:xfrm>
          <a:custGeom>
            <a:avLst/>
            <a:gdLst/>
            <a:ahLst/>
            <a:cxnLst/>
            <a:rect l="0" t="0" r="0" b="0"/>
            <a:pathLst>
              <a:path w="1280" h="70">
                <a:moveTo>
                  <a:pt x="0" y="69"/>
                </a:moveTo>
                <a:lnTo>
                  <a:pt x="1280" y="69"/>
                </a:lnTo>
                <a:lnTo>
                  <a:pt x="1280" y="70"/>
                </a:lnTo>
                <a:lnTo>
                  <a:pt x="0" y="70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381000" y="228600"/>
            <a:ext cx="29146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夹逼定理与解题思路</a:t>
            </a:r>
            <a:endParaRPr/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10544175" y="323850"/>
            <a:ext cx="12668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8B97A8"/>
                </a:solidFill>
                <a:latin typeface="Microsoft YaHei"/>
                <a:ea typeface="Microsoft YaHei"/>
              </a:rPr>
              <a:t>01 </a:t>
            </a:r>
            <a:r>
              <a:rPr lang="zh-CN" sz="1350" spc="150">
                <a:solidFill>
                  <a:srgbClr val="8B97A8"/>
                </a:solidFill>
                <a:latin typeface="Microsoft YaHei"/>
                <a:ea typeface="Microsoft YaHei"/>
              </a:rPr>
              <a:t>审题与思路</a:t>
            </a:r>
            <a:endParaRPr/>
          </a:p>
        </p:txBody>
      </p:sp>
      <p:sp>
        <p:nvSpPr>
          <p:cNvPr id="193" name="矩形: 圆角 192"/>
          <p:cNvSpPr/>
          <p:nvPr/>
        </p:nvSpPr>
        <p:spPr>
          <a:xfrm>
            <a:off x="381000" y="914400"/>
            <a:ext cx="7286625" cy="4838700"/>
          </a:xfrm>
          <a:prstGeom prst="roundRect">
            <a:avLst>
              <a:gd name="adj" fmla="val 236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4" name="矩形 193"/>
          <p:cNvSpPr/>
          <p:nvPr/>
        </p:nvSpPr>
        <p:spPr>
          <a:xfrm>
            <a:off x="628650" y="1095375"/>
            <a:ext cx="57150" cy="266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5" name="文本框 194" descr="{&quot;isTemplate&quot;:true,&quot;type&quot;:&quot;text&quot;}"/>
          <p:cNvSpPr txBox="1"/>
          <p:nvPr/>
        </p:nvSpPr>
        <p:spPr>
          <a:xfrm>
            <a:off x="819150" y="1085850"/>
            <a:ext cx="357187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夹逼定理（</a:t>
            </a:r>
            <a:r>
              <a:rPr lang="en-US" sz="1875" b="1">
                <a:solidFill>
                  <a:srgbClr val="0E3F8C"/>
                </a:solidFill>
                <a:latin typeface="Microsoft YaHei"/>
                <a:ea typeface="Microsoft YaHei"/>
              </a:rPr>
              <a:t>Squeeze Theorem</a:t>
            </a:r>
            <a:r>
              <a:rPr lang="zh-CN" sz="1875" b="1">
                <a:solidFill>
                  <a:srgbClr val="0E3F8C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196" name="文本框 195" descr="{&quot;isTemplate&quot;:true,&quot;type&quot;:&quot;text&quot;}"/>
          <p:cNvSpPr txBox="1"/>
          <p:nvPr/>
        </p:nvSpPr>
        <p:spPr>
          <a:xfrm>
            <a:off x="628650" y="1914525"/>
            <a:ext cx="6791325" cy="7143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若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x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充分大时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g(x)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f(x)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h(x)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满足夹逼关系，且两端极限存在并相等，则中间函数的极限被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夹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出来：</a:t>
            </a:r>
            <a:endParaRPr/>
          </a:p>
        </p:txBody>
      </p:sp>
      <p:sp>
        <p:nvSpPr>
          <p:cNvPr id="197" name="矩形: 圆角 196"/>
          <p:cNvSpPr/>
          <p:nvPr/>
        </p:nvSpPr>
        <p:spPr>
          <a:xfrm>
            <a:off x="628650" y="3171825"/>
            <a:ext cx="6791325" cy="1057275"/>
          </a:xfrm>
          <a:prstGeom prst="roundRect">
            <a:avLst>
              <a:gd name="adj" fmla="val 9009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8" name="图形 197" descr="g(x) \leq f(x) \leq h(x), \quad \lim_{x \to +\infty} g(x) = \lim_{x \to +\infty} h(x) = 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57325" y="3305175"/>
            <a:ext cx="5143500" cy="361950"/>
          </a:xfrm>
          <a:prstGeom prst="rect">
            <a:avLst/>
          </a:prstGeom>
          <a:ln/>
        </p:spPr>
      </p:pic>
      <p:pic>
        <p:nvPicPr>
          <p:cNvPr id="199" name="图形 198" descr="\Longrightarrow \quad \lim_{x \to +\infty} f(x) = 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95575" y="3667125"/>
            <a:ext cx="2667000" cy="428625"/>
          </a:xfrm>
          <a:prstGeom prst="rect">
            <a:avLst/>
          </a:prstGeom>
          <a:ln/>
        </p:spPr>
      </p:pic>
      <p:sp>
        <p:nvSpPr>
          <p:cNvPr id="200" name="矩形: 圆角 199"/>
          <p:cNvSpPr/>
          <p:nvPr/>
        </p:nvSpPr>
        <p:spPr>
          <a:xfrm>
            <a:off x="628650" y="4772025"/>
            <a:ext cx="3333750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781050" y="4867275"/>
            <a:ext cx="3028950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要点一：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下界、上界必须同时夹住，缺一不可。</a:t>
            </a:r>
            <a:endParaRPr/>
          </a:p>
        </p:txBody>
      </p:sp>
      <p:sp>
        <p:nvSpPr>
          <p:cNvPr id="202" name="矩形: 圆角 201"/>
          <p:cNvSpPr/>
          <p:nvPr/>
        </p:nvSpPr>
        <p:spPr>
          <a:xfrm>
            <a:off x="4095750" y="4772025"/>
            <a:ext cx="3324225" cy="809625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4248150" y="4867275"/>
            <a:ext cx="3019425" cy="6191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要点二：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定理本身不给界——</a:t>
            </a:r>
            <a:r>
              <a:rPr lang="zh-CN" sz="1350" b="1">
                <a:solidFill>
                  <a:srgbClr val="1A2230"/>
                </a:solidFill>
                <a:latin typeface="Microsoft YaHei"/>
                <a:ea typeface="Microsoft YaHei"/>
              </a:rPr>
              <a:t>界要自己构造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，这正是本题的工作量所在。</a:t>
            </a:r>
            <a:endParaRPr/>
          </a:p>
        </p:txBody>
      </p:sp>
      <p:sp>
        <p:nvSpPr>
          <p:cNvPr id="204" name="矩形: 圆角 203"/>
          <p:cNvSpPr/>
          <p:nvPr/>
        </p:nvSpPr>
        <p:spPr>
          <a:xfrm>
            <a:off x="7877175" y="914400"/>
            <a:ext cx="3933825" cy="438150"/>
          </a:xfrm>
          <a:prstGeom prst="roundRect">
            <a:avLst>
              <a:gd name="adj" fmla="val 21739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9039225" y="1009650"/>
            <a:ext cx="16097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解题路线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三步走</a:t>
            </a:r>
            <a:endParaRPr/>
          </a:p>
        </p:txBody>
      </p:sp>
      <p:sp>
        <p:nvSpPr>
          <p:cNvPr id="206" name="矩形: 圆角 205"/>
          <p:cNvSpPr/>
          <p:nvPr/>
        </p:nvSpPr>
        <p:spPr>
          <a:xfrm>
            <a:off x="7877175" y="1466850"/>
            <a:ext cx="3933825" cy="1057275"/>
          </a:xfrm>
          <a:prstGeom prst="roundRect">
            <a:avLst>
              <a:gd name="adj" fmla="val 900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7" name="矩形: 圆角 206"/>
          <p:cNvSpPr/>
          <p:nvPr/>
        </p:nvSpPr>
        <p:spPr>
          <a:xfrm>
            <a:off x="8048625" y="18002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8191500" y="1885950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8582025" y="1714500"/>
            <a:ext cx="30575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离散化</a:t>
            </a:r>
            <a:endParaRPr/>
          </a:p>
        </p:txBody>
      </p:sp>
      <p:sp>
        <p:nvSpPr>
          <p:cNvPr id="210" name="文本框 209" descr="{&quot;isTemplate&quot;:true,&quot;type&quot;:&quot;text&quot;}"/>
          <p:cNvSpPr txBox="1"/>
          <p:nvPr/>
        </p:nvSpPr>
        <p:spPr>
          <a:xfrm>
            <a:off x="8582025" y="1990725"/>
            <a:ext cx="305752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取整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n = [x]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，把连续的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x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夹进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[n, n+1)</a:t>
            </a:r>
            <a:endParaRPr/>
          </a:p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9801225" y="2543175"/>
            <a:ext cx="952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12" name="矩形: 圆角 211"/>
          <p:cNvSpPr/>
          <p:nvPr/>
        </p:nvSpPr>
        <p:spPr>
          <a:xfrm>
            <a:off x="7877175" y="2790825"/>
            <a:ext cx="3933825" cy="1352550"/>
          </a:xfrm>
          <a:prstGeom prst="roundRect">
            <a:avLst>
              <a:gd name="adj" fmla="val 704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3" name="矩形: 圆角 212"/>
          <p:cNvSpPr/>
          <p:nvPr/>
        </p:nvSpPr>
        <p:spPr>
          <a:xfrm>
            <a:off x="8048625" y="326707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8191500" y="3352800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8582025" y="3048000"/>
            <a:ext cx="30575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放缩</a:t>
            </a:r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8582025" y="3324225"/>
            <a:ext cx="30575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用二项式定理估计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an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，得到可求极限的上界</a:t>
            </a:r>
            <a:endParaRPr/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9801225" y="4162425"/>
            <a:ext cx="952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500" b="1">
                <a:solidFill>
                  <a:srgbClr val="1E4FA8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18" name="矩形: 圆角 217"/>
          <p:cNvSpPr/>
          <p:nvPr/>
        </p:nvSpPr>
        <p:spPr>
          <a:xfrm>
            <a:off x="7877175" y="4410075"/>
            <a:ext cx="3933825" cy="1343025"/>
          </a:xfrm>
          <a:prstGeom prst="roundRect">
            <a:avLst>
              <a:gd name="adj" fmla="val 709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9" name="矩形: 圆角 218"/>
          <p:cNvSpPr/>
          <p:nvPr/>
        </p:nvSpPr>
        <p:spPr>
          <a:xfrm>
            <a:off x="8048625" y="48863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8191500" y="4972050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8582025" y="4657725"/>
            <a:ext cx="30575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取极限</a:t>
            </a:r>
            <a:endParaRPr/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8582025" y="4933950"/>
            <a:ext cx="30575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n → ∞ 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时两端同趋于</a:t>
            </a:r>
            <a:r>
              <a:rPr lang="en-US" sz="1275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r>
              <a:rPr lang="zh-CN" sz="1275">
                <a:solidFill>
                  <a:srgbClr val="4A5568"/>
                </a:solidFill>
                <a:latin typeface="Microsoft YaHei"/>
                <a:ea typeface="Microsoft YaHei"/>
              </a:rPr>
              <a:t>，由夹逼定理得结论</a:t>
            </a:r>
            <a:endParaRPr/>
          </a:p>
        </p:txBody>
      </p:sp>
      <p:sp>
        <p:nvSpPr>
          <p:cNvPr id="223" name="矩形: 圆角 222"/>
          <p:cNvSpPr/>
          <p:nvPr/>
        </p:nvSpPr>
        <p:spPr>
          <a:xfrm>
            <a:off x="381000" y="5905500"/>
            <a:ext cx="11430000" cy="457200"/>
          </a:xfrm>
          <a:prstGeom prst="roundRect">
            <a:avLst>
              <a:gd name="adj" fmla="val 20833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609600" y="6019800"/>
            <a:ext cx="109728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核心策略：化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连续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为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离散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，再用代数不等式制服指数。</a:t>
            </a:r>
            <a:endParaRPr/>
          </a:p>
        </p:txBody>
      </p:sp>
      <p:sp>
        <p:nvSpPr>
          <p:cNvPr id="225" name="任意多边形: 形状 224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rect l="0" t="0" r="0" b="0"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381000" y="6591300"/>
            <a:ext cx="1181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数学分析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解题课件</a:t>
            </a:r>
            <a:endParaRPr/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11353800" y="659130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05 / 13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7F9FC', flexDirection: 'row', alignItems: 'center', padding: '0 90px', position: 'relative' }}&gt;&#10;    &lt;Box style={{ position: 'absolute', top: 0, left: 0, width: '100%', height: 10, background: '#1E4FA8' }} /&gt;&#10;    &lt;Box style={{ position: 'absolute', bottom: 40, right: 60, width: 300, height: 2, background: '#D6DCE5' }} /&gt;&#10;&#10;    &lt;Box style={{ flexDirection: 'column', justifyContent: 'center', width: 420 }}&gt;&#10;        &lt;Text style={{ fontSize: 240, fontWeight: 'bold', color: '#1E4FA8', lineHeight: 1 }}&gt;02&lt;/Text&gt;&#10;    &lt;/Box&gt;&#10;&#10;    &lt;Box style={{ flex: 1, flexDirection: 'column', justifyContent: 'center', paddingLeft: 70, gap: 24 }}&gt;&#10;        &lt;Box style={{ flexDirection: 'row', alignItems: 'center', gap: 16 }}&gt;&#10;            &lt;Box style={{ width: 8, height: 40, background: '#1E4FA8' }} /&gt;&#10;            &lt;Text style={{ fontSize: 52, fontWeight: 'bold', color: '#1A2230' }}&gt;详细证明&lt;/Text&gt;&#10;        &lt;/Box&gt;&#10;        &lt;Text style={{ fontSize: 22, color: '#4A5568', lineHeight: 1.7 }}&gt;按三步路线完整推导，每一步都交代&lt;span style={{ fontWeight: 'bold', color: '#1E4FA8' }}&gt;依据&lt;/span&gt;与&lt;span style={{ fontWeight: 'bold', color: '#1E4FA8' }}&gt;目的&lt;/span&gt;。&lt;/Text&gt;&#10;        &lt;Box style={{ flexDirection: 'column', gap: 14, marginTop: 8 }}&gt;&#10;            &lt;Box style={{ flexDirection: 'row', alignItems: 'center', gap: 14 }}&gt;&#10;                &lt;Box style={{ background: '#1E4FA8', borderRadius: 14, padding: '4px 16px' }}&gt;&lt;Text style={{ fontSize: 18, fontWeight: 'bold', color: '#FFFFFF' }}&gt;步骤一&lt;/Text&gt;&lt;/Box&gt;&#10;                &lt;Text style={{ fontSize: 22, color: '#1A2230' }}&gt;整数部分夹逼：建立 0 与 (n+1)&lt;sup&gt;k&lt;/sup&gt;/a&lt;sup&gt;n&lt;/sup&gt; 之间的夹逼链&lt;/Text&gt;&#10;            &lt;/Box&gt;&#10;            &lt;Box style={{ flexDirection: 'row', alignItems: 'center', gap: 14 }}&gt;&#10;                &lt;Box style={{ background: '#1E4FA8', borderRadius: 14, padding: '4px 16px' }}&gt;&lt;Text style={{ fontSize: 18, fontWeight: 'bold', color: '#FFFFFF' }}&gt;步骤二&lt;/Text&gt;&lt;/Box&gt;&#10;                &lt;Text style={{ fontSize: 22, color: '#1A2230' }}&gt;二项式定理放缩：只保留 k+1 次项，制造次数差&lt;/Text&gt;&#10;            &lt;/Box&gt;&#10;            &lt;Box style={{ flexDirection: 'row', alignItems: 'center', gap: 14 }}&gt;&#10;                &lt;Box style={{ background: '#1E4FA8', borderRadius: 14, padding: '4px 16px' }}&gt;&lt;Text style={{ fontSize: 18, fontWeight: 'bold', color: '#FFFFFF' }}&gt;步骤三&lt;/Text&gt;&lt;/Box&gt;&#10;                &lt;Text style={{ fontSize: 22, color: '#1A2230' }}&gt;取极限：上界趋于 0，由夹逼定理得原极限为 0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矩形 2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857250" y="2057400"/>
            <a:ext cx="4000500" cy="2743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31" name="矩形 230"/>
          <p:cNvSpPr/>
          <p:nvPr/>
        </p:nvSpPr>
        <p:spPr>
          <a:xfrm>
            <a:off x="5524500" y="2200275"/>
            <a:ext cx="762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5753100" y="2085975"/>
            <a:ext cx="19812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A2230"/>
                </a:solidFill>
                <a:latin typeface="Microsoft YaHei"/>
                <a:ea typeface="Microsoft YaHei"/>
              </a:rPr>
              <a:t>详细证明</a:t>
            </a:r>
            <a:endParaRPr/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5524500" y="2914650"/>
            <a:ext cx="5810250" cy="4286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按三步路线完整推导，每一步都交代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依据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目的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34" name="矩形: 圆角 233"/>
          <p:cNvSpPr/>
          <p:nvPr/>
        </p:nvSpPr>
        <p:spPr>
          <a:xfrm>
            <a:off x="5524500" y="3648075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5" name="文本框 234" descr="{&quot;isTemplate&quot;:true,&quot;type&quot;:&quot;text&quot;}"/>
          <p:cNvSpPr txBox="1"/>
          <p:nvPr/>
        </p:nvSpPr>
        <p:spPr>
          <a:xfrm>
            <a:off x="5676900" y="3686175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步骤一</a:t>
            </a:r>
            <a:endParaRPr/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6477000" y="3667125"/>
            <a:ext cx="47244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整数部分夹逼：建立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0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与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(n+1)k/an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之间的夹逼链</a:t>
            </a:r>
            <a:endParaRPr/>
          </a:p>
        </p:txBody>
      </p:sp>
      <p:sp>
        <p:nvSpPr>
          <p:cNvPr id="237" name="矩形: 圆角 236"/>
          <p:cNvSpPr/>
          <p:nvPr/>
        </p:nvSpPr>
        <p:spPr>
          <a:xfrm>
            <a:off x="5524500" y="4067175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5676900" y="4105275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步骤二</a:t>
            </a:r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6477000" y="4086225"/>
            <a:ext cx="45053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二项式定理放缩：只保留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k+1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次项，制造次数差</a:t>
            </a:r>
            <a:endParaRPr/>
          </a:p>
        </p:txBody>
      </p:sp>
      <p:sp>
        <p:nvSpPr>
          <p:cNvPr id="240" name="矩形: 圆角 239"/>
          <p:cNvSpPr/>
          <p:nvPr/>
        </p:nvSpPr>
        <p:spPr>
          <a:xfrm>
            <a:off x="5524500" y="4486275"/>
            <a:ext cx="819150" cy="285750"/>
          </a:xfrm>
          <a:prstGeom prst="roundRect">
            <a:avLst>
              <a:gd name="adj" fmla="val 46667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5676900" y="4524375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步骤三</a:t>
            </a:r>
            <a:endParaRPr/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6477000" y="4505325"/>
            <a:ext cx="43529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取极限：上界趋于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0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，由夹逼定理得原极限为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243" name="矩形 24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4" name="矩形 243"/>
          <p:cNvSpPr/>
          <p:nvPr/>
        </p:nvSpPr>
        <p:spPr>
          <a:xfrm>
            <a:off x="8763000" y="6457950"/>
            <a:ext cx="28575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height: 10, width: '100%', background: '#1E4FA8' }} /&gt;&#10;    &lt;Box style={{ height: 70, flexDirection: 'row', alignItems: 'center', justifyContent: 'space-between', padding: '0 40px', borderBottom: '1px solid #D6DCE5' }}&gt;&#10;        &lt;Box style={{ flexDirection: 'row', alignItems: 'center', gap: 16 }}&gt;&#10;            &lt;Box style={{ background: '#1E4FA8', borderRadius: 8, padding: '6px 16px' }}&gt;&lt;Text style={{ fontSize: 20, fontWeight: 'bold', color: '#FFFFFF' }}&gt;步骤一&lt;/Text&gt;&lt;/Box&gt;&#10;            &lt;Text style={{ fontSize: 34, fontWeight: 'bold', color: '#0E3F8C' }}&gt;整数部分夹逼，建立上下界&lt;/Text&gt;&#10;        &lt;/Box&gt;&#10;        &lt;Text style={{ fontSize: 18, color: '#8B97A8', letterSpacing: 2 }}&gt;02 详细证明&lt;/Text&gt;&#10;    &lt;/Box&gt;&#10;&#10;    &lt;Box style={{ flex: 1, flexDirection: 'row', margin: '16px 40px', gap: 22 }}&gt;&#10;        &lt;Box style={{ flex: 1.6, flexDirection: 'column', gap: 10 }}&gt;&#10;            &lt;Box style={{ background: '#F7F9FC', border: '1px solid #D6DCE5', borderRadius: 10, padding: '11px 20px', flexDirection: 'row', alignItems: 'center', gap: 14 }}&gt;&#10;                &lt;Box style={{ width: 32, height: 32, borderRadius: 16, background: '#1E4FA8', alignItems: 'center', justifyContent: 'center' }}&gt;&lt;Text style={{ fontSize: 17, fontWeight: 'bold', color: '#FFFFFF' }}&gt;1&lt;/Text&gt;&lt;/Box&gt;&#10;                &lt;Text style={{ fontSize: 20, color: '#1A2230' }}&gt;设 &lt;span style={{ fontWeight: 'bold', color: '#1E4FA8' }}&gt;h = a − 1 &amp;gt; 0&lt;/span&gt;（因为 a &amp;gt; 1），则 a = 1 + h。&lt;/Text&gt;&#10;            &lt;/Box&gt;&#10;            &lt;Box style={{ background: '#F7F9FC', border: '1px solid #D6DCE5', borderRadius: 10, padding: '11px 20px', flexDirection: 'row', alignItems: 'center', gap: 14 }}&gt;&#10;                &lt;Box style={{ width: 32, height: 32, borderRadius: 16, background: '#1E4FA8', alignItems: 'center', justifyContent: 'center' }}&gt;&lt;Text style={{ fontSize: 17, fontWeight: 'bold', color: '#FFFFFF' }}&gt;2&lt;/Text&gt;&lt;/Box&gt;&#10;                &lt;Box style={{ flexDirection: 'row', alignItems: 'center', gap: 12 }}&gt;&#10;                    &lt;Text style={{ fontSize: 20, color: '#1A2230' }}&gt;对 x &amp;gt; 0，记 n = [x]（取整），则&lt;/Text&gt;&#10;                    &lt;Math latex={'n \\leq x &lt; n+1'} width={120} color='#1A2230' /&gt;&#10;                &lt;/Box&gt;&#10;            &lt;/Box&gt;&#10;            &lt;Box style={{ background: '#F7F9FC', border: '1px solid #D6DCE5', borderRadius: 10, padding: '11px 20px', flexDirection: 'row', alignItems: 'center', gap: 14 }}&gt;&#10;                &lt;Box style={{ width: 32, height: 32, borderRadius: 16, background: '#1E4FA8', alignItems: 'center', justifyContent: 'center' }}&gt;&lt;Text style={{ fontSize: 17, fontWeight: 'bold', color: '#FFFFFF' }}&gt;3&lt;/Text&gt;&lt;/Box&gt;&#10;                &lt;Text style={{ fontSize: 20, color: '#1A2230', lineHeight: 1.5 }}&gt;下界：由 x &amp;gt; 0、k &amp;gt; 0 知 x&lt;sup&gt;k&lt;/sup&gt; &amp;gt; 0，被求分式恒为正。&lt;/Text&gt;&#10;            &lt;/Box&gt;&#10;            &lt;Box style={{ background: '#F7F9FC', border: '1px solid #D6DCE5', borderRadius: 10, padding: '11px 20px', flexDirection: 'row', alignItems: 'center', gap: 14 }}&gt;&#10;                &lt;Box style={{ width: 32, height: 32, borderRadius: 16, background: '#1E4FA8', alignItems: 'center', justifyContent: 'center' }}&gt;&lt;Text style={{ fontSize: 17, fontWeight: 'bold', color: '#FFFFFF' }}&gt;4&lt;/Text&gt;&lt;/Box&gt;&#10;                &lt;Text style={{ fontSize: 20, color: '#1A2230', lineHeight: 1.5 }}&gt;放大分子：x &amp;lt; n+1 ⟹ x&lt;sup&gt;k&lt;/sup&gt; ≤ (n+1)&lt;sup&gt;k&lt;/sup&gt;；缩小分母：x ≥ n ⟹ a&lt;sup&gt;x&lt;/sup&gt; ≥ a&lt;sup&gt;n&lt;/sup&gt;。&lt;/Text&gt;&#10;            &lt;/Box&gt;&#10;            &lt;Box style={{ background: '#E8EFF8', border: '1px solid #3D7BD9', borderRadius: 10, padding: '12px 20px', flexDirection: 'row', alignItems: 'center', gap: 14 }}&gt;&#10;                &lt;Box style={{ width: 32, height: 32, borderRadius: 16, background: '#0E3F8C', alignItems: 'center', justifyContent: 'center' }}&gt;&lt;Text style={{ fontSize: 17, fontWeight: 'bold', color: '#FFFFFF' }}&gt;5&lt;/Text&gt;&lt;/Box&gt;&#10;                &lt;Box style={{ flexDirection: 'row', alignItems: 'center', gap: 14 }}&gt;&#10;                    &lt;Text style={{ fontSize: 20, fontWeight: 'bold', color: '#0E3F8C' }}&gt;夹逼链：&lt;/Text&gt;&#10;                    &lt;Math latex={'0 &lt; \\frac{x^{k}}{a^{x}} \\leq \\frac{(n+1)^{k}}{a^{n}}, \\quad n = [x]'} width={330} color='#0E3F8C' /&gt;&#10;                &lt;/Box&gt;&#10;            &lt;/Box&gt;&#10;            &lt;Box style={{ background: '#F7F9FC', border: '1px solid #D6DCE5', borderRadius: 10, padding: '11px 20px', flexDirection: 'row', alignItems: 'center', gap: 14 }}&gt;&#10;                &lt;Box style={{ width: 32, height: 32, borderRadius: 16, background: '#1E4FA8', alignItems: 'center', justifyContent: 'center' }}&gt;&lt;Text style={{ fontSize: 17, fontWeight: 'bold', color: '#FFFFFF' }}&gt;6&lt;/Text&gt;&lt;/Box&gt;&#10;                &lt;Text style={{ fontSize: 20, color: '#1A2230', lineHeight: 1.5 }}&gt;x → +∞ 时 n = [x] → +∞（取整函数单调且无界），故只需研究 &lt;span style={{ fontWeight: 'bold', color: '#1E4FA8' }}&gt;n → ∞&lt;/span&gt;。&lt;/Text&gt;&#10;            &lt;/Box&gt;&#10;        &lt;/Box&gt;&#10;&#10;        &lt;Box style={{ flex: 1, background: '#0E3F8C', borderRadius: 12, padding: '22px 24px', flexDirection: 'column', justifyContent: 'space-between' }}&gt;&#10;            &lt;Box style={{ flexDirection: 'row', alignItems: 'center', gap: 12 }}&gt;&#10;                &lt;Box style={{ width: 6, height: 26, background: '#E8EFF8' }} /&gt;&#10;                &lt;Text style={{ fontSize: 23, fontWeight: 'bold', color: '#FFFFFF' }}&gt;为什么要取整？&lt;/Text&gt;&#10;            &lt;/Box&gt;&#10;            &lt;Text style={{ fontSize: 19, color: '#D6E2F5', lineHeight: 1.7 }}&gt;连续变量 x 无法直接套用二项式定理；取整后 n 是自然数，a&lt;sup&gt;n&lt;/sup&gt; = (1+h)&lt;sup&gt;n&lt;/sup&gt; 才能按 (1+h) 的幂展开——这是&quot;化连续为离散&quot;的关键一步。&lt;/Text&gt;&#10;            &lt;Box style={{ background: 'rgba(232,239,248,0.14)', borderRadius: 10, padding: '14px 18px' }}&gt;&#10;                &lt;Text style={{ fontSize: 19, color: '#FFFFFF', lineHeight: 1.65 }}&gt;&lt;span style={{ fontWeight: 'bold' }}&gt;一升一降，恰好夹住：&lt;/span&gt;&lt;br /&gt;分子换大：x&lt;sup&gt;k&lt;/sup&gt; ≤ (n+1)&lt;sup&gt;k&lt;/sup&gt;&lt;br /&gt;分母换小：a&lt;sup&gt;x&lt;/sup&gt; ≥ a&lt;sup&gt;n&lt;/sup&gt;&lt;/Text&gt;&#10;            &lt;/Box&gt;&#10;        &lt;/Box&gt;&#10;    &lt;/Box&gt;&#10;&#10;    &lt;Box style={{ margin: '0 40px 12px', background: '#0E3F8C', borderRadius: 10, padding: '12px 24px' }}&gt;&#10;        &lt;Text style={{ fontSize: 20, color: '#FFFFFF' }}&gt;小结：夹逼链已建立，剩下唯一问题——上界 (n+1)&lt;sup&gt;k&lt;/sup&gt; / a&lt;sup&gt;n&lt;/sup&gt; 趋于几？进入步骤二。&lt;/Text&gt;&#10;    &lt;/Box&gt;&#10;&#10;    &lt;Box style={{ height: 40, flexDirection: 'row', alignItems: 'center', justifyContent: 'space-between', padding: '0 40px', borderTop: '1px solid #D6DCE5' }}&gt;&#10;        &lt;Text style={{ fontSize: 14, color: '#8B97A8' }}&gt;数学分析 · 解题课件&lt;/Text&gt;&#10;        &lt;Text style={{ fontSize: 14, color: '#0E3F8C' }}&gt;07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矩形 24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7" name="矩形 24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8" name="任意多边形: 形状 247"/>
          <p:cNvSpPr/>
          <p:nvPr/>
        </p:nvSpPr>
        <p:spPr>
          <a:xfrm>
            <a:off x="0" y="95250"/>
            <a:ext cx="12192000" cy="666750"/>
          </a:xfrm>
          <a:custGeom>
            <a:avLst/>
            <a:gdLst/>
            <a:ahLst/>
            <a:cxnLst/>
            <a:rect l="0" t="0" r="0" b="0"/>
            <a:pathLst>
              <a:path w="1280" h="70">
                <a:moveTo>
                  <a:pt x="0" y="69"/>
                </a:moveTo>
                <a:lnTo>
                  <a:pt x="1280" y="69"/>
                </a:lnTo>
                <a:lnTo>
                  <a:pt x="1280" y="70"/>
                </a:lnTo>
                <a:lnTo>
                  <a:pt x="0" y="70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9" name="矩形: 圆角 248"/>
          <p:cNvSpPr/>
          <p:nvPr/>
        </p:nvSpPr>
        <p:spPr>
          <a:xfrm>
            <a:off x="381000" y="257175"/>
            <a:ext cx="876300" cy="342900"/>
          </a:xfrm>
          <a:prstGeom prst="roundRect">
            <a:avLst>
              <a:gd name="adj" fmla="val 22222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533400" y="314325"/>
            <a:ext cx="571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步骤一</a:t>
            </a:r>
            <a:endParaRPr/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1409700" y="228600"/>
            <a:ext cx="38862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整数部分夹逼，建立上下界</a:t>
            </a:r>
            <a:endParaRPr/>
          </a:p>
        </p:txBody>
      </p:sp>
      <p:sp>
        <p:nvSpPr>
          <p:cNvPr id="252" name="文本框 251" descr="{&quot;isTemplate&quot;:true,&quot;type&quot;:&quot;text&quot;}"/>
          <p:cNvSpPr txBox="1"/>
          <p:nvPr/>
        </p:nvSpPr>
        <p:spPr>
          <a:xfrm>
            <a:off x="10734675" y="323850"/>
            <a:ext cx="10763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8B97A8"/>
                </a:solidFill>
                <a:latin typeface="Microsoft YaHei"/>
                <a:ea typeface="Microsoft YaHei"/>
              </a:rPr>
              <a:t>02 </a:t>
            </a:r>
            <a:r>
              <a:rPr lang="zh-CN" sz="1350" spc="150">
                <a:solidFill>
                  <a:srgbClr val="8B97A8"/>
                </a:solidFill>
                <a:latin typeface="Microsoft YaHei"/>
                <a:ea typeface="Microsoft YaHei"/>
              </a:rPr>
              <a:t>详细证明</a:t>
            </a:r>
            <a:endParaRPr/>
          </a:p>
        </p:txBody>
      </p:sp>
      <p:sp>
        <p:nvSpPr>
          <p:cNvPr id="253" name="矩形: 圆角 252"/>
          <p:cNvSpPr/>
          <p:nvPr/>
        </p:nvSpPr>
        <p:spPr>
          <a:xfrm>
            <a:off x="381000" y="914400"/>
            <a:ext cx="6905625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4" name="矩形: 圆角 253"/>
          <p:cNvSpPr/>
          <p:nvPr/>
        </p:nvSpPr>
        <p:spPr>
          <a:xfrm>
            <a:off x="571500" y="10191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676275" y="1076325"/>
            <a:ext cx="104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1009650" y="1057275"/>
            <a:ext cx="42576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设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h = a − 1 &gt; 0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（因为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a &gt; 1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），则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a = 1 + h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57" name="矩形: 圆角 256"/>
          <p:cNvSpPr/>
          <p:nvPr/>
        </p:nvSpPr>
        <p:spPr>
          <a:xfrm>
            <a:off x="381000" y="1524000"/>
            <a:ext cx="6905625" cy="514350"/>
          </a:xfrm>
          <a:prstGeom prst="roundRect">
            <a:avLst>
              <a:gd name="adj" fmla="val 1851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8" name="矩形: 圆角 257"/>
          <p:cNvSpPr/>
          <p:nvPr/>
        </p:nvSpPr>
        <p:spPr>
          <a:xfrm>
            <a:off x="571500" y="162877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676275" y="1685925"/>
            <a:ext cx="104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1009650" y="1666875"/>
            <a:ext cx="28860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对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x &gt; 0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，记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n = [x]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（取整），则</a:t>
            </a:r>
            <a:endParaRPr/>
          </a:p>
        </p:txBody>
      </p:sp>
      <p:pic>
        <p:nvPicPr>
          <p:cNvPr id="261" name="图形 260" descr="n \leq x &lt; n+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10025" y="1704975"/>
            <a:ext cx="1143000" cy="152400"/>
          </a:xfrm>
          <a:prstGeom prst="rect">
            <a:avLst/>
          </a:prstGeom>
          <a:ln/>
        </p:spPr>
      </p:pic>
      <p:sp>
        <p:nvSpPr>
          <p:cNvPr id="262" name="矩形: 圆角 261"/>
          <p:cNvSpPr/>
          <p:nvPr/>
        </p:nvSpPr>
        <p:spPr>
          <a:xfrm>
            <a:off x="381000" y="2133600"/>
            <a:ext cx="6905625" cy="552450"/>
          </a:xfrm>
          <a:prstGeom prst="roundRect">
            <a:avLst>
              <a:gd name="adj" fmla="val 1724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3" name="矩形: 圆角 262"/>
          <p:cNvSpPr/>
          <p:nvPr/>
        </p:nvSpPr>
        <p:spPr>
          <a:xfrm>
            <a:off x="571500" y="22574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76275" y="2314575"/>
            <a:ext cx="104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1009650" y="2238375"/>
            <a:ext cx="452437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下界：由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x &gt; 0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k &gt; 0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知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xk &gt; 0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，被求分式恒为正。</a:t>
            </a:r>
            <a:endParaRPr/>
          </a:p>
        </p:txBody>
      </p:sp>
      <p:sp>
        <p:nvSpPr>
          <p:cNvPr id="266" name="矩形: 圆角 265"/>
          <p:cNvSpPr/>
          <p:nvPr/>
        </p:nvSpPr>
        <p:spPr>
          <a:xfrm>
            <a:off x="381000" y="2781300"/>
            <a:ext cx="6905625" cy="552450"/>
          </a:xfrm>
          <a:prstGeom prst="roundRect">
            <a:avLst>
              <a:gd name="adj" fmla="val 1724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7" name="矩形: 圆角 266"/>
          <p:cNvSpPr/>
          <p:nvPr/>
        </p:nvSpPr>
        <p:spPr>
          <a:xfrm>
            <a:off x="571500" y="29051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8" name="文本框 267" descr="{&quot;isTemplate&quot;:true,&quot;type&quot;:&quot;text&quot;}"/>
          <p:cNvSpPr txBox="1"/>
          <p:nvPr/>
        </p:nvSpPr>
        <p:spPr>
          <a:xfrm>
            <a:off x="676275" y="2962275"/>
            <a:ext cx="104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1009650" y="2886075"/>
            <a:ext cx="5876925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放大分子：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x &lt; n+1 ⟹ xk ≤ (n+1)k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；缩小分母：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x ≥ n ⟹ ax ≥ an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0" name="矩形: 圆角 269"/>
          <p:cNvSpPr/>
          <p:nvPr/>
        </p:nvSpPr>
        <p:spPr>
          <a:xfrm>
            <a:off x="381000" y="3429000"/>
            <a:ext cx="6905625" cy="638175"/>
          </a:xfrm>
          <a:prstGeom prst="roundRect">
            <a:avLst>
              <a:gd name="adj" fmla="val 14925"/>
            </a:avLst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1" name="矩形: 圆角 270"/>
          <p:cNvSpPr/>
          <p:nvPr/>
        </p:nvSpPr>
        <p:spPr>
          <a:xfrm>
            <a:off x="571500" y="36004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76275" y="3657600"/>
            <a:ext cx="104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73" name="文本框 272" descr="{&quot;isTemplate&quot;:true,&quot;type&quot;:&quot;text&quot;}"/>
          <p:cNvSpPr txBox="1"/>
          <p:nvPr/>
        </p:nvSpPr>
        <p:spPr>
          <a:xfrm>
            <a:off x="1009650" y="3638550"/>
            <a:ext cx="762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夹逼链：</a:t>
            </a:r>
            <a:endParaRPr/>
          </a:p>
        </p:txBody>
      </p:sp>
      <p:pic>
        <p:nvPicPr>
          <p:cNvPr id="274" name="图形 273" descr="0 &lt; \frac{x^{k}}{a^{x}} \leq \frac{(n+1)^{k}}{a^{n}}, \quad n = [x]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05000" y="3543300"/>
            <a:ext cx="3143250" cy="409575"/>
          </a:xfrm>
          <a:prstGeom prst="rect">
            <a:avLst/>
          </a:prstGeom>
          <a:ln/>
        </p:spPr>
      </p:pic>
      <p:sp>
        <p:nvSpPr>
          <p:cNvPr id="275" name="矩形: 圆角 274"/>
          <p:cNvSpPr/>
          <p:nvPr/>
        </p:nvSpPr>
        <p:spPr>
          <a:xfrm>
            <a:off x="381000" y="4162425"/>
            <a:ext cx="6905625" cy="552450"/>
          </a:xfrm>
          <a:prstGeom prst="roundRect">
            <a:avLst>
              <a:gd name="adj" fmla="val 1724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6" name="矩形: 圆角 275"/>
          <p:cNvSpPr/>
          <p:nvPr/>
        </p:nvSpPr>
        <p:spPr>
          <a:xfrm>
            <a:off x="571500" y="428625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7" name="文本框 276" descr="{&quot;isTemplate&quot;:true,&quot;type&quot;:&quot;text&quot;}"/>
          <p:cNvSpPr txBox="1"/>
          <p:nvPr/>
        </p:nvSpPr>
        <p:spPr>
          <a:xfrm>
            <a:off x="676275" y="4343400"/>
            <a:ext cx="104775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endParaRPr/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000125" y="4267200"/>
            <a:ext cx="60960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x → +∞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时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n = [x] → +∞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（取整函数单调且无界），故只需研究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n → ∞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9" name="矩形: 圆角 278"/>
          <p:cNvSpPr/>
          <p:nvPr/>
        </p:nvSpPr>
        <p:spPr>
          <a:xfrm>
            <a:off x="7496175" y="914400"/>
            <a:ext cx="4314825" cy="4838700"/>
          </a:xfrm>
          <a:prstGeom prst="roundRect">
            <a:avLst>
              <a:gd name="adj" fmla="val 2649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0" name="矩形 279"/>
          <p:cNvSpPr/>
          <p:nvPr/>
        </p:nvSpPr>
        <p:spPr>
          <a:xfrm>
            <a:off x="7724775" y="1133475"/>
            <a:ext cx="57150" cy="2476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7896225" y="1123950"/>
            <a:ext cx="1533525" cy="266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FFFFFF"/>
                </a:solidFill>
                <a:latin typeface="Microsoft YaHei"/>
                <a:ea typeface="Microsoft YaHei"/>
              </a:rPr>
              <a:t>为什么要取整？</a:t>
            </a:r>
            <a:endParaRPr/>
          </a:p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7724775" y="2238375"/>
            <a:ext cx="3857625" cy="11144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425">
                <a:solidFill>
                  <a:srgbClr val="D6E2F5"/>
                </a:solidFill>
                <a:latin typeface="Microsoft YaHei"/>
                <a:ea typeface="Microsoft YaHei"/>
              </a:rPr>
              <a:t>连续变量</a:t>
            </a:r>
            <a:r>
              <a:rPr lang="en-US" sz="1425">
                <a:solidFill>
                  <a:srgbClr val="D6E2F5"/>
                </a:solidFill>
                <a:latin typeface="Microsoft YaHei"/>
                <a:ea typeface="Microsoft YaHei"/>
              </a:rPr>
              <a:t> x </a:t>
            </a:r>
            <a:r>
              <a:rPr lang="zh-CN" sz="1425">
                <a:solidFill>
                  <a:srgbClr val="D6E2F5"/>
                </a:solidFill>
                <a:latin typeface="Microsoft YaHei"/>
                <a:ea typeface="Microsoft YaHei"/>
              </a:rPr>
              <a:t>无法直接套用二项式定理；取整后</a:t>
            </a:r>
            <a:r>
              <a:rPr lang="en-US" sz="1425">
                <a:solidFill>
                  <a:srgbClr val="D6E2F5"/>
                </a:solidFill>
                <a:latin typeface="Microsoft YaHei"/>
                <a:ea typeface="Microsoft YaHei"/>
              </a:rPr>
              <a:t> n </a:t>
            </a:r>
            <a:r>
              <a:rPr lang="zh-CN" sz="1425">
                <a:solidFill>
                  <a:srgbClr val="D6E2F5"/>
                </a:solidFill>
                <a:latin typeface="Microsoft YaHei"/>
                <a:ea typeface="Microsoft YaHei"/>
              </a:rPr>
              <a:t>是自然数，</a:t>
            </a:r>
            <a:r>
              <a:rPr lang="en-US" sz="1425">
                <a:solidFill>
                  <a:srgbClr val="D6E2F5"/>
                </a:solidFill>
                <a:latin typeface="Microsoft YaHei"/>
                <a:ea typeface="Microsoft YaHei"/>
              </a:rPr>
              <a:t>an = (1+h)n </a:t>
            </a:r>
            <a:r>
              <a:rPr lang="zh-CN" sz="1425">
                <a:solidFill>
                  <a:srgbClr val="D6E2F5"/>
                </a:solidFill>
                <a:latin typeface="Microsoft YaHei"/>
                <a:ea typeface="Microsoft YaHei"/>
              </a:rPr>
              <a:t>才能按</a:t>
            </a:r>
            <a:r>
              <a:rPr lang="en-US" sz="1425">
                <a:solidFill>
                  <a:srgbClr val="D6E2F5"/>
                </a:solidFill>
                <a:latin typeface="Microsoft YaHei"/>
                <a:ea typeface="Microsoft YaHei"/>
              </a:rPr>
              <a:t> (1+h) </a:t>
            </a:r>
            <a:r>
              <a:rPr lang="zh-CN" sz="1425">
                <a:solidFill>
                  <a:srgbClr val="D6E2F5"/>
                </a:solidFill>
                <a:latin typeface="Microsoft YaHei"/>
                <a:ea typeface="Microsoft YaHei"/>
              </a:rPr>
              <a:t>的幂展开——这是</a:t>
            </a:r>
            <a:r>
              <a:rPr lang="en-US" sz="1425">
                <a:solidFill>
                  <a:srgbClr val="D6E2F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D6E2F5"/>
                </a:solidFill>
                <a:latin typeface="Microsoft YaHei"/>
                <a:ea typeface="Microsoft YaHei"/>
              </a:rPr>
              <a:t>化连续为离散</a:t>
            </a:r>
            <a:r>
              <a:rPr lang="en-US" sz="1425">
                <a:solidFill>
                  <a:srgbClr val="D6E2F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D6E2F5"/>
                </a:solidFill>
                <a:latin typeface="Microsoft YaHei"/>
                <a:ea typeface="Microsoft YaHei"/>
              </a:rPr>
              <a:t>的关键一步。</a:t>
            </a:r>
            <a:endParaRPr/>
          </a:p>
        </p:txBody>
      </p:sp>
      <p:sp>
        <p:nvSpPr>
          <p:cNvPr id="283" name="矩形: 圆角 282"/>
          <p:cNvSpPr/>
          <p:nvPr/>
        </p:nvSpPr>
        <p:spPr>
          <a:xfrm>
            <a:off x="7724775" y="4200525"/>
            <a:ext cx="3857625" cy="1343025"/>
          </a:xfrm>
          <a:prstGeom prst="roundRect">
            <a:avLst>
              <a:gd name="adj" fmla="val 7092"/>
            </a:avLst>
          </a:prstGeom>
          <a:solidFill>
            <a:srgbClr val="E8EFF8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7896225" y="4333875"/>
            <a:ext cx="3514725" cy="1076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5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一升一降，恰好夹住：</a:t>
            </a:r>
            <a:endParaRPr/>
          </a:p>
          <a:p>
            <a:pPr>
              <a:lnSpc>
                <a:spcPct val="165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分子换大：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xk ≤ (n+1)k</a:t>
            </a:r>
            <a:endParaRPr/>
          </a:p>
          <a:p>
            <a:pPr>
              <a:lnSpc>
                <a:spcPct val="165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分母换小：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ax ≥ an</a:t>
            </a:r>
            <a:endParaRPr/>
          </a:p>
        </p:txBody>
      </p:sp>
      <p:sp>
        <p:nvSpPr>
          <p:cNvPr id="285" name="矩形: 圆角 284"/>
          <p:cNvSpPr/>
          <p:nvPr/>
        </p:nvSpPr>
        <p:spPr>
          <a:xfrm>
            <a:off x="381000" y="5905500"/>
            <a:ext cx="11430000" cy="457200"/>
          </a:xfrm>
          <a:prstGeom prst="roundRect">
            <a:avLst>
              <a:gd name="adj" fmla="val 20833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609600" y="6019800"/>
            <a:ext cx="109728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小结：夹逼链已建立，剩下唯一问题——上界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(n+1)k / an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趋于几？进入步骤二。</a:t>
            </a:r>
            <a:endParaRPr/>
          </a:p>
        </p:txBody>
      </p:sp>
      <p:sp>
        <p:nvSpPr>
          <p:cNvPr id="287" name="任意多边形: 形状 286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rect l="0" t="0" r="0" b="0"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381000" y="6591300"/>
            <a:ext cx="1181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数学分析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解题课件</a:t>
            </a:r>
            <a:endParaRPr/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11353800" y="659130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07 / 13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height: 10, width: '100%', background: '#1E4FA8' }} /&gt;&#10;    &lt;Box style={{ height: 70, flexDirection: 'row', alignItems: 'center', justifyContent: 'space-between', padding: '0 40px', borderBottom: '1px solid #D6DCE5' }}&gt;&#10;        &lt;Box style={{ flexDirection: 'row', alignItems: 'center', gap: 16 }}&gt;&#10;            &lt;Box style={{ background: '#1E4FA8', borderRadius: 8, padding: '6px 16px' }}&gt;&lt;Text style={{ fontSize: 20, fontWeight: 'bold', color: '#FFFFFF' }}&gt;步骤二&lt;/Text&gt;&lt;/Box&gt;&#10;            &lt;Text style={{ fontSize: 34, fontWeight: 'bold', color: '#0E3F8C' }}&gt;二项式定理放缩，制造次数差&lt;/Text&gt;&#10;        &lt;/Box&gt;&#10;        &lt;Text style={{ fontSize: 18, color: '#8B97A8', letterSpacing: 2 }}&gt;02 详细证明&lt;/Text&gt;&#10;    &lt;/Box&gt;&#10;&#10;    &lt;Box style={{ flex: 1, flexDirection: 'column', margin: '16px 40px', gap: 14 }}&gt;&#10;        &lt;Box style={{ background: '#F7F9FC', border: '1px solid #D6DCE5', borderRadius: 12, padding: '16px 26px', flexDirection: 'column', gap: 10 }}&gt;&#10;            &lt;Text style={{ fontSize: 20, color: '#1A2230', lineHeight: 1.55 }}&gt;当 &lt;span style={{ fontWeight: 'bold', color: '#1E4FA8' }}&gt;n ≥ k + 1&lt;/span&gt; 时，对 a&lt;sup&gt;n&lt;/sup&gt; = (1+h)&lt;sup&gt;n&lt;/sup&gt; 用二项式定理展开，&lt;span style={{ fontWeight: 'bold' }}&gt;只保留第 k+1 项&lt;/span&gt;（其余项非负，丢掉后不等号方向不变）：&lt;/Text&gt;&#10;            &lt;Box style={{ background: '#E8EFF8', borderRadius: 10, padding: '12px 20px', alignItems: 'center' }}&gt;&#10;                &lt;Math latex={'a^{n} = (1+h)^{n} = \\sum_{i=0}^{n} \\binom{n}{i} h^{i} \\; \\geq \\; \\binom{n}{k+1} h^{k+1} = \\frac{n(n-1)\\cdots(n-k)}{(k+1)!}\\, h^{k+1} \\; &gt; \\; 0'} width={840} color='#0E3F8C' display={true} /&gt;&#10;            &lt;/Box&gt;&#10;            &lt;Text style={{ fontSize: 20, color: '#1A2230', lineHeight: 1.55 }}&gt;把该下界代回步骤一的分母，分母变小、分式变大，得到更精细的上界：&lt;/Text&gt;&#10;            &lt;Box style={{ background: '#E8EFF8', borderRadius: 10, padding: '12px 20px', alignItems: 'center' }}&gt;&#10;                &lt;Math latex={'0 &lt; \\frac{x^{k}}{a^{x}} \\; \\leq \\; \\frac{(n+1)^{k}}{a^{n}} \\; \\leq \\; \\frac{(n+1)^{k}\\,(k+1)!}{n(n-1)\\cdots(n-k)\\, h^{k+1}}'} width={720} color='#0E3F8C' display={true} /&gt;&#10;            &lt;/Box&gt;&#10;        &lt;/Box&gt;&#10;&#10;        &lt;Box style={{ flexDirection: 'row', gap: 18, flex: 1 }}&gt;&#10;            &lt;Box style={{ flex: 1, background: '#FFFFFF', border: '1px solid #D6DCE5', borderRadius: 10, padding: '12px 20px', flexDirection: 'column', gap: 6 }}&gt;&#10;                &lt;Box style={{ flexDirection: 'row', alignItems: 'center', gap: 12 }}&gt;&#10;                    &lt;Box style={{ background: '#E8EFF8', borderRadius: 14, padding: '3px 14px' }}&gt;&lt;Text style={{ fontSize: 16, fontWeight: 'bold', color: '#1E4FA8' }}&gt;关键动作&lt;/Text&gt;&lt;/Box&gt;&#10;                    &lt;Text style={{ fontSize: 20, fontWeight: 'bold', color: '#1A2230' }}&gt;敢&quot;丢项&quot;&lt;/Text&gt;&#10;                &lt;/Box&gt;&#10;                &lt;Text style={{ fontSize: 18, color: '#4A5568', lineHeight: 1.55 }}&gt;n+1 项之和只需留一项即可压住分子；被丢的项都非负，只会让估计更宽松，方向依然成立。&lt;/Text&gt;&#10;            &lt;/Box&gt;&#10;            &lt;Box style={{ flex: 1, background: '#FFFFFF', border: '1px solid #D6DCE5', borderRadius: 10, padding: '12px 20px', flexDirection: 'column', gap: 6 }}&gt;&#10;                &lt;Box style={{ flexDirection: 'row', alignItems: 'center', gap: 12 }}&gt;&#10;                    &lt;Box style={{ background: '#E8EFF8', borderRadius: 14, padding: '3px 14px' }}&gt;&lt;Text style={{ fontSize: 16, fontWeight: 'bold', color: '#1E4FA8' }}&gt;核心机理&lt;/Text&gt;&lt;/Box&gt;&#10;                    &lt;Text style={{ fontSize: 20, fontWeight: 'bold', color: '#1A2230' }}&gt;1 次之差定胜负&lt;/Text&gt;&#10;                &lt;/Box&gt;&#10;                &lt;Text style={{ fontSize: 18, color: '#4A5568', lineHeight: 1.55 }}&gt;分子 (n+1)&lt;sup&gt;k&lt;/sup&gt; 是 k 次量级，分母连乘是 k+1 次量级——正是这&quot;1 次之差&quot;使上界趋于 0。&lt;/Text&gt;&#10;            &lt;/Box&gt;&#10;        &lt;/Box&gt;&#10;    &lt;/Box&gt;&#10;&#10;    &lt;Box style={{ margin: '0 40px 12px', background: '#0E3F8C', borderRadius: 10, padding: '12px 24px' }}&gt;&#10;        &lt;Text style={{ fontSize: 20, color: '#FFFFFF' }}&gt;小结：上界已化为只含 n 的有理式，且次数结构清晰——下一步取极限收官。&lt;/Text&gt;&#10;    &lt;/Box&gt;&#10;&#10;    &lt;Box style={{ height: 40, flexDirection: 'row', alignItems: 'center', justifyContent: 'space-between', padding: '0 40px', borderTop: '1px solid #D6DCE5' }}&gt;&#10;        &lt;Text style={{ fontSize: 14, color: '#8B97A8' }}&gt;数学分析 · 解题课件&lt;/Text&gt;&#10;        &lt;Text style={{ fontSize: 14, color: '#0E3F8C' }}&gt;08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矩形 29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2" name="矩形 29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3" name="任意多边形: 形状 292"/>
          <p:cNvSpPr/>
          <p:nvPr/>
        </p:nvSpPr>
        <p:spPr>
          <a:xfrm>
            <a:off x="0" y="95250"/>
            <a:ext cx="12192000" cy="666750"/>
          </a:xfrm>
          <a:custGeom>
            <a:avLst/>
            <a:gdLst/>
            <a:ahLst/>
            <a:cxnLst/>
            <a:rect l="0" t="0" r="0" b="0"/>
            <a:pathLst>
              <a:path w="1280" h="70">
                <a:moveTo>
                  <a:pt x="0" y="69"/>
                </a:moveTo>
                <a:lnTo>
                  <a:pt x="1280" y="69"/>
                </a:lnTo>
                <a:lnTo>
                  <a:pt x="1280" y="70"/>
                </a:lnTo>
                <a:lnTo>
                  <a:pt x="0" y="70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4" name="矩形: 圆角 293"/>
          <p:cNvSpPr/>
          <p:nvPr/>
        </p:nvSpPr>
        <p:spPr>
          <a:xfrm>
            <a:off x="381000" y="257175"/>
            <a:ext cx="876300" cy="342900"/>
          </a:xfrm>
          <a:prstGeom prst="roundRect">
            <a:avLst>
              <a:gd name="adj" fmla="val 22222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533400" y="314325"/>
            <a:ext cx="571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步骤二</a:t>
            </a:r>
            <a:endParaRPr/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1409700" y="228600"/>
            <a:ext cx="4210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二项式定理放缩，制造次数差</a:t>
            </a:r>
            <a:endParaRPr/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734675" y="323850"/>
            <a:ext cx="10763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8B97A8"/>
                </a:solidFill>
                <a:latin typeface="Microsoft YaHei"/>
                <a:ea typeface="Microsoft YaHei"/>
              </a:rPr>
              <a:t>02 </a:t>
            </a:r>
            <a:r>
              <a:rPr lang="zh-CN" sz="1350" spc="150">
                <a:solidFill>
                  <a:srgbClr val="8B97A8"/>
                </a:solidFill>
                <a:latin typeface="Microsoft YaHei"/>
                <a:ea typeface="Microsoft YaHei"/>
              </a:rPr>
              <a:t>详细证明</a:t>
            </a:r>
            <a:endParaRPr/>
          </a:p>
        </p:txBody>
      </p:sp>
      <p:sp>
        <p:nvSpPr>
          <p:cNvPr id="298" name="矩形: 圆角 297"/>
          <p:cNvSpPr/>
          <p:nvPr/>
        </p:nvSpPr>
        <p:spPr>
          <a:xfrm>
            <a:off x="381000" y="914400"/>
            <a:ext cx="11430000" cy="3238500"/>
          </a:xfrm>
          <a:prstGeom prst="roundRect">
            <a:avLst>
              <a:gd name="adj" fmla="val 3529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628650" y="1066800"/>
            <a:ext cx="109347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当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n ≥ k + 1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时，对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 an = (1+h)n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用二项式定理展开，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只保留第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 k+1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项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（其余项非负，丢掉后不等号方向不变）：</a:t>
            </a:r>
            <a:endParaRPr/>
          </a:p>
        </p:txBody>
      </p:sp>
      <p:sp>
        <p:nvSpPr>
          <p:cNvPr id="300" name="矩形: 圆角 299"/>
          <p:cNvSpPr/>
          <p:nvPr/>
        </p:nvSpPr>
        <p:spPr>
          <a:xfrm>
            <a:off x="628650" y="1524000"/>
            <a:ext cx="10934700" cy="895350"/>
          </a:xfrm>
          <a:prstGeom prst="roundRect">
            <a:avLst>
              <a:gd name="adj" fmla="val 10638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1" name="图形 300" descr="a^{n} = (1+h)^{n} = \sum_{i=0}^{n} \binom{n}{i} h^{i} \; \geq \; \binom{n}{k+1} h^{k+1} = \frac{n(n-1)\cdots(n-k)}{(k+1)!}\, h^{k+1} \; &gt; \; 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638300"/>
            <a:ext cx="8001000" cy="666750"/>
          </a:xfrm>
          <a:prstGeom prst="rect">
            <a:avLst/>
          </a:prstGeom>
          <a:ln/>
        </p:spPr>
      </p:pic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628650" y="2514600"/>
            <a:ext cx="10934700" cy="3619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把该下界代回步骤一的分母，分母变小、分式变大，得到更精细的上界：</a:t>
            </a:r>
            <a:endParaRPr/>
          </a:p>
        </p:txBody>
      </p:sp>
      <p:sp>
        <p:nvSpPr>
          <p:cNvPr id="303" name="矩形: 圆角 302"/>
          <p:cNvSpPr/>
          <p:nvPr/>
        </p:nvSpPr>
        <p:spPr>
          <a:xfrm>
            <a:off x="628650" y="2971800"/>
            <a:ext cx="10934700" cy="1028700"/>
          </a:xfrm>
          <a:prstGeom prst="roundRect">
            <a:avLst>
              <a:gd name="adj" fmla="val 9259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04" name="图形 303" descr="0 &lt; \frac{x^{k}}{a^{x}} \; \leq \; \frac{(n+1)^{k}}{a^{n}} \; \leq \; \frac{(n+1)^{k}\,(k+1)!}{n(n-1)\cdots(n-k)\, h^{k+1}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0" y="3086100"/>
            <a:ext cx="6858000" cy="800100"/>
          </a:xfrm>
          <a:prstGeom prst="rect">
            <a:avLst/>
          </a:prstGeom>
          <a:ln/>
        </p:spPr>
      </p:pic>
      <p:sp>
        <p:nvSpPr>
          <p:cNvPr id="305" name="矩形: 圆角 304"/>
          <p:cNvSpPr/>
          <p:nvPr/>
        </p:nvSpPr>
        <p:spPr>
          <a:xfrm>
            <a:off x="381000" y="4286250"/>
            <a:ext cx="5629275" cy="1466850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6" name="矩形: 圆角 305"/>
          <p:cNvSpPr/>
          <p:nvPr/>
        </p:nvSpPr>
        <p:spPr>
          <a:xfrm>
            <a:off x="571500" y="4400550"/>
            <a:ext cx="876300" cy="247650"/>
          </a:xfrm>
          <a:prstGeom prst="roundRect">
            <a:avLst>
              <a:gd name="adj" fmla="val 53846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7" name="文本框 306" descr="{&quot;isTemplate&quot;:true,&quot;type&quot;:&quot;text&quot;}"/>
          <p:cNvSpPr txBox="1"/>
          <p:nvPr/>
        </p:nvSpPr>
        <p:spPr>
          <a:xfrm>
            <a:off x="704850" y="4429125"/>
            <a:ext cx="609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关键动作</a:t>
            </a:r>
            <a:endParaRPr/>
          </a:p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1562100" y="4410075"/>
            <a:ext cx="7715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敢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丢项</a:t>
            </a: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571500" y="4705350"/>
            <a:ext cx="52482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n+1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项之和只需留一项即可压住分子；被丢的项都非负，只会让估计更宽松，方向依然成立。</a:t>
            </a:r>
            <a:endParaRPr/>
          </a:p>
        </p:txBody>
      </p:sp>
      <p:sp>
        <p:nvSpPr>
          <p:cNvPr id="310" name="矩形: 圆角 309"/>
          <p:cNvSpPr/>
          <p:nvPr/>
        </p:nvSpPr>
        <p:spPr>
          <a:xfrm>
            <a:off x="6181725" y="4286250"/>
            <a:ext cx="5629275" cy="1466850"/>
          </a:xfrm>
          <a:prstGeom prst="roundRect">
            <a:avLst>
              <a:gd name="adj" fmla="val 6494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1" name="矩形: 圆角 310"/>
          <p:cNvSpPr/>
          <p:nvPr/>
        </p:nvSpPr>
        <p:spPr>
          <a:xfrm>
            <a:off x="6372225" y="4400550"/>
            <a:ext cx="876300" cy="247650"/>
          </a:xfrm>
          <a:prstGeom prst="roundRect">
            <a:avLst>
              <a:gd name="adj" fmla="val 53846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6505575" y="4429125"/>
            <a:ext cx="609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核心机理</a:t>
            </a:r>
            <a:endParaRPr/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7362825" y="4410075"/>
            <a:ext cx="13239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1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次之差定胜负</a:t>
            </a:r>
            <a:endParaRPr/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372225" y="4705350"/>
            <a:ext cx="52482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分子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(n+1)k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是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k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次量级，分母连乘是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k+1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次量级——正是这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"1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次之差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使上界趋于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15" name="矩形: 圆角 314"/>
          <p:cNvSpPr/>
          <p:nvPr/>
        </p:nvSpPr>
        <p:spPr>
          <a:xfrm>
            <a:off x="381000" y="5905500"/>
            <a:ext cx="11430000" cy="457200"/>
          </a:xfrm>
          <a:prstGeom prst="roundRect">
            <a:avLst>
              <a:gd name="adj" fmla="val 20833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609600" y="6019800"/>
            <a:ext cx="109728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小结：上界已化为只含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n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的有理式，且次数结构清晰——下一步取极限收官。</a:t>
            </a:r>
            <a:endParaRPr/>
          </a:p>
        </p:txBody>
      </p:sp>
      <p:sp>
        <p:nvSpPr>
          <p:cNvPr id="317" name="任意多边形: 形状 316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rect l="0" t="0" r="0" b="0"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381000" y="6591300"/>
            <a:ext cx="1181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数学分析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解题课件</a:t>
            </a:r>
            <a:endParaRPr/>
          </a:p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11353800" y="659130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08 / 13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height: 10, width: '100%', background: '#1E4FA8' }} /&gt;&#10;    &lt;Box style={{ height: 70, flexDirection: 'row', alignItems: 'center', justifyContent: 'space-between', padding: '0 40px', borderBottom: '1px solid #D6DCE5' }}&gt;&#10;        &lt;Box style={{ flexDirection: 'row', alignItems: 'center', gap: 16 }}&gt;&#10;            &lt;Box style={{ background: '#0E3F8C', borderRadius: 8, padding: '6px 16px' }}&gt;&lt;Text style={{ fontSize: 20, fontWeight: 'bold', color: '#FFFFFF' }}&gt;步骤三&lt;/Text&gt;&lt;/Box&gt;&#10;            &lt;Text style={{ fontSize: 34, fontWeight: 'bold', color: '#0E3F8C' }}&gt;取极限，由夹逼定理得结论&lt;/Text&gt;&#10;        &lt;/Box&gt;&#10;        &lt;Text style={{ fontSize: 18, color: '#8B97A8', letterSpacing: 2 }}&gt;02 详细证明&lt;/Text&gt;&#10;    &lt;/Box&gt;&#10;&#10;    &lt;Box style={{ flex: 1, flexDirection: 'row', margin: '20px 40px', gap: 28 }}&gt;&#10;        &lt;Box style={{ width: 340, background: '#E8EFF8', borderRadius: 12, alignItems: 'center', justifyContent: 'center', flexDirection: 'column', gap: 10 }}&gt;&#10;            &lt;Text style={{ fontSize: 22, color: '#4A5568', letterSpacing: 4 }}&gt;极限值&lt;/Text&gt;&#10;            &lt;Math latex={'\\lim_{x \\to +\\infty} \\frac{x^{k}}{a^{x}}'} width={220} color='#1A2230' /&gt;&#10;            &lt;Text style={{ fontSize: 190, fontWeight: 'bold', color: '#1E4FA8', lineHeight: 1.1 }}&gt;= 0&lt;/Text&gt;&#10;        &lt;/Box&gt;&#10;&#10;        &lt;Box style={{ flex: 1, flexDirection: 'column', gap: 12 }}&gt;&#10;            &lt;Box style={{ background: '#F7F9FC', border: '1px solid #D6DCE5', borderRadius: 10, padding: '14px 22px' }}&gt;&#10;                &lt;Text style={{ fontSize: 21, color: '#1A2230', lineHeight: 1.6 }}&gt;当 n ≥ 2k 时，对每个 i = 0, 1, …, k 都有 n − i ≥ n/2，故连乘的每一项都不小于 n/2：&lt;/Text&gt;&#10;            &lt;/Box&gt;&#10;            &lt;Box style={{ background: '#E8EFF8', borderRadius: 10, padding: '14px 24px', alignItems: 'center' }}&gt;&#10;                &lt;Math latex={'n(n-1)\\cdots(n-k) \\; \\geq \\; \\left(\\frac{n}{2}\\right)^{k+1}, \\qquad (n+1)^{k} \\leq (2n)^{k} \\;\\; (n \\geq 1)'} width={640} color='#0E3F8C' display={true} /&gt;&#10;            &lt;/Box&gt;&#10;            &lt;Box style={{ background: '#F7F9FC', border: '1px solid #D6DCE5', borderRadius: 10, padding: '14px 22px' }}&gt;&#10;                &lt;Text style={{ fontSize: 21, color: '#1A2230', lineHeight: 1.6 }}&gt;代回步骤二的上界，常数全部并入系数，只剩一个 1/n：&lt;/Text&gt;&#10;            &lt;/Box&gt;&#10;            &lt;Box style={{ background: '#E8EFF8', borderRadius: 10, padding: '14px 24px', alignItems: 'center' }}&gt;&#10;                &lt;Math latex={'0 &lt; \\frac{x^{k}}{a^{x}} \\; \\leq \\; \\frac{2^{2k+1}\\,(k+1)!}{h^{k+1}} \\cdot \\frac{1}{n} \\; \\longrightarrow \\; 0 \\quad (n \\to \\infty)'} width={620} color='#0E3F8C' display={true} /&gt;&#10;            &lt;/Box&gt;&#10;            &lt;Box style={{ background: '#FFFFFF', border: '2px solid #1E4FA8', borderRadius: 10, padding: '14px 22px' }}&gt;&#10;                &lt;Text style={{ fontSize: 21, color: '#1A2230', lineHeight: 1.6 }}&gt;左右两端极限同为 0，由&lt;span style={{ fontWeight: 'bold', color: '#1E4FA8' }}&gt;夹逼定理&lt;/span&gt;立得所求极限为 0。证毕。∎&lt;/Text&gt;&#10;            &lt;/Box&gt;&#10;        &lt;/Box&gt;&#10;    &lt;/Box&gt;&#10;&#10;    &lt;Box style={{ margin: '0 40px 10px', background: '#0E3F8C', borderRadius: 10, padding: '12px 24px' }}&gt;&#10;        &lt;Text style={{ fontSize: 22, fontWeight: 'bold', color: '#FFFFFF' }}&gt;结论的推广意义：对任意 a &amp;gt; 1 与固定正整数 k，x&lt;sup&gt;k&lt;/sup&gt; = o(a&lt;sup&gt;x&lt;/sup&gt;)（x → +∞）——指数增长终将压倒任何固定次幂的幂函数。&lt;/Text&gt;&#10;    &lt;/Box&gt;&#10;&#10;    &lt;Box style={{ height: 40, flexDirection: 'row', alignItems: 'center', justifyContent: 'space-between', padding: '0 40px', borderTop: '1px solid #D6DCE5' }}&gt;&#10;        &lt;Text style={{ fontSize: 14, color: '#8B97A8' }}&gt;数学分析 · 解题课件&lt;/Text&gt;&#10;        &lt;Text style={{ fontSize: 14, color: '#0E3F8C' }}&gt;09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矩形 3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2" name="矩形 32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3" name="任意多边形: 形状 322"/>
          <p:cNvSpPr/>
          <p:nvPr/>
        </p:nvSpPr>
        <p:spPr>
          <a:xfrm>
            <a:off x="0" y="95250"/>
            <a:ext cx="12192000" cy="666750"/>
          </a:xfrm>
          <a:custGeom>
            <a:avLst/>
            <a:gdLst/>
            <a:ahLst/>
            <a:cxnLst/>
            <a:rect l="0" t="0" r="0" b="0"/>
            <a:pathLst>
              <a:path w="1280" h="70">
                <a:moveTo>
                  <a:pt x="0" y="69"/>
                </a:moveTo>
                <a:lnTo>
                  <a:pt x="1280" y="69"/>
                </a:lnTo>
                <a:lnTo>
                  <a:pt x="1280" y="70"/>
                </a:lnTo>
                <a:lnTo>
                  <a:pt x="0" y="70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4" name="矩形: 圆角 323"/>
          <p:cNvSpPr/>
          <p:nvPr/>
        </p:nvSpPr>
        <p:spPr>
          <a:xfrm>
            <a:off x="381000" y="257175"/>
            <a:ext cx="876300" cy="342900"/>
          </a:xfrm>
          <a:prstGeom prst="roundRect">
            <a:avLst>
              <a:gd name="adj" fmla="val 22222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533400" y="314325"/>
            <a:ext cx="571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步骤三</a:t>
            </a:r>
            <a:endParaRPr/>
          </a:p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1409700" y="228600"/>
            <a:ext cx="38862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取极限，由夹逼定理得结论</a:t>
            </a:r>
            <a:endParaRPr/>
          </a:p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10734675" y="323850"/>
            <a:ext cx="10763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8B97A8"/>
                </a:solidFill>
                <a:latin typeface="Microsoft YaHei"/>
                <a:ea typeface="Microsoft YaHei"/>
              </a:rPr>
              <a:t>02 </a:t>
            </a:r>
            <a:r>
              <a:rPr lang="zh-CN" sz="1350" spc="150">
                <a:solidFill>
                  <a:srgbClr val="8B97A8"/>
                </a:solidFill>
                <a:latin typeface="Microsoft YaHei"/>
                <a:ea typeface="Microsoft YaHei"/>
              </a:rPr>
              <a:t>详细证明</a:t>
            </a:r>
            <a:endParaRPr/>
          </a:p>
        </p:txBody>
      </p:sp>
      <p:sp>
        <p:nvSpPr>
          <p:cNvPr id="328" name="矩形: 圆角 327"/>
          <p:cNvSpPr/>
          <p:nvPr/>
        </p:nvSpPr>
        <p:spPr>
          <a:xfrm>
            <a:off x="381000" y="952500"/>
            <a:ext cx="3238500" cy="4505325"/>
          </a:xfrm>
          <a:prstGeom prst="roundRect">
            <a:avLst>
              <a:gd name="adj" fmla="val 3529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9" name="文本框 328" descr="{&quot;isTemplate&quot;:true,&quot;type&quot;:&quot;text&quot;}"/>
          <p:cNvSpPr txBox="1"/>
          <p:nvPr/>
        </p:nvSpPr>
        <p:spPr>
          <a:xfrm>
            <a:off x="1628775" y="1514475"/>
            <a:ext cx="7429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spc="300">
                <a:solidFill>
                  <a:srgbClr val="4A5568"/>
                </a:solidFill>
                <a:latin typeface="Microsoft YaHei"/>
                <a:ea typeface="Microsoft YaHei"/>
              </a:rPr>
              <a:t>极限值</a:t>
            </a:r>
            <a:endParaRPr/>
          </a:p>
        </p:txBody>
      </p:sp>
      <p:pic>
        <p:nvPicPr>
          <p:cNvPr id="330" name="图形 329" descr="\lim_{x \to +\infty} \frac{x^{k}}{a^{x}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905000"/>
            <a:ext cx="2095500" cy="552450"/>
          </a:xfrm>
          <a:prstGeom prst="rect">
            <a:avLst/>
          </a:prstGeom>
          <a:ln/>
        </p:spPr>
      </p:pic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2857500" y="1983735"/>
            <a:ext cx="3084275" cy="2238374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0000"/>
              </a:lnSpc>
            </a:pPr>
            <a:r>
              <a:rPr lang="en-US" sz="2800" b="1" dirty="0">
                <a:solidFill>
                  <a:srgbClr val="1E4FA8"/>
                </a:solidFill>
                <a:latin typeface="Microsoft YaHei"/>
                <a:ea typeface="Microsoft YaHei"/>
              </a:rPr>
              <a:t>= 0</a:t>
            </a:r>
            <a:endParaRPr sz="2800" dirty="0"/>
          </a:p>
        </p:txBody>
      </p:sp>
      <p:sp>
        <p:nvSpPr>
          <p:cNvPr id="332" name="矩形: 圆角 331"/>
          <p:cNvSpPr/>
          <p:nvPr/>
        </p:nvSpPr>
        <p:spPr>
          <a:xfrm>
            <a:off x="3886200" y="952500"/>
            <a:ext cx="7924800" cy="1038225"/>
          </a:xfrm>
          <a:prstGeom prst="roundRect">
            <a:avLst>
              <a:gd name="adj" fmla="val 917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4095750" y="1085850"/>
            <a:ext cx="7505700" cy="7715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当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n ≥ 2k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时，对每个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i = 0, 1, …, k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都有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n − i ≥ n/2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，故连乘的每一项都不小于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n/2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endParaRPr/>
          </a:p>
        </p:txBody>
      </p:sp>
      <p:sp>
        <p:nvSpPr>
          <p:cNvPr id="334" name="矩形: 圆角 333"/>
          <p:cNvSpPr/>
          <p:nvPr/>
        </p:nvSpPr>
        <p:spPr>
          <a:xfrm>
            <a:off x="3886200" y="2105025"/>
            <a:ext cx="7924800" cy="733425"/>
          </a:xfrm>
          <a:prstGeom prst="roundRect">
            <a:avLst>
              <a:gd name="adj" fmla="val 12987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35" name="图形 334" descr="n(n-1)\cdots(n-k) \; \geq \; \left(\frac{n}{2}\right)^{k+1}, \qquad (n+1)^{k} \leq (2n)^{k} \;\; (n \geq 1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600" y="2238375"/>
            <a:ext cx="6096000" cy="466725"/>
          </a:xfrm>
          <a:prstGeom prst="rect">
            <a:avLst/>
          </a:prstGeom>
          <a:ln/>
        </p:spPr>
      </p:pic>
      <p:sp>
        <p:nvSpPr>
          <p:cNvPr id="336" name="矩形: 圆角 335"/>
          <p:cNvSpPr/>
          <p:nvPr/>
        </p:nvSpPr>
        <p:spPr>
          <a:xfrm>
            <a:off x="3886200" y="2952750"/>
            <a:ext cx="7924800" cy="657225"/>
          </a:xfrm>
          <a:prstGeom prst="roundRect">
            <a:avLst>
              <a:gd name="adj" fmla="val 1449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4095750" y="3086100"/>
            <a:ext cx="75057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代回步骤二的上界，常数全部并入系数，只剩一个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1/n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endParaRPr/>
          </a:p>
        </p:txBody>
      </p:sp>
      <p:sp>
        <p:nvSpPr>
          <p:cNvPr id="338" name="矩形: 圆角 337"/>
          <p:cNvSpPr/>
          <p:nvPr/>
        </p:nvSpPr>
        <p:spPr>
          <a:xfrm>
            <a:off x="3886200" y="3724275"/>
            <a:ext cx="7924800" cy="914400"/>
          </a:xfrm>
          <a:prstGeom prst="roundRect">
            <a:avLst>
              <a:gd name="adj" fmla="val 10417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39" name="图形 338" descr="0 &lt; \frac{x^{k}}{a^{x}} \; \leq \; \frac{2^{2k+1}\,(k+1)!}{h^{k+1}} \cdot \frac{1}{n} \; \longrightarrow \; 0 \quad (n \to \infty)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95850" y="3857625"/>
            <a:ext cx="5905500" cy="647700"/>
          </a:xfrm>
          <a:prstGeom prst="rect">
            <a:avLst/>
          </a:prstGeom>
          <a:ln/>
        </p:spPr>
      </p:pic>
      <p:sp>
        <p:nvSpPr>
          <p:cNvPr id="340" name="矩形: 圆角 339"/>
          <p:cNvSpPr/>
          <p:nvPr/>
        </p:nvSpPr>
        <p:spPr>
          <a:xfrm>
            <a:off x="3886200" y="4752975"/>
            <a:ext cx="7924800" cy="657225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254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4095750" y="4886325"/>
            <a:ext cx="75057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6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左右两端极限同为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0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，由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夹逼定理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立得所求极限为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0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。证毕。∎</a:t>
            </a:r>
            <a:endParaRPr/>
          </a:p>
        </p:txBody>
      </p:sp>
      <p:sp>
        <p:nvSpPr>
          <p:cNvPr id="342" name="矩形: 圆角 341"/>
          <p:cNvSpPr/>
          <p:nvPr/>
        </p:nvSpPr>
        <p:spPr>
          <a:xfrm>
            <a:off x="381000" y="5648325"/>
            <a:ext cx="11430000" cy="733425"/>
          </a:xfrm>
          <a:prstGeom prst="roundRect">
            <a:avLst>
              <a:gd name="adj" fmla="val 12987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609600" y="5762625"/>
            <a:ext cx="1097280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结论的推广意义：对任意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a &gt; 1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与固定正整数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k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xk = o(ax)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（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x → +∞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）——指数增长终将压倒任何固定次幂的幂函数。</a:t>
            </a:r>
            <a:endParaRPr/>
          </a:p>
        </p:txBody>
      </p:sp>
      <p:sp>
        <p:nvSpPr>
          <p:cNvPr id="344" name="任意多边形: 形状 343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rect l="0" t="0" r="0" b="0"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381000" y="6591300"/>
            <a:ext cx="1181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数学分析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解题课件</a:t>
            </a:r>
            <a:endParaRPr/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11353800" y="659130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09 / 13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7F9FC', flexDirection: 'row', alignItems: 'center', padding: '0 90px', position: 'relative' }}&gt;&#10;    &lt;Box style={{ position: 'absolute', top: 0, left: 0, width: '100%', height: 10, background: '#1E4FA8' }} /&gt;&#10;    &lt;Box style={{ position: 'absolute', bottom: 40, right: 60, width: 300, height: 2, background: '#D6DCE5' }} /&gt;&#10;&#10;    &lt;Box style={{ flexDirection: 'column', justifyContent: 'center', width: 420 }}&gt;&#10;        &lt;Text style={{ fontSize: 240, fontWeight: 'bold', color: '#1E4FA8', lineHeight: 1 }}&gt;03&lt;/Text&gt;&#10;    &lt;/Box&gt;&#10;&#10;    &lt;Box style={{ flex: 1, flexDirection: 'column', justifyContent: 'center', paddingLeft: 70, gap: 24 }}&gt;&#10;        &lt;Box style={{ flexDirection: 'row', alignItems: 'center', gap: 16 }}&gt;&#10;            &lt;Box style={{ width: 8, height: 40, background: '#1E4FA8' }} /&gt;&#10;            &lt;Text style={{ fontSize: 52, fontWeight: 'bold', color: '#1A2230' }}&gt;总结与拓展&lt;/Text&gt;&#10;        &lt;/Box&gt;&#10;        &lt;Text style={{ fontSize: 22, color: '#4A5568', lineHeight: 1.7 }}&gt;把一道题变成一类题：回顾&lt;span style={{ fontWeight: 'bold', color: '#1E4FA8' }}&gt;方法链&lt;/span&gt;，排查&lt;span style={{ fontWeight: 'bold', color: '#1E4FA8' }}&gt;易错点&lt;/span&gt;，完成&lt;span style={{ fontWeight: 'bold', color: '#1E4FA8' }}&gt;迁移练习&lt;/span&gt;。&lt;/Text&gt;&#10;        &lt;Box style={{ flexDirection: 'column', gap: 14, marginTop: 8 }}&gt;&#10;            &lt;Box style={{ flexDirection: 'row', alignItems: 'center', gap: 14 }}&gt;&#10;                &lt;Box style={{ width: 12, height: 12, borderRadius: 6, background: '#1E4FA8' }} /&gt;&#10;                &lt;Text style={{ fontSize: 22, color: '#1A2230' }}&gt;三步方法链：离散化 → 放缩 → 取极限&lt;/Text&gt;&#10;            &lt;/Box&gt;&#10;            &lt;Box style={{ flexDirection: 'row', alignItems: 'center', gap: 14 }}&gt;&#10;                &lt;Box style={{ width: 12, height: 12, borderRadius: 6, background: '#1E4FA8' }} /&gt;&#10;                &lt;Text style={{ fontSize: 22, color: '#1A2230' }}&gt;三个高频易错点逐一排查&lt;/Text&gt;&#10;            &lt;/Box&gt;&#10;            &lt;Box style={{ flexDirection: 'row', alignItems: 'center', gap: 14 }}&gt;&#10;                &lt;Box style={{ width: 12, height: 12, borderRadius: 6, background: '#1E4FA8' }} /&gt;&#10;                &lt;Text style={{ fontSize: 22, color: '#1A2230' }}&gt;两道同类练习，检验方法是否真正掌握&lt;/Text&gt;&#10;            &lt;/Box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文本框 17" descr="{&quot;isTemplate&quot;:true,&quot;type&quot;:&quot;text&quot;}"/>
          <p:cNvSpPr txBox="1"/>
          <p:nvPr/>
        </p:nvSpPr>
        <p:spPr>
          <a:xfrm>
            <a:off x="857250" y="2057400"/>
            <a:ext cx="4000500" cy="27432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" name="矩形 18"/>
          <p:cNvSpPr/>
          <p:nvPr/>
        </p:nvSpPr>
        <p:spPr>
          <a:xfrm>
            <a:off x="5524500" y="2028825"/>
            <a:ext cx="762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5753100" y="1914525"/>
            <a:ext cx="24765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1A2230"/>
                </a:solidFill>
                <a:latin typeface="Microsoft YaHei"/>
                <a:ea typeface="Microsoft YaHei"/>
              </a:rPr>
              <a:t>总结与拓展</a:t>
            </a:r>
            <a:endParaRPr/>
          </a:p>
        </p:txBody>
      </p:sp>
      <p:sp>
        <p:nvSpPr>
          <p:cNvPr id="21" name="文本框 20" descr="{&quot;isTemplate&quot;:true,&quot;type&quot;:&quot;text&quot;}"/>
          <p:cNvSpPr txBox="1"/>
          <p:nvPr/>
        </p:nvSpPr>
        <p:spPr>
          <a:xfrm>
            <a:off x="5524500" y="2743200"/>
            <a:ext cx="5810250" cy="857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7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把一道题变成一类题：回顾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方法链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，排查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易错点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，完成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迁移练习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" name="矩形: 圆角 21"/>
          <p:cNvSpPr/>
          <p:nvPr/>
        </p:nvSpPr>
        <p:spPr>
          <a:xfrm>
            <a:off x="5524500" y="398145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5772150" y="3905250"/>
            <a:ext cx="36099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三步方法链：离散化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放缩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取极限</a:t>
            </a:r>
            <a:endParaRPr/>
          </a:p>
        </p:txBody>
      </p:sp>
      <p:sp>
        <p:nvSpPr>
          <p:cNvPr id="24" name="矩形: 圆角 23"/>
          <p:cNvSpPr/>
          <p:nvPr/>
        </p:nvSpPr>
        <p:spPr>
          <a:xfrm>
            <a:off x="5524500" y="43719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5772150" y="4295775"/>
            <a:ext cx="23050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三个高频易错点逐一排查</a:t>
            </a:r>
            <a:endParaRPr/>
          </a:p>
        </p:txBody>
      </p:sp>
      <p:sp>
        <p:nvSpPr>
          <p:cNvPr id="26" name="矩形: 圆角 25"/>
          <p:cNvSpPr/>
          <p:nvPr/>
        </p:nvSpPr>
        <p:spPr>
          <a:xfrm>
            <a:off x="5524500" y="47625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5772150" y="4686300"/>
            <a:ext cx="35623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两道同类练习，检验方法是否真正掌握</a:t>
            </a:r>
            <a:endParaRPr/>
          </a:p>
        </p:txBody>
      </p:sp>
      <p:sp>
        <p:nvSpPr>
          <p:cNvPr id="28" name="矩形 2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矩形 28"/>
          <p:cNvSpPr/>
          <p:nvPr/>
        </p:nvSpPr>
        <p:spPr>
          <a:xfrm>
            <a:off x="8763000" y="6457950"/>
            <a:ext cx="28575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height: 10, width: '100%', background: '#1E4FA8' }} /&gt;&#10;    &lt;Box style={{ height: 70, flexDirection: 'row', alignItems: 'center', justifyContent: 'space-between', padding: '0 40px', borderBottom: '1px solid #D6DCE5' }}&gt;&#10;        &lt;Text style={{ fontSize: 34, fontWeight: 'bold', color: '#0E3F8C' }}&gt;要点回顾与易错警示&lt;/Text&gt;&#10;        &lt;Text style={{ fontSize: 18, color: '#8B97A8', letterSpacing: 2 }}&gt;03 总结与拓展&lt;/Text&gt;&#10;    &lt;/Box&gt;&#10;&#10;    &lt;Box style={{ flex: 1, flexDirection: 'column', margin: '20px 40px', gap: 20 }}&gt;&#10;        &lt;Box style={{ height: 250, background: '#F7F9FC', border: '1px solid #D6DCE5', borderRadius: 12, padding: '20px 26px', flexDirection: 'column', gap: 16 }}&gt;&#10;            &lt;Box style={{ flexDirection: 'row', alignItems: 'center', gap: 14 }}&gt;&#10;                &lt;Box style={{ width: 6, height: 26, background: '#1E4FA8' }} /&gt;&#10;                &lt;Text style={{ fontSize: 24, fontWeight: 'bold', color: '#0E3F8C' }}&gt;方法链回顾：一条主线走到底&lt;/Text&gt;&#10;            &lt;/Box&gt;&#10;            &lt;Box style={{ flex: 1, flexDirection: 'row', alignItems: 'center', gap: 12 }}&gt;&#10;                &lt;Box style={{ flex: 1, background: '#E8EFF8', borderRadius: 10, padding: '16px 20px', flexDirection: 'column', gap: 6 }}&gt;&#10;                    &lt;Text style={{ fontSize: 22, fontWeight: 'bold', color: '#0E3F8C' }}&gt;① 离散化&lt;/Text&gt;&#10;                    &lt;Text style={{ fontSize: 18, color: '#1A2230', lineHeight: 1.5 }}&gt;n = [x]，n ≤ x &amp;lt; n+1，建立夹逼链&lt;/Text&gt;&#10;                &lt;/Box&gt;&#10;                &lt;Text style={{ fontSize: 30, fontWeight: 'bold', color: '#1E4FA8' }}&gt;→&lt;/Text&gt;&#10;                &lt;Box style={{ flex: 1.15, background: '#E8EFF8', borderRadius: 10, padding: '16px 20px', flexDirection: 'column', gap: 6 }}&gt;&#10;                    &lt;Text style={{ fontSize: 22, fontWeight: 'bold', color: '#0E3F8C' }}&gt;② 二项式放缩&lt;/Text&gt;&#10;                    &lt;Text style={{ fontSize: 18, color: '#1A2230', lineHeight: 1.5 }}&gt;留第 k+1 项，分母升为 k+1 次量级&lt;/Text&gt;&#10;                &lt;/Box&gt;&#10;                &lt;Text style={{ fontSize: 30, fontWeight: 'bold', color: '#1E4FA8' }}&gt;→&lt;/Text&gt;&#10;                &lt;Box style={{ flex: 1, background: '#E8EFF8', borderRadius: 10, padding: '16px 20px', flexDirection: 'column', gap: 6 }}&gt;&#10;                    &lt;Text style={{ fontSize: 22, fontWeight: 'bold', color: '#0E3F8C' }}&gt;③ 取极限&lt;/Text&gt;&#10;                    &lt;Text style={{ fontSize: 18, color: '#1A2230', lineHeight: 1.5 }}&gt;上界 ∝ 1/n → 0，夹逼得 0&lt;/Text&gt;&#10;                &lt;/Box&gt;&#10;            &lt;/Box&gt;&#10;        &lt;/Box&gt;&#10;&#10;        &lt;Box style={{ flex: 1, background: '#F7F9FC', border: '1px solid #D6DCE5', borderRadius: 12, padding: '20px 26px', flexDirection: 'column', gap: 12 }}&gt;&#10;            &lt;Box style={{ flexDirection: 'row', alignItems: 'center', gap: 14 }}&gt;&#10;                &lt;Box style={{ width: 6, height: 26, background: '#D9534F' }} /&gt;&#10;                &lt;Text style={{ fontSize: 24, fontWeight: 'bold', color: '#0E3F8C' }}&gt;易错警示：这三个扣分点最常见&lt;/Text&gt;&#10;            &lt;/Box&gt;&#10;            &lt;Box style={{ flexDirection: 'row', gap: 18, flex: 1 }}&gt;&#10;                &lt;Box style={{ flex: 1, background: '#FFFFFF', border: '1px solid #D6DCE5', borderRadius: 10, padding: '14px 18px', flexDirection: 'column', gap: 6 }}&gt;&#10;                    &lt;Text style={{ fontSize: 19, fontWeight: 'bold', color: '#D9534F' }}&gt;① 漏写下界 0&lt;/Text&gt;&#10;                    &lt;Text style={{ fontSize: 18, color: '#4A5568', lineHeight: 1.55 }}&gt;夹逼必须两侧同时夹住，只写上界不构成夹逼。&lt;/Text&gt;&#10;                &lt;/Box&gt;&#10;                &lt;Box style={{ flex: 1, background: '#FFFFFF', border: '1px solid #D6DCE5', borderRadius: 10, padding: '14px 18px', flexDirection: 'column', gap: 6 }}&gt;&#10;                    &lt;Text style={{ fontSize: 19, fontWeight: 'bold', color: '#D9534F' }}&gt;② 忽略 n ≥ k+1&lt;/Text&gt;&#10;                    &lt;Text style={{ fontSize: 18, color: '#4A5568', lineHeight: 1.55 }}&gt;取第 k+1 项要求 n 足够大，须先声明&quot;当 n 充分大&quot;。&lt;/Text&gt;&#10;                &lt;/Box&gt;&#10;                &lt;Box style={{ flex: 1, background: '#FFFFFF', border: '1px solid #D6DCE5', borderRadius: 10, padding: '14px 18px', flexDirection: 'column', gap: 6 }}&gt;&#10;                    &lt;Text style={{ fontSize: 19, fontWeight: 'bold', color: '#D9534F' }}&gt;③ 未交代 n → ∞&lt;/Text&gt;&#10;                    &lt;Text style={{ fontSize: 18, color: '#4A5568', lineHeight: 1.55 }}&gt;x → +∞ ⟹ n = [x] → +∞ 需要说明，不能默认省略。&lt;/Text&gt;&#10;                &lt;/Box&gt;&#10;            &lt;/Box&gt;&#10;        &lt;/Box&gt;&#10;    &lt;/Box&gt;&#10;&#10;    &lt;Box style={{ height: 40, flexDirection: 'row', alignItems: 'center', justifyContent: 'space-between', padding: '0 40px', borderTop: '1px solid #D6DCE5' }}&gt;&#10;        &lt;Text style={{ fontSize: 14, color: '#8B97A8' }}&gt;数学分析 · 解题课件&lt;/Text&gt;&#10;        &lt;Text style={{ fontSize: 14, color: '#0E3F8C' }}&gt;11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矩形 31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任意多边形: 形状 32"/>
          <p:cNvSpPr/>
          <p:nvPr/>
        </p:nvSpPr>
        <p:spPr>
          <a:xfrm>
            <a:off x="0" y="95250"/>
            <a:ext cx="12192000" cy="666750"/>
          </a:xfrm>
          <a:custGeom>
            <a:avLst/>
            <a:gdLst/>
            <a:ahLst/>
            <a:cxnLst/>
            <a:rect l="0" t="0" r="0" b="0"/>
            <a:pathLst>
              <a:path w="1280" h="70">
                <a:moveTo>
                  <a:pt x="0" y="69"/>
                </a:moveTo>
                <a:lnTo>
                  <a:pt x="1280" y="69"/>
                </a:lnTo>
                <a:lnTo>
                  <a:pt x="1280" y="70"/>
                </a:lnTo>
                <a:lnTo>
                  <a:pt x="0" y="70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381000" y="228600"/>
            <a:ext cx="29146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要点回顾与易错警示</a:t>
            </a:r>
            <a:endParaRPr/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10544175" y="323850"/>
            <a:ext cx="12668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8B97A8"/>
                </a:solidFill>
                <a:latin typeface="Microsoft YaHei"/>
                <a:ea typeface="Microsoft YaHei"/>
              </a:rPr>
              <a:t>03 </a:t>
            </a:r>
            <a:r>
              <a:rPr lang="zh-CN" sz="1350" spc="150">
                <a:solidFill>
                  <a:srgbClr val="8B97A8"/>
                </a:solidFill>
                <a:latin typeface="Microsoft YaHei"/>
                <a:ea typeface="Microsoft YaHei"/>
              </a:rPr>
              <a:t>总结与拓展</a:t>
            </a:r>
            <a:endParaRPr/>
          </a:p>
        </p:txBody>
      </p:sp>
      <p:sp>
        <p:nvSpPr>
          <p:cNvPr id="36" name="矩形: 圆角 35"/>
          <p:cNvSpPr/>
          <p:nvPr/>
        </p:nvSpPr>
        <p:spPr>
          <a:xfrm>
            <a:off x="381000" y="952500"/>
            <a:ext cx="11430000" cy="2381250"/>
          </a:xfrm>
          <a:prstGeom prst="roundRect">
            <a:avLst>
              <a:gd name="adj" fmla="val 48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矩形 36"/>
          <p:cNvSpPr/>
          <p:nvPr/>
        </p:nvSpPr>
        <p:spPr>
          <a:xfrm>
            <a:off x="628650" y="1162050"/>
            <a:ext cx="57150" cy="2476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819150" y="1143000"/>
            <a:ext cx="29718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方法链回顾：一条主线走到底</a:t>
            </a:r>
            <a:endParaRPr/>
          </a:p>
        </p:txBody>
      </p:sp>
      <p:sp>
        <p:nvSpPr>
          <p:cNvPr id="39" name="矩形: 圆角 38"/>
          <p:cNvSpPr/>
          <p:nvPr/>
        </p:nvSpPr>
        <p:spPr>
          <a:xfrm>
            <a:off x="628650" y="1895475"/>
            <a:ext cx="3143250" cy="933450"/>
          </a:xfrm>
          <a:prstGeom prst="roundRect">
            <a:avLst>
              <a:gd name="adj" fmla="val 10204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819150" y="2047875"/>
            <a:ext cx="2762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①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离散化</a:t>
            </a:r>
            <a:endParaRPr/>
          </a:p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819150" y="2362200"/>
            <a:ext cx="276225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n = [x]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n ≤ x &lt; n+1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，建立夹逼链</a:t>
            </a:r>
            <a:endParaRPr/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3886200" y="2190750"/>
            <a:ext cx="2857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2250" b="1">
                <a:solidFill>
                  <a:srgbClr val="1E4F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3" name="矩形: 圆角 42"/>
          <p:cNvSpPr/>
          <p:nvPr/>
        </p:nvSpPr>
        <p:spPr>
          <a:xfrm>
            <a:off x="4286250" y="1895475"/>
            <a:ext cx="3619500" cy="933450"/>
          </a:xfrm>
          <a:prstGeom prst="roundRect">
            <a:avLst>
              <a:gd name="adj" fmla="val 10204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4476750" y="2047875"/>
            <a:ext cx="32385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②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二项式放缩</a:t>
            </a:r>
            <a:endParaRPr/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4476750" y="2362200"/>
            <a:ext cx="323850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留第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k+1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项，分母升为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k+1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次量级</a:t>
            </a:r>
            <a:endParaRPr/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8020050" y="2190750"/>
            <a:ext cx="28575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2250" b="1">
                <a:solidFill>
                  <a:srgbClr val="1E4FA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47" name="矩形: 圆角 46"/>
          <p:cNvSpPr/>
          <p:nvPr/>
        </p:nvSpPr>
        <p:spPr>
          <a:xfrm>
            <a:off x="8420100" y="1895475"/>
            <a:ext cx="3143250" cy="933450"/>
          </a:xfrm>
          <a:prstGeom prst="roundRect">
            <a:avLst>
              <a:gd name="adj" fmla="val 10204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8610600" y="2047875"/>
            <a:ext cx="2762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③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取极限</a:t>
            </a:r>
            <a:endParaRPr/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8610600" y="2362200"/>
            <a:ext cx="2762250" cy="3143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上界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∝ 1/n → 0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，夹逼得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50" name="矩形: 圆角 49"/>
          <p:cNvSpPr/>
          <p:nvPr/>
        </p:nvSpPr>
        <p:spPr>
          <a:xfrm>
            <a:off x="381000" y="3524250"/>
            <a:ext cx="11430000" cy="2762250"/>
          </a:xfrm>
          <a:prstGeom prst="roundRect">
            <a:avLst>
              <a:gd name="adj" fmla="val 413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矩形 50"/>
          <p:cNvSpPr/>
          <p:nvPr/>
        </p:nvSpPr>
        <p:spPr>
          <a:xfrm>
            <a:off x="628650" y="3733800"/>
            <a:ext cx="57150" cy="2476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文本框 51" descr="{&quot;isTemplate&quot;:true,&quot;type&quot;:&quot;text&quot;}"/>
          <p:cNvSpPr txBox="1"/>
          <p:nvPr/>
        </p:nvSpPr>
        <p:spPr>
          <a:xfrm>
            <a:off x="819150" y="3714750"/>
            <a:ext cx="32004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易错警示：这三个扣分点最常见</a:t>
            </a:r>
            <a:endParaRPr/>
          </a:p>
        </p:txBody>
      </p:sp>
      <p:sp>
        <p:nvSpPr>
          <p:cNvPr id="53" name="矩形: 圆角 52"/>
          <p:cNvSpPr/>
          <p:nvPr/>
        </p:nvSpPr>
        <p:spPr>
          <a:xfrm>
            <a:off x="628650" y="4105275"/>
            <a:ext cx="3533775" cy="1990725"/>
          </a:xfrm>
          <a:prstGeom prst="roundRect">
            <a:avLst>
              <a:gd name="adj" fmla="val 478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800100" y="4238625"/>
            <a:ext cx="31908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>① </a:t>
            </a: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漏写下界</a:t>
            </a: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800100" y="4514850"/>
            <a:ext cx="31908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夹逼必须两侧同时夹住，只写上界不构成夹逼。</a:t>
            </a:r>
            <a:endParaRPr/>
          </a:p>
        </p:txBody>
      </p:sp>
      <p:sp>
        <p:nvSpPr>
          <p:cNvPr id="56" name="矩形: 圆角 55"/>
          <p:cNvSpPr/>
          <p:nvPr/>
        </p:nvSpPr>
        <p:spPr>
          <a:xfrm>
            <a:off x="4333875" y="4105275"/>
            <a:ext cx="3524250" cy="1990725"/>
          </a:xfrm>
          <a:prstGeom prst="roundRect">
            <a:avLst>
              <a:gd name="adj" fmla="val 478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4505325" y="4238625"/>
            <a:ext cx="3181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>② </a:t>
            </a: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忽略</a:t>
            </a: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> n ≥ k+1</a:t>
            </a:r>
            <a:endParaRPr/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4505325" y="4514850"/>
            <a:ext cx="3181350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取第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k+1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项要求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n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足够大，须先声明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当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n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充分大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9" name="矩形: 圆角 58"/>
          <p:cNvSpPr/>
          <p:nvPr/>
        </p:nvSpPr>
        <p:spPr>
          <a:xfrm>
            <a:off x="8029575" y="4105275"/>
            <a:ext cx="3533775" cy="1990725"/>
          </a:xfrm>
          <a:prstGeom prst="roundRect">
            <a:avLst>
              <a:gd name="adj" fmla="val 4785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8201025" y="4238625"/>
            <a:ext cx="31908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>③ </a:t>
            </a: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未交代</a:t>
            </a:r>
            <a:r>
              <a:rPr lang="en-US" sz="1425" b="1">
                <a:solidFill>
                  <a:srgbClr val="D9534F"/>
                </a:solidFill>
                <a:latin typeface="Microsoft YaHei"/>
                <a:ea typeface="Microsoft YaHei"/>
              </a:rPr>
              <a:t> n → ∞</a:t>
            </a:r>
            <a:endParaRPr/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8201025" y="4514850"/>
            <a:ext cx="3190875" cy="6381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x → +∞ ⟹ n = [x] → +∞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需要说明，不能默认省略。</a:t>
            </a:r>
            <a:endParaRPr/>
          </a:p>
        </p:txBody>
      </p:sp>
      <p:sp>
        <p:nvSpPr>
          <p:cNvPr id="62" name="任意多边形: 形状 61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rect l="0" t="0" r="0" b="0"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381000" y="6591300"/>
            <a:ext cx="1181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数学分析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解题课件</a:t>
            </a:r>
            <a:endParaRPr/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11353800" y="659130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11 / 13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flexDirection: 'column' }}&gt;&#10;    &lt;Box style={{ height: 10, width: '100%', background: '#1E4FA8' }} /&gt;&#10;    &lt;Box style={{ height: 70, flexDirection: 'row', alignItems: 'center', justifyContent: 'space-between', padding: '0 40px', borderBottom: '1px solid #D6DCE5' }}&gt;&#10;        &lt;Text style={{ fontSize: 34, fontWeight: 'bold', color: '#0E3F8C' }}&gt;同类拓展练习&lt;/Text&gt;&#10;        &lt;Text style={{ fontSize: 18, color: '#8B97A8', letterSpacing: 2 }}&gt;03 总结与拓展&lt;/Text&gt;&#10;    &lt;/Box&gt;&#10;&#10;    &lt;Box style={{ flex: 1, flexDirection: 'row', margin: '20px 40px', gap: 24 }}&gt;&#10;        &lt;Box style={{ flex: 1.6, flexDirection: 'column', gap: 18 }}&gt;&#10;            &lt;Box style={{ flex: 1, background: '#F7F9FC', border: '2px solid #1E4FA8', borderRadius: 12, padding: '20px 28px', flexDirection: 'column', justifyContent: 'space-between' }}&gt;&#10;                &lt;Box style={{ flexDirection: 'row', alignItems: 'center', gap: 14 }}&gt;&#10;                    &lt;Box style={{ background: '#1E4FA8', borderRadius: 8, padding: '4px 14px' }}&gt;&lt;Text style={{ fontSize: 18, fontWeight: 'bold', color: '#FFFFFF' }}&gt;练习一&lt;/Text&gt;&lt;/Box&gt;&#10;                    &lt;Text style={{ fontSize: 21, fontWeight: 'bold', color: '#1A2230' }}&gt;数列版本——方法直接平移&lt;/Text&gt;&#10;                &lt;/Box&gt;&#10;                &lt;Box style={{ flexDirection: 'row', alignItems: 'center', gap: 24 }}&gt;&#10;                    &lt;Math latex={'\\lim_{n \\to \\infty} \\frac{n^{2}}{2^{n}}'} width={170} color='#1A2230' display={true} /&gt;&#10;                    &lt;Text style={{ fontSize: 19, color: '#4A5568', lineHeight: 1.6, flex: 1 }}&gt;这是离散版的同一道题：n&lt;sup&gt;2&lt;/sup&gt; 对应 x&lt;sup&gt;k&lt;/sup&gt;（k=2），2&lt;sup&gt;n&lt;/sup&gt; 对应 a&lt;sup&gt;n&lt;/sup&gt;（a=2）。能否独立复现三步证明？&lt;/Text&gt;&#10;                &lt;/Box&gt;&#10;            &lt;/Box&gt;&#10;&#10;            &lt;Box style={{ flex: 1, background: '#F7F9FC', border: '2px solid #1E4FA8', borderRadius: 12, padding: '20px 28px', flexDirection: 'column', justifyContent: 'space-between' }}&gt;&#10;                &lt;Box style={{ flexDirection: 'row', alignItems: 'center', gap: 14 }}&gt;&#10;                    &lt;Box style={{ background: '#1E4FA8', borderRadius: 8, padding: '4px 14px' }}&gt;&lt;Text style={{ fontSize: 18, fontWeight: 'bold', color: '#FFFFFF' }}&gt;练习二&lt;/Text&gt;&lt;/Box&gt;&#10;                    &lt;Text style={{ fontSize: 21, fontWeight: 'bold', color: '#1A2230' }}&gt;自然底数特例——本题的直接推论&lt;/Text&gt;&#10;                &lt;/Box&gt;&#10;                &lt;Box style={{ flexDirection: 'row', alignItems: 'center', gap: 24 }}&gt;&#10;                    &lt;Math latex={'\\lim_{x \\to +\\infty} \\frac{x^{k}}{e^{x}}'} width={160} color='#1A2230' display={true} /&gt;&#10;                    &lt;Text style={{ fontSize: 19, color: '#4A5568', lineHeight: 1.6, flex: 1 }}&gt;取 a = e &amp;gt; 1 即为已证结论的特例，极限为 0。思考：为什么 e 的选取不影响结论？&lt;/Text&gt;&#10;                &lt;/Box&gt;&#10;            &lt;/Box&gt;&#10;        &lt;/Box&gt;&#10;&#10;        &lt;Box style={{ flex: 1, background: '#E8EFF8', borderRadius: 12, padding: '24px 26px', flexDirection: 'column', gap: 14 }}&gt;&#10;            &lt;Box style={{ flexDirection: 'row', alignItems: 'center', gap: 12 }}&gt;&#10;                &lt;Box style={{ width: 6, height: 26, background: '#1E4FA8' }} /&gt;&#10;                &lt;Text style={{ fontSize: 24, fontWeight: 'bold', color: '#0E3F8C' }}&gt;提示阶梯（先想再看）&lt;/Text&gt;&#10;            &lt;/Box&gt;&#10;            &lt;Box style={{ background: '#FFFFFF', borderRadius: 10, padding: '14px 18px' }}&gt;&#10;                &lt;Text style={{ fontSize: 19, color: '#1A2230', lineHeight: 1.6 }}&gt;&lt;span style={{ fontWeight: 'bold', color: '#1E4FA8' }}&gt;提示 1：&lt;/span&gt;练习一中令 2 = 1 + 1，即 h = 1，放缩反而更简单。&lt;/Text&gt;&#10;            &lt;/Box&gt;&#10;            &lt;Box style={{ background: '#FFFFFF', borderRadius: 10, padding: '14px 18px' }}&gt;&#10;                &lt;Text style={{ fontSize: 19, color: '#1A2230', lineHeight: 1.6 }}&gt;&lt;span style={{ fontWeight: 'bold', color: '#1E4FA8' }}&gt;提示 2：&lt;/span&gt;严格套用三步框架：夹逼链 → 保留 &lt;Math latex={'\\binom{n}{k+1}'} width={64} color='#1A2230' /&gt; 项 → 取极限。&lt;/Text&gt;&#10;            &lt;/Box&gt;&#10;            &lt;Box style={{ background: '#FFFFFF', borderRadius: 10, padding: '14px 18px' }}&gt;&#10;                &lt;Text style={{ fontSize: 19, color: '#1A2230', lineHeight: 1.6 }}&gt;&lt;span style={{ fontWeight: 'bold', color: '#1E4FA8' }}&gt;提示 3：&lt;/span&gt;一般结论：对任意 a &amp;gt; 1、固定 k ∈ N₊，都有 x&lt;sup&gt;k&lt;/sup&gt; = o(a&lt;sup&gt;x&lt;/sup&gt;)（x → +∞）。&lt;/Text&gt;&#10;            &lt;/Box&gt;&#10;            &lt;Box style={{ flex: 1, justifyContent: 'flex-end' }}&gt;&#10;                &lt;Box style={{ background: '#0E3F8C', borderRadius: 10, padding: '14px 18px' }}&gt;&#10;                    &lt;Text style={{ fontSize: 19, color: '#FFFFFF', lineHeight: 1.6 }}&gt;做完再对照第 7–9 页的三步推导，逐步核对每个不等号的依据。&lt;/Text&gt;&#10;                &lt;/Box&gt;&#10;            &lt;/Box&gt;&#10;        &lt;/Box&gt;&#10;    &lt;/Box&gt;&#10;&#10;    &lt;Box style={{ height: 40, flexDirection: 'row', alignItems: 'center', justifyContent: 'space-between', padding: '0 40px', borderTop: '1px solid #D6DCE5' }}&gt;&#10;        &lt;Text style={{ fontSize: 14, color: '#8B97A8' }}&gt;数学分析 · 解题课件&lt;/Text&gt;&#10;        &lt;Text style={{ fontSize: 14, color: '#0E3F8C' }}&gt;12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7" name="矩形 6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8" name="任意多边形: 形状 67"/>
          <p:cNvSpPr/>
          <p:nvPr/>
        </p:nvSpPr>
        <p:spPr>
          <a:xfrm>
            <a:off x="0" y="95250"/>
            <a:ext cx="12192000" cy="666750"/>
          </a:xfrm>
          <a:custGeom>
            <a:avLst/>
            <a:gdLst/>
            <a:ahLst/>
            <a:cxnLst/>
            <a:rect l="0" t="0" r="0" b="0"/>
            <a:pathLst>
              <a:path w="1280" h="70">
                <a:moveTo>
                  <a:pt x="0" y="69"/>
                </a:moveTo>
                <a:lnTo>
                  <a:pt x="1280" y="69"/>
                </a:lnTo>
                <a:lnTo>
                  <a:pt x="1280" y="70"/>
                </a:lnTo>
                <a:lnTo>
                  <a:pt x="0" y="70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381000" y="228600"/>
            <a:ext cx="19431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同类拓展练习</a:t>
            </a:r>
            <a:endParaRPr/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10544175" y="323850"/>
            <a:ext cx="12668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8B97A8"/>
                </a:solidFill>
                <a:latin typeface="Microsoft YaHei"/>
                <a:ea typeface="Microsoft YaHei"/>
              </a:rPr>
              <a:t>03 </a:t>
            </a:r>
            <a:r>
              <a:rPr lang="zh-CN" sz="1350" spc="150">
                <a:solidFill>
                  <a:srgbClr val="8B97A8"/>
                </a:solidFill>
                <a:latin typeface="Microsoft YaHei"/>
                <a:ea typeface="Microsoft YaHei"/>
              </a:rPr>
              <a:t>总结与拓展</a:t>
            </a:r>
            <a:endParaRPr/>
          </a:p>
        </p:txBody>
      </p:sp>
      <p:sp>
        <p:nvSpPr>
          <p:cNvPr id="71" name="矩形: 圆角 70"/>
          <p:cNvSpPr/>
          <p:nvPr/>
        </p:nvSpPr>
        <p:spPr>
          <a:xfrm>
            <a:off x="381000" y="952500"/>
            <a:ext cx="6896100" cy="2667000"/>
          </a:xfrm>
          <a:prstGeom prst="roundRect">
            <a:avLst>
              <a:gd name="adj" fmla="val 4286"/>
            </a:avLst>
          </a:prstGeom>
          <a:solidFill>
            <a:srgbClr val="F7F9FC"/>
          </a:solidFill>
          <a:ln w="254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矩形: 圆角 71"/>
          <p:cNvSpPr/>
          <p:nvPr/>
        </p:nvSpPr>
        <p:spPr>
          <a:xfrm>
            <a:off x="647700" y="1143000"/>
            <a:ext cx="781050" cy="285750"/>
          </a:xfrm>
          <a:prstGeom prst="roundRect">
            <a:avLst>
              <a:gd name="adj" fmla="val 26667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781050" y="1181100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练习一</a:t>
            </a:r>
            <a:endParaRPr/>
          </a:p>
        </p:txBody>
      </p:sp>
      <p:sp>
        <p:nvSpPr>
          <p:cNvPr id="74" name="文本框 73" descr="{&quot;isTemplate&quot;:true,&quot;type&quot;:&quot;text&quot;}"/>
          <p:cNvSpPr txBox="1"/>
          <p:nvPr/>
        </p:nvSpPr>
        <p:spPr>
          <a:xfrm>
            <a:off x="1562100" y="1162050"/>
            <a:ext cx="24384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数列版本——方法直接平移</a:t>
            </a:r>
            <a:endParaRPr/>
          </a:p>
        </p:txBody>
      </p:sp>
      <p:pic>
        <p:nvPicPr>
          <p:cNvPr id="75" name="图形 74" descr="\lim_{n \to \infty} \frac{n^{2}}{2^{n}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" y="2390775"/>
            <a:ext cx="1619250" cy="1038225"/>
          </a:xfrm>
          <a:prstGeom prst="rect">
            <a:avLst/>
          </a:prstGeom>
          <a:ln/>
        </p:spPr>
      </p:pic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2495550" y="2562225"/>
            <a:ext cx="451485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这是离散版的同一道题：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n2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对应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xk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k=2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），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2n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对应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an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a=2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）。能否独立复现三步证明？</a:t>
            </a:r>
            <a:endParaRPr/>
          </a:p>
        </p:txBody>
      </p:sp>
      <p:sp>
        <p:nvSpPr>
          <p:cNvPr id="77" name="矩形: 圆角 76"/>
          <p:cNvSpPr/>
          <p:nvPr/>
        </p:nvSpPr>
        <p:spPr>
          <a:xfrm>
            <a:off x="381000" y="3790950"/>
            <a:ext cx="6896100" cy="2495550"/>
          </a:xfrm>
          <a:prstGeom prst="roundRect">
            <a:avLst>
              <a:gd name="adj" fmla="val 4580"/>
            </a:avLst>
          </a:prstGeom>
          <a:solidFill>
            <a:srgbClr val="F7F9FC"/>
          </a:solidFill>
          <a:ln w="25400">
            <a:solidFill>
              <a:srgbClr val="1E4FA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矩形: 圆角 77"/>
          <p:cNvSpPr/>
          <p:nvPr/>
        </p:nvSpPr>
        <p:spPr>
          <a:xfrm>
            <a:off x="647700" y="3981450"/>
            <a:ext cx="781050" cy="285750"/>
          </a:xfrm>
          <a:prstGeom prst="roundRect">
            <a:avLst>
              <a:gd name="adj" fmla="val 26667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" name="文本框 78" descr="{&quot;isTemplate&quot;:true,&quot;type&quot;:&quot;text&quot;}"/>
          <p:cNvSpPr txBox="1"/>
          <p:nvPr/>
        </p:nvSpPr>
        <p:spPr>
          <a:xfrm>
            <a:off x="781050" y="4019550"/>
            <a:ext cx="5143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练习二</a:t>
            </a:r>
            <a:endParaRPr/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1562100" y="4000500"/>
            <a:ext cx="30384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自然底数特例——本题的直接推论</a:t>
            </a:r>
            <a:endParaRPr/>
          </a:p>
        </p:txBody>
      </p:sp>
      <p:pic>
        <p:nvPicPr>
          <p:cNvPr id="81" name="图形 80" descr="\lim_{x \to +\infty} \frac{x^{k}}{e^{x}}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700" y="5219700"/>
            <a:ext cx="1524000" cy="876300"/>
          </a:xfrm>
          <a:prstGeom prst="rect">
            <a:avLst/>
          </a:prstGeom>
          <a:ln/>
        </p:spPr>
      </p:pic>
      <p:sp>
        <p:nvSpPr>
          <p:cNvPr id="82" name="文本框 81" descr="{&quot;isTemplate&quot;:true,&quot;type&quot;:&quot;text&quot;}"/>
          <p:cNvSpPr txBox="1"/>
          <p:nvPr/>
        </p:nvSpPr>
        <p:spPr>
          <a:xfrm>
            <a:off x="2400300" y="5314950"/>
            <a:ext cx="46101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取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a = e &gt; 1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即为已证结论的特例，极限为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。思考：为什么</a:t>
            </a:r>
            <a:r>
              <a:rPr lang="en-US" sz="1425">
                <a:solidFill>
                  <a:srgbClr val="4A5568"/>
                </a:solidFill>
                <a:latin typeface="Microsoft YaHei"/>
                <a:ea typeface="Microsoft YaHei"/>
              </a:rPr>
              <a:t> e </a:t>
            </a: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的选取不影响结论？</a:t>
            </a:r>
            <a:endParaRPr/>
          </a:p>
        </p:txBody>
      </p:sp>
      <p:sp>
        <p:nvSpPr>
          <p:cNvPr id="83" name="矩形: 圆角 82"/>
          <p:cNvSpPr/>
          <p:nvPr/>
        </p:nvSpPr>
        <p:spPr>
          <a:xfrm>
            <a:off x="7505700" y="952500"/>
            <a:ext cx="4305300" cy="5334000"/>
          </a:xfrm>
          <a:prstGeom prst="roundRect">
            <a:avLst>
              <a:gd name="adj" fmla="val 2655"/>
            </a:avLst>
          </a:prstGeom>
          <a:solidFill>
            <a:srgbClr val="E8EF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矩形 83"/>
          <p:cNvSpPr/>
          <p:nvPr/>
        </p:nvSpPr>
        <p:spPr>
          <a:xfrm>
            <a:off x="7753350" y="1200150"/>
            <a:ext cx="57150" cy="2476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7924800" y="1181100"/>
            <a:ext cx="22860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提示阶梯（先想再看）</a:t>
            </a:r>
            <a:endParaRPr/>
          </a:p>
        </p:txBody>
      </p:sp>
      <p:sp>
        <p:nvSpPr>
          <p:cNvPr id="86" name="矩形: 圆角 85"/>
          <p:cNvSpPr/>
          <p:nvPr/>
        </p:nvSpPr>
        <p:spPr>
          <a:xfrm>
            <a:off x="7753350" y="1590675"/>
            <a:ext cx="3810000" cy="962025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7" name="文本框 86" descr="{&quot;isTemplate&quot;:true,&quot;type&quot;:&quot;text&quot;}"/>
          <p:cNvSpPr txBox="1"/>
          <p:nvPr/>
        </p:nvSpPr>
        <p:spPr>
          <a:xfrm>
            <a:off x="7924800" y="1724025"/>
            <a:ext cx="34671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提示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 1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练习一中令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2 = 1 + 1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，即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h = 1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，放缩反而更简单。</a:t>
            </a:r>
            <a:endParaRPr/>
          </a:p>
        </p:txBody>
      </p:sp>
      <p:sp>
        <p:nvSpPr>
          <p:cNvPr id="88" name="矩形: 圆角 87"/>
          <p:cNvSpPr/>
          <p:nvPr/>
        </p:nvSpPr>
        <p:spPr>
          <a:xfrm>
            <a:off x="7753350" y="2686050"/>
            <a:ext cx="3810000" cy="962025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7924800" y="2819400"/>
            <a:ext cx="34671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提示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 2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严格套用三步框架：夹逼链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保留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\binom{n}{k+1}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项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取极限。</a:t>
            </a:r>
            <a:endParaRPr/>
          </a:p>
        </p:txBody>
      </p:sp>
      <p:sp>
        <p:nvSpPr>
          <p:cNvPr id="90" name="矩形: 圆角 89"/>
          <p:cNvSpPr/>
          <p:nvPr/>
        </p:nvSpPr>
        <p:spPr>
          <a:xfrm>
            <a:off x="7753350" y="3781425"/>
            <a:ext cx="3810000" cy="962025"/>
          </a:xfrm>
          <a:prstGeom prst="roundRect">
            <a:avLst>
              <a:gd name="adj" fmla="val 990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" name="文本框 90" descr="{&quot;isTemplate&quot;:true,&quot;type&quot;:&quot;text&quot;}"/>
          <p:cNvSpPr txBox="1"/>
          <p:nvPr/>
        </p:nvSpPr>
        <p:spPr>
          <a:xfrm>
            <a:off x="7924800" y="3914775"/>
            <a:ext cx="34671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提示</a:t>
            </a:r>
            <a:r>
              <a:rPr lang="en-US" sz="1425" b="1">
                <a:solidFill>
                  <a:srgbClr val="1E4FA8"/>
                </a:solidFill>
                <a:latin typeface="Microsoft YaHei"/>
                <a:ea typeface="Microsoft YaHei"/>
              </a:rPr>
              <a:t> 3</a:t>
            </a:r>
            <a:r>
              <a:rPr lang="zh-CN" sz="1425" b="1">
                <a:solidFill>
                  <a:srgbClr val="1E4FA8"/>
                </a:solidFill>
                <a:latin typeface="Microsoft YaHei"/>
                <a:ea typeface="Microsoft YaHei"/>
              </a:rPr>
              <a:t>：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一般结论：对任意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a &gt; 1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、固定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k ∈ N₊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，都有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 xk = o(ax)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（</a:t>
            </a:r>
            <a:r>
              <a:rPr lang="en-US" sz="1425">
                <a:solidFill>
                  <a:srgbClr val="1A2230"/>
                </a:solidFill>
                <a:latin typeface="Microsoft YaHei"/>
                <a:ea typeface="Microsoft YaHei"/>
              </a:rPr>
              <a:t>x → +∞</a:t>
            </a:r>
            <a:r>
              <a:rPr lang="zh-CN" sz="1425">
                <a:solidFill>
                  <a:srgbClr val="1A2230"/>
                </a:solidFill>
                <a:latin typeface="Microsoft YaHei"/>
                <a:ea typeface="Microsoft YaHei"/>
              </a:rPr>
              <a:t>）。</a:t>
            </a:r>
            <a:endParaRPr/>
          </a:p>
        </p:txBody>
      </p:sp>
      <p:sp>
        <p:nvSpPr>
          <p:cNvPr id="92" name="矩形: 圆角 91"/>
          <p:cNvSpPr/>
          <p:nvPr/>
        </p:nvSpPr>
        <p:spPr>
          <a:xfrm>
            <a:off x="7753350" y="5095875"/>
            <a:ext cx="3810000" cy="962025"/>
          </a:xfrm>
          <a:prstGeom prst="roundRect">
            <a:avLst>
              <a:gd name="adj" fmla="val 9901"/>
            </a:avLst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7924800" y="5229225"/>
            <a:ext cx="3467100" cy="6953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做完再对照第</a:t>
            </a:r>
            <a:r>
              <a:rPr lang="en-US" sz="1425">
                <a:solidFill>
                  <a:srgbClr val="FFFFFF"/>
                </a:solidFill>
                <a:latin typeface="Microsoft YaHei"/>
                <a:ea typeface="Microsoft YaHei"/>
              </a:rPr>
              <a:t> 7–9 </a:t>
            </a:r>
            <a:r>
              <a:rPr lang="zh-CN" sz="1425">
                <a:solidFill>
                  <a:srgbClr val="FFFFFF"/>
                </a:solidFill>
                <a:latin typeface="Microsoft YaHei"/>
                <a:ea typeface="Microsoft YaHei"/>
              </a:rPr>
              <a:t>页的三步推导，逐步核对每个不等号的依据。</a:t>
            </a:r>
            <a:endParaRPr/>
          </a:p>
        </p:txBody>
      </p:sp>
      <p:sp>
        <p:nvSpPr>
          <p:cNvPr id="94" name="任意多边形: 形状 93"/>
          <p:cNvSpPr/>
          <p:nvPr/>
        </p:nvSpPr>
        <p:spPr>
          <a:xfrm>
            <a:off x="0" y="6477000"/>
            <a:ext cx="12192000" cy="381000"/>
          </a:xfrm>
          <a:custGeom>
            <a:avLst/>
            <a:gdLst/>
            <a:ahLst/>
            <a:cxnLst/>
            <a:rect l="0" t="0" r="0" b="0"/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381000" y="6591300"/>
            <a:ext cx="11811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数学分析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解题课件</a:t>
            </a:r>
            <a:endParaRPr/>
          </a:p>
        </p:txBody>
      </p:sp>
      <p:sp>
        <p:nvSpPr>
          <p:cNvPr id="96" name="文本框 95" descr="{&quot;isTemplate&quot;:true,&quot;type&quot;:&quot;text&quot;}"/>
          <p:cNvSpPr txBox="1"/>
          <p:nvPr/>
        </p:nvSpPr>
        <p:spPr>
          <a:xfrm>
            <a:off x="11353800" y="659130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0E3F8C"/>
                </a:solidFill>
                <a:latin typeface="Microsoft YaHei"/>
                <a:ea typeface="Microsoft YaHei"/>
              </a:rPr>
              <a:t>12 / 13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0E3F8C', flexDirection: 'column', alignItems: 'center', justifyContent: 'center', position: 'relative', padding: 60 }}&gt;&#10;    &lt;Box style={{ position: 'absolute', bottom: 50, right: 56, width: 220, height: 220, borderRadius: 110, border: '2px solid rgba(232,239,248,0.16)' }} /&gt;&#10;    &lt;Box style={{ position: 'absolute', top: 50, left: 56, width: 200, height: 200, borderRadius: 100, background: 'rgba(30,79,168,0.45)' }} /&gt;&#10;    &lt;Box style={{ position: 'absolute', bottom: 0, left: 0, width: '100%', height: 10, background: '#1E4FA8' }} /&gt;&#10;&#10;    &lt;Text style={{ fontSize: 62, fontWeight: 'bold', color: '#FFFFFF', letterSpacing: 8, marginBottom: 36 }}&gt;谢谢观看&lt;/Text&gt;&#10;&#10;    &lt;Box style={{ flexDirection: 'row', alignItems: 'center', gap: 20, marginBottom: 40 }}&gt;&#10;        &lt;Box style={{ width: 60, height: 2, background: 'rgba(232,239,248,0.5)' }} /&gt;&#10;        &lt;Text style={{ fontSize: 22, color: '#A9C3E8', letterSpacing: 3 }}&gt;方法回顾 · 一图带走&lt;/Text&gt;&#10;        &lt;Box style={{ width: 60, height: 2, background: 'rgba(232,239,248,0.5)' }} /&gt;&#10;    &lt;/Box&gt;&#10;&#10;    &lt;Box style={{ flexDirection: 'row', alignItems: 'center', gap: 18, marginBottom: 48 }}&gt;&#10;        &lt;Box style={{ background: 'rgba(232,239,248,0.14)', border: '1px solid rgba(232,239,248,0.35)', borderRadius: 10, padding: '12px 26px' }}&gt;&#10;            &lt;Text style={{ fontSize: 20, color: '#FFFFFF' }}&gt;离散化 n = [x]&lt;/Text&gt;&#10;        &lt;/Box&gt;&#10;        &lt;Text style={{ fontSize: 24, color: '#E8EFF8', fontWeight: 'bold' }}&gt;→&lt;/Text&gt;&#10;        &lt;Box style={{ background: 'rgba(232,239,248,0.14)', border: '1px solid rgba(232,239,248,0.35)', borderRadius: 10, padding: '12px 26px' }}&gt;&#10;            &lt;Text style={{ fontSize: 20, color: '#FFFFFF' }}&gt;二项式放缩&lt;/Text&gt;&#10;        &lt;/Box&gt;&#10;        &lt;Text style={{ fontSize: 24, color: '#E8EFF8', fontWeight: 'bold' }}&gt;→&lt;/Text&gt;&#10;        &lt;Box style={{ background: 'rgba(232,239,248,0.14)', border: '1px solid rgba(232,239,248,0.35)', borderRadius: 10, padding: '12px 26px' }}&gt;&#10;            &lt;Text style={{ fontSize: 20, color: '#FFFFFF' }}&gt;取极限夹逼得 0&lt;/Text&gt;&#10;        &lt;/Box&gt;&#10;    &lt;/Box&gt;&#10;&#10;    &lt;Box style={{ background: '#1E4FA8', borderRadius: 12, padding: '18px 42px' }}&gt;&#10;        &lt;Text style={{ fontSize: 24, fontWeight: 'bold', color: '#FFFFFF', textAlign: 'center' }}&gt;把连续问题交给整数，把无穷大交给二项式。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矩形 9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9" name="文本框 98" descr="{&quot;isTemplate&quot;:true,&quot;type&quot;:&quot;text&quot;}"/>
          <p:cNvSpPr txBox="1"/>
          <p:nvPr/>
        </p:nvSpPr>
        <p:spPr>
          <a:xfrm>
            <a:off x="4762500" y="1819275"/>
            <a:ext cx="2667000" cy="7143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650" b="1" spc="600">
                <a:solidFill>
                  <a:srgbClr val="FFFFFF"/>
                </a:solidFill>
                <a:latin typeface="Microsoft YaHei"/>
                <a:ea typeface="Microsoft YaHei"/>
              </a:rPr>
              <a:t>谢谢观看</a:t>
            </a:r>
            <a:endParaRPr/>
          </a:p>
        </p:txBody>
      </p:sp>
      <p:sp>
        <p:nvSpPr>
          <p:cNvPr id="100" name="矩形 99"/>
          <p:cNvSpPr/>
          <p:nvPr/>
        </p:nvSpPr>
        <p:spPr>
          <a:xfrm>
            <a:off x="4248150" y="3000375"/>
            <a:ext cx="571500" cy="19050"/>
          </a:xfrm>
          <a:prstGeom prst="rect">
            <a:avLst/>
          </a:prstGeom>
          <a:solidFill>
            <a:srgbClr val="E8EFF8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5010150" y="2876550"/>
            <a:ext cx="21717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spc="225">
                <a:solidFill>
                  <a:srgbClr val="A9C3E8"/>
                </a:solidFill>
                <a:latin typeface="Microsoft YaHei"/>
                <a:ea typeface="Microsoft YaHei"/>
              </a:rPr>
              <a:t>方法回顾</a:t>
            </a:r>
            <a:r>
              <a:rPr lang="en-US" sz="1650" spc="225">
                <a:solidFill>
                  <a:srgbClr val="A9C3E8"/>
                </a:solidFill>
                <a:latin typeface="Microsoft YaHei"/>
                <a:ea typeface="Microsoft YaHei"/>
              </a:rPr>
              <a:t> · </a:t>
            </a:r>
            <a:r>
              <a:rPr lang="zh-CN" sz="1650" spc="225">
                <a:solidFill>
                  <a:srgbClr val="A9C3E8"/>
                </a:solidFill>
                <a:latin typeface="Microsoft YaHei"/>
                <a:ea typeface="Microsoft YaHei"/>
              </a:rPr>
              <a:t>一图带走</a:t>
            </a:r>
            <a:endParaRPr/>
          </a:p>
        </p:txBody>
      </p:sp>
      <p:sp>
        <p:nvSpPr>
          <p:cNvPr id="102" name="矩形 101"/>
          <p:cNvSpPr/>
          <p:nvPr/>
        </p:nvSpPr>
        <p:spPr>
          <a:xfrm>
            <a:off x="7372350" y="3000375"/>
            <a:ext cx="571500" cy="19050"/>
          </a:xfrm>
          <a:prstGeom prst="rect">
            <a:avLst/>
          </a:prstGeom>
          <a:solidFill>
            <a:srgbClr val="E8EFF8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3" name="矩形: 圆角 102"/>
          <p:cNvSpPr/>
          <p:nvPr/>
        </p:nvSpPr>
        <p:spPr>
          <a:xfrm>
            <a:off x="3038475" y="3514725"/>
            <a:ext cx="1724025" cy="457200"/>
          </a:xfrm>
          <a:prstGeom prst="roundRect">
            <a:avLst>
              <a:gd name="adj" fmla="val 20833"/>
            </a:avLst>
          </a:prstGeom>
          <a:solidFill>
            <a:srgbClr val="E8EFF8">
              <a:alpha val="14000"/>
            </a:srgbClr>
          </a:solidFill>
          <a:ln w="12700">
            <a:solidFill>
              <a:srgbClr val="E8EFF8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3286125" y="3629025"/>
            <a:ext cx="12287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离散化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n = [x]</a:t>
            </a:r>
            <a:endParaRPr/>
          </a:p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4933950" y="3609975"/>
            <a:ext cx="228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E8EFF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6" name="矩形: 圆角 105"/>
          <p:cNvSpPr/>
          <p:nvPr/>
        </p:nvSpPr>
        <p:spPr>
          <a:xfrm>
            <a:off x="5334000" y="3514725"/>
            <a:ext cx="1447800" cy="457200"/>
          </a:xfrm>
          <a:prstGeom prst="roundRect">
            <a:avLst>
              <a:gd name="adj" fmla="val 20833"/>
            </a:avLst>
          </a:prstGeom>
          <a:solidFill>
            <a:srgbClr val="E8EFF8">
              <a:alpha val="14000"/>
            </a:srgbClr>
          </a:solidFill>
          <a:ln w="12700">
            <a:solidFill>
              <a:srgbClr val="E8EFF8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5581650" y="3629025"/>
            <a:ext cx="9525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二项式放缩</a:t>
            </a:r>
            <a:endParaRPr/>
          </a:p>
        </p:txBody>
      </p:sp>
      <p:sp>
        <p:nvSpPr>
          <p:cNvPr id="108" name="文本框 107" descr="{&quot;isTemplate&quot;:true,&quot;type&quot;:&quot;text&quot;}"/>
          <p:cNvSpPr txBox="1"/>
          <p:nvPr/>
        </p:nvSpPr>
        <p:spPr>
          <a:xfrm>
            <a:off x="6953250" y="3609975"/>
            <a:ext cx="2286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800" b="1">
                <a:solidFill>
                  <a:srgbClr val="E8EFF8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9" name="矩形: 圆角 108"/>
          <p:cNvSpPr/>
          <p:nvPr/>
        </p:nvSpPr>
        <p:spPr>
          <a:xfrm>
            <a:off x="7353300" y="3514725"/>
            <a:ext cx="1809750" cy="457200"/>
          </a:xfrm>
          <a:prstGeom prst="roundRect">
            <a:avLst>
              <a:gd name="adj" fmla="val 20833"/>
            </a:avLst>
          </a:prstGeom>
          <a:solidFill>
            <a:srgbClr val="E8EFF8">
              <a:alpha val="14000"/>
            </a:srgbClr>
          </a:solidFill>
          <a:ln w="12700">
            <a:solidFill>
              <a:srgbClr val="E8EFF8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7600950" y="3629025"/>
            <a:ext cx="13144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取极限夹逼得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111" name="矩形: 圆角 110"/>
          <p:cNvSpPr/>
          <p:nvPr/>
        </p:nvSpPr>
        <p:spPr>
          <a:xfrm>
            <a:off x="3409950" y="4429125"/>
            <a:ext cx="5372100" cy="619125"/>
          </a:xfrm>
          <a:prstGeom prst="roundRect">
            <a:avLst>
              <a:gd name="adj" fmla="val 18462"/>
            </a:avLst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3810000" y="4600575"/>
            <a:ext cx="457200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把连续问题交给整数，把无穷大交给二项式。</a:t>
            </a:r>
            <a:endParaRPr/>
          </a:p>
        </p:txBody>
      </p:sp>
      <p:sp>
        <p:nvSpPr>
          <p:cNvPr id="113" name="矩形: 圆角 112"/>
          <p:cNvSpPr/>
          <p:nvPr/>
        </p:nvSpPr>
        <p:spPr>
          <a:xfrm>
            <a:off x="9563100" y="4286250"/>
            <a:ext cx="2095500" cy="2095500"/>
          </a:xfrm>
          <a:prstGeom prst="roundRect">
            <a:avLst>
              <a:gd name="adj" fmla="val 50000"/>
            </a:avLst>
          </a:prstGeom>
          <a:ln w="25400">
            <a:solidFill>
              <a:srgbClr val="E8EFF8">
                <a:alpha val="1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4" name="矩形: 圆角 113"/>
          <p:cNvSpPr/>
          <p:nvPr/>
        </p:nvSpPr>
        <p:spPr>
          <a:xfrm>
            <a:off x="533400" y="476250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1E4FA8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5" name="矩形 114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2200</Words>
  <Application>Microsoft Office PowerPoint</Application>
  <PresentationFormat>宽屏</PresentationFormat>
  <Paragraphs>168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1</cp:lastModifiedBy>
  <cp:revision>1</cp:revision>
  <dcterms:created xsi:type="dcterms:W3CDTF">2026-10-18T15:08:42Z</dcterms:created>
  <dcterms:modified xsi:type="dcterms:W3CDTF">2026-10-18T07:17:35Z</dcterms:modified>
</cp:coreProperties>
</file>