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开场点明主题：本讲聚焦 1^∞ − 1^∞ 型极限。</a:t>
            </a:r>
          </a:p>
          <a:p>
            <a:r>
              <a:t>动画建议：标题与副标题依次淡入（Fade）；金色分隔线以“擦除”出现；底部公式最后淡入并轻微放大，营造聚焦感。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强调题型特征：两项均为 1^∞ 型且极限都是 e，属于“1^∞ − 1^∞”差式；抛出悬念——答案会不会是某个有限值？</a:t>
            </a:r>
          </a:p>
          <a:p>
            <a:r>
              <a:t>动画建议：先显示原题框，再依次弹出右侧三张特征卡（浮入）。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思路主线：换底指数化 → 泰勒展开 → 等价无穷小替换。</a:t>
            </a:r>
          </a:p>
          <a:p>
            <a:r>
              <a:t>对比：洛必达需对幂指复合函数反复求导，三次才可能抵消，极易出错；泰勒展开只做多项式运算，阶数可控。</a:t>
            </a:r>
          </a:p>
          <a:p>
            <a:r>
              <a:t>动画建议：三张步骤卡按 ①②③ 顺序“擦除”进入，箭头随后出现；底部对比面板最后淡入，先红后绿。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逐步展示变形：① 把两个幂指函数都写成 e 的指数，并定义 A、B；② 提取公因子 e^B，制造 e^{A−B}−1；③ 用等价无穷小替换。</a:t>
            </a:r>
          </a:p>
          <a:p>
            <a:r>
              <a:t>强调：提取公因子是承上启下的一步——它把“两项之差”变成“一个因子 × 一个等价小量”。</a:t>
            </a:r>
          </a:p>
          <a:p>
            <a:r>
              <a:t>动画建议：按 ①②③ 分步显示公式；提取公因子一步用“脉冲”强调动画高亮。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讲解展开式来源：ln(1+t)=t−t²/2+t³/3−t⁴/4+…，代入 t=tan x、t=sin x；倒数用几何级数展开。</a:t>
            </a:r>
          </a:p>
          <a:p>
            <a:r>
              <a:t>强调抵消：A 与 B 的前两项完全相同，相减后主部是 x²——这预示最终发散。</a:t>
            </a:r>
          </a:p>
          <a:p>
            <a:r>
              <a:t>动画建议：逐行出现三个展开式；再出现 A、B 面板；最后 A−B 高亮框弹出并放大。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代入并取极限：分子 ~ e·x² − 5e/4·x³，除以 x³ 得 e/x − 5e/4。</a:t>
            </a:r>
          </a:p>
          <a:p>
            <a:r>
              <a:t>结论：双侧极限不存在；x→0⁺ 为 +∞，x→0⁻ 为 −∞。点出与“有限值提示”的差异——严谨推导是第一标准。</a:t>
            </a:r>
          </a:p>
          <a:p>
            <a:r>
              <a:t>动画建议：先显示代入式并逐项化简；结果框最后弹出（放大进入），配合数值验证卡片佐证。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总结四要点：上下同阶原则、加减法等价替换禁忌、标准流程、检验习惯。</a:t>
            </a:r>
          </a:p>
          <a:p>
            <a:r>
              <a:t>重点重申：本题正解是极限不存在（发散）；若题目给出的“参考答案”是有限值，一定要用展开和数值双重检验。</a:t>
            </a:r>
          </a:p>
          <a:p>
            <a:r>
              <a:t>动画建议：四张卡依次“浮入”，讲解完一张再出下一张。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 i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高等数学 · 极限专题讲义</a:t>
            </a:r>
            <a:endParaRPr sz="1500" b="0" i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789920" cy="9601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高等数学经典极限解析</a:t>
            </a:r>
            <a:endParaRPr sz="4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3017520"/>
            <a:ext cx="1554480" cy="6400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10128"/>
            <a:ext cx="1078992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100" b="0" i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一类 1^∞ − 1^∞ 型极限的求解技巧</a:t>
            </a:r>
            <a:endParaRPr sz="2100" b="0" i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7" descr="f0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6379" y="4160520"/>
            <a:ext cx="3678936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 i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</a:rPr>
              <a:t>换底指数化  →  泰勒展开  →  等价无穷小替换</a:t>
            </a:r>
            <a:endParaRPr sz="1500" b="0" i="0">
              <a:solidFill>
                <a:srgbClr val="9DC3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91440" cy="47548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56032"/>
            <a:ext cx="10058400" cy="6858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题目展示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183112" cy="20116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1148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0" i="0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</a:rPr>
              <a:t>高等数学 · 极限专题</a:t>
            </a:r>
            <a:endParaRPr sz="950" b="0" i="0">
              <a:solidFill>
                <a:srgbClr val="A6A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28816"/>
            <a:ext cx="10789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50" b="0" i="0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</a:rPr>
              <a:t>2 / 7</a:t>
            </a:r>
            <a:endParaRPr sz="950" b="0" i="0">
              <a:solidFill>
                <a:srgbClr val="A6A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6858000" cy="43434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4752"/>
            <a:ext cx="20116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【原题】</a:t>
            </a:r>
            <a:endParaRPr sz="14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f0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1135" y="1920240"/>
            <a:ext cx="3401568" cy="646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389120"/>
            <a:ext cx="64008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其中 tan x、sin x 在 x→0 处作泰勒展开；分母为 x³。</a:t>
            </a:r>
            <a:endParaRPr sz="1200" b="0" i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4956048"/>
            <a:ext cx="64008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未定式类型：</a:t>
            </a:r>
            <a:r>
              <a:rPr sz="1300" b="1" i="0">
                <a:solidFill>
                  <a:srgbClr val="B02E2B"/>
                </a:solidFill>
                <a:latin typeface="微软雅黑" panose="020B0503020204020204" charset="-122"/>
                <a:ea typeface="微软雅黑" panose="020B0503020204020204" charset="-122"/>
              </a:rPr>
              <a:t>1^∞ − 1^∞（两项极限均为 e）</a:t>
            </a:r>
            <a:endParaRPr sz="1300" b="1" i="0">
              <a:solidFill>
                <a:srgbClr val="B02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589520" y="1298448"/>
            <a:ext cx="409651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08176"/>
            <a:ext cx="3749039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题型特征</a:t>
            </a:r>
            <a:endParaRPr sz="14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0" y="1783080"/>
            <a:ext cx="3749039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底数 → 1，指数 → ∞，两项同型；</a:t>
            </a:r>
            <a:endParaRPr sz="12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2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各自极限均为 e，作差后需更高精度。</a:t>
            </a:r>
            <a:endParaRPr sz="12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589520" y="2926080"/>
            <a:ext cx="409651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035808"/>
            <a:ext cx="3749039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恒等变形武器</a:t>
            </a:r>
            <a:endParaRPr sz="14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Picture 17" descr="f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800" y="3401568"/>
            <a:ext cx="1139952" cy="3505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0" y="3986784"/>
            <a:ext cx="3749039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把幂指函数统一为自然指数</a:t>
            </a:r>
            <a:endParaRPr sz="1200" b="0" i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589520" y="4553712"/>
            <a:ext cx="409651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663440"/>
            <a:ext cx="3749039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精度要求</a:t>
            </a:r>
            <a:endParaRPr sz="14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0" y="5029200"/>
            <a:ext cx="3749039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分母 x³ ⇒ 分子须精确到 O(x³)；</a:t>
            </a:r>
            <a:endParaRPr sz="12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250" b="1" i="0">
                <a:solidFill>
                  <a:srgbClr val="B02E2B"/>
                </a:solidFill>
                <a:latin typeface="微软雅黑" panose="020B0503020204020204" charset="-122"/>
                <a:ea typeface="微软雅黑" panose="020B0503020204020204" charset="-122"/>
              </a:rPr>
              <a:t>提示：严格计算表明本题发散（第 6 页）。</a:t>
            </a:r>
            <a:endParaRPr sz="1250" b="1" i="0">
              <a:solidFill>
                <a:srgbClr val="B02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91440" cy="47548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56032"/>
            <a:ext cx="10058400" cy="6858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解题思路分析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183112" cy="20116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1148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0" i="0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</a:rPr>
              <a:t>高等数学 · 极限专题</a:t>
            </a:r>
            <a:endParaRPr sz="950" b="0" i="0">
              <a:solidFill>
                <a:srgbClr val="A6A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28816"/>
            <a:ext cx="10789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50" b="0" i="0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</a:rPr>
              <a:t>3 / 7</a:t>
            </a:r>
            <a:endParaRPr sz="950" b="0" i="0">
              <a:solidFill>
                <a:srgbClr val="A6A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639312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3291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① 换底指数化</a:t>
            </a:r>
            <a:endParaRPr sz="14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f0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2664" y="1883664"/>
            <a:ext cx="1639824" cy="3749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2761488"/>
            <a:ext cx="329184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把幂指函数写成 e 的指数，统一战场</a:t>
            </a:r>
            <a:endParaRPr sz="1150" b="0" i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25112" y="1371600"/>
            <a:ext cx="3639312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481328"/>
            <a:ext cx="3291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② 泰勒展开</a:t>
            </a:r>
            <a:endParaRPr sz="14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Picture 13" descr="f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883664"/>
            <a:ext cx="3291840" cy="2693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7992" y="2761488"/>
            <a:ext cx="329184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对 sin / tan / ln 精确到所需阶数</a:t>
            </a:r>
            <a:endParaRPr sz="1150" b="0" i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47304" y="1371600"/>
            <a:ext cx="3639312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481328"/>
            <a:ext cx="3291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③ 等价无穷小替换</a:t>
            </a:r>
            <a:endParaRPr sz="14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Picture 17" descr="f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996" y="1883664"/>
            <a:ext cx="1709928" cy="3078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30183" y="2761488"/>
            <a:ext cx="329184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化为多项式之比，一步到位</a:t>
            </a:r>
            <a:endParaRPr sz="1150" b="0" i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95344" y="2148840"/>
            <a:ext cx="4572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40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17536" y="2148840"/>
            <a:ext cx="4572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40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3611880"/>
            <a:ext cx="11283696" cy="269748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30752"/>
            <a:ext cx="7315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为什么不直接使用洛必达法则？</a:t>
            </a:r>
            <a:endParaRPr sz="14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1520" y="4114800"/>
            <a:ext cx="5349240" cy="1965960"/>
          </a:xfrm>
          <a:prstGeom prst="roundRect">
            <a:avLst>
              <a:gd name="adj" fmla="val 7000"/>
            </a:avLst>
          </a:prstGeom>
          <a:solidFill>
            <a:srgbClr val="FDEEEE"/>
          </a:solidFill>
          <a:ln w="12700">
            <a:solidFill>
              <a:srgbClr val="B0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224528"/>
            <a:ext cx="49377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B02E2B"/>
                </a:solidFill>
                <a:latin typeface="微软雅黑" panose="020B0503020204020204" charset="-122"/>
                <a:ea typeface="微软雅黑" panose="020B0503020204020204" charset="-122"/>
              </a:rPr>
              <a:t>洛必达的困境</a:t>
            </a:r>
            <a:endParaRPr sz="1300" b="1" i="0">
              <a:solidFill>
                <a:srgbClr val="B02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4590288"/>
            <a:ext cx="4983480" cy="1417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幂指函数求导：ln(1+tan x) 的链式复合层层嵌套；</a:t>
            </a:r>
            <a:endParaRPr sz="11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分子求导后项数爆炸，需连续使用 3 次才可能化简；</a:t>
            </a:r>
            <a:endParaRPr sz="11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符号运算极易出错，性价比极低。</a:t>
            </a:r>
            <a:endParaRPr sz="11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355080" y="4114800"/>
            <a:ext cx="5212080" cy="1965960"/>
          </a:xfrm>
          <a:prstGeom prst="roundRect">
            <a:avLst>
              <a:gd name="adj" fmla="val 7000"/>
            </a:avLst>
          </a:prstGeom>
          <a:solidFill>
            <a:srgbClr val="EAF4EA"/>
          </a:solidFill>
          <a:ln w="12700">
            <a:solidFill>
              <a:srgbClr val="7BAF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224528"/>
            <a:ext cx="48463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泰勒展开的优势</a:t>
            </a:r>
            <a:endParaRPr sz="1300" b="1" i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37960" y="4590288"/>
            <a:ext cx="4846320" cy="1417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直接计算 A−B 的多项式主部，一步到位；</a:t>
            </a:r>
            <a:endParaRPr sz="11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阶数可控（上下同阶原则），过程机械化；</a:t>
            </a:r>
            <a:endParaRPr sz="11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彻底避开对数复合函数的反复求导。</a:t>
            </a:r>
            <a:endParaRPr sz="11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91440" cy="47548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56032"/>
            <a:ext cx="10058400" cy="6858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核心步骤一：代数变形（换底指数化）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183112" cy="20116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1148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0" i="0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</a:rPr>
              <a:t>高等数学 · 极限专题</a:t>
            </a:r>
            <a:endParaRPr sz="950" b="0" i="0">
              <a:solidFill>
                <a:srgbClr val="A6A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28816"/>
            <a:ext cx="10789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50" b="0" i="0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</a:rPr>
              <a:t>4 / 7</a:t>
            </a:r>
            <a:endParaRPr sz="950" b="0" i="0">
              <a:solidFill>
                <a:srgbClr val="A6A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6720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① 幂指函数指数化（a^b = e^{b ln a}）</a:t>
            </a:r>
            <a:endParaRPr sz="13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8" descr="f0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00784"/>
            <a:ext cx="3514344" cy="381000"/>
          </a:xfrm>
          <a:prstGeom prst="rect">
            <a:avLst/>
          </a:prstGeom>
        </p:spPr>
      </p:pic>
      <p:pic>
        <p:nvPicPr>
          <p:cNvPr id="10" name="Picture 9" descr="f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04288"/>
            <a:ext cx="3459480" cy="371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2944368"/>
            <a:ext cx="6720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50" b="1" i="0">
                <a:solidFill>
                  <a:srgbClr val="B02E2B"/>
                </a:solidFill>
                <a:latin typeface="微软雅黑" panose="020B0503020204020204" charset="-122"/>
                <a:ea typeface="微软雅黑" panose="020B0503020204020204" charset="-122"/>
              </a:rPr>
              <a:t>② 提取公因子 e^B —— 关键一步</a:t>
            </a:r>
            <a:endParaRPr sz="1350" b="1" i="0">
              <a:solidFill>
                <a:srgbClr val="B02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3291840"/>
            <a:ext cx="6720840" cy="1143000"/>
          </a:xfrm>
          <a:prstGeom prst="roundRect">
            <a:avLst>
              <a:gd name="adj" fmla="val 7000"/>
            </a:avLst>
          </a:prstGeom>
          <a:solidFill>
            <a:srgbClr val="FDEEEE"/>
          </a:solidFill>
          <a:ln w="15240">
            <a:solidFill>
              <a:srgbClr val="B0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15" y="3474720"/>
            <a:ext cx="4270248" cy="3566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4572000"/>
            <a:ext cx="6720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③ 等价替换 + 极限观察</a:t>
            </a:r>
            <a:endParaRPr sz="13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Picture 14" descr="f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974336"/>
            <a:ext cx="4888992" cy="31089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452360" y="1298448"/>
            <a:ext cx="4233672" cy="420624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408176"/>
            <a:ext cx="3886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步骤解读</a:t>
            </a:r>
            <a:endParaRPr sz="14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35240" y="1828800"/>
            <a:ext cx="3886200" cy="3611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恒等变形：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a^b = e^{b·ln a}，把 1^∞ 型幂指函数统一为 e 的指数；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记 A、B 后，分子 = e^A − e^B；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B02E2B"/>
                </a:solidFill>
                <a:latin typeface="微软雅黑" panose="020B0503020204020204" charset="-122"/>
                <a:ea typeface="微软雅黑" panose="020B0503020204020204" charset="-122"/>
              </a:rPr>
              <a:t>• 关键：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提出 e^B，制造 e^(A−B) − 1，套用 e^u − 1 ∼ u；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前提验证：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A→1、B→1（ln(1+t)/t → 1），故 A−B→0，e^B→e；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下一步任务：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精确求出 A−B 到 O(x³)。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5779008"/>
            <a:ext cx="11183112" cy="54864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870448"/>
            <a:ext cx="10817352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原式 = lim e^B(e^(A−B) − 1) / x³  ∼  e·(A−B) / x³ —— 胜负手在于 A−B 的展开精度</a:t>
            </a:r>
            <a:endParaRPr sz="13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91440" cy="47548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56032"/>
            <a:ext cx="10058400" cy="6858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核心步骤二：泰勒展开与 A−B 的计算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183112" cy="20116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1148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0" i="0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</a:rPr>
              <a:t>高等数学 · 极限专题</a:t>
            </a:r>
            <a:endParaRPr sz="950" b="0" i="0">
              <a:solidFill>
                <a:srgbClr val="A6A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28816"/>
            <a:ext cx="10789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50" b="0" i="0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</a:rPr>
              <a:t>5 / 7</a:t>
            </a:r>
            <a:endParaRPr sz="950" b="0" i="0">
              <a:solidFill>
                <a:srgbClr val="A6A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6720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① 三个基本展开（ln 需展开到 x⁴ 项）</a:t>
            </a:r>
            <a:endParaRPr sz="13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8" descr="f0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3941063" cy="359664"/>
          </a:xfrm>
          <a:prstGeom prst="rect">
            <a:avLst/>
          </a:prstGeom>
        </p:spPr>
      </p:pic>
      <p:pic>
        <p:nvPicPr>
          <p:cNvPr id="10" name="Picture 9" descr="f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12848"/>
            <a:ext cx="3742944" cy="356616"/>
          </a:xfrm>
          <a:prstGeom prst="rect">
            <a:avLst/>
          </a:prstGeom>
        </p:spPr>
      </p:pic>
      <p:pic>
        <p:nvPicPr>
          <p:cNvPr id="11" name="Picture 10" descr="f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4501896" cy="332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328416"/>
            <a:ext cx="6720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② 逐项相乘，得 A 与 B</a:t>
            </a:r>
            <a:endParaRPr sz="13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3657600"/>
            <a:ext cx="6720840" cy="1024128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963" y="3803904"/>
            <a:ext cx="5254752" cy="33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4828032"/>
            <a:ext cx="6720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50" b="1" i="0">
                <a:solidFill>
                  <a:srgbClr val="B02E2B"/>
                </a:solidFill>
                <a:latin typeface="微软雅黑" panose="020B0503020204020204" charset="-122"/>
                <a:ea typeface="微软雅黑" panose="020B0503020204020204" charset="-122"/>
              </a:rPr>
              <a:t>③ 相减：常数项与一次项完全抵消</a:t>
            </a:r>
            <a:endParaRPr sz="1350" b="1" i="0">
              <a:solidFill>
                <a:srgbClr val="B02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5157216"/>
            <a:ext cx="6720840" cy="868680"/>
          </a:xfrm>
          <a:prstGeom prst="roundRect">
            <a:avLst>
              <a:gd name="adj" fmla="val 7000"/>
            </a:avLst>
          </a:prstGeom>
          <a:solidFill>
            <a:srgbClr val="FDEEEE"/>
          </a:solidFill>
          <a:ln w="15240">
            <a:solidFill>
              <a:srgbClr val="B0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0759" y="5248656"/>
            <a:ext cx="3185160" cy="39319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452360" y="1298448"/>
            <a:ext cx="4233672" cy="4727448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1408176"/>
            <a:ext cx="3886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展开与化简要点</a:t>
            </a:r>
            <a:endParaRPr sz="14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35240" y="1828800"/>
            <a:ext cx="3886200" cy="4114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为何展开到 x⁴？</a:t>
            </a:r>
            <a:r>
              <a:rPr sz="11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除以 sin x / tan x（≈x）后，A、B 才能精确到 O(x³)，匹配分母 x³；</a:t>
            </a:r>
            <a:endParaRPr sz="11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倒数展开：</a:t>
            </a:r>
            <a:r>
              <a:rPr sz="11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用 1/(1±u) = 1∓u+O(u²) 处理 1/sin x 与 1/tan x；</a:t>
            </a:r>
            <a:endParaRPr sz="11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 i="0">
                <a:solidFill>
                  <a:srgbClr val="B02E2B"/>
                </a:solidFill>
                <a:latin typeface="微软雅黑" panose="020B0503020204020204" charset="-122"/>
                <a:ea typeface="微软雅黑" panose="020B0503020204020204" charset="-122"/>
              </a:rPr>
              <a:t>• 危险区：</a:t>
            </a:r>
            <a:r>
              <a:rPr sz="11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A、B 的常数与一次项完全相同，相减抵消——若提前用 ln(1+t)∼t、sin x∼x 替换，会丢失主部；</a:t>
            </a:r>
            <a:endParaRPr sz="11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A−B 的主部是 x² 而非 x³：</a:t>
            </a:r>
            <a:r>
              <a:rPr sz="11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这是“发散”结论的伏笔；</a:t>
            </a:r>
            <a:endParaRPr sz="11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加减法中禁止贸然等价替换（详见第 7 页）。</a:t>
            </a:r>
            <a:endParaRPr sz="11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91440" cy="47548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56032"/>
            <a:ext cx="10058400" cy="6858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代入化简 · 得出结果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183112" cy="20116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1148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0" i="0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</a:rPr>
              <a:t>高等数学 · 极限专题</a:t>
            </a:r>
            <a:endParaRPr sz="950" b="0" i="0">
              <a:solidFill>
                <a:srgbClr val="A6A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28816"/>
            <a:ext cx="10789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50" b="0" i="0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</a:rPr>
              <a:t>6 / 7</a:t>
            </a:r>
            <a:endParaRPr sz="950" b="0" i="0">
              <a:solidFill>
                <a:srgbClr val="A6A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6720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① 代入原式，保留 e^B 的一阶修正（e^B = e·(1 − x/2 + O(x²))）</a:t>
            </a:r>
            <a:endParaRPr sz="13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8" descr="f0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19072"/>
            <a:ext cx="6281928" cy="323088"/>
          </a:xfrm>
          <a:prstGeom prst="rect">
            <a:avLst/>
          </a:prstGeom>
        </p:spPr>
      </p:pic>
      <p:pic>
        <p:nvPicPr>
          <p:cNvPr id="10" name="Picture 9" descr="f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40864"/>
            <a:ext cx="3715512" cy="432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3017520"/>
            <a:ext cx="6720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50" b="1" i="0">
                <a:solidFill>
                  <a:srgbClr val="B02E2B"/>
                </a:solidFill>
                <a:latin typeface="微软雅黑" panose="020B0503020204020204" charset="-122"/>
                <a:ea typeface="微软雅黑" panose="020B0503020204020204" charset="-122"/>
              </a:rPr>
              <a:t>② 取极限</a:t>
            </a:r>
            <a:endParaRPr sz="1350" b="1" i="0">
              <a:solidFill>
                <a:srgbClr val="B02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3346704"/>
            <a:ext cx="6720840" cy="1005840"/>
          </a:xfrm>
          <a:prstGeom prst="roundRect">
            <a:avLst>
              <a:gd name="adj" fmla="val 7000"/>
            </a:avLst>
          </a:prstGeom>
          <a:solidFill>
            <a:srgbClr val="FDEEEE"/>
          </a:solidFill>
          <a:ln w="15240">
            <a:solidFill>
              <a:srgbClr val="B02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19" y="3474720"/>
            <a:ext cx="3977639" cy="4693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4517136"/>
            <a:ext cx="630936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B02E2B"/>
                </a:solidFill>
                <a:latin typeface="微软雅黑" panose="020B0503020204020204" charset="-122"/>
                <a:ea typeface="微软雅黑" panose="020B0503020204020204" charset="-122"/>
              </a:rPr>
              <a:t>∴ 原极限不存在（发散）。</a:t>
            </a:r>
            <a:r>
              <a:rPr sz="135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分子主部为 e·x²，除以 x³ 后以 e/x 的速率趋于无穷。</a:t>
            </a:r>
            <a:endParaRPr sz="1350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452360" y="1298448"/>
            <a:ext cx="4233672" cy="169164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408176"/>
            <a:ext cx="3886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延伸思考：分母换成 x²</a:t>
            </a:r>
            <a:endParaRPr sz="13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Picture 16" descr="f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6592" y="1810512"/>
            <a:ext cx="2045208" cy="3627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35240" y="2560320"/>
            <a:ext cx="3886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（分子主部恰为 e·x²，故极限为 e）</a:t>
            </a:r>
            <a:endParaRPr sz="1100" b="0" i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52360" y="3154680"/>
            <a:ext cx="4233672" cy="146304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3264408"/>
            <a:ext cx="3886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数值验证（发散佐证）</a:t>
            </a:r>
            <a:endParaRPr sz="13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35240" y="3639312"/>
            <a:ext cx="388620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x = 0.01：原式 ≈ 268.48</a:t>
            </a:r>
            <a:endParaRPr sz="11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对照 e/x − 5e/4 ≈ 268.43 ✓</a:t>
            </a:r>
            <a:endParaRPr sz="11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x = 0.001：2714.89 vs 2714.88 ✓</a:t>
            </a:r>
            <a:endParaRPr sz="11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452360" y="4800600"/>
            <a:ext cx="4233672" cy="1417320"/>
          </a:xfrm>
          <a:prstGeom prst="roundRect">
            <a:avLst>
              <a:gd name="adj" fmla="val 7000"/>
            </a:avLst>
          </a:prstGeom>
          <a:solidFill>
            <a:srgbClr val="FFF3E0"/>
          </a:solidFill>
          <a:ln w="12700">
            <a:solidFill>
              <a:srgbClr val="E6A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4910328"/>
            <a:ext cx="3886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50" b="1" i="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警惕“提示答案”</a:t>
            </a:r>
            <a:endParaRPr sz="1350" b="1" i="0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35240" y="5285232"/>
            <a:ext cx="3886200" cy="8686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若题目附带“e/2”之类的提示，请以严谨推导为准：本题严格计算的结果是发散。</a:t>
            </a:r>
            <a:endParaRPr sz="115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91440" cy="47548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56032"/>
            <a:ext cx="10058400" cy="6858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易错点与总结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183112" cy="20116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41148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0" i="0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</a:rPr>
              <a:t>高等数学 · 极限专题</a:t>
            </a:r>
            <a:endParaRPr sz="950" b="0" i="0">
              <a:solidFill>
                <a:srgbClr val="A6A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28816"/>
            <a:ext cx="10789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50" b="0" i="0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</a:rPr>
              <a:t>7 / 7</a:t>
            </a:r>
            <a:endParaRPr sz="950" b="0" i="0">
              <a:solidFill>
                <a:srgbClr val="A6A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22392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99616"/>
            <a:ext cx="5029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① 上下同阶原则</a:t>
            </a:r>
            <a:endParaRPr sz="14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1883664"/>
            <a:ext cx="5074920" cy="1783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分母 x³ ⇒ 分子展开到 O(x³)；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为达精度，ln 展开到 x⁴ 再除以 sin/tan；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少一阶结论错，多一阶徒增计算量。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422392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99616"/>
            <a:ext cx="5029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② 加减法替换禁忌</a:t>
            </a:r>
            <a:endParaRPr sz="14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6520" y="1883664"/>
            <a:ext cx="5074920" cy="1783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A−B 中常数与一次项抵消，主部为 x²；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提前 ln(1+t)∼t、sin x∼x 会丢失主部；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等价替换只作用于整体乘除因子。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5422392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59935"/>
            <a:ext cx="5029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③ 标准流程总结</a:t>
            </a:r>
            <a:endParaRPr sz="14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4443983"/>
            <a:ext cx="5074920" cy="1783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幂指差 → 指数化 → 提出 e^B →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e^(A−B) − 1 ∼ A−B → 泰勒求 A−B →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与分母比较阶数，得出结论。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63640" y="3931920"/>
            <a:ext cx="5422392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059935"/>
            <a:ext cx="5029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5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④ 检验习惯</a:t>
            </a:r>
            <a:endParaRPr sz="1450" b="1" i="0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6520" y="4443983"/>
            <a:ext cx="5074920" cy="1783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数值回代验证发散（e/x 主部吻合）；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警惕“漂亮”的有限答案——正解是发散；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 i="0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若分母换成 x²，极限为 e。</a:t>
            </a:r>
            <a:endParaRPr sz="12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1786</Words>
  <Application>WPS 演示</Application>
  <PresentationFormat>On-screen Show (4:3)</PresentationFormat>
  <Paragraphs>168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高等数学经典极限解析</dc:title>
  <dc:creator>AI Agent</dc:creator>
  <dc:description>generated using python-pptx</dc:description>
  <cp:lastModifiedBy>Lenovo</cp:lastModifiedBy>
  <cp:revision>2</cp:revision>
  <dcterms:created xsi:type="dcterms:W3CDTF">2013-01-27T09:14:00Z</dcterms:created>
  <dcterms:modified xsi:type="dcterms:W3CDTF">2026-10-17T09:41:02Z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4547458636BF4F3094D6627D91AB3670_13</vt:lpwstr>
  </property>
  <property fmtid="{D5CDD505-2E9C-101B-9397-08002B2CF9AE}" pid="3" name="KSOProductBuildVer">
    <vt:lpwstr>2052-12.1.0.28505</vt:lpwstr>
  </property>
</Properties>
</file>