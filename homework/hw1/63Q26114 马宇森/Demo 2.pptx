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endParaRPr lang="zh-CN" sz="170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3400" b="1" dirty="0">
                <a:solidFill>
                  <a:srgbClr val="FFFFFF"/>
                </a:solidFill>
                <a:latin typeface="微软雅黑"/>
                <a:ea typeface="微软雅黑"/>
              </a:rPr>
              <a:t>2026 年高考 I 卷数学  第 19 题 全解</a:t>
            </a:r>
            <a:endParaRPr lang="zh-CN" sz="3400" dirty="0"/>
          </a:p>
        </p:txBody>
      </p:sp>
      <p:sp>
        <p:nvSpPr>
          <p:cNvPr id="6" name="Rectangle 5"/>
          <p:cNvSpPr/>
          <p:nvPr/>
        </p:nvSpPr>
        <p:spPr>
          <a:xfrm>
            <a:off x="1051560" y="2788920"/>
            <a:ext cx="2103120" cy="457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000" dirty="0">
                <a:solidFill>
                  <a:srgbClr val="C9DCEE"/>
                </a:solidFill>
                <a:latin typeface="微软雅黑"/>
                <a:ea typeface="微软雅黑"/>
              </a:rPr>
              <a:t>函数 </a:t>
            </a:r>
            <a:r>
              <a:rPr lang="en-US" sz="2000" i="1" dirty="0">
                <a:solidFill>
                  <a:srgbClr val="C9DCEE"/>
                </a:solidFill>
                <a:latin typeface="Cambria Math"/>
              </a:rPr>
              <a:t>f(x)</a:t>
            </a:r>
            <a:r>
              <a:rPr lang="zh-CN" sz="2000" dirty="0">
                <a:solidFill>
                  <a:srgbClr val="C9DCEE"/>
                </a:solidFill>
                <a:latin typeface="微软雅黑"/>
                <a:ea typeface="微软雅黑"/>
              </a:rPr>
              <a:t> 与集合 </a:t>
            </a:r>
            <a:r>
              <a:rPr lang="en-US" sz="2000" i="1" dirty="0">
                <a:solidFill>
                  <a:srgbClr val="C9DCEE"/>
                </a:solidFill>
                <a:latin typeface="Cambria Math"/>
              </a:rPr>
              <a:t>D(x</a:t>
            </a:r>
            <a:r>
              <a:rPr lang="en-US" sz="1440" baseline="-25000" dirty="0">
                <a:solidFill>
                  <a:srgbClr val="C9DCEE"/>
                </a:solidFill>
                <a:latin typeface="Cambria Math"/>
              </a:rPr>
              <a:t>0</a:t>
            </a:r>
            <a:r>
              <a:rPr lang="en-US" sz="2000" i="1" dirty="0">
                <a:solidFill>
                  <a:srgbClr val="C9DCEE"/>
                </a:solidFill>
                <a:latin typeface="Cambria Math"/>
              </a:rPr>
              <a:t>)={ d</a:t>
            </a:r>
            <a:r>
              <a:rPr lang="en-US" sz="2000" dirty="0">
                <a:solidFill>
                  <a:srgbClr val="C9DCEE"/>
                </a:solidFill>
                <a:latin typeface="Cambria Math"/>
              </a:rPr>
              <a:t>∈</a:t>
            </a:r>
            <a:r>
              <a:rPr lang="en-US" sz="2000" i="1" dirty="0">
                <a:solidFill>
                  <a:srgbClr val="C9DCEE"/>
                </a:solidFill>
                <a:latin typeface="Cambria Math"/>
              </a:rPr>
              <a:t>ℝ</a:t>
            </a:r>
            <a:r>
              <a:rPr lang="en-US" sz="2000" dirty="0">
                <a:solidFill>
                  <a:srgbClr val="C9DCEE"/>
                </a:solidFill>
                <a:latin typeface="Cambria Math"/>
              </a:rPr>
              <a:t>∣</a:t>
            </a:r>
            <a:r>
              <a:rPr lang="en-US" sz="2000" i="1" dirty="0">
                <a:solidFill>
                  <a:srgbClr val="C9DCEE"/>
                </a:solidFill>
                <a:latin typeface="Cambria Math"/>
              </a:rPr>
              <a:t> f(x</a:t>
            </a:r>
            <a:r>
              <a:rPr lang="en-US" sz="1440" baseline="-25000" dirty="0">
                <a:solidFill>
                  <a:srgbClr val="C9DCEE"/>
                </a:solidFill>
                <a:latin typeface="Cambria Math"/>
              </a:rPr>
              <a:t>0</a:t>
            </a:r>
            <a:r>
              <a:rPr lang="en-US" sz="2000" i="1" dirty="0">
                <a:solidFill>
                  <a:srgbClr val="C9DCEE"/>
                </a:solidFill>
                <a:latin typeface="Cambria Math"/>
              </a:rPr>
              <a:t>+d)&gt;f(x</a:t>
            </a:r>
            <a:r>
              <a:rPr lang="en-US" sz="1440" baseline="-25000" dirty="0">
                <a:solidFill>
                  <a:srgbClr val="C9DCEE"/>
                </a:solidFill>
                <a:latin typeface="Cambria Math"/>
              </a:rPr>
              <a:t>0</a:t>
            </a:r>
            <a:r>
              <a:rPr lang="en-US" sz="2000" dirty="0">
                <a:solidFill>
                  <a:srgbClr val="C9DCEE"/>
                </a:solidFill>
                <a:latin typeface="Cambria Math"/>
              </a:rPr>
              <a:t>) }</a:t>
            </a:r>
            <a:endParaRPr 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  <a:spcAft>
                <a:spcPts val="800"/>
              </a:spcAft>
            </a:pPr>
            <a:r>
              <a:rPr lang="zh-CN" sz="1500" dirty="0">
                <a:solidFill>
                  <a:srgbClr val="FFFFFF"/>
                </a:solidFill>
                <a:latin typeface="微软雅黑"/>
                <a:ea typeface="微软雅黑"/>
              </a:rPr>
              <a:t>考查内容：分段函数 · 奇函数 · 集合的包含关系 · 函数单调性的证明</a:t>
            </a:r>
            <a:endParaRPr lang="zh-CN" sz="1500" dirty="0"/>
          </a:p>
          <a:p>
            <a:pPr>
              <a:lnSpc>
                <a:spcPct val="115999"/>
              </a:lnSpc>
            </a:pPr>
            <a:r>
              <a:rPr lang="zh-CN" sz="1500" dirty="0">
                <a:solidFill>
                  <a:srgbClr val="FFFFFF"/>
                </a:solidFill>
                <a:latin typeface="微软雅黑"/>
                <a:ea typeface="微软雅黑"/>
              </a:rPr>
              <a:t>内容结构：原题呈现 → 解题思路 → 规范解题过程（四问全解）→ 结果与方法汇总</a:t>
            </a:r>
            <a:endParaRPr lang="zh-CN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1051560" y="57607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1350" dirty="0">
                <a:solidFill>
                  <a:srgbClr val="C9DCEE"/>
                </a:solidFill>
                <a:latin typeface="微软雅黑"/>
                <a:ea typeface="微软雅黑"/>
              </a:rPr>
              <a:t>出处：2026 年普通高等学校招生全国统一考试（I 卷）数学  第 19 题</a:t>
            </a:r>
            <a:endParaRPr lang="zh-CN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一、原题呈现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03504" y="731520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1250" dirty="0">
                <a:solidFill>
                  <a:srgbClr val="C9DCEE"/>
                </a:solidFill>
                <a:latin typeface="微软雅黑"/>
                <a:ea typeface="微软雅黑"/>
              </a:rPr>
              <a:t>出处：2026 年普通高等学校招生全国统一考试（I 卷）数学  第 19 题（解答题）</a:t>
            </a:r>
            <a:endParaRPr lang="zh-CN" sz="125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1</a:t>
            </a:r>
            <a:endParaRPr lang="zh-CN" sz="950" dirty="0"/>
          </a:p>
        </p:txBody>
      </p:sp>
      <p:sp>
        <p:nvSpPr>
          <p:cNvPr id="8" name="TextBox 7"/>
          <p:cNvSpPr txBox="1"/>
          <p:nvPr/>
        </p:nvSpPr>
        <p:spPr>
          <a:xfrm>
            <a:off x="566928" y="1591056"/>
            <a:ext cx="6720840" cy="46268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  <a:spcAft>
                <a:spcPts val="4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19. 已知函数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的定义域为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ℝ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，且当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f(x)=2</a:t>
            </a:r>
            <a:r>
              <a:rPr lang="en-US" sz="110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。对于任意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ℝ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，定义集合</a:t>
            </a:r>
            <a:endParaRPr lang="zh-CN" sz="1600" dirty="0"/>
          </a:p>
          <a:p>
            <a:pPr>
              <a:lnSpc>
                <a:spcPct val="115999"/>
              </a:lnSpc>
              <a:spcAft>
                <a:spcPts val="1200"/>
              </a:spcAft>
            </a:pP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)={ 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ℝ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∣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+d)&gt;f(x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 }</a:t>
            </a:r>
            <a:endParaRPr lang="zh-CN" sz="1600" dirty="0"/>
          </a:p>
          <a:p>
            <a:pPr>
              <a:lnSpc>
                <a:spcPct val="115999"/>
              </a:lnSpc>
              <a:spcAft>
                <a:spcPts val="12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(1) 若当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 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f(x)=1-x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，求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D(-1)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15999"/>
              </a:lnSpc>
              <a:spcAft>
                <a:spcPts val="12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(2) 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是奇函数，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，且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≠ 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，证明：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15999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(3) 设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满足：①若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；②当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0&lt;x&lt;1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f(x)&lt;f(0)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15999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（i）证明：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f(0)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 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15999"/>
              </a:lnSpc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（ii）证明：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在区间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(0,+∞)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单调递增。</a:t>
            </a:r>
            <a:endParaRPr lang="zh-CN" sz="1600" dirty="0"/>
          </a:p>
        </p:txBody>
      </p:sp>
      <p:pic>
        <p:nvPicPr>
          <p:cNvPr id="9" name="Picture 8" descr="原题-用于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286000"/>
            <a:ext cx="4023360" cy="23441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4776493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999"/>
              </a:lnSpc>
            </a:pPr>
            <a:r>
              <a:rPr lang="zh-CN" sz="1100" dirty="0">
                <a:solidFill>
                  <a:srgbClr val="5A5A5A"/>
                </a:solidFill>
                <a:latin typeface="微软雅黑"/>
                <a:ea typeface="微软雅黑"/>
              </a:rPr>
              <a:t>▲ 原题扫描件（题干完整）</a:t>
            </a:r>
            <a:endParaRPr lang="zh-CN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二、解题思路：把“集合包含”翻译成“函数值比较”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536192"/>
            <a:ext cx="11064240" cy="4681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• 已知信息只有负半轴：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f(x)=2</a:t>
            </a:r>
            <a:r>
              <a:rPr lang="en-US" sz="110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在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(-∞,0)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上递增，值域为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(0,1)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 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的部分由各问条件决定。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• 条件① 的含义：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函数值越大，对应的 D 反而越小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）——这是全题的“发动机”。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• 核心工具：负半轴的“禁入区”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– 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+d)=2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+d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=f(x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，所以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中不含负数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– 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且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)&lt;1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t&gt;0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足够小，令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d=-x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-t&lt;0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+d=-t&lt;0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且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+d)=2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&gt;f(x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，所以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中含负数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• 二者“一正一负”，逼出正半轴取值限制；再用 ② 把范围压到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(-∞,0]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，最后锁定单调性。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• 常用恒等式：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)=S(f(x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))-x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，其中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S(c)={ y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∣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f(y)&gt;c }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)=f(x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且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S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≠∅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时必有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=x</a:t>
            </a:r>
            <a:r>
              <a:rPr lang="en-US" sz="11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（“类单射”），这是排除等号、证明严格递增的关键。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三、第 (1) 问：求 D(−1)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3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64240" cy="3657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此时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f(x)=2</a:t>
            </a:r>
            <a:r>
              <a:rPr lang="en-US" sz="1152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 (x&lt;0)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f(x)=1-x (x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 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f(-1)=2</a:t>
            </a:r>
            <a:r>
              <a:rPr lang="en-US" sz="1152" baseline="30000" dirty="0">
                <a:solidFill>
                  <a:srgbClr val="262626"/>
                </a:solidFill>
                <a:latin typeface="Cambria Math"/>
              </a:rPr>
              <a:t>-1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=1/2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y=-1+d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D(-1)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⇔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f(y)&gt;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1/2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，按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所在范围讨论：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① 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时：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152" i="1" baseline="30000" dirty="0">
                <a:solidFill>
                  <a:srgbClr val="262626"/>
                </a:solidFill>
                <a:latin typeface="Cambria Math"/>
              </a:rPr>
              <a:t>y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&gt;2</a:t>
            </a:r>
            <a:r>
              <a:rPr lang="en-US" sz="1152" baseline="30000" dirty="0">
                <a:solidFill>
                  <a:srgbClr val="262626"/>
                </a:solidFill>
                <a:latin typeface="Cambria Math"/>
              </a:rPr>
              <a:t>-1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⇔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y&gt;-1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② 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y=0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f(0)=1-0=1&gt;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1/2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，成立；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③ 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1-y&gt;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1/2⇔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y&lt;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1/2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综上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∈(-1,1/2)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，于是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d=y+1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∈(0,3/2)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566928" y="4572000"/>
            <a:ext cx="6400800" cy="73152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14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>
              <a:lnSpc>
                <a:spcPct val="115999"/>
              </a:lnSpc>
            </a:pPr>
            <a:r>
              <a:rPr lang="en-US" sz="2000" i="1" dirty="0">
                <a:solidFill>
                  <a:srgbClr val="14365C"/>
                </a:solidFill>
                <a:latin typeface="Cambria Math"/>
              </a:rPr>
              <a:t>D(-1)=</a:t>
            </a:r>
            <a:r>
              <a:rPr lang="en-US" sz="2000" dirty="0">
                <a:solidFill>
                  <a:srgbClr val="14365C"/>
                </a:solidFill>
                <a:latin typeface="Cambria Math"/>
              </a:rPr>
              <a:t>(0, 3/2)</a:t>
            </a:r>
            <a:endParaRPr 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四、第 (2) 问：奇函数情形下的包含关系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4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846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由奇性：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f(0)=0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f(x)=-f(-x)=-2</a:t>
            </a:r>
            <a:r>
              <a:rPr lang="en-US" sz="1100" i="1" baseline="30000" dirty="0">
                <a:solidFill>
                  <a:srgbClr val="262626"/>
                </a:solidFill>
                <a:latin typeface="Cambria Math"/>
              </a:rPr>
              <a:t>-x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先求出全部 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1F4E79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（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1F4E79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≠ 0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）：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)=2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∈(0,1)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)=(0,-x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–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)=-2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-x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∈(-1,0)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)=(-∞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]∪(0,+∞)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设 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f(x</a:t>
            </a:r>
            <a:r>
              <a:rPr lang="en-US" sz="1100" baseline="-25000" dirty="0">
                <a:solidFill>
                  <a:srgbClr val="1F4E79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)≤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 f(x</a:t>
            </a:r>
            <a:r>
              <a:rPr lang="en-US" sz="1100" baseline="-25000" dirty="0">
                <a:solidFill>
                  <a:srgbClr val="1F4E79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1F4E79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1F4E79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≠ 0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，按符号分四类：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①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&lt;x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：由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递增得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，故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(0,-x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(0,-x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②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&lt;x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：由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-2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-x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递增得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，故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(-∞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]⊆(-∞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]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，再并上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(0,+∞)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③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&lt;0&lt;x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：此时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)&gt;0&gt;f(x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，与假设矛盾，该情形不会出现；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④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&lt;0&lt;x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：假设自动成立，而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)=(0,-x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)⊆(0,+∞)⊆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rgbClr val="14365C"/>
                </a:solidFill>
                <a:latin typeface="微软雅黑"/>
                <a:ea typeface="微软雅黑"/>
              </a:rPr>
              <a:t>综上，</a:t>
            </a:r>
            <a:r>
              <a:rPr lang="en-US" sz="1600" i="1" dirty="0">
                <a:solidFill>
                  <a:srgbClr val="14365C"/>
                </a:solidFill>
                <a:latin typeface="Cambria Math"/>
              </a:rPr>
              <a:t>D(x</a:t>
            </a:r>
            <a:r>
              <a:rPr lang="en-US" sz="1100" baseline="-25000" dirty="0">
                <a:solidFill>
                  <a:srgbClr val="14365C"/>
                </a:solidFill>
                <a:latin typeface="Cambria Math"/>
              </a:rPr>
              <a:t>2</a:t>
            </a:r>
            <a:r>
              <a:rPr lang="en-US" sz="1600" dirty="0">
                <a:solidFill>
                  <a:srgbClr val="14365C"/>
                </a:solidFill>
                <a:latin typeface="Cambria Math"/>
              </a:rPr>
              <a:t>)⊆</a:t>
            </a:r>
            <a:r>
              <a:rPr lang="en-US" sz="1600" i="1" dirty="0">
                <a:solidFill>
                  <a:srgbClr val="14365C"/>
                </a:solidFill>
                <a:latin typeface="Cambria Math"/>
              </a:rPr>
              <a:t> D(x</a:t>
            </a:r>
            <a:r>
              <a:rPr lang="en-US" sz="1100" baseline="-25000" dirty="0">
                <a:solidFill>
                  <a:srgbClr val="14365C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14365C"/>
                </a:solidFill>
                <a:latin typeface="Cambria Math"/>
              </a:rPr>
              <a:t>)</a:t>
            </a:r>
            <a:r>
              <a:rPr lang="zh-CN" sz="1600" b="1" dirty="0">
                <a:solidFill>
                  <a:srgbClr val="14365C"/>
                </a:solidFill>
                <a:latin typeface="微软雅黑"/>
                <a:ea typeface="微软雅黑"/>
              </a:rPr>
              <a:t>。（证毕）</a:t>
            </a:r>
            <a:endParaRPr lang="zh-C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五、第 (3) 问预备：两个基本事实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5</a:t>
            </a:r>
            <a:endParaRPr lang="zh-CN" sz="950" dirty="0"/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11064240" cy="10515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>
            <a:noAutofit/>
          </a:bodyPr>
          <a:lstStyle/>
          <a:p>
            <a:pPr>
              <a:lnSpc>
                <a:spcPct val="115999"/>
              </a:lnSpc>
              <a:spcAft>
                <a:spcPts val="500"/>
              </a:spcAft>
            </a:pP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事实 A：若 </a:t>
            </a:r>
            <a:r>
              <a:rPr lang="en-US" sz="1500" i="1" dirty="0">
                <a:solidFill>
                  <a:srgbClr val="1F4E79"/>
                </a:solidFill>
                <a:latin typeface="Cambria Math"/>
              </a:rPr>
              <a:t>x</a:t>
            </a:r>
            <a:r>
              <a:rPr lang="en-US" sz="1080" baseline="-25000" dirty="0">
                <a:solidFill>
                  <a:srgbClr val="1F4E79"/>
                </a:solidFill>
                <a:latin typeface="Cambria Math"/>
              </a:rPr>
              <a:t>1</a:t>
            </a:r>
            <a:r>
              <a:rPr lang="en-US" sz="1500" dirty="0">
                <a:solidFill>
                  <a:srgbClr val="1F4E79"/>
                </a:solidFill>
                <a:latin typeface="Cambria Math"/>
              </a:rPr>
              <a:t>&lt;0</a:t>
            </a: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，则 </a:t>
            </a:r>
            <a:r>
              <a:rPr lang="en-US" sz="1500" i="1" dirty="0">
                <a:solidFill>
                  <a:srgbClr val="1F4E79"/>
                </a:solidFill>
                <a:latin typeface="Cambria Math"/>
              </a:rPr>
              <a:t>D(x</a:t>
            </a:r>
            <a:r>
              <a:rPr lang="en-US" sz="1080" baseline="-25000" dirty="0">
                <a:solidFill>
                  <a:srgbClr val="1F4E79"/>
                </a:solidFill>
                <a:latin typeface="Cambria Math"/>
              </a:rPr>
              <a:t>1</a:t>
            </a:r>
            <a:r>
              <a:rPr lang="en-US" sz="1500" dirty="0">
                <a:solidFill>
                  <a:srgbClr val="1F4E79"/>
                </a:solidFill>
                <a:latin typeface="Cambria Math"/>
              </a:rPr>
              <a:t>)</a:t>
            </a: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 中不含负数。</a:t>
            </a:r>
            <a:endParaRPr lang="zh-CN" sz="1500" dirty="0"/>
          </a:p>
          <a:p>
            <a:pPr>
              <a:lnSpc>
                <a:spcPct val="115999"/>
              </a:lnSpc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证明：当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d&lt;0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+d&lt;x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&lt;0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，故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+d)=2</a:t>
            </a:r>
            <a:r>
              <a:rPr lang="en-US" sz="1044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752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044" i="1" baseline="30000" dirty="0">
                <a:solidFill>
                  <a:srgbClr val="262626"/>
                </a:solidFill>
                <a:latin typeface="Cambria Math"/>
              </a:rPr>
              <a:t>+d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&lt;2</a:t>
            </a:r>
            <a:r>
              <a:rPr lang="en-US" sz="1044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752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=f(x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450" dirty="0"/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11064240" cy="17373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>
            <a:noAutofit/>
          </a:bodyPr>
          <a:lstStyle/>
          <a:p>
            <a:pPr>
              <a:lnSpc>
                <a:spcPct val="115999"/>
              </a:lnSpc>
              <a:spcAft>
                <a:spcPts val="600"/>
              </a:spcAft>
            </a:pP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事实 B：若 </a:t>
            </a:r>
            <a:r>
              <a:rPr lang="en-US" sz="1500" i="1" dirty="0">
                <a:solidFill>
                  <a:srgbClr val="1F4E79"/>
                </a:solidFill>
                <a:latin typeface="Cambria Math"/>
              </a:rPr>
              <a:t>f(x</a:t>
            </a:r>
            <a:r>
              <a:rPr lang="en-US" sz="1080" baseline="-25000" dirty="0">
                <a:solidFill>
                  <a:srgbClr val="1F4E79"/>
                </a:solidFill>
                <a:latin typeface="Cambria Math"/>
              </a:rPr>
              <a:t>0</a:t>
            </a:r>
            <a:r>
              <a:rPr lang="en-US" sz="1500" dirty="0">
                <a:solidFill>
                  <a:srgbClr val="1F4E79"/>
                </a:solidFill>
                <a:latin typeface="Cambria Math"/>
              </a:rPr>
              <a:t>)≥ 1</a:t>
            </a: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，则 </a:t>
            </a:r>
            <a:r>
              <a:rPr lang="en-US" sz="1500" i="1" dirty="0">
                <a:solidFill>
                  <a:srgbClr val="1F4E79"/>
                </a:solidFill>
                <a:latin typeface="Cambria Math"/>
              </a:rPr>
              <a:t>D(x</a:t>
            </a:r>
            <a:r>
              <a:rPr lang="en-US" sz="1080" baseline="-25000" dirty="0">
                <a:solidFill>
                  <a:srgbClr val="1F4E79"/>
                </a:solidFill>
                <a:latin typeface="Cambria Math"/>
              </a:rPr>
              <a:t>0</a:t>
            </a:r>
            <a:r>
              <a:rPr lang="en-US" sz="1500" dirty="0">
                <a:solidFill>
                  <a:srgbClr val="1F4E79"/>
                </a:solidFill>
                <a:latin typeface="Cambria Math"/>
              </a:rPr>
              <a:t>)=∅</a:t>
            </a: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，即 </a:t>
            </a:r>
            <a:r>
              <a:rPr lang="en-US" sz="1500" i="1" dirty="0">
                <a:solidFill>
                  <a:srgbClr val="1F4E79"/>
                </a:solidFill>
                <a:latin typeface="Cambria Math"/>
              </a:rPr>
              <a:t>f(x</a:t>
            </a:r>
            <a:r>
              <a:rPr lang="en-US" sz="1080" baseline="-25000" dirty="0">
                <a:solidFill>
                  <a:srgbClr val="1F4E79"/>
                </a:solidFill>
                <a:latin typeface="Cambria Math"/>
              </a:rPr>
              <a:t>0</a:t>
            </a:r>
            <a:r>
              <a:rPr lang="en-US" sz="1500" dirty="0">
                <a:solidFill>
                  <a:srgbClr val="1F4E79"/>
                </a:solidFill>
                <a:latin typeface="Cambria Math"/>
              </a:rPr>
              <a:t>)</a:t>
            </a: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 是 </a:t>
            </a:r>
            <a:r>
              <a:rPr lang="en-US" sz="1500" i="1" dirty="0">
                <a:solidFill>
                  <a:srgbClr val="1F4E79"/>
                </a:solidFill>
                <a:latin typeface="Cambria Math"/>
              </a:rPr>
              <a:t>f</a:t>
            </a: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 的最大值。</a:t>
            </a:r>
            <a:endParaRPr lang="zh-CN" sz="1500" dirty="0"/>
          </a:p>
          <a:p>
            <a:pPr>
              <a:lnSpc>
                <a:spcPct val="115999"/>
              </a:lnSpc>
              <a:spcAft>
                <a:spcPts val="500"/>
              </a:spcAft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证明：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∀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u&lt;0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f(u)=2</a:t>
            </a:r>
            <a:r>
              <a:rPr lang="en-US" sz="1044" i="1" baseline="30000" dirty="0">
                <a:solidFill>
                  <a:srgbClr val="262626"/>
                </a:solidFill>
                <a:latin typeface="Cambria Math"/>
              </a:rPr>
              <a:t>u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&lt;1≤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f(x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，由①得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D(u)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，结合事实 A 知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中无负数；</a:t>
            </a:r>
            <a:endParaRPr lang="zh-CN" sz="1450" dirty="0"/>
          </a:p>
          <a:p>
            <a:pPr>
              <a:lnSpc>
                <a:spcPct val="115999"/>
              </a:lnSpc>
              <a:spcAft>
                <a:spcPts val="500"/>
              </a:spcAft>
            </a:pPr>
            <a:r>
              <a:rPr lang="en-US" sz="1450" dirty="0">
                <a:solidFill>
                  <a:srgbClr val="262626"/>
                </a:solidFill>
                <a:latin typeface="Cambria Math"/>
              </a:rPr>
              <a:t>∀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d&gt;0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，取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u=-d&lt;0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，由①得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D(-d)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；而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f(-d+d)=f(0)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≥ 1&gt;2</a:t>
            </a:r>
            <a:r>
              <a:rPr lang="en-US" sz="1044" i="1" baseline="30000" dirty="0">
                <a:solidFill>
                  <a:srgbClr val="262626"/>
                </a:solidFill>
                <a:latin typeface="Cambria Math"/>
              </a:rPr>
              <a:t>-d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=f(-d)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，故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D(-d)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endParaRPr lang="zh-CN" sz="1450" dirty="0"/>
          </a:p>
          <a:p>
            <a:pPr>
              <a:lnSpc>
                <a:spcPct val="115999"/>
              </a:lnSpc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从而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。于是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)=∅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。（证毕）</a:t>
            </a:r>
            <a:endParaRPr lang="zh-CN" sz="1450"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4526280"/>
            <a:ext cx="11064240" cy="1417320"/>
          </a:xfrm>
          <a:prstGeom prst="roundRect">
            <a:avLst/>
          </a:prstGeom>
          <a:solidFill>
            <a:srgbClr val="E8F0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>
            <a:noAutofit/>
          </a:bodyPr>
          <a:lstStyle/>
          <a:p>
            <a:pPr>
              <a:lnSpc>
                <a:spcPct val="115999"/>
              </a:lnSpc>
              <a:spcAft>
                <a:spcPts val="600"/>
              </a:spcAft>
            </a:pP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记忆要点</a:t>
            </a:r>
            <a:endParaRPr lang="zh-CN" sz="1500" dirty="0"/>
          </a:p>
          <a:p>
            <a:pPr>
              <a:lnSpc>
                <a:spcPct val="115999"/>
              </a:lnSpc>
              <a:spcAft>
                <a:spcPts val="400"/>
              </a:spcAft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① 条件① 把“函数值的大小”翻译成“集合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的包含”，全题围绕这一句话展开；</a:t>
            </a:r>
            <a:endParaRPr lang="zh-CN" sz="1450" dirty="0"/>
          </a:p>
          <a:p>
            <a:pPr>
              <a:lnSpc>
                <a:spcPct val="115999"/>
              </a:lnSpc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② 负半轴给“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无负数”（事实 A），正半轴且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f&lt;1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给“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有负数”，两条合起来是全部矛盾的来源。</a:t>
            </a:r>
            <a:endParaRPr lang="zh-CN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六、第 (3) 问 (i)：证明 f(0) ≥ 1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6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64240" cy="3831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反设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f(0)&lt;1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。由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lim</a:t>
            </a:r>
            <a:r>
              <a:rPr lang="en-US" sz="1200" i="1" baseline="-25000" dirty="0">
                <a:solidFill>
                  <a:srgbClr val="262626"/>
                </a:solidFill>
                <a:latin typeface="Cambria Math"/>
              </a:rPr>
              <a:t>t</a:t>
            </a:r>
            <a:r>
              <a:rPr lang="en-US" sz="1200" baseline="-25000" dirty="0">
                <a:solidFill>
                  <a:srgbClr val="262626"/>
                </a:solidFill>
                <a:latin typeface="Cambria Math"/>
              </a:rPr>
              <a:t>→ 0</a:t>
            </a:r>
            <a:r>
              <a:rPr lang="en-US" sz="900" baseline="5000" dirty="0">
                <a:solidFill>
                  <a:srgbClr val="262626"/>
                </a:solidFill>
                <a:latin typeface="Cambria Math"/>
              </a:rPr>
              <a:t>+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20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=1&gt;f(0)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，可取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t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∈(0,1)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使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20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&gt;f(0)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2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=-t&lt;0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2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)=2</a:t>
            </a:r>
            <a:r>
              <a:rPr lang="en-US" sz="120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&gt;f(0)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f(0)&lt;f(-t)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；对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(x</a:t>
            </a:r>
            <a:r>
              <a:rPr lang="en-US" sz="120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,x</a:t>
            </a:r>
            <a:r>
              <a:rPr lang="en-US" sz="120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)=(0,-t)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用条件①得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D(-t)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任取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(0,t)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：因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-t+d&lt;0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，有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f(-t+d)=2</a:t>
            </a:r>
            <a:r>
              <a:rPr lang="en-US" sz="1200" i="1" baseline="30000" dirty="0">
                <a:solidFill>
                  <a:srgbClr val="262626"/>
                </a:solidFill>
                <a:latin typeface="Cambria Math"/>
              </a:rPr>
              <a:t>-t+d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&gt;2</a:t>
            </a:r>
            <a:r>
              <a:rPr lang="en-US" sz="120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=f(-t)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D(-t)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，于是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f(d)&gt;f(0)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但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0&lt;d&lt;t&lt;1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，由条件②应有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f(d)&lt;f(0)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，矛盾！</a:t>
            </a:r>
            <a:endParaRPr lang="zh-CN"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566928" y="4709160"/>
            <a:ext cx="7680960" cy="6858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14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09728" bIns="0" rtlCol="0" anchor="ctr">
            <a:noAutofit/>
          </a:bodyPr>
          <a:lstStyle/>
          <a:p>
            <a:pPr algn="ctr">
              <a:lnSpc>
                <a:spcPct val="115999"/>
              </a:lnSpc>
            </a:pPr>
            <a:r>
              <a:rPr lang="en-US" sz="1900" i="1" dirty="0">
                <a:solidFill>
                  <a:srgbClr val="14365C"/>
                </a:solidFill>
                <a:latin typeface="Cambria Math"/>
              </a:rPr>
              <a:t>f(0)</a:t>
            </a:r>
            <a:r>
              <a:rPr lang="en-US" sz="1900" dirty="0">
                <a:solidFill>
                  <a:srgbClr val="14365C"/>
                </a:solidFill>
                <a:latin typeface="Cambria Math"/>
              </a:rPr>
              <a:t>≥ 1</a:t>
            </a:r>
            <a:endParaRPr lang="zh-CN" sz="1900"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1350" dirty="0">
                <a:solidFill>
                  <a:srgbClr val="5A5A5A"/>
                </a:solidFill>
                <a:latin typeface="微软雅黑"/>
                <a:ea typeface="微软雅黑"/>
              </a:rPr>
              <a:t>附注：由事实 B 可知 </a:t>
            </a:r>
            <a:r>
              <a:rPr lang="en-US" sz="1350" i="1" dirty="0">
                <a:solidFill>
                  <a:srgbClr val="5A5A5A"/>
                </a:solidFill>
                <a:latin typeface="Cambria Math"/>
              </a:rPr>
              <a:t>M:=f(0)</a:t>
            </a:r>
            <a:r>
              <a:rPr lang="zh-CN" sz="1350" dirty="0">
                <a:solidFill>
                  <a:srgbClr val="5A5A5A"/>
                </a:solidFill>
                <a:latin typeface="微软雅黑"/>
                <a:ea typeface="微软雅黑"/>
              </a:rPr>
              <a:t> 就是 </a:t>
            </a:r>
            <a:r>
              <a:rPr lang="en-US" sz="1350" i="1" dirty="0">
                <a:solidFill>
                  <a:srgbClr val="5A5A5A"/>
                </a:solidFill>
                <a:latin typeface="Cambria Math"/>
              </a:rPr>
              <a:t>f</a:t>
            </a:r>
            <a:r>
              <a:rPr lang="zh-CN" sz="1350" dirty="0">
                <a:solidFill>
                  <a:srgbClr val="5A5A5A"/>
                </a:solidFill>
                <a:latin typeface="微软雅黑"/>
                <a:ea typeface="微软雅黑"/>
              </a:rPr>
              <a:t> 的最大值，且 </a:t>
            </a:r>
            <a:r>
              <a:rPr lang="en-US" sz="1350" i="1" dirty="0">
                <a:solidFill>
                  <a:srgbClr val="5A5A5A"/>
                </a:solidFill>
                <a:latin typeface="Cambria Math"/>
              </a:rPr>
              <a:t>D(0)=</a:t>
            </a:r>
            <a:r>
              <a:rPr lang="en-US" sz="1350" dirty="0">
                <a:solidFill>
                  <a:srgbClr val="5A5A5A"/>
                </a:solidFill>
                <a:latin typeface="Cambria Math"/>
              </a:rPr>
              <a:t>∅</a:t>
            </a:r>
            <a:r>
              <a:rPr lang="zh-CN" sz="1350" dirty="0">
                <a:solidFill>
                  <a:srgbClr val="5A5A5A"/>
                </a:solidFill>
                <a:latin typeface="微软雅黑"/>
                <a:ea typeface="微软雅黑"/>
              </a:rPr>
              <a:t>。</a:t>
            </a:r>
            <a:endParaRPr lang="zh-CN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七、第 (3) 问 (ii) 关键一：正半轴的取值限制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7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846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① 当 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x&gt;0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f(x)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∉(0,1)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反设存在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使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)&lt;1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=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log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对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与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分别用①得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，由事实 A 知左边不含负数。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但取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t&gt;0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充分小使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&gt;f(x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d=-x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-t&lt;0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+d=-t&lt;0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+d)=2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-t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&gt;f(x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为负数，矛盾。　　记作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(*)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②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(0,1)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 上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 0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由②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f(x)&lt;f(0)=M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，结合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(*)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与事实 B（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 1⇒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f=M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）即得。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③ 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∀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 x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∈(0,1)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D(x)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⊇(0,+∞)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任取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)=2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&gt;0≥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，由①得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又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(0,-x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]⊆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0&lt;d&lt;-x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+d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d=-x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f(0)=M&gt;2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800" baseline="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）。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→-∞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得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(0,+∞)⊆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∀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x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∈(0,1)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∀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f(x+d)&gt;f(x)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　　记作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(**)</a:t>
            </a:r>
            <a:endParaRPr lang="zh-C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八、第 (3) 问 (ii) 关键二：先证单调不减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8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699924"/>
            <a:ext cx="11064240" cy="43351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① 平移不等式：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∀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 t&gt;0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、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q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∈(0,1)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，有 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f(t+q)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≥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 f(t)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由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(**)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f(q+t)&gt;f(q)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，对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(q,q+t)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用①得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D(q+t)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D(q)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又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-q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D(q)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（因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f(q-q)=f(0)=M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f(q)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），故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-q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D(q+t)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f(t)=f(q+t-q)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f(q+t)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　记作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(***)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② </a:t>
            </a:r>
            <a:r>
              <a:rPr lang="en-US" sz="1600" i="1" dirty="0">
                <a:solidFill>
                  <a:srgbClr val="1F4E79"/>
                </a:solidFill>
                <a:latin typeface="Cambria Math"/>
              </a:rPr>
              <a:t>f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 在 </a:t>
            </a:r>
            <a:r>
              <a:rPr lang="en-US" sz="1600" dirty="0">
                <a:solidFill>
                  <a:srgbClr val="1F4E79"/>
                </a:solidFill>
                <a:latin typeface="Cambria Math"/>
              </a:rPr>
              <a:t>(0,+∞)</a:t>
            </a:r>
            <a:r>
              <a:rPr lang="zh-CN" sz="1600" b="1" dirty="0">
                <a:solidFill>
                  <a:srgbClr val="1F4E79"/>
                </a:solidFill>
                <a:latin typeface="微软雅黑"/>
                <a:ea typeface="微软雅黑"/>
              </a:rPr>
              <a:t> 上单调不减。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设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0&lt;x&lt;y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，取正整数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n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使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q=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y-x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)/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n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∈(0,1)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，在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(***)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中依次令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t=x, x+q, 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…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, x+(n-1)q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，得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f(x+q)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f(x+2q)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≤⋯≤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f(x+nq)=f(y)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九、第 (3) 问 (ii) 关键三：排除最大值与等号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9</a:t>
            </a:r>
            <a:endParaRPr lang="zh-CN" sz="95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1533860"/>
            <a:ext cx="11064240" cy="46840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③ 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正半轴取不到最大值。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反设存在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使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)=M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=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inf{ u&gt;0:f(u)=M }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由②（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(0,1)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上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0&lt;M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）知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≥ 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；由单调不减，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u&gt;u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f(u)=M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ε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使 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ε&lt;u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，再取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η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满足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ε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η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&lt;2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ε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，令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a=-2ε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b=-ε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d=u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+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η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则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b+d=u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+(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η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-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ε)&gt;u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，故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f(b+d)=M&gt;f(b)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D(b)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而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a+d=u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+(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η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-2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ε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(0,u</a:t>
            </a:r>
            <a:r>
              <a:rPr lang="en-US" sz="1050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，故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f(a+d)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 0&lt;2</a:t>
            </a:r>
            <a:r>
              <a:rPr lang="en-US" sz="1050" baseline="30000" dirty="0">
                <a:solidFill>
                  <a:srgbClr val="262626"/>
                </a:solidFill>
                <a:latin typeface="Cambria Math"/>
              </a:rPr>
              <a:t>-2</a:t>
            </a:r>
            <a:r>
              <a:rPr lang="en-US" sz="1050" i="1" baseline="30000" dirty="0">
                <a:solidFill>
                  <a:srgbClr val="262626"/>
                </a:solidFill>
                <a:latin typeface="Cambria Math"/>
              </a:rPr>
              <a:t>ε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=f(a)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D(a)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由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f(a)&lt;f(b)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条件①给出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D(b)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⊆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D(a)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，与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∈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D(b)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但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∉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D(a)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矛盾。故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x&gt;0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f(x)&lt;M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，进而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 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④ </a:t>
            </a:r>
            <a:r>
              <a:rPr lang="zh-CN" sz="1600" b="1" dirty="0">
                <a:solidFill>
                  <a:srgbClr val="262626"/>
                </a:solidFill>
                <a:latin typeface="微软雅黑"/>
                <a:ea typeface="微软雅黑"/>
              </a:rPr>
              <a:t>等号不能成立。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若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0&lt;x&lt;y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且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f(x)=f(y)=c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（此时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c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≤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 0&lt;M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），由①得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D(x)=D(y)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；</a:t>
            </a:r>
            <a:endParaRPr lang="zh-CN" sz="16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　而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D(x)=S(c)-x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D(y)=S(c)-y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，且 </a:t>
            </a:r>
            <a:r>
              <a:rPr lang="en-US" sz="1600" i="1" dirty="0">
                <a:solidFill>
                  <a:srgbClr val="262626"/>
                </a:solidFill>
                <a:latin typeface="Cambria Math"/>
              </a:rPr>
              <a:t>S(c)</a:t>
            </a:r>
            <a:r>
              <a:rPr lang="en-US" sz="1600" dirty="0">
                <a:solidFill>
                  <a:srgbClr val="262626"/>
                </a:solidFill>
                <a:latin typeface="Cambria Math"/>
              </a:rPr>
              <a:t>∋ 0</a:t>
            </a:r>
            <a:r>
              <a:rPr lang="zh-CN" sz="1600" dirty="0">
                <a:solidFill>
                  <a:srgbClr val="262626"/>
                </a:solidFill>
                <a:latin typeface="微软雅黑"/>
                <a:ea typeface="微软雅黑"/>
              </a:rPr>
              <a:t> 非空，非空集合经不同平移不可能相等，矛盾。</a:t>
            </a:r>
            <a:endParaRPr lang="zh-CN" sz="1600" dirty="0"/>
          </a:p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rgbClr val="14365C"/>
                </a:solidFill>
                <a:latin typeface="微软雅黑"/>
                <a:ea typeface="微软雅黑"/>
              </a:rPr>
              <a:t>　故 </a:t>
            </a:r>
            <a:r>
              <a:rPr lang="en-US" sz="1600" i="1" dirty="0">
                <a:solidFill>
                  <a:srgbClr val="14365C"/>
                </a:solidFill>
                <a:latin typeface="Cambria Math"/>
              </a:rPr>
              <a:t>f(x)&lt;f(y)</a:t>
            </a:r>
            <a:r>
              <a:rPr lang="zh-CN" sz="1600" b="1" dirty="0">
                <a:solidFill>
                  <a:srgbClr val="14365C"/>
                </a:solidFill>
                <a:latin typeface="微软雅黑"/>
                <a:ea typeface="微软雅黑"/>
              </a:rPr>
              <a:t>，即 </a:t>
            </a:r>
            <a:r>
              <a:rPr lang="en-US" sz="1600" i="1" dirty="0">
                <a:solidFill>
                  <a:srgbClr val="14365C"/>
                </a:solidFill>
                <a:latin typeface="Cambria Math"/>
              </a:rPr>
              <a:t>f(x)</a:t>
            </a:r>
            <a:r>
              <a:rPr lang="zh-CN" sz="1600" b="1" dirty="0">
                <a:solidFill>
                  <a:srgbClr val="14365C"/>
                </a:solidFill>
                <a:latin typeface="微软雅黑"/>
                <a:ea typeface="微软雅黑"/>
              </a:rPr>
              <a:t> 在 </a:t>
            </a:r>
            <a:r>
              <a:rPr lang="en-US" sz="1600" dirty="0">
                <a:solidFill>
                  <a:srgbClr val="14365C"/>
                </a:solidFill>
                <a:latin typeface="Cambria Math"/>
              </a:rPr>
              <a:t>(0,+∞)</a:t>
            </a:r>
            <a:r>
              <a:rPr lang="zh-CN" sz="1600" b="1" dirty="0">
                <a:solidFill>
                  <a:srgbClr val="14365C"/>
                </a:solidFill>
                <a:latin typeface="微软雅黑"/>
                <a:ea typeface="微软雅黑"/>
              </a:rPr>
              <a:t> 上单调递增。（证毕）</a:t>
            </a:r>
            <a:endParaRPr lang="zh-CN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999"/>
              </a:lnSpc>
            </a:pP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十、结果汇总与方法提炼</a:t>
            </a:r>
            <a:endParaRPr lang="zh-C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2026 年高考 I 卷数学 · 第 19 题解析</a:t>
            </a:r>
            <a:endParaRPr lang="zh-CN" sz="950"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999"/>
              </a:lnSpc>
            </a:pPr>
            <a:r>
              <a:rPr lang="zh-CN" sz="950" dirty="0">
                <a:solidFill>
                  <a:srgbClr val="5A5A5A"/>
                </a:solidFill>
                <a:latin typeface="微软雅黑"/>
                <a:ea typeface="微软雅黑"/>
              </a:rPr>
              <a:t>10</a:t>
            </a:r>
            <a:endParaRPr lang="zh-CN" sz="9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5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小题</a:t>
                      </a:r>
                      <a:endParaRPr lang="zh-CN" sz="1500" dirty="0"/>
                    </a:p>
                  </a:txBody>
                  <a:tcPr marL="10972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5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  <a:endParaRPr lang="zh-CN" sz="1500" dirty="0"/>
                    </a:p>
                  </a:txBody>
                  <a:tcPr marL="10972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1" dirty="0">
                          <a:solidFill>
                            <a:srgbClr val="14365C"/>
                          </a:solidFill>
                          <a:latin typeface="微软雅黑"/>
                          <a:ea typeface="微软雅黑"/>
                        </a:rPr>
                        <a:t>(1)</a:t>
                      </a:r>
                      <a:endParaRPr lang="zh-CN" sz="1400" dirty="0"/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D(-1)=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(0, 3/2)</a:t>
                      </a:r>
                      <a:endParaRPr lang="zh-CN" sz="1350" dirty="0"/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1" dirty="0">
                          <a:solidFill>
                            <a:srgbClr val="14365C"/>
                          </a:solidFill>
                          <a:latin typeface="微软雅黑"/>
                          <a:ea typeface="微软雅黑"/>
                        </a:rPr>
                        <a:t>(2)</a:t>
                      </a:r>
                      <a:endParaRPr lang="zh-CN" sz="1400" dirty="0"/>
                    </a:p>
                  </a:txBody>
                  <a:tcPr marL="10972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0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&lt;0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时 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D(x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0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)=(0,-x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0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)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0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&gt;0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时 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D(x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0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)=(-∞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,-x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0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]∪(0,+∞)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；四类讨论得 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D(x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2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)⊆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 D(x</a:t>
                      </a:r>
                      <a:r>
                        <a:rPr lang="en-US" sz="972" baseline="-25000" dirty="0">
                          <a:solidFill>
                            <a:srgbClr val="262626"/>
                          </a:solidFill>
                          <a:latin typeface="Cambria Math"/>
                        </a:rPr>
                        <a:t>1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)</a:t>
                      </a:r>
                      <a:endParaRPr lang="zh-CN" sz="1350" dirty="0"/>
                    </a:p>
                  </a:txBody>
                  <a:tcPr marL="109728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1" dirty="0">
                          <a:solidFill>
                            <a:srgbClr val="14365C"/>
                          </a:solidFill>
                          <a:latin typeface="微软雅黑"/>
                          <a:ea typeface="微软雅黑"/>
                        </a:rPr>
                        <a:t>(3)(i)</a:t>
                      </a:r>
                      <a:endParaRPr lang="zh-CN" sz="1400" dirty="0"/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f(0)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≥ 1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，且 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f(0)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为最大值、</a:t>
                      </a: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D(0)=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∅</a:t>
                      </a:r>
                      <a:endParaRPr lang="zh-CN" sz="1350" dirty="0"/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1" dirty="0">
                          <a:solidFill>
                            <a:srgbClr val="14365C"/>
                          </a:solidFill>
                          <a:latin typeface="微软雅黑"/>
                          <a:ea typeface="微软雅黑"/>
                        </a:rPr>
                        <a:t>(3)(ii)</a:t>
                      </a:r>
                      <a:endParaRPr lang="zh-CN" sz="1400" dirty="0"/>
                    </a:p>
                  </a:txBody>
                  <a:tcPr marL="10972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i="1" dirty="0">
                          <a:solidFill>
                            <a:srgbClr val="262626"/>
                          </a:solidFill>
                          <a:latin typeface="Cambria Math"/>
                        </a:rPr>
                        <a:t>f(x)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在区间 </a:t>
                      </a:r>
                      <a:r>
                        <a:rPr lang="en-US" sz="1350" dirty="0">
                          <a:solidFill>
                            <a:srgbClr val="262626"/>
                          </a:solidFill>
                          <a:latin typeface="Cambria Math"/>
                        </a:rPr>
                        <a:t>(0,+∞)</a:t>
                      </a:r>
                      <a:r>
                        <a:rPr lang="zh-CN" sz="135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上单调递增（严格递增）</a:t>
                      </a:r>
                      <a:endParaRPr lang="zh-CN" sz="1350" dirty="0"/>
                    </a:p>
                  </a:txBody>
                  <a:tcPr marL="109728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3886200"/>
            <a:ext cx="11064240" cy="205740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>
            <a:noAutofit/>
          </a:bodyPr>
          <a:lstStyle/>
          <a:p>
            <a:pPr>
              <a:lnSpc>
                <a:spcPct val="115999"/>
              </a:lnSpc>
              <a:spcAft>
                <a:spcPts val="600"/>
              </a:spcAft>
            </a:pPr>
            <a:r>
              <a:rPr lang="zh-CN" sz="1500" b="1" dirty="0">
                <a:solidFill>
                  <a:srgbClr val="1F4E79"/>
                </a:solidFill>
                <a:latin typeface="微软雅黑"/>
                <a:ea typeface="微软雅黑"/>
              </a:rPr>
              <a:t>方法提炼</a:t>
            </a:r>
            <a:endParaRPr lang="zh-CN" sz="1500" dirty="0"/>
          </a:p>
          <a:p>
            <a:pPr>
              <a:lnSpc>
                <a:spcPct val="115999"/>
              </a:lnSpc>
              <a:spcAft>
                <a:spcPts val="500"/>
              </a:spcAft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• 把“集合包含”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2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)⊆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 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1</a:t>
            </a:r>
            <a:r>
              <a:rPr lang="en-US" sz="1450" dirty="0">
                <a:solidFill>
                  <a:srgbClr val="262626"/>
                </a:solidFill>
                <a:latin typeface="Cambria Math"/>
              </a:rPr>
              <a:t>)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当作“函数值的大小关系”来使用，是全题的统摄性观点；</a:t>
            </a:r>
            <a:endParaRPr lang="zh-CN" sz="1450" dirty="0"/>
          </a:p>
          <a:p>
            <a:pPr>
              <a:lnSpc>
                <a:spcPct val="115999"/>
              </a:lnSpc>
              <a:spcAft>
                <a:spcPts val="500"/>
              </a:spcAft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• 负半轴的显式表达式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f(x)=2</a:t>
            </a:r>
            <a:r>
              <a:rPr lang="en-US" sz="1044" i="1" baseline="30000" dirty="0">
                <a:solidFill>
                  <a:srgbClr val="262626"/>
                </a:solidFill>
                <a:latin typeface="Cambria Math"/>
              </a:rPr>
              <a:t>x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提供“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是否含负数”这一判别工具，成为诸问的突破口；</a:t>
            </a:r>
            <a:endParaRPr lang="zh-CN" sz="1450" dirty="0"/>
          </a:p>
          <a:p>
            <a:pPr>
              <a:lnSpc>
                <a:spcPct val="115999"/>
              </a:lnSpc>
              <a:spcAft>
                <a:spcPts val="500"/>
              </a:spcAft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• 恒等式 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D(x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)=S(f(x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en-US" sz="1450" i="1" dirty="0">
                <a:solidFill>
                  <a:srgbClr val="262626"/>
                </a:solidFill>
                <a:latin typeface="Cambria Math"/>
              </a:rPr>
              <a:t>))-x</a:t>
            </a:r>
            <a:r>
              <a:rPr lang="en-US" sz="1044" baseline="-25000" dirty="0">
                <a:solidFill>
                  <a:srgbClr val="262626"/>
                </a:solidFill>
                <a:latin typeface="Cambria Math"/>
              </a:rPr>
              <a:t>0</a:t>
            </a: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 用于处理“函数值相等”的情形，从而排除等号、得到严格单调；</a:t>
            </a:r>
            <a:endParaRPr lang="zh-CN" sz="1450" dirty="0"/>
          </a:p>
          <a:p>
            <a:pPr>
              <a:lnSpc>
                <a:spcPct val="115999"/>
              </a:lnSpc>
            </a:pPr>
            <a:r>
              <a:rPr lang="zh-CN" sz="1450" dirty="0">
                <a:solidFill>
                  <a:srgbClr val="262626"/>
                </a:solidFill>
                <a:latin typeface="微软雅黑"/>
                <a:ea typeface="微软雅黑"/>
              </a:rPr>
              <a:t>• 证明单调性的路线：局部平移不等式 → 等分点累加得单调不减 → 排除取最大值与等号。</a:t>
            </a:r>
            <a:endParaRPr lang="zh-CN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3233</Words>
  <Application>Microsoft Office PowerPoint</Application>
  <PresentationFormat>宽屏</PresentationFormat>
  <Paragraphs>124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宇森 马</cp:lastModifiedBy>
  <cp:revision>2</cp:revision>
  <dcterms:created xsi:type="dcterms:W3CDTF">2013-01-27T09:14:16Z</dcterms:created>
  <dcterms:modified xsi:type="dcterms:W3CDTF">2026-10-16T10:53:38Z</dcterms:modified>
  <cp:category/>
</cp:coreProperties>
</file>