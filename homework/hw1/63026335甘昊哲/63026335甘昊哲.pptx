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96" y="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18120" y="868680"/>
            <a:ext cx="4160520" cy="4160520"/>
          </a:xfrm>
          <a:prstGeom prst="ellipse">
            <a:avLst/>
          </a:prstGeom>
          <a:noFill/>
          <a:ln w="13970">
            <a:solidFill>
              <a:srgbClr val="294C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1371600"/>
            <a:ext cx="3154680" cy="3154680"/>
          </a:xfrm>
          <a:prstGeom prst="ellipse">
            <a:avLst/>
          </a:prstGeom>
          <a:noFill/>
          <a:ln w="10160">
            <a:solidFill>
              <a:srgbClr val="1E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1527048"/>
            <a:ext cx="2788920" cy="2788920"/>
          </a:xfrm>
          <a:prstGeom prst="ellipse">
            <a:avLst/>
          </a:prstGeom>
          <a:solidFill>
            <a:srgbClr val="17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22208" y="1243584"/>
            <a:ext cx="2743200" cy="30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0" b="1" i="0">
                <a:solidFill>
                  <a:srgbClr val="24536D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8784" y="4142232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B86A"/>
                </a:solidFill>
                <a:latin typeface="Microsoft YaHei"/>
                <a:ea typeface="Microsoft YaHei"/>
              </a:rPr>
              <a:t>ANSWER  /  答案</a:t>
            </a:r>
          </a:p>
        </p:txBody>
      </p:sp>
      <p:sp>
        <p:nvSpPr>
          <p:cNvPr id="7" name="Oval 6"/>
          <p:cNvSpPr/>
          <p:nvPr/>
        </p:nvSpPr>
        <p:spPr>
          <a:xfrm>
            <a:off x="11475720" y="4526280"/>
            <a:ext cx="100584" cy="100584"/>
          </a:xfrm>
          <a:prstGeom prst="ellipse">
            <a:avLst/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7665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86A"/>
                </a:solidFill>
                <a:latin typeface="Microsoft YaHei"/>
                <a:ea typeface="Microsoft YaHei"/>
              </a:rPr>
              <a:t>微积分 · 极限专题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89888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</a:rPr>
              <a:t>一道求极限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48256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</a:rPr>
              <a:t>难题的解法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260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C9D8E0"/>
                </a:solidFill>
                <a:latin typeface="Microsoft YaHei"/>
                <a:ea typeface="Microsoft YaHei"/>
              </a:rPr>
              <a:t>从直觉拆解，到严格证明，再用 Python 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" y="3611880"/>
            <a:ext cx="1929384" cy="0"/>
          </a:xfrm>
          <a:prstGeom prst="line">
            <a:avLst/>
          </a:prstGeom>
          <a:ln w="27940">
            <a:solidFill>
              <a:srgbClr val="D78A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" y="37673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dirty="0" err="1">
                <a:solidFill>
                  <a:srgbClr val="AFC4D0"/>
                </a:solidFill>
                <a:latin typeface="Microsoft YaHei"/>
                <a:ea typeface="Microsoft YaHei"/>
              </a:rPr>
              <a:t>面向没有数学分析基础的大一学生</a:t>
            </a:r>
            <a:endParaRPr sz="1120" b="0" i="0" dirty="0">
              <a:solidFill>
                <a:srgbClr val="AFC4D0"/>
              </a:solidFill>
              <a:latin typeface="Microsoft YaHei"/>
              <a:ea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4590288"/>
            <a:ext cx="7388352" cy="1234440"/>
          </a:xfrm>
          <a:prstGeom prst="roundRect">
            <a:avLst>
              <a:gd name="adj" fmla="val 6000"/>
            </a:avLst>
          </a:prstGeom>
          <a:solidFill>
            <a:srgbClr val="17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82803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 Math"/>
                <a:ea typeface="Cambria Math"/>
              </a:rPr>
              <a:t>lim</a:t>
            </a:r>
            <a:r>
              <a:rPr sz="2200" b="0" i="0">
                <a:solidFill>
                  <a:srgbClr val="FFFFFF"/>
                </a:solidFill>
                <a:latin typeface="Cambria Math"/>
                <a:ea typeface="Cambria Math"/>
              </a:rPr>
              <a:t>  </a:t>
            </a:r>
            <a:r>
              <a:rPr sz="2000" b="0" i="0">
                <a:solidFill>
                  <a:srgbClr val="EAF2F5"/>
                </a:solidFill>
                <a:latin typeface="Cambria Math"/>
                <a:ea typeface="Cambria Math"/>
              </a:rPr>
              <a:t>(1/sin x − 1/x)·arctan(1/x)</a:t>
            </a:r>
            <a:r>
              <a:rPr sz="2300" b="1" i="0">
                <a:solidFill>
                  <a:srgbClr val="E8B86A"/>
                </a:solidFill>
                <a:latin typeface="Cambria Math"/>
                <a:ea typeface="Cambria Math"/>
              </a:rPr>
              <a:t>  =  </a:t>
            </a:r>
            <a:r>
              <a:rPr sz="3400" b="1" i="0">
                <a:solidFill>
                  <a:srgbClr val="E8B86A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30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7C4"/>
                </a:solidFill>
                <a:latin typeface="Cambria Math"/>
                <a:ea typeface="Cambria Math"/>
              </a:rPr>
              <a:t>x →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FA9B7"/>
                </a:solidFill>
                <a:latin typeface="Consolas"/>
                <a:ea typeface="Consolas"/>
              </a:rPr>
              <a:t>AI Agent Demo  ·  7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365760"/>
            <a:ext cx="54864" cy="603504"/>
          </a:xfrm>
          <a:prstGeom prst="roundRect">
            <a:avLst>
              <a:gd name="adj" fmla="val 50000"/>
            </a:avLst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6F68"/>
                </a:solidFill>
                <a:latin typeface="Microsoft YaHei"/>
                <a:ea typeface="Microsoft YaHei"/>
              </a:rPr>
              <a:t>破题思路 ·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7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42B3B"/>
                </a:solidFill>
                <a:latin typeface="Microsoft YaHei"/>
                <a:ea typeface="Microsoft YaHei"/>
              </a:rPr>
              <a:t>别急着求 arctan：先把它拆成两个因子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161288"/>
            <a:ext cx="10872216" cy="0"/>
          </a:xfrm>
          <a:prstGeom prst="line">
            <a:avLst/>
          </a:prstGeom>
          <a:ln w="1143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69880" y="31089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极限专题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248656" cy="3310128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276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DFD0"/>
                </a:solidFill>
                <a:latin typeface="Cambria Math"/>
                <a:ea typeface="Cambria Math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190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E79"/>
                </a:solidFill>
                <a:latin typeface="Microsoft YaHei"/>
                <a:ea typeface="Microsoft YaHei"/>
              </a:rPr>
              <a:t>第一个因子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76272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42B3B"/>
                </a:solidFill>
                <a:latin typeface="Cambria Math"/>
                <a:ea typeface="Cambria Math"/>
              </a:rPr>
              <a:t>1/sin x − 1/x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2798064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40" b="1" i="0">
                <a:solidFill>
                  <a:srgbClr val="0E6F68"/>
                </a:solidFill>
                <a:latin typeface="Microsoft YaHei"/>
                <a:ea typeface="Microsoft YaHei"/>
              </a:rPr>
              <a:t>通分 + 泰勒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6F68"/>
                </a:solidFill>
                <a:latin typeface="Cambria Math"/>
                <a:ea typeface="Cambria Math"/>
              </a:rPr>
              <a:t>≈ x/6  →  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4032504"/>
            <a:ext cx="4626864" cy="0"/>
          </a:xfrm>
          <a:prstGeom prst="line">
            <a:avLst/>
          </a:prstGeom>
          <a:ln w="1016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0976" y="418795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D6E79"/>
                </a:solidFill>
                <a:latin typeface="Microsoft YaHei"/>
                <a:ea typeface="Microsoft YaHei"/>
              </a:rPr>
              <a:t>分子主项 x³，分母主项 x²；约分后只剩 x/6。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481328"/>
            <a:ext cx="5248656" cy="3310128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16276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7DFD0"/>
                </a:solidFill>
                <a:latin typeface="Cambria Math"/>
                <a:ea typeface="Cambria Math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7190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D6E79"/>
                </a:solidFill>
                <a:latin typeface="Microsoft YaHei"/>
                <a:ea typeface="Microsoft YaHei"/>
              </a:rPr>
              <a:t>第二个因子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176272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42B3B"/>
                </a:solidFill>
                <a:latin typeface="Cambria Math"/>
                <a:ea typeface="Cambria Math"/>
              </a:rPr>
              <a:t>arctan(1/x)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2798064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40" b="1" i="0">
                <a:solidFill>
                  <a:srgbClr val="0E6F68"/>
                </a:solidFill>
                <a:latin typeface="Microsoft YaHei"/>
                <a:ea typeface="Microsoft YaHei"/>
              </a:rPr>
              <a:t>只看有界性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28416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6F68"/>
                </a:solidFill>
                <a:latin typeface="Cambria Math"/>
                <a:ea typeface="Cambria Math"/>
              </a:rPr>
              <a:t>|B| &lt; π/2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65392" y="4032504"/>
            <a:ext cx="4626864" cy="0"/>
          </a:xfrm>
          <a:prstGeom prst="line">
            <a:avLst/>
          </a:prstGeom>
          <a:ln w="1016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418795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D6E79"/>
                </a:solidFill>
                <a:latin typeface="Microsoft YaHei"/>
                <a:ea typeface="Microsoft YaHei"/>
              </a:rPr>
              <a:t>x 从两侧来，B 分别靠近 +π/2 与 −π/2。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91947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D6E79"/>
                </a:solidFill>
                <a:latin typeface="Microsoft YaHei"/>
                <a:ea typeface="Microsoft YaHei"/>
              </a:rPr>
              <a:t>A 是一个“趋于 0”的量；B 虽然来回摆动，却始终跑不出 ±π/2。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21808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477256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 Math"/>
                <a:ea typeface="Cambria Math"/>
              </a:rPr>
              <a:t>A → 0</a:t>
            </a:r>
            <a:r>
              <a:rPr sz="1700" b="0" i="0">
                <a:solidFill>
                  <a:srgbClr val="D6E4EB"/>
                </a:solidFill>
                <a:latin typeface="Microsoft YaHei"/>
                <a:ea typeface="Microsoft YaHei"/>
              </a:rPr>
              <a:t> ，  B 有界   </a:t>
            </a:r>
            <a:r>
              <a:rPr sz="2500" b="1" i="0">
                <a:solidFill>
                  <a:srgbClr val="E8B86A"/>
                </a:solidFill>
                <a:latin typeface="Cambria Math"/>
                <a:ea typeface="Cambria Math"/>
              </a:rPr>
              <a:t>⇒   A · B →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925312"/>
            <a:ext cx="101498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FC2CE"/>
                </a:solidFill>
                <a:latin typeface="Microsoft YaHei"/>
                <a:ea typeface="Microsoft YaHei"/>
              </a:rPr>
              <a:t>关键：不用求 arctan(1/x) 的双侧极限；“有界”已经足够。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510528"/>
            <a:ext cx="10872216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Microsoft YaHei"/>
                <a:ea typeface="Microsoft YaHei"/>
              </a:rPr>
              <a:t>工科数学分析 · 从直觉到证明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656539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Consolas"/>
                <a:ea typeface="Consola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365760"/>
            <a:ext cx="54864" cy="603504"/>
          </a:xfrm>
          <a:prstGeom prst="roundRect">
            <a:avLst>
              <a:gd name="adj" fmla="val 50000"/>
            </a:avLst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6F68"/>
                </a:solidFill>
                <a:latin typeface="Microsoft YaHei"/>
                <a:ea typeface="Microsoft YaHei"/>
              </a:rPr>
              <a:t>原题 · 详细解答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7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42B3B"/>
                </a:solidFill>
                <a:latin typeface="Microsoft YaHei"/>
                <a:ea typeface="Microsoft YaHei"/>
              </a:rPr>
              <a:t>从通分到左右极限：三步得到答案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161288"/>
            <a:ext cx="10872216" cy="0"/>
          </a:xfrm>
          <a:prstGeom prst="line">
            <a:avLst/>
          </a:prstGeom>
          <a:ln w="1143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69880" y="31089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极限专题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3794760" cy="4370832"/>
          </a:xfrm>
          <a:prstGeom prst="roundRect">
            <a:avLst>
              <a:gd name="adj" fmla="val 5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55448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F8E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19" b="1" i="0">
                <a:solidFill>
                  <a:srgbClr val="B95338"/>
                </a:solidFill>
                <a:latin typeface="Microsoft YaHei"/>
                <a:ea typeface="Microsoft YaHei"/>
              </a:rPr>
              <a:t>原题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4767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5D6E79"/>
                </a:solidFill>
                <a:latin typeface="Microsoft YaHei"/>
                <a:ea typeface="Microsoft YaHei"/>
              </a:rPr>
              <a:t>求极限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42B3B"/>
                </a:solidFill>
                <a:latin typeface="Cambria Math"/>
                <a:ea typeface="Cambria Math"/>
              </a:rPr>
              <a:t>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E79"/>
                </a:solidFill>
                <a:latin typeface="Cambria Math"/>
                <a:ea typeface="Cambria Math"/>
              </a:rPr>
              <a:t>x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27685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42B3B"/>
                </a:solidFill>
                <a:latin typeface="Cambria Math"/>
                <a:ea typeface="Cambria Math"/>
              </a:rPr>
              <a:t>(1/sin x − 1/x)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69748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42B3B"/>
                </a:solidFill>
                <a:latin typeface="Cambria Math"/>
                <a:ea typeface="Cambria Math"/>
              </a:rPr>
              <a:t>× arctan(1/x)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" y="3310128"/>
            <a:ext cx="3291840" cy="0"/>
          </a:xfrm>
          <a:prstGeom prst="line">
            <a:avLst/>
          </a:prstGeom>
          <a:ln w="1016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6112" y="34747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E6F68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730752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B3B"/>
                </a:solidFill>
                <a:latin typeface="Microsoft YaHei"/>
                <a:ea typeface="Microsoft YaHei"/>
              </a:rPr>
              <a:t>判断 x 从左右两侧趋近 0 时，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B3B"/>
                </a:solidFill>
                <a:latin typeface="Microsoft YaHei"/>
                <a:ea typeface="Microsoft YaHei"/>
              </a:rPr>
              <a:t>这个乘积是否有同一个极限。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99432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8A2C"/>
                </a:solidFill>
                <a:latin typeface="Microsoft YaHei"/>
                <a:ea typeface="Microsoft YaHei"/>
              </a:rPr>
              <a:t>小提醒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312724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E79"/>
                </a:solidFill>
                <a:latin typeface="Microsoft YaHei"/>
                <a:ea typeface="Microsoft YaHei"/>
              </a:rPr>
              <a:t>只研究 x = 0 附近；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E79"/>
                </a:solidFill>
                <a:latin typeface="Microsoft YaHei"/>
                <a:ea typeface="Microsoft YaHei"/>
              </a:rPr>
              <a:t>此处 sin x ≠ 0，可以放心通分。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353312"/>
            <a:ext cx="6784848" cy="11887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60" y="1545336"/>
            <a:ext cx="347472" cy="347472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1499616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6F68"/>
                </a:solidFill>
                <a:latin typeface="Microsoft YaHei"/>
                <a:ea typeface="Microsoft YaHei"/>
              </a:rPr>
              <a:t>通分：两个分式合成一个分数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180136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42B3B"/>
                </a:solidFill>
                <a:latin typeface="Cambria Math"/>
                <a:ea typeface="Cambria Math"/>
              </a:rPr>
              <a:t>A = (x − sin x) / (x sin x)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670048"/>
            <a:ext cx="6784848" cy="173736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937760" y="2834640"/>
            <a:ext cx="347472" cy="347472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2798064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6F68"/>
                </a:solidFill>
                <a:latin typeface="Microsoft YaHei"/>
                <a:ea typeface="Microsoft YaHei"/>
              </a:rPr>
              <a:t>泰勒展开：抓住 x³ 这一项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3108960"/>
            <a:ext cx="576072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142B3B"/>
                </a:solidFill>
                <a:latin typeface="Cambria Math"/>
                <a:ea typeface="Cambria Math"/>
              </a:rPr>
              <a:t>sin x = x − x³/6 + x⁵/120 + O(x⁷)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3401568"/>
            <a:ext cx="530352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142B3B"/>
                </a:solidFill>
                <a:latin typeface="Cambria Math"/>
                <a:ea typeface="Cambria Math"/>
              </a:rPr>
              <a:t>x − sin x = x³/6 + O(x⁵)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3749039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42B3B"/>
                </a:solidFill>
                <a:latin typeface="Cambria Math"/>
                <a:ea typeface="Cambria Math"/>
              </a:rPr>
              <a:t>A = [x³/6 + O(x⁵)] / [x² + O(x⁴)] = x/6 + O(x³)</a:t>
            </a:r>
            <a:r>
              <a:rPr sz="1550" b="1" i="0">
                <a:solidFill>
                  <a:srgbClr val="0E6F68"/>
                </a:solidFill>
                <a:latin typeface="Cambria Math"/>
                <a:ea typeface="Cambria Math"/>
              </a:rPr>
              <a:t>  →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535424"/>
            <a:ext cx="6784848" cy="1143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937760" y="4718304"/>
            <a:ext cx="347472" cy="347472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4681728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6F68"/>
                </a:solidFill>
                <a:latin typeface="Microsoft YaHei"/>
                <a:ea typeface="Microsoft YaHei"/>
              </a:rPr>
              <a:t>看左右极限：B 可以不同，但都有限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4983480"/>
            <a:ext cx="576072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142B3B"/>
                </a:solidFill>
                <a:latin typeface="Cambria Math"/>
                <a:ea typeface="Cambria Math"/>
              </a:rPr>
              <a:t>x→0⁺：B→π/2      x→0⁻：B→−π/2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31536" y="5285232"/>
            <a:ext cx="576072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142B3B"/>
                </a:solidFill>
                <a:latin typeface="Cambria Math"/>
                <a:ea typeface="Cambria Math"/>
              </a:rPr>
              <a:t>A→0，所以两侧都有 A·B→0。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88736"/>
            <a:ext cx="10881360" cy="493776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5971032"/>
            <a:ext cx="99669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左右极限都为 0</a:t>
            </a:r>
            <a:r>
              <a:rPr sz="1300" b="0" i="0">
                <a:solidFill>
                  <a:srgbClr val="D6E4EB"/>
                </a:solidFill>
                <a:latin typeface="Microsoft YaHei"/>
                <a:ea typeface="Microsoft YaHei"/>
              </a:rPr>
              <a:t>    ⇒    原极限存在，且等于 </a:t>
            </a:r>
            <a:r>
              <a:rPr sz="2200" b="1" i="0">
                <a:solidFill>
                  <a:srgbClr val="E8B86A"/>
                </a:solidFill>
                <a:latin typeface="Cambria Math"/>
                <a:ea typeface="Cambria Math"/>
              </a:rPr>
              <a:t>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510528"/>
            <a:ext cx="10872216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Microsoft YaHei"/>
                <a:ea typeface="Microsoft YaHei"/>
              </a:rPr>
              <a:t>工科数学分析 · 从直觉到证明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656539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Consolas"/>
                <a:ea typeface="Consola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365760"/>
            <a:ext cx="54864" cy="603504"/>
          </a:xfrm>
          <a:prstGeom prst="roundRect">
            <a:avLst>
              <a:gd name="adj" fmla="val 50000"/>
            </a:avLst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6F68"/>
                </a:solidFill>
                <a:latin typeface="Microsoft YaHei"/>
                <a:ea typeface="Microsoft YaHei"/>
              </a:rPr>
              <a:t>PYTHON 验证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7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42B3B"/>
                </a:solidFill>
                <a:latin typeface="Microsoft YaHei"/>
                <a:ea typeface="Microsoft YaHei"/>
              </a:rPr>
              <a:t>先解决“算不准”的问题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161288"/>
            <a:ext cx="10872216" cy="0"/>
          </a:xfrm>
          <a:prstGeom prst="line">
            <a:avLst/>
          </a:prstGeom>
          <a:ln w="1143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69880" y="31089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极限专题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2670048" cy="4901184"/>
          </a:xfrm>
          <a:prstGeom prst="roundRect">
            <a:avLst>
              <a:gd name="adj" fmla="val 5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0934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B3B"/>
                </a:solidFill>
                <a:latin typeface="Microsoft YaHei"/>
                <a:ea typeface="Microsoft YaHei"/>
              </a:rPr>
              <a:t>普通浮点数会失真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D6E79"/>
                </a:solidFill>
                <a:latin typeface="Microsoft YaHei"/>
                <a:ea typeface="Microsoft YaHei"/>
              </a:rPr>
              <a:t>x = 10⁻¹² 时，sin x 与 x 在双精度下可能完全相同，x − sin x 直接变成 0。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3127248"/>
            <a:ext cx="2231136" cy="0"/>
          </a:xfrm>
          <a:prstGeom prst="line">
            <a:avLst/>
          </a:prstGeom>
          <a:ln w="10160">
            <a:solidFill>
              <a:srgbClr val="B9D8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4" y="331012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B3B"/>
                </a:solidFill>
                <a:latin typeface="Microsoft YaHei"/>
                <a:ea typeface="Microsoft YaHei"/>
              </a:rPr>
              <a:t>脚本策略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3730752"/>
            <a:ext cx="82296" cy="82296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63016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42B3B"/>
                </a:solidFill>
                <a:latin typeface="Microsoft YaHei"/>
                <a:ea typeface="Microsoft YaHei"/>
              </a:rPr>
              <a:t>Decimal 80 位精度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206240"/>
            <a:ext cx="82296" cy="82296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10565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42B3B"/>
                </a:solidFill>
                <a:latin typeface="Microsoft YaHei"/>
                <a:ea typeface="Microsoft YaHei"/>
              </a:rPr>
              <a:t>Taylor 级数算 sin / arctan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681728"/>
            <a:ext cx="82296" cy="82296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581144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42B3B"/>
                </a:solidFill>
                <a:latin typeface="Microsoft YaHei"/>
                <a:ea typeface="Microsoft YaHei"/>
              </a:rPr>
              <a:t>Machin 公式算 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94960"/>
            <a:ext cx="215798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E6F68"/>
                </a:solidFill>
                <a:latin typeface="Microsoft YaHei"/>
                <a:ea typeface="Microsoft YaHei"/>
              </a:rPr>
              <a:t>只使用 Python 标准库，结果可复现。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84448" y="1371600"/>
            <a:ext cx="7955279" cy="4901184"/>
          </a:xfrm>
          <a:prstGeom prst="roundRect">
            <a:avLst>
              <a:gd name="adj" fmla="val 3500"/>
            </a:avLst>
          </a:prstGeom>
          <a:solidFill>
            <a:srgbClr val="0F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84448" y="1371600"/>
            <a:ext cx="7955279" cy="365760"/>
          </a:xfrm>
          <a:prstGeom prst="roundRect">
            <a:avLst>
              <a:gd name="adj" fmla="val 3500"/>
            </a:avLst>
          </a:prstGeom>
          <a:solidFill>
            <a:srgbClr val="16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84448" y="1645920"/>
            <a:ext cx="7955279" cy="91440"/>
          </a:xfrm>
          <a:prstGeom prst="rect">
            <a:avLst/>
          </a:prstGeom>
          <a:solidFill>
            <a:srgbClr val="16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739896" y="1508760"/>
            <a:ext cx="82296" cy="82296"/>
          </a:xfrm>
          <a:prstGeom prst="ellipse">
            <a:avLst/>
          </a:prstGeom>
          <a:solidFill>
            <a:srgbClr val="C9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86200" y="1508760"/>
            <a:ext cx="82296" cy="82296"/>
          </a:xfrm>
          <a:prstGeom prst="ellipse">
            <a:avLst/>
          </a:prstGeom>
          <a:solidFill>
            <a:srgbClr val="D7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032504" y="1508760"/>
            <a:ext cx="82296" cy="82296"/>
          </a:xfrm>
          <a:prstGeom prst="ellipse">
            <a:avLst/>
          </a:prstGeom>
          <a:solidFill>
            <a:srgbClr val="3E9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42816" y="1449324"/>
            <a:ext cx="630935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D9E4E9"/>
                </a:solidFill>
                <a:latin typeface="Consolas"/>
                <a:ea typeface="Consolas"/>
              </a:rPr>
              <a:t>limit_check_demo.py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3848" y="144932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792A3"/>
                </a:solidFill>
                <a:latin typeface="Consolas"/>
                <a:ea typeface="Consolas"/>
              </a:rPr>
              <a:t>Python 3 · 标准库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1865376"/>
            <a:ext cx="7680959" cy="43342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1 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from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decimal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import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Decimal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as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D, getcontext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2  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3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getcontext().prec =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80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4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TOL = D(</a:t>
            </a:r>
            <a:r>
              <a:rPr sz="1200" b="0" i="0">
                <a:solidFill>
                  <a:srgbClr val="F0C674"/>
                </a:solidFill>
                <a:latin typeface="Consolas"/>
                <a:ea typeface="Consolas"/>
              </a:rPr>
              <a:t>"1e-70"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5  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6 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def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atan_taylor(z):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7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z = D(z)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8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term = total = z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 9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z2, n = z * z,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10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while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True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11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    term *= -z2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12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    add = term / (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2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* n +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13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   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if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abs(add) &lt; TOL: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14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        </a:t>
            </a:r>
            <a:r>
              <a:rPr sz="1200" b="0" i="0">
                <a:solidFill>
                  <a:srgbClr val="6FC7C0"/>
                </a:solidFill>
                <a:latin typeface="Consolas"/>
                <a:ea typeface="Consolas"/>
              </a:rPr>
              <a:t>return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total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15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    total += add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16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       n +=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17  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92A3"/>
                </a:solidFill>
                <a:latin typeface="Consolas"/>
                <a:ea typeface="Consolas"/>
              </a:rPr>
              <a:t>18  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PI =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16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* atan_taylor(D(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) /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5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) -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4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 * atan_taylor(D(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) / </a:t>
            </a:r>
            <a:r>
              <a:rPr sz="1200" b="0" i="0">
                <a:solidFill>
                  <a:srgbClr val="E4B86A"/>
                </a:solidFill>
                <a:latin typeface="Consolas"/>
                <a:ea typeface="Consolas"/>
              </a:rPr>
              <a:t>239</a:t>
            </a:r>
            <a:r>
              <a:rPr sz="1200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5870448"/>
            <a:ext cx="7680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FB7C4"/>
                </a:solidFill>
                <a:latin typeface="Cambria Math"/>
                <a:ea typeface="Cambria Math"/>
              </a:rPr>
              <a:t>Machin 公式：π/4 = 4 arctan(1/5) − arctan(1/239)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510528"/>
            <a:ext cx="10872216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Microsoft YaHei"/>
                <a:ea typeface="Microsoft YaHei"/>
              </a:rPr>
              <a:t>工科数学分析 · 从直觉到证明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56539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Consolas"/>
                <a:ea typeface="Consola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365760"/>
            <a:ext cx="54864" cy="603504"/>
          </a:xfrm>
          <a:prstGeom prst="roundRect">
            <a:avLst>
              <a:gd name="adj" fmla="val 50000"/>
            </a:avLst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6F68"/>
                </a:solidFill>
                <a:latin typeface="Microsoft YaHei"/>
                <a:ea typeface="Microsoft YaHei"/>
              </a:rPr>
              <a:t>PYTHON 验证 ·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7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42B3B"/>
                </a:solidFill>
                <a:latin typeface="Microsoft YaHei"/>
                <a:ea typeface="Microsoft YaHei"/>
              </a:rPr>
              <a:t>代入、运行、读数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161288"/>
            <a:ext cx="10872216" cy="0"/>
          </a:xfrm>
          <a:prstGeom prst="line">
            <a:avLst/>
          </a:prstGeom>
          <a:ln w="1143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69880" y="31089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极限专题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6876288" cy="4956048"/>
          </a:xfrm>
          <a:prstGeom prst="roundRect">
            <a:avLst>
              <a:gd name="adj" fmla="val 3500"/>
            </a:avLst>
          </a:prstGeom>
          <a:solidFill>
            <a:srgbClr val="0F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6876288" cy="365760"/>
          </a:xfrm>
          <a:prstGeom prst="roundRect">
            <a:avLst>
              <a:gd name="adj" fmla="val 3500"/>
            </a:avLst>
          </a:prstGeom>
          <a:solidFill>
            <a:srgbClr val="16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6876288" cy="91440"/>
          </a:xfrm>
          <a:prstGeom prst="rect">
            <a:avLst/>
          </a:prstGeom>
          <a:solidFill>
            <a:srgbClr val="16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13816" y="1490472"/>
            <a:ext cx="82296" cy="82296"/>
          </a:xfrm>
          <a:prstGeom prst="ellipse">
            <a:avLst/>
          </a:prstGeom>
          <a:solidFill>
            <a:srgbClr val="C9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1490472"/>
            <a:ext cx="82296" cy="82296"/>
          </a:xfrm>
          <a:prstGeom prst="ellipse">
            <a:avLst/>
          </a:prstGeom>
          <a:solidFill>
            <a:srgbClr val="D7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06424" y="1490472"/>
            <a:ext cx="82296" cy="82296"/>
          </a:xfrm>
          <a:prstGeom prst="ellipse">
            <a:avLst/>
          </a:prstGeom>
          <a:solidFill>
            <a:srgbClr val="3E9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16736" y="1431036"/>
            <a:ext cx="52303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D9E4E9"/>
                </a:solidFill>
                <a:latin typeface="Consolas"/>
                <a:ea typeface="Consolas"/>
              </a:rPr>
              <a:t>limit_check_demo.py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43103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792A3"/>
                </a:solidFill>
                <a:latin typeface="Consolas"/>
                <a:ea typeface="Consolas"/>
              </a:rPr>
              <a:t>Python 3 · 标准库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847088"/>
            <a:ext cx="6601968" cy="4389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20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def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sin_taylor(x):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21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x = D(x)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22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term = total = x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23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n =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24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while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True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25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term *= -x * x / ((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2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* n) * 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2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* n +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26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if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abs(term) &lt; TOL: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27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  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return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total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28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total += term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29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n +=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30  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31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def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f(x):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32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s = sin_taylor(x)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33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sign = D(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if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x &gt;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0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else D(-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34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b = sign * PI /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2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- atan_taylor(x)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35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return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/ s -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/ x) * b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36  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37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print(</a:t>
            </a:r>
            <a:r>
              <a:rPr sz="1019" b="0" i="0">
                <a:solidFill>
                  <a:srgbClr val="F0C674"/>
                </a:solidFill>
                <a:latin typeface="Consolas"/>
                <a:ea typeface="Consolas"/>
              </a:rPr>
              <a:t>"    x             f(x)              f(x)/x"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38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print(</a:t>
            </a:r>
            <a:r>
              <a:rPr sz="1019" b="0" i="0">
                <a:solidFill>
                  <a:srgbClr val="F0C674"/>
                </a:solidFill>
                <a:latin typeface="Consolas"/>
                <a:ea typeface="Consolas"/>
              </a:rPr>
              <a:t>"-"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*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46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39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for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k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in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4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,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8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, 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12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40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for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sign </a:t>
            </a:r>
            <a:r>
              <a:rPr sz="1019" b="0" i="0">
                <a:solidFill>
                  <a:srgbClr val="6FC7C0"/>
                </a:solidFill>
                <a:latin typeface="Consolas"/>
                <a:ea typeface="Consolas"/>
              </a:rPr>
              <a:t>in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, -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):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41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x = D(sign) / D(</a:t>
            </a:r>
            <a:r>
              <a:rPr sz="1019" b="0" i="0">
                <a:solidFill>
                  <a:srgbClr val="E4B86A"/>
                </a:solidFill>
                <a:latin typeface="Consolas"/>
                <a:ea typeface="Consolas"/>
              </a:rPr>
              <a:t>10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 ** 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42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y = f(x)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43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        print(f</a:t>
            </a:r>
            <a:r>
              <a:rPr sz="1019" b="0" i="0">
                <a:solidFill>
                  <a:srgbClr val="F0C674"/>
                </a:solidFill>
                <a:latin typeface="Consolas"/>
                <a:ea typeface="Consolas"/>
              </a:rPr>
              <a:t>"{x:&gt;8}  {y:&gt;18.12E}  {y / x:&gt;15.12f}"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792A3"/>
                </a:solidFill>
                <a:latin typeface="Consolas"/>
                <a:ea typeface="Consolas"/>
              </a:rPr>
              <a:t>44  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print(f</a:t>
            </a:r>
            <a:r>
              <a:rPr sz="1019" b="0" i="0">
                <a:solidFill>
                  <a:srgbClr val="F0C674"/>
                </a:solidFill>
                <a:latin typeface="Consolas"/>
                <a:ea typeface="Consolas"/>
              </a:rPr>
              <a:t>"pi/12 = {PI / 12:.16f}"</a:t>
            </a:r>
            <a:r>
              <a:rPr sz="1019" b="0" i="0">
                <a:solidFill>
                  <a:srgbClr val="DCE7EC"/>
                </a:solidFill>
                <a:latin typeface="Consolas"/>
                <a:ea typeface="Consolas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1353312"/>
            <a:ext cx="3803904" cy="226771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149961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6F68"/>
                </a:solidFill>
                <a:latin typeface="Microsoft YaHei"/>
                <a:ea typeface="Microsoft YaHei"/>
              </a:rPr>
              <a:t>运行结果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810512"/>
            <a:ext cx="3456432" cy="16276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     x                f(x)           f(x)/x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  1E-4      2.617827214E-5      0.261782721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 -1E-4      2.617827214E-5     -0.261782721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  1E-8      2.617993861E-9      0.261799386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 -1E-8      2.617993861E-9     -0.261799386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 1E-12     2.617993878E-13      0.261799388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64556"/>
                </a:solidFill>
                <a:latin typeface="Consolas"/>
                <a:ea typeface="Consolas"/>
              </a:rPr>
              <a:t>  -1E-12     2.617993878E-13     -0.261799388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endParaRPr sz="819" b="0" i="0">
              <a:solidFill>
                <a:srgbClr val="264556"/>
              </a:solidFill>
              <a:latin typeface="Consolas"/>
              <a:ea typeface="Consolas"/>
            </a:endParaRP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6F68"/>
                </a:solidFill>
                <a:latin typeface="Consolas"/>
                <a:ea typeface="Consolas"/>
              </a:rPr>
              <a:t>pi/12 = 0.2617993877991494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35824" y="3767328"/>
            <a:ext cx="3803904" cy="2542032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3941063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6A"/>
                </a:solidFill>
                <a:latin typeface="Microsoft YaHei"/>
                <a:ea typeface="Microsoft YaHei"/>
              </a:rPr>
              <a:t>怎么读这张表？</a:t>
            </a:r>
          </a:p>
        </p:txBody>
      </p:sp>
      <p:sp>
        <p:nvSpPr>
          <p:cNvPr id="21" name="Oval 20"/>
          <p:cNvSpPr/>
          <p:nvPr/>
        </p:nvSpPr>
        <p:spPr>
          <a:xfrm>
            <a:off x="7982712" y="4352544"/>
            <a:ext cx="68580" cy="68580"/>
          </a:xfrm>
          <a:prstGeom prst="ellipse">
            <a:avLst/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4251960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FFFFFF"/>
                </a:solidFill>
                <a:latin typeface="Microsoft YaHei"/>
                <a:ea typeface="Microsoft YaHei"/>
              </a:rPr>
              <a:t>|f(x)| 与 |x| 同步缩小</a:t>
            </a:r>
          </a:p>
        </p:txBody>
      </p:sp>
      <p:sp>
        <p:nvSpPr>
          <p:cNvPr id="23" name="Oval 22"/>
          <p:cNvSpPr/>
          <p:nvPr/>
        </p:nvSpPr>
        <p:spPr>
          <a:xfrm>
            <a:off x="7982712" y="4736592"/>
            <a:ext cx="68580" cy="68580"/>
          </a:xfrm>
          <a:prstGeom prst="ellipse">
            <a:avLst/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4636008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FFFFFF"/>
                </a:solidFill>
                <a:latin typeface="Consolas"/>
                <a:ea typeface="Consolas"/>
              </a:rPr>
              <a:t>f(x)/x → ±0.261799… = ±π/12</a:t>
            </a:r>
          </a:p>
        </p:txBody>
      </p:sp>
      <p:sp>
        <p:nvSpPr>
          <p:cNvPr id="25" name="Oval 24"/>
          <p:cNvSpPr/>
          <p:nvPr/>
        </p:nvSpPr>
        <p:spPr>
          <a:xfrm>
            <a:off x="7982712" y="5120640"/>
            <a:ext cx="68580" cy="68580"/>
          </a:xfrm>
          <a:prstGeom prst="ellipse">
            <a:avLst/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65592" y="5020056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FFFFFF"/>
                </a:solidFill>
                <a:latin typeface="Microsoft YaHei"/>
                <a:ea typeface="Microsoft YaHei"/>
              </a:rPr>
              <a:t>与 f(x) ~ π|x|/12 一致</a:t>
            </a:r>
          </a:p>
        </p:txBody>
      </p:sp>
      <p:sp>
        <p:nvSpPr>
          <p:cNvPr id="27" name="Oval 26"/>
          <p:cNvSpPr/>
          <p:nvPr/>
        </p:nvSpPr>
        <p:spPr>
          <a:xfrm>
            <a:off x="7982712" y="5504688"/>
            <a:ext cx="68580" cy="68580"/>
          </a:xfrm>
          <a:prstGeom prst="ellipse">
            <a:avLst/>
          </a:prstGeom>
          <a:solidFill>
            <a:srgbClr val="6F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5592" y="540410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8FE0D8"/>
                </a:solidFill>
                <a:latin typeface="Microsoft YaHei"/>
                <a:ea typeface="Microsoft YaHei"/>
              </a:rPr>
              <a:t>所以极限是 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510528"/>
            <a:ext cx="10872216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Microsoft YaHei"/>
                <a:ea typeface="Microsoft YaHei"/>
              </a:rPr>
              <a:t>工科数学分析 · 从直觉到证明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56539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Consolas"/>
                <a:ea typeface="Consola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365760"/>
            <a:ext cx="54864" cy="603504"/>
          </a:xfrm>
          <a:prstGeom prst="roundRect">
            <a:avLst>
              <a:gd name="adj" fmla="val 50000"/>
            </a:avLst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6F68"/>
                </a:solidFill>
                <a:latin typeface="Microsoft YaHei"/>
                <a:ea typeface="Microsoft YaHei"/>
              </a:rPr>
              <a:t>对话记录 ·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7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42B3B"/>
                </a:solidFill>
                <a:latin typeface="Microsoft YaHei"/>
                <a:ea typeface="Microsoft YaHei"/>
              </a:rPr>
              <a:t>本次对话的全部提示词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161288"/>
            <a:ext cx="10872216" cy="0"/>
          </a:xfrm>
          <a:prstGeom prst="line">
            <a:avLst/>
          </a:prstGeom>
          <a:ln w="1143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69880" y="31089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极限专题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85953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D6E79"/>
                </a:solidFill>
                <a:latin typeface="Microsoft YaHei"/>
                <a:ea typeface="Microsoft YaHei"/>
              </a:rPr>
              <a:t>逐字保留用户的两条提示词，未删改。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44168"/>
            <a:ext cx="5358384" cy="493776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44168"/>
            <a:ext cx="64008" cy="4937760"/>
          </a:xfrm>
          <a:prstGeom prst="rect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9961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E6F68"/>
                </a:solidFill>
                <a:latin typeface="Microsoft YaHei"/>
                <a:ea typeface="Microsoft YaHei"/>
              </a:rPr>
              <a:t>提示词 1  /  解题与存档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508760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PROMPT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1837943"/>
            <a:ext cx="4864608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1975104"/>
            <a:ext cx="4901184" cy="4169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1" i="0">
                <a:solidFill>
                  <a:srgbClr val="102A43"/>
                </a:solidFill>
                <a:latin typeface="Microsoft YaHei"/>
                <a:ea typeface="Microsoft YaHei"/>
              </a:rPr>
              <a:t>请求极限lim(1/sinx-1/x)arctan(1/x).(x趋近于0)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42B3B"/>
                </a:solidFill>
                <a:latin typeface="Microsoft YaHei"/>
                <a:ea typeface="Microsoft YaHei"/>
              </a:rPr>
              <a:t>要求：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42B3B"/>
                </a:solidFill>
                <a:latin typeface="Microsoft YaHei"/>
                <a:ea typeface="Microsoft YaHei"/>
              </a:rPr>
              <a:t>1. 先给出数学推导过程；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42B3B"/>
                </a:solidFill>
                <a:latin typeface="Microsoft YaHei"/>
                <a:ea typeface="Microsoft YaHei"/>
              </a:rPr>
              <a:t>2. 使用 Python 程序验证求出结果是否正确；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42B3B"/>
                </a:solidFill>
                <a:latin typeface="Microsoft YaHei"/>
                <a:ea typeface="Microsoft YaHei"/>
              </a:rPr>
              <a:t>3. 在当前工作区创建一个名为 solution.md 的文件；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42B3B"/>
                </a:solidFill>
                <a:latin typeface="Microsoft YaHei"/>
                <a:ea typeface="Microsoft YaHei"/>
              </a:rPr>
              <a:t>4. 在 solution.md 中保存数学推导、Python 验证过程和最终答案。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44168"/>
            <a:ext cx="5358384" cy="4937760"/>
          </a:xfrm>
          <a:prstGeom prst="roundRect">
            <a:avLst>
              <a:gd name="adj" fmla="val 4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44168"/>
            <a:ext cx="64008" cy="4937760"/>
          </a:xfrm>
          <a:prstGeom prst="rect">
            <a:avLst/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9961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D78A2C"/>
                </a:solidFill>
                <a:latin typeface="Microsoft YaHei"/>
                <a:ea typeface="Microsoft YaHei"/>
              </a:rPr>
              <a:t>提示词 2  /  制作这份 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508760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PROMPT 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8232" y="1837943"/>
            <a:ext cx="4864608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9944" y="1975104"/>
            <a:ext cx="4901184" cy="4169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1" i="0" dirty="0" err="1">
                <a:solidFill>
                  <a:srgbClr val="102A43"/>
                </a:solidFill>
                <a:latin typeface="Microsoft YaHei"/>
                <a:ea typeface="Microsoft YaHei"/>
              </a:rPr>
              <a:t>请帮我制作一个关于这道题的</a:t>
            </a:r>
            <a:r>
              <a:rPr sz="1050" b="1" i="0" dirty="0">
                <a:solidFill>
                  <a:srgbClr val="102A43"/>
                </a:solidFill>
                <a:latin typeface="Microsoft YaHei"/>
                <a:ea typeface="Microsoft YaHei"/>
              </a:rPr>
              <a:t> PowerPoint </a:t>
            </a:r>
            <a:r>
              <a:rPr sz="1050" b="1" i="0" dirty="0" err="1">
                <a:solidFill>
                  <a:srgbClr val="102A43"/>
                </a:solidFill>
                <a:latin typeface="Microsoft YaHei"/>
                <a:ea typeface="Microsoft YaHei"/>
              </a:rPr>
              <a:t>文件</a:t>
            </a:r>
            <a:r>
              <a:rPr sz="1050" b="1" i="0" dirty="0">
                <a:solidFill>
                  <a:srgbClr val="102A43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主题：一道求极限难题的解法</a:t>
            </a:r>
            <a:endParaRPr sz="1050" b="0" i="0" dirty="0">
              <a:solidFill>
                <a:srgbClr val="142B3B"/>
              </a:solidFill>
              <a:latin typeface="Microsoft YaHei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要求</a:t>
            </a: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1. </a:t>
            </a:r>
            <a:r>
              <a:rPr sz="105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一共制作</a:t>
            </a: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 7页。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2. </a:t>
            </a:r>
            <a:r>
              <a:rPr sz="105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面向没有数学分析基础的大一学生</a:t>
            </a: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3. 第1页：标题页。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4. 第2页：，第3页：原题以及题目的详细解答。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5. 第4,5页：Python验证程序的代码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 dirty="0">
                <a:solidFill>
                  <a:srgbClr val="142B3B"/>
                </a:solidFill>
                <a:latin typeface="Microsoft YaHei"/>
                <a:ea typeface="Microsoft YaHei"/>
              </a:rPr>
              <a:t>6. 第6页：本次对话的全部提示词。7.第7页:总结。在本页注明本题来源:工科数学分析试题及详解（第二版）第21页第9题。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8. </a:t>
            </a:r>
            <a:r>
              <a:rPr sz="105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每页文字不要太多</a:t>
            </a: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 dirty="0">
                <a:solidFill>
                  <a:srgbClr val="142B3B"/>
                </a:solidFill>
                <a:latin typeface="Microsoft YaHei"/>
                <a:ea typeface="Microsoft YaHei"/>
              </a:rPr>
              <a:t>9. </a:t>
            </a:r>
            <a:r>
              <a:rPr sz="100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使用</a:t>
            </a:r>
            <a:r>
              <a:rPr sz="1000" b="0" i="0" dirty="0">
                <a:solidFill>
                  <a:srgbClr val="142B3B"/>
                </a:solidFill>
                <a:latin typeface="Microsoft YaHei"/>
                <a:ea typeface="Microsoft YaHei"/>
              </a:rPr>
              <a:t> Python 和 python-pptx </a:t>
            </a:r>
            <a:r>
              <a:rPr sz="100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创建</a:t>
            </a:r>
            <a:r>
              <a:rPr sz="1000" b="0" i="0" dirty="0">
                <a:solidFill>
                  <a:srgbClr val="142B3B"/>
                </a:solidFill>
                <a:latin typeface="Microsoft YaHei"/>
                <a:ea typeface="Microsoft YaHei"/>
              </a:rPr>
              <a:t> PowerPoint。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10. 将最终文件保存为</a:t>
            </a:r>
            <a:r>
              <a:rPr lang="en-US"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1</a:t>
            </a:r>
            <a:r>
              <a:rPr sz="1050" b="0" i="0" dirty="0">
                <a:solidFill>
                  <a:srgbClr val="142B3B"/>
                </a:solidFill>
                <a:latin typeface="Microsoft YaHei"/>
                <a:ea typeface="Microsoft YaHei"/>
              </a:rPr>
              <a:t>.pptx。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请直接完成这个任务，包括编写并运行</a:t>
            </a:r>
            <a:r>
              <a:rPr sz="1000" b="0" i="0" dirty="0">
                <a:solidFill>
                  <a:srgbClr val="142B3B"/>
                </a:solidFill>
                <a:latin typeface="Microsoft YaHei"/>
                <a:ea typeface="Microsoft YaHei"/>
              </a:rPr>
              <a:t> Python </a:t>
            </a:r>
            <a:r>
              <a:rPr sz="1000" b="0" i="0" dirty="0" err="1">
                <a:solidFill>
                  <a:srgbClr val="142B3B"/>
                </a:solidFill>
                <a:latin typeface="Microsoft YaHei"/>
                <a:ea typeface="Microsoft YaHei"/>
              </a:rPr>
              <a:t>程序，而不只是告诉我应该怎么做</a:t>
            </a:r>
            <a:r>
              <a:rPr sz="1000" b="0" i="0" dirty="0">
                <a:solidFill>
                  <a:srgbClr val="142B3B"/>
                </a:solidFill>
                <a:latin typeface="Microsoft YaHei"/>
                <a:ea typeface="Microsoft YaHei"/>
              </a:rPr>
              <a:t>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510528"/>
            <a:ext cx="10872216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Microsoft YaHei"/>
                <a:ea typeface="Microsoft YaHei"/>
              </a:rPr>
              <a:t>工科数学分析 · 从直觉到证明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6768" y="656539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Consolas"/>
                <a:ea typeface="Consola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365760"/>
            <a:ext cx="54864" cy="603504"/>
          </a:xfrm>
          <a:prstGeom prst="roundRect">
            <a:avLst>
              <a:gd name="adj" fmla="val 50000"/>
            </a:avLst>
          </a:prstGeom>
          <a:solidFill>
            <a:srgbClr val="D7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6F68"/>
                </a:solidFill>
                <a:latin typeface="Microsoft YaHei"/>
                <a:ea typeface="Microsoft YaHei"/>
              </a:rPr>
              <a:t>总结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21207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42B3B"/>
                </a:solidFill>
                <a:latin typeface="Microsoft YaHei"/>
                <a:ea typeface="Microsoft YaHei"/>
              </a:rPr>
              <a:t>把方法带走：三步 + 一个答案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161288"/>
            <a:ext cx="10872216" cy="0"/>
          </a:xfrm>
          <a:prstGeom prst="line">
            <a:avLst/>
          </a:prstGeom>
          <a:ln w="1143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69880" y="31089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E79"/>
                </a:solidFill>
                <a:latin typeface="Microsoft YaHei"/>
                <a:ea typeface="Microsoft YaHei"/>
              </a:rPr>
              <a:t>极限专题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7187184" cy="1005840"/>
          </a:xfrm>
          <a:prstGeom prst="roundRect">
            <a:avLst>
              <a:gd name="adj" fmla="val 5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1673352"/>
            <a:ext cx="420624" cy="420624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54480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E6F68"/>
                </a:solidFill>
                <a:latin typeface="Microsoft YaHei"/>
                <a:ea typeface="Microsoft YaHei"/>
              </a:rPr>
              <a:t>先通分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65376"/>
            <a:ext cx="60807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42B3B"/>
                </a:solidFill>
                <a:latin typeface="Microsoft YaHei"/>
                <a:ea typeface="Microsoft YaHei"/>
              </a:rPr>
              <a:t>把两个分式变成一个分数，结构立刻清楚。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7187184" cy="1005840"/>
          </a:xfrm>
          <a:prstGeom prst="roundRect">
            <a:avLst>
              <a:gd name="adj" fmla="val 5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536" y="2825496"/>
            <a:ext cx="420624" cy="420624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70662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E6F68"/>
                </a:solidFill>
                <a:latin typeface="Microsoft YaHei"/>
                <a:ea typeface="Microsoft YaHei"/>
              </a:rPr>
              <a:t>看主项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017520"/>
            <a:ext cx="60807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42B3B"/>
                </a:solidFill>
                <a:latin typeface="Microsoft YaHei"/>
                <a:ea typeface="Microsoft YaHei"/>
              </a:rPr>
              <a:t>x − sin x 的主项是 x³/6，所以 A = x/6 + O(x³) → 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94176"/>
            <a:ext cx="7187184" cy="1005840"/>
          </a:xfrm>
          <a:prstGeom prst="roundRect">
            <a:avLst>
              <a:gd name="adj" fmla="val 5500"/>
            </a:avLst>
          </a:prstGeom>
          <a:solidFill>
            <a:srgbClr val="FFFDF8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6" y="3977639"/>
            <a:ext cx="420624" cy="420624"/>
          </a:xfrm>
          <a:prstGeom prst="ellipse">
            <a:avLst/>
          </a:prstGeom>
          <a:solidFill>
            <a:srgbClr val="0E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85876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E6F68"/>
                </a:solidFill>
                <a:latin typeface="Microsoft YaHei"/>
                <a:ea typeface="Microsoft YaHei"/>
              </a:rPr>
              <a:t>用有界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69664"/>
            <a:ext cx="60807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42B3B"/>
                </a:solidFill>
                <a:latin typeface="Microsoft YaHei"/>
                <a:ea typeface="Microsoft YaHei"/>
              </a:rPr>
              <a:t>|arctan(1/x)| &lt; π/2；A → 0，乘上它仍然是 0。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389888"/>
            <a:ext cx="3364992" cy="3218688"/>
          </a:xfrm>
          <a:prstGeom prst="roundRect">
            <a:avLst>
              <a:gd name="adj" fmla="val 55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8" y="160934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B86A"/>
                </a:solidFill>
                <a:latin typeface="Microsoft YaHei"/>
                <a:ea typeface="Microsoft YaHei"/>
              </a:rPr>
              <a:t>最终答案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1719072"/>
            <a:ext cx="2907792" cy="1536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0" b="1" i="0">
                <a:solidFill>
                  <a:srgbClr val="FFFFFF"/>
                </a:solidFill>
                <a:latin typeface="Cambria Math"/>
                <a:ea typeface="Cambria Math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67344" y="3364992"/>
            <a:ext cx="2779776" cy="0"/>
          </a:xfrm>
          <a:prstGeom prst="line">
            <a:avLst/>
          </a:prstGeom>
          <a:ln w="10160">
            <a:solidFill>
              <a:srgbClr val="345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67344" y="352958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Microsoft YaHei"/>
                <a:ea typeface="Microsoft YaHei"/>
              </a:rPr>
              <a:t>左右极限都为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877056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FC4D0"/>
                </a:solidFill>
                <a:latin typeface="Microsoft YaHei"/>
                <a:ea typeface="Microsoft YaHei"/>
              </a:rPr>
              <a:t>Python：f(x)/x → ±π/12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37760"/>
            <a:ext cx="10881360" cy="731520"/>
          </a:xfrm>
          <a:prstGeom prst="roundRect">
            <a:avLst>
              <a:gd name="adj" fmla="val 4500"/>
            </a:avLst>
          </a:prstGeom>
          <a:solidFill>
            <a:srgbClr val="F8E8CB"/>
          </a:solidFill>
          <a:ln w="12700">
            <a:solidFill>
              <a:srgbClr val="E8C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510235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B95338"/>
                </a:solidFill>
                <a:latin typeface="Microsoft YaHei"/>
                <a:ea typeface="Microsoft YaHei"/>
              </a:rPr>
              <a:t>题目来源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5065776"/>
            <a:ext cx="93268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142B3B"/>
                </a:solidFill>
                <a:latin typeface="Microsoft YaHei"/>
                <a:ea typeface="Microsoft YaHei"/>
              </a:rPr>
              <a:t>工科数学分析试题及详解（第二版）第21页第9题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870448"/>
            <a:ext cx="10835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E79"/>
                </a:solidFill>
                <a:latin typeface="Microsoft YaHei"/>
                <a:ea typeface="Microsoft YaHei"/>
              </a:rPr>
              <a:t>易错提醒：arctan(1/x) 的双侧极限不存在，必须左右分开看；不要把它误当成常数。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510528"/>
            <a:ext cx="10872216" cy="0"/>
          </a:xfrm>
          <a:prstGeom prst="line">
            <a:avLst/>
          </a:prstGeom>
          <a:ln w="8890">
            <a:solidFill>
              <a:srgbClr val="D9D1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6539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Microsoft YaHei"/>
                <a:ea typeface="Microsoft YaHei"/>
              </a:rPr>
              <a:t>工科数学分析 · 从直觉到证明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565392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D6E79"/>
                </a:solidFill>
                <a:latin typeface="Consolas"/>
                <a:ea typeface="Consola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1202</Words>
  <Application>Microsoft Office PowerPoint</Application>
  <PresentationFormat>宽屏</PresentationFormat>
  <Paragraphs>190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Microsoft YaHei</vt:lpstr>
      <vt:lpstr>Arial</vt:lpstr>
      <vt:lpstr>Calibri</vt:lpstr>
      <vt:lpstr>Cambria Math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一道求极限难题的解法</dc:title>
  <dc:subject>极限求解、数学推导与 Python 验证</dc:subject>
  <dc:creator>AI Agent</dc:creator>
  <cp:keywords/>
  <dc:description>本题来源：工科数学分析试题及详解（第二版）第21页第9题</dc:description>
  <cp:lastModifiedBy>Peng Chin</cp:lastModifiedBy>
  <cp:revision>2</cp:revision>
  <dcterms:created xsi:type="dcterms:W3CDTF">2013-01-27T09:14:16Z</dcterms:created>
  <dcterms:modified xsi:type="dcterms:W3CDTF">2026-10-27T09:46:19Z</dcterms:modified>
  <cp:category/>
</cp:coreProperties>
</file>