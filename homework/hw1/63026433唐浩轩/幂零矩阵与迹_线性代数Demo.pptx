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1BE9C-BCBD-485C-B314-65D6B58489CF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97A43-54F6-459E-96B2-389337A6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73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50">
                <a:latin typeface="Microsoft YaHei" panose="020B0503020204020204" pitchFamily="34" charset="-122"/>
              </a:rPr>
              <a:t>开场白：各位老师、同学好，我是 </a:t>
            </a:r>
            <a:r>
              <a:rPr lang="en-US" altLang="zh-CN" sz="1150">
                <a:latin typeface="Microsoft YaHei" panose="020B0503020204020204" pitchFamily="34" charset="-122"/>
              </a:rPr>
              <a:t>aynku-seu</a:t>
            </a:r>
            <a:r>
              <a:rPr lang="zh-CN" altLang="en-US" sz="1150">
                <a:latin typeface="Microsoft YaHei" panose="020B0503020204020204" pitchFamily="34" charset="-122"/>
              </a:rPr>
              <a:t>。今天这份 </a:t>
            </a:r>
            <a:r>
              <a:rPr lang="en-US" altLang="zh-CN" sz="1150">
                <a:latin typeface="Microsoft YaHei" panose="020B0503020204020204" pitchFamily="34" charset="-122"/>
              </a:rPr>
              <a:t>Demo </a:t>
            </a:r>
            <a:r>
              <a:rPr lang="zh-CN" altLang="en-US" sz="1150">
                <a:latin typeface="Microsoft YaHei" panose="020B0503020204020204" pitchFamily="34" charset="-122"/>
              </a:rPr>
              <a:t>要说明一件“反直觉”的事：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一个矩阵是否幂零</a:t>
            </a:r>
            <a:r>
              <a:rPr lang="en-US" altLang="zh-CN" sz="1150">
                <a:latin typeface="Microsoft YaHei" panose="020B0503020204020204" pitchFamily="34" charset="-122"/>
              </a:rPr>
              <a:t>——</a:t>
            </a:r>
            <a:r>
              <a:rPr lang="zh-CN" altLang="en-US" sz="1150">
                <a:latin typeface="Microsoft YaHei" panose="020B0503020204020204" pitchFamily="34" charset="-122"/>
              </a:rPr>
              <a:t>也就是它的某次幂是否直接变成零矩阵</a:t>
            </a:r>
            <a:r>
              <a:rPr lang="en-US" altLang="zh-CN" sz="1150">
                <a:latin typeface="Microsoft YaHei" panose="020B0503020204020204" pitchFamily="34" charset="-122"/>
              </a:rPr>
              <a:t>——</a:t>
            </a:r>
            <a:r>
              <a:rPr lang="zh-CN" altLang="en-US" sz="1150">
                <a:latin typeface="Microsoft YaHei" panose="020B0503020204020204" pitchFamily="34" charset="-122"/>
              </a:rPr>
              <a:t>这种涉及无穷多次幂的性质，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居然可以由 </a:t>
            </a:r>
            <a:r>
              <a:rPr lang="en-US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个标量等式 </a:t>
            </a:r>
            <a:r>
              <a:rPr lang="en-US" altLang="zh-CN" sz="1150">
                <a:latin typeface="Microsoft YaHei" panose="020B0503020204020204" pitchFamily="34" charset="-122"/>
              </a:rPr>
              <a:t>tr(A^k)=0</a:t>
            </a:r>
            <a:r>
              <a:rPr lang="zh-CN" altLang="en-US" sz="1150">
                <a:latin typeface="Microsoft YaHei" panose="020B0503020204020204" pitchFamily="34" charset="-122"/>
              </a:rPr>
              <a:t>（</a:t>
            </a:r>
            <a:r>
              <a:rPr lang="en-US" altLang="zh-CN" sz="1150">
                <a:latin typeface="Microsoft YaHei" panose="020B0503020204020204" pitchFamily="34" charset="-122"/>
              </a:rPr>
              <a:t>k=1..n</a:t>
            </a:r>
            <a:r>
              <a:rPr lang="zh-CN" altLang="en-US" sz="1150">
                <a:latin typeface="Microsoft YaHei" panose="020B0503020204020204" pitchFamily="34" charset="-122"/>
              </a:rPr>
              <a:t>）完全判定。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整份证明分两半：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必要性（⇒）用 </a:t>
            </a:r>
            <a:r>
              <a:rPr lang="en-US" altLang="zh-CN" sz="1150">
                <a:latin typeface="Microsoft YaHei" panose="020B0503020204020204" pitchFamily="34" charset="-122"/>
              </a:rPr>
              <a:t>Schur </a:t>
            </a:r>
            <a:r>
              <a:rPr lang="zh-CN" altLang="en-US" sz="1150">
                <a:latin typeface="Microsoft YaHei" panose="020B0503020204020204" pitchFamily="34" charset="-122"/>
              </a:rPr>
              <a:t>三角化，把“幂零”翻译成“谱为 </a:t>
            </a:r>
            <a:r>
              <a:rPr lang="en-US" altLang="zh-CN" sz="1150">
                <a:latin typeface="Microsoft YaHei" panose="020B0503020204020204" pitchFamily="34" charset="-122"/>
              </a:rPr>
              <a:t>{0}”</a:t>
            </a:r>
            <a:r>
              <a:rPr lang="zh-CN" altLang="en-US" sz="1150">
                <a:latin typeface="Microsoft YaHei" panose="020B0503020204020204" pitchFamily="34" charset="-122"/>
              </a:rPr>
              <a:t>，再把迹翻译成特征值的幂和；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充分性（⇐）用 </a:t>
            </a:r>
            <a:r>
              <a:rPr lang="en-US" altLang="zh-CN" sz="1150">
                <a:latin typeface="Microsoft YaHei" panose="020B0503020204020204" pitchFamily="34" charset="-122"/>
              </a:rPr>
              <a:t>Newton </a:t>
            </a:r>
            <a:r>
              <a:rPr lang="zh-CN" altLang="en-US" sz="1150">
                <a:latin typeface="Microsoft YaHei" panose="020B0503020204020204" pitchFamily="34" charset="-122"/>
              </a:rPr>
              <a:t>恒等式，把“幂和全为零”翻译成“初等对称多项式全为零”，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于是特征多项式坍缩成 </a:t>
            </a:r>
            <a:r>
              <a:rPr lang="en-US" altLang="zh-CN" sz="1150">
                <a:latin typeface="Microsoft YaHei" panose="020B0503020204020204" pitchFamily="34" charset="-122"/>
              </a:rPr>
              <a:t>t^n</a:t>
            </a:r>
            <a:r>
              <a:rPr lang="zh-CN" altLang="en-US" sz="1150">
                <a:latin typeface="Microsoft YaHei" panose="020B0503020204020204" pitchFamily="34" charset="-122"/>
              </a:rPr>
              <a:t>；最后用 </a:t>
            </a:r>
            <a:r>
              <a:rPr lang="en-US" altLang="zh-CN" sz="1150">
                <a:latin typeface="Microsoft YaHei" panose="020B0503020204020204" pitchFamily="34" charset="-122"/>
              </a:rPr>
              <a:t>Cayley–Hamilton </a:t>
            </a:r>
            <a:r>
              <a:rPr lang="zh-CN" altLang="en-US" sz="1150">
                <a:latin typeface="Microsoft YaHei" panose="020B0503020204020204" pitchFamily="34" charset="-122"/>
              </a:rPr>
              <a:t>定理把多项式恒等式兑现成 </a:t>
            </a:r>
            <a:r>
              <a:rPr lang="en-US" altLang="zh-CN" sz="1150">
                <a:latin typeface="Microsoft YaHei" panose="020B0503020204020204" pitchFamily="34" charset="-122"/>
              </a:rPr>
              <a:t>A^n=O</a:t>
            </a:r>
            <a:r>
              <a:rPr lang="zh-CN" altLang="en-US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整份课件的逻辑链是：</a:t>
            </a:r>
            <a:r>
              <a:rPr lang="en-US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幂零 ⇔ 谱为 </a:t>
            </a:r>
            <a:r>
              <a:rPr lang="en-US" altLang="zh-CN" sz="1150">
                <a:latin typeface="Microsoft YaHei" panose="020B0503020204020204" pitchFamily="34" charset="-122"/>
              </a:rPr>
              <a:t>{0} ⇔ χ(t)=t^n ⇔ A^n=O ⇔ tr(A^k)=0 (1≤k≤n)</a:t>
            </a:r>
            <a:r>
              <a:rPr lang="zh-CN" altLang="en-US" sz="1150"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97A43-54F6-459E-96B2-389337A698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006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50">
                <a:latin typeface="Microsoft YaHei" panose="020B0503020204020204" pitchFamily="34" charset="-122"/>
              </a:rPr>
              <a:t>先读题：条件只有 </a:t>
            </a:r>
            <a:r>
              <a:rPr lang="en-US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个标量等式 </a:t>
            </a:r>
            <a:r>
              <a:rPr lang="en-US" altLang="zh-CN" sz="1150">
                <a:latin typeface="Microsoft YaHei" panose="020B0503020204020204" pitchFamily="34" charset="-122"/>
              </a:rPr>
              <a:t>tr(A^k)=0</a:t>
            </a:r>
            <a:r>
              <a:rPr lang="zh-CN" altLang="en-US" sz="1150">
                <a:latin typeface="Microsoft YaHei" panose="020B0503020204020204" pitchFamily="34" charset="-122"/>
              </a:rPr>
              <a:t>（</a:t>
            </a:r>
            <a:r>
              <a:rPr lang="en-US" altLang="zh-CN" sz="1150">
                <a:latin typeface="Microsoft YaHei" panose="020B0503020204020204" pitchFamily="34" charset="-122"/>
              </a:rPr>
              <a:t>k=1..n</a:t>
            </a:r>
            <a:r>
              <a:rPr lang="zh-CN" altLang="en-US" sz="1150">
                <a:latin typeface="Microsoft YaHei" panose="020B0503020204020204" pitchFamily="34" charset="-122"/>
              </a:rPr>
              <a:t>），结论却是“存在某个 </a:t>
            </a:r>
            <a:r>
              <a:rPr lang="en-US" altLang="zh-CN" sz="1150">
                <a:latin typeface="Microsoft YaHei" panose="020B0503020204020204" pitchFamily="34" charset="-122"/>
              </a:rPr>
              <a:t>m </a:t>
            </a:r>
            <a:r>
              <a:rPr lang="zh-CN" altLang="en-US" sz="1150">
                <a:latin typeface="Microsoft YaHei" panose="020B0503020204020204" pitchFamily="34" charset="-122"/>
              </a:rPr>
              <a:t>使 </a:t>
            </a:r>
            <a:r>
              <a:rPr lang="en-US" altLang="zh-CN" sz="1150">
                <a:latin typeface="Microsoft YaHei" panose="020B0503020204020204" pitchFamily="34" charset="-122"/>
              </a:rPr>
              <a:t>A^m=O”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这种涉及任意次幂的陈述。所以本题的实质是：矩阵的幂零性完全由它的谱决定，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而迹正是读取谱的窗口。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记号约定：</a:t>
            </a:r>
            <a:r>
              <a:rPr lang="en-US" altLang="zh-CN" sz="1150">
                <a:latin typeface="Microsoft YaHei" panose="020B0503020204020204" pitchFamily="34" charset="-122"/>
              </a:rPr>
              <a:t>λ1,…,λn </a:t>
            </a:r>
            <a:r>
              <a:rPr lang="zh-CN" altLang="en-US" sz="1150">
                <a:latin typeface="Microsoft YaHei" panose="020B0503020204020204" pitchFamily="34" charset="-122"/>
              </a:rPr>
              <a:t>是 </a:t>
            </a:r>
            <a:r>
              <a:rPr lang="en-US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的全部特征值，按代数重数计；</a:t>
            </a:r>
            <a:r>
              <a:rPr lang="en-US" altLang="zh-CN" sz="1150">
                <a:latin typeface="Microsoft YaHei" panose="020B0503020204020204" pitchFamily="34" charset="-122"/>
              </a:rPr>
              <a:t>p_k = tr(A^k) </a:t>
            </a:r>
            <a:r>
              <a:rPr lang="zh-CN" altLang="en-US" sz="1150">
                <a:latin typeface="Microsoft YaHei" panose="020B0503020204020204" pitchFamily="34" charset="-122"/>
              </a:rPr>
              <a:t>称为幂和；</a:t>
            </a:r>
          </a:p>
          <a:p>
            <a:r>
              <a:rPr lang="en-US" altLang="zh-CN" sz="1150">
                <a:latin typeface="Microsoft YaHei" panose="020B0503020204020204" pitchFamily="34" charset="-122"/>
              </a:rPr>
              <a:t>e_k </a:t>
            </a:r>
            <a:r>
              <a:rPr lang="zh-CN" altLang="en-US" sz="1150">
                <a:latin typeface="Microsoft YaHei" panose="020B0503020204020204" pitchFamily="34" charset="-122"/>
              </a:rPr>
              <a:t>是 </a:t>
            </a:r>
            <a:r>
              <a:rPr lang="en-US" altLang="zh-CN" sz="1150">
                <a:latin typeface="Microsoft YaHei" panose="020B0503020204020204" pitchFamily="34" charset="-122"/>
              </a:rPr>
              <a:t>λ1,…,λn </a:t>
            </a:r>
            <a:r>
              <a:rPr lang="zh-CN" altLang="en-US" sz="1150">
                <a:latin typeface="Microsoft YaHei" panose="020B0503020204020204" pitchFamily="34" charset="-122"/>
              </a:rPr>
              <a:t>的第 </a:t>
            </a:r>
            <a:r>
              <a:rPr lang="en-US" altLang="zh-CN" sz="1150">
                <a:latin typeface="Microsoft YaHei" panose="020B0503020204020204" pitchFamily="34" charset="-122"/>
              </a:rPr>
              <a:t>k </a:t>
            </a:r>
            <a:r>
              <a:rPr lang="zh-CN" altLang="en-US" sz="1150">
                <a:latin typeface="Microsoft YaHei" panose="020B0503020204020204" pitchFamily="34" charset="-122"/>
              </a:rPr>
              <a:t>个初等对称多项式；</a:t>
            </a:r>
            <a:r>
              <a:rPr lang="en-US" altLang="zh-CN" sz="1150">
                <a:latin typeface="Microsoft YaHei" panose="020B0503020204020204" pitchFamily="34" charset="-122"/>
              </a:rPr>
              <a:t>χ(t)=det(tI−A)=∏(t−λi) </a:t>
            </a:r>
            <a:r>
              <a:rPr lang="zh-CN" altLang="en-US" sz="1150">
                <a:latin typeface="Microsoft YaHei" panose="020B0503020204020204" pitchFamily="34" charset="-122"/>
              </a:rPr>
              <a:t>是特征多项式。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两个概念：</a:t>
            </a:r>
          </a:p>
          <a:p>
            <a:r>
              <a:rPr lang="en-US" altLang="zh-CN" sz="1150">
                <a:latin typeface="Microsoft YaHei" panose="020B0503020204020204" pitchFamily="34" charset="-122"/>
              </a:rPr>
              <a:t>1) </a:t>
            </a:r>
            <a:r>
              <a:rPr lang="zh-CN" altLang="en-US" sz="1150">
                <a:latin typeface="Microsoft YaHei" panose="020B0503020204020204" pitchFamily="34" charset="-122"/>
              </a:rPr>
              <a:t>幂零矩阵</a:t>
            </a:r>
            <a:r>
              <a:rPr lang="en-US" altLang="zh-CN" sz="1150">
                <a:latin typeface="Microsoft YaHei" panose="020B0503020204020204" pitchFamily="34" charset="-122"/>
              </a:rPr>
              <a:t>——</a:t>
            </a:r>
            <a:r>
              <a:rPr lang="zh-CN" altLang="en-US" sz="1150">
                <a:latin typeface="Microsoft YaHei" panose="020B0503020204020204" pitchFamily="34" charset="-122"/>
              </a:rPr>
              <a:t>存在 </a:t>
            </a:r>
            <a:r>
              <a:rPr lang="en-US" altLang="zh-CN" sz="1150">
                <a:latin typeface="Microsoft YaHei" panose="020B0503020204020204" pitchFamily="34" charset="-122"/>
              </a:rPr>
              <a:t>m≥1 </a:t>
            </a:r>
            <a:r>
              <a:rPr lang="zh-CN" altLang="en-US" sz="1150">
                <a:latin typeface="Microsoft YaHei" panose="020B0503020204020204" pitchFamily="34" charset="-122"/>
              </a:rPr>
              <a:t>使 </a:t>
            </a:r>
            <a:r>
              <a:rPr lang="en-US" altLang="zh-CN" sz="1150">
                <a:latin typeface="Microsoft YaHei" panose="020B0503020204020204" pitchFamily="34" charset="-122"/>
              </a:rPr>
              <a:t>A^m=O</a:t>
            </a:r>
            <a:r>
              <a:rPr lang="zh-CN" altLang="en-US" sz="1150">
                <a:latin typeface="Microsoft YaHei" panose="020B0503020204020204" pitchFamily="34" charset="-122"/>
              </a:rPr>
              <a:t>，最小的这样的 </a:t>
            </a:r>
            <a:r>
              <a:rPr lang="en-US" altLang="zh-CN" sz="1150">
                <a:latin typeface="Microsoft YaHei" panose="020B0503020204020204" pitchFamily="34" charset="-122"/>
              </a:rPr>
              <a:t>m </a:t>
            </a:r>
            <a:r>
              <a:rPr lang="zh-CN" altLang="en-US" sz="1150">
                <a:latin typeface="Microsoft YaHei" panose="020B0503020204020204" pitchFamily="34" charset="-122"/>
              </a:rPr>
              <a:t>叫幂零指数；</a:t>
            </a:r>
          </a:p>
          <a:p>
            <a:r>
              <a:rPr lang="en-US" altLang="zh-CN" sz="1150">
                <a:latin typeface="Microsoft YaHei" panose="020B0503020204020204" pitchFamily="34" charset="-122"/>
              </a:rPr>
              <a:t>2) </a:t>
            </a:r>
            <a:r>
              <a:rPr lang="zh-CN" altLang="en-US" sz="1150">
                <a:latin typeface="Microsoft YaHei" panose="020B0503020204020204" pitchFamily="34" charset="-122"/>
              </a:rPr>
              <a:t>迹</a:t>
            </a:r>
            <a:r>
              <a:rPr lang="en-US" altLang="zh-CN" sz="1150">
                <a:latin typeface="Microsoft YaHei" panose="020B0503020204020204" pitchFamily="34" charset="-122"/>
              </a:rPr>
              <a:t>——</a:t>
            </a:r>
            <a:r>
              <a:rPr lang="zh-CN" altLang="en-US" sz="1150">
                <a:latin typeface="Microsoft YaHei" panose="020B0503020204020204" pitchFamily="34" charset="-122"/>
              </a:rPr>
              <a:t>主对角线元素之和 </a:t>
            </a:r>
            <a:r>
              <a:rPr lang="en-US" altLang="zh-CN" sz="1150">
                <a:latin typeface="Microsoft YaHei" panose="020B0503020204020204" pitchFamily="34" charset="-122"/>
              </a:rPr>
              <a:t>tr(A)=Σa_ii</a:t>
            </a:r>
            <a:r>
              <a:rPr lang="zh-CN" altLang="en-US" sz="1150">
                <a:latin typeface="Microsoft YaHei" panose="020B0503020204020204" pitchFamily="34" charset="-122"/>
              </a:rPr>
              <a:t>，它等于特征值之和，且相似变换不改变它。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先建立直觉。</a:t>
            </a:r>
            <a:r>
              <a:rPr lang="en-US" altLang="zh-CN" sz="1150">
                <a:latin typeface="Microsoft YaHei" panose="020B0503020204020204" pitchFamily="34" charset="-122"/>
              </a:rPr>
              <a:t>A=[[0,1],[0,0]] </a:t>
            </a:r>
            <a:r>
              <a:rPr lang="zh-CN" altLang="en-US" sz="1150">
                <a:latin typeface="Microsoft YaHei" panose="020B0503020204020204" pitchFamily="34" charset="-122"/>
              </a:rPr>
              <a:t>满足 </a:t>
            </a:r>
            <a:r>
              <a:rPr lang="en-US" altLang="zh-CN" sz="1150">
                <a:latin typeface="Microsoft YaHei" panose="020B0503020204020204" pitchFamily="34" charset="-122"/>
              </a:rPr>
              <a:t>A^2=O</a:t>
            </a:r>
            <a:r>
              <a:rPr lang="zh-CN" altLang="en-US" sz="1150">
                <a:latin typeface="Microsoft YaHei" panose="020B0503020204020204" pitchFamily="34" charset="-122"/>
              </a:rPr>
              <a:t>，于是 </a:t>
            </a:r>
            <a:r>
              <a:rPr lang="en-US" altLang="zh-CN" sz="1150">
                <a:latin typeface="Microsoft YaHei" panose="020B0503020204020204" pitchFamily="34" charset="-122"/>
              </a:rPr>
              <a:t>tr(A)=tr(A^2)=0</a:t>
            </a:r>
            <a:r>
              <a:rPr lang="zh-CN" altLang="en-US" sz="1150">
                <a:latin typeface="Microsoft YaHei" panose="020B0503020204020204" pitchFamily="34" charset="-122"/>
              </a:rPr>
              <a:t>，它是幂零的。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而 </a:t>
            </a:r>
            <a:r>
              <a:rPr lang="en-US" altLang="zh-CN" sz="1150">
                <a:latin typeface="Microsoft YaHei" panose="020B0503020204020204" pitchFamily="34" charset="-122"/>
              </a:rPr>
              <a:t>A=diag(1,−1) </a:t>
            </a:r>
            <a:r>
              <a:rPr lang="zh-CN" altLang="en-US" sz="1150">
                <a:latin typeface="Microsoft YaHei" panose="020B0503020204020204" pitchFamily="34" charset="-122"/>
              </a:rPr>
              <a:t>有 </a:t>
            </a:r>
            <a:r>
              <a:rPr lang="en-US" altLang="zh-CN" sz="1150">
                <a:latin typeface="Microsoft YaHei" panose="020B0503020204020204" pitchFamily="34" charset="-122"/>
              </a:rPr>
              <a:t>tr(A)=1+(−1)=0</a:t>
            </a:r>
            <a:r>
              <a:rPr lang="zh-CN" altLang="en-US" sz="1150">
                <a:latin typeface="Microsoft YaHei" panose="020B0503020204020204" pitchFamily="34" charset="-122"/>
              </a:rPr>
              <a:t>，但 </a:t>
            </a:r>
            <a:r>
              <a:rPr lang="en-US" altLang="zh-CN" sz="1150">
                <a:latin typeface="Microsoft YaHei" panose="020B0503020204020204" pitchFamily="34" charset="-122"/>
              </a:rPr>
              <a:t>tr(A^2)=1+1=2≠0</a:t>
            </a:r>
            <a:r>
              <a:rPr lang="zh-CN" altLang="en-US" sz="1150">
                <a:latin typeface="Microsoft YaHei" panose="020B0503020204020204" pitchFamily="34" charset="-122"/>
              </a:rPr>
              <a:t>，且 </a:t>
            </a:r>
            <a:r>
              <a:rPr lang="en-US" altLang="zh-CN" sz="1150">
                <a:latin typeface="Microsoft YaHei" panose="020B0503020204020204" pitchFamily="34" charset="-122"/>
              </a:rPr>
              <a:t>A^2=I </a:t>
            </a:r>
            <a:r>
              <a:rPr lang="zh-CN" altLang="en-US" sz="1150">
                <a:latin typeface="Microsoft YaHei" panose="020B0503020204020204" pitchFamily="34" charset="-122"/>
              </a:rPr>
              <a:t>不是零矩阵。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可见只有一个 </a:t>
            </a:r>
            <a:r>
              <a:rPr lang="en-US" altLang="zh-CN" sz="1150">
                <a:latin typeface="Microsoft YaHei" panose="020B0503020204020204" pitchFamily="34" charset="-122"/>
              </a:rPr>
              <a:t>k=1 </a:t>
            </a:r>
            <a:r>
              <a:rPr lang="zh-CN" altLang="en-US" sz="1150">
                <a:latin typeface="Microsoft YaHei" panose="020B0503020204020204" pitchFamily="34" charset="-122"/>
              </a:rPr>
              <a:t>远远不够；题目要求 </a:t>
            </a:r>
            <a:r>
              <a:rPr lang="en-US" altLang="zh-CN" sz="1150">
                <a:latin typeface="Microsoft YaHei" panose="020B0503020204020204" pitchFamily="34" charset="-122"/>
              </a:rPr>
              <a:t>k=1..n </a:t>
            </a:r>
            <a:r>
              <a:rPr lang="zh-CN" altLang="en-US" sz="1150">
                <a:latin typeface="Microsoft YaHei" panose="020B0503020204020204" pitchFamily="34" charset="-122"/>
              </a:rPr>
              <a:t>全部为零，这正对应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“</a:t>
            </a:r>
            <a:r>
              <a:rPr lang="en-US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个未知特征值需要 </a:t>
            </a:r>
            <a:r>
              <a:rPr lang="en-US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个方程”的直觉。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97A43-54F6-459E-96B2-389337A698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87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50">
                <a:latin typeface="Microsoft YaHei" panose="020B0503020204020204" pitchFamily="34" charset="-122"/>
              </a:rPr>
              <a:t>证明必要性。设 </a:t>
            </a:r>
            <a:r>
              <a:rPr lang="en-GB" altLang="zh-CN" sz="1150">
                <a:latin typeface="Microsoft YaHei" panose="020B0503020204020204" pitchFamily="34" charset="-122"/>
              </a:rPr>
              <a:t>A^m=O</a:t>
            </a:r>
            <a:r>
              <a:rPr lang="zh-CN" altLang="en-GB" sz="1150">
                <a:latin typeface="Microsoft YaHei" panose="020B0503020204020204" pitchFamily="34" charset="-122"/>
              </a:rPr>
              <a:t>（</a:t>
            </a:r>
            <a:r>
              <a:rPr lang="en-GB" altLang="zh-CN" sz="1150">
                <a:latin typeface="Microsoft YaHei" panose="020B0503020204020204" pitchFamily="34" charset="-122"/>
              </a:rPr>
              <a:t>m≥1</a:t>
            </a:r>
            <a:r>
              <a:rPr lang="zh-CN" altLang="en-GB" sz="1150">
                <a:latin typeface="Microsoft YaHei" panose="020B0503020204020204" pitchFamily="34" charset="-122"/>
              </a:rPr>
              <a:t>）。</a:t>
            </a:r>
            <a:r>
              <a:rPr lang="zh-CN" altLang="en-US" sz="1150">
                <a:latin typeface="Microsoft YaHei" panose="020B0503020204020204" pitchFamily="34" charset="-122"/>
              </a:rPr>
              <a:t>取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的任一特征值 </a:t>
            </a:r>
            <a:r>
              <a:rPr lang="el-GR" altLang="zh-CN" sz="1150">
                <a:latin typeface="Microsoft YaHei" panose="020B0503020204020204" pitchFamily="34" charset="-122"/>
              </a:rPr>
              <a:t>λ </a:t>
            </a:r>
            <a:r>
              <a:rPr lang="zh-CN" altLang="en-US" sz="1150">
                <a:latin typeface="Microsoft YaHei" panose="020B0503020204020204" pitchFamily="34" charset="-122"/>
              </a:rPr>
              <a:t>与对应的特征向量 </a:t>
            </a:r>
            <a:r>
              <a:rPr lang="en-GB" altLang="zh-CN" sz="1150">
                <a:latin typeface="Microsoft YaHei" panose="020B0503020204020204" pitchFamily="34" charset="-122"/>
              </a:rPr>
              <a:t>v≠0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则</a:t>
            </a:r>
          </a:p>
          <a:p>
            <a:r>
              <a:rPr lang="en-US" altLang="zh-CN" sz="1150">
                <a:latin typeface="Microsoft YaHei" panose="020B0503020204020204" pitchFamily="34" charset="-122"/>
              </a:rPr>
              <a:t>0 = </a:t>
            </a:r>
            <a:r>
              <a:rPr lang="en-GB" altLang="zh-CN" sz="1150">
                <a:latin typeface="Microsoft YaHei" panose="020B0503020204020204" pitchFamily="34" charset="-122"/>
              </a:rPr>
              <a:t>A^m v = </a:t>
            </a:r>
            <a:r>
              <a:rPr lang="el-GR" altLang="zh-CN" sz="1150">
                <a:latin typeface="Microsoft YaHei" panose="020B0503020204020204" pitchFamily="34" charset="-122"/>
              </a:rPr>
              <a:t>λ^</a:t>
            </a:r>
            <a:r>
              <a:rPr lang="en-GB" altLang="zh-CN" sz="1150">
                <a:latin typeface="Microsoft YaHei" panose="020B0503020204020204" pitchFamily="34" charset="-122"/>
              </a:rPr>
              <a:t>m v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而 </a:t>
            </a:r>
            <a:r>
              <a:rPr lang="en-GB" altLang="zh-CN" sz="1150">
                <a:latin typeface="Microsoft YaHei" panose="020B0503020204020204" pitchFamily="34" charset="-122"/>
              </a:rPr>
              <a:t>v≠0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故 </a:t>
            </a:r>
            <a:r>
              <a:rPr lang="el-GR" altLang="zh-CN" sz="1150">
                <a:latin typeface="Microsoft YaHei" panose="020B0503020204020204" pitchFamily="34" charset="-122"/>
              </a:rPr>
              <a:t>λ^</a:t>
            </a:r>
            <a:r>
              <a:rPr lang="en-GB" altLang="zh-CN" sz="1150">
                <a:latin typeface="Microsoft YaHei" panose="020B0503020204020204" pitchFamily="34" charset="-122"/>
              </a:rPr>
              <a:t>m=0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从而 </a:t>
            </a:r>
            <a:r>
              <a:rPr lang="el-GR" altLang="zh-CN" sz="1150">
                <a:latin typeface="Microsoft YaHei" panose="020B0503020204020204" pitchFamily="34" charset="-122"/>
              </a:rPr>
              <a:t>λ=0</a:t>
            </a:r>
            <a:r>
              <a:rPr lang="zh-CN" altLang="el-GR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于是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的 </a:t>
            </a:r>
            <a:r>
              <a:rPr lang="en-GB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个特征值（按代数重数）全为 </a:t>
            </a:r>
            <a:r>
              <a:rPr lang="en-US" altLang="zh-CN" sz="1150">
                <a:latin typeface="Microsoft YaHei" panose="020B0503020204020204" pitchFamily="34" charset="-122"/>
              </a:rPr>
              <a:t>0</a:t>
            </a:r>
            <a:r>
              <a:rPr lang="zh-CN" altLang="en-US" sz="1150">
                <a:latin typeface="Microsoft YaHei" panose="020B0503020204020204" pitchFamily="34" charset="-122"/>
              </a:rPr>
              <a:t>：</a:t>
            </a:r>
            <a:r>
              <a:rPr lang="el-GR" altLang="zh-CN" sz="1150">
                <a:latin typeface="Microsoft YaHei" panose="020B0503020204020204" pitchFamily="34" charset="-122"/>
              </a:rPr>
              <a:t>λ1=…=λ</a:t>
            </a:r>
            <a:r>
              <a:rPr lang="en-GB" altLang="zh-CN" sz="1150">
                <a:latin typeface="Microsoft YaHei" panose="020B0503020204020204" pitchFamily="34" charset="-122"/>
              </a:rPr>
              <a:t>n=0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第二步把“特征值”与“迹”连起来。对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作 </a:t>
            </a:r>
            <a:r>
              <a:rPr lang="en-GB" altLang="zh-CN" sz="1150">
                <a:latin typeface="Microsoft YaHei" panose="020B0503020204020204" pitchFamily="34" charset="-122"/>
              </a:rPr>
              <a:t>Schur </a:t>
            </a:r>
            <a:r>
              <a:rPr lang="zh-CN" altLang="en-US" sz="1150">
                <a:latin typeface="Microsoft YaHei" panose="020B0503020204020204" pitchFamily="34" charset="-122"/>
              </a:rPr>
              <a:t>三角化：存在酉矩阵 </a:t>
            </a:r>
            <a:r>
              <a:rPr lang="en-GB" altLang="zh-CN" sz="1150">
                <a:latin typeface="Microsoft YaHei" panose="020B0503020204020204" pitchFamily="34" charset="-122"/>
              </a:rPr>
              <a:t>U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使 </a:t>
            </a:r>
            <a:r>
              <a:rPr lang="en-GB" altLang="zh-CN" sz="1150">
                <a:latin typeface="Microsoft YaHei" panose="020B0503020204020204" pitchFamily="34" charset="-122"/>
              </a:rPr>
              <a:t>A=UTU*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其中 </a:t>
            </a:r>
            <a:r>
              <a:rPr lang="en-GB" altLang="zh-CN" sz="1150">
                <a:latin typeface="Microsoft YaHei" panose="020B0503020204020204" pitchFamily="34" charset="-122"/>
              </a:rPr>
              <a:t>T </a:t>
            </a:r>
            <a:r>
              <a:rPr lang="zh-CN" altLang="en-US" sz="1150">
                <a:latin typeface="Microsoft YaHei" panose="020B0503020204020204" pitchFamily="34" charset="-122"/>
              </a:rPr>
              <a:t>上三角，对角线恰为 </a:t>
            </a:r>
            <a:r>
              <a:rPr lang="el-GR" altLang="zh-CN" sz="1150">
                <a:latin typeface="Microsoft YaHei" panose="020B0503020204020204" pitchFamily="34" charset="-122"/>
              </a:rPr>
              <a:t>λ1,…,λ</a:t>
            </a:r>
            <a:r>
              <a:rPr lang="en-GB" altLang="zh-CN" sz="1150">
                <a:latin typeface="Microsoft YaHei" panose="020B0503020204020204" pitchFamily="34" charset="-122"/>
              </a:rPr>
              <a:t>n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r>
              <a:rPr lang="zh-CN" altLang="en-US" sz="1150">
                <a:latin typeface="Microsoft YaHei" panose="020B0503020204020204" pitchFamily="34" charset="-122"/>
              </a:rPr>
              <a:t>于是 </a:t>
            </a:r>
            <a:r>
              <a:rPr lang="en-GB" altLang="zh-CN" sz="1150">
                <a:latin typeface="Microsoft YaHei" panose="020B0503020204020204" pitchFamily="34" charset="-122"/>
              </a:rPr>
              <a:t>A^k=U T^k U*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而 </a:t>
            </a:r>
            <a:r>
              <a:rPr lang="en-GB" altLang="zh-CN" sz="1150">
                <a:latin typeface="Microsoft YaHei" panose="020B0503020204020204" pitchFamily="34" charset="-122"/>
              </a:rPr>
              <a:t>T^k </a:t>
            </a:r>
            <a:r>
              <a:rPr lang="zh-CN" altLang="en-US" sz="1150">
                <a:latin typeface="Microsoft YaHei" panose="020B0503020204020204" pitchFamily="34" charset="-122"/>
              </a:rPr>
              <a:t>仍是上三角矩阵，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对角元为 </a:t>
            </a:r>
            <a:r>
              <a:rPr lang="el-GR" altLang="zh-CN" sz="1150">
                <a:latin typeface="Microsoft YaHei" panose="020B0503020204020204" pitchFamily="34" charset="-122"/>
              </a:rPr>
              <a:t>λ1^</a:t>
            </a:r>
            <a:r>
              <a:rPr lang="en-GB" altLang="zh-CN" sz="1150">
                <a:latin typeface="Microsoft YaHei" panose="020B0503020204020204" pitchFamily="34" charset="-122"/>
              </a:rPr>
              <a:t>k,…,</a:t>
            </a:r>
            <a:r>
              <a:rPr lang="el-GR" altLang="zh-CN" sz="1150">
                <a:latin typeface="Microsoft YaHei" panose="020B0503020204020204" pitchFamily="34" charset="-122"/>
              </a:rPr>
              <a:t>λ</a:t>
            </a:r>
            <a:r>
              <a:rPr lang="en-GB" altLang="zh-CN" sz="1150">
                <a:latin typeface="Microsoft YaHei" panose="020B0503020204020204" pitchFamily="34" charset="-122"/>
              </a:rPr>
              <a:t>n^k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r>
              <a:rPr lang="zh-CN" altLang="en-US" sz="1150">
                <a:latin typeface="Microsoft YaHei" panose="020B0503020204020204" pitchFamily="34" charset="-122"/>
              </a:rPr>
              <a:t>迹在相似变换下不变，所以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tr(A^k)=tr(T^k)=</a:t>
            </a:r>
            <a:r>
              <a:rPr lang="el-GR" altLang="zh-CN" sz="1150">
                <a:latin typeface="Microsoft YaHei" panose="020B0503020204020204" pitchFamily="34" charset="-122"/>
              </a:rPr>
              <a:t>λ1^</a:t>
            </a:r>
            <a:r>
              <a:rPr lang="en-GB" altLang="zh-CN" sz="1150">
                <a:latin typeface="Microsoft YaHei" panose="020B0503020204020204" pitchFamily="34" charset="-122"/>
              </a:rPr>
              <a:t>k+…+</a:t>
            </a:r>
            <a:r>
              <a:rPr lang="el-GR" altLang="zh-CN" sz="1150">
                <a:latin typeface="Microsoft YaHei" panose="020B0503020204020204" pitchFamily="34" charset="-122"/>
              </a:rPr>
              <a:t>λ</a:t>
            </a:r>
            <a:r>
              <a:rPr lang="en-GB" altLang="zh-CN" sz="1150">
                <a:latin typeface="Microsoft YaHei" panose="020B0503020204020204" pitchFamily="34" charset="-122"/>
              </a:rPr>
              <a:t>n^k=0+…+0=0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注意：这里 </a:t>
            </a:r>
            <a:r>
              <a:rPr lang="en-GB" altLang="zh-CN" sz="1150">
                <a:latin typeface="Microsoft YaHei" panose="020B0503020204020204" pitchFamily="34" charset="-122"/>
              </a:rPr>
              <a:t>k </a:t>
            </a:r>
            <a:r>
              <a:rPr lang="zh-CN" altLang="en-US" sz="1150">
                <a:latin typeface="Microsoft YaHei" panose="020B0503020204020204" pitchFamily="34" charset="-122"/>
              </a:rPr>
              <a:t>是任意的，所以必要性对一切 </a:t>
            </a:r>
            <a:r>
              <a:rPr lang="en-GB" altLang="zh-CN" sz="1150">
                <a:latin typeface="Microsoft YaHei" panose="020B0503020204020204" pitchFamily="34" charset="-122"/>
              </a:rPr>
              <a:t>k≥1 </a:t>
            </a:r>
            <a:r>
              <a:rPr lang="zh-CN" altLang="en-US" sz="1150">
                <a:latin typeface="Microsoft YaHei" panose="020B0503020204020204" pitchFamily="34" charset="-122"/>
              </a:rPr>
              <a:t>都成立，并不需要 </a:t>
            </a:r>
            <a:r>
              <a:rPr lang="en-GB" altLang="zh-CN" sz="1150">
                <a:latin typeface="Microsoft YaHei" panose="020B0503020204020204" pitchFamily="34" charset="-122"/>
              </a:rPr>
              <a:t>k≤n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另外，由 </a:t>
            </a:r>
            <a:r>
              <a:rPr lang="en-GB" altLang="zh-CN" sz="1150">
                <a:latin typeface="Microsoft YaHei" panose="020B0503020204020204" pitchFamily="34" charset="-122"/>
              </a:rPr>
              <a:t>Cayley–Hamilton </a:t>
            </a:r>
            <a:r>
              <a:rPr lang="zh-CN" altLang="en-US" sz="1150">
                <a:latin typeface="Microsoft YaHei" panose="020B0503020204020204" pitchFamily="34" charset="-122"/>
              </a:rPr>
              <a:t>还可以知道幂零指数 ≤ </a:t>
            </a:r>
            <a:r>
              <a:rPr lang="en-GB" altLang="zh-CN" sz="1150">
                <a:latin typeface="Microsoft YaHei" panose="020B0503020204020204" pitchFamily="34" charset="-122"/>
              </a:rPr>
              <a:t>n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但这不影响本题结论。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一个具体例子：</a:t>
            </a:r>
            <a:r>
              <a:rPr lang="en-GB" altLang="zh-CN" sz="1150">
                <a:latin typeface="Microsoft YaHei" panose="020B0503020204020204" pitchFamily="34" charset="-122"/>
              </a:rPr>
              <a:t>A=[[0,1],[0,0]]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en-GB" altLang="zh-CN" sz="1150">
                <a:latin typeface="Microsoft YaHei" panose="020B0503020204020204" pitchFamily="34" charset="-122"/>
              </a:rPr>
              <a:t>A^2=O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的特征值是两个 </a:t>
            </a:r>
            <a:r>
              <a:rPr lang="en-US" altLang="zh-CN" sz="1150">
                <a:latin typeface="Microsoft YaHei" panose="020B0503020204020204" pitchFamily="34" charset="-122"/>
              </a:rPr>
              <a:t>0</a:t>
            </a:r>
            <a:r>
              <a:rPr lang="zh-CN" altLang="en-US" sz="1150">
                <a:latin typeface="Microsoft YaHei" panose="020B0503020204020204" pitchFamily="34" charset="-122"/>
              </a:rPr>
              <a:t>，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tr(A)=0</a:t>
            </a:r>
            <a:r>
              <a:rPr lang="zh-CN" altLang="en-GB" sz="1150">
                <a:latin typeface="Microsoft YaHei" panose="020B0503020204020204" pitchFamily="34" charset="-122"/>
              </a:rPr>
              <a:t>、</a:t>
            </a:r>
            <a:r>
              <a:rPr lang="en-GB" altLang="zh-CN" sz="1150">
                <a:latin typeface="Microsoft YaHei" panose="020B0503020204020204" pitchFamily="34" charset="-122"/>
              </a:rPr>
              <a:t>tr(A^2)=0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与结论一致。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注意：反过来，单独一个 </a:t>
            </a:r>
            <a:r>
              <a:rPr lang="en-GB" altLang="zh-CN" sz="1150">
                <a:latin typeface="Microsoft YaHei" panose="020B0503020204020204" pitchFamily="34" charset="-122"/>
              </a:rPr>
              <a:t>tr(A)=0 </a:t>
            </a:r>
            <a:r>
              <a:rPr lang="zh-CN" altLang="en-US" sz="1150">
                <a:latin typeface="Microsoft YaHei" panose="020B0503020204020204" pitchFamily="34" charset="-122"/>
              </a:rPr>
              <a:t>并不能推出幂零，例如 </a:t>
            </a:r>
            <a:r>
              <a:rPr lang="en-GB" altLang="zh-CN" sz="1150">
                <a:latin typeface="Microsoft YaHei" panose="020B0503020204020204" pitchFamily="34" charset="-122"/>
              </a:rPr>
              <a:t>A=diag(1,−1) </a:t>
            </a:r>
            <a:r>
              <a:rPr lang="zh-CN" altLang="en-US" sz="1150">
                <a:latin typeface="Microsoft YaHei" panose="020B0503020204020204" pitchFamily="34" charset="-122"/>
              </a:rPr>
              <a:t>满足 </a:t>
            </a:r>
            <a:r>
              <a:rPr lang="en-GB" altLang="zh-CN" sz="1150">
                <a:latin typeface="Microsoft YaHei" panose="020B0503020204020204" pitchFamily="34" charset="-122"/>
              </a:rPr>
              <a:t>tr(A)=0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但 </a:t>
            </a:r>
            <a:r>
              <a:rPr lang="en-GB" altLang="zh-CN" sz="1150">
                <a:latin typeface="Microsoft YaHei" panose="020B0503020204020204" pitchFamily="34" charset="-122"/>
              </a:rPr>
              <a:t>A^2=I</a:t>
            </a:r>
            <a:r>
              <a:rPr lang="zh-CN" altLang="en-GB" sz="1150">
                <a:latin typeface="Microsoft YaHei" panose="020B0503020204020204" pitchFamily="34" charset="-122"/>
              </a:rPr>
              <a:t>、</a:t>
            </a:r>
            <a:r>
              <a:rPr lang="en-GB" altLang="zh-CN" sz="1150">
                <a:latin typeface="Microsoft YaHei" panose="020B0503020204020204" pitchFamily="34" charset="-122"/>
              </a:rPr>
              <a:t>tr(A^2)=2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r>
              <a:rPr lang="zh-CN" altLang="en-US" sz="1150">
                <a:latin typeface="Microsoft YaHei" panose="020B0503020204020204" pitchFamily="34" charset="-122"/>
              </a:rPr>
              <a:t>必须 </a:t>
            </a:r>
            <a:r>
              <a:rPr lang="en-GB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个迹 </a:t>
            </a:r>
            <a:r>
              <a:rPr lang="en-GB" altLang="zh-CN" sz="1150">
                <a:latin typeface="Microsoft YaHei" panose="020B0503020204020204" pitchFamily="34" charset="-122"/>
              </a:rPr>
              <a:t>tr(A),…,tr(A^n) </a:t>
            </a:r>
            <a:r>
              <a:rPr lang="zh-CN" altLang="en-US" sz="1150">
                <a:latin typeface="Microsoft YaHei" panose="020B0503020204020204" pitchFamily="34" charset="-122"/>
              </a:rPr>
              <a:t>全部为零，才有幂零性</a:t>
            </a:r>
            <a:r>
              <a:rPr lang="en-US" altLang="zh-CN" sz="1150">
                <a:latin typeface="Microsoft YaHei" panose="020B0503020204020204" pitchFamily="34" charset="-122"/>
              </a:rPr>
              <a:t>——</a:t>
            </a:r>
            <a:r>
              <a:rPr lang="zh-CN" altLang="en-US" sz="1150">
                <a:latin typeface="Microsoft YaHei" panose="020B0503020204020204" pitchFamily="34" charset="-122"/>
              </a:rPr>
              <a:t>这正是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下一节充分性要证明的内容。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97A43-54F6-459E-96B2-389337A698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294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50">
                <a:latin typeface="Microsoft YaHei" panose="020B0503020204020204" pitchFamily="34" charset="-122"/>
              </a:rPr>
              <a:t>充分性。设 </a:t>
            </a:r>
            <a:r>
              <a:rPr lang="en-GB" altLang="zh-CN" sz="1150">
                <a:latin typeface="Microsoft YaHei" panose="020B0503020204020204" pitchFamily="34" charset="-122"/>
              </a:rPr>
              <a:t>p_k=tr(A^k)=0</a:t>
            </a:r>
            <a:r>
              <a:rPr lang="zh-CN" altLang="en-GB" sz="1150">
                <a:latin typeface="Microsoft YaHei" panose="020B0503020204020204" pitchFamily="34" charset="-122"/>
              </a:rPr>
              <a:t>（</a:t>
            </a:r>
            <a:r>
              <a:rPr lang="en-GB" altLang="zh-CN" sz="1150">
                <a:latin typeface="Microsoft YaHei" panose="020B0503020204020204" pitchFamily="34" charset="-122"/>
              </a:rPr>
              <a:t>k=1..n</a:t>
            </a:r>
            <a:r>
              <a:rPr lang="zh-CN" altLang="en-GB" sz="1150">
                <a:latin typeface="Microsoft YaHei" panose="020B0503020204020204" pitchFamily="34" charset="-122"/>
              </a:rPr>
              <a:t>），</a:t>
            </a:r>
            <a:r>
              <a:rPr lang="zh-CN" altLang="en-US" sz="1150">
                <a:latin typeface="Microsoft YaHei" panose="020B0503020204020204" pitchFamily="34" charset="-122"/>
              </a:rPr>
              <a:t>要证 </a:t>
            </a:r>
            <a:r>
              <a:rPr lang="en-GB" altLang="zh-CN" sz="1150">
                <a:latin typeface="Microsoft YaHei" panose="020B0503020204020204" pitchFamily="34" charset="-122"/>
              </a:rPr>
              <a:t>e1=…=en=0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先看 </a:t>
            </a:r>
            <a:r>
              <a:rPr lang="en-GB" altLang="zh-CN" sz="1150">
                <a:latin typeface="Microsoft YaHei" panose="020B0503020204020204" pitchFamily="34" charset="-122"/>
              </a:rPr>
              <a:t>Newton </a:t>
            </a:r>
            <a:r>
              <a:rPr lang="zh-CN" altLang="en-US" sz="1150">
                <a:latin typeface="Microsoft YaHei" panose="020B0503020204020204" pitchFamily="34" charset="-122"/>
              </a:rPr>
              <a:t>恒等式是怎么来的。令 </a:t>
            </a:r>
            <a:r>
              <a:rPr lang="en-GB" altLang="zh-CN" sz="1150">
                <a:latin typeface="Microsoft YaHei" panose="020B0503020204020204" pitchFamily="34" charset="-122"/>
              </a:rPr>
              <a:t>f(t)=∏(1−</a:t>
            </a:r>
            <a:r>
              <a:rPr lang="el-GR" altLang="zh-CN" sz="1150">
                <a:latin typeface="Microsoft YaHei" panose="020B0503020204020204" pitchFamily="34" charset="-122"/>
              </a:rPr>
              <a:t>λ</a:t>
            </a:r>
            <a:r>
              <a:rPr lang="en-GB" altLang="zh-CN" sz="1150">
                <a:latin typeface="Microsoft YaHei" panose="020B0503020204020204" pitchFamily="34" charset="-122"/>
              </a:rPr>
              <a:t>i t)=</a:t>
            </a:r>
            <a:r>
              <a:rPr lang="el-GR" altLang="zh-CN" sz="1150">
                <a:latin typeface="Microsoft YaHei" panose="020B0503020204020204" pitchFamily="34" charset="-122"/>
              </a:rPr>
              <a:t>Σ(−1)^</a:t>
            </a:r>
            <a:r>
              <a:rPr lang="en-GB" altLang="zh-CN" sz="1150">
                <a:latin typeface="Microsoft YaHei" panose="020B0503020204020204" pitchFamily="34" charset="-122"/>
              </a:rPr>
              <a:t>k e_k t^k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en-GB" altLang="zh-CN" sz="1150">
                <a:latin typeface="Microsoft YaHei" panose="020B0503020204020204" pitchFamily="34" charset="-122"/>
              </a:rPr>
              <a:t>f(0)=1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r>
              <a:rPr lang="zh-CN" altLang="en-US" sz="1150">
                <a:latin typeface="Microsoft YaHei" panose="020B0503020204020204" pitchFamily="34" charset="-122"/>
              </a:rPr>
              <a:t>在 </a:t>
            </a:r>
            <a:r>
              <a:rPr lang="en-GB" altLang="zh-CN" sz="1150">
                <a:latin typeface="Microsoft YaHei" panose="020B0503020204020204" pitchFamily="34" charset="-122"/>
              </a:rPr>
              <a:t>t=0 </a:t>
            </a:r>
            <a:r>
              <a:rPr lang="zh-CN" altLang="en-US" sz="1150">
                <a:latin typeface="Microsoft YaHei" panose="020B0503020204020204" pitchFamily="34" charset="-122"/>
              </a:rPr>
              <a:t>附近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f'(t)/f(t) = </a:t>
            </a:r>
            <a:r>
              <a:rPr lang="el-GR" altLang="zh-CN" sz="1150">
                <a:latin typeface="Microsoft YaHei" panose="020B0503020204020204" pitchFamily="34" charset="-122"/>
              </a:rPr>
              <a:t>Σ (−λ</a:t>
            </a:r>
            <a:r>
              <a:rPr lang="en-GB" altLang="zh-CN" sz="1150">
                <a:latin typeface="Microsoft YaHei" panose="020B0503020204020204" pitchFamily="34" charset="-122"/>
              </a:rPr>
              <a:t>i)/(1−</a:t>
            </a:r>
            <a:r>
              <a:rPr lang="el-GR" altLang="zh-CN" sz="1150">
                <a:latin typeface="Microsoft YaHei" panose="020B0503020204020204" pitchFamily="34" charset="-122"/>
              </a:rPr>
              <a:t>λ</a:t>
            </a:r>
            <a:r>
              <a:rPr lang="en-GB" altLang="zh-CN" sz="1150">
                <a:latin typeface="Microsoft YaHei" panose="020B0503020204020204" pitchFamily="34" charset="-122"/>
              </a:rPr>
              <a:t>i t) = −</a:t>
            </a:r>
            <a:r>
              <a:rPr lang="el-GR" altLang="zh-CN" sz="1150">
                <a:latin typeface="Microsoft YaHei" panose="020B0503020204020204" pitchFamily="34" charset="-122"/>
              </a:rPr>
              <a:t>Σ_{</a:t>
            </a:r>
            <a:r>
              <a:rPr lang="en-GB" altLang="zh-CN" sz="1150">
                <a:latin typeface="Microsoft YaHei" panose="020B0503020204020204" pitchFamily="34" charset="-122"/>
              </a:rPr>
              <a:t>m≥0} (</a:t>
            </a:r>
            <a:r>
              <a:rPr lang="el-GR" altLang="zh-CN" sz="1150">
                <a:latin typeface="Microsoft YaHei" panose="020B0503020204020204" pitchFamily="34" charset="-122"/>
              </a:rPr>
              <a:t>Σ λ</a:t>
            </a:r>
            <a:r>
              <a:rPr lang="en-GB" altLang="zh-CN" sz="1150">
                <a:latin typeface="Microsoft YaHei" panose="020B0503020204020204" pitchFamily="34" charset="-122"/>
              </a:rPr>
              <a:t>i^{m+1}) t^m = −</a:t>
            </a:r>
            <a:r>
              <a:rPr lang="el-GR" altLang="zh-CN" sz="1150">
                <a:latin typeface="Microsoft YaHei" panose="020B0503020204020204" pitchFamily="34" charset="-122"/>
              </a:rPr>
              <a:t>Σ </a:t>
            </a:r>
            <a:r>
              <a:rPr lang="en-GB" altLang="zh-CN" sz="1150">
                <a:latin typeface="Microsoft YaHei" panose="020B0503020204020204" pitchFamily="34" charset="-122"/>
              </a:rPr>
              <a:t>p_{m+1} t^m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于是 </a:t>
            </a:r>
            <a:r>
              <a:rPr lang="en-GB" altLang="zh-CN" sz="1150">
                <a:latin typeface="Microsoft YaHei" panose="020B0503020204020204" pitchFamily="34" charset="-122"/>
              </a:rPr>
              <a:t>f'(t) = −f(t)·</a:t>
            </a:r>
            <a:r>
              <a:rPr lang="el-GR" altLang="zh-CN" sz="1150">
                <a:latin typeface="Microsoft YaHei" panose="020B0503020204020204" pitchFamily="34" charset="-122"/>
              </a:rPr>
              <a:t>Σ </a:t>
            </a:r>
            <a:r>
              <a:rPr lang="en-GB" altLang="zh-CN" sz="1150">
                <a:latin typeface="Microsoft YaHei" panose="020B0503020204020204" pitchFamily="34" charset="-122"/>
              </a:rPr>
              <a:t>p_{m+1} t^m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r>
              <a:rPr lang="zh-CN" altLang="en-US" sz="1150">
                <a:latin typeface="Microsoft YaHei" panose="020B0503020204020204" pitchFamily="34" charset="-122"/>
              </a:rPr>
              <a:t>比较两端 </a:t>
            </a:r>
            <a:r>
              <a:rPr lang="en-GB" altLang="zh-CN" sz="1150">
                <a:latin typeface="Microsoft YaHei" panose="020B0503020204020204" pitchFamily="34" charset="-122"/>
              </a:rPr>
              <a:t>t^{k−1} </a:t>
            </a:r>
            <a:r>
              <a:rPr lang="zh-CN" altLang="en-US" sz="1150">
                <a:latin typeface="Microsoft YaHei" panose="020B0503020204020204" pitchFamily="34" charset="-122"/>
              </a:rPr>
              <a:t>的系数：左端是 </a:t>
            </a:r>
            <a:r>
              <a:rPr lang="en-US" altLang="zh-CN" sz="1150">
                <a:latin typeface="Microsoft YaHei" panose="020B0503020204020204" pitchFamily="34" charset="-122"/>
              </a:rPr>
              <a:t>(−1)^</a:t>
            </a:r>
            <a:r>
              <a:rPr lang="en-GB" altLang="zh-CN" sz="1150">
                <a:latin typeface="Microsoft YaHei" panose="020B0503020204020204" pitchFamily="34" charset="-122"/>
              </a:rPr>
              <a:t>k k e_k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右端是 −</a:t>
            </a:r>
            <a:r>
              <a:rPr lang="el-GR" altLang="zh-CN" sz="1150">
                <a:latin typeface="Microsoft YaHei" panose="020B0503020204020204" pitchFamily="34" charset="-122"/>
              </a:rPr>
              <a:t>Σ_{</a:t>
            </a:r>
            <a:r>
              <a:rPr lang="en-GB" altLang="zh-CN" sz="1150">
                <a:latin typeface="Microsoft YaHei" panose="020B0503020204020204" pitchFamily="34" charset="-122"/>
              </a:rPr>
              <a:t>j=0}^{k−1} (−1)^j e_j p_{k−j}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移项即得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p_k − e1 p_{k−1} + e2 p_{k−2} − … + (−1)^{k−1} e_{k−1} p_1 + (−1)^k k e_k = 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现在归纳。</a:t>
            </a:r>
            <a:r>
              <a:rPr lang="en-GB" altLang="zh-CN" sz="1150">
                <a:latin typeface="Microsoft YaHei" panose="020B0503020204020204" pitchFamily="34" charset="-122"/>
              </a:rPr>
              <a:t>k=1 </a:t>
            </a:r>
            <a:r>
              <a:rPr lang="zh-CN" altLang="en-US" sz="1150">
                <a:latin typeface="Microsoft YaHei" panose="020B0503020204020204" pitchFamily="34" charset="-122"/>
              </a:rPr>
              <a:t>时恒等式为 </a:t>
            </a:r>
            <a:r>
              <a:rPr lang="en-GB" altLang="zh-CN" sz="1150">
                <a:latin typeface="Microsoft YaHei" panose="020B0503020204020204" pitchFamily="34" charset="-122"/>
              </a:rPr>
              <a:t>p1−e1=0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由 </a:t>
            </a:r>
            <a:r>
              <a:rPr lang="en-GB" altLang="zh-CN" sz="1150">
                <a:latin typeface="Microsoft YaHei" panose="020B0503020204020204" pitchFamily="34" charset="-122"/>
              </a:rPr>
              <a:t>p1=0 </a:t>
            </a:r>
            <a:r>
              <a:rPr lang="zh-CN" altLang="en-US" sz="1150">
                <a:latin typeface="Microsoft YaHei" panose="020B0503020204020204" pitchFamily="34" charset="-122"/>
              </a:rPr>
              <a:t>得 </a:t>
            </a:r>
            <a:r>
              <a:rPr lang="en-GB" altLang="zh-CN" sz="1150">
                <a:latin typeface="Microsoft YaHei" panose="020B0503020204020204" pitchFamily="34" charset="-122"/>
              </a:rPr>
              <a:t>e1=0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假设 </a:t>
            </a:r>
            <a:r>
              <a:rPr lang="en-GB" altLang="zh-CN" sz="1150">
                <a:latin typeface="Microsoft YaHei" panose="020B0503020204020204" pitchFamily="34" charset="-122"/>
              </a:rPr>
              <a:t>e1=…=e_{k−1}=0</a:t>
            </a:r>
            <a:r>
              <a:rPr lang="zh-CN" altLang="en-GB" sz="1150">
                <a:latin typeface="Microsoft YaHei" panose="020B0503020204020204" pitchFamily="34" charset="-122"/>
              </a:rPr>
              <a:t>（</a:t>
            </a:r>
            <a:r>
              <a:rPr lang="en-GB" altLang="zh-CN" sz="1150">
                <a:latin typeface="Microsoft YaHei" panose="020B0503020204020204" pitchFamily="34" charset="-122"/>
              </a:rPr>
              <a:t>2≤k≤n</a:t>
            </a:r>
            <a:r>
              <a:rPr lang="zh-CN" altLang="en-GB" sz="1150">
                <a:latin typeface="Microsoft YaHei" panose="020B0503020204020204" pitchFamily="34" charset="-122"/>
              </a:rPr>
              <a:t>）。</a:t>
            </a:r>
            <a:r>
              <a:rPr lang="zh-CN" altLang="en-US" sz="1150">
                <a:latin typeface="Microsoft YaHei" panose="020B0503020204020204" pitchFamily="34" charset="-122"/>
              </a:rPr>
              <a:t>第 </a:t>
            </a:r>
            <a:r>
              <a:rPr lang="en-GB" altLang="zh-CN" sz="1150">
                <a:latin typeface="Microsoft YaHei" panose="020B0503020204020204" pitchFamily="34" charset="-122"/>
              </a:rPr>
              <a:t>k </a:t>
            </a:r>
            <a:r>
              <a:rPr lang="zh-CN" altLang="en-US" sz="1150">
                <a:latin typeface="Microsoft YaHei" panose="020B0503020204020204" pitchFamily="34" charset="-122"/>
              </a:rPr>
              <a:t>条恒等式为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p_k − </a:t>
            </a:r>
            <a:r>
              <a:rPr lang="el-GR" altLang="zh-CN" sz="1150">
                <a:latin typeface="Microsoft YaHei" panose="020B0503020204020204" pitchFamily="34" charset="-122"/>
              </a:rPr>
              <a:t>Σ_{</a:t>
            </a:r>
            <a:r>
              <a:rPr lang="en-GB" altLang="zh-CN" sz="1150">
                <a:latin typeface="Microsoft YaHei" panose="020B0503020204020204" pitchFamily="34" charset="-122"/>
              </a:rPr>
              <a:t>j=1}^{k−1} (−1)^{j−1} e_j p_{k−j} + (−1)^k k e_k = 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其中 </a:t>
            </a:r>
            <a:r>
              <a:rPr lang="en-GB" altLang="zh-CN" sz="1150">
                <a:latin typeface="Microsoft YaHei" panose="020B0503020204020204" pitchFamily="34" charset="-122"/>
              </a:rPr>
              <a:t>p_k=0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且每个 </a:t>
            </a:r>
            <a:r>
              <a:rPr lang="en-GB" altLang="zh-CN" sz="1150">
                <a:latin typeface="Microsoft YaHei" panose="020B0503020204020204" pitchFamily="34" charset="-122"/>
              </a:rPr>
              <a:t>j&lt;k </a:t>
            </a:r>
            <a:r>
              <a:rPr lang="zh-CN" altLang="en-US" sz="1150">
                <a:latin typeface="Microsoft YaHei" panose="020B0503020204020204" pitchFamily="34" charset="-122"/>
              </a:rPr>
              <a:t>都有 </a:t>
            </a:r>
            <a:r>
              <a:rPr lang="en-GB" altLang="zh-CN" sz="1150">
                <a:latin typeface="Microsoft YaHei" panose="020B0503020204020204" pitchFamily="34" charset="-122"/>
              </a:rPr>
              <a:t>e_j=0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故求和项全消失，于是 </a:t>
            </a:r>
            <a:r>
              <a:rPr lang="en-US" altLang="zh-CN" sz="1150">
                <a:latin typeface="Microsoft YaHei" panose="020B0503020204020204" pitchFamily="34" charset="-122"/>
              </a:rPr>
              <a:t>(−1)^</a:t>
            </a:r>
            <a:r>
              <a:rPr lang="en-GB" altLang="zh-CN" sz="1150">
                <a:latin typeface="Microsoft YaHei" panose="020B0503020204020204" pitchFamily="34" charset="-122"/>
              </a:rPr>
              <a:t>k k e_k=0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复数域中 </a:t>
            </a:r>
            <a:r>
              <a:rPr lang="en-GB" altLang="zh-CN" sz="1150">
                <a:latin typeface="Microsoft YaHei" panose="020B0503020204020204" pitchFamily="34" charset="-122"/>
              </a:rPr>
              <a:t>k≠0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所以 </a:t>
            </a:r>
            <a:r>
              <a:rPr lang="en-GB" altLang="zh-CN" sz="1150">
                <a:latin typeface="Microsoft YaHei" panose="020B0503020204020204" pitchFamily="34" charset="-122"/>
              </a:rPr>
              <a:t>e_k=0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r>
              <a:rPr lang="zh-CN" altLang="en-US" sz="1150">
                <a:latin typeface="Microsoft YaHei" panose="020B0503020204020204" pitchFamily="34" charset="-122"/>
              </a:rPr>
              <a:t>归纳完成：</a:t>
            </a:r>
            <a:r>
              <a:rPr lang="en-GB" altLang="zh-CN" sz="1150">
                <a:latin typeface="Microsoft YaHei" panose="020B0503020204020204" pitchFamily="34" charset="-122"/>
              </a:rPr>
              <a:t>e1=…=en=0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代入特征多项式：</a:t>
            </a:r>
            <a:r>
              <a:rPr lang="el-GR" altLang="zh-CN" sz="1150">
                <a:latin typeface="Microsoft YaHei" panose="020B0503020204020204" pitchFamily="34" charset="-122"/>
              </a:rPr>
              <a:t>χ(</a:t>
            </a:r>
            <a:r>
              <a:rPr lang="en-GB" altLang="zh-CN" sz="1150">
                <a:latin typeface="Microsoft YaHei" panose="020B0503020204020204" pitchFamily="34" charset="-122"/>
              </a:rPr>
              <a:t>t)=t^n − e1 t^{n−1}+…+(−1)^n e_n = t^n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即 </a:t>
            </a:r>
            <a:r>
              <a:rPr lang="en-GB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个特征值全为 </a:t>
            </a:r>
            <a:r>
              <a:rPr lang="en-US" altLang="zh-CN" sz="1150">
                <a:latin typeface="Microsoft YaHei" panose="020B0503020204020204" pitchFamily="34" charset="-122"/>
              </a:rPr>
              <a:t>0</a:t>
            </a:r>
            <a:r>
              <a:rPr lang="zh-CN" altLang="en-US" sz="1150">
                <a:latin typeface="Microsoft YaHei" panose="020B0503020204020204" pitchFamily="34" charset="-122"/>
              </a:rPr>
              <a:t>（</a:t>
            </a:r>
            <a:r>
              <a:rPr lang="en-GB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重）。这已经说明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的谱是 </a:t>
            </a:r>
            <a:r>
              <a:rPr lang="en-US" altLang="zh-CN" sz="1150">
                <a:latin typeface="Microsoft YaHei" panose="020B0503020204020204" pitchFamily="34" charset="-122"/>
              </a:rPr>
              <a:t>{0}</a:t>
            </a:r>
            <a:r>
              <a:rPr lang="zh-CN" altLang="en-US" sz="1150">
                <a:latin typeface="Microsoft YaHei" panose="020B0503020204020204" pitchFamily="34" charset="-122"/>
              </a:rPr>
              <a:t>，下一节用 </a:t>
            </a:r>
            <a:r>
              <a:rPr lang="en-GB" altLang="zh-CN" sz="1150">
                <a:latin typeface="Microsoft YaHei" panose="020B0503020204020204" pitchFamily="34" charset="-122"/>
              </a:rPr>
              <a:t>Cayley–Hamilton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把“谱为 </a:t>
            </a:r>
            <a:r>
              <a:rPr lang="en-US" altLang="zh-CN" sz="1150">
                <a:latin typeface="Microsoft YaHei" panose="020B0503020204020204" pitchFamily="34" charset="-122"/>
              </a:rPr>
              <a:t>{0}”</a:t>
            </a:r>
            <a:r>
              <a:rPr lang="zh-CN" altLang="en-US" sz="1150">
                <a:latin typeface="Microsoft YaHei" panose="020B0503020204020204" pitchFamily="34" charset="-122"/>
              </a:rPr>
              <a:t>升级为“</a:t>
            </a:r>
            <a:r>
              <a:rPr lang="en-GB" altLang="zh-CN" sz="1150">
                <a:latin typeface="Microsoft YaHei" panose="020B0503020204020204" pitchFamily="34" charset="-122"/>
              </a:rPr>
              <a:t>A^n=O”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  <a:endParaRPr lang="zh-CN" altLang="en-US" sz="1150">
              <a:latin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97A43-54F6-459E-96B2-389337A698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99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50">
                <a:latin typeface="Microsoft YaHei" panose="020B0503020204020204" pitchFamily="34" charset="-122"/>
              </a:rPr>
              <a:t>收尾。前面已经证明：若 </a:t>
            </a:r>
            <a:r>
              <a:rPr lang="en-US" altLang="zh-CN" sz="1150">
                <a:latin typeface="Microsoft YaHei" panose="020B0503020204020204" pitchFamily="34" charset="-122"/>
              </a:rPr>
              <a:t>1≤</a:t>
            </a:r>
            <a:r>
              <a:rPr lang="en-GB" altLang="zh-CN" sz="1150">
                <a:latin typeface="Microsoft YaHei" panose="020B0503020204020204" pitchFamily="34" charset="-122"/>
              </a:rPr>
              <a:t>k≤n </a:t>
            </a:r>
            <a:r>
              <a:rPr lang="zh-CN" altLang="en-US" sz="1150">
                <a:latin typeface="Microsoft YaHei" panose="020B0503020204020204" pitchFamily="34" charset="-122"/>
              </a:rPr>
              <a:t>时 </a:t>
            </a:r>
            <a:r>
              <a:rPr lang="en-GB" altLang="zh-CN" sz="1150">
                <a:latin typeface="Microsoft YaHei" panose="020B0503020204020204" pitchFamily="34" charset="-122"/>
              </a:rPr>
              <a:t>tr(A^k)=0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则 </a:t>
            </a:r>
            <a:r>
              <a:rPr lang="el-GR" altLang="zh-CN" sz="1150">
                <a:latin typeface="Microsoft YaHei" panose="020B0503020204020204" pitchFamily="34" charset="-122"/>
              </a:rPr>
              <a:t>χ(</a:t>
            </a:r>
            <a:r>
              <a:rPr lang="en-GB" altLang="zh-CN" sz="1150">
                <a:latin typeface="Microsoft YaHei" panose="020B0503020204020204" pitchFamily="34" charset="-122"/>
              </a:rPr>
              <a:t>t)=t^n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en-GB" altLang="zh-CN" sz="1150">
                <a:latin typeface="Microsoft YaHei" panose="020B0503020204020204" pitchFamily="34" charset="-122"/>
              </a:rPr>
              <a:t>Cayley–Hamilton </a:t>
            </a:r>
            <a:r>
              <a:rPr lang="zh-CN" altLang="en-US" sz="1150">
                <a:latin typeface="Microsoft YaHei" panose="020B0503020204020204" pitchFamily="34" charset="-122"/>
              </a:rPr>
              <a:t>定理说：每个方阵都满足自己的特征多项式，即 </a:t>
            </a:r>
            <a:r>
              <a:rPr lang="el-GR" altLang="zh-CN" sz="1150">
                <a:latin typeface="Microsoft YaHei" panose="020B0503020204020204" pitchFamily="34" charset="-122"/>
              </a:rPr>
              <a:t>χ_</a:t>
            </a:r>
            <a:r>
              <a:rPr lang="en-GB" altLang="zh-CN" sz="1150">
                <a:latin typeface="Microsoft YaHei" panose="020B0503020204020204" pitchFamily="34" charset="-122"/>
              </a:rPr>
              <a:t>A(A)=O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把 </a:t>
            </a:r>
            <a:r>
              <a:rPr lang="el-GR" altLang="zh-CN" sz="1150">
                <a:latin typeface="Microsoft YaHei" panose="020B0503020204020204" pitchFamily="34" charset="-122"/>
              </a:rPr>
              <a:t>χ(</a:t>
            </a:r>
            <a:r>
              <a:rPr lang="en-GB" altLang="zh-CN" sz="1150">
                <a:latin typeface="Microsoft YaHei" panose="020B0503020204020204" pitchFamily="34" charset="-122"/>
              </a:rPr>
              <a:t>t)=t^n </a:t>
            </a:r>
            <a:r>
              <a:rPr lang="zh-CN" altLang="en-US" sz="1150">
                <a:latin typeface="Microsoft YaHei" panose="020B0503020204020204" pitchFamily="34" charset="-122"/>
              </a:rPr>
              <a:t>代入，立即得到 </a:t>
            </a:r>
            <a:r>
              <a:rPr lang="en-GB" altLang="zh-CN" sz="1150">
                <a:latin typeface="Microsoft YaHei" panose="020B0503020204020204" pitchFamily="34" charset="-122"/>
              </a:rPr>
              <a:t>A^n=O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于是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幂零，充分性完成。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为了完整，给出 </a:t>
            </a:r>
            <a:r>
              <a:rPr lang="en-GB" altLang="zh-CN" sz="1150">
                <a:latin typeface="Microsoft YaHei" panose="020B0503020204020204" pitchFamily="34" charset="-122"/>
              </a:rPr>
              <a:t>C-H </a:t>
            </a:r>
            <a:r>
              <a:rPr lang="zh-CN" altLang="en-US" sz="1150">
                <a:latin typeface="Microsoft YaHei" panose="020B0503020204020204" pitchFamily="34" charset="-122"/>
              </a:rPr>
              <a:t>的一个证明。设 </a:t>
            </a:r>
            <a:r>
              <a:rPr lang="en-GB" altLang="zh-CN" sz="1150">
                <a:latin typeface="Microsoft YaHei" panose="020B0503020204020204" pitchFamily="34" charset="-122"/>
              </a:rPr>
              <a:t>B(t)=adj(tI−A)=</a:t>
            </a:r>
            <a:r>
              <a:rPr lang="el-GR" altLang="zh-CN" sz="1150">
                <a:latin typeface="Microsoft YaHei" panose="020B0503020204020204" pitchFamily="34" charset="-122"/>
              </a:rPr>
              <a:t>Σ_{</a:t>
            </a:r>
            <a:r>
              <a:rPr lang="en-GB" altLang="zh-CN" sz="1150">
                <a:latin typeface="Microsoft YaHei" panose="020B0503020204020204" pitchFamily="34" charset="-122"/>
              </a:rPr>
              <a:t>j=0}^{n−1} t^j B_j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</a:p>
          <a:p>
            <a:r>
              <a:rPr lang="el-GR" altLang="zh-CN" sz="1150">
                <a:latin typeface="Microsoft YaHei" panose="020B0503020204020204" pitchFamily="34" charset="-122"/>
              </a:rPr>
              <a:t>χ(</a:t>
            </a:r>
            <a:r>
              <a:rPr lang="en-GB" altLang="zh-CN" sz="1150">
                <a:latin typeface="Microsoft YaHei" panose="020B0503020204020204" pitchFamily="34" charset="-122"/>
              </a:rPr>
              <a:t>t)=</a:t>
            </a:r>
            <a:r>
              <a:rPr lang="el-GR" altLang="zh-CN" sz="1150">
                <a:latin typeface="Microsoft YaHei" panose="020B0503020204020204" pitchFamily="34" charset="-122"/>
              </a:rPr>
              <a:t>Σ </a:t>
            </a:r>
            <a:r>
              <a:rPr lang="en-GB" altLang="zh-CN" sz="1150">
                <a:latin typeface="Microsoft YaHei" panose="020B0503020204020204" pitchFamily="34" charset="-122"/>
              </a:rPr>
              <a:t>c_k t^k</a:t>
            </a:r>
            <a:r>
              <a:rPr lang="zh-CN" altLang="en-GB" sz="1150">
                <a:latin typeface="Microsoft YaHei" panose="020B0503020204020204" pitchFamily="34" charset="-122"/>
              </a:rPr>
              <a:t>（</a:t>
            </a:r>
            <a:r>
              <a:rPr lang="en-GB" altLang="zh-CN" sz="1150">
                <a:latin typeface="Microsoft YaHei" panose="020B0503020204020204" pitchFamily="34" charset="-122"/>
              </a:rPr>
              <a:t>c_n=1</a:t>
            </a:r>
            <a:r>
              <a:rPr lang="zh-CN" altLang="en-GB" sz="1150">
                <a:latin typeface="Microsoft YaHei" panose="020B0503020204020204" pitchFamily="34" charset="-122"/>
              </a:rPr>
              <a:t>）。</a:t>
            </a:r>
            <a:r>
              <a:rPr lang="zh-CN" altLang="en-US" sz="1150">
                <a:latin typeface="Microsoft YaHei" panose="020B0503020204020204" pitchFamily="34" charset="-122"/>
              </a:rPr>
              <a:t>由 </a:t>
            </a:r>
            <a:r>
              <a:rPr lang="en-US" altLang="zh-CN" sz="1150">
                <a:latin typeface="Microsoft YaHei" panose="020B0503020204020204" pitchFamily="34" charset="-122"/>
              </a:rPr>
              <a:t>(</a:t>
            </a:r>
            <a:r>
              <a:rPr lang="en-GB" altLang="zh-CN" sz="1150">
                <a:latin typeface="Microsoft YaHei" panose="020B0503020204020204" pitchFamily="34" charset="-122"/>
              </a:rPr>
              <a:t>tI−A)B(t)=</a:t>
            </a:r>
            <a:r>
              <a:rPr lang="el-GR" altLang="zh-CN" sz="1150">
                <a:latin typeface="Microsoft YaHei" panose="020B0503020204020204" pitchFamily="34" charset="-122"/>
              </a:rPr>
              <a:t>χ(</a:t>
            </a:r>
            <a:r>
              <a:rPr lang="en-GB" altLang="zh-CN" sz="1150">
                <a:latin typeface="Microsoft YaHei" panose="020B0503020204020204" pitchFamily="34" charset="-122"/>
              </a:rPr>
              <a:t>t)I </a:t>
            </a:r>
            <a:r>
              <a:rPr lang="zh-CN" altLang="en-US" sz="1150">
                <a:latin typeface="Microsoft YaHei" panose="020B0503020204020204" pitchFamily="34" charset="-122"/>
              </a:rPr>
              <a:t>比较 </a:t>
            </a:r>
            <a:r>
              <a:rPr lang="en-GB" altLang="zh-CN" sz="1150">
                <a:latin typeface="Microsoft YaHei" panose="020B0503020204020204" pitchFamily="34" charset="-122"/>
              </a:rPr>
              <a:t>t </a:t>
            </a:r>
            <a:r>
              <a:rPr lang="zh-CN" altLang="en-US" sz="1150">
                <a:latin typeface="Microsoft YaHei" panose="020B0503020204020204" pitchFamily="34" charset="-122"/>
              </a:rPr>
              <a:t>的各次幂：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B_{n−1}=I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en-GB" altLang="zh-CN" sz="1150">
                <a:latin typeface="Microsoft YaHei" panose="020B0503020204020204" pitchFamily="34" charset="-122"/>
              </a:rPr>
              <a:t>B_{j−1}−AB_j=c_j I</a:t>
            </a:r>
            <a:r>
              <a:rPr lang="zh-CN" altLang="en-GB" sz="1150">
                <a:latin typeface="Microsoft YaHei" panose="020B0503020204020204" pitchFamily="34" charset="-122"/>
              </a:rPr>
              <a:t>（</a:t>
            </a:r>
            <a:r>
              <a:rPr lang="en-GB" altLang="zh-CN" sz="1150">
                <a:latin typeface="Microsoft YaHei" panose="020B0503020204020204" pitchFamily="34" charset="-122"/>
              </a:rPr>
              <a:t>1≤j≤n−1</a:t>
            </a:r>
            <a:r>
              <a:rPr lang="zh-CN" altLang="en-GB" sz="1150">
                <a:latin typeface="Microsoft YaHei" panose="020B0503020204020204" pitchFamily="34" charset="-122"/>
              </a:rPr>
              <a:t>），−</a:t>
            </a:r>
            <a:r>
              <a:rPr lang="en-GB" altLang="zh-CN" sz="1150">
                <a:latin typeface="Microsoft YaHei" panose="020B0503020204020204" pitchFamily="34" charset="-122"/>
              </a:rPr>
              <a:t>AB_0=c_0 I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每个 </a:t>
            </a:r>
            <a:r>
              <a:rPr lang="en-GB" altLang="zh-CN" sz="1150">
                <a:latin typeface="Microsoft YaHei" panose="020B0503020204020204" pitchFamily="34" charset="-122"/>
              </a:rPr>
              <a:t>B_j </a:t>
            </a:r>
            <a:r>
              <a:rPr lang="zh-CN" altLang="en-US" sz="1150">
                <a:latin typeface="Microsoft YaHei" panose="020B0503020204020204" pitchFamily="34" charset="-122"/>
              </a:rPr>
              <a:t>都是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的多项式，与 </a:t>
            </a:r>
            <a:r>
              <a:rPr lang="en-GB" altLang="zh-CN" sz="1150">
                <a:latin typeface="Microsoft YaHei" panose="020B0503020204020204" pitchFamily="34" charset="-122"/>
              </a:rPr>
              <a:t>A </a:t>
            </a:r>
            <a:r>
              <a:rPr lang="zh-CN" altLang="en-US" sz="1150">
                <a:latin typeface="Microsoft YaHei" panose="020B0503020204020204" pitchFamily="34" charset="-122"/>
              </a:rPr>
              <a:t>交换，所以</a:t>
            </a:r>
          </a:p>
          <a:p>
            <a:r>
              <a:rPr lang="el-GR" altLang="zh-CN" sz="1150">
                <a:latin typeface="Microsoft YaHei" panose="020B0503020204020204" pitchFamily="34" charset="-122"/>
              </a:rPr>
              <a:t>χ(</a:t>
            </a:r>
            <a:r>
              <a:rPr lang="en-GB" altLang="zh-CN" sz="1150">
                <a:latin typeface="Microsoft YaHei" panose="020B0503020204020204" pitchFamily="34" charset="-122"/>
              </a:rPr>
              <a:t>A)=A^n+</a:t>
            </a:r>
            <a:r>
              <a:rPr lang="el-GR" altLang="zh-CN" sz="1150">
                <a:latin typeface="Microsoft YaHei" panose="020B0503020204020204" pitchFamily="34" charset="-122"/>
              </a:rPr>
              <a:t>Σ_{</a:t>
            </a:r>
            <a:r>
              <a:rPr lang="en-GB" altLang="zh-CN" sz="1150">
                <a:latin typeface="Microsoft YaHei" panose="020B0503020204020204" pitchFamily="34" charset="-122"/>
              </a:rPr>
              <a:t>j=1}^{n−1} c_j A^j+c_0 I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    =A^n+</a:t>
            </a:r>
            <a:r>
              <a:rPr lang="el-GR" altLang="zh-CN" sz="1150">
                <a:latin typeface="Microsoft YaHei" panose="020B0503020204020204" pitchFamily="34" charset="-122"/>
              </a:rPr>
              <a:t>Σ_{</a:t>
            </a:r>
            <a:r>
              <a:rPr lang="en-GB" altLang="zh-CN" sz="1150">
                <a:latin typeface="Microsoft YaHei" panose="020B0503020204020204" pitchFamily="34" charset="-122"/>
              </a:rPr>
              <a:t>j=1}^{n−1}(B_{j−1}A^j−B_jA^{j+1})−B_0A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    =A^n+(B_0A−B_{n−1}A^n)−B_0A=O</a:t>
            </a:r>
            <a:r>
              <a:rPr lang="zh-CN" altLang="en-GB" sz="1150">
                <a:latin typeface="Microsoft YaHei" panose="020B0503020204020204" pitchFamily="34" charset="-122"/>
              </a:rPr>
              <a:t>。</a:t>
            </a:r>
          </a:p>
          <a:p>
            <a:endParaRPr lang="zh-CN" altLang="en-GB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三点意义：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第一，</a:t>
            </a:r>
            <a:r>
              <a:rPr lang="en-GB" altLang="zh-CN" sz="1150">
                <a:latin typeface="Microsoft YaHei" panose="020B0503020204020204" pitchFamily="34" charset="-122"/>
              </a:rPr>
              <a:t>tr(A^k) </a:t>
            </a:r>
            <a:r>
              <a:rPr lang="zh-CN" altLang="en-US" sz="1150">
                <a:latin typeface="Microsoft YaHei" panose="020B0503020204020204" pitchFamily="34" charset="-122"/>
              </a:rPr>
              <a:t>是相似不变量、只由谱决定，所以“幂零性”这个看似涉及无穷多次幂的性质，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被压缩成 </a:t>
            </a:r>
            <a:r>
              <a:rPr lang="en-GB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个标量等式；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第二，</a:t>
            </a:r>
            <a:r>
              <a:rPr lang="en-GB" altLang="zh-CN" sz="1150">
                <a:latin typeface="Microsoft YaHei" panose="020B0503020204020204" pitchFamily="34" charset="-122"/>
              </a:rPr>
              <a:t>Newton </a:t>
            </a:r>
            <a:r>
              <a:rPr lang="zh-CN" altLang="en-US" sz="1150">
                <a:latin typeface="Microsoft YaHei" panose="020B0503020204020204" pitchFamily="34" charset="-122"/>
              </a:rPr>
              <a:t>恒等式给出幂和与初等对称多项式之间的可逆对应，</a:t>
            </a:r>
            <a:r>
              <a:rPr lang="en-GB" altLang="zh-CN" sz="1150">
                <a:latin typeface="Microsoft YaHei" panose="020B0503020204020204" pitchFamily="34" charset="-122"/>
              </a:rPr>
              <a:t>n </a:t>
            </a:r>
            <a:r>
              <a:rPr lang="zh-CN" altLang="en-US" sz="1150">
                <a:latin typeface="Microsoft YaHei" panose="020B0503020204020204" pitchFamily="34" charset="-122"/>
              </a:rPr>
              <a:t>个数据就锁定了特征多项式；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第三，</a:t>
            </a:r>
            <a:r>
              <a:rPr lang="en-GB" altLang="zh-CN" sz="1150">
                <a:latin typeface="Microsoft YaHei" panose="020B0503020204020204" pitchFamily="34" charset="-122"/>
              </a:rPr>
              <a:t>Cayley–Hamilton </a:t>
            </a:r>
            <a:r>
              <a:rPr lang="zh-CN" altLang="en-US" sz="1150">
                <a:latin typeface="Microsoft YaHei" panose="020B0503020204020204" pitchFamily="34" charset="-122"/>
              </a:rPr>
              <a:t>把关于特征值的标量恒等式提升为矩阵恒等式，是“谱信息 → 矩阵结构”</a:t>
            </a:r>
          </a:p>
          <a:p>
            <a:r>
              <a:rPr lang="zh-CN" altLang="en-US" sz="1150">
                <a:latin typeface="Microsoft YaHei" panose="020B0503020204020204" pitchFamily="34" charset="-122"/>
              </a:rPr>
              <a:t>的关键一步。</a:t>
            </a:r>
          </a:p>
          <a:p>
            <a:endParaRPr lang="zh-CN" altLang="en-US" sz="1150">
              <a:latin typeface="Microsoft YaHei" panose="020B0503020204020204" pitchFamily="34" charset="-122"/>
            </a:endParaRPr>
          </a:p>
          <a:p>
            <a:r>
              <a:rPr lang="zh-CN" altLang="en-US" sz="1150">
                <a:latin typeface="Microsoft YaHei" panose="020B0503020204020204" pitchFamily="34" charset="-122"/>
              </a:rPr>
              <a:t>补充：定理要求基域特征为 </a:t>
            </a:r>
            <a:r>
              <a:rPr lang="en-US" altLang="zh-CN" sz="1150">
                <a:latin typeface="Microsoft YaHei" panose="020B0503020204020204" pitchFamily="34" charset="-122"/>
              </a:rPr>
              <a:t>0</a:t>
            </a:r>
            <a:r>
              <a:rPr lang="zh-CN" altLang="en-US" sz="1150">
                <a:latin typeface="Microsoft YaHei" panose="020B0503020204020204" pitchFamily="34" charset="-122"/>
              </a:rPr>
              <a:t>（或大于 </a:t>
            </a:r>
            <a:r>
              <a:rPr lang="en-GB" altLang="zh-CN" sz="1150">
                <a:latin typeface="Microsoft YaHei" panose="020B0503020204020204" pitchFamily="34" charset="-122"/>
              </a:rPr>
              <a:t>n</a:t>
            </a:r>
            <a:r>
              <a:rPr lang="zh-CN" altLang="en-GB" sz="1150">
                <a:latin typeface="Microsoft YaHei" panose="020B0503020204020204" pitchFamily="34" charset="-122"/>
              </a:rPr>
              <a:t>）。</a:t>
            </a:r>
            <a:r>
              <a:rPr lang="zh-CN" altLang="en-US" sz="1150">
                <a:latin typeface="Microsoft YaHei" panose="020B0503020204020204" pitchFamily="34" charset="-122"/>
              </a:rPr>
              <a:t>在特征 </a:t>
            </a:r>
            <a:r>
              <a:rPr lang="en-US" altLang="zh-CN" sz="1150">
                <a:latin typeface="Microsoft YaHei" panose="020B0503020204020204" pitchFamily="34" charset="-122"/>
              </a:rPr>
              <a:t>2 </a:t>
            </a:r>
            <a:r>
              <a:rPr lang="zh-CN" altLang="en-US" sz="1150">
                <a:latin typeface="Microsoft YaHei" panose="020B0503020204020204" pitchFamily="34" charset="-122"/>
              </a:rPr>
              <a:t>的域上，</a:t>
            </a:r>
            <a:r>
              <a:rPr lang="en-GB" altLang="zh-CN" sz="1150">
                <a:latin typeface="Microsoft YaHei" panose="020B0503020204020204" pitchFamily="34" charset="-122"/>
              </a:rPr>
              <a:t>A=[[0,1],[1,0]] </a:t>
            </a:r>
            <a:r>
              <a:rPr lang="zh-CN" altLang="en-US" sz="1150">
                <a:latin typeface="Microsoft YaHei" panose="020B0503020204020204" pitchFamily="34" charset="-122"/>
              </a:rPr>
              <a:t>满足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tr(A)=tr(A^2)=0</a:t>
            </a:r>
            <a:r>
              <a:rPr lang="zh-CN" altLang="en-GB" sz="1150">
                <a:latin typeface="Microsoft YaHei" panose="020B0503020204020204" pitchFamily="34" charset="-122"/>
              </a:rPr>
              <a:t>（</a:t>
            </a:r>
            <a:r>
              <a:rPr lang="zh-CN" altLang="en-US" sz="1150">
                <a:latin typeface="Microsoft YaHei" panose="020B0503020204020204" pitchFamily="34" charset="-122"/>
              </a:rPr>
              <a:t>因为 </a:t>
            </a:r>
            <a:r>
              <a:rPr lang="en-US" altLang="zh-CN" sz="1150">
                <a:latin typeface="Microsoft YaHei" panose="020B0503020204020204" pitchFamily="34" charset="-122"/>
              </a:rPr>
              <a:t>1+1=0</a:t>
            </a:r>
            <a:r>
              <a:rPr lang="zh-CN" altLang="en-US" sz="1150">
                <a:latin typeface="Microsoft YaHei" panose="020B0503020204020204" pitchFamily="34" charset="-122"/>
              </a:rPr>
              <a:t>），但 </a:t>
            </a:r>
            <a:r>
              <a:rPr lang="en-GB" altLang="zh-CN" sz="1150">
                <a:latin typeface="Microsoft YaHei" panose="020B0503020204020204" pitchFamily="34" charset="-122"/>
              </a:rPr>
              <a:t>A^2=I≠O</a:t>
            </a:r>
            <a:r>
              <a:rPr lang="zh-CN" altLang="en-GB" sz="1150">
                <a:latin typeface="Microsoft YaHei" panose="020B0503020204020204" pitchFamily="34" charset="-122"/>
              </a:rPr>
              <a:t>，</a:t>
            </a:r>
            <a:r>
              <a:rPr lang="zh-CN" altLang="en-US" sz="1150">
                <a:latin typeface="Microsoft YaHei" panose="020B0503020204020204" pitchFamily="34" charset="-122"/>
              </a:rPr>
              <a:t>定理不成立。原因正是 </a:t>
            </a:r>
            <a:r>
              <a:rPr lang="en-GB" altLang="zh-CN" sz="1150">
                <a:latin typeface="Microsoft YaHei" panose="020B0503020204020204" pitchFamily="34" charset="-122"/>
              </a:rPr>
              <a:t>Newton </a:t>
            </a:r>
            <a:r>
              <a:rPr lang="zh-CN" altLang="en-US" sz="1150">
                <a:latin typeface="Microsoft YaHei" panose="020B0503020204020204" pitchFamily="34" charset="-122"/>
              </a:rPr>
              <a:t>恒等式里</a:t>
            </a:r>
          </a:p>
          <a:p>
            <a:r>
              <a:rPr lang="en-GB" altLang="zh-CN" sz="1150">
                <a:latin typeface="Microsoft YaHei" panose="020B0503020204020204" pitchFamily="34" charset="-122"/>
              </a:rPr>
              <a:t>k e_k </a:t>
            </a:r>
            <a:r>
              <a:rPr lang="zh-CN" altLang="en-US" sz="1150">
                <a:latin typeface="Microsoft YaHei" panose="020B0503020204020204" pitchFamily="34" charset="-122"/>
              </a:rPr>
              <a:t>的系数 </a:t>
            </a:r>
            <a:r>
              <a:rPr lang="en-GB" altLang="zh-CN" sz="1150">
                <a:latin typeface="Microsoft YaHei" panose="020B0503020204020204" pitchFamily="34" charset="-122"/>
              </a:rPr>
              <a:t>k </a:t>
            </a:r>
            <a:r>
              <a:rPr lang="zh-CN" altLang="en-US" sz="1150">
                <a:latin typeface="Microsoft YaHei" panose="020B0503020204020204" pitchFamily="34" charset="-122"/>
              </a:rPr>
              <a:t>可能为 </a:t>
            </a:r>
            <a:r>
              <a:rPr lang="en-US" altLang="zh-CN" sz="1150">
                <a:latin typeface="Microsoft YaHei" panose="020B0503020204020204" pitchFamily="34" charset="-122"/>
              </a:rPr>
              <a:t>0</a:t>
            </a:r>
            <a:r>
              <a:rPr lang="zh-CN" altLang="en-US" sz="1150">
                <a:latin typeface="Microsoft YaHei" panose="020B0503020204020204" pitchFamily="34" charset="-122"/>
              </a:rPr>
              <a:t>，归纳在 </a:t>
            </a:r>
            <a:r>
              <a:rPr lang="en-GB" altLang="zh-CN" sz="1150">
                <a:latin typeface="Microsoft YaHei" panose="020B0503020204020204" pitchFamily="34" charset="-122"/>
              </a:rPr>
              <a:t>k=2 </a:t>
            </a:r>
            <a:r>
              <a:rPr lang="zh-CN" altLang="en-US" sz="1150">
                <a:latin typeface="Microsoft YaHei" panose="020B0503020204020204" pitchFamily="34" charset="-122"/>
              </a:rPr>
              <a:t>处断掉。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97A43-54F6-459E-96B2-389337A698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9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E6929-F8ED-D985-6AA1-F39C7493C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D5599E-5C90-CEAD-0F58-594032C94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3BA0A-632D-39E2-A4C3-F5CAF89F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6D49F7-0B19-41EB-7578-A3A9EB2F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F23F4D-E432-0198-0CB6-3A4C80DB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1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FF37C-A900-777E-AD6D-1FC46180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E592D6-9BDB-A8A1-D57A-D781336AB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7F574-CB69-94FC-F358-E5B3DD7E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23598D-838D-AC60-DC16-196AC275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4B15A-4665-AE68-43C0-5051A4CF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47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C296D-E0D6-2203-46AC-36F936B7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88CCE4-2B3D-7D64-59C7-47ED2AE9F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05099-66B1-C874-970E-ADE69998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C8AF02-C392-D0A1-CA64-861C473B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1F758-333B-535A-485B-4657A985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45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BE20F-D781-4D9D-77BC-0DD5483C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AE086-0C12-8A26-8739-44E5AC5E9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038550-3962-6E19-5EFF-E43C9D33C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E129B8-26F1-8FCA-BD8B-2DBE58D0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5DD1A9-19E3-8D8A-329F-1E8158CCA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6E567B-FC01-F926-2C02-7FF23BE0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967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047E2-75BD-2D53-9266-C750B5E2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A28B2E-13AA-E823-9B68-DBA198400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19C1D2-D24F-EDDA-EA97-6EC8862BB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4E3B95-84DE-B76E-39A0-C5911CF39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0398A9-D751-0592-4511-1FB055B89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89F6CD-5C1F-C0A0-AB4C-EDEC2D13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F21175-9210-18F0-7A1C-88B2AE92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8F10EC-FDD3-7FF6-1CC8-36E2B06F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8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D33CF-3FF1-A18C-F647-1009D8B1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97C7DF-5484-F974-1F06-48E89591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8B7A54-C760-827F-1710-B1DEF667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364228-34F3-AC98-384C-654F68EA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41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FDCC1E-2FE4-016C-864C-44A9B98F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034F18-7484-ECBF-FC5D-39180A76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C63C5-5ACC-F047-4E87-552B714A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78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C9982-C402-DC15-25F4-24F7550F2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E022E-04AF-95A7-41DA-465DBCA49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C4699-D8D8-8BA4-B0C0-E468FEACB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EAC47C-57AF-7A08-2006-511ED814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EA792A-E024-7CAD-F393-6BA7EA93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7A374B-3A72-9B3F-C78D-C5A0D85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5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BE192-9810-D096-78F9-73F8DF047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1559EA-15C7-D5C3-5307-548CF634110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6786F7-FA2B-672F-6BF9-B99CDB265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92BA8-4969-0591-2952-533316F2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7ECC44-AF59-911D-0DB9-6D4D9553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638D67-B165-0A57-5B8F-6D97105D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67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D5975-E7CE-081C-EAF7-C865279E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812EE1-83C9-503E-DB5D-76E92EE15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76DE45-BC1D-9BDC-2147-D43885CD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8CE0D-1AE4-4EFB-1599-414B5F12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20A39A-7E20-6E17-061A-588B8834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93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47F035-9C32-0ACA-7A5B-D90973E2D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37B563-17DD-9BF6-3826-B1B807556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3B7AB-6506-B483-49FF-53E0FCA7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AA7CDB-4A5F-909B-5893-2061B6FD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42688-3263-89B0-C489-51A0C3DC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42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FB7228-E0AA-BE13-006A-C0F626D2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C6F56-E76F-BF05-AA5C-3E6DE81E2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479AA-9790-3955-1712-B3290BB58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38D13-8CAA-4FCF-A77E-DE61A5722A72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CE8E3A-0484-D015-9978-02F853A3A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1BF782-8A30-311D-86BC-5422004AB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1D7CE-8FD5-461B-A235-A0342962B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45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4B98E6-2004-6F3A-66E2-B6FA6CBF9AC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F1D3E1E-2B84-2E3F-2C08-172302D6528E}"/>
              </a:ext>
            </a:extLst>
          </p:cNvPr>
          <p:cNvSpPr/>
          <p:nvPr/>
        </p:nvSpPr>
        <p:spPr>
          <a:xfrm>
            <a:off x="8275320" y="-2148840"/>
            <a:ext cx="6035041" cy="6035040"/>
          </a:xfrm>
          <a:prstGeom prst="ellipse">
            <a:avLst/>
          </a:prstGeom>
          <a:noFill/>
          <a:ln w="13970" cap="flat" cmpd="sng" algn="ctr">
            <a:solidFill>
              <a:srgbClr val="243A5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80EB415-C3A8-9176-174E-9EDE1793F183}"/>
              </a:ext>
            </a:extLst>
          </p:cNvPr>
          <p:cNvSpPr/>
          <p:nvPr/>
        </p:nvSpPr>
        <p:spPr>
          <a:xfrm>
            <a:off x="9464040" y="-960120"/>
            <a:ext cx="3566160" cy="3566160"/>
          </a:xfrm>
          <a:prstGeom prst="ellipse">
            <a:avLst/>
          </a:prstGeom>
          <a:noFill/>
          <a:ln w="9525" cap="flat" cmpd="sng" algn="ctr">
            <a:solidFill>
              <a:srgbClr val="2C456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3504383-9136-02A2-C212-FD95935051CC}"/>
              </a:ext>
            </a:extLst>
          </p:cNvPr>
          <p:cNvSpPr/>
          <p:nvPr/>
        </p:nvSpPr>
        <p:spPr>
          <a:xfrm>
            <a:off x="9555480" y="4617720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BB2CB14-EC9E-4ACB-0061-AAF864594622}"/>
              </a:ext>
            </a:extLst>
          </p:cNvPr>
          <p:cNvSpPr/>
          <p:nvPr/>
        </p:nvSpPr>
        <p:spPr>
          <a:xfrm>
            <a:off x="10030968" y="4617720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C73B769-0EB2-8B58-6EF2-9BF6D3E33258}"/>
              </a:ext>
            </a:extLst>
          </p:cNvPr>
          <p:cNvSpPr/>
          <p:nvPr/>
        </p:nvSpPr>
        <p:spPr>
          <a:xfrm>
            <a:off x="10506456" y="4617720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2EB966F-08C0-B7B7-E347-2CE9DF6CF3E3}"/>
              </a:ext>
            </a:extLst>
          </p:cNvPr>
          <p:cNvSpPr/>
          <p:nvPr/>
        </p:nvSpPr>
        <p:spPr>
          <a:xfrm>
            <a:off x="9555480" y="5093208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7C0D3C7-9995-3931-3102-329A8372D048}"/>
              </a:ext>
            </a:extLst>
          </p:cNvPr>
          <p:cNvSpPr/>
          <p:nvPr/>
        </p:nvSpPr>
        <p:spPr>
          <a:xfrm>
            <a:off x="10030968" y="5093208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1DBB174-4284-31FF-0CFA-F4A2CC249F8F}"/>
              </a:ext>
            </a:extLst>
          </p:cNvPr>
          <p:cNvSpPr/>
          <p:nvPr/>
        </p:nvSpPr>
        <p:spPr>
          <a:xfrm>
            <a:off x="10506456" y="5093208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85586B7-806F-B2A7-3E6B-D33A38578DE6}"/>
              </a:ext>
            </a:extLst>
          </p:cNvPr>
          <p:cNvSpPr/>
          <p:nvPr/>
        </p:nvSpPr>
        <p:spPr>
          <a:xfrm>
            <a:off x="9555480" y="5568696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30710F4-119A-D2CD-D7A4-BAFAEC6A3F82}"/>
              </a:ext>
            </a:extLst>
          </p:cNvPr>
          <p:cNvSpPr/>
          <p:nvPr/>
        </p:nvSpPr>
        <p:spPr>
          <a:xfrm>
            <a:off x="10030968" y="5568696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87B377-2CAB-BDEF-DA4A-77D75E15F00A}"/>
              </a:ext>
            </a:extLst>
          </p:cNvPr>
          <p:cNvSpPr/>
          <p:nvPr/>
        </p:nvSpPr>
        <p:spPr>
          <a:xfrm>
            <a:off x="10506456" y="5568696"/>
            <a:ext cx="68581" cy="68580"/>
          </a:xfrm>
          <a:prstGeom prst="ellipse">
            <a:avLst/>
          </a:prstGeom>
          <a:solidFill>
            <a:srgbClr val="3853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9AA06C-A52E-0002-48B9-4791E7AC160B}"/>
              </a:ext>
            </a:extLst>
          </p:cNvPr>
          <p:cNvSpPr txBox="1"/>
          <p:nvPr/>
        </p:nvSpPr>
        <p:spPr>
          <a:xfrm>
            <a:off x="1051560" y="1444752"/>
            <a:ext cx="8686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东南大学  </a:t>
            </a:r>
            <a:r>
              <a:rPr lang="en-US" altLang="zh-CN" sz="125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sz="125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线性代数课程实践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4DF608-07F6-188D-B58D-D4EAAACD1E12}"/>
              </a:ext>
            </a:extLst>
          </p:cNvPr>
          <p:cNvSpPr/>
          <p:nvPr/>
        </p:nvSpPr>
        <p:spPr>
          <a:xfrm>
            <a:off x="1069848" y="1847088"/>
            <a:ext cx="868680" cy="4572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666278-54D9-933F-8CF0-8E043F1E97C4}"/>
              </a:ext>
            </a:extLst>
          </p:cNvPr>
          <p:cNvSpPr txBox="1"/>
          <p:nvPr/>
        </p:nvSpPr>
        <p:spPr>
          <a:xfrm>
            <a:off x="1033272" y="2011680"/>
            <a:ext cx="96926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5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线性代数 </a:t>
            </a:r>
            <a:r>
              <a:rPr lang="en-GB" altLang="zh-CN" sz="5200" b="1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endParaRPr lang="zh-CN" altLang="en-US" sz="5200" b="1">
              <a:solidFill>
                <a:srgbClr val="E8CF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A6F63D3-D627-9DC2-3484-B5DFE43A54A9}"/>
              </a:ext>
            </a:extLst>
          </p:cNvPr>
          <p:cNvSpPr txBox="1"/>
          <p:nvPr/>
        </p:nvSpPr>
        <p:spPr>
          <a:xfrm>
            <a:off x="1051560" y="3090672"/>
            <a:ext cx="950976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700">
                <a:solidFill>
                  <a:srgbClr val="D9E2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幂零矩阵与迹的等价性证明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3EA522D-095F-87EE-8675-1337E30558D9}"/>
              </a:ext>
            </a:extLst>
          </p:cNvPr>
          <p:cNvSpPr txBox="1"/>
          <p:nvPr/>
        </p:nvSpPr>
        <p:spPr>
          <a:xfrm>
            <a:off x="1051560" y="3767328"/>
            <a:ext cx="96926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950">
                <a:solidFill>
                  <a:srgbClr val="7E9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NILPOTENT MATRICES   ×   NEWTON'S IDENTITIES   ×   CAYLEY–HAMILTON</a:t>
            </a:r>
            <a:endParaRPr lang="zh-CN" altLang="en-US" sz="950">
              <a:solidFill>
                <a:srgbClr val="7E93A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3C7BE5-A36C-3192-7F5E-E2FF178473F5}"/>
              </a:ext>
            </a:extLst>
          </p:cNvPr>
          <p:cNvSpPr txBox="1"/>
          <p:nvPr/>
        </p:nvSpPr>
        <p:spPr>
          <a:xfrm>
            <a:off x="1051560" y="4224528"/>
            <a:ext cx="84124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9FB2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250">
                <a:solidFill>
                  <a:srgbClr val="9FB2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250">
                <a:solidFill>
                  <a:srgbClr val="9FB2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个标量等式，判定无穷多次幂的消失。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1492D4-323C-9458-27F9-45CA22405E1A}"/>
              </a:ext>
            </a:extLst>
          </p:cNvPr>
          <p:cNvSpPr txBox="1"/>
          <p:nvPr/>
        </p:nvSpPr>
        <p:spPr>
          <a:xfrm>
            <a:off x="1051560" y="5303520"/>
            <a:ext cx="7315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</a:t>
            </a:r>
            <a:r>
              <a:rPr lang="en-GB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aynku-seu</a:t>
            </a:r>
            <a:endParaRPr lang="zh-CN" altLang="en-US" sz="14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FAF346-747B-54EA-D030-5E59C9F3976E}"/>
              </a:ext>
            </a:extLst>
          </p:cNvPr>
          <p:cNvSpPr txBox="1"/>
          <p:nvPr/>
        </p:nvSpPr>
        <p:spPr>
          <a:xfrm>
            <a:off x="1051560" y="5632704"/>
            <a:ext cx="7315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50">
                <a:solidFill>
                  <a:srgbClr val="8296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050">
                <a:solidFill>
                  <a:srgbClr val="8296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050">
                <a:solidFill>
                  <a:srgbClr val="8296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050">
                <a:solidFill>
                  <a:srgbClr val="8296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31581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3CC4B3-4467-FEE6-4878-2A749703B998}"/>
              </a:ext>
            </a:extLst>
          </p:cNvPr>
          <p:cNvSpPr txBox="1"/>
          <p:nvPr/>
        </p:nvSpPr>
        <p:spPr>
          <a:xfrm>
            <a:off x="777240" y="365760"/>
            <a:ext cx="8686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·  </a:t>
            </a:r>
            <a:r>
              <a:rPr lang="zh-CN" altLang="en-US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问题引入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C69E3D-89B1-1814-266D-5B3BD0ADC6DF}"/>
              </a:ext>
            </a:extLst>
          </p:cNvPr>
          <p:cNvSpPr txBox="1"/>
          <p:nvPr/>
        </p:nvSpPr>
        <p:spPr>
          <a:xfrm>
            <a:off x="777240" y="603504"/>
            <a:ext cx="106070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一个矩阵何时“归零”？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BAC2CC-5760-2794-1BD0-C3157236BDD4}"/>
              </a:ext>
            </a:extLst>
          </p:cNvPr>
          <p:cNvSpPr/>
          <p:nvPr/>
        </p:nvSpPr>
        <p:spPr>
          <a:xfrm>
            <a:off x="795528" y="1243584"/>
            <a:ext cx="566928" cy="4572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561D3F-FA61-8E60-36A4-AEE23928CFCE}"/>
              </a:ext>
            </a:extLst>
          </p:cNvPr>
          <p:cNvSpPr/>
          <p:nvPr/>
        </p:nvSpPr>
        <p:spPr>
          <a:xfrm>
            <a:off x="777240" y="1444752"/>
            <a:ext cx="10634472" cy="1298448"/>
          </a:xfrm>
          <a:prstGeom prst="rect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779B74-4481-7F72-D31D-B34867F18075}"/>
              </a:ext>
            </a:extLst>
          </p:cNvPr>
          <p:cNvSpPr/>
          <p:nvPr/>
        </p:nvSpPr>
        <p:spPr>
          <a:xfrm>
            <a:off x="777240" y="1444752"/>
            <a:ext cx="68580" cy="1298448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BBA9F9-0522-2138-1B15-741AB6EB8AFC}"/>
              </a:ext>
            </a:extLst>
          </p:cNvPr>
          <p:cNvSpPr txBox="1"/>
          <p:nvPr/>
        </p:nvSpPr>
        <p:spPr>
          <a:xfrm>
            <a:off x="1060704" y="1572768"/>
            <a:ext cx="996696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原题  </a:t>
            </a:r>
            <a:r>
              <a:rPr lang="en-GB" altLang="zh-CN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PROBLEM</a:t>
            </a:r>
            <a:endParaRPr lang="zh-CN" altLang="en-US" sz="100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F0D9AD-566A-3CA5-FF16-46538E019CDB}"/>
              </a:ext>
            </a:extLst>
          </p:cNvPr>
          <p:cNvSpPr txBox="1"/>
          <p:nvPr/>
        </p:nvSpPr>
        <p:spPr>
          <a:xfrm>
            <a:off x="1060704" y="1865376"/>
            <a:ext cx="10012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 </a:t>
            </a:r>
            <a:r>
              <a:rPr lang="en-US" altLang="zh-CN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阶复方阵，求证：</a:t>
            </a:r>
            <a:r>
              <a:rPr lang="en-US" altLang="zh-CN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是幂零矩阵  ⇔  </a:t>
            </a:r>
            <a:r>
              <a:rPr lang="en-US" altLang="zh-CN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US" altLang="zh-CN" sz="170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US" altLang="zh-CN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= 0</a:t>
            </a:r>
            <a:r>
              <a:rPr lang="zh-CN" altLang="en-US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≤ k ≤ n</a:t>
            </a:r>
            <a:r>
              <a:rPr lang="zh-CN" altLang="en-US" sz="17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6F3C5E-F432-842A-08BE-3F2AB22D4788}"/>
              </a:ext>
            </a:extLst>
          </p:cNvPr>
          <p:cNvSpPr/>
          <p:nvPr/>
        </p:nvSpPr>
        <p:spPr>
          <a:xfrm>
            <a:off x="777240" y="2962656"/>
            <a:ext cx="5166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56D129-8B14-275A-741A-9457A85DE0DE}"/>
              </a:ext>
            </a:extLst>
          </p:cNvPr>
          <p:cNvSpPr/>
          <p:nvPr/>
        </p:nvSpPr>
        <p:spPr>
          <a:xfrm>
            <a:off x="777240" y="2962656"/>
            <a:ext cx="5166360" cy="54864"/>
          </a:xfrm>
          <a:prstGeom prst="rect">
            <a:avLst/>
          </a:prstGeom>
          <a:solidFill>
            <a:srgbClr val="2F5D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3C469D-A53F-7AD2-CC7B-31A6BC2227AD}"/>
              </a:ext>
            </a:extLst>
          </p:cNvPr>
          <p:cNvSpPr txBox="1"/>
          <p:nvPr/>
        </p:nvSpPr>
        <p:spPr>
          <a:xfrm>
            <a:off x="1069848" y="3163824"/>
            <a:ext cx="4572000" cy="3108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幂零矩阵  </a:t>
            </a:r>
            <a:r>
              <a:rPr lang="en-GB" altLang="zh-CN" sz="15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Nilpotent</a:t>
            </a:r>
            <a:endParaRPr lang="zh-CN" altLang="en-US" sz="1500">
              <a:solidFill>
                <a:srgbClr val="2F5D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2A9B6A-905F-87F4-A89A-1E237E39AA52}"/>
              </a:ext>
            </a:extLst>
          </p:cNvPr>
          <p:cNvSpPr txBox="1"/>
          <p:nvPr/>
        </p:nvSpPr>
        <p:spPr>
          <a:xfrm>
            <a:off x="1069848" y="3566160"/>
            <a:ext cx="4590288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：存在整数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≥ 1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幂零指数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：使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 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的最小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，且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≤ n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等价刻画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个特征值全为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（按重数计）。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例子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：严格上三角矩阵，如 </a:t>
            </a:r>
            <a:r>
              <a:rPr lang="en-US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[[0, 1], [0, 0]]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9BF2A7-B53D-EAF9-AA33-F27C238B8FE2}"/>
              </a:ext>
            </a:extLst>
          </p:cNvPr>
          <p:cNvSpPr/>
          <p:nvPr/>
        </p:nvSpPr>
        <p:spPr>
          <a:xfrm>
            <a:off x="6245352" y="2962656"/>
            <a:ext cx="5166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A9D424-BDC4-AEB0-35D9-BBCD37ECD0FA}"/>
              </a:ext>
            </a:extLst>
          </p:cNvPr>
          <p:cNvSpPr/>
          <p:nvPr/>
        </p:nvSpPr>
        <p:spPr>
          <a:xfrm>
            <a:off x="6245352" y="2962656"/>
            <a:ext cx="5166360" cy="54864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823E64-0DB3-82D9-FEAE-F34EBBA836A8}"/>
              </a:ext>
            </a:extLst>
          </p:cNvPr>
          <p:cNvSpPr txBox="1"/>
          <p:nvPr/>
        </p:nvSpPr>
        <p:spPr>
          <a:xfrm>
            <a:off x="6537960" y="3163824"/>
            <a:ext cx="4572000" cy="3108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5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迹  </a:t>
            </a:r>
            <a:r>
              <a:rPr lang="en-GB" altLang="zh-CN" sz="15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Trace</a:t>
            </a:r>
            <a:endParaRPr lang="zh-CN" altLang="en-US" sz="150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9B6B59-03B9-5009-F7F5-D7EA6DE7C97E}"/>
              </a:ext>
            </a:extLst>
          </p:cNvPr>
          <p:cNvSpPr txBox="1"/>
          <p:nvPr/>
        </p:nvSpPr>
        <p:spPr>
          <a:xfrm>
            <a:off x="6537960" y="3566160"/>
            <a:ext cx="4590288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tr(A) = a</a:t>
            </a:r>
            <a:r>
              <a:rPr lang="en-GB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a</a:t>
            </a:r>
            <a:r>
              <a:rPr lang="en-GB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… + a</a:t>
            </a:r>
            <a:r>
              <a:rPr lang="en-GB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nn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GB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性质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：相似不变量，等于全部特征值之和。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=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l-GR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… +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n-GB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GB" altLang="zh-CN" sz="115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diag(1, −1) 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 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tr(A) = 0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但 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= 2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15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775EA6-D88B-C030-459B-4C41CB2A75D7}"/>
              </a:ext>
            </a:extLst>
          </p:cNvPr>
          <p:cNvSpPr/>
          <p:nvPr/>
        </p:nvSpPr>
        <p:spPr>
          <a:xfrm>
            <a:off x="777240" y="5285232"/>
            <a:ext cx="10634472" cy="749808"/>
          </a:xfrm>
          <a:prstGeom prst="rect">
            <a:avLst/>
          </a:prstGeom>
          <a:solidFill>
            <a:srgbClr val="FBF6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76BF4A-360C-AB23-96C6-B053CD7BEF7D}"/>
              </a:ext>
            </a:extLst>
          </p:cNvPr>
          <p:cNvSpPr txBox="1"/>
          <p:nvPr/>
        </p:nvSpPr>
        <p:spPr>
          <a:xfrm>
            <a:off x="1060704" y="5358384"/>
            <a:ext cx="10058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核心工具：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Newton </a:t>
            </a:r>
            <a:r>
              <a:rPr lang="zh-CN" altLang="en-US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恒等式（幂和 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2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↔ </a:t>
            </a:r>
            <a:r>
              <a:rPr lang="zh-CN" altLang="en-US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初等对称多项式 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en-GB" altLang="zh-CN" sz="12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GB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  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  Cayley–Hamilton </a:t>
            </a:r>
            <a:r>
              <a:rPr lang="zh-CN" altLang="en-US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定理（</a:t>
            </a:r>
            <a:r>
              <a:rPr lang="el-GR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χ(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A) = O</a:t>
            </a:r>
            <a:r>
              <a:rPr lang="zh-CN" altLang="en-GB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120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8591D2-C214-916A-217D-666A6592A43A}"/>
              </a:ext>
            </a:extLst>
          </p:cNvPr>
          <p:cNvSpPr txBox="1"/>
          <p:nvPr/>
        </p:nvSpPr>
        <p:spPr>
          <a:xfrm>
            <a:off x="777240" y="6473952"/>
            <a:ext cx="8229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幂零矩阵与迹的等价性证明  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en-GB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aynku-seu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4F7830-FBE2-9C9A-2FB2-309FD0455258}"/>
              </a:ext>
            </a:extLst>
          </p:cNvPr>
          <p:cNvSpPr txBox="1"/>
          <p:nvPr/>
        </p:nvSpPr>
        <p:spPr>
          <a:xfrm>
            <a:off x="10058400" y="6473952"/>
            <a:ext cx="1353312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/ 05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7587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8E208E-375E-13FA-6322-E04C42D3DCFC}"/>
              </a:ext>
            </a:extLst>
          </p:cNvPr>
          <p:cNvSpPr txBox="1"/>
          <p:nvPr/>
        </p:nvSpPr>
        <p:spPr>
          <a:xfrm>
            <a:off x="777240" y="365760"/>
            <a:ext cx="8686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·  </a:t>
            </a:r>
            <a:r>
              <a:rPr lang="zh-CN" altLang="en-US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必要性   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1313CB-C29C-EB7F-35D5-D4090546BFBC}"/>
              </a:ext>
            </a:extLst>
          </p:cNvPr>
          <p:cNvSpPr txBox="1"/>
          <p:nvPr/>
        </p:nvSpPr>
        <p:spPr>
          <a:xfrm>
            <a:off x="777240" y="603504"/>
            <a:ext cx="106070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幂零，则迹恒为零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248835-970E-1EAA-585E-EDD92118570A}"/>
              </a:ext>
            </a:extLst>
          </p:cNvPr>
          <p:cNvSpPr/>
          <p:nvPr/>
        </p:nvSpPr>
        <p:spPr>
          <a:xfrm>
            <a:off x="795528" y="1243584"/>
            <a:ext cx="566928" cy="4572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C331E8-FECA-3DCB-445D-C13503AE0B93}"/>
              </a:ext>
            </a:extLst>
          </p:cNvPr>
          <p:cNvSpPr/>
          <p:nvPr/>
        </p:nvSpPr>
        <p:spPr>
          <a:xfrm>
            <a:off x="777240" y="1481328"/>
            <a:ext cx="6446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D48AA0-BC9A-E791-66DC-B13F84D74B02}"/>
              </a:ext>
            </a:extLst>
          </p:cNvPr>
          <p:cNvSpPr/>
          <p:nvPr/>
        </p:nvSpPr>
        <p:spPr>
          <a:xfrm>
            <a:off x="777240" y="1481328"/>
            <a:ext cx="54864" cy="1115568"/>
          </a:xfrm>
          <a:prstGeom prst="rect">
            <a:avLst/>
          </a:prstGeom>
          <a:solidFill>
            <a:srgbClr val="2F5D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A7230AD-D56F-DD19-9EEE-4C3E70A8FDB8}"/>
              </a:ext>
            </a:extLst>
          </p:cNvPr>
          <p:cNvSpPr/>
          <p:nvPr/>
        </p:nvSpPr>
        <p:spPr>
          <a:xfrm>
            <a:off x="932688" y="1783080"/>
            <a:ext cx="457200" cy="457200"/>
          </a:xfrm>
          <a:prstGeom prst="ellipse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814A5A-F0C6-8FD5-8869-3B1DDA74C2C2}"/>
              </a:ext>
            </a:extLst>
          </p:cNvPr>
          <p:cNvSpPr txBox="1"/>
          <p:nvPr/>
        </p:nvSpPr>
        <p:spPr>
          <a:xfrm>
            <a:off x="932688" y="1783080"/>
            <a:ext cx="457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05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B72F76-4C00-3964-D8FE-79B8227C300F}"/>
              </a:ext>
            </a:extLst>
          </p:cNvPr>
          <p:cNvSpPr txBox="1"/>
          <p:nvPr/>
        </p:nvSpPr>
        <p:spPr>
          <a:xfrm>
            <a:off x="1572768" y="1627632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幂零的定义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5EEA87-B7F3-1C31-E27A-164F2B01499E}"/>
              </a:ext>
            </a:extLst>
          </p:cNvPr>
          <p:cNvSpPr txBox="1"/>
          <p:nvPr/>
        </p:nvSpPr>
        <p:spPr>
          <a:xfrm>
            <a:off x="1572768" y="1911096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存在 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≥ 1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 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15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C886EC-3626-2F4F-5C7D-B795FE84884C}"/>
              </a:ext>
            </a:extLst>
          </p:cNvPr>
          <p:cNvSpPr txBox="1"/>
          <p:nvPr/>
        </p:nvSpPr>
        <p:spPr>
          <a:xfrm>
            <a:off x="1572768" y="2212848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最小的这样的 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称为幂零指数。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F3E5FD-F7DF-27FD-E109-48DFEC1A8C57}"/>
              </a:ext>
            </a:extLst>
          </p:cNvPr>
          <p:cNvSpPr/>
          <p:nvPr/>
        </p:nvSpPr>
        <p:spPr>
          <a:xfrm>
            <a:off x="777240" y="2724912"/>
            <a:ext cx="6446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3BFA8-958E-72F8-5944-87CF7B0D0239}"/>
              </a:ext>
            </a:extLst>
          </p:cNvPr>
          <p:cNvSpPr/>
          <p:nvPr/>
        </p:nvSpPr>
        <p:spPr>
          <a:xfrm>
            <a:off x="777240" y="2724912"/>
            <a:ext cx="54864" cy="1115568"/>
          </a:xfrm>
          <a:prstGeom prst="rect">
            <a:avLst/>
          </a:prstGeom>
          <a:solidFill>
            <a:srgbClr val="2F5D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4123D00-19F2-AA75-20F7-F5D82AFAF87A}"/>
              </a:ext>
            </a:extLst>
          </p:cNvPr>
          <p:cNvSpPr/>
          <p:nvPr/>
        </p:nvSpPr>
        <p:spPr>
          <a:xfrm>
            <a:off x="932688" y="3026664"/>
            <a:ext cx="457200" cy="457200"/>
          </a:xfrm>
          <a:prstGeom prst="ellipse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448D03-2428-3390-CCA1-81A4D81E25EB}"/>
              </a:ext>
            </a:extLst>
          </p:cNvPr>
          <p:cNvSpPr txBox="1"/>
          <p:nvPr/>
        </p:nvSpPr>
        <p:spPr>
          <a:xfrm>
            <a:off x="932688" y="3026664"/>
            <a:ext cx="457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05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DDAF29-9077-2D39-EB63-87147DB9A06C}"/>
              </a:ext>
            </a:extLst>
          </p:cNvPr>
          <p:cNvSpPr txBox="1"/>
          <p:nvPr/>
        </p:nvSpPr>
        <p:spPr>
          <a:xfrm>
            <a:off x="1572768" y="2871216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特征值只能是 </a:t>
            </a:r>
            <a:r>
              <a:rPr lang="en-US" altLang="zh-CN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>
              <a:solidFill>
                <a:srgbClr val="0E1B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616ABE-78D7-3343-4965-F29783BD486F}"/>
              </a:ext>
            </a:extLst>
          </p:cNvPr>
          <p:cNvSpPr txBox="1"/>
          <p:nvPr/>
        </p:nvSpPr>
        <p:spPr>
          <a:xfrm>
            <a:off x="1572768" y="3154680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Av =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 ≠ 0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 ⇒  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 =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 = 0  ⇒ 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 = 0</a:t>
            </a:r>
            <a:r>
              <a:rPr lang="zh-CN" altLang="el-GR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15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D1B2A1-2448-BA20-5E2E-C80E729D0BDD}"/>
              </a:ext>
            </a:extLst>
          </p:cNvPr>
          <p:cNvSpPr txBox="1"/>
          <p:nvPr/>
        </p:nvSpPr>
        <p:spPr>
          <a:xfrm>
            <a:off x="1572768" y="3456432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复数域中 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n-US" altLang="zh-CN" sz="900" baseline="30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 </a:t>
            </a: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只有零解。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8195A2-AE29-81C4-369D-817714983F57}"/>
              </a:ext>
            </a:extLst>
          </p:cNvPr>
          <p:cNvSpPr/>
          <p:nvPr/>
        </p:nvSpPr>
        <p:spPr>
          <a:xfrm>
            <a:off x="777240" y="3968496"/>
            <a:ext cx="6446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4F4BF7-0B99-52E3-17A3-5F3D7FBCAAEC}"/>
              </a:ext>
            </a:extLst>
          </p:cNvPr>
          <p:cNvSpPr/>
          <p:nvPr/>
        </p:nvSpPr>
        <p:spPr>
          <a:xfrm>
            <a:off x="777240" y="3968496"/>
            <a:ext cx="54864" cy="1115568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42F4739-4922-6A63-31D4-64279171B774}"/>
              </a:ext>
            </a:extLst>
          </p:cNvPr>
          <p:cNvSpPr/>
          <p:nvPr/>
        </p:nvSpPr>
        <p:spPr>
          <a:xfrm>
            <a:off x="932688" y="4270248"/>
            <a:ext cx="457200" cy="457200"/>
          </a:xfrm>
          <a:prstGeom prst="ellipse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A51C09-A3B9-1B33-A679-5348D9D998FD}"/>
              </a:ext>
            </a:extLst>
          </p:cNvPr>
          <p:cNvSpPr txBox="1"/>
          <p:nvPr/>
        </p:nvSpPr>
        <p:spPr>
          <a:xfrm>
            <a:off x="932688" y="4270248"/>
            <a:ext cx="457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05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97CC84-B724-A297-5970-FBEC126519DF}"/>
              </a:ext>
            </a:extLst>
          </p:cNvPr>
          <p:cNvSpPr txBox="1"/>
          <p:nvPr/>
        </p:nvSpPr>
        <p:spPr>
          <a:xfrm>
            <a:off x="1572768" y="4114800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迹 </a:t>
            </a:r>
            <a:r>
              <a:rPr lang="en-US" altLang="zh-CN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特征值的幂和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08BB80-D025-A27C-E0AB-0DE5233751EA}"/>
              </a:ext>
            </a:extLst>
          </p:cNvPr>
          <p:cNvSpPr txBox="1"/>
          <p:nvPr/>
        </p:nvSpPr>
        <p:spPr>
          <a:xfrm>
            <a:off x="1572768" y="4398264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=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l-GR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… + </a:t>
            </a:r>
            <a:r>
              <a:rPr lang="el-GR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en-GB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  <a:r>
              <a:rPr lang="zh-CN" altLang="en-GB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15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857747-2306-E975-ABEC-E419FE226D7D}"/>
              </a:ext>
            </a:extLst>
          </p:cNvPr>
          <p:cNvSpPr txBox="1"/>
          <p:nvPr/>
        </p:nvSpPr>
        <p:spPr>
          <a:xfrm>
            <a:off x="1572768" y="4700016"/>
            <a:ext cx="5440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 </a:t>
            </a:r>
            <a:r>
              <a:rPr lang="en-GB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Schur </a:t>
            </a: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三角化 </a:t>
            </a:r>
            <a:r>
              <a:rPr lang="en-GB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= UTU</a:t>
            </a:r>
            <a:r>
              <a:rPr lang="en-GB" altLang="zh-CN" sz="900" baseline="30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GB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取迹即得。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73D0BF3-CB7D-306D-87E1-872EE1BF29AF}"/>
              </a:ext>
            </a:extLst>
          </p:cNvPr>
          <p:cNvSpPr/>
          <p:nvPr/>
        </p:nvSpPr>
        <p:spPr>
          <a:xfrm>
            <a:off x="7424928" y="1481328"/>
            <a:ext cx="3986785" cy="3602736"/>
          </a:xfrm>
          <a:prstGeom prst="rect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ABCC7B-99E3-E6D7-030F-CFFCB5BC918E}"/>
              </a:ext>
            </a:extLst>
          </p:cNvPr>
          <p:cNvSpPr txBox="1"/>
          <p:nvPr/>
        </p:nvSpPr>
        <p:spPr>
          <a:xfrm>
            <a:off x="7699248" y="1664208"/>
            <a:ext cx="3474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要点  </a:t>
            </a:r>
            <a:r>
              <a:rPr lang="en-GB" altLang="zh-CN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NOTES</a:t>
            </a:r>
            <a:endParaRPr lang="zh-CN" altLang="en-US" sz="100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A8D5C5-5964-AFE3-60EF-4595E3D67082}"/>
              </a:ext>
            </a:extLst>
          </p:cNvPr>
          <p:cNvSpPr txBox="1"/>
          <p:nvPr/>
        </p:nvSpPr>
        <p:spPr>
          <a:xfrm>
            <a:off x="7699248" y="2029968"/>
            <a:ext cx="3456432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altLang="zh-CN" sz="110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必要性对</a:t>
            </a:r>
            <a:r>
              <a:rPr lang="zh-CN" altLang="en-US" sz="110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一切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≥ 1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成立，无需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≤ n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altLang="zh-CN" sz="110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只用了两件事：谱为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{0}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；迹是特征值的幂和。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altLang="zh-CN" sz="110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幂零不必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= O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= [[0, 1], [0, 0]]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altLang="zh-CN" sz="110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无需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可对角化：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Schur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三角化对任意方阵成立。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altLang="zh-CN" sz="1100" b="1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幂零指数 ≤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，这已由 </a:t>
            </a:r>
            <a:r>
              <a:rPr lang="en-US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Cayley–Hamilton </a:t>
            </a:r>
            <a:r>
              <a:rPr lang="zh-CN" altLang="en-US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保证。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159D170-3955-9FE2-8495-5AC6F26BDDBF}"/>
              </a:ext>
            </a:extLst>
          </p:cNvPr>
          <p:cNvSpPr/>
          <p:nvPr/>
        </p:nvSpPr>
        <p:spPr>
          <a:xfrm>
            <a:off x="7699248" y="4498848"/>
            <a:ext cx="3401567" cy="475488"/>
          </a:xfrm>
          <a:prstGeom prst="rect">
            <a:avLst/>
          </a:prstGeom>
          <a:solidFill>
            <a:srgbClr val="FBF6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F229749-9065-8CFD-9955-55DC2ACE2BFD}"/>
              </a:ext>
            </a:extLst>
          </p:cNvPr>
          <p:cNvSpPr txBox="1"/>
          <p:nvPr/>
        </p:nvSpPr>
        <p:spPr>
          <a:xfrm>
            <a:off x="7699248" y="4498848"/>
            <a:ext cx="3401568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950" b="1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易错</a:t>
            </a:r>
            <a:r>
              <a:rPr lang="zh-CN" altLang="en-US" sz="9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9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tr(A) = 0 </a:t>
            </a:r>
            <a:r>
              <a:rPr lang="zh-CN" altLang="en-US" sz="9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不能推出幂零。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2822D5-452C-57D8-1FE7-4263E7A3A52C}"/>
              </a:ext>
            </a:extLst>
          </p:cNvPr>
          <p:cNvSpPr/>
          <p:nvPr/>
        </p:nvSpPr>
        <p:spPr>
          <a:xfrm>
            <a:off x="777240" y="5285232"/>
            <a:ext cx="10634472" cy="640080"/>
          </a:xfrm>
          <a:prstGeom prst="rect">
            <a:avLst/>
          </a:prstGeom>
          <a:solidFill>
            <a:srgbClr val="0E1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20D632A-73BD-86CB-5437-4A216D6CA2D4}"/>
              </a:ext>
            </a:extLst>
          </p:cNvPr>
          <p:cNvSpPr txBox="1"/>
          <p:nvPr/>
        </p:nvSpPr>
        <p:spPr>
          <a:xfrm>
            <a:off x="777240" y="5285232"/>
            <a:ext cx="10634472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</a:t>
            </a:r>
            <a:r>
              <a:rPr lang="en-US" altLang="zh-CN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US" altLang="zh-CN" sz="1300" baseline="30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US" altLang="zh-CN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= 0</a:t>
            </a:r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，对一切 </a:t>
            </a:r>
            <a:r>
              <a:rPr lang="en-US" altLang="zh-CN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≥ 1</a:t>
            </a:r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；特别地 </a:t>
            </a:r>
            <a:r>
              <a:rPr lang="en-US" altLang="zh-CN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≤ k ≤ n </a:t>
            </a:r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时成立。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7910D90-26D0-ACE9-E1EC-25770587FCEC}"/>
              </a:ext>
            </a:extLst>
          </p:cNvPr>
          <p:cNvSpPr txBox="1"/>
          <p:nvPr/>
        </p:nvSpPr>
        <p:spPr>
          <a:xfrm>
            <a:off x="777240" y="6473952"/>
            <a:ext cx="8229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幂零矩阵与迹的等价性证明  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en-GB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aynku-seu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879CCD-67B5-1CF9-FC7A-A1FF792D6A18}"/>
              </a:ext>
            </a:extLst>
          </p:cNvPr>
          <p:cNvSpPr txBox="1"/>
          <p:nvPr/>
        </p:nvSpPr>
        <p:spPr>
          <a:xfrm>
            <a:off x="10058400" y="6473952"/>
            <a:ext cx="1353312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/ 05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569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4EABB5-5E9F-D181-F566-52E56601B96E}"/>
              </a:ext>
            </a:extLst>
          </p:cNvPr>
          <p:cNvSpPr txBox="1"/>
          <p:nvPr/>
        </p:nvSpPr>
        <p:spPr>
          <a:xfrm>
            <a:off x="777240" y="365760"/>
            <a:ext cx="8686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 ·  </a:t>
            </a:r>
            <a:r>
              <a:rPr lang="zh-CN" altLang="en-US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充分性   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977C58-7CCE-983F-1633-29682B6388DA}"/>
              </a:ext>
            </a:extLst>
          </p:cNvPr>
          <p:cNvSpPr txBox="1"/>
          <p:nvPr/>
        </p:nvSpPr>
        <p:spPr>
          <a:xfrm>
            <a:off x="777240" y="603504"/>
            <a:ext cx="106070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迹为零，则谱全为零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10CA25-2CDE-36E9-CBCF-F182F646C8A1}"/>
              </a:ext>
            </a:extLst>
          </p:cNvPr>
          <p:cNvSpPr/>
          <p:nvPr/>
        </p:nvSpPr>
        <p:spPr>
          <a:xfrm>
            <a:off x="795528" y="1243584"/>
            <a:ext cx="566928" cy="4572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C09DEA-BFF7-0222-6FAB-1B051E95DE66}"/>
              </a:ext>
            </a:extLst>
          </p:cNvPr>
          <p:cNvSpPr/>
          <p:nvPr/>
        </p:nvSpPr>
        <p:spPr>
          <a:xfrm>
            <a:off x="777240" y="1444752"/>
            <a:ext cx="10634472" cy="1298448"/>
          </a:xfrm>
          <a:prstGeom prst="rect">
            <a:avLst/>
          </a:prstGeom>
          <a:solidFill>
            <a:srgbClr val="0E1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C35B6D-F937-E35C-B9C4-DD05C96A75E7}"/>
              </a:ext>
            </a:extLst>
          </p:cNvPr>
          <p:cNvSpPr txBox="1"/>
          <p:nvPr/>
        </p:nvSpPr>
        <p:spPr>
          <a:xfrm>
            <a:off x="1051560" y="1572768"/>
            <a:ext cx="996696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90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NEWTON'S IDENTITIES   ·   </a:t>
            </a:r>
            <a:r>
              <a:rPr lang="zh-CN" altLang="en-US" sz="90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牛顿恒等式（</a:t>
            </a:r>
            <a:r>
              <a:rPr lang="en-US" altLang="zh-CN" sz="90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≤ </a:t>
            </a:r>
            <a:r>
              <a:rPr lang="en-GB" altLang="zh-CN" sz="90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≤ n</a:t>
            </a:r>
            <a:r>
              <a:rPr lang="zh-CN" altLang="en-GB" sz="900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900">
              <a:solidFill>
                <a:srgbClr val="E8CF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30CAA6-3AE7-6B11-C5BD-D5B85812CBFD}"/>
              </a:ext>
            </a:extLst>
          </p:cNvPr>
          <p:cNvSpPr txBox="1"/>
          <p:nvPr/>
        </p:nvSpPr>
        <p:spPr>
          <a:xfrm>
            <a:off x="1051560" y="1847088"/>
            <a:ext cx="1001268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900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− e</a:t>
            </a:r>
            <a:r>
              <a:rPr lang="en-GB" altLang="zh-CN" sz="1900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900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k−1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e</a:t>
            </a:r>
            <a:r>
              <a:rPr lang="en-GB" altLang="zh-CN" sz="1900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900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k−2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− … + (−1)</a:t>
            </a:r>
            <a:r>
              <a:rPr lang="en-GB" altLang="zh-CN" sz="1900" baseline="30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·k·e</a:t>
            </a:r>
            <a:r>
              <a:rPr lang="en-GB" altLang="zh-CN" sz="1900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9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  <a:endParaRPr lang="zh-CN" altLang="en-US" sz="19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E3650F-B7DD-29A8-55E0-F0EA9C48C688}"/>
              </a:ext>
            </a:extLst>
          </p:cNvPr>
          <p:cNvSpPr/>
          <p:nvPr/>
        </p:nvSpPr>
        <p:spPr>
          <a:xfrm>
            <a:off x="777240" y="2944368"/>
            <a:ext cx="489204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0F097C-7877-C87B-D537-4037D9BEC173}"/>
              </a:ext>
            </a:extLst>
          </p:cNvPr>
          <p:cNvSpPr txBox="1"/>
          <p:nvPr/>
        </p:nvSpPr>
        <p:spPr>
          <a:xfrm>
            <a:off x="1005840" y="3090672"/>
            <a:ext cx="44348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代入 </a:t>
            </a:r>
            <a:r>
              <a:rPr lang="en-US" altLang="zh-CN" sz="125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US" altLang="zh-CN" sz="1250" baseline="-2500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US" altLang="zh-CN" sz="125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  <a:r>
              <a:rPr lang="zh-CN" altLang="en-US" sz="125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，逐项消去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288D3B-9E8C-C8FA-984B-9617532C42AC}"/>
              </a:ext>
            </a:extLst>
          </p:cNvPr>
          <p:cNvSpPr txBox="1"/>
          <p:nvPr/>
        </p:nvSpPr>
        <p:spPr>
          <a:xfrm>
            <a:off x="1005840" y="3419856"/>
            <a:ext cx="448056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= 1</a:t>
            </a:r>
            <a:r>
              <a:rPr lang="zh-CN" altLang="en-GB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p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= 2</a:t>
            </a:r>
            <a:r>
              <a:rPr lang="zh-CN" altLang="en-GB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2e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p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− e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= 3</a:t>
            </a:r>
            <a:r>
              <a:rPr lang="zh-CN" altLang="en-GB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3e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p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− e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e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1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1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zh-CN" altLang="en-US" sz="9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以此类推，归纳可得：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GB" altLang="zh-CN" sz="14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en-GB" altLang="zh-CN" sz="1400" baseline="-25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4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e</a:t>
            </a:r>
            <a:r>
              <a:rPr lang="en-GB" altLang="zh-CN" sz="1400" baseline="-25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GB" altLang="zh-CN" sz="14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… = e</a:t>
            </a:r>
            <a:r>
              <a:rPr lang="en-GB" altLang="zh-CN" sz="1400" baseline="-25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4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  <a:endParaRPr lang="zh-CN" altLang="en-US" sz="140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EA2C0C-ABE0-58D5-054E-0C7AB87FF3A7}"/>
              </a:ext>
            </a:extLst>
          </p:cNvPr>
          <p:cNvSpPr/>
          <p:nvPr/>
        </p:nvSpPr>
        <p:spPr>
          <a:xfrm>
            <a:off x="5989320" y="2944368"/>
            <a:ext cx="5422392" cy="2212848"/>
          </a:xfrm>
          <a:prstGeom prst="rect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ADF6B4-F5ED-285E-E2FC-BF4A6F7EB93C}"/>
              </a:ext>
            </a:extLst>
          </p:cNvPr>
          <p:cNvSpPr txBox="1"/>
          <p:nvPr/>
        </p:nvSpPr>
        <p:spPr>
          <a:xfrm>
            <a:off x="6263640" y="3090672"/>
            <a:ext cx="48463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5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特征多项式坍缩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5D209A-B681-3D37-902E-3B23B7AD429F}"/>
              </a:ext>
            </a:extLst>
          </p:cNvPr>
          <p:cNvSpPr txBox="1"/>
          <p:nvPr/>
        </p:nvSpPr>
        <p:spPr>
          <a:xfrm>
            <a:off x="6263640" y="3456432"/>
            <a:ext cx="493776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χ(t) = t</a:t>
            </a:r>
            <a:r>
              <a:rPr lang="de-DE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− e</a:t>
            </a:r>
            <a:r>
              <a:rPr lang="de-DE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de-DE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n−1</a:t>
            </a: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e</a:t>
            </a:r>
            <a:r>
              <a:rPr lang="de-DE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de-DE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n−2</a:t>
            </a: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− … + (−1)</a:t>
            </a:r>
            <a:r>
              <a:rPr lang="de-DE" altLang="zh-CN" sz="11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de-DE" altLang="zh-CN" sz="11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de-DE" altLang="zh-CN" sz="11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de-DE" altLang="zh-CN" sz="18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t</a:t>
            </a:r>
            <a:r>
              <a:rPr lang="de-DE" altLang="zh-CN" sz="1800" baseline="30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1800" baseline="3000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649913-0203-B4C8-45CE-89C036389F8A}"/>
              </a:ext>
            </a:extLst>
          </p:cNvPr>
          <p:cNvSpPr txBox="1"/>
          <p:nvPr/>
        </p:nvSpPr>
        <p:spPr>
          <a:xfrm>
            <a:off x="6263640" y="4553712"/>
            <a:ext cx="48463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11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1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个特征值全为 </a:t>
            </a:r>
            <a:r>
              <a:rPr lang="en-US" altLang="zh-CN" sz="11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1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GB" altLang="zh-CN" sz="11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1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重根）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175396-AB9C-1F6C-9E34-2102C402B124}"/>
              </a:ext>
            </a:extLst>
          </p:cNvPr>
          <p:cNvSpPr/>
          <p:nvPr/>
        </p:nvSpPr>
        <p:spPr>
          <a:xfrm>
            <a:off x="777240" y="5340096"/>
            <a:ext cx="10634472" cy="640080"/>
          </a:xfrm>
          <a:prstGeom prst="rect">
            <a:avLst/>
          </a:prstGeom>
          <a:solidFill>
            <a:srgbClr val="FBF6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F5F3EA-9A5B-8A4B-CC17-2E260FC68367}"/>
              </a:ext>
            </a:extLst>
          </p:cNvPr>
          <p:cNvSpPr txBox="1"/>
          <p:nvPr/>
        </p:nvSpPr>
        <p:spPr>
          <a:xfrm>
            <a:off x="777240" y="5340096"/>
            <a:ext cx="10634472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GB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个迹条件  ⇒  </a:t>
            </a:r>
            <a:r>
              <a:rPr lang="en-GB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en-GB" altLang="zh-CN" sz="12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… = e</a:t>
            </a:r>
            <a:r>
              <a:rPr lang="en-GB" altLang="zh-CN" sz="125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  ⇒  </a:t>
            </a:r>
            <a:r>
              <a:rPr lang="el-GR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χ(</a:t>
            </a:r>
            <a:r>
              <a:rPr lang="en-GB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t) = t</a:t>
            </a:r>
            <a:r>
              <a:rPr lang="en-GB" altLang="zh-CN" sz="125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⇒  </a:t>
            </a:r>
            <a:r>
              <a:rPr lang="zh-CN" altLang="en-US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特征值全为 </a:t>
            </a:r>
            <a:r>
              <a:rPr lang="en-US" altLang="zh-CN" sz="125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125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6DB56E-33A4-24B3-9581-345D5DD74457}"/>
              </a:ext>
            </a:extLst>
          </p:cNvPr>
          <p:cNvSpPr txBox="1"/>
          <p:nvPr/>
        </p:nvSpPr>
        <p:spPr>
          <a:xfrm>
            <a:off x="777240" y="6473952"/>
            <a:ext cx="8229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幂零矩阵与迹的等价性证明  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en-GB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aynku-seu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C30FAF8-C7CB-B178-4D82-BEFCBA140769}"/>
              </a:ext>
            </a:extLst>
          </p:cNvPr>
          <p:cNvSpPr txBox="1"/>
          <p:nvPr/>
        </p:nvSpPr>
        <p:spPr>
          <a:xfrm>
            <a:off x="10058400" y="6473952"/>
            <a:ext cx="1353312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05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0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0DF2ED-A2DA-7980-BB49-9F4BA7D3FC9D}"/>
              </a:ext>
            </a:extLst>
          </p:cNvPr>
          <p:cNvSpPr txBox="1"/>
          <p:nvPr/>
        </p:nvSpPr>
        <p:spPr>
          <a:xfrm>
            <a:off x="777240" y="365760"/>
            <a:ext cx="8686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zh-CN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 ·  </a:t>
            </a:r>
            <a:r>
              <a:rPr lang="zh-CN" altLang="en-US" sz="105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结论与升华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CC2116-602C-CEB4-04A7-BAF83DD4F692}"/>
              </a:ext>
            </a:extLst>
          </p:cNvPr>
          <p:cNvSpPr txBox="1"/>
          <p:nvPr/>
        </p:nvSpPr>
        <p:spPr>
          <a:xfrm>
            <a:off x="777240" y="603504"/>
            <a:ext cx="106070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从迹条件到 </a:t>
            </a:r>
            <a:r>
              <a:rPr lang="en-GB" altLang="zh-CN" sz="2600">
                <a:solidFill>
                  <a:srgbClr val="0E1B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Cayley–Hamilton</a:t>
            </a:r>
            <a:endParaRPr lang="zh-CN" altLang="en-US" sz="2600">
              <a:solidFill>
                <a:srgbClr val="0E1B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6737E0-7ADF-41A5-823B-BD1D9BA29C47}"/>
              </a:ext>
            </a:extLst>
          </p:cNvPr>
          <p:cNvSpPr/>
          <p:nvPr/>
        </p:nvSpPr>
        <p:spPr>
          <a:xfrm>
            <a:off x="795528" y="1243584"/>
            <a:ext cx="566928" cy="4572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AABD0B-5223-50D4-3DA9-A73515EBACAC}"/>
              </a:ext>
            </a:extLst>
          </p:cNvPr>
          <p:cNvSpPr/>
          <p:nvPr/>
        </p:nvSpPr>
        <p:spPr>
          <a:xfrm>
            <a:off x="777240" y="1444752"/>
            <a:ext cx="5074920" cy="3886200"/>
          </a:xfrm>
          <a:prstGeom prst="rect">
            <a:avLst/>
          </a:prstGeom>
          <a:solidFill>
            <a:srgbClr val="F4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C5F762-A7BB-6827-7CAE-D17667A1DC2F}"/>
              </a:ext>
            </a:extLst>
          </p:cNvPr>
          <p:cNvSpPr txBox="1"/>
          <p:nvPr/>
        </p:nvSpPr>
        <p:spPr>
          <a:xfrm>
            <a:off x="1005840" y="1609344"/>
            <a:ext cx="42062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等价链条  </a:t>
            </a:r>
            <a:r>
              <a:rPr lang="en-GB" altLang="zh-CN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EQUIVALENCE</a:t>
            </a:r>
            <a:endParaRPr lang="zh-CN" altLang="en-US" sz="1000">
              <a:solidFill>
                <a:srgbClr val="C9A2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3C8DEB-1132-E1F2-769F-76E6D0A1B04E}"/>
              </a:ext>
            </a:extLst>
          </p:cNvPr>
          <p:cNvSpPr/>
          <p:nvPr/>
        </p:nvSpPr>
        <p:spPr>
          <a:xfrm>
            <a:off x="1005840" y="1920240"/>
            <a:ext cx="4617720" cy="457200"/>
          </a:xfrm>
          <a:prstGeom prst="rect">
            <a:avLst/>
          </a:prstGeom>
          <a:solidFill>
            <a:srgbClr val="0E1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01DE9F-BCF4-8D88-C849-3026E5F7B810}"/>
              </a:ext>
            </a:extLst>
          </p:cNvPr>
          <p:cNvSpPr txBox="1"/>
          <p:nvPr/>
        </p:nvSpPr>
        <p:spPr>
          <a:xfrm>
            <a:off x="1005840" y="1920240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GB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GB" altLang="zh-CN" sz="1200" baseline="30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GB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= 0</a:t>
            </a:r>
            <a:r>
              <a:rPr lang="zh-CN" altLang="en-GB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GB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≤ k ≤ n</a:t>
            </a:r>
            <a:r>
              <a:rPr lang="zh-CN" altLang="en-GB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32C63B-E47E-3B6A-DD16-328A95821725}"/>
              </a:ext>
            </a:extLst>
          </p:cNvPr>
          <p:cNvSpPr txBox="1"/>
          <p:nvPr/>
        </p:nvSpPr>
        <p:spPr>
          <a:xfrm>
            <a:off x="1005840" y="2377440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B1074D-0022-6B71-0CEA-C0F98EB66DBA}"/>
              </a:ext>
            </a:extLst>
          </p:cNvPr>
          <p:cNvSpPr/>
          <p:nvPr/>
        </p:nvSpPr>
        <p:spPr>
          <a:xfrm>
            <a:off x="1005840" y="2578608"/>
            <a:ext cx="4617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451514-B419-E380-68BE-B8790732295D}"/>
              </a:ext>
            </a:extLst>
          </p:cNvPr>
          <p:cNvSpPr txBox="1"/>
          <p:nvPr/>
        </p:nvSpPr>
        <p:spPr>
          <a:xfrm>
            <a:off x="1005840" y="2578608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为幂零矩阵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AF790E-FDE4-16B5-00DD-BE777D4C3885}"/>
              </a:ext>
            </a:extLst>
          </p:cNvPr>
          <p:cNvSpPr txBox="1"/>
          <p:nvPr/>
        </p:nvSpPr>
        <p:spPr>
          <a:xfrm>
            <a:off x="1005840" y="3035808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A85B21-48CF-719B-CACF-002B93CDCE06}"/>
              </a:ext>
            </a:extLst>
          </p:cNvPr>
          <p:cNvSpPr/>
          <p:nvPr/>
        </p:nvSpPr>
        <p:spPr>
          <a:xfrm>
            <a:off x="1005840" y="3236976"/>
            <a:ext cx="4617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0FF96C-BD9A-463F-EADC-F7513C7835B6}"/>
              </a:ext>
            </a:extLst>
          </p:cNvPr>
          <p:cNvSpPr txBox="1"/>
          <p:nvPr/>
        </p:nvSpPr>
        <p:spPr>
          <a:xfrm>
            <a:off x="1005840" y="3236976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谱 </a:t>
            </a:r>
            <a:r>
              <a:rPr lang="el-GR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σ(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A) = {0}</a:t>
            </a:r>
            <a:endParaRPr lang="zh-CN" altLang="en-US" sz="120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6CA906-900E-4DC5-9BBF-081413EC7C8E}"/>
              </a:ext>
            </a:extLst>
          </p:cNvPr>
          <p:cNvSpPr txBox="1"/>
          <p:nvPr/>
        </p:nvSpPr>
        <p:spPr>
          <a:xfrm>
            <a:off x="1005840" y="3694176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BA98DE-91E7-C296-DA24-30082B03E537}"/>
              </a:ext>
            </a:extLst>
          </p:cNvPr>
          <p:cNvSpPr/>
          <p:nvPr/>
        </p:nvSpPr>
        <p:spPr>
          <a:xfrm>
            <a:off x="1005840" y="3895344"/>
            <a:ext cx="4617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6E559C-9B38-26CD-3496-D91C2A0011B0}"/>
              </a:ext>
            </a:extLst>
          </p:cNvPr>
          <p:cNvSpPr txBox="1"/>
          <p:nvPr/>
        </p:nvSpPr>
        <p:spPr>
          <a:xfrm>
            <a:off x="1005840" y="3895344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l-GR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</a:t>
            </a:r>
            <a:r>
              <a:rPr lang="en-GB" altLang="zh-CN" sz="1200" baseline="-25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GB" altLang="zh-CN" sz="12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(t) = t</a:t>
            </a:r>
            <a:r>
              <a:rPr lang="en-GB" altLang="zh-CN" sz="1200" baseline="30000">
                <a:solidFill>
                  <a:srgbClr val="1420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1200" baseline="30000">
              <a:solidFill>
                <a:srgbClr val="1420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5C8A75-A8AE-F500-4CAC-9DCC0B83F6A0}"/>
              </a:ext>
            </a:extLst>
          </p:cNvPr>
          <p:cNvSpPr txBox="1"/>
          <p:nvPr/>
        </p:nvSpPr>
        <p:spPr>
          <a:xfrm>
            <a:off x="1005840" y="4352544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00">
                <a:solidFill>
                  <a:srgbClr val="C9A2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4C78CF-6112-184D-66A0-BF082BC62E38}"/>
              </a:ext>
            </a:extLst>
          </p:cNvPr>
          <p:cNvSpPr/>
          <p:nvPr/>
        </p:nvSpPr>
        <p:spPr>
          <a:xfrm>
            <a:off x="1005840" y="4553712"/>
            <a:ext cx="4617720" cy="457200"/>
          </a:xfrm>
          <a:prstGeom prst="rect">
            <a:avLst/>
          </a:prstGeom>
          <a:solidFill>
            <a:srgbClr val="0E1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1D4CBC-15B5-1592-BC97-5C19C846B721}"/>
              </a:ext>
            </a:extLst>
          </p:cNvPr>
          <p:cNvSpPr txBox="1"/>
          <p:nvPr/>
        </p:nvSpPr>
        <p:spPr>
          <a:xfrm>
            <a:off x="1005840" y="4553712"/>
            <a:ext cx="46177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GB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GB" altLang="zh-CN" sz="1200" baseline="30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49105A-53E5-613A-1F6F-55621BF57861}"/>
              </a:ext>
            </a:extLst>
          </p:cNvPr>
          <p:cNvSpPr txBox="1"/>
          <p:nvPr/>
        </p:nvSpPr>
        <p:spPr>
          <a:xfrm>
            <a:off x="6080760" y="1481328"/>
            <a:ext cx="53035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3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 迹是谱的指纹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3D0662-C7B2-0C30-AB89-E7D9A2D4E0D8}"/>
              </a:ext>
            </a:extLst>
          </p:cNvPr>
          <p:cNvSpPr txBox="1"/>
          <p:nvPr/>
        </p:nvSpPr>
        <p:spPr>
          <a:xfrm>
            <a:off x="6080760" y="1801368"/>
            <a:ext cx="5257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tr(A</a:t>
            </a:r>
            <a:r>
              <a:rPr lang="en-US" altLang="zh-CN" sz="1050" baseline="30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en-US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lang="zh-CN" altLang="en-US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只由特征值决定，相似变换不改变这些等式。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9CBD10-5F33-2791-2A19-992ECAB7AD55}"/>
              </a:ext>
            </a:extLst>
          </p:cNvPr>
          <p:cNvSpPr txBox="1"/>
          <p:nvPr/>
        </p:nvSpPr>
        <p:spPr>
          <a:xfrm>
            <a:off x="6080760" y="2779776"/>
            <a:ext cx="53035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13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 Newton </a:t>
            </a:r>
            <a:r>
              <a:rPr lang="zh-CN" altLang="en-US" sz="13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恒等式是桥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1ABD00E-1561-8064-F1AF-9B2286CE9746}"/>
              </a:ext>
            </a:extLst>
          </p:cNvPr>
          <p:cNvSpPr txBox="1"/>
          <p:nvPr/>
        </p:nvSpPr>
        <p:spPr>
          <a:xfrm>
            <a:off x="6080760" y="3099816"/>
            <a:ext cx="5257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个幂和 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GB" altLang="zh-CN" sz="1050" baseline="-25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…, p</a:t>
            </a:r>
            <a:r>
              <a:rPr lang="en-GB" altLang="zh-CN" sz="1050" baseline="-25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唯一确定 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en-GB" altLang="zh-CN" sz="1050" baseline="-25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…, e</a:t>
            </a:r>
            <a:r>
              <a:rPr lang="en-GB" altLang="zh-CN" sz="1050" baseline="-25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GB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从而锁死 </a:t>
            </a:r>
            <a:r>
              <a:rPr lang="el-GR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χ(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t)</a:t>
            </a:r>
            <a:r>
              <a:rPr lang="zh-CN" altLang="en-GB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05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7B7D5A-3D4B-E50C-5F04-F41B8AAD9C36}"/>
              </a:ext>
            </a:extLst>
          </p:cNvPr>
          <p:cNvSpPr txBox="1"/>
          <p:nvPr/>
        </p:nvSpPr>
        <p:spPr>
          <a:xfrm>
            <a:off x="6080760" y="4078224"/>
            <a:ext cx="530352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GB" altLang="zh-CN" sz="13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 Cayley–Hamilton </a:t>
            </a:r>
            <a:r>
              <a:rPr lang="zh-CN" altLang="en-US" sz="1300">
                <a:solidFill>
                  <a:srgbClr val="2F5D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E5B472-9B28-0FB6-4C3F-618E4B5BC1F8}"/>
              </a:ext>
            </a:extLst>
          </p:cNvPr>
          <p:cNvSpPr txBox="1"/>
          <p:nvPr/>
        </p:nvSpPr>
        <p:spPr>
          <a:xfrm>
            <a:off x="6080760" y="4398264"/>
            <a:ext cx="5257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l-GR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χ(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A) = O </a:t>
            </a:r>
            <a:r>
              <a:rPr lang="zh-CN" altLang="en-US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把标量恒等式升格为矩阵恒等式，立即给出 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GB" altLang="zh-CN" sz="1050" baseline="300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</a:t>
            </a:r>
            <a:r>
              <a:rPr lang="zh-CN" altLang="en-GB" sz="105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05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11E593-ACAA-822C-F481-D1250989C4EB}"/>
              </a:ext>
            </a:extLst>
          </p:cNvPr>
          <p:cNvSpPr/>
          <p:nvPr/>
        </p:nvSpPr>
        <p:spPr>
          <a:xfrm>
            <a:off x="777240" y="5486400"/>
            <a:ext cx="10634472" cy="566928"/>
          </a:xfrm>
          <a:prstGeom prst="rect">
            <a:avLst/>
          </a:prstGeom>
          <a:solidFill>
            <a:srgbClr val="0E1B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019E9E-531D-69B1-F314-82686F61D33E}"/>
              </a:ext>
            </a:extLst>
          </p:cNvPr>
          <p:cNvSpPr txBox="1"/>
          <p:nvPr/>
        </p:nvSpPr>
        <p:spPr>
          <a:xfrm>
            <a:off x="1005840" y="5486400"/>
            <a:ext cx="1014984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GB" altLang="zh-CN" sz="900" b="1">
                <a:solidFill>
                  <a:srgbClr val="E8CF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CAYLEY–HAMILTON   </a:t>
            </a:r>
            <a:r>
              <a:rPr lang="el-GR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χ</a:t>
            </a:r>
            <a:r>
              <a:rPr lang="en-GB" altLang="zh-CN" baseline="-25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GB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 = O   ⇒   A</a:t>
            </a:r>
            <a:r>
              <a:rPr lang="en-GB" altLang="zh-CN" baseline="30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GB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   ⇒   A </a:t>
            </a:r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为幂零矩阵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B0A6E6-E338-0A27-C76F-46D1ECDEF820}"/>
              </a:ext>
            </a:extLst>
          </p:cNvPr>
          <p:cNvSpPr txBox="1"/>
          <p:nvPr/>
        </p:nvSpPr>
        <p:spPr>
          <a:xfrm>
            <a:off x="777240" y="6473952"/>
            <a:ext cx="8229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幂零矩阵与迹的等价性证明  </a:t>
            </a: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en-GB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aynku-seu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B1D506-B8AD-E2F9-351B-2440CB369CD5}"/>
              </a:ext>
            </a:extLst>
          </p:cNvPr>
          <p:cNvSpPr txBox="1"/>
          <p:nvPr/>
        </p:nvSpPr>
        <p:spPr>
          <a:xfrm>
            <a:off x="10058400" y="6473952"/>
            <a:ext cx="1353312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altLang="zh-CN" sz="900">
                <a:solidFill>
                  <a:srgbClr val="5C6B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05</a:t>
            </a:r>
            <a:endParaRPr lang="zh-CN" altLang="en-US" sz="900">
              <a:solidFill>
                <a:srgbClr val="5C6B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951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3252</Words>
  <Application>Microsoft Office PowerPoint</Application>
  <PresentationFormat>自定义</PresentationFormat>
  <Paragraphs>174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 Demo：幂零矩阵与迹的等价性证明</dc:title>
  <dc:subject>Newton 恒等式与 Cayley–Hamilton 定理</dc:subject>
  <dc:creator>aynku-seu</dc:creator>
  <cp:keywords>线性代数; 幂零矩阵; 迹; Newton 恒等式; Cayley–Hamilton</cp:keywords>
  <cp:lastModifiedBy>aynku-seu</cp:lastModifiedBy>
  <cp:revision>1</cp:revision>
  <dcterms:created xsi:type="dcterms:W3CDTF">2026-10-18T00:00:00Z</dcterms:created>
  <dcterms:modified xsi:type="dcterms:W3CDTF">2026-10-18T00:00:00Z</dcterms:modified>
</cp:coreProperties>
</file>