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2" r:id="rId3"/>
    <p:sldId id="264" r:id="rId4"/>
    <p:sldId id="256" r:id="rId5"/>
    <p:sldId id="266" r:id="rId6"/>
    <p:sldId id="257" r:id="rId7"/>
    <p:sldId id="267" r:id="rId8"/>
    <p:sldId id="258" r:id="rId9"/>
    <p:sldId id="268" r:id="rId10"/>
    <p:sldId id="259" r:id="rId11"/>
    <p:sldId id="269" r:id="rId12"/>
    <p:sldId id="260" r:id="rId13"/>
    <p:sldId id="265" r:id="rId14"/>
    <p:sldId id="261" r:id="rId1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54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445" y="0"/>
            <a:ext cx="12195175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445" y="0"/>
            <a:ext cx="1224661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502920" rIns="411480" rtlCol="0" anchor="ctr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一道 0/0 型极限题的求解与反思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92840" y="6400800"/>
            <a:ext cx="6858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5A5A"/>
                </a:solidFill>
                <a:latin typeface="微软雅黑" panose="020B0503020204020204" charset="-122"/>
                <a:ea typeface="微软雅黑" panose="020B0503020204020204" charset="-122"/>
              </a:rPr>
              <a:t>1 / 6</a:t>
            </a:r>
            <a:endParaRPr sz="1000" b="0">
              <a:solidFill>
                <a:srgbClr val="5A5A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2C6FB8"/>
                </a:solidFill>
                <a:latin typeface="微软雅黑" panose="020B0503020204020204" charset="-122"/>
                <a:ea typeface="微软雅黑" panose="020B0503020204020204" charset="-122"/>
              </a:rPr>
              <a:t>副题：等价无穷小替换的适用边界</a:t>
            </a:r>
            <a:endParaRPr sz="1350" b="1">
              <a:solidFill>
                <a:srgbClr val="2C6F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556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3B63"/>
                </a:solidFill>
                <a:latin typeface="微软雅黑" panose="020B0503020204020204" charset="-122"/>
                <a:ea typeface="微软雅黑" panose="020B0503020204020204" charset="-122"/>
              </a:rPr>
              <a:t>一、题目与问题分析</a:t>
            </a:r>
            <a:endParaRPr sz="1600" b="1">
              <a:solidFill>
                <a:srgbClr val="1F3B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2920" y="1956816"/>
            <a:ext cx="5074920" cy="1115568"/>
          </a:xfrm>
          <a:prstGeom prst="cloud">
            <a:avLst/>
          </a:prstGeom>
          <a:solidFill>
            <a:srgbClr val="EEF3FA"/>
          </a:solidFill>
          <a:ln w="12700">
            <a:solidFill>
              <a:srgbClr val="2C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73152" rtlCol="0" anchor="ctr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F3B63"/>
                </a:solidFill>
                <a:latin typeface="微软雅黑" panose="020B0503020204020204" charset="-122"/>
                <a:ea typeface="微软雅黑" panose="020B0503020204020204" charset="-122"/>
              </a:rPr>
              <a:t>求极限：</a:t>
            </a:r>
            <a:endParaRPr sz="1300" b="1">
              <a:solidFill>
                <a:srgbClr val="1F3B6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F3B63"/>
                </a:solidFill>
                <a:latin typeface="微软雅黑" panose="020B0503020204020204" charset="-122"/>
                <a:ea typeface="微软雅黑" panose="020B0503020204020204" charset="-122"/>
              </a:rPr>
              <a:t>lim(x→0)  [ cos x − e^(−x²/2) ] / x⁴</a:t>
            </a:r>
            <a:endParaRPr sz="1900" b="1">
              <a:solidFill>
                <a:srgbClr val="1F3B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870448" y="1956816"/>
            <a:ext cx="5815584" cy="1115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B31B1B"/>
                </a:solidFill>
                <a:latin typeface="微软雅黑" panose="020B0503020204020204" charset="-122"/>
                <a:ea typeface="微软雅黑" panose="020B0503020204020204" charset="-122"/>
              </a:rPr>
              <a:t>题型判定：0/0 型未定式</a:t>
            </a:r>
            <a:endParaRPr sz="1400" b="1">
              <a:solidFill>
                <a:srgbClr val="B31B1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x → 0 时，分子 cos 0 − e⁰ = 1 − 1 = 0；分母 0⁴ = 0。两极限均为零，不能直接代入求值，必须作展开或恒等变形。</a:t>
            </a:r>
            <a:endParaRPr sz="13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3255264"/>
            <a:ext cx="11183112" cy="1115568"/>
          </a:xfrm>
          <a:prstGeom prst="roundRect">
            <a:avLst>
              <a:gd name="adj" fmla="val 6000"/>
            </a:avLst>
          </a:prstGeom>
          <a:solidFill>
            <a:srgbClr val="FDF6E7"/>
          </a:solidFill>
          <a:ln w="12700">
            <a:solidFill>
              <a:srgbClr val="D9A4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73152" rtlCol="0" anchor="ctr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8A5A00"/>
                </a:solidFill>
                <a:latin typeface="微软雅黑" panose="020B0503020204020204" charset="-122"/>
                <a:ea typeface="微软雅黑" panose="020B0503020204020204" charset="-122"/>
              </a:rPr>
              <a:t>结构观察（本题的关键提示）</a:t>
            </a:r>
            <a:endParaRPr sz="1400" b="1">
              <a:solidFill>
                <a:srgbClr val="8A5A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分母为 x⁴（四阶无穷小），提示分子中低于四阶的项将被约去；决定极限值的是分子展开中第一个不为零的项，其阶数预期为 4。</a:t>
            </a:r>
            <a:endParaRPr sz="13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4663440"/>
            <a:ext cx="55321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1F3B63"/>
                </a:solidFill>
                <a:latin typeface="微软雅黑" panose="020B0503020204020204" charset="-122"/>
                <a:ea typeface="微软雅黑" panose="020B0503020204020204" charset="-122"/>
              </a:rPr>
              <a:t>涉及知识点</a:t>
            </a:r>
            <a:endParaRPr sz="1400" b="1">
              <a:solidFill>
                <a:srgbClr val="1F3B6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· 麦克劳林（Taylor）展开</a:t>
            </a:r>
            <a:endParaRPr sz="13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· 等价无穷小替换的适用条件</a:t>
            </a:r>
            <a:endParaRPr sz="13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· o(·) 记号与余项估计</a:t>
            </a:r>
            <a:endParaRPr sz="13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· 与洛必达法则的可行性比较</a:t>
            </a:r>
            <a:endParaRPr sz="13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63640" y="4663440"/>
            <a:ext cx="5422392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1F3B63"/>
                </a:solidFill>
                <a:latin typeface="微软雅黑" panose="020B0503020204020204" charset="-122"/>
                <a:ea typeface="微软雅黑" panose="020B0503020204020204" charset="-122"/>
              </a:rPr>
              <a:t>本次汇报目标</a:t>
            </a:r>
            <a:endParaRPr sz="1400" b="1">
              <a:solidFill>
                <a:srgbClr val="1F3B6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1. 给出完整、严格正确的解析过程；</a:t>
            </a:r>
            <a:endParaRPr sz="13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2. 剖析一种常见错误解法的成因；</a:t>
            </a:r>
            <a:endParaRPr sz="13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3. 用 Python 数值实验加以验证；</a:t>
            </a:r>
            <a:endParaRPr sz="13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4. 总结方法边界与 AI 辅助学习体会。</a:t>
            </a:r>
            <a:endParaRPr sz="13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" name="图片 10" descr="涌泉池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8505" y="4553585"/>
            <a:ext cx="2529840" cy="17240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42545"/>
            <a:ext cx="12229465" cy="67481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502920" rIns="411480" rtlCol="0" anchor="ctr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错误解法剖析：为何“等价无穷小替换”在此失效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92840" y="6400800"/>
            <a:ext cx="6858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5A5A"/>
                </a:solidFill>
                <a:latin typeface="微软雅黑" panose="020B0503020204020204" charset="-122"/>
                <a:ea typeface="微软雅黑" panose="020B0503020204020204" charset="-122"/>
              </a:rPr>
              <a:t>2 / 6</a:t>
            </a:r>
            <a:endParaRPr sz="1000" b="0">
              <a:solidFill>
                <a:srgbClr val="5A5A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1152144"/>
            <a:ext cx="5486400" cy="2194560"/>
          </a:xfrm>
          <a:prstGeom prst="roundRect">
            <a:avLst>
              <a:gd name="adj" fmla="val 6000"/>
            </a:avLst>
          </a:prstGeom>
          <a:solidFill>
            <a:srgbClr val="FDEEEE"/>
          </a:solidFill>
          <a:ln w="12700">
            <a:solidFill>
              <a:srgbClr val="B3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73152" rtlCol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B31B1B"/>
                </a:solidFill>
                <a:latin typeface="微软雅黑" panose="020B0503020204020204" charset="-122"/>
                <a:ea typeface="微软雅黑" panose="020B0503020204020204" charset="-122"/>
              </a:rPr>
              <a:t>错误解法</a:t>
            </a:r>
            <a:endParaRPr sz="1500" b="1">
              <a:solidFill>
                <a:srgbClr val="B31B1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由常用等价无穷小：</a:t>
            </a:r>
            <a:endParaRPr sz="125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1F3B63"/>
                </a:solidFill>
                <a:latin typeface="微软雅黑" panose="020B0503020204020204" charset="-122"/>
                <a:ea typeface="微软雅黑" panose="020B0503020204020204" charset="-122"/>
              </a:rPr>
              <a:t>cos x ~ 1 − x²/2 ，e^(−x²/2) ~ 1 − x²/2</a:t>
            </a:r>
            <a:endParaRPr sz="1350" b="1">
              <a:solidFill>
                <a:srgbClr val="1F3B6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两主项完全相同，相减后：</a:t>
            </a:r>
            <a:endParaRPr sz="125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1F3B63"/>
                </a:solidFill>
                <a:latin typeface="微软雅黑" panose="020B0503020204020204" charset="-122"/>
                <a:ea typeface="微软雅黑" panose="020B0503020204020204" charset="-122"/>
              </a:rPr>
              <a:t>(1 − x²/2) − (1 − x²/2) = 0</a:t>
            </a:r>
            <a:endParaRPr sz="1350" b="1">
              <a:solidFill>
                <a:srgbClr val="1F3B6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B31B1B"/>
                </a:solidFill>
                <a:latin typeface="微软雅黑" panose="020B0503020204020204" charset="-122"/>
                <a:ea typeface="微软雅黑" panose="020B0503020204020204" charset="-122"/>
              </a:rPr>
              <a:t>⇒ lim(x→0) 0 / x⁴ = 0      ✗ 错误</a:t>
            </a:r>
            <a:endParaRPr sz="1400" b="1">
              <a:solidFill>
                <a:srgbClr val="B31B1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B31B1B"/>
                </a:solidFill>
                <a:latin typeface="微软雅黑" panose="020B0503020204020204" charset="-122"/>
                <a:ea typeface="微软雅黑" panose="020B0503020204020204" charset="-122"/>
              </a:rPr>
              <a:t>正确结果为  −1/12 。</a:t>
            </a:r>
            <a:endParaRPr sz="1250" b="1">
              <a:solidFill>
                <a:srgbClr val="B31B1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217920" y="1152144"/>
            <a:ext cx="5468112" cy="219456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 w="12700">
            <a:solidFill>
              <a:srgbClr val="2C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73152" rtlCol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3B63"/>
                </a:solidFill>
                <a:latin typeface="微软雅黑" panose="020B0503020204020204" charset="-122"/>
                <a:ea typeface="微软雅黑" panose="020B0503020204020204" charset="-122"/>
              </a:rPr>
              <a:t>错误根源</a:t>
            </a:r>
            <a:endParaRPr sz="1500" b="1">
              <a:solidFill>
                <a:srgbClr val="1F3B6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等价无穷小 f ~ g 的本质是 f = g + o(g)，仅保证最低阶主项相同，更高阶信息全部被并入 o(g)。</a:t>
            </a:r>
            <a:endParaRPr sz="125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1B6B3A"/>
                </a:solidFill>
                <a:latin typeface="微软雅黑" panose="020B0503020204020204" charset="-122"/>
                <a:ea typeface="微软雅黑" panose="020B0503020204020204" charset="-122"/>
              </a:rPr>
              <a:t>乘除结构：主项决定结果，替换安全。</a:t>
            </a:r>
            <a:endParaRPr sz="1250" b="1">
              <a:solidFill>
                <a:srgbClr val="1B6B3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如  lim(x→0) sin x / x = lim(x→0) x / x = 1</a:t>
            </a:r>
            <a:endParaRPr sz="12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B31B1B"/>
                </a:solidFill>
                <a:latin typeface="微软雅黑" panose="020B0503020204020204" charset="-122"/>
                <a:ea typeface="微软雅黑" panose="020B0503020204020204" charset="-122"/>
              </a:rPr>
              <a:t>加减结构：若两项主项相消，则结果由更高阶项决定，而高阶项正落在被丢弃的 o(g) 之中。</a:t>
            </a:r>
            <a:endParaRPr sz="1250" b="1">
              <a:solidFill>
                <a:srgbClr val="B31B1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2920" y="3511296"/>
            <a:ext cx="11183112" cy="1225296"/>
          </a:xfrm>
          <a:prstGeom prst="roundRect">
            <a:avLst>
              <a:gd name="adj" fmla="val 6000"/>
            </a:avLst>
          </a:prstGeom>
          <a:solidFill>
            <a:srgbClr val="FDF6E7"/>
          </a:solidFill>
          <a:ln w="12700">
            <a:solidFill>
              <a:srgbClr val="D9A4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73152" rtlCol="0" anchor="ctr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8A5A00"/>
                </a:solidFill>
                <a:latin typeface="微软雅黑" panose="020B0503020204020204" charset="-122"/>
                <a:ea typeface="微软雅黑" panose="020B0503020204020204" charset="-122"/>
              </a:rPr>
              <a:t>本题情形：答案就藏在被丢弃的高阶项里</a:t>
            </a:r>
            <a:endParaRPr sz="1400" b="1">
              <a:solidFill>
                <a:srgbClr val="8A5A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cos x 的 o(x²) 中隐含 x⁴/24 ；e^(−x²/2) 的 o(x²) 中隐含 x⁴/8 。二者四阶项之差 −1/12 恰为本题答案，替换操作把答案一并舍弃。</a:t>
            </a:r>
            <a:endParaRPr sz="13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5A5A"/>
                </a:solidFill>
                <a:latin typeface="微软雅黑" panose="020B0503020204020204" charset="-122"/>
                <a:ea typeface="微软雅黑" panose="020B0503020204020204" charset="-122"/>
              </a:rPr>
              <a:t>类比：tan x − sin x 若替换为 x − x = 0 则失真，实际 tan x − sin x ~ x³/2 。</a:t>
            </a:r>
            <a:endParaRPr sz="1200" b="0">
              <a:solidFill>
                <a:srgbClr val="5A5A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4901184"/>
            <a:ext cx="11183112" cy="1536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F3B63"/>
                </a:solidFill>
                <a:latin typeface="微软雅黑" panose="020B0503020204020204" charset="-122"/>
                <a:ea typeface="微软雅黑" panose="020B0503020204020204" charset="-122"/>
              </a:rPr>
              <a:t>结论</a:t>
            </a:r>
            <a:endParaRPr sz="1400" b="1">
              <a:solidFill>
                <a:srgbClr val="1F3B6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B31B1B"/>
                </a:solidFill>
                <a:latin typeface="微软雅黑" panose="020B0503020204020204" charset="-122"/>
                <a:ea typeface="微软雅黑" panose="020B0503020204020204" charset="-122"/>
              </a:rPr>
              <a:t>凡“相减且主项相同”的情形，必须展开至第一个不抵消的阶；等价无穷小替换在此不可用。</a:t>
            </a:r>
            <a:endParaRPr sz="1350" b="1">
              <a:solidFill>
                <a:srgbClr val="B31B1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3B63"/>
                </a:solidFill>
                <a:latin typeface="微软雅黑" panose="020B0503020204020204" charset="-122"/>
                <a:ea typeface="微软雅黑" panose="020B0503020204020204" charset="-122"/>
              </a:rPr>
              <a:t>记忆口诀：乘除可换，加减慎换；一相减相消，就展开到“第一个不抵消的阶”。</a:t>
            </a:r>
            <a:endParaRPr sz="1300" b="1">
              <a:solidFill>
                <a:srgbClr val="1F3B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图片 7" descr="东南大学校徽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9260" y="4840605"/>
            <a:ext cx="1593850" cy="15970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42545"/>
            <a:ext cx="12150090" cy="68154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502920" rIns="411480" rtlCol="0" anchor="ctr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正确解法（上）：两个基本麦克劳林展开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92840" y="6400800"/>
            <a:ext cx="6858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5A5A"/>
                </a:solidFill>
                <a:latin typeface="微软雅黑" panose="020B0503020204020204" charset="-122"/>
                <a:ea typeface="微软雅黑" panose="020B0503020204020204" charset="-122"/>
              </a:rPr>
              <a:t>3 / 6</a:t>
            </a:r>
            <a:endParaRPr sz="1000" b="0">
              <a:solidFill>
                <a:srgbClr val="5A5A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1152144"/>
            <a:ext cx="11183112" cy="1152144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2C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73152" rtlCol="0" anchor="ctr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F3B63"/>
                </a:solidFill>
                <a:latin typeface="微软雅黑" panose="020B0503020204020204" charset="-122"/>
                <a:ea typeface="微软雅黑" panose="020B0503020204020204" charset="-122"/>
              </a:rPr>
              <a:t>① cos x 的麦克劳林展开</a:t>
            </a:r>
            <a:endParaRPr sz="1400" b="1">
              <a:solidFill>
                <a:srgbClr val="1F3B6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cos x = 1 − x²/2! + x⁴/4! − x⁶/6! + ⋯ = 1 − x²/2 + x⁴/24 − x⁶/720 + o(x⁶)</a:t>
            </a:r>
            <a:endParaRPr sz="145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2450592"/>
            <a:ext cx="11183112" cy="1883664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2C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73152" rtlCol="0" anchor="t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1F3B63"/>
                </a:solidFill>
                <a:latin typeface="微软雅黑" panose="020B0503020204020204" charset="-122"/>
                <a:ea typeface="微软雅黑" panose="020B0503020204020204" charset="-122"/>
              </a:rPr>
              <a:t>② e^t 的展开及代换（令 t = −x²/2 ）</a:t>
            </a:r>
            <a:endParaRPr sz="1400" b="1">
              <a:solidFill>
                <a:srgbClr val="1F3B6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spcBef>
                <a:spcPts val="0"/>
              </a:spcBef>
              <a:spcAft>
                <a:spcPts val="700"/>
              </a:spcAft>
            </a:pPr>
            <a:r>
              <a:rPr sz="13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e^t = 1 + t + t²/2! + t³/3! + o(t³)</a:t>
            </a:r>
            <a:endParaRPr sz="135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t = −x²/2 ，  t²/2 = (1/2)(x⁴/4) = x⁴/8 ，  t³/6 = (1/6)(−x⁶/8) = −x⁶/48</a:t>
            </a:r>
            <a:endParaRPr sz="13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e^(−x²/2) = 1 − x²/2 + x⁴/8 − x⁶/48 + o(x⁶)</a:t>
            </a:r>
            <a:endParaRPr sz="145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2920" y="4480560"/>
            <a:ext cx="5486400" cy="1892807"/>
          </a:xfrm>
          <a:prstGeom prst="roundRect">
            <a:avLst>
              <a:gd name="adj" fmla="val 6000"/>
            </a:avLst>
          </a:prstGeom>
          <a:solidFill>
            <a:srgbClr val="FDF6E7"/>
          </a:solidFill>
          <a:ln w="12700">
            <a:solidFill>
              <a:srgbClr val="D9A4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73152" rtlCol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8A5A00"/>
                </a:solidFill>
                <a:latin typeface="微软雅黑" panose="020B0503020204020204" charset="-122"/>
                <a:ea typeface="微软雅黑" panose="020B0503020204020204" charset="-122"/>
              </a:rPr>
              <a:t>展开阶数的选取原则</a:t>
            </a:r>
            <a:endParaRPr sz="1400" b="1">
              <a:solidFill>
                <a:srgbClr val="8A5A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题目要求展开至 x⁴ 阶；此处额外保留至 x⁶ 阶，以便将余项统一写作 o(x⁶)。除以 x⁴ 后余项为 o(x²) → 0，推导的严格性由此得到保证。</a:t>
            </a:r>
            <a:endParaRPr sz="125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17920" y="4480560"/>
            <a:ext cx="5468112" cy="1892807"/>
          </a:xfrm>
          <a:prstGeom prst="roundRect">
            <a:avLst>
              <a:gd name="adj" fmla="val 6000"/>
            </a:avLst>
          </a:prstGeom>
          <a:solidFill>
            <a:srgbClr val="FDEEEE"/>
          </a:solidFill>
          <a:ln w="12700">
            <a:solidFill>
              <a:srgbClr val="B3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73152" rtlCol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B31B1B"/>
                </a:solidFill>
                <a:latin typeface="微软雅黑" panose="020B0503020204020204" charset="-122"/>
                <a:ea typeface="微软雅黑" panose="020B0503020204020204" charset="-122"/>
              </a:rPr>
              <a:t>要点提示</a:t>
            </a:r>
            <a:endParaRPr sz="1400" b="1">
              <a:solidFill>
                <a:srgbClr val="B31B1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两个展开必须展开到同一阶，否则相减之后余项的阶数不一致，无法判断抵消后剩余的最高有效阶，推导将失去依据。</a:t>
            </a:r>
            <a:endParaRPr sz="125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05" y="67310"/>
            <a:ext cx="12138660" cy="67906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502920" rIns="411480" rtlCol="0" anchor="ctr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正确解法（下）：逐项相消、化简与最终结果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92840" y="6400800"/>
            <a:ext cx="6858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5A5A"/>
                </a:solidFill>
                <a:latin typeface="微软雅黑" panose="020B0503020204020204" charset="-122"/>
                <a:ea typeface="微软雅黑" panose="020B0503020204020204" charset="-122"/>
              </a:rPr>
              <a:t>4 / 6</a:t>
            </a:r>
            <a:endParaRPr sz="1000" b="0">
              <a:solidFill>
                <a:srgbClr val="5A5A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152144"/>
            <a:ext cx="56235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3B63"/>
                </a:solidFill>
                <a:latin typeface="微软雅黑" panose="020B0503020204020204" charset="-122"/>
                <a:ea typeface="微软雅黑" panose="020B0503020204020204" charset="-122"/>
              </a:rPr>
              <a:t>① 逐项相减的阶数对照</a:t>
            </a:r>
            <a:endParaRPr sz="1400" b="1">
              <a:solidFill>
                <a:srgbClr val="1F3B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99616"/>
          <a:ext cx="5623557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365"/>
                <a:gridCol w="992392"/>
                <a:gridCol w="1134163"/>
                <a:gridCol w="2693637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阶数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2C6FB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cos x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2C6FB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e^(−x²/2)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2C6FB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差值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2C6FB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x⁰</a:t>
                      </a:r>
                      <a:endParaRPr sz="115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sz="115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sz="115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0（相消）</a:t>
                      </a:r>
                      <a:endParaRPr sz="115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x²</a:t>
                      </a:r>
                      <a:endParaRPr sz="115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−1/2</a:t>
                      </a:r>
                      <a:endParaRPr sz="115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−1/2</a:t>
                      </a:r>
                      <a:endParaRPr sz="115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0（相消）</a:t>
                      </a:r>
                      <a:endParaRPr sz="115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x⁴</a:t>
                      </a:r>
                      <a:endParaRPr sz="115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1/24</a:t>
                      </a:r>
                      <a:endParaRPr sz="115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1/8</a:t>
                      </a:r>
                      <a:endParaRPr sz="115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1/24 − 3/24 = −1/12</a:t>
                      </a:r>
                      <a:endParaRPr sz="115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x⁶</a:t>
                      </a:r>
                      <a:endParaRPr sz="115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−1/720</a:t>
                      </a:r>
                      <a:endParaRPr sz="115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−1/48</a:t>
                      </a:r>
                      <a:endParaRPr sz="115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−1/720 + 15/720 = 1/144</a:t>
                      </a:r>
                      <a:endParaRPr sz="105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02920" y="3566160"/>
            <a:ext cx="5623560" cy="109728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 w="12700">
            <a:solidFill>
              <a:srgbClr val="2C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73152" rtlCol="0" anchor="ctr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F3B63"/>
                </a:solidFill>
                <a:latin typeface="微软雅黑" panose="020B0503020204020204" charset="-122"/>
                <a:ea typeface="微软雅黑" panose="020B0503020204020204" charset="-122"/>
              </a:rPr>
              <a:t>② 分子展开结果</a:t>
            </a:r>
            <a:endParaRPr sz="1300" b="1">
              <a:solidFill>
                <a:srgbClr val="1F3B6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cos x − e^(−x²/2) = −x⁴/12 + x⁶/144 + o(x⁶)</a:t>
            </a:r>
            <a:endParaRPr sz="140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4809744"/>
            <a:ext cx="5623560" cy="1563624"/>
          </a:xfrm>
          <a:prstGeom prst="flowChartMultidocument">
            <a:avLst/>
          </a:prstGeom>
          <a:solidFill>
            <a:srgbClr val="FDF6E7"/>
          </a:solidFill>
          <a:ln w="12700">
            <a:solidFill>
              <a:srgbClr val="D9A4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73152" rtlCol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8A5A00"/>
                </a:solidFill>
                <a:latin typeface="微软雅黑" panose="020B0503020204020204" charset="-122"/>
                <a:ea typeface="微软雅黑" panose="020B0503020204020204" charset="-122"/>
              </a:rPr>
              <a:t>③ 结果的意义</a:t>
            </a:r>
            <a:endParaRPr sz="1300" b="1">
              <a:solidFill>
                <a:srgbClr val="8A5A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常数项与 x² 项完全相消，分子自四阶起才出现非零项，与分母为 x⁴ 的设计互为印证。</a:t>
            </a:r>
            <a:endParaRPr sz="125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355080" y="1499616"/>
            <a:ext cx="5330952" cy="1920240"/>
          </a:xfrm>
          <a:prstGeom prst="hexagon">
            <a:avLst/>
          </a:prstGeom>
          <a:solidFill>
            <a:srgbClr val="EEF3FA"/>
          </a:solidFill>
          <a:ln w="12700">
            <a:solidFill>
              <a:srgbClr val="2C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73152" rtlCol="0" anchor="t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1F3B63"/>
                </a:solidFill>
                <a:latin typeface="微软雅黑" panose="020B0503020204020204" charset="-122"/>
                <a:ea typeface="微软雅黑" panose="020B0503020204020204" charset="-122"/>
              </a:rPr>
              <a:t>④ 代入原式并除以 x⁴</a:t>
            </a:r>
            <a:endParaRPr sz="1300" b="1">
              <a:solidFill>
                <a:srgbClr val="1F3B6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[cos x − e^(−x²/2)] / x⁴ = −1/12 + x²/144 + o(x²)</a:t>
            </a:r>
            <a:endParaRPr sz="140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取极限：</a:t>
            </a:r>
            <a:endParaRPr sz="13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B31B1B"/>
                </a:solidFill>
                <a:latin typeface="微软雅黑" panose="020B0503020204020204" charset="-122"/>
                <a:ea typeface="微软雅黑" panose="020B0503020204020204" charset="-122"/>
              </a:rPr>
              <a:t>lim(x→0) [cos x − e^(−x²/2)] / x⁴ = −1/12 ≈ −0.0833333</a:t>
            </a:r>
            <a:endParaRPr sz="1450" b="1">
              <a:solidFill>
                <a:srgbClr val="B31B1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355080" y="3566160"/>
            <a:ext cx="5330952" cy="2807208"/>
          </a:xfrm>
          <a:prstGeom prst="roundRect">
            <a:avLst>
              <a:gd name="adj" fmla="val 6000"/>
            </a:avLst>
          </a:prstGeom>
          <a:solidFill>
            <a:srgbClr val="EFF7F1"/>
          </a:solidFill>
          <a:ln w="12700">
            <a:solidFill>
              <a:srgbClr val="1B6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73152" rtlCol="0" anchor="t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1B6B3A"/>
                </a:solidFill>
                <a:latin typeface="微软雅黑" panose="020B0503020204020204" charset="-122"/>
                <a:ea typeface="微软雅黑" panose="020B0503020204020204" charset="-122"/>
              </a:rPr>
              <a:t>⑤ 与洛必达法则的比较</a:t>
            </a:r>
            <a:endParaRPr sz="1300" b="1">
              <a:solidFill>
                <a:srgbClr val="1B6B3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本式确为 0/0 型，可连续使用洛必达法则，但：</a:t>
            </a:r>
            <a:endParaRPr sz="125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· 分母为 x⁴，需连续求导四次；</a:t>
            </a:r>
            <a:endParaRPr sz="125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· 每次求导后仍产生新的 0/0，需反复判定；</a:t>
            </a:r>
            <a:endParaRPr sz="125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· 计算量与出错概率显著高于泰勒展开。</a:t>
            </a:r>
            <a:endParaRPr sz="125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250" b="1">
                <a:solidFill>
                  <a:srgbClr val="1B6B3A"/>
                </a:solidFill>
                <a:latin typeface="微软雅黑" panose="020B0503020204020204" charset="-122"/>
                <a:ea typeface="微软雅黑" panose="020B0503020204020204" charset="-122"/>
              </a:rPr>
              <a:t>结论：分母为 xⁿ、分子为初等函数之差时，泰勒展开为最优方法。</a:t>
            </a:r>
            <a:endParaRPr sz="1250" b="1">
              <a:solidFill>
                <a:srgbClr val="1B6B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9845"/>
            <a:ext cx="12242800" cy="6827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502920" rIns="411480" rtlCol="0" anchor="ctr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数值验证：编程实验对解析结果的检验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92840" y="6400800"/>
            <a:ext cx="6858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5A5A"/>
                </a:solidFill>
                <a:latin typeface="微软雅黑" panose="020B0503020204020204" charset="-122"/>
                <a:ea typeface="微软雅黑" panose="020B0503020204020204" charset="-122"/>
              </a:rPr>
              <a:t>5 / 6</a:t>
            </a:r>
            <a:endParaRPr sz="1000" b="0">
              <a:solidFill>
                <a:srgbClr val="5A5A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152144"/>
            <a:ext cx="57607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3B63"/>
                </a:solidFill>
                <a:latin typeface="微软雅黑" panose="020B0503020204020204" charset="-122"/>
                <a:ea typeface="微软雅黑" panose="020B0503020204020204" charset="-122"/>
              </a:rPr>
              <a:t>核心代码（verify_limit.py）</a:t>
            </a:r>
            <a:endParaRPr sz="1300" b="1">
              <a:solidFill>
                <a:srgbClr val="1F3B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1499616"/>
            <a:ext cx="5760720" cy="36576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73152" rtlCol="0" anchor="t"/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Consolas" panose="020B0609020204030204"/>
                <a:ea typeface="Consolas" panose="020B0609020204030204"/>
              </a:rPr>
              <a:t>from math import cos, exp</a:t>
            </a:r>
            <a:endParaRPr sz="1000" b="0">
              <a:solidFill>
                <a:srgbClr val="1A1A1A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Consolas" panose="020B0609020204030204"/>
                <a:ea typeface="Consolas" panose="020B0609020204030204"/>
              </a:rPr>
              <a:t> </a:t>
            </a:r>
            <a:endParaRPr sz="1000" b="0">
              <a:solidFill>
                <a:srgbClr val="1A1A1A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Consolas" panose="020B0609020204030204"/>
                <a:ea typeface="Consolas" panose="020B0609020204030204"/>
              </a:rPr>
              <a:t># 方式 A：直接相减</a:t>
            </a:r>
            <a:endParaRPr sz="1000" b="0">
              <a:solidFill>
                <a:srgbClr val="1A1A1A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Consolas" panose="020B0609020204030204"/>
                <a:ea typeface="Consolas" panose="020B0609020204030204"/>
              </a:rPr>
              <a:t>f_direct = lambda x: (cos(x) - exp(-x*x/2)) / x**4</a:t>
            </a:r>
            <a:endParaRPr sz="1000" b="0">
              <a:solidFill>
                <a:srgbClr val="1A1A1A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Consolas" panose="020B0609020204030204"/>
                <a:ea typeface="Consolas" panose="020B0609020204030204"/>
              </a:rPr>
              <a:t> </a:t>
            </a:r>
            <a:endParaRPr sz="1000" b="0">
              <a:solidFill>
                <a:srgbClr val="1A1A1A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Consolas" panose="020B0609020204030204"/>
                <a:ea typeface="Consolas" panose="020B0609020204030204"/>
              </a:rPr>
              <a:t># 方式 B：用级数计算分子（避免相消）</a:t>
            </a:r>
            <a:endParaRPr sz="1000" b="0">
              <a:solidFill>
                <a:srgbClr val="1A1A1A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Consolas" panose="020B0609020204030204"/>
                <a:ea typeface="Consolas" panose="020B0609020204030204"/>
              </a:rPr>
              <a:t>def numerator_series(x):</a:t>
            </a:r>
            <a:endParaRPr sz="1000" b="0">
              <a:solidFill>
                <a:srgbClr val="1A1A1A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Consolas" panose="020B0609020204030204"/>
                <a:ea typeface="Consolas" panose="020B0609020204030204"/>
              </a:rPr>
              <a:t>    x2 = x * x</a:t>
            </a:r>
            <a:endParaRPr sz="1000" b="0">
              <a:solidFill>
                <a:srgbClr val="1A1A1A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Consolas" panose="020B0609020204030204"/>
                <a:ea typeface="Consolas" panose="020B0609020204030204"/>
              </a:rPr>
              <a:t>    s, p = 0.0, x2 * x2      # p = x^4, x^6, ...</a:t>
            </a:r>
            <a:endParaRPr sz="1000" b="0">
              <a:solidFill>
                <a:srgbClr val="1A1A1A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Consolas" panose="020B0609020204030204"/>
                <a:ea typeface="Consolas" panose="020B0609020204030204"/>
              </a:rPr>
              <a:t>    for c in (-1/12, 1/144, -1/1440):</a:t>
            </a:r>
            <a:endParaRPr sz="1000" b="0">
              <a:solidFill>
                <a:srgbClr val="1A1A1A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Consolas" panose="020B0609020204030204"/>
                <a:ea typeface="Consolas" panose="020B0609020204030204"/>
              </a:rPr>
              <a:t>        s += c * p</a:t>
            </a:r>
            <a:endParaRPr sz="1000" b="0">
              <a:solidFill>
                <a:srgbClr val="1A1A1A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Consolas" panose="020B0609020204030204"/>
                <a:ea typeface="Consolas" panose="020B0609020204030204"/>
              </a:rPr>
              <a:t>        p *= x2</a:t>
            </a:r>
            <a:endParaRPr sz="1000" b="0">
              <a:solidFill>
                <a:srgbClr val="1A1A1A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Consolas" panose="020B0609020204030204"/>
                <a:ea typeface="Consolas" panose="020B0609020204030204"/>
              </a:rPr>
              <a:t>    return s</a:t>
            </a:r>
            <a:endParaRPr sz="1000" b="0">
              <a:solidFill>
                <a:srgbClr val="1A1A1A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Consolas" panose="020B0609020204030204"/>
                <a:ea typeface="Consolas" panose="020B0609020204030204"/>
              </a:rPr>
              <a:t> </a:t>
            </a:r>
            <a:endParaRPr sz="1000" b="0">
              <a:solidFill>
                <a:srgbClr val="1A1A1A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Consolas" panose="020B0609020204030204"/>
                <a:ea typeface="Consolas" panose="020B0609020204030204"/>
              </a:rPr>
              <a:t>f_series = lambda x: numerator_series(x) / x**4</a:t>
            </a:r>
            <a:endParaRPr sz="1000" b="0">
              <a:solidFill>
                <a:srgbClr val="1A1A1A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Consolas" panose="020B0609020204030204"/>
                <a:ea typeface="Consolas" panose="020B0609020204030204"/>
              </a:rPr>
              <a:t> </a:t>
            </a:r>
            <a:endParaRPr sz="1000" b="0">
              <a:solidFill>
                <a:srgbClr val="1A1A1A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Consolas" panose="020B0609020204030204"/>
                <a:ea typeface="Consolas" panose="020B0609020204030204"/>
              </a:rPr>
              <a:t>for k in range(1, 9):</a:t>
            </a:r>
            <a:endParaRPr sz="1000" b="0">
              <a:solidFill>
                <a:srgbClr val="1A1A1A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Consolas" panose="020B0609020204030204"/>
                <a:ea typeface="Consolas" panose="020B0609020204030204"/>
              </a:rPr>
              <a:t>    x = 10.0 ** (-k)</a:t>
            </a:r>
            <a:endParaRPr sz="1000" b="0">
              <a:solidFill>
                <a:srgbClr val="1A1A1A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Consolas" panose="020B0609020204030204"/>
                <a:ea typeface="Consolas" panose="020B0609020204030204"/>
              </a:rPr>
              <a:t>    print(x, f_direct(x), f_series(x))</a:t>
            </a:r>
            <a:endParaRPr sz="1000" b="0">
              <a:solidFill>
                <a:srgbClr val="1A1A1A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2920" y="5303520"/>
            <a:ext cx="5760720" cy="1069848"/>
          </a:xfrm>
          <a:prstGeom prst="roundRect">
            <a:avLst>
              <a:gd name="adj" fmla="val 6000"/>
            </a:avLst>
          </a:prstGeom>
          <a:solidFill>
            <a:srgbClr val="FDF6E7"/>
          </a:solidFill>
          <a:ln w="12700">
            <a:solidFill>
              <a:srgbClr val="D9A4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73152" rtlCol="0" anchor="t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8A5A00"/>
                </a:solidFill>
                <a:latin typeface="微软雅黑" panose="020B0503020204020204" charset="-122"/>
                <a:ea typeface="微软雅黑" panose="020B0503020204020204" charset="-122"/>
              </a:rPr>
              <a:t>为什么还要“用级数算分子”？</a:t>
            </a:r>
            <a:endParaRPr sz="1250" b="1">
              <a:solidFill>
                <a:srgbClr val="8A5A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直接相减会遭遇浮点“大数相消”：cos x 与 e^(−x²/2) 都约为 1，其差约 10⁻¹⁸，而双精度机器精度仅约 2.2×10⁻¹⁶，有效数字被全部抹平。</a:t>
            </a:r>
            <a:endParaRPr sz="115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37960" y="1152144"/>
            <a:ext cx="514807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3B63"/>
                </a:solidFill>
                <a:latin typeface="微软雅黑" panose="020B0503020204020204" charset="-122"/>
                <a:ea typeface="微软雅黑" panose="020B0503020204020204" charset="-122"/>
              </a:rPr>
              <a:t>运行结果（终端截屏内容）</a:t>
            </a:r>
            <a:endParaRPr sz="1300" b="1">
              <a:solidFill>
                <a:srgbClr val="1F3B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37960" y="1499616"/>
          <a:ext cx="5148071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7"/>
                <a:gridCol w="1463040"/>
                <a:gridCol w="1554480"/>
                <a:gridCol w="1472184"/>
              </a:tblGrid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x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2C6FB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直接相减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2C6FB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用级数算分子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2C6FB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级数 / (−1/12)</a:t>
                      </a:r>
                      <a:endParaRPr sz="9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2C6FB8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10⁻¹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−0.083139146565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−0.083263958333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0.9991675000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10⁻²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−0.083331386236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−0.083332638896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0.9999916667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10⁻³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−0.083377749149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−0.083333326389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0.9999999167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10⁻⁴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0.000000000000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−0.083333333264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0.9999999992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10⁻⁵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0.000000000000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−0.083333333333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1.0000000000</a:t>
                      </a:r>
                      <a:endParaRPr sz="1000" b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537960" y="3749039"/>
            <a:ext cx="5148072" cy="2624328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 w="12700">
            <a:solidFill>
              <a:srgbClr val="2C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73152" rtlCol="0" anchor="t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1F3B63"/>
                </a:solidFill>
                <a:latin typeface="微软雅黑" panose="020B0503020204020204" charset="-122"/>
                <a:ea typeface="微软雅黑" panose="020B0503020204020204" charset="-122"/>
              </a:rPr>
              <a:t>结果分析</a:t>
            </a:r>
            <a:endParaRPr sz="1300" b="1">
              <a:solidFill>
                <a:srgbClr val="1F3B6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① 级数版：随 x → 0 稳定趋近 −1/12，比值趋于 1，与解析解一致。</a:t>
            </a:r>
            <a:endParaRPr sz="12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② 直接相减版：x ≲ 10⁻⁴ 时输出 0，并非数学结论，而是浮点大数相消导致的失真。</a:t>
            </a:r>
            <a:endParaRPr sz="12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启示：计算中的“相近数相减”与数学上的“主项相消”是同一现象的两面，二者都会丢失决定结果的高阶信息。</a:t>
            </a:r>
            <a:endParaRPr sz="12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B6B3A"/>
                </a:solidFill>
                <a:latin typeface="微软雅黑" panose="020B0503020204020204" charset="-122"/>
                <a:ea typeface="微软雅黑" panose="020B0503020204020204" charset="-122"/>
              </a:rPr>
              <a:t>实验结论：解析推导与数值实验相互印证，极限值 −1/12 得到确认。</a:t>
            </a:r>
            <a:endParaRPr sz="1250" b="1">
              <a:solidFill>
                <a:srgbClr val="1B6B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175"/>
            <a:ext cx="12191365" cy="68554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502920" rIns="411480" rtlCol="0" anchor="ctr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AI 辅助学习的心得体会与方法总结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92840" y="6400800"/>
            <a:ext cx="6858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5A5A"/>
                </a:solidFill>
                <a:latin typeface="微软雅黑" panose="020B0503020204020204" charset="-122"/>
                <a:ea typeface="微软雅黑" panose="020B0503020204020204" charset="-122"/>
              </a:rPr>
              <a:t>6 / 6</a:t>
            </a:r>
            <a:endParaRPr sz="1000" b="0">
              <a:solidFill>
                <a:srgbClr val="5A5A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1152144"/>
            <a:ext cx="5486400" cy="3200400"/>
          </a:xfrm>
          <a:prstGeom prst="plaque">
            <a:avLst/>
          </a:prstGeom>
          <a:solidFill>
            <a:srgbClr val="EEF3FA"/>
          </a:solidFill>
          <a:ln w="12700">
            <a:solidFill>
              <a:srgbClr val="2C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73152" rtlCol="0" anchor="t"/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1F3B63"/>
                </a:solidFill>
                <a:latin typeface="微软雅黑" panose="020B0503020204020204" charset="-122"/>
                <a:ea typeface="微软雅黑" panose="020B0503020204020204" charset="-122"/>
              </a:rPr>
              <a:t>一、知识层面的收获</a:t>
            </a:r>
            <a:endParaRPr sz="1500" b="1">
              <a:solidFill>
                <a:srgbClr val="1F3B6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1. 掌握麦克劳林展开处理 0/0 型极限的标准流程：</a:t>
            </a:r>
            <a:endParaRPr sz="125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1F3B63"/>
                </a:solidFill>
                <a:latin typeface="微软雅黑" panose="020B0503020204020204" charset="-122"/>
                <a:ea typeface="微软雅黑" panose="020B0503020204020204" charset="-122"/>
              </a:rPr>
              <a:t>判定阶数 → 同阶展开 → 逐项相消 → 取极限</a:t>
            </a:r>
            <a:endParaRPr sz="1250" b="1">
              <a:solidFill>
                <a:srgbClr val="1F3B6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2. 明确等价无穷小替换的适用边界：乘除结构可用，加减结构须谨慎；一旦主项相消，必须展开至第一个不抵消的阶。</a:t>
            </a:r>
            <a:endParaRPr sz="125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3. 理解 o(·) 记号的实际作用：它划定了“被舍弃信息的范围”，也解释了替换在此失效的原因。</a:t>
            </a:r>
            <a:endParaRPr sz="125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217920" y="1152144"/>
            <a:ext cx="5468112" cy="3200400"/>
          </a:xfrm>
          <a:prstGeom prst="doubleWave">
            <a:avLst/>
          </a:prstGeom>
          <a:solidFill>
            <a:srgbClr val="EFF7F1"/>
          </a:solidFill>
          <a:ln w="12700">
            <a:solidFill>
              <a:srgbClr val="1B6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73152" rtlCol="0" anchor="t"/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1B6B3A"/>
                </a:solidFill>
                <a:latin typeface="微软雅黑" panose="020B0503020204020204" charset="-122"/>
                <a:ea typeface="微软雅黑" panose="020B0503020204020204" charset="-122"/>
              </a:rPr>
              <a:t>二、AI 辅助学习的体会</a:t>
            </a:r>
            <a:endParaRPr sz="1500" b="1">
              <a:solidFill>
                <a:srgbClr val="1B6B3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1. 定位为“追问工具”而非“答案来源”：先验证思路与结论，再回到教材与定义自行推导，确保每一步都能说清理由。</a:t>
            </a:r>
            <a:endParaRPr sz="125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2. 对结论保持批判性核对：对“能否直接替换”这一关键判断，通过构造反例（tan x − sin x）与数值实验双重验证，避免机械接受。</a:t>
            </a:r>
            <a:endParaRPr sz="125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3. 借助工具打通“解析—数值”两条路径：数值实验同时暴露了浮点相消问题，深化了对“相近数相减”的理解。</a:t>
            </a:r>
            <a:endParaRPr sz="125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4. 注意表述的规范性：AI 生成的推导需逐项核对阶数与系数，尤须注意余项阶数的书写是否严谨。</a:t>
            </a:r>
            <a:endParaRPr sz="125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2920" y="4535424"/>
            <a:ext cx="11183112" cy="1837943"/>
          </a:xfrm>
          <a:prstGeom prst="roundRect">
            <a:avLst>
              <a:gd name="adj" fmla="val 6000"/>
            </a:avLst>
          </a:prstGeom>
          <a:solidFill>
            <a:srgbClr val="FDF6E7"/>
          </a:solidFill>
          <a:ln w="12700">
            <a:solidFill>
              <a:srgbClr val="D9A4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73152" rtlCol="0" anchor="ctr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8A5A00"/>
                </a:solidFill>
                <a:latin typeface="微软雅黑" panose="020B0503020204020204" charset="-122"/>
                <a:ea typeface="微软雅黑" panose="020B0503020204020204" charset="-122"/>
              </a:rPr>
              <a:t>三、总结</a:t>
            </a:r>
            <a:endParaRPr sz="1500" b="1">
              <a:solidFill>
                <a:srgbClr val="8A5A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rPr>
              <a:t>本题的关键在于“相消之后看高阶”。等价无穷小替换之所以失效，是因为它只保留主项；而本题的答案恰恰位于被舍弃的高阶项之中。</a:t>
            </a:r>
            <a:endParaRPr sz="13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B31B1B"/>
                </a:solidFill>
                <a:latin typeface="微软雅黑" panose="020B0503020204020204" charset="-122"/>
                <a:ea typeface="微软雅黑" panose="020B0503020204020204" charset="-122"/>
              </a:rPr>
              <a:t>工具可以加速学习，但对适用条件的判断必须由学习者本人完成。</a:t>
            </a:r>
            <a:endParaRPr sz="1400" b="1">
              <a:solidFill>
                <a:srgbClr val="B31B1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5A5A"/>
                </a:solidFill>
                <a:latin typeface="微软雅黑" panose="020B0503020204020204" charset="-122"/>
                <a:ea typeface="微软雅黑" panose="020B0503020204020204" charset="-122"/>
              </a:rPr>
              <a:t>参考：limit-solution.md（详细推导） · verify_limit.py（数值验证脚本）</a:t>
            </a:r>
            <a:endParaRPr sz="1050" b="0">
              <a:solidFill>
                <a:srgbClr val="5A5A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3411</Words>
  <Application>WPS 演示</Application>
  <PresentationFormat>On-screen Show (4:3)</PresentationFormat>
  <Paragraphs>243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Arial</vt:lpstr>
      <vt:lpstr>宋体</vt:lpstr>
      <vt:lpstr>Wingdings</vt:lpstr>
      <vt:lpstr>Arial</vt:lpstr>
      <vt:lpstr>微软雅黑</vt:lpstr>
      <vt:lpstr>Consolas</vt:lpstr>
      <vt:lpstr>Arial Unicode MS</vt:lpstr>
      <vt:lpstr>Calibri</vt:lpstr>
      <vt:lpstr>MS PGothic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WPS_1707120809</cp:lastModifiedBy>
  <cp:revision>3</cp:revision>
  <dcterms:created xsi:type="dcterms:W3CDTF">2013-01-27T09:14:00Z</dcterms:created>
  <dcterms:modified xsi:type="dcterms:W3CDTF">2026-10-14T10:18:00Z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E8F6FFE2CA0D4525B97B9196DCC3442C_13</vt:lpwstr>
  </property>
</Properties>
</file>