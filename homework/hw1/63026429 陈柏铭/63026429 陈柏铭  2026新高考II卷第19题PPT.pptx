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2"/>
  </p:sldMasterIdLst>
  <p:notesMasterIdLst>
    <p:notesMasterId r:id="rId9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custDataLst>
    <p:tags r:id="rId9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43CF2C3-3950-4E40-A02F-66DCCF188A6B}">
          <p14:sldIdLst>
            <p14:sldId id="672"/>
            <p14:sldId id="696"/>
            <p14:sldId id="699"/>
            <p14:sldId id="673"/>
            <p14:sldId id="697"/>
            <p14:sldId id="682"/>
            <p14:sldId id="684"/>
            <p14:sldId id="559"/>
            <p14:sldId id="592"/>
            <p14:sldId id="544"/>
            <p14:sldId id="706"/>
            <p14:sldId id="674"/>
            <p14:sldId id="676"/>
            <p14:sldId id="560"/>
            <p14:sldId id="651"/>
            <p14:sldId id="547"/>
            <p14:sldId id="548"/>
            <p14:sldId id="549"/>
            <p14:sldId id="550"/>
            <p14:sldId id="692"/>
            <p14:sldId id="695"/>
            <p14:sldId id="571"/>
            <p14:sldId id="567"/>
            <p14:sldId id="569"/>
            <p14:sldId id="563"/>
            <p14:sldId id="564"/>
            <p14:sldId id="561"/>
            <p14:sldId id="690"/>
            <p14:sldId id="691"/>
            <p14:sldId id="562"/>
            <p14:sldId id="700"/>
            <p14:sldId id="573"/>
            <p14:sldId id="575"/>
            <p14:sldId id="576"/>
            <p14:sldId id="574"/>
            <p14:sldId id="653"/>
            <p14:sldId id="580"/>
            <p14:sldId id="581"/>
            <p14:sldId id="582"/>
            <p14:sldId id="587"/>
            <p14:sldId id="584"/>
            <p14:sldId id="585"/>
            <p14:sldId id="588"/>
            <p14:sldId id="586"/>
            <p14:sldId id="590"/>
            <p14:sldId id="675"/>
            <p14:sldId id="654"/>
            <p14:sldId id="656"/>
            <p14:sldId id="698"/>
          </p14:sldIdLst>
        </p14:section>
        <p14:section name="附录-素材" id="{3050140B-5B37-47BE-8423-F6A0577ED44C}">
          <p14:sldIdLst>
            <p14:sldId id="645"/>
            <p14:sldId id="262"/>
            <p14:sldId id="597"/>
            <p14:sldId id="598"/>
            <p14:sldId id="646"/>
            <p14:sldId id="705"/>
            <p14:sldId id="669"/>
            <p14:sldId id="671"/>
            <p14:sldId id="657"/>
            <p14:sldId id="658"/>
            <p14:sldId id="659"/>
            <p14:sldId id="660"/>
            <p14:sldId id="661"/>
            <p14:sldId id="662"/>
            <p14:sldId id="663"/>
            <p14:sldId id="664"/>
          </p14:sldIdLst>
        </p14:section>
        <p14:section name="使用规范" id="{47918508-6F2A-4DC8-ACB3-0B9712E4E205}">
          <p14:sldIdLst>
            <p14:sldId id="612"/>
            <p14:sldId id="611"/>
            <p14:sldId id="505"/>
            <p14:sldId id="613"/>
            <p14:sldId id="506"/>
            <p14:sldId id="614"/>
            <p14:sldId id="615"/>
            <p14:sldId id="616"/>
            <p14:sldId id="679"/>
            <p14:sldId id="678"/>
            <p14:sldId id="619"/>
            <p14:sldId id="620"/>
            <p14:sldId id="622"/>
            <p14:sldId id="677"/>
            <p14:sldId id="623"/>
            <p14:sldId id="624"/>
            <p14:sldId id="640"/>
            <p14:sldId id="627"/>
            <p14:sldId id="629"/>
            <p14:sldId id="633"/>
            <p14:sldId id="631"/>
            <p14:sldId id="636"/>
            <p14:sldId id="637"/>
            <p14:sldId id="643"/>
            <p14:sldId id="644"/>
            <p14:sldId id="7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  <a:srgbClr val="FDFCFB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79874" autoAdjust="0"/>
  </p:normalViewPr>
  <p:slideViewPr>
    <p:cSldViewPr snapToGrid="0">
      <p:cViewPr>
        <p:scale>
          <a:sx n="75" d="100"/>
          <a:sy n="75" d="100"/>
        </p:scale>
        <p:origin x="123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985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94" Type="http://schemas.openxmlformats.org/officeDocument/2006/relationships/notesMaster" Target="notesMasters/notesMaster1.xml"/><Relationship Id="rId95" Type="http://schemas.openxmlformats.org/officeDocument/2006/relationships/tags" Target="tags/tag1.xml"/><Relationship Id="rId96" Type="http://schemas.openxmlformats.org/officeDocument/2006/relationships/presProps" Target="presProps.xml"/><Relationship Id="rId97" Type="http://schemas.openxmlformats.org/officeDocument/2006/relationships/viewProps" Target="viewProps.xml"/><Relationship Id="rId98" Type="http://schemas.openxmlformats.org/officeDocument/2006/relationships/theme" Target="theme/theme1.xml"/><Relationship Id="rId9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51752-2BA6-4267-BD9C-0255A6E7A7A8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02A4A-2F78-42A2-8BB5-4E355942CA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10402823" y="853956"/>
            <a:ext cx="1875342" cy="6834393"/>
            <a:chOff x="10402823" y="853956"/>
            <a:chExt cx="1875342" cy="6834393"/>
          </a:xfrm>
        </p:grpSpPr>
        <p:sp>
          <p:nvSpPr>
            <p:cNvPr id="15" name="任意多边形: 形状 14"/>
            <p:cNvSpPr/>
            <p:nvPr userDrawn="1"/>
          </p:nvSpPr>
          <p:spPr>
            <a:xfrm rot="17975649">
              <a:off x="7764318" y="3492461"/>
              <a:ext cx="6834393" cy="1557383"/>
            </a:xfrm>
            <a:custGeom>
              <a:avLst/>
              <a:gdLst>
                <a:gd name="connsiteX0" fmla="*/ 4887162 w 6834393"/>
                <a:gd name="connsiteY0" fmla="*/ 1105918 h 1557383"/>
                <a:gd name="connsiteX1" fmla="*/ 4092251 w 6834393"/>
                <a:gd name="connsiteY1" fmla="*/ 1557383 h 1557383"/>
                <a:gd name="connsiteX2" fmla="*/ 884506 w 6834393"/>
                <a:gd name="connsiteY2" fmla="*/ 1557383 h 1557383"/>
                <a:gd name="connsiteX3" fmla="*/ 628100 w 6834393"/>
                <a:gd name="connsiteY3" fmla="*/ 1105918 h 1557383"/>
                <a:gd name="connsiteX4" fmla="*/ 6834393 w 6834393"/>
                <a:gd name="connsiteY4" fmla="*/ 0 h 1557383"/>
                <a:gd name="connsiteX5" fmla="*/ 6039483 w 6834393"/>
                <a:gd name="connsiteY5" fmla="*/ 451465 h 1557383"/>
                <a:gd name="connsiteX6" fmla="*/ 256407 w 6834393"/>
                <a:gd name="connsiteY6" fmla="*/ 451465 h 1557383"/>
                <a:gd name="connsiteX7" fmla="*/ 0 w 6834393"/>
                <a:gd name="connsiteY7" fmla="*/ 0 h 1557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34393" h="1557383">
                  <a:moveTo>
                    <a:pt x="4887162" y="1105918"/>
                  </a:moveTo>
                  <a:lnTo>
                    <a:pt x="4092251" y="1557383"/>
                  </a:lnTo>
                  <a:lnTo>
                    <a:pt x="884506" y="1557383"/>
                  </a:lnTo>
                  <a:lnTo>
                    <a:pt x="628100" y="1105918"/>
                  </a:lnTo>
                  <a:close/>
                  <a:moveTo>
                    <a:pt x="6834393" y="0"/>
                  </a:moveTo>
                  <a:lnTo>
                    <a:pt x="6039483" y="451465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: 形状 15"/>
            <p:cNvSpPr/>
            <p:nvPr userDrawn="1"/>
          </p:nvSpPr>
          <p:spPr>
            <a:xfrm rot="17975649">
              <a:off x="8726108" y="4052302"/>
              <a:ext cx="5546729" cy="1557384"/>
            </a:xfrm>
            <a:custGeom>
              <a:avLst/>
              <a:gdLst>
                <a:gd name="connsiteX0" fmla="*/ 3599499 w 5546729"/>
                <a:gd name="connsiteY0" fmla="*/ 1105919 h 1557384"/>
                <a:gd name="connsiteX1" fmla="*/ 2804588 w 5546729"/>
                <a:gd name="connsiteY1" fmla="*/ 1557384 h 1557384"/>
                <a:gd name="connsiteX2" fmla="*/ 884507 w 5546729"/>
                <a:gd name="connsiteY2" fmla="*/ 1557383 h 1557384"/>
                <a:gd name="connsiteX3" fmla="*/ 628100 w 5546729"/>
                <a:gd name="connsiteY3" fmla="*/ 1105919 h 1557384"/>
                <a:gd name="connsiteX4" fmla="*/ 5546729 w 5546729"/>
                <a:gd name="connsiteY4" fmla="*/ 1 h 1557384"/>
                <a:gd name="connsiteX5" fmla="*/ 4751818 w 5546729"/>
                <a:gd name="connsiteY5" fmla="*/ 451466 h 1557384"/>
                <a:gd name="connsiteX6" fmla="*/ 256407 w 5546729"/>
                <a:gd name="connsiteY6" fmla="*/ 451465 h 1557384"/>
                <a:gd name="connsiteX7" fmla="*/ 0 w 5546729"/>
                <a:gd name="connsiteY7" fmla="*/ 0 h 1557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46729" h="1557384">
                  <a:moveTo>
                    <a:pt x="3599499" y="1105919"/>
                  </a:moveTo>
                  <a:lnTo>
                    <a:pt x="2804588" y="1557384"/>
                  </a:lnTo>
                  <a:lnTo>
                    <a:pt x="884507" y="1557383"/>
                  </a:lnTo>
                  <a:lnTo>
                    <a:pt x="628100" y="1105919"/>
                  </a:lnTo>
                  <a:close/>
                  <a:moveTo>
                    <a:pt x="5546729" y="1"/>
                  </a:moveTo>
                  <a:lnTo>
                    <a:pt x="4751818" y="451466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7" name="图片 16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cxnSp>
        <p:nvCxnSpPr>
          <p:cNvPr id="22" name="直接连接符 21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>
            <p:ph type="body" sz="quarter" idx="10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2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任意多边形: 形状 17"/>
          <p:cNvSpPr/>
          <p:nvPr userDrawn="1"/>
        </p:nvSpPr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4026732 w 5953266"/>
              <a:gd name="connsiteY1" fmla="*/ 0 h 6858000"/>
              <a:gd name="connsiteX2" fmla="*/ 4359910 w 5953266"/>
              <a:gd name="connsiteY2" fmla="*/ 252902 h 6858000"/>
              <a:gd name="connsiteX3" fmla="*/ 5953266 w 5953266"/>
              <a:gd name="connsiteY3" fmla="*/ 3682471 h 6858000"/>
              <a:gd name="connsiteX4" fmla="*/ 4670843 w 5953266"/>
              <a:gd name="connsiteY4" fmla="*/ 6825186 h 6858000"/>
              <a:gd name="connsiteX5" fmla="*/ 4635274 w 5953266"/>
              <a:gd name="connsiteY5" fmla="*/ 6858000 h 6858000"/>
              <a:gd name="connsiteX6" fmla="*/ 0 w 59532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4026732" y="0"/>
                </a:lnTo>
                <a:lnTo>
                  <a:pt x="4359910" y="252902"/>
                </a:lnTo>
                <a:cubicBezTo>
                  <a:pt x="5333013" y="1068083"/>
                  <a:pt x="5953266" y="2301751"/>
                  <a:pt x="5953266" y="3682471"/>
                </a:cubicBezTo>
                <a:cubicBezTo>
                  <a:pt x="5953266" y="4909778"/>
                  <a:pt x="5463189" y="6020895"/>
                  <a:pt x="4670843" y="6825186"/>
                </a:cubicBezTo>
                <a:lnTo>
                  <a:pt x="463527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2" name="图片 121"/>
          <p:cNvPicPr>
            <a:picLocks noChangeAspect="1"/>
          </p:cNvPicPr>
          <p:nvPr userDrawn="1"/>
        </p:nvPicPr>
        <p:blipFill>
          <a:blip r:embed="rId3"/>
          <a:srcRect l="35649" t="16934" b="16934"/>
          <a:stretch>
            <a:fillRect/>
          </a:stretch>
        </p:blipFill>
        <p:spPr>
          <a:xfrm>
            <a:off x="2" y="0"/>
            <a:ext cx="6677201" cy="6858000"/>
          </a:xfrm>
          <a:custGeom>
            <a:avLst/>
            <a:gdLst>
              <a:gd name="connsiteX0" fmla="*/ 0 w 6677201"/>
              <a:gd name="connsiteY0" fmla="*/ 0 h 6858000"/>
              <a:gd name="connsiteX1" fmla="*/ 6677201 w 6677201"/>
              <a:gd name="connsiteY1" fmla="*/ 0 h 6858000"/>
              <a:gd name="connsiteX2" fmla="*/ 6677201 w 6677201"/>
              <a:gd name="connsiteY2" fmla="*/ 6858000 h 6858000"/>
              <a:gd name="connsiteX3" fmla="*/ 0 w 66772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77201" h="6858000">
                <a:moveTo>
                  <a:pt x="0" y="0"/>
                </a:moveTo>
                <a:lnTo>
                  <a:pt x="6677201" y="0"/>
                </a:lnTo>
                <a:lnTo>
                  <a:pt x="667720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1" name="图片 120"/>
          <p:cNvPicPr/>
          <p:nvPr userDrawn="1"/>
        </p:nvPicPr>
        <p:blipFill>
          <a:blip r:embed="rId4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73" t="9127" b="14811"/>
          <a:stretch>
            <a:fillRect/>
          </a:stretch>
        </p:blipFill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5953266 w 5953266"/>
              <a:gd name="connsiteY1" fmla="*/ 0 h 6858000"/>
              <a:gd name="connsiteX2" fmla="*/ 5953266 w 5953266"/>
              <a:gd name="connsiteY2" fmla="*/ 6858000 h 6858000"/>
              <a:gd name="connsiteX3" fmla="*/ 0 w 595326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5953266" y="0"/>
                </a:lnTo>
                <a:lnTo>
                  <a:pt x="595326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 userDrawn="1"/>
        </p:nvSpPr>
        <p:spPr>
          <a:xfrm>
            <a:off x="2122934" y="3082752"/>
            <a:ext cx="2964273" cy="1107996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 algn="ctr">
              <a:defRPr/>
            </a:pPr>
            <a:r>
              <a:rPr lang="en-US" altLang="zh-CN" sz="6600" dirty="0">
                <a:solidFill>
                  <a:schemeClr val="bg1">
                    <a:lumMod val="75000"/>
                  </a:schemeClr>
                </a:solidFill>
              </a:rPr>
              <a:t>content</a:t>
            </a:r>
            <a:endParaRPr lang="zh-CN" altLang="en-US" sz="6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2214374" y="3872827"/>
            <a:ext cx="2325409" cy="2590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2183589" y="2598003"/>
            <a:ext cx="1421481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目录</a:t>
            </a:r>
          </a:p>
        </p:txBody>
      </p:sp>
      <p:sp>
        <p:nvSpPr>
          <p:cNvPr id="124" name="日期占位符 123"/>
          <p:cNvSpPr>
            <a:spLocks noGrp="1"/>
          </p:cNvSpPr>
          <p:nvPr>
            <p:ph type="dt" sz="half" idx="1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7004" b="7878"/>
          <a:stretch>
            <a:fillRect/>
          </a:stretch>
        </p:blipFill>
        <p:spPr>
          <a:xfrm>
            <a:off x="4511550" y="0"/>
            <a:ext cx="7680450" cy="6858000"/>
          </a:xfrm>
          <a:prstGeom prst="rect">
            <a:avLst/>
          </a:prstGeom>
        </p:spPr>
      </p:pic>
      <p:sp>
        <p:nvSpPr>
          <p:cNvPr id="22" name="矩形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8" t="7878" r="36982" b="7878"/>
          <a:stretch>
            <a:fillRect/>
          </a:stretch>
        </p:blipFill>
        <p:spPr>
          <a:xfrm>
            <a:off x="5349870" y="0"/>
            <a:ext cx="6842131" cy="6858000"/>
          </a:xfrm>
          <a:custGeom>
            <a:avLst/>
            <a:gdLst>
              <a:gd name="connsiteX0" fmla="*/ 3866540 w 6842131"/>
              <a:gd name="connsiteY0" fmla="*/ 0 h 6858000"/>
              <a:gd name="connsiteX1" fmla="*/ 6842131 w 6842131"/>
              <a:gd name="connsiteY1" fmla="*/ 0 h 6858000"/>
              <a:gd name="connsiteX2" fmla="*/ 6842131 w 6842131"/>
              <a:gd name="connsiteY2" fmla="*/ 2518051 h 6858000"/>
              <a:gd name="connsiteX3" fmla="*/ 4395268 w 6842131"/>
              <a:gd name="connsiteY3" fmla="*/ 6858000 h 6858000"/>
              <a:gd name="connsiteX4" fmla="*/ 0 w 6842131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42131" h="6858000">
                <a:moveTo>
                  <a:pt x="3866540" y="0"/>
                </a:moveTo>
                <a:lnTo>
                  <a:pt x="6842131" y="0"/>
                </a:lnTo>
                <a:lnTo>
                  <a:pt x="6842131" y="2518051"/>
                </a:lnTo>
                <a:lnTo>
                  <a:pt x="439526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31" name="组合 30"/>
          <p:cNvGrpSpPr/>
          <p:nvPr userDrawn="1"/>
        </p:nvGrpSpPr>
        <p:grpSpPr>
          <a:xfrm>
            <a:off x="5852864" y="578865"/>
            <a:ext cx="5910561" cy="8110350"/>
            <a:chOff x="5852864" y="578865"/>
            <a:chExt cx="5910561" cy="8110350"/>
          </a:xfrm>
        </p:grpSpPr>
        <p:sp>
          <p:nvSpPr>
            <p:cNvPr id="32" name="任意多边形: 形状 31"/>
            <p:cNvSpPr/>
            <p:nvPr/>
          </p:nvSpPr>
          <p:spPr>
            <a:xfrm rot="1764741">
              <a:off x="6434339" y="578865"/>
              <a:ext cx="5329086" cy="8110349"/>
            </a:xfrm>
            <a:custGeom>
              <a:avLst/>
              <a:gdLst>
                <a:gd name="connsiteX0" fmla="*/ 4907596 w 5329086"/>
                <a:gd name="connsiteY0" fmla="*/ 1735493 h 8110349"/>
                <a:gd name="connsiteX1" fmla="*/ 5329086 w 5329086"/>
                <a:gd name="connsiteY1" fmla="*/ 2483140 h 8110349"/>
                <a:gd name="connsiteX2" fmla="*/ 5329086 w 5329086"/>
                <a:gd name="connsiteY2" fmla="*/ 5106050 h 8110349"/>
                <a:gd name="connsiteX3" fmla="*/ 4907597 w 5329086"/>
                <a:gd name="connsiteY3" fmla="*/ 5343666 h 8110349"/>
                <a:gd name="connsiteX4" fmla="*/ 0 w 5329086"/>
                <a:gd name="connsiteY4" fmla="*/ 237617 h 8110349"/>
                <a:gd name="connsiteX5" fmla="*/ 421490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6" y="1735493"/>
                  </a:moveTo>
                  <a:lnTo>
                    <a:pt x="5329086" y="2483140"/>
                  </a:lnTo>
                  <a:lnTo>
                    <a:pt x="5329086" y="5106050"/>
                  </a:lnTo>
                  <a:lnTo>
                    <a:pt x="4907597" y="5343666"/>
                  </a:lnTo>
                  <a:close/>
                  <a:moveTo>
                    <a:pt x="0" y="237617"/>
                  </a:moveTo>
                  <a:lnTo>
                    <a:pt x="421490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 rot="1764741">
              <a:off x="5852864" y="578866"/>
              <a:ext cx="5329086" cy="8110349"/>
            </a:xfrm>
            <a:custGeom>
              <a:avLst/>
              <a:gdLst>
                <a:gd name="connsiteX0" fmla="*/ 4907597 w 5329086"/>
                <a:gd name="connsiteY0" fmla="*/ 551447 h 8110349"/>
                <a:gd name="connsiteX1" fmla="*/ 5329086 w 5329086"/>
                <a:gd name="connsiteY1" fmla="*/ 1299093 h 8110349"/>
                <a:gd name="connsiteX2" fmla="*/ 5329086 w 5329086"/>
                <a:gd name="connsiteY2" fmla="*/ 5106050 h 8110349"/>
                <a:gd name="connsiteX3" fmla="*/ 4907596 w 5329086"/>
                <a:gd name="connsiteY3" fmla="*/ 5343667 h 8110349"/>
                <a:gd name="connsiteX4" fmla="*/ 0 w 5329086"/>
                <a:gd name="connsiteY4" fmla="*/ 237617 h 8110349"/>
                <a:gd name="connsiteX5" fmla="*/ 421489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7" y="551447"/>
                  </a:moveTo>
                  <a:lnTo>
                    <a:pt x="5329086" y="1299093"/>
                  </a:lnTo>
                  <a:lnTo>
                    <a:pt x="5329086" y="5106050"/>
                  </a:lnTo>
                  <a:lnTo>
                    <a:pt x="4907596" y="5343667"/>
                  </a:lnTo>
                  <a:close/>
                  <a:moveTo>
                    <a:pt x="0" y="237617"/>
                  </a:moveTo>
                  <a:lnTo>
                    <a:pt x="421489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5" name="文本占位符 44"/>
          <p:cNvSpPr>
            <a:spLocks noGrp="1"/>
          </p:cNvSpPr>
          <p:nvPr>
            <p:ph type="body" sz="quarter" idx="10" hasCustomPrompt="1"/>
          </p:nvPr>
        </p:nvSpPr>
        <p:spPr>
          <a:xfrm>
            <a:off x="-1" y="4189677"/>
            <a:ext cx="5368944" cy="725488"/>
          </a:xfrm>
          <a:prstGeom prst="rect">
            <a:avLst/>
          </a:prstGeom>
        </p:spPr>
        <p:txBody>
          <a:bodyPr lIns="0" rIns="90000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请输入你的节标题</a:t>
            </a:r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4857350"/>
            <a:ext cx="5368944" cy="424732"/>
          </a:xfrm>
          <a:prstGeom prst="rect">
            <a:avLst/>
          </a:prstGeom>
        </p:spPr>
        <p:txBody>
          <a:bodyPr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spc="50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2571074" y="1465802"/>
            <a:ext cx="3524926" cy="4336612"/>
          </a:xfrm>
          <a:custGeom>
            <a:avLst/>
            <a:gdLst>
              <a:gd name="connsiteX0" fmla="*/ 0 w 3524926"/>
              <a:gd name="connsiteY0" fmla="*/ 0 h 4326855"/>
              <a:gd name="connsiteX1" fmla="*/ 3524926 w 3524926"/>
              <a:gd name="connsiteY1" fmla="*/ 0 h 4326855"/>
              <a:gd name="connsiteX2" fmla="*/ 3524926 w 3524926"/>
              <a:gd name="connsiteY2" fmla="*/ 4326855 h 4326855"/>
              <a:gd name="connsiteX3" fmla="*/ 0 w 3524926"/>
              <a:gd name="connsiteY3" fmla="*/ 4326855 h 4326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4926" h="4326855">
                <a:moveTo>
                  <a:pt x="0" y="0"/>
                </a:moveTo>
                <a:lnTo>
                  <a:pt x="3524926" y="0"/>
                </a:lnTo>
                <a:lnTo>
                  <a:pt x="3524926" y="4326855"/>
                </a:lnTo>
                <a:lnTo>
                  <a:pt x="0" y="4326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tIns="4680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文本框 15"/>
          <p:cNvSpPr txBox="1"/>
          <p:nvPr userDrawn="1"/>
        </p:nvSpPr>
        <p:spPr>
          <a:xfrm rot="16200000">
            <a:off x="-1272970" y="3259723"/>
            <a:ext cx="4113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800" dirty="0">
                <a:solidFill>
                  <a:schemeClr val="bg1">
                    <a:lumMod val="75000"/>
                  </a:schemeClr>
                </a:solidFill>
              </a:rPr>
              <a:t>Southeast University</a:t>
            </a:r>
            <a:endParaRPr lang="zh-CN" altLang="en-US" sz="1600" spc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6632171" y="1253531"/>
            <a:ext cx="4886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7200" i="1" dirty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marL="0" lvl="0"/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7398196" y="3937575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7398196" y="4685329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7398196" y="5433083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35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6749903" y="2564527"/>
            <a:ext cx="3396528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6749903" y="1812873"/>
            <a:ext cx="3088698" cy="76944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5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2" name="矩形 21"/>
          <p:cNvSpPr/>
          <p:nvPr userDrawn="1"/>
        </p:nvSpPr>
        <p:spPr>
          <a:xfrm>
            <a:off x="5341519" y="3365304"/>
            <a:ext cx="2252502" cy="154113"/>
          </a:xfrm>
          <a:prstGeom prst="rect">
            <a:avLst/>
          </a:prstGeom>
          <a:gradFill>
            <a:gsLst>
              <a:gs pos="100000">
                <a:srgbClr val="FDA913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图片 22"/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25" hasCustomPrompt="1"/>
          </p:nvPr>
        </p:nvSpPr>
        <p:spPr>
          <a:xfrm>
            <a:off x="0" y="1093511"/>
            <a:ext cx="64007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kumimoji="0" lang="zh-CN" altLang="en-US" sz="8800" b="0" i="1" u="none" strike="noStrike" cap="none" spc="0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400" y="3881451"/>
            <a:ext cx="361064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660400" y="4685329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660400" y="5433083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52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331720" y="2106802"/>
            <a:ext cx="3088698" cy="76944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</a:p>
        </p:txBody>
      </p:sp>
      <p:sp>
        <p:nvSpPr>
          <p:cNvPr id="53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1541828" y="3152034"/>
            <a:ext cx="3396528" cy="40011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12"/>
          </p:nvPr>
        </p:nvSpPr>
        <p:spPr>
          <a:xfrm>
            <a:off x="5131444" y="0"/>
            <a:ext cx="7060556" cy="6858000"/>
          </a:xfrm>
          <a:custGeom>
            <a:avLst/>
            <a:gdLst>
              <a:gd name="connsiteX0" fmla="*/ 2232141 w 7060556"/>
              <a:gd name="connsiteY0" fmla="*/ 0 h 6858000"/>
              <a:gd name="connsiteX1" fmla="*/ 7060556 w 7060556"/>
              <a:gd name="connsiteY1" fmla="*/ 0 h 6858000"/>
              <a:gd name="connsiteX2" fmla="*/ 7060556 w 7060556"/>
              <a:gd name="connsiteY2" fmla="*/ 6858000 h 6858000"/>
              <a:gd name="connsiteX3" fmla="*/ 659756 w 7060556"/>
              <a:gd name="connsiteY3" fmla="*/ 6858000 h 6858000"/>
              <a:gd name="connsiteX4" fmla="*/ 0 w 7060556"/>
              <a:gd name="connsiteY4" fmla="*/ 5318567 h 6858000"/>
              <a:gd name="connsiteX5" fmla="*/ 2076565 w 7060556"/>
              <a:gd name="connsiteY5" fmla="*/ 3419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60556" h="6858000">
                <a:moveTo>
                  <a:pt x="2232141" y="0"/>
                </a:moveTo>
                <a:lnTo>
                  <a:pt x="7060556" y="0"/>
                </a:lnTo>
                <a:lnTo>
                  <a:pt x="7060556" y="6858000"/>
                </a:lnTo>
                <a:lnTo>
                  <a:pt x="659756" y="6858000"/>
                </a:lnTo>
                <a:lnTo>
                  <a:pt x="0" y="5318567"/>
                </a:lnTo>
                <a:cubicBezTo>
                  <a:pt x="292020" y="4312534"/>
                  <a:pt x="1148983" y="2384867"/>
                  <a:pt x="2076565" y="34199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660400" y="1383671"/>
            <a:ext cx="5001787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zh-CN" sz="80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80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图片占位符 31"/>
          <p:cNvSpPr>
            <a:spLocks noGrp="1"/>
          </p:cNvSpPr>
          <p:nvPr>
            <p:ph type="pic" sz="quarter" idx="31"/>
          </p:nvPr>
        </p:nvSpPr>
        <p:spPr>
          <a:xfrm>
            <a:off x="5792230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1019067" y="2170482"/>
            <a:ext cx="3982720" cy="584775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1019067" y="3119036"/>
            <a:ext cx="3982720" cy="1706963"/>
          </a:xfrm>
        </p:spPr>
        <p:txBody>
          <a:bodyPr wrap="square" lIns="0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32"/>
          </p:nvPr>
        </p:nvSpPr>
        <p:spPr>
          <a:xfrm>
            <a:off x="7700964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" name="图片占位符 33"/>
          <p:cNvSpPr>
            <a:spLocks noGrp="1"/>
          </p:cNvSpPr>
          <p:nvPr>
            <p:ph type="pic" sz="quarter" idx="33"/>
          </p:nvPr>
        </p:nvSpPr>
        <p:spPr>
          <a:xfrm>
            <a:off x="9609697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579230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6" name="文本占位符 11"/>
          <p:cNvSpPr>
            <a:spLocks noGrp="1"/>
          </p:cNvSpPr>
          <p:nvPr>
            <p:ph type="body" sz="quarter" idx="34" hasCustomPrompt="1"/>
          </p:nvPr>
        </p:nvSpPr>
        <p:spPr>
          <a:xfrm>
            <a:off x="7700964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8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960961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5792387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7700808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5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9609229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5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8" name="图片占位符 47"/>
          <p:cNvSpPr>
            <a:spLocks noGrp="1"/>
          </p:cNvSpPr>
          <p:nvPr>
            <p:ph type="pic" sz="quarter" idx="31"/>
          </p:nvPr>
        </p:nvSpPr>
        <p:spPr>
          <a:xfrm>
            <a:off x="669868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104640" y="852965"/>
            <a:ext cx="3982720" cy="1107996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algn="ctr"/>
            <a:r>
              <a:rPr lang="en-US" altLang="zh-CN" sz="66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66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4104640" y="1593828"/>
            <a:ext cx="3982720" cy="584775"/>
          </a:xfrm>
        </p:spPr>
        <p:txBody>
          <a:bodyPr lIns="900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</a:p>
        </p:txBody>
      </p:sp>
      <p:sp>
        <p:nvSpPr>
          <p:cNvPr id="17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682883" y="2295279"/>
            <a:ext cx="10826234" cy="425698"/>
          </a:xfrm>
        </p:spPr>
        <p:txBody>
          <a:bodyPr wrap="square" lIns="90000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</a:p>
        </p:txBody>
      </p:sp>
      <p:sp>
        <p:nvSpPr>
          <p:cNvPr id="33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322" y="5732617"/>
            <a:ext cx="2712258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4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66040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3382047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2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3382125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3" name="文本占位符 11"/>
          <p:cNvSpPr>
            <a:spLocks noGrp="1"/>
          </p:cNvSpPr>
          <p:nvPr>
            <p:ph type="body" sz="quarter" idx="39" hasCustomPrompt="1"/>
          </p:nvPr>
        </p:nvSpPr>
        <p:spPr>
          <a:xfrm>
            <a:off x="6103772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4" name="文本占位符 11"/>
          <p:cNvSpPr>
            <a:spLocks noGrp="1"/>
          </p:cNvSpPr>
          <p:nvPr>
            <p:ph type="body" sz="quarter" idx="40" hasCustomPrompt="1"/>
          </p:nvPr>
        </p:nvSpPr>
        <p:spPr>
          <a:xfrm>
            <a:off x="610385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5" name="文本占位符 11"/>
          <p:cNvSpPr>
            <a:spLocks noGrp="1"/>
          </p:cNvSpPr>
          <p:nvPr>
            <p:ph type="body" sz="quarter" idx="41" hasCustomPrompt="1"/>
          </p:nvPr>
        </p:nvSpPr>
        <p:spPr>
          <a:xfrm>
            <a:off x="8825497" y="5732616"/>
            <a:ext cx="2693323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42" hasCustomPrompt="1"/>
          </p:nvPr>
        </p:nvSpPr>
        <p:spPr>
          <a:xfrm>
            <a:off x="8825575" y="5327590"/>
            <a:ext cx="26933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5" name="图片占位符 54"/>
          <p:cNvSpPr>
            <a:spLocks noGrp="1"/>
          </p:cNvSpPr>
          <p:nvPr>
            <p:ph type="pic" sz="quarter" idx="43"/>
          </p:nvPr>
        </p:nvSpPr>
        <p:spPr>
          <a:xfrm>
            <a:off x="3382047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6" name="图片占位符 55"/>
          <p:cNvSpPr>
            <a:spLocks noGrp="1"/>
          </p:cNvSpPr>
          <p:nvPr>
            <p:ph type="pic" sz="quarter" idx="44"/>
          </p:nvPr>
        </p:nvSpPr>
        <p:spPr>
          <a:xfrm>
            <a:off x="6094226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7" name="图片占位符 56"/>
          <p:cNvSpPr>
            <a:spLocks noGrp="1"/>
          </p:cNvSpPr>
          <p:nvPr>
            <p:ph type="pic" sz="quarter" idx="45"/>
          </p:nvPr>
        </p:nvSpPr>
        <p:spPr>
          <a:xfrm>
            <a:off x="8806405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69" name="文本占位符 67"/>
          <p:cNvSpPr>
            <a:spLocks noGrp="1"/>
          </p:cNvSpPr>
          <p:nvPr>
            <p:ph type="body" sz="quarter" idx="12" hasCustomPrompt="1"/>
          </p:nvPr>
        </p:nvSpPr>
        <p:spPr>
          <a:xfrm>
            <a:off x="3950574" y="1119503"/>
            <a:ext cx="4290852" cy="585866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请输入你的主标题</a:t>
            </a:r>
          </a:p>
        </p:txBody>
      </p:sp>
      <p:sp>
        <p:nvSpPr>
          <p:cNvPr id="72" name="文本占位符 67"/>
          <p:cNvSpPr>
            <a:spLocks noGrp="1"/>
          </p:cNvSpPr>
          <p:nvPr>
            <p:ph type="body" sz="quarter" idx="13" hasCustomPrompt="1"/>
          </p:nvPr>
        </p:nvSpPr>
        <p:spPr>
          <a:xfrm>
            <a:off x="3950574" y="1740158"/>
            <a:ext cx="4290852" cy="462755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请输入你的副标题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14" name="直接连接符 1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无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7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" name="椭圆 60"/>
          <p:cNvSpPr/>
          <p:nvPr userDrawn="1"/>
        </p:nvSpPr>
        <p:spPr>
          <a:xfrm>
            <a:off x="5194921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椭圆 61"/>
          <p:cNvSpPr/>
          <p:nvPr userDrawn="1"/>
        </p:nvSpPr>
        <p:spPr>
          <a:xfrm>
            <a:off x="8999857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0" name="椭圆 29"/>
          <p:cNvSpPr/>
          <p:nvPr userDrawn="1"/>
        </p:nvSpPr>
        <p:spPr>
          <a:xfrm>
            <a:off x="1389985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4" name="图片占位符 53"/>
          <p:cNvSpPr>
            <a:spLocks noGrp="1"/>
          </p:cNvSpPr>
          <p:nvPr>
            <p:ph type="pic" sz="quarter" idx="12"/>
          </p:nvPr>
        </p:nvSpPr>
        <p:spPr>
          <a:xfrm>
            <a:off x="1437869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29" name="矩形 28"/>
          <p:cNvSpPr/>
          <p:nvPr userDrawn="1"/>
        </p:nvSpPr>
        <p:spPr>
          <a:xfrm>
            <a:off x="660400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8270272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4465336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9" name="图片占位符 58"/>
          <p:cNvSpPr>
            <a:spLocks noGrp="1"/>
          </p:cNvSpPr>
          <p:nvPr>
            <p:ph type="pic" sz="quarter" idx="13"/>
          </p:nvPr>
        </p:nvSpPr>
        <p:spPr>
          <a:xfrm>
            <a:off x="5242805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0" name="图片占位符 59"/>
          <p:cNvSpPr>
            <a:spLocks noGrp="1"/>
          </p:cNvSpPr>
          <p:nvPr>
            <p:ph type="pic" sz="quarter" idx="14"/>
          </p:nvPr>
        </p:nvSpPr>
        <p:spPr>
          <a:xfrm>
            <a:off x="9047741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63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943753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66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22334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67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4748689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68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4627270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69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8553625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70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8432206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1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35" name="组合 3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669228" y="3632200"/>
            <a:ext cx="10858500" cy="0"/>
          </a:xfrm>
          <a:prstGeom prst="line">
            <a:avLst/>
          </a:prstGeom>
          <a:ln w="25400" cap="flat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 userDrawn="1"/>
        </p:nvSpPr>
        <p:spPr>
          <a:xfrm>
            <a:off x="669228" y="1496583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>
            <a:off x="9394356" y="3984612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图片占位符 42"/>
          <p:cNvSpPr>
            <a:spLocks noGrp="1"/>
          </p:cNvSpPr>
          <p:nvPr>
            <p:ph type="pic" sz="quarter" idx="12"/>
          </p:nvPr>
        </p:nvSpPr>
        <p:spPr>
          <a:xfrm>
            <a:off x="726750" y="153673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44" name="图片占位符 43"/>
          <p:cNvSpPr>
            <a:spLocks noGrp="1"/>
          </p:cNvSpPr>
          <p:nvPr>
            <p:ph type="pic" sz="quarter" idx="13"/>
          </p:nvPr>
        </p:nvSpPr>
        <p:spPr>
          <a:xfrm>
            <a:off x="9451878" y="403296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3246271" y="1535879"/>
            <a:ext cx="2793341" cy="46196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15" hasCustomPrompt="1"/>
          </p:nvPr>
        </p:nvSpPr>
        <p:spPr>
          <a:xfrm>
            <a:off x="6148516" y="4025048"/>
            <a:ext cx="2793341" cy="461962"/>
          </a:xfrm>
          <a:prstGeom prst="rect">
            <a:avLst/>
          </a:prstGeom>
        </p:spPr>
        <p:txBody>
          <a:bodyPr lIns="90000" r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3246271" y="2153813"/>
            <a:ext cx="8272629" cy="64633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9" hasCustomPrompt="1"/>
          </p:nvPr>
        </p:nvSpPr>
        <p:spPr>
          <a:xfrm>
            <a:off x="669228" y="4619089"/>
            <a:ext cx="8272629" cy="646331"/>
          </a:xfrm>
          <a:prstGeom prst="rect">
            <a:avLst/>
          </a:prstGeom>
        </p:spPr>
        <p:txBody>
          <a:bodyPr lIns="90000" rIns="0">
            <a:noAutofit/>
          </a:bodyPr>
          <a:lstStyle>
            <a:lvl1pPr marL="0" indent="0" algn="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2447962"/>
            <a:ext cx="4420885" cy="3686138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5162118" y="2447964"/>
            <a:ext cx="3154730" cy="1802652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/>
        </p:nvSpPr>
        <p:spPr>
          <a:xfrm>
            <a:off x="8397680" y="2447964"/>
            <a:ext cx="3154731" cy="1802652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/>
        </p:nvSpPr>
        <p:spPr>
          <a:xfrm>
            <a:off x="5162118" y="4331447"/>
            <a:ext cx="3154730" cy="1802654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 userDrawn="1"/>
        </p:nvSpPr>
        <p:spPr>
          <a:xfrm>
            <a:off x="8397680" y="4331447"/>
            <a:ext cx="3154731" cy="1802654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5398522" y="2612248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5277103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6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8634084" y="2612248"/>
            <a:ext cx="2681922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512665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8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8634084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9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8512665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50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5398522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51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5277103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52" name="文本占位符 11"/>
          <p:cNvSpPr>
            <a:spLocks noGrp="1"/>
          </p:cNvSpPr>
          <p:nvPr>
            <p:ph type="body" sz="quarter" idx="21" hasCustomPrompt="1"/>
          </p:nvPr>
        </p:nvSpPr>
        <p:spPr>
          <a:xfrm>
            <a:off x="660400" y="1337587"/>
            <a:ext cx="10858500" cy="735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1585023"/>
            <a:ext cx="5984238" cy="4554593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图片占位符 62"/>
          <p:cNvSpPr>
            <a:spLocks noGrp="1"/>
          </p:cNvSpPr>
          <p:nvPr>
            <p:ph type="pic" sz="quarter" idx="27"/>
          </p:nvPr>
        </p:nvSpPr>
        <p:spPr>
          <a:xfrm>
            <a:off x="660404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4" name="图片占位符 63"/>
          <p:cNvSpPr>
            <a:spLocks noGrp="1"/>
          </p:cNvSpPr>
          <p:nvPr>
            <p:ph type="pic" sz="quarter" idx="28"/>
          </p:nvPr>
        </p:nvSpPr>
        <p:spPr>
          <a:xfrm>
            <a:off x="3696741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5" name="图片占位符 64"/>
          <p:cNvSpPr>
            <a:spLocks noGrp="1"/>
          </p:cNvSpPr>
          <p:nvPr>
            <p:ph type="pic" sz="quarter" idx="29"/>
          </p:nvPr>
        </p:nvSpPr>
        <p:spPr>
          <a:xfrm>
            <a:off x="660404" y="3895974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图片占位符 65"/>
          <p:cNvSpPr>
            <a:spLocks noGrp="1"/>
          </p:cNvSpPr>
          <p:nvPr>
            <p:ph type="pic" sz="quarter" idx="30"/>
          </p:nvPr>
        </p:nvSpPr>
        <p:spPr>
          <a:xfrm>
            <a:off x="3696741" y="3895974"/>
            <a:ext cx="2947899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5000"/>
            </a:blip>
            <a:srcRect/>
            <a:tile tx="0" ty="0" sx="100000" sy="100000" flip="none" algn="tl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2" name="任意多边形: 形状 51"/>
          <p:cNvSpPr/>
          <p:nvPr userDrawn="1"/>
        </p:nvSpPr>
        <p:spPr>
          <a:xfrm rot="1759603">
            <a:off x="5759550" y="3287609"/>
            <a:ext cx="326672" cy="3900322"/>
          </a:xfrm>
          <a:custGeom>
            <a:avLst/>
            <a:gdLst>
              <a:gd name="connsiteX0" fmla="*/ 0 w 326672"/>
              <a:gd name="connsiteY0" fmla="*/ 0 h 3900322"/>
              <a:gd name="connsiteX1" fmla="*/ 326672 w 326672"/>
              <a:gd name="connsiteY1" fmla="*/ 0 h 3900322"/>
              <a:gd name="connsiteX2" fmla="*/ 326672 w 326672"/>
              <a:gd name="connsiteY2" fmla="*/ 3716802 h 3900322"/>
              <a:gd name="connsiteX3" fmla="*/ 0 w 326672"/>
              <a:gd name="connsiteY3" fmla="*/ 3900322 h 390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900322">
                <a:moveTo>
                  <a:pt x="0" y="0"/>
                </a:moveTo>
                <a:lnTo>
                  <a:pt x="326672" y="0"/>
                </a:lnTo>
                <a:lnTo>
                  <a:pt x="326672" y="3716802"/>
                </a:lnTo>
                <a:lnTo>
                  <a:pt x="0" y="39003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4" name="任意多边形: 形状 43"/>
          <p:cNvSpPr/>
          <p:nvPr userDrawn="1"/>
        </p:nvSpPr>
        <p:spPr>
          <a:xfrm rot="1759603">
            <a:off x="8280302" y="-201925"/>
            <a:ext cx="170609" cy="2499133"/>
          </a:xfrm>
          <a:custGeom>
            <a:avLst/>
            <a:gdLst>
              <a:gd name="connsiteX0" fmla="*/ 0 w 170609"/>
              <a:gd name="connsiteY0" fmla="*/ 95846 h 2499133"/>
              <a:gd name="connsiteX1" fmla="*/ 170609 w 170609"/>
              <a:gd name="connsiteY1" fmla="*/ 0 h 2499133"/>
              <a:gd name="connsiteX2" fmla="*/ 170609 w 170609"/>
              <a:gd name="connsiteY2" fmla="*/ 2499133 h 2499133"/>
              <a:gd name="connsiteX3" fmla="*/ 0 w 170609"/>
              <a:gd name="connsiteY3" fmla="*/ 2499133 h 2499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2499133">
                <a:moveTo>
                  <a:pt x="0" y="95846"/>
                </a:moveTo>
                <a:lnTo>
                  <a:pt x="170609" y="0"/>
                </a:lnTo>
                <a:lnTo>
                  <a:pt x="170609" y="2499133"/>
                </a:lnTo>
                <a:lnTo>
                  <a:pt x="0" y="24991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2" name="任意多边形: 形状 21"/>
          <p:cNvSpPr/>
          <p:nvPr userDrawn="1"/>
        </p:nvSpPr>
        <p:spPr>
          <a:xfrm rot="1759603">
            <a:off x="11257062" y="-144084"/>
            <a:ext cx="326672" cy="3732241"/>
          </a:xfrm>
          <a:custGeom>
            <a:avLst/>
            <a:gdLst>
              <a:gd name="connsiteX0" fmla="*/ 0 w 326672"/>
              <a:gd name="connsiteY0" fmla="*/ 0 h 3732241"/>
              <a:gd name="connsiteX1" fmla="*/ 326672 w 326672"/>
              <a:gd name="connsiteY1" fmla="*/ 581488 h 3732241"/>
              <a:gd name="connsiteX2" fmla="*/ 326672 w 326672"/>
              <a:gd name="connsiteY2" fmla="*/ 3732241 h 3732241"/>
              <a:gd name="connsiteX3" fmla="*/ 0 w 326672"/>
              <a:gd name="connsiteY3" fmla="*/ 3732241 h 37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732241">
                <a:moveTo>
                  <a:pt x="0" y="0"/>
                </a:moveTo>
                <a:lnTo>
                  <a:pt x="326672" y="581488"/>
                </a:lnTo>
                <a:lnTo>
                  <a:pt x="326672" y="3732241"/>
                </a:lnTo>
                <a:lnTo>
                  <a:pt x="0" y="37322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3" name="任意多边形: 形状 52"/>
          <p:cNvSpPr/>
          <p:nvPr userDrawn="1"/>
        </p:nvSpPr>
        <p:spPr>
          <a:xfrm rot="1759603">
            <a:off x="9271255" y="4019758"/>
            <a:ext cx="170609" cy="3077209"/>
          </a:xfrm>
          <a:custGeom>
            <a:avLst/>
            <a:gdLst>
              <a:gd name="connsiteX0" fmla="*/ 0 w 170609"/>
              <a:gd name="connsiteY0" fmla="*/ 0 h 3077209"/>
              <a:gd name="connsiteX1" fmla="*/ 170609 w 170609"/>
              <a:gd name="connsiteY1" fmla="*/ 0 h 3077209"/>
              <a:gd name="connsiteX2" fmla="*/ 170609 w 170609"/>
              <a:gd name="connsiteY2" fmla="*/ 2981364 h 3077209"/>
              <a:gd name="connsiteX3" fmla="*/ 0 w 170609"/>
              <a:gd name="connsiteY3" fmla="*/ 3077209 h 3077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3077209">
                <a:moveTo>
                  <a:pt x="0" y="0"/>
                </a:moveTo>
                <a:lnTo>
                  <a:pt x="170609" y="0"/>
                </a:lnTo>
                <a:lnTo>
                  <a:pt x="170609" y="2981364"/>
                </a:lnTo>
                <a:lnTo>
                  <a:pt x="0" y="30772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38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0" name="文本占位符 28"/>
          <p:cNvSpPr>
            <a:spLocks noGrp="1"/>
          </p:cNvSpPr>
          <p:nvPr>
            <p:ph type="body" sz="quarter" idx="17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869" y="1"/>
            <a:ext cx="10849030" cy="7492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869" y="850901"/>
            <a:ext cx="10849031" cy="528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22800" y="6235702"/>
            <a:ext cx="294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0" spc="300" baseline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75700" y="6235702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3400" b="1" i="0">
                <a:solidFill>
                  <a:srgbClr val="445437"/>
                </a:solidFill>
                <a:latin typeface="微软雅黑"/>
                <a:ea typeface="微软雅黑"/>
              </a:rPr>
              <a:t>一道导数压轴题的</a:t>
            </a:r>
          </a:p>
          <a:p>
            <a:r>
              <a:rPr sz="3400" b="1" i="0">
                <a:solidFill>
                  <a:srgbClr val="445437"/>
                </a:solidFill>
                <a:latin typeface="微软雅黑"/>
                <a:ea typeface="微软雅黑"/>
              </a:rPr>
              <a:t>三种打开方式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100" b="0" i="0">
                <a:solidFill>
                  <a:srgbClr val="5E6B4E"/>
                </a:solidFill>
                <a:latin typeface="微软雅黑"/>
                <a:ea typeface="微软雅黑"/>
              </a:rPr>
              <a:t>2026 新高考Ⅱ卷 · 第 19 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67512" y="4407408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E6B4E"/>
                </a:solidFill>
                <a:latin typeface="微软雅黑"/>
                <a:ea typeface="微软雅黑"/>
              </a:rPr>
              <a:t>高三数学 · 压轴题专题　|　函数与导数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72784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5437"/>
                </a:solidFill>
                <a:latin typeface="微软雅黑"/>
                <a:ea typeface="微软雅黑"/>
              </a:rPr>
              <a:t>止于至善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7278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5437"/>
                </a:solidFill>
                <a:latin typeface="微软雅黑"/>
                <a:ea typeface="微软雅黑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2300" b="1" i="0">
                <a:solidFill>
                  <a:srgbClr val="445437"/>
                </a:solidFill>
                <a:latin typeface="微软雅黑"/>
                <a:ea typeface="微软雅黑"/>
              </a:rPr>
              <a:t>题目呈现：一道题，三个台阶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0" y="48463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F8E"/>
                </a:solidFill>
                <a:latin typeface="微软雅黑"/>
                <a:ea typeface="微软雅黑"/>
              </a:rPr>
              <a:t>2026 新高考Ⅱ卷 · 第 19 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33856"/>
            <a:ext cx="6967728" cy="43159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8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133856"/>
            <a:ext cx="77724" cy="4315968"/>
          </a:xfrm>
          <a:prstGeom prst="rect">
            <a:avLst/>
          </a:prstGeom>
          <a:solidFill>
            <a:srgbClr val="E8A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335024"/>
            <a:ext cx="6419088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已知函数 </a:t>
            </a:r>
            <a:r>
              <a:rPr sz="1800" b="1" i="0">
                <a:solidFill>
                  <a:srgbClr val="445437"/>
                </a:solidFill>
                <a:latin typeface="Times New Roman"/>
                <a:ea typeface="Times New Roman"/>
              </a:rPr>
              <a:t>f(x) = xe</a:t>
            </a:r>
            <a:r>
              <a:rPr sz="1800" b="1" i="0" baseline="30000">
                <a:solidFill>
                  <a:srgbClr val="445437"/>
                </a:solidFill>
                <a:latin typeface="Times New Roman"/>
                <a:ea typeface="Times New Roman"/>
              </a:rPr>
              <a:t>x</a:t>
            </a:r>
            <a:r>
              <a:rPr sz="1800" b="1" i="0">
                <a:solidFill>
                  <a:srgbClr val="445437"/>
                </a:solidFill>
                <a:latin typeface="Times New Roman"/>
                <a:ea typeface="Times New Roman"/>
              </a:rPr>
              <a:t> + ax + b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，曲线 </a:t>
            </a:r>
            <a:r>
              <a:rPr sz="1800" b="1" i="0">
                <a:solidFill>
                  <a:srgbClr val="445437"/>
                </a:solidFill>
                <a:latin typeface="Times New Roman"/>
                <a:ea typeface="Times New Roman"/>
              </a:rPr>
              <a:t>y = f(x)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 在点 </a:t>
            </a:r>
            <a:r>
              <a:rPr sz="1800" b="1" i="0">
                <a:solidFill>
                  <a:srgbClr val="445437"/>
                </a:solidFill>
                <a:latin typeface="Times New Roman"/>
                <a:ea typeface="Times New Roman"/>
              </a:rPr>
              <a:t>(0, f(0))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 处的切线方程为 </a:t>
            </a:r>
            <a:r>
              <a:rPr sz="1800" b="1" i="0">
                <a:solidFill>
                  <a:srgbClr val="A63A2B"/>
                </a:solidFill>
                <a:latin typeface="Times New Roman"/>
                <a:ea typeface="Times New Roman"/>
              </a:rPr>
              <a:t>y = −2x + 1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72000"/>
              </a:lnSpc>
              <a:spcBef>
                <a:spcPts val="2000"/>
              </a:spcBef>
              <a:spcAft>
                <a:spcPts val="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（1）求 </a:t>
            </a:r>
            <a:r>
              <a:rPr sz="1800" b="1" i="0">
                <a:solidFill>
                  <a:srgbClr val="445437"/>
                </a:solidFill>
                <a:latin typeface="Times New Roman"/>
                <a:ea typeface="Times New Roman"/>
              </a:rPr>
              <a:t>a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、</a:t>
            </a:r>
            <a:r>
              <a:rPr sz="1800" b="1" i="0">
                <a:solidFill>
                  <a:srgbClr val="445437"/>
                </a:solidFill>
                <a:latin typeface="Times New Roman"/>
                <a:ea typeface="Times New Roman"/>
              </a:rPr>
              <a:t>b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；</a:t>
            </a:r>
          </a:p>
          <a:p>
            <a:pPr algn="l">
              <a:lnSpc>
                <a:spcPct val="172000"/>
              </a:lnSpc>
              <a:spcBef>
                <a:spcPts val="2000"/>
              </a:spcBef>
              <a:spcAft>
                <a:spcPts val="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（2）当 </a:t>
            </a:r>
            <a:r>
              <a:rPr sz="1800" b="1" i="0">
                <a:solidFill>
                  <a:srgbClr val="445437"/>
                </a:solidFill>
                <a:latin typeface="Times New Roman"/>
                <a:ea typeface="Times New Roman"/>
              </a:rPr>
              <a:t>x &gt; 0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 时，</a:t>
            </a:r>
            <a:r>
              <a:rPr sz="1800" b="1" i="0">
                <a:solidFill>
                  <a:srgbClr val="A63A2B"/>
                </a:solidFill>
                <a:latin typeface="Times New Roman"/>
                <a:ea typeface="Times New Roman"/>
              </a:rPr>
              <a:t>f(x+m) − f(x) &gt; m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，求 </a:t>
            </a:r>
            <a:r>
              <a:rPr sz="1800" b="1" i="0">
                <a:solidFill>
                  <a:srgbClr val="445437"/>
                </a:solidFill>
                <a:latin typeface="Times New Roman"/>
                <a:ea typeface="Times New Roman"/>
              </a:rPr>
              <a:t>m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 的取值范围；</a:t>
            </a:r>
          </a:p>
          <a:p>
            <a:pPr algn="l">
              <a:lnSpc>
                <a:spcPct val="172000"/>
              </a:lnSpc>
              <a:spcBef>
                <a:spcPts val="2000"/>
              </a:spcBef>
              <a:spcAft>
                <a:spcPts val="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（3）当 </a:t>
            </a:r>
            <a:r>
              <a:rPr sz="1800" b="1" i="0">
                <a:solidFill>
                  <a:srgbClr val="445437"/>
                </a:solidFill>
                <a:latin typeface="Times New Roman"/>
                <a:ea typeface="Times New Roman"/>
              </a:rPr>
              <a:t>x &gt; 0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 时，</a:t>
            </a:r>
            <a:r>
              <a:rPr sz="1800" b="1" i="0">
                <a:solidFill>
                  <a:srgbClr val="A63A2B"/>
                </a:solidFill>
                <a:latin typeface="Times New Roman"/>
                <a:ea typeface="Times New Roman"/>
              </a:rPr>
              <a:t>f(x+k) + f(k−x) &gt; 2f(k)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，求 </a:t>
            </a:r>
            <a:r>
              <a:rPr sz="1800" b="1" i="0">
                <a:solidFill>
                  <a:srgbClr val="445437"/>
                </a:solidFill>
                <a:latin typeface="Times New Roman"/>
                <a:ea typeface="Times New Roman"/>
              </a:rPr>
              <a:t>k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 的最小值。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047488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F8E"/>
                </a:solidFill>
                <a:latin typeface="微软雅黑"/>
                <a:ea typeface="微软雅黑"/>
              </a:rPr>
              <a:t>起点低、落点高：第（1）问送分，第（3）问筛人。三问共用同一个函数，一路不换。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1" y="1133856"/>
            <a:ext cx="3310128" cy="1316736"/>
          </a:xfrm>
          <a:prstGeom prst="roundRect">
            <a:avLst>
              <a:gd name="adj" fmla="val 4000"/>
            </a:avLst>
          </a:prstGeom>
          <a:solidFill>
            <a:srgbClr val="F4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93024" y="1280160"/>
            <a:ext cx="310896" cy="310896"/>
          </a:xfrm>
          <a:prstGeom prst="ellipse">
            <a:avLst/>
          </a:prstGeom>
          <a:solidFill>
            <a:srgbClr val="E8A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445437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1298448"/>
            <a:ext cx="2578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45437"/>
                </a:solidFill>
                <a:latin typeface="微软雅黑"/>
                <a:ea typeface="微软雅黑"/>
              </a:rPr>
              <a:t>切线 → 两个等式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3024" y="1664207"/>
            <a:ext cx="296265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67D6E"/>
                </a:solidFill>
                <a:latin typeface="微软雅黑"/>
                <a:ea typeface="微软雅黑"/>
              </a:rPr>
              <a:t>切点在切线上，得 f(0)=1；切线斜率即 f′(0)=−2。一个条件拆出两个方程，正好定下 a、b。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2578608"/>
            <a:ext cx="3310128" cy="1316736"/>
          </a:xfrm>
          <a:prstGeom prst="roundRect">
            <a:avLst>
              <a:gd name="adj" fmla="val 4000"/>
            </a:avLst>
          </a:prstGeom>
          <a:solidFill>
            <a:srgbClr val="F4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93024" y="2724912"/>
            <a:ext cx="310896" cy="310896"/>
          </a:xfrm>
          <a:prstGeom prst="ellipse">
            <a:avLst/>
          </a:prstGeom>
          <a:solidFill>
            <a:srgbClr val="E8A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445437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3648" y="2743200"/>
            <a:ext cx="2578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45437"/>
                </a:solidFill>
                <a:latin typeface="微软雅黑"/>
                <a:ea typeface="微软雅黑"/>
              </a:rPr>
              <a:t>增量 ＞ 增量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3108960"/>
            <a:ext cx="296265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67D6E"/>
                </a:solidFill>
                <a:latin typeface="微软雅黑"/>
                <a:ea typeface="微软雅黑"/>
              </a:rPr>
              <a:t>左边是平移 m 后的函数增量，右边就是 m 本身。把 f(x+m)−f(x)−m 整体记作 g(x)，问题变成「g 在 x&gt;0 上恒正」。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4023360"/>
            <a:ext cx="3310128" cy="1316736"/>
          </a:xfrm>
          <a:prstGeom prst="roundRect">
            <a:avLst>
              <a:gd name="adj" fmla="val 4000"/>
            </a:avLst>
          </a:prstGeom>
          <a:solidFill>
            <a:srgbClr val="F4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93024" y="4169664"/>
            <a:ext cx="310896" cy="310896"/>
          </a:xfrm>
          <a:prstGeom prst="ellipse">
            <a:avLst/>
          </a:prstGeom>
          <a:solidFill>
            <a:srgbClr val="E8A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445437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4187952"/>
            <a:ext cx="2578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45437"/>
                </a:solidFill>
                <a:latin typeface="微软雅黑"/>
                <a:ea typeface="微软雅黑"/>
              </a:rPr>
              <a:t>对称和 ＞ 2 倍中心值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4553712"/>
            <a:ext cx="296265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67D6E"/>
                </a:solidFill>
                <a:latin typeface="微软雅黑"/>
                <a:ea typeface="微软雅黑"/>
              </a:rPr>
              <a:t>两端关于 k 对称，右边是中心值的两倍 —— 这是「下凸」的特征，该想到二阶导 f″。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272784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5437"/>
                </a:solidFill>
                <a:latin typeface="微软雅黑"/>
                <a:ea typeface="微软雅黑"/>
              </a:rPr>
              <a:t>止于至善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27278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5437"/>
                </a:solidFill>
                <a:latin typeface="微软雅黑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2300" b="1" i="0">
                <a:solidFill>
                  <a:srgbClr val="445437"/>
                </a:solidFill>
                <a:latin typeface="微软雅黑"/>
                <a:ea typeface="微软雅黑"/>
              </a:rPr>
              <a:t>（1）求 a、b —— 把「切线」翻译成等式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0" y="48463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F8E"/>
                </a:solidFill>
                <a:latin typeface="微软雅黑"/>
                <a:ea typeface="微软雅黑"/>
              </a:rPr>
              <a:t>送分题 · 但不能丢分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33856"/>
            <a:ext cx="7406640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8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133856"/>
            <a:ext cx="77724" cy="3749039"/>
          </a:xfrm>
          <a:prstGeom prst="rect">
            <a:avLst/>
          </a:prstGeom>
          <a:solidFill>
            <a:srgbClr val="E8A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133856"/>
            <a:ext cx="6858000" cy="37490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45437"/>
                </a:solidFill>
                <a:latin typeface="微软雅黑"/>
                <a:ea typeface="微软雅黑"/>
              </a:rPr>
              <a:t>解：</a:t>
            </a:r>
          </a:p>
          <a:p>
            <a:pPr algn="l">
              <a:lnSpc>
                <a:spcPct val="172000"/>
              </a:lnSpc>
              <a:spcBef>
                <a:spcPts val="1300"/>
              </a:spcBef>
              <a:spcAft>
                <a:spcPts val="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</a:rPr>
              <a:t>∵ 点 </a:t>
            </a:r>
            <a:r>
              <a:rPr sz="1700" b="0" i="0">
                <a:solidFill>
                  <a:srgbClr val="445437"/>
                </a:solidFill>
                <a:latin typeface="Times New Roman"/>
                <a:ea typeface="Times New Roman"/>
              </a:rPr>
              <a:t>(0, f(0))</a:t>
            </a: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</a:rPr>
              <a:t> 在切线 </a:t>
            </a:r>
            <a:r>
              <a:rPr sz="1700" b="0" i="0">
                <a:solidFill>
                  <a:srgbClr val="A63A2B"/>
                </a:solidFill>
                <a:latin typeface="Times New Roman"/>
                <a:ea typeface="Times New Roman"/>
              </a:rPr>
              <a:t>y = −2x + 1</a:t>
            </a: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</a:rPr>
              <a:t> 上，</a:t>
            </a:r>
          </a:p>
          <a:p>
            <a:pPr algn="l">
              <a:lnSpc>
                <a:spcPct val="172000"/>
              </a:lnSpc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</a:rPr>
              <a:t>∴ </a:t>
            </a:r>
            <a:r>
              <a:rPr sz="1700" b="1" i="0">
                <a:solidFill>
                  <a:srgbClr val="445437"/>
                </a:solidFill>
                <a:latin typeface="Times New Roman"/>
                <a:ea typeface="Times New Roman"/>
              </a:rPr>
              <a:t>f(0) = −2 × 0 + 1 = 1</a:t>
            </a: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</a:rPr>
              <a:t>，即 </a:t>
            </a:r>
            <a:r>
              <a:rPr sz="1700" b="1" i="0">
                <a:solidFill>
                  <a:srgbClr val="A63A2B"/>
                </a:solidFill>
                <a:latin typeface="Times New Roman"/>
                <a:ea typeface="Times New Roman"/>
              </a:rPr>
              <a:t>b = 1</a:t>
            </a: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72000"/>
              </a:lnSpc>
              <a:spcBef>
                <a:spcPts val="1300"/>
              </a:spcBef>
              <a:spcAft>
                <a:spcPts val="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</a:rPr>
              <a:t>又 </a:t>
            </a:r>
            <a:r>
              <a:rPr sz="1700" b="0" i="0">
                <a:solidFill>
                  <a:srgbClr val="445437"/>
                </a:solidFill>
                <a:latin typeface="Times New Roman"/>
                <a:ea typeface="Times New Roman"/>
              </a:rPr>
              <a:t>f′(x) = (x+1)e</a:t>
            </a:r>
            <a:r>
              <a:rPr sz="1700" b="0" i="0" baseline="30000">
                <a:solidFill>
                  <a:srgbClr val="445437"/>
                </a:solidFill>
                <a:latin typeface="Times New Roman"/>
                <a:ea typeface="Times New Roman"/>
              </a:rPr>
              <a:t>x</a:t>
            </a:r>
            <a:r>
              <a:rPr sz="1700" b="0" i="0">
                <a:solidFill>
                  <a:srgbClr val="445437"/>
                </a:solidFill>
                <a:latin typeface="Times New Roman"/>
                <a:ea typeface="Times New Roman"/>
              </a:rPr>
              <a:t> + a</a:t>
            </a: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</a:rPr>
              <a:t>，切线斜率为 </a:t>
            </a:r>
            <a:r>
              <a:rPr sz="1700" b="0" i="0">
                <a:solidFill>
                  <a:srgbClr val="A63A2B"/>
                </a:solidFill>
                <a:latin typeface="Times New Roman"/>
                <a:ea typeface="Times New Roman"/>
              </a:rPr>
              <a:t>−2</a:t>
            </a: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</a:rPr>
              <a:t>，</a:t>
            </a:r>
          </a:p>
          <a:p>
            <a:pPr algn="l">
              <a:lnSpc>
                <a:spcPct val="172000"/>
              </a:lnSpc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</a:rPr>
              <a:t>∴ </a:t>
            </a:r>
            <a:r>
              <a:rPr sz="1700" b="1" i="0">
                <a:solidFill>
                  <a:srgbClr val="445437"/>
                </a:solidFill>
                <a:latin typeface="Times New Roman"/>
                <a:ea typeface="Times New Roman"/>
              </a:rPr>
              <a:t>f′(0) = 1 + a = −2</a:t>
            </a: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</a:rPr>
              <a:t>，解得 </a:t>
            </a:r>
            <a:r>
              <a:rPr sz="1700" b="1" i="0">
                <a:solidFill>
                  <a:srgbClr val="A63A2B"/>
                </a:solidFill>
                <a:latin typeface="Times New Roman"/>
                <a:ea typeface="Times New Roman"/>
              </a:rPr>
              <a:t>a = −3</a:t>
            </a: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72000"/>
              </a:lnSpc>
              <a:spcBef>
                <a:spcPts val="1500"/>
              </a:spcBef>
              <a:spcAft>
                <a:spcPts val="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</a:rPr>
              <a:t>综上，</a:t>
            </a:r>
            <a:r>
              <a:rPr sz="1700" b="1" i="0">
                <a:solidFill>
                  <a:srgbClr val="445437"/>
                </a:solidFill>
                <a:latin typeface="Times New Roman"/>
                <a:ea typeface="Times New Roman"/>
              </a:rPr>
              <a:t>a = −3</a:t>
            </a: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</a:rPr>
              <a:t>，</a:t>
            </a:r>
            <a:r>
              <a:rPr sz="1700" b="1" i="0">
                <a:solidFill>
                  <a:srgbClr val="445437"/>
                </a:solidFill>
                <a:latin typeface="Times New Roman"/>
                <a:ea typeface="Times New Roman"/>
              </a:rPr>
              <a:t>b = 1</a:t>
            </a: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</a:rPr>
              <a:t>，故 </a:t>
            </a:r>
            <a:r>
              <a:rPr sz="1700" b="1" i="0">
                <a:solidFill>
                  <a:srgbClr val="445437"/>
                </a:solidFill>
                <a:latin typeface="Times New Roman"/>
                <a:ea typeface="Times New Roman"/>
              </a:rPr>
              <a:t>f(x) = xe</a:t>
            </a:r>
            <a:r>
              <a:rPr sz="1700" b="1" i="0" baseline="30000">
                <a:solidFill>
                  <a:srgbClr val="445437"/>
                </a:solidFill>
                <a:latin typeface="Times New Roman"/>
                <a:ea typeface="Times New Roman"/>
              </a:rPr>
              <a:t>x</a:t>
            </a:r>
            <a:r>
              <a:rPr sz="1700" b="1" i="0">
                <a:solidFill>
                  <a:srgbClr val="445437"/>
                </a:solidFill>
                <a:latin typeface="Times New Roman"/>
                <a:ea typeface="Times New Roman"/>
              </a:rPr>
              <a:t> − 3x + 1</a:t>
            </a: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85632" y="1133856"/>
            <a:ext cx="2852928" cy="1755648"/>
          </a:xfrm>
          <a:prstGeom prst="roundRect">
            <a:avLst>
              <a:gd name="adj" fmla="val 4000"/>
            </a:avLst>
          </a:prstGeom>
          <a:solidFill>
            <a:srgbClr val="F4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05088" y="1316736"/>
            <a:ext cx="243230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45437"/>
                </a:solidFill>
                <a:latin typeface="微软雅黑"/>
                <a:ea typeface="微软雅黑"/>
              </a:rPr>
              <a:t>为什么是两个方程？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767D6E"/>
                </a:solidFill>
                <a:latin typeface="微软雅黑"/>
                <a:ea typeface="微软雅黑"/>
              </a:rPr>
              <a:t>「相切」本身就含两个信息：切点在曲线上、斜率相等。少用一个，a、b 就定不下来。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85632" y="3035808"/>
            <a:ext cx="2852928" cy="1847088"/>
          </a:xfrm>
          <a:prstGeom prst="roundRect">
            <a:avLst>
              <a:gd name="adj" fmla="val 4000"/>
            </a:avLst>
          </a:prstGeom>
          <a:solidFill>
            <a:srgbClr val="FD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5088" y="3218688"/>
            <a:ext cx="243230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63A2B"/>
                </a:solidFill>
                <a:latin typeface="微软雅黑"/>
                <a:ea typeface="微软雅黑"/>
              </a:rPr>
              <a:t>易错点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767D6E"/>
                </a:solidFill>
                <a:latin typeface="微软雅黑"/>
                <a:ea typeface="微软雅黑"/>
              </a:rPr>
              <a:t>把「切线过 (0,1)」误写成 f′(0)=1；或先代 x=0 求 f′(0) 再回代，顺序颠倒。记住：先求点，再求斜率。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431536"/>
            <a:ext cx="10625328" cy="493776"/>
          </a:xfrm>
          <a:prstGeom prst="roundRect">
            <a:avLst>
              <a:gd name="adj" fmla="val 4000"/>
            </a:avLst>
          </a:prstGeom>
          <a:solidFill>
            <a:srgbClr val="FD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5431536"/>
            <a:ext cx="54864" cy="493776"/>
          </a:xfrm>
          <a:prstGeom prst="rect">
            <a:avLst/>
          </a:prstGeom>
          <a:solidFill>
            <a:srgbClr val="E8A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5431536"/>
            <a:ext cx="10149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45437"/>
                </a:solidFill>
                <a:latin typeface="微软雅黑"/>
                <a:ea typeface="微软雅黑"/>
              </a:rPr>
              <a:t>定下 f(x) = xe</a:t>
            </a:r>
            <a:r>
              <a:rPr sz="1300" b="1" i="0" baseline="30000">
                <a:solidFill>
                  <a:srgbClr val="445437"/>
                </a:solidFill>
                <a:latin typeface="Times New Roman"/>
                <a:ea typeface="Times New Roman"/>
              </a:rPr>
              <a:t>x</a:t>
            </a:r>
            <a:r>
              <a:rPr sz="1300" b="1" i="0">
                <a:solidFill>
                  <a:srgbClr val="445437"/>
                </a:solidFill>
                <a:latin typeface="微软雅黑"/>
                <a:ea typeface="微软雅黑"/>
              </a:rPr>
              <a:t> − 3x + 1 之后，后两问全部在这条固定曲线上做文章 —— 这叫「一函到底」。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272784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5437"/>
                </a:solidFill>
                <a:latin typeface="微软雅黑"/>
                <a:ea typeface="微软雅黑"/>
              </a:rPr>
              <a:t>止于至善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27278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5437"/>
                </a:solidFill>
                <a:latin typeface="微软雅黑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2300" b="1" i="0">
                <a:solidFill>
                  <a:srgbClr val="445437"/>
                </a:solidFill>
                <a:latin typeface="微软雅黑"/>
                <a:ea typeface="微软雅黑"/>
              </a:rPr>
              <a:t>（2）恒成立 —— 构造函数，盯住端点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0" y="48463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F8E"/>
                </a:solidFill>
                <a:latin typeface="微软雅黑"/>
                <a:ea typeface="微软雅黑"/>
              </a:rPr>
              <a:t>第一个分水岭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15568"/>
            <a:ext cx="7607808" cy="44439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8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115568"/>
            <a:ext cx="77724" cy="4443984"/>
          </a:xfrm>
          <a:prstGeom prst="rect">
            <a:avLst/>
          </a:prstGeom>
          <a:solidFill>
            <a:srgbClr val="E8A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7086600" cy="416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令 </a:t>
            </a:r>
            <a:r>
              <a:rPr sz="1450" b="1" i="0">
                <a:solidFill>
                  <a:srgbClr val="445437"/>
                </a:solidFill>
                <a:latin typeface="Times New Roman"/>
                <a:ea typeface="Times New Roman"/>
              </a:rPr>
              <a:t>g(x) = f(x+m) − f(x) − m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（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x ≥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），则当 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x &gt;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 时原不等式 ⇔ </a:t>
            </a:r>
            <a:r>
              <a:rPr sz="1450" b="1" i="0">
                <a:solidFill>
                  <a:srgbClr val="A63A2B"/>
                </a:solidFill>
                <a:latin typeface="Times New Roman"/>
                <a:ea typeface="Times New Roman"/>
              </a:rPr>
              <a:t>g(x) &gt;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38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g(0) = f(m) − f(0) − m = m(e</a:t>
            </a:r>
            <a:r>
              <a:rPr sz="1450" b="0" i="0" baseline="30000">
                <a:solidFill>
                  <a:srgbClr val="445437"/>
                </a:solidFill>
                <a:latin typeface="Times New Roman"/>
                <a:ea typeface="Times New Roman"/>
              </a:rPr>
              <a:t>m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 − 4)</a:t>
            </a:r>
          </a:p>
          <a:p>
            <a:pPr algn="l">
              <a:lnSpc>
                <a:spcPct val="138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g′(x) = (x+m+1)e</a:t>
            </a:r>
            <a:r>
              <a:rPr sz="1450" b="0" i="0" baseline="30000">
                <a:solidFill>
                  <a:srgbClr val="445437"/>
                </a:solidFill>
                <a:latin typeface="Times New Roman"/>
                <a:ea typeface="Times New Roman"/>
              </a:rPr>
              <a:t>x+m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 − (x+1)e</a:t>
            </a:r>
            <a:r>
              <a:rPr sz="1450" b="0" i="0" baseline="30000">
                <a:solidFill>
                  <a:srgbClr val="445437"/>
                </a:solidFill>
                <a:latin typeface="Times New Roman"/>
                <a:ea typeface="Times New Roman"/>
              </a:rPr>
              <a:t>x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 = e</a:t>
            </a:r>
            <a:r>
              <a:rPr sz="1450" b="0" i="0" baseline="30000">
                <a:solidFill>
                  <a:srgbClr val="445437"/>
                </a:solidFill>
                <a:latin typeface="Times New Roman"/>
                <a:ea typeface="Times New Roman"/>
              </a:rPr>
              <a:t>x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[(e</a:t>
            </a:r>
            <a:r>
              <a:rPr sz="1450" b="0" i="0" baseline="30000">
                <a:solidFill>
                  <a:srgbClr val="445437"/>
                </a:solidFill>
                <a:latin typeface="Times New Roman"/>
                <a:ea typeface="Times New Roman"/>
              </a:rPr>
              <a:t>m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 − 1)x + (m+1)e</a:t>
            </a:r>
            <a:r>
              <a:rPr sz="1450" b="0" i="0" baseline="30000">
                <a:solidFill>
                  <a:srgbClr val="445437"/>
                </a:solidFill>
                <a:latin typeface="Times New Roman"/>
                <a:ea typeface="Times New Roman"/>
              </a:rPr>
              <a:t>m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 − 1]</a:t>
            </a:r>
          </a:p>
          <a:p>
            <a:pPr algn="l">
              <a:lnSpc>
                <a:spcPct val="138000"/>
              </a:lnSpc>
              <a:spcBef>
                <a:spcPts val="900"/>
              </a:spcBef>
              <a:spcAft>
                <a:spcPts val="0"/>
              </a:spcAft>
            </a:pPr>
            <a:r>
              <a:rPr sz="1450" b="1" i="0">
                <a:solidFill>
                  <a:srgbClr val="445437"/>
                </a:solidFill>
                <a:latin typeface="微软雅黑"/>
                <a:ea typeface="微软雅黑"/>
              </a:rPr>
              <a:t>① 若 </a:t>
            </a:r>
            <a:r>
              <a:rPr sz="1450" b="1" i="0">
                <a:solidFill>
                  <a:srgbClr val="445437"/>
                </a:solidFill>
                <a:latin typeface="Times New Roman"/>
                <a:ea typeface="Times New Roman"/>
              </a:rPr>
              <a:t>m ≤ 0</a:t>
            </a:r>
            <a:r>
              <a:rPr sz="1450" b="1" i="0">
                <a:solidFill>
                  <a:srgbClr val="445437"/>
                </a:solidFill>
                <a:latin typeface="微软雅黑"/>
                <a:ea typeface="微软雅黑"/>
              </a:rPr>
              <a:t>：</a:t>
            </a:r>
          </a:p>
          <a:p>
            <a:pPr algn="l">
              <a:lnSpc>
                <a:spcPct val="138000"/>
              </a:lnSpc>
              <a:spcBef>
                <a:spcPts val="30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　　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m =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 时 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g(x) ≡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，不满足 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g(x) &gt;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；</a:t>
            </a:r>
          </a:p>
          <a:p>
            <a:pPr algn="l">
              <a:lnSpc>
                <a:spcPct val="138000"/>
              </a:lnSpc>
              <a:spcBef>
                <a:spcPts val="30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　　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m &lt;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 时 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e</a:t>
            </a:r>
            <a:r>
              <a:rPr sz="1450" b="0" i="0" baseline="30000">
                <a:solidFill>
                  <a:srgbClr val="2B2B2B"/>
                </a:solidFill>
                <a:latin typeface="Times New Roman"/>
                <a:ea typeface="Times New Roman"/>
              </a:rPr>
              <a:t>m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 − 1 &lt;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，当 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x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 充分大时 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g(x) → −∞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，不合题意。</a:t>
            </a:r>
          </a:p>
          <a:p>
            <a:pPr algn="l">
              <a:lnSpc>
                <a:spcPct val="138000"/>
              </a:lnSpc>
              <a:spcBef>
                <a:spcPts val="900"/>
              </a:spcBef>
              <a:spcAft>
                <a:spcPts val="0"/>
              </a:spcAft>
            </a:pPr>
            <a:r>
              <a:rPr sz="1450" b="1" i="0">
                <a:solidFill>
                  <a:srgbClr val="445437"/>
                </a:solidFill>
                <a:latin typeface="微软雅黑"/>
                <a:ea typeface="微软雅黑"/>
              </a:rPr>
              <a:t>② 若 </a:t>
            </a:r>
            <a:r>
              <a:rPr sz="1450" b="1" i="0">
                <a:solidFill>
                  <a:srgbClr val="445437"/>
                </a:solidFill>
                <a:latin typeface="Times New Roman"/>
                <a:ea typeface="Times New Roman"/>
              </a:rPr>
              <a:t>m &gt; 0</a:t>
            </a:r>
            <a:r>
              <a:rPr sz="1450" b="1" i="0">
                <a:solidFill>
                  <a:srgbClr val="445437"/>
                </a:solidFill>
                <a:latin typeface="微软雅黑"/>
                <a:ea typeface="微软雅黑"/>
              </a:rPr>
              <a:t>：</a:t>
            </a:r>
          </a:p>
          <a:p>
            <a:pPr algn="l">
              <a:lnSpc>
                <a:spcPct val="138000"/>
              </a:lnSpc>
              <a:spcBef>
                <a:spcPts val="30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∵ 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x &gt;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 时 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(e</a:t>
            </a:r>
            <a:r>
              <a:rPr sz="1450" b="0" i="0" baseline="30000">
                <a:solidFill>
                  <a:srgbClr val="2B2B2B"/>
                </a:solidFill>
                <a:latin typeface="Times New Roman"/>
                <a:ea typeface="Times New Roman"/>
              </a:rPr>
              <a:t>m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−1)x &gt;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，且 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(m+1)e</a:t>
            </a:r>
            <a:r>
              <a:rPr sz="1450" b="0" i="0" baseline="30000">
                <a:solidFill>
                  <a:srgbClr val="2B2B2B"/>
                </a:solidFill>
                <a:latin typeface="Times New Roman"/>
                <a:ea typeface="Times New Roman"/>
              </a:rPr>
              <a:t>m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 − 1 &gt;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，∴ </a:t>
            </a:r>
            <a:r>
              <a:rPr sz="1450" b="1" i="0">
                <a:solidFill>
                  <a:srgbClr val="445437"/>
                </a:solidFill>
                <a:latin typeface="Times New Roman"/>
                <a:ea typeface="Times New Roman"/>
              </a:rPr>
              <a:t>g′(x) &gt;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38000"/>
              </a:lnSpc>
              <a:spcBef>
                <a:spcPts val="30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∴ 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g(x)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 在 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[0, +∞)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 上单调递增，故 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x &gt;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 时 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g(x) &gt; g(0)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，只需 </a:t>
            </a:r>
            <a:r>
              <a:rPr sz="1450" b="1" i="0">
                <a:solidFill>
                  <a:srgbClr val="A63A2B"/>
                </a:solidFill>
                <a:latin typeface="Times New Roman"/>
                <a:ea typeface="Times New Roman"/>
              </a:rPr>
              <a:t>g(0) ≥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38000"/>
              </a:lnSpc>
              <a:spcBef>
                <a:spcPts val="30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即 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m(e</a:t>
            </a:r>
            <a:r>
              <a:rPr sz="1450" b="0" i="0" baseline="30000">
                <a:solidFill>
                  <a:srgbClr val="2B2B2B"/>
                </a:solidFill>
                <a:latin typeface="Times New Roman"/>
                <a:ea typeface="Times New Roman"/>
              </a:rPr>
              <a:t>m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 − 4) ≥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，得 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e</a:t>
            </a:r>
            <a:r>
              <a:rPr sz="1450" b="0" i="0" baseline="30000">
                <a:solidFill>
                  <a:srgbClr val="2B2B2B"/>
                </a:solidFill>
                <a:latin typeface="Times New Roman"/>
                <a:ea typeface="Times New Roman"/>
              </a:rPr>
              <a:t>m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 ≥ 4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，解得 </a:t>
            </a:r>
            <a:r>
              <a:rPr sz="1450" b="1" i="0">
                <a:solidFill>
                  <a:srgbClr val="A63A2B"/>
                </a:solidFill>
                <a:latin typeface="Times New Roman"/>
                <a:ea typeface="Times New Roman"/>
              </a:rPr>
              <a:t>m ≥ 2ln 2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38000"/>
              </a:lnSpc>
              <a:spcBef>
                <a:spcPts val="900"/>
              </a:spcBef>
              <a:spcAft>
                <a:spcPts val="0"/>
              </a:spcAft>
            </a:pPr>
            <a:r>
              <a:rPr sz="1450" b="1" i="0">
                <a:solidFill>
                  <a:srgbClr val="445437"/>
                </a:solidFill>
                <a:latin typeface="微软雅黑"/>
                <a:ea typeface="微软雅黑"/>
              </a:rPr>
              <a:t>综上，</a:t>
            </a:r>
            <a:r>
              <a:rPr sz="1450" b="1" i="0">
                <a:solidFill>
                  <a:srgbClr val="A63A2B"/>
                </a:solidFill>
                <a:latin typeface="Times New Roman"/>
                <a:ea typeface="Times New Roman"/>
              </a:rPr>
              <a:t>m</a:t>
            </a:r>
            <a:r>
              <a:rPr sz="1450" b="1" i="0">
                <a:solidFill>
                  <a:srgbClr val="445437"/>
                </a:solidFill>
                <a:latin typeface="微软雅黑"/>
                <a:ea typeface="微软雅黑"/>
              </a:rPr>
              <a:t> 的取值范围是 </a:t>
            </a:r>
            <a:r>
              <a:rPr sz="1450" b="1" i="0">
                <a:solidFill>
                  <a:srgbClr val="A63A2B"/>
                </a:solidFill>
                <a:latin typeface="Times New Roman"/>
                <a:ea typeface="Times New Roman"/>
              </a:rPr>
              <a:t>[2ln 2, +∞)</a:t>
            </a:r>
            <a:r>
              <a:rPr sz="1450" b="1" i="0">
                <a:solidFill>
                  <a:srgbClr val="445437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13648" y="1115568"/>
            <a:ext cx="2743200" cy="1572768"/>
          </a:xfrm>
          <a:prstGeom prst="roundRect">
            <a:avLst>
              <a:gd name="adj" fmla="val 4000"/>
            </a:avLst>
          </a:prstGeom>
          <a:solidFill>
            <a:srgbClr val="F4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14816" y="1280160"/>
            <a:ext cx="2359152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45437"/>
                </a:solidFill>
                <a:latin typeface="微软雅黑"/>
                <a:ea typeface="微软雅黑"/>
              </a:rPr>
              <a:t>为什么盯 g(0)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区间左端点 + 已知单调性 = 最小值所在。不判单调直接代端点，是丢分重灾区。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13648" y="2798064"/>
            <a:ext cx="2743200" cy="1481328"/>
          </a:xfrm>
          <a:prstGeom prst="roundRect">
            <a:avLst>
              <a:gd name="adj" fmla="val 4000"/>
            </a:avLst>
          </a:prstGeom>
          <a:solidFill>
            <a:srgbClr val="F4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14816" y="2962656"/>
            <a:ext cx="235915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45437"/>
                </a:solidFill>
                <a:latin typeface="微软雅黑"/>
                <a:ea typeface="微软雅黑"/>
              </a:rPr>
              <a:t>「≥」从哪来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m=2ln 2 时 g(0)=0，但 x&gt;0 时 g 严格递增，仍有 g(x)&gt;0。端点取等，内部取严。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13648" y="4389120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FD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14816" y="4535424"/>
            <a:ext cx="23591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63A2B"/>
                </a:solidFill>
                <a:latin typeface="微软雅黑"/>
                <a:ea typeface="微软雅黑"/>
              </a:rPr>
              <a:t>别跳步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m≤0 的排除占 2 分。只写 m&gt;0 的讨论，过程不完整。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272784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5437"/>
                </a:solidFill>
                <a:latin typeface="微软雅黑"/>
                <a:ea typeface="微软雅黑"/>
              </a:rPr>
              <a:t>止于至善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27278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5437"/>
                </a:solidFill>
                <a:latin typeface="微软雅黑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2300" b="1" i="0">
                <a:solidFill>
                  <a:srgbClr val="445437"/>
                </a:solidFill>
                <a:latin typeface="微软雅黑"/>
                <a:ea typeface="微软雅黑"/>
              </a:rPr>
              <a:t>（3）解法一 ①　把「对称和」变成函数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0" y="48463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F8E"/>
                </a:solidFill>
                <a:latin typeface="微软雅黑"/>
                <a:ea typeface="微软雅黑"/>
              </a:rPr>
              <a:t>第三个台阶的第一级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078992"/>
            <a:ext cx="10625328" cy="1133856"/>
          </a:xfrm>
          <a:prstGeom prst="roundRect">
            <a:avLst>
              <a:gd name="adj" fmla="val 4000"/>
            </a:avLst>
          </a:prstGeom>
          <a:solidFill>
            <a:srgbClr val="FD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68580" cy="1133856"/>
          </a:xfrm>
          <a:prstGeom prst="rect">
            <a:avLst/>
          </a:prstGeom>
          <a:solidFill>
            <a:srgbClr val="E8A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5" y="1078992"/>
            <a:ext cx="10058400" cy="11338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左边的两项关于 k 对称，右边是中心值的 2 倍。令 </a:t>
            </a:r>
            <a:r>
              <a:rPr sz="1400" b="1" i="0">
                <a:solidFill>
                  <a:srgbClr val="445437"/>
                </a:solidFill>
                <a:latin typeface="Times New Roman"/>
                <a:ea typeface="Times New Roman"/>
              </a:rPr>
              <a:t>F(x) = f(k+x) + f(k−x) − 2f(k)</a:t>
            </a: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，</a:t>
            </a:r>
          </a:p>
          <a:p>
            <a:pPr algn="l">
              <a:lnSpc>
                <a:spcPct val="136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则 </a:t>
            </a:r>
            <a:r>
              <a:rPr sz="1400" b="0" i="0">
                <a:solidFill>
                  <a:srgbClr val="2B2B2B"/>
                </a:solidFill>
                <a:latin typeface="Times New Roman"/>
                <a:ea typeface="Times New Roman"/>
              </a:rPr>
              <a:t>x &gt; 0</a:t>
            </a: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 时原不等式 ⇔ </a:t>
            </a:r>
            <a:r>
              <a:rPr sz="1400" b="1" i="0">
                <a:solidFill>
                  <a:srgbClr val="A63A2B"/>
                </a:solidFill>
                <a:latin typeface="Times New Roman"/>
                <a:ea typeface="Times New Roman"/>
              </a:rPr>
              <a:t>F(x) &gt; 0</a:t>
            </a: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，而 </a:t>
            </a:r>
            <a:r>
              <a:rPr sz="1400" b="1" i="0">
                <a:solidFill>
                  <a:srgbClr val="A63A2B"/>
                </a:solidFill>
                <a:latin typeface="Times New Roman"/>
                <a:ea typeface="Times New Roman"/>
              </a:rPr>
              <a:t>F(0) = 0</a:t>
            </a: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 —— 于是 x = 0 必须是 F 的最小值点。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77440"/>
            <a:ext cx="5074920" cy="3054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8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77440"/>
            <a:ext cx="68580" cy="3054096"/>
          </a:xfrm>
          <a:prstGeom prst="rect">
            <a:avLst/>
          </a:prstGeom>
          <a:solidFill>
            <a:srgbClr val="5E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5" y="2523744"/>
            <a:ext cx="45720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45437"/>
                </a:solidFill>
                <a:latin typeface="微软雅黑"/>
                <a:ea typeface="微软雅黑"/>
              </a:rPr>
              <a:t>第一步　求导，看清「弯法」</a:t>
            </a:r>
          </a:p>
          <a:p>
            <a:pPr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F′(x) = f′(k+x) − f′(k−x)</a:t>
            </a:r>
          </a:p>
          <a:p>
            <a:pPr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F″(x) = f″(k+x) + f″(k−x)</a:t>
            </a:r>
          </a:p>
          <a:p>
            <a:pPr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0" i="0">
                <a:solidFill>
                  <a:srgbClr val="445437"/>
                </a:solidFill>
                <a:latin typeface="Times New Roman"/>
                <a:ea typeface="Times New Roman"/>
              </a:rPr>
              <a:t>f′(x) = (x+1)e</a:t>
            </a:r>
            <a:r>
              <a:rPr sz="1450" b="0" i="0" baseline="30000">
                <a:solidFill>
                  <a:srgbClr val="445437"/>
                </a:solidFill>
                <a:latin typeface="Times New Roman"/>
                <a:ea typeface="Times New Roman"/>
              </a:rPr>
              <a:t>x</a:t>
            </a:r>
            <a:r>
              <a:rPr sz="1450" b="0" i="0">
                <a:solidFill>
                  <a:srgbClr val="445437"/>
                </a:solidFill>
                <a:latin typeface="Times New Roman"/>
                <a:ea typeface="Times New Roman"/>
              </a:rPr>
              <a:t> − 3</a:t>
            </a:r>
          </a:p>
          <a:p>
            <a:pPr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</a:pPr>
            <a:r>
              <a:rPr sz="1450" b="1" i="0">
                <a:solidFill>
                  <a:srgbClr val="445437"/>
                </a:solidFill>
                <a:latin typeface="Times New Roman"/>
                <a:ea typeface="Times New Roman"/>
              </a:rPr>
              <a:t>f″(x) = (x+2)e</a:t>
            </a:r>
            <a:r>
              <a:rPr sz="1450" b="1" i="0" baseline="30000">
                <a:solidFill>
                  <a:srgbClr val="445437"/>
                </a:solidFill>
                <a:latin typeface="Times New Roman"/>
                <a:ea typeface="Times New Roman"/>
              </a:rPr>
              <a:t>x</a:t>
            </a:r>
          </a:p>
          <a:p>
            <a:pPr algn="l">
              <a:lnSpc>
                <a:spcPct val="138000"/>
              </a:lnSpc>
              <a:spcBef>
                <a:spcPts val="130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微软雅黑"/>
                <a:ea typeface="微软雅黑"/>
              </a:rPr>
              <a:t>∵ </a:t>
            </a:r>
            <a:r>
              <a:rPr sz="1250" b="0" i="0">
                <a:solidFill>
                  <a:srgbClr val="2B2B2B"/>
                </a:solidFill>
                <a:latin typeface="Times New Roman"/>
                <a:ea typeface="Times New Roman"/>
              </a:rPr>
              <a:t>e</a:t>
            </a:r>
            <a:r>
              <a:rPr sz="1250" b="0" i="0" baseline="30000">
                <a:solidFill>
                  <a:srgbClr val="2B2B2B"/>
                </a:solidFill>
                <a:latin typeface="Times New Roman"/>
                <a:ea typeface="Times New Roman"/>
              </a:rPr>
              <a:t>x</a:t>
            </a:r>
            <a:r>
              <a:rPr sz="1250" b="0" i="0">
                <a:solidFill>
                  <a:srgbClr val="2B2B2B"/>
                </a:solidFill>
                <a:latin typeface="Times New Roman"/>
                <a:ea typeface="Times New Roman"/>
              </a:rPr>
              <a:t> &gt; 0</a:t>
            </a:r>
            <a:r>
              <a:rPr sz="1250" b="0" i="0">
                <a:solidFill>
                  <a:srgbClr val="2B2B2B"/>
                </a:solidFill>
                <a:latin typeface="微软雅黑"/>
                <a:ea typeface="微软雅黑"/>
              </a:rPr>
              <a:t> 恒成立，∴ </a:t>
            </a:r>
            <a:r>
              <a:rPr sz="1250" b="0" i="0">
                <a:solidFill>
                  <a:srgbClr val="2B2B2B"/>
                </a:solidFill>
                <a:latin typeface="Times New Roman"/>
                <a:ea typeface="Times New Roman"/>
              </a:rPr>
              <a:t>f″(x) = 0</a:t>
            </a:r>
            <a:r>
              <a:rPr sz="1250" b="0" i="0">
                <a:solidFill>
                  <a:srgbClr val="2B2B2B"/>
                </a:solidFill>
                <a:latin typeface="微软雅黑"/>
                <a:ea typeface="微软雅黑"/>
              </a:rPr>
              <a:t> 只有一解 </a:t>
            </a:r>
            <a:r>
              <a:rPr sz="1250" b="1" i="0">
                <a:solidFill>
                  <a:srgbClr val="A63A2B"/>
                </a:solidFill>
                <a:latin typeface="Times New Roman"/>
                <a:ea typeface="Times New Roman"/>
              </a:rPr>
              <a:t>x = −2</a:t>
            </a:r>
            <a:r>
              <a:rPr sz="1250" b="0" i="0">
                <a:solidFill>
                  <a:srgbClr val="2B2B2B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38000"/>
              </a:lnSpc>
              <a:spcBef>
                <a:spcPts val="30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Times New Roman"/>
                <a:ea typeface="Times New Roman"/>
              </a:rPr>
              <a:t>x &lt; −2</a:t>
            </a:r>
            <a:r>
              <a:rPr sz="1250" b="0" i="0">
                <a:solidFill>
                  <a:srgbClr val="2B2B2B"/>
                </a:solidFill>
                <a:latin typeface="微软雅黑"/>
                <a:ea typeface="微软雅黑"/>
              </a:rPr>
              <a:t> 时 </a:t>
            </a:r>
            <a:r>
              <a:rPr sz="1250" b="0" i="0">
                <a:solidFill>
                  <a:srgbClr val="2B2B2B"/>
                </a:solidFill>
                <a:latin typeface="Times New Roman"/>
                <a:ea typeface="Times New Roman"/>
              </a:rPr>
              <a:t>f″ &lt; 0</a:t>
            </a:r>
            <a:r>
              <a:rPr sz="1250" b="0" i="0">
                <a:solidFill>
                  <a:srgbClr val="2B2B2B"/>
                </a:solidFill>
                <a:latin typeface="微软雅黑"/>
                <a:ea typeface="微软雅黑"/>
              </a:rPr>
              <a:t>（上凸）；</a:t>
            </a:r>
            <a:r>
              <a:rPr sz="1250" b="0" i="0">
                <a:solidFill>
                  <a:srgbClr val="2B2B2B"/>
                </a:solidFill>
                <a:latin typeface="Times New Roman"/>
                <a:ea typeface="Times New Roman"/>
              </a:rPr>
              <a:t>x &gt; −2</a:t>
            </a:r>
            <a:r>
              <a:rPr sz="1250" b="0" i="0">
                <a:solidFill>
                  <a:srgbClr val="2B2B2B"/>
                </a:solidFill>
                <a:latin typeface="微软雅黑"/>
                <a:ea typeface="微软雅黑"/>
              </a:rPr>
              <a:t> 时 </a:t>
            </a:r>
            <a:r>
              <a:rPr sz="1250" b="0" i="0">
                <a:solidFill>
                  <a:srgbClr val="2B2B2B"/>
                </a:solidFill>
                <a:latin typeface="Times New Roman"/>
                <a:ea typeface="Times New Roman"/>
              </a:rPr>
              <a:t>f″ &gt; 0</a:t>
            </a:r>
            <a:r>
              <a:rPr sz="1250" b="0" i="0">
                <a:solidFill>
                  <a:srgbClr val="2B2B2B"/>
                </a:solidFill>
                <a:latin typeface="微软雅黑"/>
                <a:ea typeface="微软雅黑"/>
              </a:rPr>
              <a:t>（下凸）。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53328" y="2377440"/>
            <a:ext cx="5349240" cy="3054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8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53328" y="2377440"/>
            <a:ext cx="68580" cy="3054096"/>
          </a:xfrm>
          <a:prstGeom prst="rect">
            <a:avLst/>
          </a:prstGeom>
          <a:solidFill>
            <a:srgbClr val="E8A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2523744"/>
            <a:ext cx="484632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45437"/>
                </a:solidFill>
                <a:latin typeface="微软雅黑"/>
                <a:ea typeface="微软雅黑"/>
              </a:rPr>
              <a:t>第二步　从「0 是最小值点」挤出必要条件</a:t>
            </a:r>
          </a:p>
          <a:p>
            <a:pPr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F(0) =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，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F′(0) = f′(k) − f′(k) = 0</a:t>
            </a:r>
          </a:p>
          <a:p>
            <a:pPr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若 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F(x) &gt;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 对 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x &gt;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 恒成立，则 x = 0 为最小值点，</a:t>
            </a:r>
          </a:p>
          <a:p>
            <a:pPr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故必有 </a:t>
            </a:r>
            <a:r>
              <a:rPr sz="1450" b="1" i="0">
                <a:solidFill>
                  <a:srgbClr val="A63A2B"/>
                </a:solidFill>
                <a:latin typeface="Times New Roman"/>
                <a:ea typeface="Times New Roman"/>
              </a:rPr>
              <a:t>F″(0) ≥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0" i="0">
                <a:solidFill>
                  <a:srgbClr val="445437"/>
                </a:solidFill>
                <a:latin typeface="Times New Roman"/>
                <a:ea typeface="Times New Roman"/>
              </a:rPr>
              <a:t>F″(0) = 2f″(k) = 2(k+2)e</a:t>
            </a:r>
            <a:r>
              <a:rPr sz="1450" b="0" i="0" baseline="30000">
                <a:solidFill>
                  <a:srgbClr val="445437"/>
                </a:solidFill>
                <a:latin typeface="Times New Roman"/>
                <a:ea typeface="Times New Roman"/>
              </a:rPr>
              <a:t>k</a:t>
            </a:r>
            <a:r>
              <a:rPr sz="1450" b="0" i="0">
                <a:solidFill>
                  <a:srgbClr val="445437"/>
                </a:solidFill>
                <a:latin typeface="Times New Roman"/>
                <a:ea typeface="Times New Roman"/>
              </a:rPr>
              <a:t> ≥ 0</a:t>
            </a:r>
          </a:p>
          <a:p>
            <a:pPr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∵ 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e</a:t>
            </a:r>
            <a:r>
              <a:rPr sz="1450" b="0" i="0" baseline="30000">
                <a:solidFill>
                  <a:srgbClr val="2B2B2B"/>
                </a:solidFill>
                <a:latin typeface="Times New Roman"/>
                <a:ea typeface="Times New Roman"/>
              </a:rPr>
              <a:t>k</a:t>
            </a:r>
            <a:r>
              <a:rPr sz="1450" b="0" i="0">
                <a:solidFill>
                  <a:srgbClr val="2B2B2B"/>
                </a:solidFill>
                <a:latin typeface="Times New Roman"/>
                <a:ea typeface="Times New Roman"/>
              </a:rPr>
              <a:t> &gt;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，∴ </a:t>
            </a:r>
            <a:r>
              <a:rPr sz="1450" b="1" i="0">
                <a:solidFill>
                  <a:srgbClr val="A63A2B"/>
                </a:solidFill>
                <a:latin typeface="Times New Roman"/>
                <a:ea typeface="Times New Roman"/>
              </a:rPr>
              <a:t>k + 2 ≥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，即 </a:t>
            </a:r>
            <a:r>
              <a:rPr sz="1450" b="1" i="0">
                <a:solidFill>
                  <a:srgbClr val="A63A2B"/>
                </a:solidFill>
                <a:latin typeface="Times New Roman"/>
                <a:ea typeface="Times New Roman"/>
              </a:rPr>
              <a:t>k ≥ −2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4864608"/>
            <a:ext cx="4846320" cy="512064"/>
          </a:xfrm>
          <a:prstGeom prst="roundRect">
            <a:avLst>
              <a:gd name="adj" fmla="val 4000"/>
            </a:avLst>
          </a:prstGeom>
          <a:solidFill>
            <a:srgbClr val="F4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956048"/>
            <a:ext cx="4553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这只是「必须」—— k ≥ −2 是必要条件，还得验证 k = −2 真的成立。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96128"/>
            <a:ext cx="10625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45437"/>
                </a:solidFill>
                <a:latin typeface="微软雅黑"/>
                <a:ea typeface="微软雅黑"/>
              </a:rPr>
              <a:t>必要性只解决了一半。接下来必须把 k = −2 代回去，证明它确实成立 —— 而这里，二阶导恰好失灵。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272784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5437"/>
                </a:solidFill>
                <a:latin typeface="微软雅黑"/>
                <a:ea typeface="微软雅黑"/>
              </a:rPr>
              <a:t>止于至善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27278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5437"/>
                </a:solidFill>
                <a:latin typeface="微软雅黑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2300" b="1" i="0">
                <a:solidFill>
                  <a:srgbClr val="445437"/>
                </a:solidFill>
                <a:latin typeface="微软雅黑"/>
                <a:ea typeface="微软雅黑"/>
              </a:rPr>
              <a:t>（3）解法一 ②　k = −2 时二阶导失效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0" y="48463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F8E"/>
                </a:solidFill>
                <a:latin typeface="微软雅黑"/>
                <a:ea typeface="微软雅黑"/>
              </a:rPr>
              <a:t>全题最硬的一步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097280"/>
            <a:ext cx="10625328" cy="786384"/>
          </a:xfrm>
          <a:prstGeom prst="roundRect">
            <a:avLst>
              <a:gd name="adj" fmla="val 4000"/>
            </a:avLst>
          </a:prstGeom>
          <a:solidFill>
            <a:srgbClr val="FD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68580" cy="786384"/>
          </a:xfrm>
          <a:prstGeom prst="rect">
            <a:avLst/>
          </a:prstGeom>
          <a:solidFill>
            <a:srgbClr val="A6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5" y="1207008"/>
            <a:ext cx="10149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k = −2 时 </a:t>
            </a:r>
            <a:r>
              <a:rPr sz="1450" b="1" i="0">
                <a:solidFill>
                  <a:srgbClr val="A63A2B"/>
                </a:solidFill>
                <a:latin typeface="Times New Roman"/>
                <a:ea typeface="Times New Roman"/>
              </a:rPr>
              <a:t>f″(−2) =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，</a:t>
            </a:r>
            <a:r>
              <a:rPr sz="1450" b="1" i="0">
                <a:solidFill>
                  <a:srgbClr val="A63A2B"/>
                </a:solidFill>
                <a:latin typeface="Times New Roman"/>
                <a:ea typeface="Times New Roman"/>
              </a:rPr>
              <a:t>F″(0) = 0</a:t>
            </a:r>
            <a:r>
              <a:rPr sz="1450" b="0" i="0">
                <a:solidFill>
                  <a:srgbClr val="2B2B2B"/>
                </a:solidFill>
                <a:latin typeface="微软雅黑"/>
                <a:ea typeface="微软雅黑"/>
              </a:rPr>
              <a:t>，二阶判据恰好在答案处失灵。必须退回一阶导，用单调性本身说话。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7571231" cy="4005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8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68580" cy="4005072"/>
          </a:xfrm>
          <a:prstGeom prst="rect">
            <a:avLst/>
          </a:prstGeom>
          <a:solidFill>
            <a:srgbClr val="5E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57984"/>
            <a:ext cx="704088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取 </a:t>
            </a:r>
            <a:r>
              <a:rPr sz="1400" b="1" i="0">
                <a:solidFill>
                  <a:srgbClr val="445437"/>
                </a:solidFill>
                <a:latin typeface="Times New Roman"/>
                <a:ea typeface="Times New Roman"/>
              </a:rPr>
              <a:t>k = −2</a:t>
            </a: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，则 </a:t>
            </a:r>
            <a:r>
              <a:rPr sz="1400" b="0" i="0">
                <a:solidFill>
                  <a:srgbClr val="445437"/>
                </a:solidFill>
                <a:latin typeface="Times New Roman"/>
                <a:ea typeface="Times New Roman"/>
              </a:rPr>
              <a:t>F(x) = f(x−2) + f(−2−x) − 2f(−2)</a:t>
            </a:r>
          </a:p>
          <a:p>
            <a:pPr algn="l">
              <a:lnSpc>
                <a:spcPct val="138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Times New Roman"/>
                <a:ea typeface="Times New Roman"/>
              </a:rPr>
              <a:t>F′(x) = f′(x−2) − f′(−2−x)</a:t>
            </a: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　（</a:t>
            </a:r>
            <a:r>
              <a:rPr sz="1400" b="0" i="0">
                <a:solidFill>
                  <a:srgbClr val="2B2B2B"/>
                </a:solidFill>
                <a:latin typeface="Times New Roman"/>
                <a:ea typeface="Times New Roman"/>
              </a:rPr>
              <a:t>x &gt; 0</a:t>
            </a: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）</a:t>
            </a:r>
          </a:p>
          <a:p>
            <a:pPr algn="l">
              <a:lnSpc>
                <a:spcPct val="138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　　　 = (x−1)e</a:t>
            </a:r>
            <a:r>
              <a:rPr sz="1400" b="0" i="0" baseline="30000">
                <a:solidFill>
                  <a:srgbClr val="445437"/>
                </a:solidFill>
                <a:latin typeface="Times New Roman"/>
                <a:ea typeface="Times New Roman"/>
              </a:rPr>
              <a:t>x−2</a:t>
            </a: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 − 3 − [(−1−x)e</a:t>
            </a:r>
            <a:r>
              <a:rPr sz="1400" b="0" i="0" baseline="30000">
                <a:solidFill>
                  <a:srgbClr val="445437"/>
                </a:solidFill>
                <a:latin typeface="Times New Roman"/>
                <a:ea typeface="Times New Roman"/>
              </a:rPr>
              <a:t>−2−x</a:t>
            </a: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 − 3]</a:t>
            </a:r>
          </a:p>
          <a:p>
            <a:pPr algn="l">
              <a:lnSpc>
                <a:spcPct val="138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　　　 = e</a:t>
            </a:r>
            <a:r>
              <a:rPr sz="1400" b="0" i="0" baseline="30000">
                <a:solidFill>
                  <a:srgbClr val="445437"/>
                </a:solidFill>
                <a:latin typeface="Times New Roman"/>
                <a:ea typeface="Times New Roman"/>
              </a:rPr>
              <a:t>−2</a:t>
            </a: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[(x−1)e</a:t>
            </a:r>
            <a:r>
              <a:rPr sz="1400" b="0" i="0" baseline="30000">
                <a:solidFill>
                  <a:srgbClr val="445437"/>
                </a:solidFill>
                <a:latin typeface="Times New Roman"/>
                <a:ea typeface="Times New Roman"/>
              </a:rPr>
              <a:t>x</a:t>
            </a: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 + (x+1)e</a:t>
            </a:r>
            <a:r>
              <a:rPr sz="1400" b="0" i="0" baseline="30000">
                <a:solidFill>
                  <a:srgbClr val="445437"/>
                </a:solidFill>
                <a:latin typeface="Times New Roman"/>
                <a:ea typeface="Times New Roman"/>
              </a:rPr>
              <a:t>−x</a:t>
            </a: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]</a:t>
            </a:r>
          </a:p>
          <a:p>
            <a:pPr algn="l">
              <a:lnSpc>
                <a:spcPct val="138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令 </a:t>
            </a:r>
            <a:r>
              <a:rPr sz="1400" b="1" i="0">
                <a:solidFill>
                  <a:srgbClr val="445437"/>
                </a:solidFill>
                <a:latin typeface="Times New Roman"/>
                <a:ea typeface="Times New Roman"/>
              </a:rPr>
              <a:t>φ(x) = (x−1)e</a:t>
            </a:r>
            <a:r>
              <a:rPr sz="1400" b="1" i="0" baseline="30000">
                <a:solidFill>
                  <a:srgbClr val="445437"/>
                </a:solidFill>
                <a:latin typeface="Times New Roman"/>
                <a:ea typeface="Times New Roman"/>
              </a:rPr>
              <a:t>x</a:t>
            </a:r>
            <a:r>
              <a:rPr sz="1400" b="1" i="0">
                <a:solidFill>
                  <a:srgbClr val="445437"/>
                </a:solidFill>
                <a:latin typeface="Times New Roman"/>
                <a:ea typeface="Times New Roman"/>
              </a:rPr>
              <a:t> + (x+1)e</a:t>
            </a:r>
            <a:r>
              <a:rPr sz="1400" b="1" i="0" baseline="30000">
                <a:solidFill>
                  <a:srgbClr val="445437"/>
                </a:solidFill>
                <a:latin typeface="Times New Roman"/>
                <a:ea typeface="Times New Roman"/>
              </a:rPr>
              <a:t>−x</a:t>
            </a: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，则 </a:t>
            </a:r>
            <a:r>
              <a:rPr sz="1400" b="0" i="0">
                <a:solidFill>
                  <a:srgbClr val="2B2B2B"/>
                </a:solidFill>
                <a:latin typeface="Times New Roman"/>
                <a:ea typeface="Times New Roman"/>
              </a:rPr>
              <a:t>φ(0) = 0</a:t>
            </a:r>
          </a:p>
          <a:p>
            <a:pPr algn="l">
              <a:lnSpc>
                <a:spcPct val="138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445437"/>
                </a:solidFill>
                <a:latin typeface="Times New Roman"/>
                <a:ea typeface="Times New Roman"/>
              </a:rPr>
              <a:t>φ′(x) = xe</a:t>
            </a:r>
            <a:r>
              <a:rPr sz="1400" b="0" i="0" baseline="30000">
                <a:solidFill>
                  <a:srgbClr val="445437"/>
                </a:solidFill>
                <a:latin typeface="Times New Roman"/>
                <a:ea typeface="Times New Roman"/>
              </a:rPr>
              <a:t>x</a:t>
            </a:r>
            <a:r>
              <a:rPr sz="1400" b="0" i="0">
                <a:solidFill>
                  <a:srgbClr val="445437"/>
                </a:solidFill>
                <a:latin typeface="Times New Roman"/>
                <a:ea typeface="Times New Roman"/>
              </a:rPr>
              <a:t> − xe</a:t>
            </a:r>
            <a:r>
              <a:rPr sz="1400" b="0" i="0" baseline="30000">
                <a:solidFill>
                  <a:srgbClr val="445437"/>
                </a:solidFill>
                <a:latin typeface="Times New Roman"/>
                <a:ea typeface="Times New Roman"/>
              </a:rPr>
              <a:t>−x</a:t>
            </a:r>
            <a:r>
              <a:rPr sz="1400" b="0" i="0">
                <a:solidFill>
                  <a:srgbClr val="445437"/>
                </a:solidFill>
                <a:latin typeface="Times New Roman"/>
                <a:ea typeface="Times New Roman"/>
              </a:rPr>
              <a:t> = x(e</a:t>
            </a:r>
            <a:r>
              <a:rPr sz="1400" b="0" i="0" baseline="30000">
                <a:solidFill>
                  <a:srgbClr val="445437"/>
                </a:solidFill>
                <a:latin typeface="Times New Roman"/>
                <a:ea typeface="Times New Roman"/>
              </a:rPr>
              <a:t>x</a:t>
            </a:r>
            <a:r>
              <a:rPr sz="1400" b="0" i="0">
                <a:solidFill>
                  <a:srgbClr val="445437"/>
                </a:solidFill>
                <a:latin typeface="Times New Roman"/>
                <a:ea typeface="Times New Roman"/>
              </a:rPr>
              <a:t> − e</a:t>
            </a:r>
            <a:r>
              <a:rPr sz="1400" b="0" i="0" baseline="30000">
                <a:solidFill>
                  <a:srgbClr val="445437"/>
                </a:solidFill>
                <a:latin typeface="Times New Roman"/>
                <a:ea typeface="Times New Roman"/>
              </a:rPr>
              <a:t>−x</a:t>
            </a:r>
            <a:r>
              <a:rPr sz="1400" b="0" i="0">
                <a:solidFill>
                  <a:srgbClr val="445437"/>
                </a:solidFill>
                <a:latin typeface="Times New Roman"/>
                <a:ea typeface="Times New Roman"/>
              </a:rPr>
              <a:t>) &gt; 0</a:t>
            </a: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（</a:t>
            </a:r>
            <a:r>
              <a:rPr sz="1400" b="0" i="0">
                <a:solidFill>
                  <a:srgbClr val="2B2B2B"/>
                </a:solidFill>
                <a:latin typeface="Times New Roman"/>
                <a:ea typeface="Times New Roman"/>
              </a:rPr>
              <a:t>x &gt; 0</a:t>
            </a: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）</a:t>
            </a:r>
          </a:p>
          <a:p>
            <a:pPr algn="l">
              <a:lnSpc>
                <a:spcPct val="138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∴ </a:t>
            </a:r>
            <a:r>
              <a:rPr sz="1400" b="1" i="0">
                <a:solidFill>
                  <a:srgbClr val="A63A2B"/>
                </a:solidFill>
                <a:latin typeface="Times New Roman"/>
                <a:ea typeface="Times New Roman"/>
              </a:rPr>
              <a:t>φ(x) &gt; φ(0) = 0</a:t>
            </a: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，即 </a:t>
            </a:r>
            <a:r>
              <a:rPr sz="1400" b="1" i="0">
                <a:solidFill>
                  <a:srgbClr val="A63A2B"/>
                </a:solidFill>
                <a:latin typeface="Times New Roman"/>
                <a:ea typeface="Times New Roman"/>
              </a:rPr>
              <a:t>F′(x) &gt; 0</a:t>
            </a: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38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∴ </a:t>
            </a:r>
            <a:r>
              <a:rPr sz="1400" b="0" i="0">
                <a:solidFill>
                  <a:srgbClr val="2B2B2B"/>
                </a:solidFill>
                <a:latin typeface="Times New Roman"/>
                <a:ea typeface="Times New Roman"/>
              </a:rPr>
              <a:t>F(x)</a:t>
            </a: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 在 </a:t>
            </a:r>
            <a:r>
              <a:rPr sz="1400" b="0" i="0">
                <a:solidFill>
                  <a:srgbClr val="2B2B2B"/>
                </a:solidFill>
                <a:latin typeface="Times New Roman"/>
                <a:ea typeface="Times New Roman"/>
              </a:rPr>
              <a:t>[0, +∞)</a:t>
            </a: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 上单调递增，故 </a:t>
            </a:r>
            <a:r>
              <a:rPr sz="1400" b="1" i="0">
                <a:solidFill>
                  <a:srgbClr val="445437"/>
                </a:solidFill>
                <a:latin typeface="Times New Roman"/>
                <a:ea typeface="Times New Roman"/>
              </a:rPr>
              <a:t>F(x) &gt; F(0) = 0</a:t>
            </a:r>
            <a:r>
              <a:rPr sz="1400" b="0" i="0">
                <a:solidFill>
                  <a:srgbClr val="2B2B2B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38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1" i="0">
                <a:solidFill>
                  <a:srgbClr val="445437"/>
                </a:solidFill>
                <a:latin typeface="微软雅黑"/>
                <a:ea typeface="微软雅黑"/>
              </a:rPr>
              <a:t>即 </a:t>
            </a:r>
            <a:r>
              <a:rPr sz="1400" b="1" i="0">
                <a:solidFill>
                  <a:srgbClr val="445437"/>
                </a:solidFill>
                <a:latin typeface="Times New Roman"/>
                <a:ea typeface="Times New Roman"/>
              </a:rPr>
              <a:t>k = −2</a:t>
            </a:r>
            <a:r>
              <a:rPr sz="1400" b="1" i="0">
                <a:solidFill>
                  <a:srgbClr val="445437"/>
                </a:solidFill>
                <a:latin typeface="微软雅黑"/>
                <a:ea typeface="微软雅黑"/>
              </a:rPr>
              <a:t> 时不等式成立；又 </a:t>
            </a:r>
            <a:r>
              <a:rPr sz="1400" b="1" i="0">
                <a:solidFill>
                  <a:srgbClr val="445437"/>
                </a:solidFill>
                <a:latin typeface="Times New Roman"/>
                <a:ea typeface="Times New Roman"/>
              </a:rPr>
              <a:t>k &lt; −2</a:t>
            </a:r>
            <a:r>
              <a:rPr sz="1400" b="1" i="0">
                <a:solidFill>
                  <a:srgbClr val="445437"/>
                </a:solidFill>
                <a:latin typeface="微软雅黑"/>
                <a:ea typeface="微软雅黑"/>
              </a:rPr>
              <a:t> 时不成立。</a:t>
            </a:r>
          </a:p>
          <a:p>
            <a:pPr algn="l">
              <a:lnSpc>
                <a:spcPct val="138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1" i="0">
                <a:solidFill>
                  <a:srgbClr val="A63A2B"/>
                </a:solidFill>
                <a:latin typeface="微软雅黑"/>
                <a:ea typeface="微软雅黑"/>
              </a:rPr>
              <a:t>故 k 的最小值为 </a:t>
            </a:r>
            <a:r>
              <a:rPr sz="1400" b="1" i="0">
                <a:solidFill>
                  <a:srgbClr val="A63A2B"/>
                </a:solidFill>
                <a:latin typeface="Times New Roman"/>
                <a:ea typeface="Times New Roman"/>
              </a:rPr>
              <a:t>−2</a:t>
            </a:r>
            <a:r>
              <a:rPr sz="1400" b="1" i="0">
                <a:solidFill>
                  <a:srgbClr val="A63A2B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58784" y="2011680"/>
            <a:ext cx="2852928" cy="1207008"/>
          </a:xfrm>
          <a:prstGeom prst="roundRect">
            <a:avLst>
              <a:gd name="adj" fmla="val 4000"/>
            </a:avLst>
          </a:prstGeom>
          <a:solidFill>
            <a:srgbClr val="F4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59952" y="213969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45437"/>
                </a:solidFill>
                <a:latin typeface="微软雅黑"/>
                <a:ea typeface="微软雅黑"/>
              </a:rPr>
              <a:t>代入要准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2450592"/>
            <a:ext cx="24688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767D6E"/>
                </a:solidFill>
                <a:latin typeface="Times New Roman"/>
                <a:ea typeface="Times New Roman"/>
              </a:rPr>
              <a:t>f′(x)=(x+1)e</a:t>
            </a:r>
            <a:r>
              <a:rPr sz="1080" b="0" i="0" baseline="30000">
                <a:solidFill>
                  <a:srgbClr val="767D6E"/>
                </a:solidFill>
                <a:latin typeface="Times New Roman"/>
                <a:ea typeface="Times New Roman"/>
              </a:rPr>
              <a:t>x</a:t>
            </a:r>
            <a:r>
              <a:rPr sz="1080" b="0" i="0">
                <a:solidFill>
                  <a:srgbClr val="767D6E"/>
                </a:solidFill>
                <a:latin typeface="Times New Roman"/>
                <a:ea typeface="Times New Roman"/>
              </a:rPr>
              <a:t> − 3</a:t>
            </a:r>
            <a:r>
              <a:rPr sz="1080" b="0" i="0">
                <a:solidFill>
                  <a:srgbClr val="767D6E"/>
                </a:solidFill>
                <a:latin typeface="微软雅黑"/>
                <a:ea typeface="微软雅黑"/>
              </a:rPr>
              <a:t>，把 </a:t>
            </a:r>
            <a:r>
              <a:rPr sz="1080" b="0" i="0">
                <a:solidFill>
                  <a:srgbClr val="767D6E"/>
                </a:solidFill>
                <a:latin typeface="Times New Roman"/>
                <a:ea typeface="Times New Roman"/>
              </a:rPr>
              <a:t>x−2</a:t>
            </a:r>
            <a:r>
              <a:rPr sz="1080" b="0" i="0">
                <a:solidFill>
                  <a:srgbClr val="767D6E"/>
                </a:solidFill>
                <a:latin typeface="微软雅黑"/>
                <a:ea typeface="微软雅黑"/>
              </a:rPr>
              <a:t> 代进去得 </a:t>
            </a:r>
            <a:r>
              <a:rPr sz="1080" b="0" i="0">
                <a:solidFill>
                  <a:srgbClr val="767D6E"/>
                </a:solidFill>
                <a:latin typeface="Times New Roman"/>
                <a:ea typeface="Times New Roman"/>
              </a:rPr>
              <a:t>(x−1)e</a:t>
            </a:r>
            <a:r>
              <a:rPr sz="1080" b="0" i="0" baseline="30000">
                <a:solidFill>
                  <a:srgbClr val="767D6E"/>
                </a:solidFill>
                <a:latin typeface="Times New Roman"/>
                <a:ea typeface="Times New Roman"/>
              </a:rPr>
              <a:t>x−2</a:t>
            </a:r>
            <a:r>
              <a:rPr sz="1080" b="0" i="0">
                <a:solidFill>
                  <a:srgbClr val="767D6E"/>
                </a:solidFill>
                <a:latin typeface="微软雅黑"/>
                <a:ea typeface="微软雅黑"/>
              </a:rPr>
              <a:t>，这是最容易算错的地方。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58784" y="3355848"/>
            <a:ext cx="2852928" cy="1207008"/>
          </a:xfrm>
          <a:prstGeom prst="roundRect">
            <a:avLst>
              <a:gd name="adj" fmla="val 4000"/>
            </a:avLst>
          </a:prstGeom>
          <a:solidFill>
            <a:srgbClr val="F4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9952" y="3483864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45437"/>
                </a:solidFill>
                <a:latin typeface="微软雅黑"/>
                <a:ea typeface="微软雅黑"/>
              </a:rPr>
              <a:t>唯一技巧点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3794760"/>
            <a:ext cx="24688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767D6E"/>
                </a:solidFill>
                <a:latin typeface="Times New Roman"/>
                <a:ea typeface="Times New Roman"/>
              </a:rPr>
              <a:t>φ′(x)</a:t>
            </a:r>
            <a:r>
              <a:rPr sz="1080" b="0" i="0">
                <a:solidFill>
                  <a:srgbClr val="767D6E"/>
                </a:solidFill>
                <a:latin typeface="微软雅黑"/>
                <a:ea typeface="微软雅黑"/>
              </a:rPr>
              <a:t> 的化简靠 </a:t>
            </a:r>
            <a:r>
              <a:rPr sz="1080" b="0" i="0">
                <a:solidFill>
                  <a:srgbClr val="767D6E"/>
                </a:solidFill>
                <a:latin typeface="Times New Roman"/>
                <a:ea typeface="Times New Roman"/>
              </a:rPr>
              <a:t>xe</a:t>
            </a:r>
            <a:r>
              <a:rPr sz="1080" b="0" i="0" baseline="30000">
                <a:solidFill>
                  <a:srgbClr val="767D6E"/>
                </a:solidFill>
                <a:latin typeface="Times New Roman"/>
                <a:ea typeface="Times New Roman"/>
              </a:rPr>
              <a:t>x</a:t>
            </a:r>
            <a:r>
              <a:rPr sz="1080" b="0" i="0">
                <a:solidFill>
                  <a:srgbClr val="767D6E"/>
                </a:solidFill>
                <a:latin typeface="微软雅黑"/>
                <a:ea typeface="微软雅黑"/>
              </a:rPr>
              <a:t> 与 </a:t>
            </a:r>
            <a:r>
              <a:rPr sz="1080" b="0" i="0">
                <a:solidFill>
                  <a:srgbClr val="767D6E"/>
                </a:solidFill>
                <a:latin typeface="Times New Roman"/>
                <a:ea typeface="Times New Roman"/>
              </a:rPr>
              <a:t>xe</a:t>
            </a:r>
            <a:r>
              <a:rPr sz="1080" b="0" i="0" baseline="30000">
                <a:solidFill>
                  <a:srgbClr val="767D6E"/>
                </a:solidFill>
                <a:latin typeface="Times New Roman"/>
                <a:ea typeface="Times New Roman"/>
              </a:rPr>
              <a:t>−x</a:t>
            </a:r>
            <a:r>
              <a:rPr sz="1080" b="0" i="0">
                <a:solidFill>
                  <a:srgbClr val="767D6E"/>
                </a:solidFill>
                <a:latin typeface="微软雅黑"/>
                <a:ea typeface="微软雅黑"/>
              </a:rPr>
              <a:t> 相互抵消，不是硬算。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58784" y="4700016"/>
            <a:ext cx="2852928" cy="1207008"/>
          </a:xfrm>
          <a:prstGeom prst="roundRect">
            <a:avLst>
              <a:gd name="adj" fmla="val 4000"/>
            </a:avLst>
          </a:prstGeom>
          <a:solidFill>
            <a:srgbClr val="F4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2" y="4828031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45437"/>
                </a:solidFill>
                <a:latin typeface="微软雅黑"/>
                <a:ea typeface="微软雅黑"/>
              </a:rPr>
              <a:t>问什么答什么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5138927"/>
            <a:ext cx="24688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767D6E"/>
                </a:solidFill>
                <a:latin typeface="微软雅黑"/>
                <a:ea typeface="微软雅黑"/>
              </a:rPr>
              <a:t>题目问「最小值」，答「k=−2」即可；写成取值范围反而是答非所问。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272784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5437"/>
                </a:solidFill>
                <a:latin typeface="微软雅黑"/>
                <a:ea typeface="微软雅黑"/>
              </a:rPr>
              <a:t>止于至善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27278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5437"/>
                </a:solidFill>
                <a:latin typeface="微软雅黑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2300" b="1" i="0">
                <a:solidFill>
                  <a:srgbClr val="445437"/>
                </a:solidFill>
                <a:latin typeface="微软雅黑"/>
                <a:ea typeface="微软雅黑"/>
              </a:rPr>
              <a:t>为什么偏偏是 −2？拐点就是那条分界线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0" y="48463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F8E"/>
                </a:solidFill>
                <a:latin typeface="微软雅黑"/>
                <a:ea typeface="微软雅黑"/>
              </a:rPr>
              <a:t>把答案画出来</a:t>
            </a:r>
          </a:p>
        </p:txBody>
      </p:sp>
      <p:pic>
        <p:nvPicPr>
          <p:cNvPr id="4" name="Picture 3" descr="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70432"/>
            <a:ext cx="6675120" cy="31179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498848"/>
            <a:ext cx="6309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x = −2 处由上凸转为下凸；x = 0 处切线斜率为 −2。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1243584"/>
            <a:ext cx="45720" cy="932688"/>
          </a:xfrm>
          <a:prstGeom prst="rect">
            <a:avLst/>
          </a:prstGeom>
          <a:solidFill>
            <a:srgbClr val="E8A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59" y="1225296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45437"/>
                </a:solidFill>
                <a:latin typeface="微软雅黑"/>
                <a:ea typeface="微软雅黑"/>
              </a:rPr>
              <a:t>f″ 只有一个零点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59" y="1517904"/>
            <a:ext cx="35204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f″(x)=(x+2)e</a:t>
            </a:r>
            <a:r>
              <a:rPr sz="1100" b="0" i="0" baseline="30000">
                <a:solidFill>
                  <a:srgbClr val="767D6E"/>
                </a:solidFill>
                <a:latin typeface="Times New Roman"/>
                <a:ea typeface="Times New Roman"/>
              </a:rPr>
              <a:t>x</a:t>
            </a: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，零点唯一：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x=−2</a:t>
            </a: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。曲线左段上凸、右段下凸，在这一点换了「弯法」。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2633472"/>
            <a:ext cx="45720" cy="932688"/>
          </a:xfrm>
          <a:prstGeom prst="rect">
            <a:avLst/>
          </a:prstGeom>
          <a:solidFill>
            <a:srgbClr val="E8A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59" y="2615184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45437"/>
                </a:solidFill>
                <a:latin typeface="微软雅黑"/>
                <a:ea typeface="微软雅黑"/>
              </a:rPr>
              <a:t>对称和 = 下凸特征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59" y="2907792"/>
            <a:ext cx="35204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「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f(k+x)+f(k−x) &gt; 2f(k)</a:t>
            </a: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」正是下凸的判别式。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k</a:t>
            </a: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 必须落在下凸区的边界上，于是 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k=−2</a:t>
            </a: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4023360"/>
            <a:ext cx="45720" cy="932688"/>
          </a:xfrm>
          <a:prstGeom prst="rect">
            <a:avLst/>
          </a:prstGeom>
          <a:solidFill>
            <a:srgbClr val="E8A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59" y="400507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45437"/>
                </a:solidFill>
                <a:latin typeface="微软雅黑"/>
                <a:ea typeface="微软雅黑"/>
              </a:rPr>
              <a:t>边界上判据失灵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59" y="4297680"/>
            <a:ext cx="35204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k=−2</a:t>
            </a: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 时 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f″</a:t>
            </a: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 恰为 0，二阶导给不出符号。这不是巧合，是命题人设的第二道门槛。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504688"/>
            <a:ext cx="10625328" cy="493776"/>
          </a:xfrm>
          <a:prstGeom prst="roundRect">
            <a:avLst>
              <a:gd name="adj" fmla="val 4000"/>
            </a:avLst>
          </a:prstGeom>
          <a:solidFill>
            <a:srgbClr val="FD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504688"/>
            <a:ext cx="10241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45437"/>
                </a:solidFill>
                <a:latin typeface="微软雅黑"/>
                <a:ea typeface="微软雅黑"/>
              </a:rPr>
              <a:t>所以：看到「对称和 &gt; 2 倍中心值」，第一反应就该去算 f″ 的零点 —— 答案往往就长在那里。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272784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5437"/>
                </a:solidFill>
                <a:latin typeface="微软雅黑"/>
                <a:ea typeface="微软雅黑"/>
              </a:rPr>
              <a:t>止于至善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27278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5437"/>
                </a:solidFill>
                <a:latin typeface="微软雅黑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2300" b="1" i="0">
                <a:solidFill>
                  <a:srgbClr val="445437"/>
                </a:solidFill>
                <a:latin typeface="微软雅黑"/>
                <a:ea typeface="微软雅黑"/>
              </a:rPr>
              <a:t>另两条路：只讲「怎么想到的」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0" y="48463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F8E"/>
                </a:solidFill>
                <a:latin typeface="微软雅黑"/>
                <a:ea typeface="微软雅黑"/>
              </a:rPr>
              <a:t>第（3）问的第二种与第三种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15568"/>
            <a:ext cx="513892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8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115568"/>
            <a:ext cx="68580" cy="4572000"/>
          </a:xfrm>
          <a:prstGeom prst="rect">
            <a:avLst/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280160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45437"/>
                </a:solidFill>
                <a:latin typeface="微软雅黑"/>
                <a:ea typeface="微软雅黑"/>
              </a:rPr>
              <a:t>方法二 · 两次拉格朗日中值定理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6420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91C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664208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45437"/>
                </a:solidFill>
                <a:latin typeface="微软雅黑"/>
                <a:ea typeface="微软雅黑"/>
              </a:rPr>
              <a:t>把 </a:t>
            </a:r>
            <a:r>
              <a:rPr sz="1200" b="1" i="0">
                <a:solidFill>
                  <a:srgbClr val="445437"/>
                </a:solidFill>
                <a:latin typeface="Times New Roman"/>
                <a:ea typeface="Times New Roman"/>
              </a:rPr>
              <a:t>F(x)</a:t>
            </a:r>
            <a:r>
              <a:rPr sz="1200" b="1" i="0">
                <a:solidFill>
                  <a:srgbClr val="445437"/>
                </a:solidFill>
                <a:latin typeface="微软雅黑"/>
                <a:ea typeface="微软雅黑"/>
              </a:rPr>
              <a:t> 拆成两个单侧增量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911095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f(k+x) − f(k)</a:t>
            </a: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　与　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f(k) − f(k−x)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50592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91C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450592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45437"/>
                </a:solidFill>
                <a:latin typeface="微软雅黑"/>
                <a:ea typeface="微软雅黑"/>
              </a:rPr>
              <a:t>各自用中值定理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697480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= x·f′(ξ</a:t>
            </a:r>
            <a:r>
              <a:rPr sz="1100" b="0" i="0" baseline="-25000">
                <a:solidFill>
                  <a:srgbClr val="767D6E"/>
                </a:solidFill>
                <a:latin typeface="Times New Roman"/>
                <a:ea typeface="Times New Roman"/>
              </a:rPr>
              <a:t>1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)</a:t>
            </a: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，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k &lt; ξ</a:t>
            </a:r>
            <a:r>
              <a:rPr sz="1100" b="0" i="0" baseline="-25000">
                <a:solidFill>
                  <a:srgbClr val="767D6E"/>
                </a:solidFill>
                <a:latin typeface="Times New Roman"/>
                <a:ea typeface="Times New Roman"/>
              </a:rPr>
              <a:t>1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 &lt; k+x</a:t>
            </a: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；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= x·f′(ξ</a:t>
            </a:r>
            <a:r>
              <a:rPr sz="1100" b="0" i="0" baseline="-25000">
                <a:solidFill>
                  <a:srgbClr val="767D6E"/>
                </a:solidFill>
                <a:latin typeface="Times New Roman"/>
                <a:ea typeface="Times New Roman"/>
              </a:rPr>
              <a:t>2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)</a:t>
            </a: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，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k−x &lt; ξ</a:t>
            </a:r>
            <a:r>
              <a:rPr sz="1100" b="0" i="0" baseline="-25000">
                <a:solidFill>
                  <a:srgbClr val="767D6E"/>
                </a:solidFill>
                <a:latin typeface="Times New Roman"/>
                <a:ea typeface="Times New Roman"/>
              </a:rPr>
              <a:t>2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 &lt;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36976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91C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236976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45437"/>
                </a:solidFill>
                <a:latin typeface="微软雅黑"/>
                <a:ea typeface="微软雅黑"/>
              </a:rPr>
              <a:t>两式相减，差分变二阶导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483864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F(x) = x[f′(ξ</a:t>
            </a:r>
            <a:r>
              <a:rPr sz="1100" b="0" i="0" baseline="-25000">
                <a:solidFill>
                  <a:srgbClr val="767D6E"/>
                </a:solidFill>
                <a:latin typeface="Times New Roman"/>
                <a:ea typeface="Times New Roman"/>
              </a:rPr>
              <a:t>1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) − f′(ξ</a:t>
            </a:r>
            <a:r>
              <a:rPr sz="1100" b="0" i="0" baseline="-25000">
                <a:solidFill>
                  <a:srgbClr val="767D6E"/>
                </a:solidFill>
                <a:latin typeface="Times New Roman"/>
                <a:ea typeface="Times New Roman"/>
              </a:rPr>
              <a:t>2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)] = x(ξ</a:t>
            </a:r>
            <a:r>
              <a:rPr sz="1100" b="0" i="0" baseline="-25000">
                <a:solidFill>
                  <a:srgbClr val="767D6E"/>
                </a:solidFill>
                <a:latin typeface="Times New Roman"/>
                <a:ea typeface="Times New Roman"/>
              </a:rPr>
              <a:t>1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−ξ</a:t>
            </a:r>
            <a:r>
              <a:rPr sz="1100" b="0" i="0" baseline="-25000">
                <a:solidFill>
                  <a:srgbClr val="767D6E"/>
                </a:solidFill>
                <a:latin typeface="Times New Roman"/>
                <a:ea typeface="Times New Roman"/>
              </a:rPr>
              <a:t>2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)·f″(η)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60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91C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4023360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45437"/>
                </a:solidFill>
                <a:latin typeface="微软雅黑"/>
                <a:ea typeface="微软雅黑"/>
              </a:rPr>
              <a:t>于是 </a:t>
            </a:r>
            <a:r>
              <a:rPr sz="1200" b="1" i="0">
                <a:solidFill>
                  <a:srgbClr val="445437"/>
                </a:solidFill>
                <a:latin typeface="Times New Roman"/>
                <a:ea typeface="Times New Roman"/>
              </a:rPr>
              <a:t>F</a:t>
            </a:r>
            <a:r>
              <a:rPr sz="1200" b="1" i="0">
                <a:solidFill>
                  <a:srgbClr val="445437"/>
                </a:solidFill>
                <a:latin typeface="微软雅黑"/>
                <a:ea typeface="微软雅黑"/>
              </a:rPr>
              <a:t> 的符号由 </a:t>
            </a:r>
            <a:r>
              <a:rPr sz="1200" b="1" i="0">
                <a:solidFill>
                  <a:srgbClr val="445437"/>
                </a:solidFill>
                <a:latin typeface="Times New Roman"/>
                <a:ea typeface="Times New Roman"/>
              </a:rPr>
              <a:t>f″(η)</a:t>
            </a:r>
            <a:r>
              <a:rPr sz="1200" b="1" i="0">
                <a:solidFill>
                  <a:srgbClr val="445437"/>
                </a:solidFill>
                <a:latin typeface="微软雅黑"/>
                <a:ea typeface="微软雅黑"/>
              </a:rPr>
              <a:t> 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4270248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要让 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x→0⁺</a:t>
            </a: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 时 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F&gt;0</a:t>
            </a: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，必须 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f″(k) ≥ 0</a:t>
            </a: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，即 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k ≥ −2</a:t>
            </a: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809744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91C"/>
                </a:solidFill>
                <a:latin typeface="微软雅黑"/>
                <a:ea typeface="微软雅黑"/>
              </a:rPr>
              <a:t>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809744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45437"/>
                </a:solidFill>
                <a:latin typeface="微软雅黑"/>
                <a:ea typeface="微软雅黑"/>
              </a:rPr>
              <a:t>但 </a:t>
            </a:r>
            <a:r>
              <a:rPr sz="1200" b="1" i="0">
                <a:solidFill>
                  <a:srgbClr val="445437"/>
                </a:solidFill>
                <a:latin typeface="Times New Roman"/>
                <a:ea typeface="Times New Roman"/>
              </a:rPr>
              <a:t>k=−2</a:t>
            </a:r>
            <a:r>
              <a:rPr sz="1200" b="1" i="0">
                <a:solidFill>
                  <a:srgbClr val="445437"/>
                </a:solidFill>
                <a:latin typeface="微软雅黑"/>
                <a:ea typeface="微软雅黑"/>
              </a:rPr>
              <a:t> 时 </a:t>
            </a:r>
            <a:r>
              <a:rPr sz="1200" b="1" i="0">
                <a:solidFill>
                  <a:srgbClr val="445437"/>
                </a:solidFill>
                <a:latin typeface="Times New Roman"/>
                <a:ea typeface="Times New Roman"/>
              </a:rPr>
              <a:t>f″(η)=0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5056632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中值定理同样给不出符号，仍需回到一阶导。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2784" y="1115568"/>
            <a:ext cx="513892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8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72784" y="1115568"/>
            <a:ext cx="68580" cy="4572000"/>
          </a:xfrm>
          <a:prstGeom prst="rect">
            <a:avLst/>
          </a:prstGeom>
          <a:solidFill>
            <a:srgbClr val="E8A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7104" y="1280160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45437"/>
                </a:solidFill>
                <a:latin typeface="微软雅黑"/>
                <a:ea typeface="微软雅黑"/>
              </a:rPr>
              <a:t>方法三 · 直接搬凹凸性的定义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166420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91C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5432" y="1664208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45437"/>
                </a:solidFill>
                <a:latin typeface="微软雅黑"/>
                <a:ea typeface="微软雅黑"/>
              </a:rPr>
              <a:t>把式子翻译成几何语言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2" y="1911095"/>
            <a:ext cx="4343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不等式 ⇔ 「关于 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k</a:t>
            </a: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 对称的两点连线（弦）在曲线上方」。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2633472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91C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2" y="2633472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45437"/>
                </a:solidFill>
                <a:latin typeface="微软雅黑"/>
                <a:ea typeface="微软雅黑"/>
              </a:rPr>
              <a:t>在 k &lt; −2 时找反例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2" y="2880360"/>
            <a:ext cx="4343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取 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x</a:t>
            </a: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 充分小，使 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[k−x, k+x] ⊂ (−∞,−2)</a:t>
            </a: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，该段上凸，弦必在曲线下方，即 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f(k+x)+f(k−x) &lt; 2f(k)</a:t>
            </a: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，矛盾。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7104" y="3602736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91C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432" y="3602736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45437"/>
                </a:solidFill>
                <a:latin typeface="微软雅黑"/>
                <a:ea typeface="微软雅黑"/>
              </a:rPr>
              <a:t>于是 </a:t>
            </a:r>
            <a:r>
              <a:rPr sz="1200" b="1" i="0">
                <a:solidFill>
                  <a:srgbClr val="445437"/>
                </a:solidFill>
                <a:latin typeface="Times New Roman"/>
                <a:ea typeface="Times New Roman"/>
              </a:rPr>
              <a:t>k ≥ −2</a:t>
            </a:r>
            <a:r>
              <a:rPr sz="1200" b="1" i="0">
                <a:solidFill>
                  <a:srgbClr val="445437"/>
                </a:solidFill>
                <a:latin typeface="微软雅黑"/>
                <a:ea typeface="微软雅黑"/>
              </a:rPr>
              <a:t> 是必要的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5432" y="3849624"/>
            <a:ext cx="4343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再验证 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k=−2</a:t>
            </a: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 成立（同解法一②），两头一夹即得最小值。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4572000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91C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85432" y="4572000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45437"/>
                </a:solidFill>
                <a:latin typeface="微软雅黑"/>
                <a:ea typeface="微软雅黑"/>
              </a:rPr>
              <a:t>这条路最短，但有硬伤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85432" y="4818888"/>
            <a:ext cx="4343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「</a:t>
            </a:r>
            <a:r>
              <a:rPr sz="1100" b="0" i="0">
                <a:solidFill>
                  <a:srgbClr val="767D6E"/>
                </a:solidFill>
                <a:latin typeface="Times New Roman"/>
                <a:ea typeface="Times New Roman"/>
              </a:rPr>
              <a:t>x</a:t>
            </a:r>
            <a:r>
              <a:rPr sz="1100" b="0" i="0">
                <a:solidFill>
                  <a:srgbClr val="767D6E"/>
                </a:solidFill>
                <a:latin typeface="微软雅黑"/>
                <a:ea typeface="微软雅黑"/>
              </a:rPr>
              <a:t> 充分小」必须写出来。只画图不交代，按过程不全处理。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272784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5437"/>
                </a:solidFill>
                <a:latin typeface="微软雅黑"/>
                <a:ea typeface="微软雅黑"/>
              </a:rPr>
              <a:t>止于至善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27278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5437"/>
                </a:solidFill>
                <a:latin typeface="微软雅黑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2300" b="1" i="0">
                <a:solidFill>
                  <a:srgbClr val="445437"/>
                </a:solidFill>
                <a:latin typeface="微软雅黑"/>
                <a:ea typeface="微软雅黑"/>
              </a:rPr>
              <a:t>这道题到底难在哪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0" y="48463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F8E"/>
                </a:solidFill>
                <a:latin typeface="微软雅黑"/>
                <a:ea typeface="微软雅黑"/>
              </a:rPr>
              <a:t>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15568"/>
            <a:ext cx="5138928" cy="18470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8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9844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A91C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316736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45437"/>
                </a:solidFill>
                <a:latin typeface="微软雅黑"/>
                <a:ea typeface="微软雅黑"/>
              </a:rPr>
              <a:t>结构识别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773936"/>
            <a:ext cx="39776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67D6E"/>
                </a:solidFill>
                <a:latin typeface="微软雅黑"/>
                <a:ea typeface="微软雅黑"/>
              </a:rPr>
              <a:t>「对称和 &gt; 2 倍中心值」不是在考计算，是在考你能不能认出这是下凸的定义式。认出来，方向就有了；认不出，只能原地求导。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115568"/>
            <a:ext cx="5138928" cy="18470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8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129844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A91C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7184" y="1316736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45437"/>
                </a:solidFill>
                <a:latin typeface="微软雅黑"/>
                <a:ea typeface="微软雅黑"/>
              </a:rPr>
              <a:t>分类不能省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4" y="1773936"/>
            <a:ext cx="39776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67D6E"/>
                </a:solidFill>
                <a:latin typeface="微软雅黑"/>
                <a:ea typeface="微软雅黑"/>
              </a:rPr>
              <a:t>第（2）问 m ≤ 0 的情形必须单独排除。用 g(0) ≥ 0 之前要交代 g 单调，否则就是「未经证明代端点」。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27248"/>
            <a:ext cx="5138928" cy="18470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8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A91C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28416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45437"/>
                </a:solidFill>
                <a:latin typeface="微软雅黑"/>
                <a:ea typeface="微软雅黑"/>
              </a:rPr>
              <a:t>边界失效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785615"/>
            <a:ext cx="39776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67D6E"/>
                </a:solidFill>
                <a:latin typeface="微软雅黑"/>
                <a:ea typeface="微软雅黑"/>
              </a:rPr>
              <a:t>k = −2 时 f″(−2) = 0，二阶判据恰好在答案处失灵 —— 全题唯一不能套模板的地方，也是真正的区分点。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3127248"/>
            <a:ext cx="5138928" cy="18470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8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331012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A91C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87184" y="3328416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45437"/>
                </a:solidFill>
                <a:latin typeface="微软雅黑"/>
                <a:ea typeface="微软雅黑"/>
              </a:rPr>
              <a:t>答案的位置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87184" y="3785615"/>
            <a:ext cx="39776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67D6E"/>
                </a:solidFill>
                <a:latin typeface="微软雅黑"/>
                <a:ea typeface="微软雅黑"/>
              </a:rPr>
              <a:t>k 的最小值不是算出来的，是「夹」出来的：先证 k &lt; −2 不可能，再验 k = −2 可行，两头一夹得出结论。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138928"/>
            <a:ext cx="10625328" cy="896112"/>
          </a:xfrm>
          <a:prstGeom prst="roundRect">
            <a:avLst>
              <a:gd name="adj" fmla="val 4000"/>
            </a:avLst>
          </a:prstGeom>
          <a:solidFill>
            <a:srgbClr val="FD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138928"/>
            <a:ext cx="68580" cy="896112"/>
          </a:xfrm>
          <a:prstGeom prst="rect">
            <a:avLst/>
          </a:prstGeom>
          <a:solidFill>
            <a:srgbClr val="E8A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5" y="5138928"/>
            <a:ext cx="1005840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45437"/>
                </a:solidFill>
                <a:latin typeface="微软雅黑"/>
                <a:ea typeface="微软雅黑"/>
              </a:rPr>
              <a:t>三句话带走：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微软雅黑"/>
                <a:ea typeface="微软雅黑"/>
              </a:rPr>
              <a:t>见对称和，先算 f″　·　二阶导为零的地方，往往就是答案　·　必要条件 + 单独验证，是求「最小值」的标准套路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272784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5437"/>
                </a:solidFill>
                <a:latin typeface="微软雅黑"/>
                <a:ea typeface="微软雅黑"/>
              </a:rPr>
              <a:t>止于至善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27278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5437"/>
                </a:solidFill>
                <a:latin typeface="微软雅黑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EU">
      <a:dk1>
        <a:sysClr val="windowText" lastClr="000000"/>
      </a:dk1>
      <a:lt1>
        <a:sysClr val="window" lastClr="FFFFFF"/>
      </a:lt1>
      <a:dk2>
        <a:srgbClr val="44546A"/>
      </a:dk2>
      <a:lt2>
        <a:srgbClr val="E3E1DD"/>
      </a:lt2>
      <a:accent1>
        <a:srgbClr val="445437"/>
      </a:accent1>
      <a:accent2>
        <a:srgbClr val="FFCC00"/>
      </a:accent2>
      <a:accent3>
        <a:srgbClr val="2872A1"/>
      </a:accent3>
      <a:accent4>
        <a:srgbClr val="FCB322"/>
      </a:accent4>
      <a:accent5>
        <a:srgbClr val="EA6C00"/>
      </a:accent5>
      <a:accent6>
        <a:srgbClr val="70AD47"/>
      </a:accent6>
      <a:hlink>
        <a:srgbClr val="0563C1"/>
      </a:hlink>
      <a:folHlink>
        <a:srgbClr val="954F72"/>
      </a:folHlink>
    </a:clrScheme>
    <a:fontScheme name="htvr4vc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7266</Words>
  <Application>Microsoft Office PowerPoint</Application>
  <PresentationFormat>宽屏</PresentationFormat>
  <Paragraphs>1267</Paragraphs>
  <Slides>91</Slides>
  <Notes>78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91</vt:i4>
      </vt:variant>
    </vt:vector>
  </HeadingPairs>
  <TitlesOfParts>
    <vt:vector size="93" baseType="lpstr">
      <vt:lpstr>Office 主题​​</vt:lpstr>
      <vt:lpstr>2_OfficePLUS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GTD0402</dc:creator>
  <cp:lastModifiedBy>冠镔 丁</cp:lastModifiedBy>
  <cp:revision>31</cp:revision>
  <dcterms:created xsi:type="dcterms:W3CDTF">2019-03-11T14:11:00Z</dcterms:created>
  <dcterms:modified xsi:type="dcterms:W3CDTF">2023-10-08T08:50:29Z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2019-04-12T02:41:52.0160681Z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69373f4c-3b11-4ae9-a932-ee563e5098c6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KSOProductBuildVer">
    <vt:lpwstr>2052-11.1.0.10132</vt:lpwstr>
  </property>
</Properties>
</file>