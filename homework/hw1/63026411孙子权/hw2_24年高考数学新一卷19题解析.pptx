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14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400" y="1097280"/>
            <a:ext cx="2651760" cy="822960"/>
          </a:xfrm>
          <a:prstGeom prst="rect">
            <a:avLst/>
          </a:prstGeom>
          <a:solidFill>
            <a:srgbClr val="1E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72600" y="2057400"/>
            <a:ext cx="2194560" cy="1371600"/>
          </a:xfrm>
          <a:prstGeom prst="rect">
            <a:avLst/>
          </a:prstGeom>
          <a:solidFill>
            <a:srgbClr val="275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15400" y="3566160"/>
            <a:ext cx="2651760" cy="548640"/>
          </a:xfrm>
          <a:prstGeom prst="rect">
            <a:avLst/>
          </a:prstGeom>
          <a:solidFill>
            <a:srgbClr val="1E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72600" y="4251960"/>
            <a:ext cx="2194560" cy="1051560"/>
          </a:xfrm>
          <a:prstGeom prst="rect">
            <a:avLst/>
          </a:prstGeom>
          <a:solidFill>
            <a:srgbClr val="275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15400" y="5440680"/>
            <a:ext cx="2651760" cy="685800"/>
          </a:xfrm>
          <a:prstGeom prst="rect">
            <a:avLst/>
          </a:prstGeom>
          <a:solidFill>
            <a:srgbClr val="1E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8A227"/>
                </a:solidFill>
                <a:latin typeface="微软雅黑"/>
              </a:rPr>
              <a:t>课程实践作业 · 大模型解题实践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749807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大模型解答高考数学压轴题</a:t>
            </a:r>
          </a:p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微软雅黑"/>
              </a:rPr>
              <a:t>——2024 年新课标 I 卷 第 19 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584448"/>
            <a:ext cx="1417320" cy="54864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22191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9D8E8"/>
                </a:solidFill>
                <a:latin typeface="微软雅黑"/>
              </a:rPr>
              <a:t>考点：等差数列的性质 · 分组构造 · 古典概型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9D8E8"/>
                </a:solidFill>
                <a:latin typeface="微软雅黑"/>
              </a:rPr>
              <a:t>方法：数学推导 + Python 精确验证 + 可视化呈现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FB6CC"/>
                </a:solidFill>
                <a:latin typeface="微软雅黑"/>
              </a:rPr>
              <a:t>汇报人：</a:t>
            </a:r>
            <a:r>
              <a:rPr sz="1500" b="1">
                <a:solidFill>
                  <a:srgbClr val="FFFFFF"/>
                </a:solidFill>
                <a:latin typeface="微软雅黑"/>
              </a:rPr>
              <a:t>XXX</a:t>
            </a:r>
            <a:r>
              <a:rPr sz="1500" b="0">
                <a:solidFill>
                  <a:srgbClr val="9FB6CC"/>
                </a:solidFill>
                <a:latin typeface="微软雅黑"/>
              </a:rPr>
              <a:t>          学号：</a:t>
            </a:r>
            <a:r>
              <a:rPr sz="1500" b="1">
                <a:solidFill>
                  <a:srgbClr val="FFFFFF"/>
                </a:solidFill>
                <a:latin typeface="微软雅黑"/>
              </a:rPr>
              <a:t>XXXXXXXX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9FB6CC"/>
                </a:solidFill>
                <a:latin typeface="微软雅黑"/>
              </a:rPr>
              <a:t>日  期：</a:t>
            </a:r>
            <a:r>
              <a:rPr sz="1500" b="1">
                <a:solidFill>
                  <a:srgbClr val="FFFFFF"/>
                </a:solidFill>
                <a:latin typeface="微软雅黑"/>
              </a:rPr>
              <a:t>2025 年 XX 月 XX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0424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FD3E8"/>
                </a:solidFill>
                <a:latin typeface="微软雅黑"/>
              </a:rPr>
              <a:t>CONTENTS · 解题框架概览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8A227"/>
                </a:solidFill>
                <a:latin typeface="微软雅黑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81328"/>
            <a:ext cx="786384" cy="54864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7863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467612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2A4A"/>
                </a:solidFill>
                <a:latin typeface="微软雅黑"/>
              </a:rPr>
              <a:t>原题呈现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769364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2024 新课标 I 卷 第 19 题（压轴题）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153412"/>
            <a:ext cx="786384" cy="548640"/>
          </a:xfrm>
          <a:prstGeom prst="roundRect">
            <a:avLst>
              <a:gd name="adj" fmla="val 18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53412"/>
            <a:ext cx="7863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139696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2A4A"/>
                </a:solidFill>
                <a:latin typeface="微软雅黑"/>
              </a:rPr>
              <a:t>破题思路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441448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核心考点：等差数列 · 分组构造 · 古典概型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25496"/>
            <a:ext cx="786384" cy="548640"/>
          </a:xfrm>
          <a:prstGeom prst="roundRect">
            <a:avLst>
              <a:gd name="adj" fmla="val 18000"/>
            </a:avLst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25496"/>
            <a:ext cx="7863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2811779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2A4A"/>
                </a:solidFill>
                <a:latin typeface="微软雅黑"/>
              </a:rPr>
              <a:t>第 (1) 问解析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3113532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m=1 时全部 (i,j) 的穷举与数轴图示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497580"/>
            <a:ext cx="786384" cy="54864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97580"/>
            <a:ext cx="7863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3483864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2A4A"/>
                </a:solidFill>
                <a:latin typeface="微软雅黑"/>
              </a:rPr>
              <a:t>第 (2) 问证明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3785616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(2,13) 分组构造与对称配对思想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69664"/>
            <a:ext cx="786384" cy="548640"/>
          </a:xfrm>
          <a:prstGeom prst="roundRect">
            <a:avLst>
              <a:gd name="adj" fmla="val 18000"/>
            </a:avLst>
          </a:prstGeom>
          <a:solidFill>
            <a:srgbClr val="B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9664"/>
            <a:ext cx="7863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1952" y="4155948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2A4A"/>
                </a:solidFill>
                <a:latin typeface="微软雅黑"/>
              </a:rPr>
              <a:t>第 (3) 问证明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445770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计数公式 m²+m+1 与放缩证明 P_m&gt;1/8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41748"/>
            <a:ext cx="786384" cy="548640"/>
          </a:xfrm>
          <a:prstGeom prst="roundRect">
            <a:avLst>
              <a:gd name="adj" fmla="val 18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41748"/>
            <a:ext cx="7863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4828032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2A4A"/>
                </a:solidFill>
                <a:latin typeface="微软雅黑"/>
              </a:rPr>
              <a:t>代码验证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1952" y="5129784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Python 精确枚举 + 运行结果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513832"/>
            <a:ext cx="786384" cy="548640"/>
          </a:xfrm>
          <a:prstGeom prst="roundRect">
            <a:avLst>
              <a:gd name="adj" fmla="val 18000"/>
            </a:avLst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13832"/>
            <a:ext cx="7863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01952" y="5500116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2A4A"/>
                </a:solidFill>
                <a:latin typeface="微软雅黑"/>
              </a:rPr>
              <a:t>总结与反思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5801868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解题技巧与核心数学思想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5B1"/>
                </a:solidFill>
                <a:latin typeface="微软雅黑"/>
              </a:rPr>
              <a:t>2024 高考数学新课标 I 卷 · 第 19 题 · 大模型解题实践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0424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一、原题呈现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FD3E8"/>
                </a:solidFill>
                <a:latin typeface="微软雅黑"/>
              </a:rPr>
              <a:t>2024 年普通高等学校招生全国统一考试 · 数学（新课标 I 卷）第 19 题 · 压轴题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8A227"/>
                </a:solidFill>
                <a:latin typeface="微软雅黑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11064240" cy="452628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91440" cy="4526280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2A4A"/>
                </a:solidFill>
                <a:latin typeface="微软雅黑"/>
              </a:rPr>
              <a:t>【原题】</a:t>
            </a:r>
            <a:r>
              <a:rPr sz="1600" b="0">
                <a:solidFill>
                  <a:srgbClr val="5A6674"/>
                </a:solidFill>
                <a:latin typeface="微软雅黑"/>
              </a:rPr>
              <a:t>设 m 为正整数，数列 a₁, a₂, …, a₄ₘ₊₂ 是公差不为 0 的等差数列。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>
                <a:solidFill>
                  <a:srgbClr val="333D49"/>
                </a:solidFill>
                <a:latin typeface="微软雅黑"/>
              </a:rPr>
              <a:t>若从中删去两项 aᵢ 和 aⱼ (i&lt;j) 后剩余的 4m 项可被平均分为 m 组，且每组的 4 个数都能构成等差数列，</a:t>
            </a:r>
          </a:p>
          <a:p>
            <a:pPr algn="l">
              <a:lnSpc>
                <a:spcPct val="142000"/>
              </a:lnSpc>
            </a:pPr>
            <a:r>
              <a:rPr sz="1450" b="0">
                <a:solidFill>
                  <a:srgbClr val="333D49"/>
                </a:solidFill>
                <a:latin typeface="微软雅黑"/>
              </a:rPr>
              <a:t>则称数列是 (i, j) 一一可分数列。</a:t>
            </a:r>
          </a:p>
          <a:p>
            <a:pPr algn="l">
              <a:lnSpc>
                <a:spcPct val="142000"/>
              </a:lnSpc>
            </a:pPr>
            <a:r>
              <a:rPr sz="1450" b="0">
                <a:solidFill>
                  <a:srgbClr val="333D49"/>
                </a:solidFill>
                <a:latin typeface="微软雅黑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450" b="0">
                <a:solidFill>
                  <a:srgbClr val="333D49"/>
                </a:solidFill>
                <a:latin typeface="微软雅黑"/>
              </a:rPr>
              <a:t>(1) 写出所有的 (i, j)，1 ≤ i &lt; j ≤ 6，使数列 a₁, …, a₆ 是 (i, j) 一一可分数列；</a:t>
            </a:r>
          </a:p>
          <a:p>
            <a:pPr algn="l">
              <a:lnSpc>
                <a:spcPct val="142000"/>
              </a:lnSpc>
            </a:pPr>
            <a:r>
              <a:rPr sz="1450" b="0">
                <a:solidFill>
                  <a:srgbClr val="333D49"/>
                </a:solidFill>
                <a:latin typeface="微软雅黑"/>
              </a:rPr>
              <a:t>(2) 当 m ≥ 3 时，证明：数列 a₁, …, a₄ₘ₊₂ 是 (2, 13) 一一可分数列；</a:t>
            </a:r>
          </a:p>
          <a:p>
            <a:pPr algn="l">
              <a:lnSpc>
                <a:spcPct val="142000"/>
              </a:lnSpc>
            </a:pPr>
            <a:r>
              <a:rPr sz="1450" b="0">
                <a:solidFill>
                  <a:srgbClr val="333D49"/>
                </a:solidFill>
                <a:latin typeface="微软雅黑"/>
              </a:rPr>
              <a:t>(3) 从 1, 2, …, 4m+2 中一次任取两个数 i 和 j (i&lt;j)，记数列是 (i, j) 一一可分数列的概率为 P_m，</a:t>
            </a:r>
          </a:p>
          <a:p>
            <a:pPr algn="l">
              <a:lnSpc>
                <a:spcPct val="142000"/>
              </a:lnSpc>
            </a:pPr>
            <a:r>
              <a:rPr sz="1450" b="0">
                <a:solidFill>
                  <a:srgbClr val="333D49"/>
                </a:solidFill>
                <a:latin typeface="微软雅黑"/>
              </a:rPr>
              <a:t>      证明：P_m &gt; 1/8。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760720"/>
            <a:ext cx="3529584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338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8A227"/>
                </a:solidFill>
                <a:latin typeface="微软雅黑"/>
              </a:rPr>
              <a:t>压轴题 19 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6247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A6674"/>
                </a:solidFill>
                <a:latin typeface="微软雅黑"/>
              </a:rPr>
              <a:t>难度：★★★★★ · 新结构卷标志性难题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5760720"/>
            <a:ext cx="3529584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58338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8A227"/>
                </a:solidFill>
                <a:latin typeface="微软雅黑"/>
              </a:rPr>
              <a:t>三大考点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606247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A6674"/>
                </a:solidFill>
                <a:latin typeface="微软雅黑"/>
              </a:rPr>
              <a:t>等差数列性质 · 有序分组构造 · 古典概型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5760720"/>
            <a:ext cx="3529584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58338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8A227"/>
                </a:solidFill>
                <a:latin typeface="微软雅黑"/>
              </a:rPr>
              <a:t>解题关键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606247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A6674"/>
                </a:solidFill>
                <a:latin typeface="微软雅黑"/>
              </a:rPr>
              <a:t>下标化：4 个数成等差 ⇔ 下标成等差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5B1"/>
                </a:solidFill>
                <a:latin typeface="微软雅黑"/>
              </a:rPr>
              <a:t>2024 高考数学新课标 I 卷 · 第 19 题 · 大模型解题实践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0424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二、破题思路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FD3E8"/>
                </a:solidFill>
                <a:latin typeface="微软雅黑"/>
              </a:rPr>
              <a:t>核心考点的拆解与转化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8A227"/>
                </a:solidFill>
                <a:latin typeface="微软雅黑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6FB2"/>
                </a:solidFill>
                <a:latin typeface="微软雅黑"/>
              </a:rPr>
              <a:t>核心转化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333D49"/>
                </a:solidFill>
                <a:latin typeface="微软雅黑"/>
              </a:rPr>
              <a:t>设 aₖ = a₁ + (k−1)d (d ≠ 0)，则 a_p, a_q, a_r, a_s 成等差 </a:t>
            </a:r>
            <a:r>
              <a:rPr sz="1550" b="1">
                <a:solidFill>
                  <a:srgbClr val="B23A3A"/>
                </a:solidFill>
                <a:latin typeface="微软雅黑"/>
              </a:rPr>
              <a:t>⇔ q−p = r−q = s−r &gt; 0</a:t>
            </a:r>
            <a:r>
              <a:rPr sz="1450" b="0">
                <a:solidFill>
                  <a:srgbClr val="333D49"/>
                </a:solidFill>
                <a:latin typeface="微软雅黑"/>
              </a:rPr>
              <a:t>，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A6674"/>
                </a:solidFill>
                <a:latin typeface="微软雅黑"/>
              </a:rPr>
              <a:t>即：4 个数成等差 ⇔ 它们的下标成等差 —— 原题化为纯下标组合问题，与 a₁、d 无关。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90672"/>
            <a:ext cx="3529584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3090672"/>
            <a:ext cx="3529584" cy="475488"/>
          </a:xfrm>
          <a:prstGeom prst="roundRect">
            <a:avLst>
              <a:gd name="adj" fmla="val 3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346704"/>
            <a:ext cx="3529584" cy="2194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090672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</a:rPr>
              <a:t>考点一 · 等差数列性质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73075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等差数列的判定：连续三项差相等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3891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4 项等差的下标必为 p, p+d, p+2d, p+3d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047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仿射映射 aₖ = a₁+(k−1)d 保持等差性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3090672"/>
            <a:ext cx="3529584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88536" y="3090672"/>
            <a:ext cx="3529584" cy="475488"/>
          </a:xfrm>
          <a:prstGeom prst="roundRect">
            <a:avLst>
              <a:gd name="adj" fmla="val 30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3346704"/>
            <a:ext cx="3529584" cy="219456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3090672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</a:rPr>
              <a:t>考点二 · 分组构造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73075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剩余 4m 项 ⇒ 恰分 m 组，每组 4 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43891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构造法：从两端向中间配对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5047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对称性：删去下标把区间劈成几段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090672"/>
            <a:ext cx="3529584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10144" y="3090672"/>
            <a:ext cx="3529584" cy="475488"/>
          </a:xfrm>
          <a:prstGeom prst="roundRect">
            <a:avLst>
              <a:gd name="adj" fmla="val 30000"/>
            </a:avLst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3346704"/>
            <a:ext cx="3529584" cy="219456"/>
          </a:xfrm>
          <a:prstGeom prst="rect">
            <a:avLst/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3090672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</a:rPr>
              <a:t>考点三 · 古典概型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73075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样本空间：C(4m+2, 2) 个等可能 (i,j)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43891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事件：使数列一一可分的 (i,j)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5047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• P_m = 可分对数 / 总对数，再放缩证 &gt; 1/8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5B1"/>
                </a:solidFill>
                <a:latin typeface="微软雅黑"/>
              </a:rPr>
              <a:t>2024 高考数学新课标 I 卷 · 第 19 题 · 大模型解题实践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0424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三、第 (1) 问解析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FD3E8"/>
                </a:solidFill>
                <a:latin typeface="微软雅黑"/>
              </a:rPr>
              <a:t>m = 1：从 a₁, …, a₆ 中删去两项，使剩余 4 项成等差数列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8A227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A"/>
                </a:solidFill>
                <a:latin typeface="微软雅黑"/>
              </a:rPr>
              <a:t>推导：剩余 4 项须自身成等差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5669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>1..6 中所有 4 项等差数列只有 3 个：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>    {1,2,3,4}（公差 1）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>    {2,3,4,5}（公差 1）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>    {3,4,5,6}（公差 1）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>反例：{1,3,5,6} 的差为 2,2,1，不是等差；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>        {1,2,4,5}、{1,3,4,6} 等同理。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41648"/>
            <a:ext cx="566928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041648"/>
            <a:ext cx="82296" cy="603504"/>
          </a:xfrm>
          <a:prstGeom prst="rect">
            <a:avLst/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41648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674"/>
                </a:solidFill>
                <a:latin typeface="微软雅黑"/>
              </a:rPr>
              <a:t>{1,2,3,4} 留下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041648"/>
            <a:ext cx="3017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50"/>
                </a:solidFill>
                <a:latin typeface="微软雅黑"/>
              </a:rPr>
              <a:t>删 (5, 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54880"/>
            <a:ext cx="566928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54880"/>
            <a:ext cx="82296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674"/>
                </a:solidFill>
                <a:latin typeface="微软雅黑"/>
              </a:rPr>
              <a:t>{2,3,4,5} 留下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754880"/>
            <a:ext cx="3017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6FB2"/>
                </a:solidFill>
                <a:latin typeface="微软雅黑"/>
              </a:rPr>
              <a:t>删 (1, 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68112"/>
            <a:ext cx="566928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468112"/>
            <a:ext cx="82296" cy="603504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68112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674"/>
                </a:solidFill>
                <a:latin typeface="微软雅黑"/>
              </a:rPr>
              <a:t>{3,4,5,6} 留下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468112"/>
            <a:ext cx="3017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8A227"/>
                </a:solidFill>
                <a:latin typeface="微软雅黑"/>
              </a:rPr>
              <a:t>删 (1, 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8" y="1371600"/>
            <a:ext cx="5120640" cy="45720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51790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A"/>
                </a:solidFill>
                <a:latin typeface="微软雅黑"/>
              </a:rPr>
              <a:t>图示建议：数轴 + 配色分区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103120"/>
            <a:ext cx="4343400" cy="32004"/>
          </a:xfrm>
          <a:prstGeom prst="rect">
            <a:avLst/>
          </a:prstGeom>
          <a:solidFill>
            <a:srgbClr val="8C9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86600" y="1984248"/>
            <a:ext cx="384048" cy="274320"/>
          </a:xfrm>
          <a:prstGeom prst="roundRect">
            <a:avLst>
              <a:gd name="adj" fmla="val 25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98424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1984248"/>
            <a:ext cx="384048" cy="274320"/>
          </a:xfrm>
          <a:prstGeom prst="roundRect">
            <a:avLst>
              <a:gd name="adj" fmla="val 25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7" y="198424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77656" y="1984248"/>
            <a:ext cx="384048" cy="274320"/>
          </a:xfrm>
          <a:prstGeom prst="roundRect">
            <a:avLst>
              <a:gd name="adj" fmla="val 25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77656" y="198424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73184" y="1984248"/>
            <a:ext cx="384048" cy="274320"/>
          </a:xfrm>
          <a:prstGeom prst="roundRect">
            <a:avLst>
              <a:gd name="adj" fmla="val 25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3184" y="198424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68712" y="1984248"/>
            <a:ext cx="384048" cy="274320"/>
          </a:xfrm>
          <a:prstGeom prst="roundRect">
            <a:avLst>
              <a:gd name="adj" fmla="val 25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8712" y="198424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0" y="1984248"/>
            <a:ext cx="384048" cy="274320"/>
          </a:xfrm>
          <a:prstGeom prst="roundRect">
            <a:avLst>
              <a:gd name="adj" fmla="val 25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64240" y="198424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606040"/>
            <a:ext cx="1051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删 (5,6)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2127" y="2606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49055" y="2606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9055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15984" y="2606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5984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2911" y="2606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1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2606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C05050"/>
                </a:solidFill>
                <a:latin typeface="微软雅黑"/>
              </a:rP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716767" y="2606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16767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C05050"/>
                </a:solidFill>
                <a:latin typeface="微软雅黑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3264408"/>
            <a:ext cx="1051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删 (1,6)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82127" y="32644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7" y="3264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C05050"/>
                </a:solidFill>
                <a:latin typeface="微软雅黑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49055" y="32644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49055" y="3264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15984" y="32644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15984" y="3264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82911" y="32644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82911" y="3264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49840" y="32644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9840" y="3264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16767" y="32644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16767" y="3264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C05050"/>
                </a:solidFill>
                <a:latin typeface="微软雅黑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3922776"/>
            <a:ext cx="1051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删 (1,2)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82127" y="3922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82127" y="3922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C05050"/>
                </a:solidFill>
                <a:latin typeface="微软雅黑"/>
              </a:rPr>
              <a:t>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49055" y="3922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49055" y="3922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C05050"/>
                </a:solidFill>
                <a:latin typeface="微软雅黑"/>
              </a:rPr>
              <a:t>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15984" y="3922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15984" y="3922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82911" y="3922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82911" y="3922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49840" y="3922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49840" y="3922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716767" y="3922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716767" y="3922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20840" y="4617720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配色说明：实心色块 = 保留项（构成等差），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红框白底 = 被删去的两项 aᵢ, aⱼ。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三行分别对应三个答案，颜色即“等价类”。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结论：共 3 组 —— (1,2)、(1,6)、(5,6)。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5B1"/>
                </a:solidFill>
                <a:latin typeface="微软雅黑"/>
              </a:rPr>
              <a:t>2024 高考数学新课标 I 卷 · 第 19 题 · 大模型解题实践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0424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四、第 (2) 问证明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FD3E8"/>
                </a:solidFill>
                <a:latin typeface="微软雅黑"/>
              </a:rPr>
              <a:t>m ≥ 3 时，删去 a₂ 与 a₁₃ 后剩余 4m 项可均分为 m 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8A227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A6674"/>
                </a:solidFill>
                <a:latin typeface="微软雅黑"/>
              </a:rPr>
              <a:t>核心逻辑：把剩余下标在数轴上分成三段 → 前段与后段“从两端向中间”配对 → 每组公差相同；中间连续段按 4 个一组（公差 1）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10512"/>
          <a:ext cx="69037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868680"/>
                <a:gridCol w="5468112"/>
              </a:tblGrid>
              <a:tr h="5105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n=4m+2</a:t>
                      </a:r>
                    </a:p>
                  </a:txBody>
                  <a:tcPr marL="45720" marR="45720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构造出的分组（每组 4 项成等差）</a:t>
                      </a:r>
                    </a:p>
                  </a:txBody>
                  <a:tcPr marL="45720" marR="45720" marT="18288" marB="18288" anchor="ctr">
                    <a:solidFill>
                      <a:srgbClr val="0F2A4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{1,4,7,10}  {3,6,9,12}  {5,8,11,14}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{1,4,7,10}  {3,6,9,12}  {5,8,11,14}  {15,16,17,18}</a:t>
                      </a:r>
                    </a:p>
                  </a:txBody>
                  <a:tcPr marL="45720" marR="45720" marT="18288" marB="18288" anchor="ctr">
                    <a:solidFill>
                      <a:srgbClr val="F2F6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{1,3,5,7}  {4,10,16,22}  {6,9,12,15}  {8,11,14,17}  {18,19,20,21}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{1,3,5,7}  {4,10,16,22}  {6,9,12,15}  {8,11,14,17}  {18,19,20,21}  {23,24,25,26}</a:t>
                      </a:r>
                    </a:p>
                  </a:txBody>
                  <a:tcPr marL="45720" marR="45720" marT="18288" marB="18288" anchor="ctr">
                    <a:solidFill>
                      <a:srgbClr val="F2F6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{1,3,5,7}  {4,10,16,22}  {6,9,12,15}  {8,11,14,17}  …  {27,28,29,30}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99248" y="1810512"/>
            <a:ext cx="3931920" cy="3063240"/>
          </a:xfrm>
          <a:prstGeom prst="roundRect">
            <a:avLst>
              <a:gd name="adj" fmla="val 5000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38528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A227"/>
                </a:solidFill>
                <a:latin typeface="微软雅黑"/>
              </a:rPr>
              <a:t>构造三要点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286000"/>
            <a:ext cx="3566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554A22"/>
                </a:solidFill>
                <a:latin typeface="微软雅黑"/>
              </a:rPr>
              <a:t>① 下标化：验证每组 4 个下标等距即可；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54A22"/>
                </a:solidFill>
                <a:latin typeface="微软雅黑"/>
              </a:rPr>
              <a:t>② 对称配对：把靠前段与靠后段从两端向中间两两配对，使每组 4 项等距；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54A22"/>
                </a:solidFill>
                <a:latin typeface="微软雅黑"/>
              </a:rPr>
              <a:t>③ 中间留白：剩下的连续下标每 4 个打包为一组（公差 1）。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54A22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54A22"/>
                </a:solidFill>
                <a:latin typeface="微软雅黑"/>
              </a:rPr>
              <a:t>验证：程序对 m = 3, 4, …, 60 逐一给出显式分组并严格校验，全部通过。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047488"/>
            <a:ext cx="11064240" cy="1298448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1572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A"/>
                </a:solidFill>
                <a:latin typeface="微软雅黑"/>
              </a:rPr>
              <a:t>分组示范图（m=5 为例）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5541264"/>
            <a:ext cx="929030" cy="566928"/>
          </a:xfrm>
          <a:prstGeom prst="roundRect">
            <a:avLst>
              <a:gd name="adj" fmla="val 16000"/>
            </a:avLst>
          </a:prstGeom>
          <a:solidFill>
            <a:srgbClr val="2E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541264"/>
            <a:ext cx="9290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1,3,5,7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0862" y="5541264"/>
            <a:ext cx="1170431" cy="56692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0862" y="5541264"/>
            <a:ext cx="117043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4,10,16,22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96742" y="5541264"/>
            <a:ext cx="1089964" cy="566928"/>
          </a:xfrm>
          <a:prstGeom prst="roundRect">
            <a:avLst>
              <a:gd name="adj" fmla="val 16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6742" y="5541264"/>
            <a:ext cx="10899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6,9,12,15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2155" y="5541264"/>
            <a:ext cx="1170431" cy="566928"/>
          </a:xfrm>
          <a:prstGeom prst="roundRect">
            <a:avLst>
              <a:gd name="adj" fmla="val 16000"/>
            </a:avLst>
          </a:prstGeom>
          <a:solidFill>
            <a:srgbClr val="B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2155" y="5541264"/>
            <a:ext cx="117043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8,11,14,17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8035" y="5541264"/>
            <a:ext cx="1250899" cy="566928"/>
          </a:xfrm>
          <a:prstGeom prst="roundRect">
            <a:avLst>
              <a:gd name="adj" fmla="val 16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8035" y="5541264"/>
            <a:ext cx="12508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18,19,20,21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4382" y="5541264"/>
            <a:ext cx="1170431" cy="566928"/>
          </a:xfrm>
          <a:prstGeom prst="roundRect">
            <a:avLst>
              <a:gd name="adj" fmla="val 16000"/>
            </a:avLst>
          </a:prstGeom>
          <a:solidFill>
            <a:srgbClr val="B8B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4382" y="5541264"/>
            <a:ext cx="117043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(被删) 2,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614476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674"/>
                </a:solidFill>
                <a:latin typeface="微软雅黑"/>
              </a:rPr>
              <a:t>每组内 4 个下标等距(公差依次为 2, 6, 3, 3, 1)；被删去的 2 与 13 不出现在任何组中。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5B1"/>
                </a:solidFill>
                <a:latin typeface="微软雅黑"/>
              </a:rPr>
              <a:t>2024 高考数学新课标 I 卷 · 第 19 题 · 大模型解题实践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0424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五、第 (3) 问证明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FD3E8"/>
                </a:solidFill>
                <a:latin typeface="微软雅黑"/>
              </a:rPr>
              <a:t>概率 P_m &gt; 1/8 的计数推导与放缩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8A227"/>
                </a:solidFill>
                <a:latin typeface="微软雅黑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5806440" cy="45720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99616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A4A"/>
                </a:solidFill>
                <a:latin typeface="微软雅黑"/>
              </a:rPr>
              <a:t>计数公式与放缩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65376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>
                <a:solidFill>
                  <a:srgbClr val="1F6FB2"/>
                </a:solidFill>
                <a:latin typeface="微软雅黑"/>
              </a:rPr>
              <a:t>① 样本空间 </a:t>
            </a:r>
            <a:r>
              <a:rPr sz="1250" b="0">
                <a:solidFill>
                  <a:srgbClr val="333D49"/>
                </a:solidFill>
                <a:latin typeface="微软雅黑"/>
              </a:rPr>
              <a:t>共 C(4m+2, 2) 个等可能的 (i, j)。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250" b="1">
                <a:solidFill>
                  <a:srgbClr val="1F6FB2"/>
                </a:solidFill>
                <a:latin typeface="微软雅黑"/>
              </a:rPr>
              <a:t>② 可分的 (i, j) 恰好 </a:t>
            </a:r>
            <a:r>
              <a:rPr sz="1250" b="1">
                <a:solidFill>
                  <a:srgbClr val="B23A3A"/>
                </a:solidFill>
                <a:latin typeface="微软雅黑"/>
              </a:rPr>
              <a:t>m² + m + 1</a:t>
            </a:r>
            <a:r>
              <a:rPr sz="1250" b="0">
                <a:solidFill>
                  <a:srgbClr val="333D49"/>
                </a:solidFill>
                <a:latin typeface="微软雅黑"/>
              </a:rPr>
              <a:t> 个。</a:t>
            </a:r>
          </a:p>
          <a:p>
            <a:pPr algn="l">
              <a:lnSpc>
                <a:spcPct val="124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    族 A：i≡1 (mod 4), j 偶, j−i≡1 (mod 4)</a:t>
            </a:r>
          </a:p>
          <a:p>
            <a:pPr algn="l">
              <a:lnSpc>
                <a:spcPct val="124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           共 (m+1)(m+2)/2 个；</a:t>
            </a:r>
          </a:p>
          <a:p>
            <a:pPr algn="l">
              <a:lnSpc>
                <a:spcPct val="124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    族 B：i≡2 (mod 4), j≡1 (mod 4), j−i≡0 (mod 8)</a:t>
            </a:r>
          </a:p>
          <a:p>
            <a:pPr algn="l">
              <a:lnSpc>
                <a:spcPct val="124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           共 m(m−1)/2 个。</a:t>
            </a:r>
          </a:p>
          <a:p>
            <a:pPr algn="l">
              <a:lnSpc>
                <a:spcPct val="124000"/>
              </a:lnSpc>
            </a:pPr>
            <a:r>
              <a:rPr sz="1150" b="0">
                <a:solidFill>
                  <a:srgbClr val="5A6674"/>
                </a:solidFill>
                <a:latin typeface="微软雅黑"/>
              </a:rPr>
              <a:t>    两族互不相交，合计 (m+1)(m+2)/2 + m(m−1)/2 = m²+m+1。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250" b="1">
                <a:solidFill>
                  <a:srgbClr val="1F6FB2"/>
                </a:solidFill>
                <a:latin typeface="微软雅黑"/>
              </a:rPr>
              <a:t>③ P_m = (m²+m+1) / C(4m+2, 2)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>    P_m &gt; 1/8  ⇔  8(m²+m+1) &gt; C(4m+2, 2)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333D49"/>
                </a:solidFill>
                <a:latin typeface="微软雅黑"/>
              </a:rPr>
              <a:t>                ⇔  16m²+16m+16 &gt; 16m²+12m+2</a:t>
            </a:r>
          </a:p>
          <a:p>
            <a:pPr algn="l">
              <a:lnSpc>
                <a:spcPct val="124000"/>
              </a:lnSpc>
            </a:pPr>
            <a:r>
              <a:rPr sz="1250" b="1">
                <a:solidFill>
                  <a:srgbClr val="2E7D50"/>
                </a:solidFill>
                <a:latin typeface="微软雅黑"/>
              </a:rPr>
              <a:t>                ⇔  4m + 14 &gt; 0，恒成立。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371600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A"/>
                </a:solidFill>
                <a:latin typeface="微软雅黑"/>
              </a:rPr>
              <a:t>数值验证（穷举精确值）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29400" y="1755648"/>
          <a:ext cx="500176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51560"/>
                <a:gridCol w="1051560"/>
                <a:gridCol w="1435608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总对数</a:t>
                      </a:r>
                    </a:p>
                  </a:txBody>
                  <a:tcPr anchor="ctr" marL="36576" marR="36576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可分对数</a:t>
                      </a:r>
                    </a:p>
                  </a:txBody>
                  <a:tcPr anchor="ctr" marL="36576" marR="36576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P_m</a:t>
                      </a:r>
                    </a:p>
                  </a:txBody>
                  <a:tcPr anchor="ctr" marL="36576" marR="36576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&gt; 1/8</a:t>
                      </a:r>
                    </a:p>
                  </a:txBody>
                  <a:tcPr anchor="ctr" marL="36576" marR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91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0.142857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50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153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21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0.137255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50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231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31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0.134199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50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325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45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0.138462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50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435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62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0.142529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50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561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81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0.144385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50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703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100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0.142248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50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861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121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D49"/>
                          </a:solidFill>
                          <a:latin typeface="微软雅黑"/>
                        </a:defRPr>
                      </a:pPr>
                      <a:r>
                        <a:t>0.140534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50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629400" y="5175504"/>
            <a:ext cx="5001768" cy="768096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5230368"/>
            <a:ext cx="4617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E7D50"/>
                </a:solidFill>
                <a:latin typeface="微软雅黑"/>
              </a:rPr>
              <a:t>结论：m = 3, 4, 5, … 均有 P_m &gt; 1/8，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E7D50"/>
                </a:solidFill>
                <a:latin typeface="微软雅黑"/>
              </a:rPr>
              <a:t>且 P_m 随 m 增大而趋近于 1/8（略大于 1/8）。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5B1"/>
                </a:solidFill>
                <a:latin typeface="微软雅黑"/>
              </a:rPr>
              <a:t>2024 高考数学新课标 I 卷 · 第 19 题 · 大模型解题实践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0424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六、代码验证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FD3E8"/>
                </a:solidFill>
                <a:latin typeface="微软雅黑"/>
              </a:rPr>
              <a:t>Python 精确枚举 + 构造校验（含详细中文注释）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8A227"/>
                </a:solidFill>
                <a:latin typeface="微软雅黑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6263640" cy="4572000"/>
          </a:xfrm>
          <a:prstGeom prst="roundRect">
            <a:avLst>
              <a:gd name="adj" fmla="val 3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17904"/>
            <a:ext cx="5806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# 核心：4数成等差 ⇔ 下标成等差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def is_ap4(q):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    x = sorted(q)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    return x[1]-x[0]==x[2]-x[1]==x[3]-x[2]&gt;0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# 精确覆盖：能否把 S 分成若干4项等差组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def can_partition(S, quads):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    ...  # 记忆化回溯，每步覆盖最小元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# 第(3)问：穷举所有 (i,j) 求 P_m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for m in range(3, 11):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    n = 4*m + 2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    k = len(valid_pairs(m))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    P = Fraction(k, comb(n, 2))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D6E2F0"/>
                </a:solidFill>
                <a:latin typeface="Consolas"/>
              </a:rPr>
              <a:t>    print(m, k, P, P &gt; Fraction(1, 8))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1371600"/>
            <a:ext cx="4572000" cy="45720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0336" y="1499616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A"/>
                </a:solidFill>
                <a:latin typeface="微软雅黑"/>
              </a:rPr>
              <a:t>运行结果（节选）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0336" y="1847088"/>
            <a:ext cx="42062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第(1)问  答案: (1,2), (1,6), (5,6)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第(2)问  m=3..60 全部通过校验: True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   m=3  分组 {1,4,7,10} {3,6,9,12} {5,8,11,14}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   m=5  分组 {1,3,5,7} {4,10,16,22} ...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第(3)问  m  可分对数  m²+m+1   P_m      &gt;1/8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   3     13       13     0.142857  True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   4     21       21     0.137255  True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   5     31       31     0.134199  True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   6     45       45     0.138462  True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   7     62       62     0.142529  True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   8     81       81     0.144385  True</a:t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980" b="0">
                <a:solidFill>
                  <a:srgbClr val="333D49"/>
                </a:solidFill>
                <a:latin typeface="Consolas"/>
              </a:rPr>
              <a:t>两族构造合计 = m²+m+1，与穷举一致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5B1"/>
                </a:solidFill>
                <a:latin typeface="微软雅黑"/>
              </a:rPr>
              <a:t>2024 高考数学新课标 I 卷 · 第 19 题 · 大模型解题实践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0424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七、总结与反思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FD3E8"/>
                </a:solidFill>
                <a:latin typeface="微软雅黑"/>
              </a:rPr>
              <a:t>解题技巧总结与核心数学思想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8A227"/>
                </a:solidFill>
                <a:latin typeface="微软雅黑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5349240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5349240" cy="512064"/>
          </a:xfrm>
          <a:prstGeom prst="roundRect">
            <a:avLst>
              <a:gd name="adj" fmla="val 28000"/>
            </a:avLst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5349240" cy="228600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17320"/>
            <a:ext cx="4937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解题技巧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21408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674"/>
                </a:solidFill>
                <a:latin typeface="微软雅黑"/>
              </a:rPr>
              <a:t>• 先做等价转化，把“数列问题”化为“下标问题”；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880360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674"/>
                </a:solidFill>
                <a:latin typeface="微软雅黑"/>
              </a:rPr>
              <a:t>• 特殊值先行：m=1 穷举 3 组答案，建立直观；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639312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674"/>
                </a:solidFill>
                <a:latin typeface="微软雅黑"/>
              </a:rPr>
              <a:t>• 构造法为主：从两端向中间配对，凑公差；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398264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674"/>
                </a:solidFill>
                <a:latin typeface="微软雅黑"/>
              </a:rPr>
              <a:t>• 计数 + 放缩：不必精确求所有 (i,j)，估下界即可证 &gt; 1/8。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349240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5349240" cy="512064"/>
          </a:xfrm>
          <a:prstGeom prst="roundRect">
            <a:avLst>
              <a:gd name="adj" fmla="val 2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00784"/>
            <a:ext cx="5349240" cy="228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417320"/>
            <a:ext cx="4937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核心数学思想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121408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674"/>
                </a:solidFill>
                <a:latin typeface="微软雅黑"/>
              </a:rPr>
              <a:t>• 对称性：删去两项后，剩余下标关于中心对称，配对成等差；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880360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674"/>
                </a:solidFill>
                <a:latin typeface="微软雅黑"/>
              </a:rPr>
              <a:t>• 构造法：存在性证明只需给出一组合法分组；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639312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674"/>
                </a:solidFill>
                <a:latin typeface="微软雅黑"/>
              </a:rPr>
              <a:t>• 化归思想：仿射变换保持等差数列这一结构不变；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398264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674"/>
                </a:solidFill>
                <a:latin typeface="微软雅黑"/>
              </a:rPr>
              <a:t>• 分类讨论：按 i, j 模 4 的余数分类，条理清晰不重不漏。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13248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04688"/>
            <a:ext cx="10607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1">
                <a:solidFill>
                  <a:srgbClr val="C8A227"/>
                </a:solidFill>
                <a:latin typeface="微软雅黑"/>
              </a:rPr>
              <a:t>反思：</a:t>
            </a:r>
            <a:r>
              <a:rPr sz="1200" b="0">
                <a:solidFill>
                  <a:srgbClr val="554A22"/>
                </a:solidFill>
                <a:latin typeface="微软雅黑"/>
              </a:rPr>
              <a:t>本题难点不在计算，而在“看见结构”——大模型通过等价转化、构造分组、精确枚举三步，</a:t>
            </a:r>
            <a:r>
              <a:rPr sz="1200" b="0">
                <a:solidFill>
                  <a:srgbClr val="554A22"/>
                </a:solidFill>
                <a:latin typeface="微软雅黑"/>
              </a:rPr>
              <a:t>把抽象的数列问题变成可视的“下标配对”问题；Python 穷举又反过来验证了构造与计数公式，形成“猜想—验证—证明”的闭环。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556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5B1"/>
                </a:solidFill>
                <a:latin typeface="微软雅黑"/>
              </a:rPr>
              <a:t>2024 高考数学新课标 I 卷 · 第 19 题 · 大模型解题实践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14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32520" y="1005840"/>
            <a:ext cx="2926080" cy="1097280"/>
          </a:xfrm>
          <a:prstGeom prst="rect">
            <a:avLst/>
          </a:prstGeom>
          <a:solidFill>
            <a:srgbClr val="1E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2520" y="2377440"/>
            <a:ext cx="2926080" cy="731520"/>
          </a:xfrm>
          <a:prstGeom prst="rect">
            <a:avLst/>
          </a:prstGeom>
          <a:solidFill>
            <a:srgbClr val="275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20" y="3383280"/>
            <a:ext cx="2926080" cy="1463040"/>
          </a:xfrm>
          <a:prstGeom prst="rect">
            <a:avLst/>
          </a:prstGeom>
          <a:solidFill>
            <a:srgbClr val="1E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2520" y="5120640"/>
            <a:ext cx="2926080" cy="822960"/>
          </a:xfrm>
          <a:prstGeom prst="rect">
            <a:avLst/>
          </a:prstGeom>
          <a:solidFill>
            <a:srgbClr val="275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24028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6736" y="3520440"/>
            <a:ext cx="1645920" cy="64008"/>
          </a:xfrm>
          <a:prstGeom prst="rect">
            <a:avLst/>
          </a:prstGeom>
          <a:solidFill>
            <a:srgbClr val="C8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9476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>
                <a:solidFill>
                  <a:srgbClr val="C9D8E8"/>
                </a:solidFill>
                <a:latin typeface="微软雅黑"/>
              </a:rPr>
              <a:t>敬请各位老师、同学批评指正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C9D8E8"/>
                </a:solidFill>
                <a:latin typeface="微软雅黑"/>
              </a:rPr>
              <a:t>Thank you for your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6BD"/>
                </a:solidFill>
                <a:latin typeface="微软雅黑"/>
              </a:rPr>
              <a:t>汇报人：XXX        2025 年 XX 月 XX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