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47088"/>
            <a:ext cx="1371600" cy="6400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2025 新高考Ⅰ卷压轴题解析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9D3E4"/>
                </a:solidFill>
                <a:latin typeface="微软雅黑"/>
                <a:ea typeface="微软雅黑"/>
                <a:cs typeface="微软雅黑"/>
              </a:rPr>
              <a:t>三角函数最值 · 存在性证明 · 参数最值（minimax）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10515600" cy="18288"/>
          </a:xfrm>
          <a:prstGeom prst="rect">
            <a:avLst/>
          </a:prstGeom>
          <a:solidFill>
            <a:srgbClr val="3A5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2025 年普通高等学校招生全国统一考试（新高考Ⅰ卷）· 数学 第 19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7433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 </a:t>
            </a:r>
            <a:r>
              <a:rPr sz="20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f(x) = 5cos x − cos 5x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E8B46A"/>
                </a:solidFill>
                <a:latin typeface="微软雅黑"/>
                <a:ea typeface="微软雅黑"/>
                <a:cs typeface="微软雅黑"/>
              </a:rPr>
              <a:t>答案：</a:t>
            </a:r>
            <a:r>
              <a:rPr sz="1700" b="0">
                <a:solidFill>
                  <a:srgbClr val="E8B46A"/>
                </a:solidFill>
                <a:latin typeface="Cambria Math"/>
                <a:ea typeface="Cambria Math"/>
                <a:cs typeface="Cambria Math"/>
              </a:rPr>
              <a:t>max f = 3√3</a:t>
            </a:r>
            <a:r>
              <a:rPr sz="1650" b="0">
                <a:solidFill>
                  <a:srgbClr val="E8B46A"/>
                </a:solidFill>
                <a:latin typeface="微软雅黑"/>
                <a:ea typeface="微软雅黑"/>
                <a:cs typeface="微软雅黑"/>
              </a:rPr>
              <a:t>　（</a:t>
            </a:r>
            <a:r>
              <a:rPr sz="1700" b="0">
                <a:solidFill>
                  <a:srgbClr val="E8B46A"/>
                </a:solidFill>
                <a:latin typeface="Cambria Math"/>
                <a:ea typeface="Cambria Math"/>
                <a:cs typeface="Cambria Math"/>
              </a:rPr>
              <a:t>x = π/6</a:t>
            </a:r>
            <a:r>
              <a:rPr sz="1650" b="0">
                <a:solidFill>
                  <a:srgbClr val="E8B46A"/>
                </a:solidFill>
                <a:latin typeface="微软雅黑"/>
                <a:ea typeface="微软雅黑"/>
                <a:cs typeface="微软雅黑"/>
              </a:rPr>
              <a:t> 处取得）　　</a:t>
            </a:r>
            <a:r>
              <a:rPr sz="1700" b="0">
                <a:solidFill>
                  <a:srgbClr val="E8B46A"/>
                </a:solidFill>
                <a:latin typeface="Cambria Math"/>
                <a:ea typeface="Cambria Math"/>
                <a:cs typeface="Cambria Math"/>
              </a:rPr>
              <a:t>b(min) = 3√3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C9CBA"/>
                </a:solidFill>
                <a:latin typeface="微软雅黑"/>
                <a:ea typeface="微软雅黑"/>
                <a:cs typeface="微软雅黑"/>
              </a:rPr>
              <a:t>解答与数值复核：DeepSeek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一、题目原文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设函数 </a:t>
            </a:r>
            <a:r>
              <a:rPr sz="2150" b="1">
                <a:solidFill>
                  <a:srgbClr val="16264A"/>
                </a:solidFill>
                <a:latin typeface="Cambria Math"/>
                <a:ea typeface="Cambria Math"/>
                <a:cs typeface="Cambria Math"/>
              </a:rPr>
              <a:t>f(x) = 5cos x − cos 5x</a:t>
            </a:r>
            <a:r>
              <a:rPr sz="21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11064240" cy="1042415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56816"/>
            <a:ext cx="56692" cy="82296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（1）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993392"/>
            <a:ext cx="9692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求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f(x)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在区间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[0, π/4]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上的最大值；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54096"/>
            <a:ext cx="11064240" cy="1042415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163824"/>
            <a:ext cx="56692" cy="82296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（2）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0400"/>
            <a:ext cx="9692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给定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θ ∈ (0, π)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，设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为实数，证明：存在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 ∈ [a−θ, a+θ]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，使得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cos y ≤ cos θ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61104"/>
            <a:ext cx="11064240" cy="1042415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370832"/>
            <a:ext cx="56692" cy="82296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25696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（3）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407408"/>
            <a:ext cx="9692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若存在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φ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，使得对任意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，都有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5cos x − cos(5x+φ) ≤ b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，求 </a:t>
            </a:r>
            <a:r>
              <a:rPr sz="18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17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的最小值。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04688"/>
            <a:ext cx="11064240" cy="841248"/>
          </a:xfrm>
          <a:prstGeom prst="roundRect">
            <a:avLst>
              <a:gd name="adj" fmla="val 5500"/>
            </a:avLst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596127"/>
            <a:ext cx="56692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87568"/>
            <a:ext cx="10607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650992"/>
            <a:ext cx="10515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4B12"/>
                </a:solidFill>
                <a:latin typeface="微软雅黑"/>
                <a:ea typeface="微软雅黑"/>
                <a:cs typeface="微软雅黑"/>
              </a:rPr>
              <a:t>三问递进：闭区间最值 → 集合存在性 → 含参极小极大（minimax）。第（3）问为全卷压轴，对逻辑推理与分类讨论要求最高。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来源：2025 年普通高等学校招生全国统一考试（新高考Ⅰ卷）数学 · 第 19 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二、题目背景与考点分析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07008"/>
            <a:ext cx="3621024" cy="31638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56692" cy="2980944"/>
          </a:xfrm>
          <a:prstGeom prst="rect">
            <a:avLst/>
          </a:prstGeom>
          <a:solidFill>
            <a:srgbClr val="1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25880"/>
            <a:ext cx="32095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核心考点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63824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三角恒等变形：和差化积公式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导数与单调性讨论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余弦不等式的区间刻画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含参最值的临界点分类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量词转化（minimax 结构）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07008"/>
            <a:ext cx="3621024" cy="31638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98448"/>
            <a:ext cx="56692" cy="2980944"/>
          </a:xfrm>
          <a:prstGeom prst="rect">
            <a:avLst/>
          </a:prstGeom>
          <a:solidFill>
            <a:srgbClr val="24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325880"/>
            <a:ext cx="32095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思想方法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755648"/>
            <a:ext cx="3163824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化归与转化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分类讨论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对称性与周期性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最坏情况覆盖（覆盖半径）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先给普遍下界，再构造取到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207008"/>
            <a:ext cx="3621024" cy="31638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1" y="1298448"/>
            <a:ext cx="56692" cy="29809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1325880"/>
            <a:ext cx="32095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难点定位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1755648"/>
            <a:ext cx="3163824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存在 φ 与 任意 x 双层嵌套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不能直接固定 φ，须先内后外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转化为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min(φ) max(x)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易错：把端点值 4 当作最大值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 临界点分两族，须判断谁取最大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90288"/>
            <a:ext cx="11064240" cy="173736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81727"/>
            <a:ext cx="56692" cy="155448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709159"/>
            <a:ext cx="10652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三问之间的逻辑链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138927"/>
            <a:ext cx="1060704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3892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第（1）问　导数分析 → 内部极大值点 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= π/6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，最大值 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3√3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第（2）问　余弦不等式的区间刻画 → “坏区间”长度与半径的比较 → 存在性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第（3）问　量词转化 → 临界点两族 → 六个候选点覆盖 ⟹ </a:t>
            </a:r>
            <a:r>
              <a:rPr sz="15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b(min) = 3√3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考点定位：三角函数 · 导数的应用 · 不等式恒成立与存在性 · 参数最值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三、第（1）问：导数分析与最值求解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56235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① 求导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f′(x) = −5sin x + 5sin 5x = 5(sin 5x − sin x)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② 和差化积（关键一步）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sin 5x − sin x = 2cos 3x · sin 2x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⟹  </a:t>
            </a:r>
            <a:r>
              <a:rPr sz="16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f′(x) = 10cos 3x · sin 2x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③ 符号判定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∈ [0, π/4]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⟹ 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sin 2x ≥ 0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cos 3x ≥ 0 ⟺ x ≤ π/6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④ 单调性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[0, π/6]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递增，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[π/6, π/4]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递减 ⟹ 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= π/6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是唯一极大值点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⑤ 端点与极值比较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f(0) = 4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5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f(π/6) = 3√3 ≈ 5.196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sz="15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f(π/4) = 3√2 ≈ 4.243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07008"/>
            <a:ext cx="5349240" cy="3877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ig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07008"/>
            <a:ext cx="5349240" cy="37611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5212080"/>
            <a:ext cx="5349240" cy="1115568"/>
          </a:xfrm>
          <a:prstGeom prst="roundRect">
            <a:avLst>
              <a:gd name="adj" fmla="val 5500"/>
            </a:avLst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5303520"/>
            <a:ext cx="56692" cy="9326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5330952"/>
            <a:ext cx="493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5760720"/>
            <a:ext cx="4892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74536" y="5705856"/>
            <a:ext cx="4892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最大值 </a:t>
            </a:r>
            <a:r>
              <a:rPr sz="16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3√3 ≈ 5.196</a:t>
            </a:r>
            <a:r>
              <a:rPr sz="15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，在 </a:t>
            </a:r>
            <a:r>
              <a:rPr sz="16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x = π/6</a:t>
            </a:r>
            <a:r>
              <a:rPr sz="15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 处取得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端点值 4 与 3√2 均小于它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易错提醒：闭区间最值必须同时比较端点值与内部临界点值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四、第（2）问：存在性证明（反证法）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命题：给定 </a:t>
            </a:r>
            <a:r>
              <a:rPr sz="1700" b="1">
                <a:solidFill>
                  <a:srgbClr val="16264A"/>
                </a:solidFill>
                <a:latin typeface="Cambria Math"/>
                <a:ea typeface="Cambria Math"/>
                <a:cs typeface="Cambria Math"/>
              </a:rPr>
              <a:t>θ ∈ (0, π)</a:t>
            </a:r>
            <a:r>
              <a:rPr sz="165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 与实数 </a:t>
            </a:r>
            <a:r>
              <a:rPr sz="1700" b="1">
                <a:solidFill>
                  <a:srgbClr val="16264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165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，存在 </a:t>
            </a:r>
            <a:r>
              <a:rPr sz="1700" b="1">
                <a:solidFill>
                  <a:srgbClr val="16264A"/>
                </a:solidFill>
                <a:latin typeface="Cambria Math"/>
                <a:ea typeface="Cambria Math"/>
                <a:cs typeface="Cambria Math"/>
              </a:rPr>
              <a:t>y ∈ [a−θ, a+θ]</a:t>
            </a:r>
            <a:r>
              <a:rPr sz="165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 使 </a:t>
            </a:r>
            <a:r>
              <a:rPr sz="1700" b="1">
                <a:solidFill>
                  <a:srgbClr val="16264A"/>
                </a:solidFill>
                <a:latin typeface="Cambria Math"/>
                <a:ea typeface="Cambria Math"/>
                <a:cs typeface="Cambria Math"/>
              </a:rPr>
              <a:t>cos y ≤ cos θ</a:t>
            </a:r>
            <a:r>
              <a:rPr sz="165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关键刻画：</a:t>
            </a:r>
            <a:r>
              <a:rPr sz="16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cos y &gt; cos θ ⟺ 存在整数 k，使 |y − 2kπ| &lt; 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5413248" cy="3035808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304288"/>
            <a:ext cx="56692" cy="2852927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50017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证明步骤（反证法）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61488"/>
            <a:ext cx="4956048" cy="2359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化归：取整数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使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|b| ≤ π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= a − 2kπ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（余弦以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2π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为周期）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反设：区间内处处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cos y &gt; cos θ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，即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[b−θ, b+θ]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整体落入“坏区间”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结构：坏区间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(2mπ−θ, 2mπ+θ)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两两不相交（因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2θ &lt; 2π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），故只能落入同一个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④ 比较：区间与坏区间等长（均为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2θ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），端点比较得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= 2mπ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；又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|b| ≤ π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，故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= 0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⑤ 矛盾：此时区间为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[−θ, θ]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，却要求它含于开区间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(−θ, θ)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—— 不可能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212848"/>
            <a:ext cx="5504688" cy="3035808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304288"/>
            <a:ext cx="56692" cy="2852927"/>
          </a:xfrm>
          <a:prstGeom prst="rect">
            <a:avLst/>
          </a:prstGeom>
          <a:solidFill>
            <a:srgbClr val="24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331720"/>
            <a:ext cx="50932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几何直观：长度与半径的冲突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761488"/>
            <a:ext cx="5047488" cy="2359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满足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cos y &gt; cos θ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的点集是一列“坏区间”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(2kπ − θ,  2kπ + θ)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每个坏区间的长度恰为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2θ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，与待考察区间等长；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相邻坏区间中心相距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2π &gt; 2θ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，彼此不连通。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因此一个长度 </a:t>
            </a:r>
            <a:r>
              <a:rPr sz="1400" b="0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2θ</a:t>
            </a:r>
            <a:r>
              <a:rPr sz="13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 的区间无法真正“躲进”坏区间内部，总有部分落在外面 —— 露出的点即满足 </a:t>
            </a:r>
            <a:r>
              <a:rPr sz="1400" b="0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cos y ≤ cos θ</a:t>
            </a:r>
            <a:r>
              <a:rPr sz="1350" b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21808"/>
            <a:ext cx="11064240" cy="1005840"/>
          </a:xfrm>
          <a:prstGeom prst="roundRect">
            <a:avLst>
              <a:gd name="adj" fmla="val 5500"/>
            </a:avLst>
          </a:prstGeom>
          <a:solidFill>
            <a:srgbClr val="EC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413248"/>
            <a:ext cx="56692" cy="822960"/>
          </a:xfrm>
          <a:prstGeom prst="rect">
            <a:avLst/>
          </a:prstGeom>
          <a:solidFill>
            <a:srgbClr val="1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440680"/>
            <a:ext cx="10652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7044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5870448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假设不成立，故存在 </a:t>
            </a:r>
            <a:r>
              <a:rPr sz="1600" b="1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y ∈ [a−θ, a+θ]</a:t>
            </a:r>
            <a:r>
              <a:rPr sz="1550" b="1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 使得 </a:t>
            </a:r>
            <a:r>
              <a:rPr sz="1600" b="1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cos y ≤ cos θ</a:t>
            </a:r>
            <a:r>
              <a:rPr sz="1550" b="1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，命题得证。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方法提炼：存在性命题 → 区间与水平集相交 → 比较“区间长度”与“覆盖半径”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五、第（3）问（上）：量词转化与临界点两族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52144"/>
            <a:ext cx="11064240" cy="128016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43584"/>
            <a:ext cx="56692" cy="109728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71016"/>
            <a:ext cx="10652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第一步：把“存在 φ，对任意 x”转化为极小极大问题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00784"/>
            <a:ext cx="1060704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10515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记 </a:t>
            </a:r>
            <a:r>
              <a:rPr sz="15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h(φ, x) = 5cos x − cos(5x+φ)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5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M(φ) = max(x) h(φ, x)</a:t>
            </a:r>
            <a:r>
              <a:rPr sz="14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b(min) = min(φ) M(φ) = min(φ) max(x) [ 5cos x − cos(5x+φ)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96896"/>
            <a:ext cx="5413248" cy="3584448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88336"/>
            <a:ext cx="56692" cy="340156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15768"/>
            <a:ext cx="50017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第二步：求 M(φ) —— 临界点分两族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4956048" cy="2907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h′(φ, x) = 10cos((6x+φ)/2) · sin((4x+φ)/2) = 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族 Ⅰ：</a:t>
            </a:r>
            <a:r>
              <a:rPr sz="145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5x + φ ≡ x  (mod 2π)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⟹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= (2kπ − φ)/4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，取值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= 4cos x ≤ 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族 Ⅱ：</a:t>
            </a:r>
            <a:r>
              <a:rPr sz="14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5x + φ ≡ −x + π  (mod 2π)</a:t>
            </a:r>
            <a:r>
              <a:rPr sz="14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　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⟹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= (π − φ + 2kπ)/6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，取值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= 6cos x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因为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4 &lt; 3√3 ≈ 5.196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，族 Ⅰ 的点永远不是最大值点，所以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M(φ) = 6 · max(k) cos[(π − φ + 2kπ)/6]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596896"/>
            <a:ext cx="5504688" cy="3584448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688336"/>
            <a:ext cx="56692" cy="3401568"/>
          </a:xfrm>
          <a:prstGeom prst="rect">
            <a:avLst/>
          </a:prstGeom>
          <a:solidFill>
            <a:srgbClr val="24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715768"/>
            <a:ext cx="50932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两族临界点的来历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145536"/>
            <a:ext cx="5047488" cy="2907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用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sin A = sin B ⟺ A ≡ B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或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 ≡ π − B  (mod 2π)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① 对应 </a:t>
            </a:r>
            <a:r>
              <a:rPr sz="140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5x + φ ≡ x</a:t>
            </a:r>
            <a:r>
              <a:rPr sz="135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此时 </a:t>
            </a:r>
            <a:r>
              <a:rPr sz="135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cos(5x+φ) = cos x</a:t>
            </a: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，故 </a:t>
            </a:r>
            <a:r>
              <a:rPr sz="135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h = 5cos x − cos x = 4cos 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② 对应 </a:t>
            </a:r>
            <a:r>
              <a:rPr sz="14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5x + φ ≡ −x + π</a:t>
            </a: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此时 </a:t>
            </a:r>
            <a:r>
              <a:rPr sz="135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cos(5x+φ) = −cos x</a:t>
            </a: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，故 </a:t>
            </a:r>
            <a:r>
              <a:rPr sz="135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h = 5cos x + cos x = 6cos x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两个方程各自给出等间距的候选点：族 Ⅰ 步长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π/2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，族 Ⅱ 步长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π/3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于是连续优化被降为候选点上的离散枚举。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要点：max 与 min 的顺序不可颠倒 —— 先固定 φ 求 x 的最大值，再对 φ 取最小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六、第（3）问（下）：普遍下界与最终答案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562356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① 六个候选点（</a:t>
            </a:r>
            <a:r>
              <a:rPr sz="1600" b="1">
                <a:solidFill>
                  <a:srgbClr val="D9822B"/>
                </a:solidFill>
                <a:latin typeface="Cambria Math"/>
                <a:ea typeface="Cambria Math"/>
                <a:cs typeface="Cambria Math"/>
              </a:rPr>
              <a:t>k = 0, 1, …, 5</a:t>
            </a: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y(k) = (π − φ)/6 + kπ/3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，相邻间隔均为 </a:t>
            </a:r>
            <a:r>
              <a:rPr sz="15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π/3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六个点均匀分布在一个周期上，故离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（模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2π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）最近的那个距离不超过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π/6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② 普遍下界（对任意 φ 成立）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M(φ) ≥ 6·cos(π/6) = 6 × (√3/2) = 3√3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即：无论 φ 取何值，都迫使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≥ 3√3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③ 下界可达（取 </a:t>
            </a:r>
            <a:r>
              <a:rPr sz="1600" b="1">
                <a:solidFill>
                  <a:srgbClr val="D9822B"/>
                </a:solidFill>
                <a:latin typeface="Cambria Math"/>
                <a:ea typeface="Cambria Math"/>
                <a:cs typeface="Cambria Math"/>
              </a:rPr>
              <a:t>φ = 0</a:t>
            </a:r>
            <a:r>
              <a:rPr sz="15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此时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h(0, x) = 5cos x − cos 5x = f(x)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，而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max f = 3√3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故 </a:t>
            </a:r>
            <a:r>
              <a:rPr sz="14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= 3√3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确实可行。</a:t>
            </a:r>
          </a:p>
        </p:txBody>
      </p:sp>
      <p:pic>
        <p:nvPicPr>
          <p:cNvPr id="7" name="Picture 6" descr="fig_p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80160"/>
            <a:ext cx="5257800" cy="36968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5120640"/>
            <a:ext cx="5394960" cy="1225296"/>
          </a:xfrm>
          <a:prstGeom prst="roundRect">
            <a:avLst>
              <a:gd name="adj" fmla="val 5500"/>
            </a:avLst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5212079"/>
            <a:ext cx="56692" cy="10424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5239512"/>
            <a:ext cx="4983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最终结论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5669279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74536" y="5614416"/>
            <a:ext cx="4937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b(min) = 3√3 ≈ 5.196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等号在 </a:t>
            </a:r>
            <a:r>
              <a:rPr sz="130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φ = 0</a:t>
            </a: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30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mod 2π/3</a:t>
            </a:r>
            <a:r>
              <a:rPr sz="12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）时成立，此时 </a:t>
            </a:r>
            <a:r>
              <a:rPr sz="1300" b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M(0) = 3√3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上界（构造 φ = 0）与下界（任意 φ 均 ≥ 3√3）配合，即得最小值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七、数值复核与常见错误辨析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52144"/>
            <a:ext cx="5532120" cy="2450592"/>
          </a:xfrm>
          <a:prstGeom prst="roundRect">
            <a:avLst>
              <a:gd name="adj" fmla="val 5500"/>
            </a:avLst>
          </a:prstGeom>
          <a:solidFill>
            <a:srgbClr val="F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43584"/>
            <a:ext cx="56692" cy="226771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71016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常见错误：b(min)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00784"/>
            <a:ext cx="507492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4983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错误来源：只见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f(0) = 4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，把端点值当成了最大值。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取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= 4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φ = 0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= π/6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5cos(π/6) − cos(5π/6) = 3√3 ≈ 5.196 &gt; 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即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 = 4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时条件被破坏，4 不是可行值。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52144"/>
            <a:ext cx="5321808" cy="2450592"/>
          </a:xfrm>
          <a:prstGeom prst="roundRect">
            <a:avLst>
              <a:gd name="adj" fmla="val 5500"/>
            </a:avLst>
          </a:prstGeom>
          <a:solidFill>
            <a:srgbClr val="EC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43584"/>
            <a:ext cx="56692" cy="2267712"/>
          </a:xfrm>
          <a:prstGeom prst="rect">
            <a:avLst/>
          </a:prstGeom>
          <a:solidFill>
            <a:srgbClr val="1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271016"/>
            <a:ext cx="49103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正确结论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700784"/>
            <a:ext cx="4864608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01968" y="1682496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max(x) f(x) = 3√3 ≈ 5.196 &gt; 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min(φ) M(φ) = 3√3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⟹  </a:t>
            </a:r>
            <a:r>
              <a:rPr sz="17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b(min) = 3√3 ≈ 5.196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与第（1）问的最大值一致，体现三问的内在统一。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03904"/>
            <a:ext cx="11064240" cy="2487168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895344"/>
            <a:ext cx="56692" cy="230428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922776"/>
            <a:ext cx="10652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64A"/>
                </a:solidFill>
                <a:latin typeface="微软雅黑"/>
                <a:ea typeface="微软雅黑"/>
                <a:cs typeface="微软雅黑"/>
              </a:rPr>
              <a:t>数值复核（numpy 独立验证，全部一致）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352544"/>
            <a:ext cx="10607040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4370832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max f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在 </a:t>
            </a: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[0, π/4]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（200 万点网格）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3708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5.1961524227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37083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3√3 = 5.1961524227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754880"/>
            <a:ext cx="10515600" cy="10972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18888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f(0), f(π/6), f(π/4)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818888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4,  5.1961524,  4.2426407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818888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4,  3√3,  3√2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202936"/>
            <a:ext cx="10515600" cy="10972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66944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min(φ) M(φ)</a:t>
            </a: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（φ 步长 0.001）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266944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5.19615</a:t>
            </a:r>
            <a:r>
              <a:rPr sz="125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（在 </a:t>
            </a:r>
            <a:r>
              <a:rPr sz="1300" b="1">
                <a:solidFill>
                  <a:srgbClr val="24406F"/>
                </a:solidFill>
                <a:latin typeface="Cambria Math"/>
                <a:ea typeface="Cambria Math"/>
                <a:cs typeface="Cambria Math"/>
              </a:rPr>
              <a:t>φ = 0</a:t>
            </a:r>
            <a:r>
              <a:rPr sz="125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 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266944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7A5A"/>
                </a:solidFill>
                <a:latin typeface="Cambria Math"/>
                <a:ea typeface="Cambria Math"/>
                <a:cs typeface="Cambria Math"/>
              </a:rPr>
              <a:t>3√3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650992"/>
            <a:ext cx="10515600" cy="10972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1500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第（2）问：6440 组系统网格 + 2 万组随机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715000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4406F"/>
                </a:solidFill>
                <a:latin typeface="微软雅黑"/>
                <a:ea typeface="微软雅黑"/>
                <a:cs typeface="微软雅黑"/>
              </a:rPr>
              <a:t>0 例反例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71500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E7A5A"/>
                </a:solidFill>
                <a:latin typeface="微软雅黑"/>
                <a:ea typeface="微软雅黑"/>
                <a:cs typeface="微软雅黑"/>
              </a:rPr>
              <a:t>命题成立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6099048"/>
            <a:ext cx="10515600" cy="10972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复核方式：numpy 网格/解析临界点双重验证；结论 b(min) = 3√3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966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八、方法总结与思维提升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19456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64240" cy="475488"/>
          </a:xfrm>
          <a:prstGeom prst="rect">
            <a:avLst/>
          </a:prstGeom>
          <a:solidFill>
            <a:srgbClr val="16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97864"/>
            <a:ext cx="8503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792" y="1197864"/>
            <a:ext cx="258775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197864"/>
            <a:ext cx="48737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8632" y="1197864"/>
            <a:ext cx="19476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1106424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09928"/>
            <a:ext cx="81381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（1）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709928"/>
            <a:ext cx="255117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导数法 + 端点比较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09928"/>
            <a:ext cx="483717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f′ = 10cos 3x·sin 2x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2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 = π/6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为唯一极大值点；比较 </a:t>
            </a:r>
            <a:r>
              <a:rPr sz="12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3√3, 4, 3√2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8632" y="1709928"/>
            <a:ext cx="191109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最大值 </a:t>
            </a:r>
            <a:r>
              <a:rPr sz="1400" b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3√3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42032"/>
            <a:ext cx="1106424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06040"/>
            <a:ext cx="81381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（2）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606040"/>
            <a:ext cx="255117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反证法 + 余弦水平集刻画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606040"/>
            <a:ext cx="483717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cos y &gt; cos θ ⟺ 存在 k 使 |y − 2kπ| &lt; θ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；区间无法整体落入等长的坏区间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2606040"/>
            <a:ext cx="191109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存在性成立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38144"/>
            <a:ext cx="1106424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02152"/>
            <a:ext cx="81381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（3）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502152"/>
            <a:ext cx="255117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Minimax 转化 + 临界点分类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502152"/>
            <a:ext cx="483717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b(min) = min(φ) max(x) h</a:t>
            </a: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；临界点两族；族 Ⅱ 六点均布，最近者距 0 不超过 </a:t>
            </a:r>
            <a:r>
              <a:rPr sz="125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π/6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3502152"/>
            <a:ext cx="191109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Cambria Math"/>
                <a:ea typeface="Cambria Math"/>
                <a:cs typeface="Cambria Math"/>
              </a:rPr>
              <a:t>b(min) = 3√3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334256"/>
            <a:ext cx="11064240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389120"/>
            <a:ext cx="11064240" cy="1938528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480559"/>
            <a:ext cx="56692" cy="17556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507992"/>
            <a:ext cx="10652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822B"/>
                </a:solidFill>
                <a:latin typeface="微软雅黑"/>
                <a:ea typeface="微软雅黑"/>
                <a:cs typeface="微软雅黑"/>
              </a:rPr>
              <a:t>可迁移的解题策略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937759"/>
            <a:ext cx="1060704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49377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“存在 + 任意”嵌套 → 极小极大：写出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min(φ) max(x)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，先内后外，顺序不可颠倒。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含参三角函数 ⇒ 用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sin A = sin B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的两支解出等间距候选点，把连续问题离散化。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均布覆盖原理：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个间隔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2π/n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的点，任意实数与最近点的距离不超过 </a:t>
            </a:r>
            <a:r>
              <a:rPr sz="1400" b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π/n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④ 先证普遍下界（覆盖 / 最坏情况），再构造取到 —— 极小极大的标准范式。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8288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压轴题的层次感：每一问都为下一问铺路；警惕“端点即最值”的错觉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